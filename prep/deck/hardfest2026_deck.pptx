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  <p:sldId id="274" r:id="rId18"/>
    <p:sldId id="275" r:id="rId17"/>
    <p:sldId id="276" r:id="rId16"/>
    <p:sldId id="277" r:id="rId15"/>
    <p:sldId id="278" r:id="rId14"/>
    <p:sldId id="279" r:id="rId13"/>
    <p:sldId id="280" r:id="rId12"/>
    <p:sldId id="281" r:id="rId11"/>
    <p:sldId id="282" r:id="rId10"/>
    <p:sldId id="283" r:id="rId9"/>
    <p:sldId id="284" r:id="rId8"/>
    <p:sldId id="285" r:id="rId7"/>
    <p:sldId id="286" r:id="rId6"/>
    <p:sldId id="287" r:id="rId50"/>
    <p:sldId id="288" r:id="rId51"/>
    <p:sldId id="289" r:id="rId52"/>
    <p:sldId id="290" r:id="rId53"/>
    <p:sldId id="291" r:id="rId54"/>
    <p:sldId id="292" r:id="rId55"/>
    <p:sldId id="293" r:id="rId56"/>
    <p:sldId id="294" r:id="rId57"/>
    <p:sldId id="295" r:id="rId58"/>
    <p:sldId id="296" r:id="rId59"/>
    <p:sldId id="297" r:id="rId60"/>
    <p:sldId id="298" r:id="rId61"/>
    <p:sldId id="299" r:id="rId62"/>
    <p:sldId id="300" r:id="rId63"/>
    <p:sldId id="301" r:id="rId64"/>
    <p:sldId id="302" r:id="rId65"/>
  </p:sldIdLst>
  <p:sldSz cy="5143500" cx="9144000"/>
  <p:notesSz cx="6858000" cy="9144000"/>
  <p:embeddedFontLst>
    <p:embeddedFont>
      <p:font typeface="Montserrat SemiBold"/>
      <p:regular r:id="rId37"/>
      <p:bold r:id="rId38"/>
      <p:italic r:id="rId39"/>
      <p:boldItalic r:id="rId40"/>
    </p:embeddedFont>
    <p:embeddedFont>
      <p:font typeface="Montserrat"/>
      <p:regular r:id="rId41"/>
      <p:bold r:id="rId42"/>
      <p:italic r:id="rId43"/>
      <p:boldItalic r:id="rId44"/>
    </p:embeddedFont>
    <p:embeddedFont>
      <p:font typeface="Geologica Light"/>
      <p:regular r:id="rId45"/>
      <p:bold r:id="rId46"/>
    </p:embeddedFont>
    <p:embeddedFont>
      <p:font typeface="Montserrat ExtraBold"/>
      <p:bold r:id="rId47"/>
      <p:boldItalic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588">
          <p15:clr>
            <a:srgbClr val="A4A3A4"/>
          </p15:clr>
        </p15:guide>
        <p15:guide id="2" pos="486">
          <p15:clr>
            <a:srgbClr val="A4A3A4"/>
          </p15:clr>
        </p15:guide>
        <p15:guide id="3" orient="horz" pos="1780">
          <p15:clr>
            <a:srgbClr val="9AA0A6"/>
          </p15:clr>
        </p15:guide>
        <p15:guide id="4" pos="4365">
          <p15:clr>
            <a:srgbClr val="9AA0A6"/>
          </p15:clr>
        </p15:guide>
      </p15:sldGuideLst>
    </p:ext>
    <p:ext uri="GoogleSlidesCustomDataVersion2">
      <go:slidesCustomData xmlns:go="http://customooxmlschemas.google.com/" r:id="rId49" roundtripDataSignature="AMtx7mjas4xEMSSX/Phs3hgFBUcU/ga+Hg=="/>
    </p:ext>
    <p:ext uri="{521415D9-36F7-43E2-AB2F-B90AF26B5E84}">
      <p14:sectionLst>
        <p14:section name="Вступление: диф, задача, ставка зала и первый переворот" id="{0C05F93B-BE32-4D88-87E0-136695EDA970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Раунд 1: размер и память" id="{016DAB89-5BCB-44B6-A761-0F0120E60E9A}">
          <p14:sldIdLst>
            <p14:sldId id="262"/>
            <p14:sldId id="263"/>
            <p14:sldId id="264"/>
            <p14:sldId id="265"/>
          </p14:sldIdLst>
        </p14:section>
        <p14:section name="Раунд 2: реализация хеша" id="{970F6374-DD0E-4A4C-A7D2-0F54B29A06E9}">
          <p14:sldIdLst>
            <p14:sldId id="266"/>
            <p14:sldId id="267"/>
          </p14:sldIdLst>
        </p14:section>
        <p14:section name="Раунд 3: данные и тикет" id="{1F4A38B1-7121-4D94-BFF7-348CC80EF7A4}">
          <p14:sldIdLst>
            <p14:sldId id="268"/>
            <p14:sldId id="269"/>
            <p14:sldId id="270"/>
            <p14:sldId id="271"/>
            <p14:sldId id="272"/>
          </p14:sldIdLst>
        </p14:section>
        <p14:section name="Мост: бенчмарк врал" id="{A6D02E22-744B-40D3-B8CF-AD27CFA1937E}">
          <p14:sldIdLst>
            <p14:sldId id="273"/>
          </p14:sldIdLst>
        </p14:section>
        <p14:section name="Раунд 4: процессор" id="{0D8141FA-BAD0-489B-A5CA-D07FDB44579A}">
          <p14:sldIdLst>
            <p14:sldId id="274"/>
            <p14:sldId id="275"/>
            <p14:sldId id="276"/>
            <p14:sldId id="277"/>
          </p14:sldIdLst>
        </p14:section>
        <p14:section name="Финал: цена, правило выбора, ревью" id="{37D4D719-9A48-4E1C-AB5C-1E9A65F64DE3}">
          <p14:sldIdLst>
            <p14:sldId id="278"/>
            <p14:sldId id="279"/>
            <p14:sldId id="280"/>
            <p14:sldId id="281"/>
          </p14:sldIdLst>
        </p14:section>
        <p14:section name="Backup для вопросов" id="{FCEB6710-3B29-4D1A-87E6-616FD19367F1}">
          <p14:sldIdLst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  <p14:section name="Архив: слайды, влитые в другие (скрыты)" id="{5B7622E6-B86C-4054-A8EC-458C9F93EA96}">
          <p14:sldIdLst>
            <p14:sldId id="300"/>
            <p14:sldId id="301"/>
            <p14:sldId id="30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88" orient="horz"/>
        <p:guide pos="486"/>
        <p:guide pos="1780" orient="horz"/>
        <p:guide pos="4365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31.xml"/><Relationship Id="rId7" Type="http://schemas.openxmlformats.org/officeDocument/2006/relationships/slide" Target="slides/slide30.xml"/><Relationship Id="rId8" Type="http://schemas.openxmlformats.org/officeDocument/2006/relationships/slide" Target="slides/slide29.xml"/><Relationship Id="rId9" Type="http://schemas.openxmlformats.org/officeDocument/2006/relationships/slide" Target="slides/slide28.xml"/><Relationship Id="rId10" Type="http://schemas.openxmlformats.org/officeDocument/2006/relationships/slide" Target="slides/slide27.xml"/><Relationship Id="rId11" Type="http://schemas.openxmlformats.org/officeDocument/2006/relationships/slide" Target="slides/slide26.xml"/><Relationship Id="rId12" Type="http://schemas.openxmlformats.org/officeDocument/2006/relationships/slide" Target="slides/slide25.xml"/><Relationship Id="rId13" Type="http://schemas.openxmlformats.org/officeDocument/2006/relationships/slide" Target="slides/slide24.xml"/><Relationship Id="rId14" Type="http://schemas.openxmlformats.org/officeDocument/2006/relationships/slide" Target="slides/slide23.xml"/><Relationship Id="rId15" Type="http://schemas.openxmlformats.org/officeDocument/2006/relationships/slide" Target="slides/slide22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9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font" Target="fonts/MontserratSemiBold-regular.fntdata"/><Relationship Id="rId38" Type="http://schemas.openxmlformats.org/officeDocument/2006/relationships/font" Target="fonts/MontserratSemiBold-bold.fntdata"/><Relationship Id="rId39" Type="http://schemas.openxmlformats.org/officeDocument/2006/relationships/font" Target="fonts/MontserratSemiBold-italic.fntdata"/><Relationship Id="rId40" Type="http://schemas.openxmlformats.org/officeDocument/2006/relationships/font" Target="fonts/MontserratSemiBold-boldItalic.fntdata"/><Relationship Id="rId41" Type="http://schemas.openxmlformats.org/officeDocument/2006/relationships/font" Target="fonts/Montserrat-regular.fntdata"/><Relationship Id="rId42" Type="http://schemas.openxmlformats.org/officeDocument/2006/relationships/font" Target="fonts/Montserrat-bold.fntdata"/><Relationship Id="rId43" Type="http://schemas.openxmlformats.org/officeDocument/2006/relationships/font" Target="fonts/Montserrat-italic.fntdata"/><Relationship Id="rId44" Type="http://schemas.openxmlformats.org/officeDocument/2006/relationships/font" Target="fonts/Montserrat-boldItalic.fntdata"/><Relationship Id="rId45" Type="http://schemas.openxmlformats.org/officeDocument/2006/relationships/font" Target="fonts/GeologicaLight-regular.fntdata"/><Relationship Id="rId46" Type="http://schemas.openxmlformats.org/officeDocument/2006/relationships/font" Target="fonts/GeologicaLight-bold.fntdata"/><Relationship Id="rId47" Type="http://schemas.openxmlformats.org/officeDocument/2006/relationships/font" Target="fonts/MontserratExtraBold-bold.fntdata"/><Relationship Id="rId48" Type="http://schemas.openxmlformats.org/officeDocument/2006/relationships/font" Target="fonts/MontserratExtraBold-boldItalic.fntdata"/><Relationship Id="rId49" Type="http://customschemas.google.com/relationships/presentationmetadata" Target="metadata"/><Relationship Id="rId50" Type="http://schemas.openxmlformats.org/officeDocument/2006/relationships/slide" Target="slides/slide32.xml"/><Relationship Id="rId51" Type="http://schemas.openxmlformats.org/officeDocument/2006/relationships/slide" Target="slides/slide33.xml"/><Relationship Id="rId52" Type="http://schemas.openxmlformats.org/officeDocument/2006/relationships/slide" Target="slides/slide34.xml"/><Relationship Id="rId53" Type="http://schemas.openxmlformats.org/officeDocument/2006/relationships/slide" Target="slides/slide35.xml"/><Relationship Id="rId54" Type="http://schemas.openxmlformats.org/officeDocument/2006/relationships/slide" Target="slides/slide36.xml"/><Relationship Id="rId55" Type="http://schemas.openxmlformats.org/officeDocument/2006/relationships/slide" Target="slides/slide37.xml"/><Relationship Id="rId56" Type="http://schemas.openxmlformats.org/officeDocument/2006/relationships/slide" Target="slides/slide38.xml"/><Relationship Id="rId57" Type="http://schemas.openxmlformats.org/officeDocument/2006/relationships/slide" Target="slides/slide39.xml"/><Relationship Id="rId58" Type="http://schemas.openxmlformats.org/officeDocument/2006/relationships/slide" Target="slides/slide40.xml"/><Relationship Id="rId59" Type="http://schemas.openxmlformats.org/officeDocument/2006/relationships/slide" Target="slides/slide41.xml"/><Relationship Id="rId60" Type="http://schemas.openxmlformats.org/officeDocument/2006/relationships/slide" Target="slides/slide42.xml"/><Relationship Id="rId61" Type="http://schemas.openxmlformats.org/officeDocument/2006/relationships/slide" Target="slides/slide43.xml"/><Relationship Id="rId62" Type="http://schemas.openxmlformats.org/officeDocument/2006/relationships/slide" Target="slides/slide44.xml"/><Relationship Id="rId63" Type="http://schemas.openxmlformats.org/officeDocument/2006/relationships/slide" Target="slides/slide45.xml"/><Relationship Id="rId64" Type="http://schemas.openxmlformats.org/officeDocument/2006/relationships/slide" Target="slides/slide46.xml"/><Relationship Id="rId65" Type="http://schemas.openxmlformats.org/officeDocument/2006/relationships/slide" Target="slides/slide4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0:15 · к концу 0:15.</a:t>
            </a:r>
          </a:p>
          <a:p>
            <a:r>
              <a:t>[две секунды тишины, смотрю в зал]</a:t>
            </a:r>
          </a:p>
          <a:p>
            <a:r>
              <a:t>Добрый день. Я Никита, пишу iOS-приложения в компании «Исходный код», а C++ у меня со времён ICPC. Поэтому цифры будут и с сервера, и с Mac, и с iPhone. [→ следующий слайд]</a:t>
            </a:r>
          </a:p>
          <a:p>
            <a:r>
              <a:t>Если отстаю (−15 с): Если модератор уже представил: «Спасибо», [→ следующий слайд] и сразу «Вторник, 17:40…». Биографию не повторяю.</a:t>
            </a:r>
          </a:p>
          <a:p>
            <a:r>
              <a:t>Под рукой:</a:t>
            </a:r>
          </a:p>
          <a:p>
            <a:r>
              <a:t>• «Исходный код» — компания, а не трек.</a:t>
            </a:r>
          </a:p>
          <a:p>
            <a:r>
              <a:t>• «Зачем C++ в iOS?» → [ответ: общий C++-модуль синхронизации или C++ только для бенчмарка]. C++ здесь общий знаменатель: один и тот же код без изменений на x86, Mac и iPhone, иначе сравнение платформ смешалось бы со сравнением языков.</a:t>
            </a:r>
          </a:p>
          <a:p>
            <a:r>
              <a:t>• cover + diff — первые 60 секунд: учу дословно, прогоняю вслух накануне и утром.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0:45 · к концу 1:00.</a:t>
            </a:r>
          </a:p>
          <a:p>
            <a:r>
              <a:t>Вторник, 17:40, код-ревью. [пауза 1 с] Коллега заменил сортировку на хеш-таблицу. [щелчок] И подписал: «линейно вместо n log n». Такой диф видел почти каждый в этом зале.</a:t>
            </a:r>
          </a:p>
          <a:p>
            <a:r>
              <a:t>[щелчок] Кто бы поставил approve? [поднимаю свою руку, держу 4 с] [рука зала: «почти все»] Я бы тоже поставил, года три назад. [опускаю руку, пауза]</a:t>
            </a:r>
          </a:p>
          <a:p>
            <a:r>
              <a:t>Две мелочи на потом: в дифе нет reserve, и выход больше не отсортирован. Контракт поменялся молча.</a:t>
            </a:r>
          </a:p>
          <a:p>
            <a:r>
              <a:t>Через полчаса вы будете знать, на каком телефоне этот approve стоит до трёх раз дороже. И почему CI вам этого не покажет — ни для телефона, ни для сервера. [пауза] Но сначала — задача, с которой всё началось.</a:t>
            </a:r>
          </a:p>
          <a:p>
            <a:r>
              <a:t>Если отстаю (−15 с): Выбросить «Две мелочи на потом…». Тогда на vote сказать просто «reserve я в замерах добавил», а на outcontract — «выход молча перестал быть отсортированным», без «вторая мелочь».</a:t>
            </a:r>
          </a:p>
          <a:p>
            <a:r>
              <a:t>Под рукой:</a:t>
            </a:r>
          </a:p>
          <a:p>
            <a:r>
              <a:t>• «Вы мерили с reserve, а в дифе его нет»: с reserve хешу лучше, чем в дифе. Без него в libc++ 20 перестроений, простое число ячеек (а с ним деление) и 51,5 МБ запрошенной памяти вместо 33,6 (cpp.md §2.3). По времени вариант без reserve я не мерил.</a:t>
            </a:r>
          </a:p>
          <a:p>
            <a:r>
              <a:t>• Мосты — только идея, не цифры: Java HashSet&lt;Long&gt; — узел плюс упакованный Long; map в Go ≥ 1.24 и HashMap в Rust — плоские Swiss-таблицы; set в Python — открытая адресация. Те же ×2,6 им не обещать: не мерил.</a:t>
            </a:r>
          </a:p>
          <a:p>
            <a:r>
              <a:t>• «До трёх раз» — это ×3,3 на 1M в .utility на [модель iPhone]; на 256K и 512K — ×1,3 и ×1,9 (flip). Поэтому «до», а не «втрое». Модель вслух называю на result и x33.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0:50 · к концу 1:50.</a:t>
            </a:r>
          </a:p>
          <a:p>
            <a:r>
              <a:t>Человек вышел из метро, приложение ожило. Локально лежат id записей из SQLite. С сервера пришла дельта с дублями: ретраи, перекрытия страниц. Нужен массив без повторов.</a:t>
            </a:r>
          </a:p>
          <a:p>
            <a:r>
              <a:t>[щелчок] Три детали — три чеховских ружья. Первое: локальные id уже отсортированы. [щелчок] Второе: ключ — 64-битное число. [щелчок] Третье: работает всё это в Task(priority: .utility). По-человечески — «не срочно».</a:t>
            </a:r>
          </a:p>
          <a:p>
            <a:r>
              <a:t>Миллион — верхняя граница теста: у долгоживущих аккаунтов бывают сотни тысяч.</a:t>
            </a:r>
          </a:p>
          <a:p>
            <a:r>
              <a:t>Оговорка: в замерах id случайные, а rowid идут подряд. На таких стандартной хеш-таблице везёт: на x86 она обгоняет сортировку в полтора с лишним раза. Ответ для них — в третьем раунде.</a:t>
            </a:r>
          </a:p>
          <a:p>
            <a:r>
              <a:t>Как убрать повторы? Способов два.</a:t>
            </a:r>
          </a:p>
          <a:p>
            <a:r>
              <a:t>Если отстаю (−15 с): Выбросить фразу про размеры: она на экране. Оговорку про rowid не выбрасывать, сжать до «В замерах id случайные; на плотных rowid хешу везёт — ответ для них в третьем раунде».</a:t>
            </a:r>
          </a:p>
          <a:p>
            <a:r>
              <a:t>Под рукой:</a:t>
            </a:r>
          </a:p>
          <a:p>
            <a:r>
              <a:t>• Плотные id: std::hash для целых — тождество, коллизий ноль. x86, 1M, U = N/2 (bench.md E7): unordered_set ускоряется в 1,65 раза и обгоняет сортировку в 1,7 раза (52,8 против 87,8; libc++ 53,3 против 89,8), а на случайных id там ничья. При U = N вся операция быстрее в 4,7 раза (320 → 68 нс/эл, cpp.md §6). Radix на плотных — 3 прохода вместо 8. Ответ: «Случайные выбраны, чтобы раскладка не зависела от удачи. Для rowid кандидат лучше обоих — слияние, раунд 3; ему всё равно, какие id».</a:t>
            </a:r>
          </a:p>
          <a:p>
            <a:r>
              <a:t>• Id с нулевыми младшими битами в libc++ после reserve(2^k) занимают малую долю ячеек: при шаге 1024 — 64 ячейки из 65 536, цепочки по 1024, вставка медленнее в 70 раз; при шаге 2^20 — одна цепочка, в 1500 раз (cpp.md §6).</a:t>
            </a:r>
          </a:p>
          <a:p>
            <a:r>
              <a:t>• «Миллион на телефоне — кому это надо?» Почти никому, так и сказано; цена на prod посчитана на полумиллионе. Task и QoS: Task(priority: .utility) исполняется на кооперативном потоке с QoS utility (0x11 в исходниках Swift); в бенчмарке QoS ставится через pthread_set_qos_class_self_np. Если экран ждёт await task.value, приоритет задачи поднимут до ожидающей.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1:15 · к концу 3:05.</a:t>
            </a:r>
          </a:p>
          <a:p>
            <a:r>
              <a:t>Способ A: отсортировать. Одинаковые id встанут рядом, unique схлопнет их за проход. Это n log n. Способ B: хеш-таблица. Она сама отбросит повторы, останется выгрузить. В среднем линейно. И первая мелочь из дифа: reserve я в замерах добавил — это экономит хешу двадцать перестроений таблицы.</a:t>
            </a:r>
          </a:p>
          <a:p>
            <a:r>
              <a:t>[щелчок] Логарифм миллиона — около двадцати. На бумаге хеш делает в двадцать раз меньше шагов.</a:t>
            </a:r>
          </a:p>
          <a:p>
            <a:r>
              <a:t>[щелчок] Ставка. Миллион 64-битных id, все разные, один поток, порядок на выходе не важен. С чего вы начали бы до всяких замеров? Название доклада вы видели, но голосуйте так, как написали бы сами. Голосуют все. [поднимаю руку на каждом варианте]</a:t>
            </a:r>
          </a:p>
          <a:p>
            <a:r>
              <a:t>A — с сортировки? [пауза 3 с] [итог одним словом, например: «примерно треть»]</a:t>
            </a:r>
          </a:p>
          <a:p>
            <a:r>
              <a:t>B — с хеш-таблицы? [пауза 3 с] [итог, например: «человек двадцать — смело, название вы видели»]</a:t>
            </a:r>
          </a:p>
          <a:p>
            <a:r>
              <a:t>C — сначала спросил бы условие? Кто ещё не поднял руку — вы здесь. [пауза 3 с] [итог, например: «половина зала»]</a:t>
            </a:r>
          </a:p>
          <a:p>
            <a:r>
              <a:t>Какое условие? [рука зала: беру один ответ, не дольше 15 с] Держим его в голове — он ещё пригодится. [ставлю отметки на карточке у ноутбука: победившая буква, доля B, ответ C одним словом]</a:t>
            </a:r>
          </a:p>
          <a:p>
            <a:r>
              <a:t>Запомните свою руку — в конце вернёмся. [если рук нет: «Руки берегут для вопросов, понимаю. Тогда загадайте букву — через минуту проверим».] А вот что показал секундомер.</a:t>
            </a:r>
          </a:p>
          <a:p>
            <a:r>
              <a:t>Если отстаю (−25 с): Не пересказывать A и B: код на экране. Начать с «Логарифм миллиона — около двадцати», про reserve — «reserve в замерах есть». Ответ от C не брать: «какое условие — держите при себе, ещё пригодится». Паузы и ответ зала съедают около 30 с: если на прогоне слайд дольше 1:25, ответ от C убрать насовсем.</a:t>
            </a:r>
          </a:p>
          <a:p>
            <a:r>
              <a:t>Под рукой:</a:t>
            </a:r>
          </a:p>
          <a:p>
            <a:r>
              <a:t>• Итог каждого варианта называю вслух одним словом — это нужно и для записи: зрители видео зала не видят. На карточке у ноутбука заранее клетки A / B / C, «доля B» и «ответ C». Возвраты: flat — «кто голосовал за B»; ответ C — на share-q, outcontract или qos по теме; review — «большинство здесь было за [буква]».</a:t>
            </a:r>
          </a:p>
          <a:p>
            <a:r>
              <a:t>• Куда ведёт ответ C: «сколько повторов» → share-q; «что нужно на выходе» → outcontract; «на каком железе, с каким приоритетом» → qos. На всех трёх слайдах есть условная ремарка-возврат. Отвечаю одинаково: «Будет. Держим в голове».</a:t>
            </a:r>
          </a:p>
          <a:p>
            <a:r>
              <a:t>• Выкрики с мест в эфир не пускаю: «Отлично, держим это в голове, едем дальше».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1:20 · к концу 4:25.</a:t>
            </a:r>
          </a:p>
          <a:p>
            <a:r>
              <a:t>Условия как в ставке, Mac на M2 Pro. Полоски — время на один элемент, короче — лучше. [щелчок] Сортировка — двадцать наносекунд. [щелчок] Хеш-таблица — пятьдесят одна.</a:t>
            </a:r>
          </a:p>
          <a:p>
            <a:r>
              <a:t>[щелчок] [пауза 2 с] O(n) проиграл O(n log n) в два и шесть десятых раза. [пауза 2 с]</a:t>
            </a:r>
          </a:p>
          <a:p>
            <a:r>
              <a:t>На iPhone [модель iPhone] при обычном приоритете почти то же. На серверном x86 — в два-три раза.</a:t>
            </a:r>
          </a:p>
          <a:p>
            <a:r>
              <a:t>[смотрю в зал] И это не открытие. Даниэль Лемир поставил почти такой же опыт в 2017 году, а Чендлер Каррут объяснил, почему так, на CppCon ещё в 2014-м. Я повторил это на своём железе, чтобы дойти туда, где их не было, — до телефона в фоне. Голосовавшим за B: реванш — во втором раунде.</a:t>
            </a:r>
          </a:p>
          <a:p>
            <a:r>
              <a:t>[щелчок] Дальше четыре раунда. Первый — размер и память. Второй — реализация хеша. Третий — данные и тикет. Первые два — классика, пройдём быстро. А в последнем я не трону ни строчки алгоритма — и победитель сменится. [пауза]</a:t>
            </a:r>
          </a:p>
          <a:p>
            <a:r>
              <a:t>Но сначала правило, иначе любое сравнение можно оспорить.</a:t>
            </a:r>
          </a:p>
          <a:p>
            <a:r>
              <a:t>Если отстаю (−25 с): Выбросить фразы про iPhone, x86 и голосовавших за B. Атрибуцию одной фразой: «Это классика: Лемир мерил в 2017-м, Каррут объяснил в 2014-м». Карту раундов и обещание раунда 4 не трогать.</a:t>
            </a:r>
          </a:p>
          <a:p>
            <a:r>
              <a:t>Под рукой:</a:t>
            </a:r>
          </a:p>
          <a:p>
            <a:r>
              <a:t>• Лемир, «Counting exactly the number of distinct elements: sorted arrays vs. hash sets?», 23.05.2017: unordered_set&lt;uint64_t&gt; против sort + unique на случайных 64-битных, код открыт. У него подсчёт, а не выгрузка, и нет flat, radix, контракта и QoS — отсюда «почти такой же». Каррут, CppCon 2014, с. 38: «Discontiguous data structures are the root of all (performance) evil».</a:t>
            </a:r>
          </a:p>
          <a:p>
            <a:r>
              <a:t>• По системам при N = U: iPhone [модель iPhone, чип, iOS], userInitiated — ×2,53 (backup systems; если снято на другом аппарате, чем серии utility, — говорить «на iPhone почти то же» без модели). x86: в колоде ×2,07 (70 против 146 нс/эл), независимый повтор — ×3,1 (libstdc++) и ×2,9 (libc++) (bench.md E1). На «почему 2,07, а не 3,1»: «Другая VM того же типа: абсолютные наносекунды там выше на 19–78%, отношение 2,9–3,1, направление то же. Моё 2,07 — прогон на своей VM, харнесс тот же, что в репозитории, деструктор в таймере [подтвердить]». Поэтому вслух только «в два-три раза».</a:t>
            </a:r>
          </a:p>
          <a:p>
            <a:r>
              <a:t>• «Релиз собирают с -Os, а у вас -O3» (qa M9): std::sort для uint64_t исполняется из системной libc++.dylib и от наших флагов не зависит, unordered_set упирается в память. DedupBench на iPhone собран с [флаги сборки DedupBench]; прогон с -Os — в плане. «Почему нс на элемент?» — так разные N ложатся на одну шкалу; полное время = × N: 19,9 × 2^20 ≈ 20,9 мс.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0:30 · к концу 4:55.</a:t>
            </a:r>
          </a:p>
          <a:p>
            <a:r>
              <a:t>Правило простое. В таймер входит вся операция: reserve, вставки, выгрузка в вектор и деструктор таблицы. Остановили таймер до выгрузки — значит, измерили другую задачу. Вне таймера только свежая копия входа. И каждый результат сверяется с эталоном: те же id, ни одного лишнего, ни одного потерянного. Быстрое, но неправильное решение в турнире не участвует. Секундомер честный, начинаем раунды.</a:t>
            </a:r>
          </a:p>
          <a:p>
            <a:r>
              <a:t>Если отстаю (−15 с): Одна фраза: «Правило: в таймере вся операция, вместе с выгрузкой и деструктором, и каждый результат сверяется с эталоном». Сразу щелчок.</a:t>
            </a:r>
          </a:p>
          <a:p>
            <a:r>
              <a:t>Под рукой:</a:t>
            </a:r>
          </a:p>
          <a:p>
            <a:r>
              <a:t>• Выгрузка и деструктор — больше половины времени unordered_set, один деструктор — 28–30% (x86, bench.md E11). Поэтому «остановили до выгрузки — измерили другую задачу».</a:t>
            </a:r>
          </a:p>
          <a:p>
            <a:r>
              <a:t>• Проверка через abort, а не assert: с -DNDEBUG assert молча исчезнет. Для «порядка первого появления» сравниваем без сортировки, с эталоном на хеше. Набор для всех: пусто, один элемент, все равны, 0 и UINT64_MAX, разные N, доли и порядки.</a:t>
            </a:r>
          </a:p>
          <a:p>
            <a:r>
              <a:t>• «Копия вне таймера прогревает кэш»: да, и сортировке это помогает больше. Она работает на месте, а хеш читает вход один раз подряд и платит за случайные обращения к таблице. На P-ядре Mac 8 МБ входа помещаются в L2 (16 МиБ), так что для sort это лучший случай. Холодный вход не мерил, он в плане. Но в жизни id только что пришли из SQLite и сети — тоже тёплые. А на iPhone в utility (L2 E-кластера — 4 МБ) вход не помещается ни для кого.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1:10 · к концу 6:05.</a:t>
            </a:r>
          </a:p>
          <a:p>
            <a:r>
              <a:t>Раунд первый. Это классика, поэтому быстро. Меняю размер, от шестнадцати id до четырёх миллионов, и сразу беру реальную половину дублей.</a:t>
            </a:r>
          </a:p>
          <a:p>
            <a:r>
              <a:t>[щелчок] По вертикали наносекунды на элемент, ниже — лучше. По горизонтали размер, каждая отметка — в несколько раз больше. Синяя — сортировка: с каждым удвоением ей чуть дороже, но плавно.</a:t>
            </a:r>
          </a:p>
          <a:p>
            <a:r>
              <a:t>[щелчок] Оранжевая — хеш-таблица. От тысячи до полумиллиона идёт вровень с сортировкой, а дальше ступенька. На четырёх миллионах сортировка снова в два с половиной раза быстрее. [пауза]</a:t>
            </a:r>
          </a:p>
          <a:p>
            <a:r>
              <a:t>[щелчок] Посчитаем байты. На полумиллионе хеш-таблица занимает около двенадцати мегабайт. Кэш второго уровня у производительных ядер M2 Pro — шестнадцать: помещается. На миллионе уже двадцать четыре. Граница кэша лежит между этими точками — там и ступенька. Честно: это арифметика, счётчики промахов я не снимал, так что пока это гипотеза.</a:t>
            </a:r>
          </a:p>
          <a:p>
            <a:r>
              <a:t>Откуда столько байт на ключ, видно на схеме.</a:t>
            </a:r>
          </a:p>
          <a:p>
            <a:r>
              <a:t>Если отстаю (−25 с): Оси одной фразой: «ниже — лучше». Выбросить «с каждым удвоением ей чуть дороже, но плавно». Оставить: ступенька → двенадцать и двадцать четыре мегабайта против шестнадцати → «арифметика, не счётчики».</a:t>
            </a:r>
          </a:p>
          <a:p>
            <a:r>
              <a:t>Под рукой:</a:t>
            </a:r>
          </a:p>
          <a:p>
            <a:r>
              <a:t>— Арифметика (apple.md §3.3, cpp.md §2.4, errata P0-5): узел libc++ 24 Б → блок malloc 32 Б (квант 16 Б, заголовка нет) × U, плюс 8 Б × N на ячейки после reserve(N). 512K (U = 256K): 8 + 4 = 12 МиБ; 1M: 16 + 8 = 24 МиБ. «А вход?» — ещё 8·N, на 512K это 4 МиБ. Его читают один раз подряд, префетчер ведёт поток, поэтому считаю таблицу. Но 12 + 4 = 16 — впритык, ещё одна причина говорить «гипотеза».</a:t>
            </a:r>
          </a:p>
          <a:p>
            <a:r>
              <a:t>— «Почему нет счётчиков?» (qa H1): «Согласен, это гипотеза. Следующий шаг — Instruments → CPU Counters, L1D Cache Miss Sampling». «А TLB?» (qa H2): не исключал; 24 МиБ — около 1 500 страниц по 16 КБ. SLC 24 МБ не называть: sysctl его не отдаёт.</a:t>
            </a:r>
          </a:p>
          <a:p>
            <a:r>
              <a:t>— «22,6 или 26,3?» (qa M3): разные сессии; хеш на этой точке гуляет на 16%, сортировка — на полпроцента. Левый край (≤ 256) не комментировать: на x86 при пуле из 64 входов он завышен предсказателем (bench.md E2b) — тема learned.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0:55 · к концу 7:00.</a:t>
            </a:r>
          </a:p>
          <a:p>
            <a:r>
              <a:t>[щелчок] Слева вектор, с ним работает sort плюс unique. Восемь байт на ключ, всё подряд, ни одной аллокации.</a:t>
            </a:r>
          </a:p>
          <a:p>
            <a:r>
              <a:t>[щелчок] Справа unordered_set: массив ячеек, из ячеек указатели на узлы. Узел хранит ключ, указатель на следующий и хеш — двадцать четыре байта, а malloc на Apple выдаёт под него тридцать два. Каждый узел — отдельный new. И адрес следующего узла известен, только когда прочитан текущий.</a:t>
            </a:r>
          </a:p>
          <a:p>
            <a:r>
              <a:t>Узлы не от лени: стандарт требует, чтобы ссылки на элементы переживали рост таблицы.</a:t>
            </a:r>
          </a:p>
          <a:p>
            <a:r>
              <a:t>[щелчок] Каррут сказал короче: данные, разбросанные по памяти, — корень всего зла в производительности.</a:t>
            </a:r>
          </a:p>
          <a:p>
            <a:r>
              <a:t>А цена этого прыжка — ровно то, чего Big-O не видит.</a:t>
            </a:r>
          </a:p>
          <a:p>
            <a:r>
              <a:t>Если отстаю (−20 с): Выбросить фразу про стандарт; цитату не читать — она на экране, достаточно «Каррут, 2014». Оставить: вектор подряд против узлов по тридцать два байта и «адрес следующего известен, только когда прочитан текущий».</a:t>
            </a:r>
          </a:p>
          <a:p>
            <a:r>
              <a:t>Под рукой:</a:t>
            </a:r>
          </a:p>
          <a:p>
            <a:r>
              <a:t>— «Деление в libc++ дорогое на ARM?» (qa C1, errata P0-6): в сериях деления нет — reserve(2^20) в libc++ даёт ровно 2^20 ячеек и маску по младшим битам. libstdc++ держит простое число ячеек и делит всегда. Дорого не деление, а узлы. «libstdc++ экономнее: 16 Б против 24?» (qa C7): по запрошенным байтам да, по куче нет — glibc кладёт оба узла в чанк 32 Б.</a:t>
            </a:r>
          </a:p>
          <a:p>
            <a:r>
              <a:t>— std::hash для целых — тождество (qa C8): на плотных rowid коллизий ноль. x86 при U = N: вся операция ≈ в 4,7 раза быстрее (320 → 68 нс/эл), одни вставки — в 3,2 раза (134 → 42; cpp.md §6). При U = N/2 на 1M — в 1,65 раза, и хеш обгоняет сортировку в 1,7 раза (bench.md E7).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1:10 · к концу 8:10.</a:t>
            </a:r>
          </a:p>
          <a:p>
            <a:r>
              <a:t>[щелчок] Время — это N, умноженное на число шагов и на цену шага. Big-O видит, как растёт число шагов: единица или логарифм. Цену шага он выбрасывает.</a:t>
            </a:r>
          </a:p>
          <a:p>
            <a:r>
              <a:t>[щелчок] А цена — это лестница. Мой замер на M2 Pro: L1 — меньше двух наносекунд, оперативная память — сто. Разница раз в шестьдесят, а логарифм миллиона — всего двадцать.</a:t>
            </a:r>
          </a:p>
          <a:p>
            <a:r>
              <a:t>[щелчок] Память приходит строками: на Apple по сто двадцать восемь байт, на x86 по шестьдесят четыре. Сортировка читает подряд: строка приносит шестнадцать ключей, следующую процессор подтягивает заранее.</a:t>
            </a:r>
          </a:p>
          <a:p>
            <a:r>
              <a:t>[щелчок] И главное: дорого не обращение, а обращение, которое ждёт предыдущего. Процессор держит в полёте десятки промахов, если знает адреса заранее. У узла адрес следующего лежит внутри текущего. Значит, процессор стоит и ждёт каждый прыжок. [пауза]</a:t>
            </a:r>
          </a:p>
          <a:p>
            <a:r>
              <a:t>Запомните эту лестницу: в четвёртом раунде у неё сменятся ступеньки.</a:t>
            </a:r>
          </a:p>
          <a:p>
            <a:r>
              <a:t>Если отстаю (−25 с): Шаг 3 показать молча и сказать одно: «Сортировка читает подряд, и процессор подтягивает данные заранее». Фразу про лестницу в четвёртом раунде не трогать.</a:t>
            </a:r>
          </a:p>
          <a:p>
            <a:r>
              <a:t>Под рукой:</a:t>
            </a:r>
          </a:p>
          <a:p>
            <a:r>
              <a:t>— Плато лестницы сняты с графика cores (errata P1-6, ±2%) — перед заморозкой заменить точными из сырых данных. Если L1 выйдет ≈2,0 нс, в заголовке вернуть «от 2», говорить «раз в пятьдесят» (совпадает с Apple, WWDC25 «Optimize CPU performance with Instruments»: промах мимо обоих кэшей — «50 times slower»). «А у Dean &amp; Ghemawat L2 3 нс, RAM 50» (qa H10): это справочник, у меня свой замер.</a:t>
            </a:r>
          </a:p>
          <a:p>
            <a:r>
              <a:t>— «Откуда десятки промахов?» (qa H11): Лемир 2025, M2: одна зависимая цепочка — 102 нс на обращение, 28 независимых — 4,3 нс, то есть около 28 промахов в полёте.</a:t>
            </a:r>
          </a:p>
          <a:p>
            <a:r>
              <a:t>— «128 байт — это L1 или L2?» (qa H9): hw.cachelinesize = 128; Apple на WWDC25 говорит «64 или 128». На вывод не влияет: подряд — 8 или 16 ключей за чтение, узел — один. «Почему префетчер не спасает хеш?» (qa H4): у цепочки узлов нет шаблона адресов.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0:50 · к концу 9:00.</a:t>
            </a:r>
          </a:p>
          <a:p>
            <a:r>
              <a:t>Последний счёт раунда: вызовы new. Вопрос вам, про себя: сколько раз unordered_set позовёт аллокатор на миллионе ключей? Ноль, тысячу или миллион? [пауза 3 с]</a:t>
            </a:r>
          </a:p>
          <a:p>
            <a:r>
              <a:t>[щелчок] Сортировка: ноль, работает на месте.</a:t>
            </a:r>
          </a:p>
          <a:p>
            <a:r>
              <a:t>[щелчок] Хеш-таблица: миллион. Узел на каждый ключ, плюс массив ячеек. С округлением это около сорока мегабайт. Расширению уведомлений на iPhone дают около двадцати четырёх, дальше его убивают — как OOM-killer на сервере. И платят за узлы дважды: миллион delete прячется за закрывающей фигурной скобкой.</a:t>
            </a:r>
          </a:p>
          <a:p>
            <a:r>
              <a:t>[щелчок] Плоская таблица, о ней через минуту: один new на всё.</a:t>
            </a:r>
          </a:p>
          <a:p>
            <a:r>
              <a:t>[пауза] Итог раунда: шагов у хеша меньше, но каждый — аллокация и прыжок по куче. Значит, уберём узлы.</a:t>
            </a:r>
          </a:p>
          <a:p>
            <a:r>
              <a:t>Если отстаю (−20 с): Вопрос риторический, без паузы; выбросить расширение уведомлений и x86. Оставить: ноль / миллион / один и «миллион delete за закрывающей скобкой».</a:t>
            </a:r>
          </a:p>
          <a:p>
            <a:r>
              <a:t>Под рукой:</a:t>
            </a:r>
          </a:p>
          <a:p>
            <a:r>
              <a:t>— 1 048 577 вызовов = 2^20 узлов + массив ячеек; 33 554 432 Б запрошено (cpp.md §2.3). У Apple 24 → 32 Б, заголовка нет (apple.md §3.1, §3.4). Разбросаны не адреса — аллокатор раздаёт их почти подряд, — а порядок обхода.</a:t>
            </a:r>
          </a:p>
          <a:p>
            <a:r>
              <a:t>— Фазы на x86 (bench.md E11, U = N, обе библиотеки): reserve и вставки ≈43%, выгрузка ≈26%, деструктор 28–30%. На M2 по фазам не раскладывал. «Сорок мегабайт здесь, двадцать четыре на prod?» — разные U: здесь все id разные, там половина — повторы.</a:t>
            </a:r>
          </a:p>
          <a:p>
            <a:r>
              <a:t>— «Пул-аллокатор или pmr?» (qa C9): не мерил. monotonic_buffer_resource уберёт malloc и free, но не прыжки по узлам; ожидаю ближе к сортировке, не к flat — гипотеза. Share extension (~120 МБ) в пример не брать (errata P1-7).</a:t>
            </a:r>
          </a:p>
          <a:p>
            <a:r>
              <a:t>— «Почему 18,9 МБ, если ключей на 8 МБ?» (errata P2-11): 2^20 — неудачная точка для Swiss Table: ёмкость 2^20 − 1 вмещает только 917 504 ключа при загрузке 7/8, поэтому reserve берёт 2^21 − 1 слотов — по 8 байт ключа и байту метаданных, 18,9 МБ, заполнение 50%.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0:45 · к концу 9:45.</a:t>
            </a:r>
          </a:p>
          <a:p>
            <a:r>
              <a:t>Раунд второй. Задача та же, меняем реализацию.</a:t>
            </a:r>
          </a:p>
          <a:p>
            <a:r>
              <a:t>[щелчок] Слева знакомое: ключ живёт в отдельном узле.</a:t>
            </a:r>
          </a:p>
          <a:p>
            <a:r>
              <a:t>[щелчок] Справа плоская таблица — Swiss Table, её показал Мэтт Кулукундис на CppCon в 2017-м. Ключи лежат прямо в массиве. Рядом с каждым — байт-метка: пусто или кусочек хеша. Процессор сравнивает целую группу меток одной векторной инструкцией. Вся таблица — одна аллокация. Цена одна: ссылки на элементы не переживают рост.</a:t>
            </a:r>
          </a:p>
          <a:p>
            <a:r>
              <a:t>[щелчок] Если вы пишете на Go с версии 1.24, ваш map уже справа. HashMap в Rust — тоже.</a:t>
            </a:r>
          </a:p>
          <a:p>
            <a:r>
              <a:t>Смотрим, что это даёт.</a:t>
            </a:r>
          </a:p>
          <a:p>
            <a:r>
              <a:t>Если отстаю (−15 с): Про метки и группы не говорить — они на экране. Оставить: ключи в массиве, одна аллокация, цена, Go и Rust.</a:t>
            </a:r>
          </a:p>
          <a:p>
            <a:r>
              <a:t>Под рукой:</a:t>
            </a:r>
          </a:p>
          <a:p>
            <a:r>
              <a:t>— Группа на AArch64 — 8 байт (GroupAArch64Impl::kWidth = 8, NEON), на x86 — 16 (SSE2); зондирование квадратичное по группам (cpp.md §5, errata P0-7). У hashbrown на aarch64 тоже 8, у boost::unordered_flat_set — 16.</a:t>
            </a:r>
          </a:p>
          <a:p>
            <a:r>
              <a:t>— absl::Hash для uint64 — не тождество: перемешивает, с сидом на процесс и на таблицу. Поэтому плотные id ему не страшны, а порядок обхода меняется от запуска к запуску (cpp.md §5; к outcontract).</a:t>
            </a:r>
          </a:p>
          <a:p>
            <a:r>
              <a:t>— «А Swift?» (qa S1): Set уже плоский, но хеш — SipHash-1-3 со случайным сидом; не мерил. «std::flat_set — это оно?» (qa C10): нет, flat_set — отсортированный вектор, по сути sort + unique в контейнере.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1:05 · к концу 10:50.</a:t>
            </a:r>
          </a:p>
          <a:p>
            <a:r>
              <a:t>Условия голосования: миллион уникальных id, M2 Pro.</a:t>
            </a:r>
          </a:p>
          <a:p>
            <a:r>
              <a:t>[щелчок] Узловая таблица: пятьдесят одна наносекунда на элемент. Сортировка: двадцать.</a:t>
            </a:r>
          </a:p>
          <a:p>
            <a:r>
              <a:t>[щелчок] Плоская — около двенадцати: в один и семь десятых раза быстрее сортировки. [пауза]</a:t>
            </a:r>
          </a:p>
          <a:p>
            <a:r>
              <a:t>[щелчок] Ещё быстрее radix, поразрядная сортировка: около семи. Восемь проходов по байтам ключа, ни одного сравнения. Так можно только потому, что ключ — целое число: это второе ружьё. Со строками так не выйдет. Цена — буфер размером со вход.</a:t>
            </a:r>
          </a:p>
          <a:p>
            <a:r>
              <a:t>[пауза] O(n) не ошибся. Ошиблись мы, когда решили, что «хеш-таблица» — это один алгоритм. [смотрю в зал] Кто голосовал за B, вот ваша реализация. [если за B было мало рук: «Кто про себя выбрал хеш — вот ваша реализация».]</a:t>
            </a:r>
          </a:p>
          <a:p>
            <a:r>
              <a:t>Если вы на Java: HashSet&lt;Long&gt; — узловая таблица, да ещё с объектом Long на каждый id. Плоский аналог — fastutil.</a:t>
            </a:r>
          </a:p>
          <a:p>
            <a:r>
              <a:t>Раунд третий: меняем данные. Но сначала ваша вторая ставка.</a:t>
            </a:r>
          </a:p>
          <a:p>
            <a:r>
              <a:t>Если отстаю (−20 с): Radix одной фразой: «Radix — около семи: так можно, потому что ключ — целое число, второе ружьё». Выбросить Java-фразу: мост остаётся строкой на экране.</a:t>
            </a:r>
          </a:p>
          <a:p>
            <a:r>
              <a:t>Под рукой:</a:t>
            </a:r>
          </a:p>
          <a:p>
            <a:r>
              <a:t>— x86, независимый повтор (bench.md E1, N = U = 2^20, libstdc++): sort 83,5, unordered_set 260, flat 42,6, radix 40,8 нс/эл. Направление то же: flat ≈ ×2 к сортировке, но radix там вровень с flat, а не быстрее всех. Абсолютные наносекунды x86 со сцены не называть.</a:t>
            </a:r>
          </a:p>
          <a:p>
            <a:r>
              <a:t>— «Почему reserve(N), а не под U?» (qa C12, backup reserve): N известен, U — нет; при 1% уникальных это ×64 памяти и 3,6 против 2,9 нс/эл. «Почему 18,9 МБ?» (errata P2-11): при загрузке 7/8 2^20 ключей не влезают в ёмкость 2^20 − 1, reserve берёт 2^21 − 1 слотов, заполнение 50%.</a:t>
            </a:r>
          </a:p>
          <a:p>
            <a:r>
              <a:t>— «Почему не radix везде?» (qa C13): только целые ключи, буфер на N (8 МБ на миллионе — память под jetsam), на малых N счётчики 8×256 не окупаются. «Кто в 2026-м пишет unordered_set?» (qa V8): он в стандарте и в дифе с ревью — поэтому он первый. Java: fastutil LongOpenHashSet — long[] и открытая адресация (beyond.md §2).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0:40 · к концу 11:30.</a:t>
            </a:r>
          </a:p>
          <a:p>
            <a:r>
              <a:t>Ставка номер два, на этот раз из двух вариантов. [щелчок]</a:t>
            </a:r>
          </a:p>
          <a:p>
            <a:r>
              <a:t>Точка отсчёта — первая ставка: все id разные, сортировка быстрее в два с половиной раза. При половине повторов, на кривой, разрыв был уже куда меньше. Но повторов в дельте бывает очень много: ретраи, перекрытия страниц. Кто на первой ставке просил условие — вот первое из них. [если ответ C был «сколько повторов»: «…вы его и назвали».]</a:t>
            </a:r>
          </a:p>
          <a:p>
            <a:r>
              <a:t>[щелчок] Тот же миллион, но уникальных всего один процент. Кто впереди?</a:t>
            </a:r>
          </a:p>
          <a:p>
            <a:r>
              <a:t>[поднимаю руку] Кто за сортировку? [пауза 3 с] [итог вслух одним словом]</a:t>
            </a:r>
          </a:p>
          <a:p>
            <a:r>
              <a:t>Кто за хеш? [пауза 3 с] [итог вслух]</a:t>
            </a:r>
          </a:p>
          <a:p>
            <a:r>
              <a:t>[если рук мало: «Тогда про себя: сортировка или хеш. Через пять секунд проверим».] Смотрим, кто прав.</a:t>
            </a:r>
          </a:p>
          <a:p>
            <a:r>
              <a:t>Если отстаю (−15 с): Голосовать одной рукой: «Кто за хеш? [пауза 3 с] Смотрим». Про ответ C не говорить.</a:t>
            </a:r>
          </a:p>
          <a:p>
            <a:r>
              <a:t>Под рукой:</a:t>
            </a:r>
          </a:p>
          <a:p>
            <a:r>
              <a:t>— «Половина повторов уже была на кривой первого раунда»: «Да, там я крутил размер при половине повторов, и это сказано вслух. Теперь размер фиксирую — миллион — и кручу долю уникальных». Ставка на 1%, а не на половину: на половине почти ничья (1,1–1,3 в разных сессиях), это в пределах разброса и уже видно на curve.</a:t>
            </a:r>
          </a:p>
          <a:p>
            <a:r>
              <a:t>— «1% — это же не ваш кейс: локальные id уникальны»: да, 1% — край сетки, а не наш кейс. Сетку показываю, чтобы было видно, где хеш выигрывает и во сколько.</a:t>
            </a:r>
          </a:p>
          <a:p>
            <a:r>
              <a:t>— Это третья и последняя просьба поднять руку (после diff и vote); вопрос на inputorder риторический, с паузой.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1:00 · к концу 12:30.</a:t>
            </a:r>
          </a:p>
          <a:p>
            <a:r>
              <a:t>[щелчок] Хеш. И сразу в три и семь десятых раза: уникальных всего десять тысяч, их узлы помещаются в кэш. [пауза 1 с] [одной фразой: угадало ли большинство]</a:t>
            </a:r>
          </a:p>
          <a:p>
            <a:r>
              <a:t>Теперь вся сетка: слева все id одинаковые, справа все разные. Шкала по вертикали логарифмическая, ниже — лучше.</a:t>
            </a:r>
          </a:p>
          <a:p>
            <a:r>
              <a:t>Синяя сортировка почти горизонтальна: от двенадцати до двадцати при стократной разнице в числе уникальных. Она в любом случае переставляет весь миллион.</a:t>
            </a:r>
          </a:p>
          <a:p>
            <a:r>
              <a:t>[щелчок] Оранжевая хеш-таблица её пересекает. При половине повторов — почти ничья, двадцать против двадцати трёх. А когда все разные, хеш позади в два с половиной раза.</a:t>
            </a:r>
          </a:p>
          <a:p>
            <a:r>
              <a:t>[щелчок] Зелёная плоская внизу почти везде.</a:t>
            </a:r>
          </a:p>
          <a:p>
            <a:r>
              <a:t>[смотрю в зал] Так что и сортировка, и хеш правы — каждый в своей клетке. Победителя назначают данные.</a:t>
            </a:r>
          </a:p>
          <a:p>
            <a:r>
              <a:t>Второе условие прячется не в данных, а в тикете.</a:t>
            </a:r>
          </a:p>
          <a:p>
            <a:r>
              <a:t>Если отстаю (−20 с): Оси одной фразой: «слева все одинаковые, справа все разные». Выбросить «от двенадцати до двадцати…» и «Она в любом случае переставляет весь миллион». Оставить: «хеш, в три и семь десятых раза», почти ничья на половине, позади на всех разных, «победителя назначают данные».</a:t>
            </a:r>
          </a:p>
          <a:p>
            <a:r>
              <a:t>Под рукой:</a:t>
            </a:r>
          </a:p>
          <a:p>
            <a:r>
              <a:t>— Точки (M2 Pro, сессия Б, с графика ±2%): все равны — sort 1,2 · uset 2,0 · flat 2,9; 1% — 12,0 · 3,2 · 3,6; 50% — 20,3 · 23,0; 100% — 19,8 · 51,6 (errata §4.1). При 1% узловая быстрее flat: flat с reserve(N) платит за таблицу в 18,9 МБ на десять тысяч ключей (backup reserve) — поэтому «почти везде». Десять тысяч узлов по 32 Б — около 320 КБ.</a:t>
            </a:r>
          </a:p>
          <a:p>
            <a:r>
              <a:t>— x86, повтор (bench.md E3): при 1% хеш быстрее сортировки в 6–8 раз, при 100% сортировка быстрее в 3,0–3,2 раза — направление то же, размах больше. Radix на x86 вровень с flat.</a:t>
            </a:r>
          </a:p>
          <a:p>
            <a:r>
              <a:t>— «20 против 23, а на кривой было 26?» (qa M3): разные сессии; хеш на этой точке гуляет 22,6–26,3, сортировка — на полпроцента. Поэтому 50% подписано «почти ничья».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1:00 · к концу 13:30.</a:t>
            </a:r>
          </a:p>
          <a:p>
            <a:r>
              <a:t>Меняю требование в тикете: что нужно на выходе. [если ответ C был «что нужно на выходе»: «Об этом спросили на первой ставке — вот ответ».]</a:t>
            </a:r>
          </a:p>
          <a:p>
            <a:r>
              <a:t>[щелчок] Порядок любой: близко, в пределах разброса сессий.</a:t>
            </a:r>
          </a:p>
          <a:p>
            <a:r>
              <a:t>[щелчок] Нужен отсортированный выход: хеш досортировывает уникальные и отстаёт в полтора раза. Это вторая мелочь из дифа: выход молча перестал быть отсортированным.</a:t>
            </a:r>
          </a:p>
          <a:p>
            <a:r>
              <a:t>[щелчок] Нужен порядок первого появления: хеш впереди больше чем втрое. Таблица отмечает встреченные id, выход пишется за один проход. А сортировке приходится помнить, где кто стоял, и сортировать второй раз.</a:t>
            </a:r>
          </a:p>
          <a:p>
            <a:r>
              <a:t>[щелчок] И «порядок любой» значит «любой каждый раз». Плоская таблица нарочно меняет порядок обхода от запуска к запуску, Set в Swift и map в Go тоже. Снапшот-тесты на выдачу это поймают.</a:t>
            </a:r>
          </a:p>
          <a:p>
            <a:r>
              <a:t>Сменилось требование — сменился победитель. Последнее про данные: порядок, в котором они приходят.</a:t>
            </a:r>
          </a:p>
          <a:p>
            <a:r>
              <a:t>Если отстаю (−20 с): Строку про отсортированный выход показать молча и сказать одно: «выход, кстати, молча перестал быть отсортированным». Оставить: «порядок любой — близко», «первое появление — больше чем втрое», «любой каждый раз».</a:t>
            </a:r>
          </a:p>
          <a:p>
            <a:r>
              <a:t>Под рукой:</a:t>
            </a:r>
          </a:p>
          <a:p>
            <a:r>
              <a:t>— «Вы обделили сортировку» (qa C6, cpp.md §9): вторая сортировка не обязательна — хватает битовой маски первых вхождений и одного прохода. x86, U = N/2: хеш 69–88 нс/эл, sort + вторая сортировка 140–149, sort + маска 105–110. На M2 мерил вариант со второй сортировкой (подписано в футере); с маской на M2 не мерил.</a:t>
            </a:r>
          </a:p>
          <a:p>
            <a:r>
              <a:t>— Закон Хайрама и история DedupTest: Kulukundis, «Abseil's Open Source Hashtable: 2 Years In», CppCon 2019, слайды 24, 26, 36–37. Abseil сидирует хеш на процесс и на таблицу намеренно. Swift: порядок Array(Set(x)) меняется между запусками (beyond.md §3.3).</a:t>
            </a:r>
          </a:p>
          <a:p>
            <a:r>
              <a:t>— Kotlin distinct() — это LinkedHashSet, по контракту порядок первого появления (beyond.md §2.2). В Swift для него — uniqued() из swift-algorithms или OrderedSet; не мерил.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0:50 · к концу 14:20.</a:t>
            </a:r>
          </a:p>
          <a:p>
            <a:r>
              <a:t>Те же ключи, те же повторы, другая перестановка.</a:t>
            </a:r>
          </a:p>
          <a:p>
            <a:r>
              <a:t>[щелчок] Случайный порядок — близко. Сериями одинаковых — хеш быстрее.</a:t>
            </a:r>
          </a:p>
          <a:p>
            <a:r>
              <a:t>А теперь вспомним задачу: локальные id уже отсортированы. Кому из двух это поможет? [пауза 3 с]</a:t>
            </a:r>
          </a:p>
          <a:p>
            <a:r>
              <a:t>[щелчок] Сортировке. В восемь раз. И это не фокус: libc++ замечает, что разбиение не сделало ни одного обмена, и досортировывает вставками. Около двух сравнений на элемент вместо двадцати с лишним. [щелчок] libstdc++ так не делает — на Linux с GCC выигрыш скромнее.</a:t>
            </a:r>
          </a:p>
          <a:p>
            <a:r>
              <a:t>Вот и первое ружьё выстрелило. Но отсортирован у нас не весь массив, а только локальная часть. Зачем тогда сортировать её заново?</a:t>
            </a:r>
          </a:p>
          <a:p>
            <a:r>
              <a:t>Если отстаю (−15 с): Выбросить строку про серии и фразу про libstdc++. Оставить: вопрос с паузой → «сортировке, в восемь раз» → механизм одной фразой → «первое ружьё выстрелило».</a:t>
            </a:r>
          </a:p>
          <a:p>
            <a:r>
              <a:t>Под рукой:</a:t>
            </a:r>
          </a:p>
          <a:p>
            <a:r>
              <a:t>— Механизм (cpp.md §4.2, errata P0-11): опорный — медиана; если разбиение прошло без обмена, __insertion_sort_incomplete с лимитом 8 перемещений на обеих половинах. 2,00 сравнения на элемент измерено в LLVM 13, 15 и 18 — эвристика старше LLVM 14, «LLVM 17» не говорить. libstdc++ — introsort без раннего выхода, ≈25 сравнений на элемент.</a:t>
            </a:r>
          </a:p>
          <a:p>
            <a:r>
              <a:t>— x86 (bench.md E4): на отсортированном sort быстрее хеша в 12,5 раза с libc++ и в 4,5 раза с libstdc++. На сериях x86 даёт ничью, а не «хеш быстрее», как на M2.</a:t>
            </a:r>
          </a:p>
          <a:p>
            <a:r>
              <a:t>— std::sort для uint64_t на iPhone берётся из системной libc++.dylib: алгоритм сортировки на телефоне пользователя определяет версия iOS, а не Xcode (cpp.md §4.4). В Swift sort() — Timsort, на отсортированном входе O(n); не мерил.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0:55 · к концу 15:15.</a:t>
            </a:r>
          </a:p>
          <a:p>
            <a:r>
              <a:t>[щелчок] Вот ответ, который я мог дать в первый же день. [пауза 1 с] Локальные не трогаем. Сортируем только маленькую дельту, убираем в ней повторы и сливаем с локальными за один проход.</a:t>
            </a:r>
          </a:p>
          <a:p>
            <a:r>
              <a:t>[щелчок] Шаг с unique не пропускайте: set_union сам дубли дельты не убирает. В черновике этого слайда я его пропустил, и ответ был бы неверным.</a:t>
            </a:r>
          </a:p>
          <a:p>
            <a:r>
              <a:t>[щелчок] На x86 это минимум в три с половиной раза быстрее, чем sort плюс unique. [домерить на iPhone: «На iPhone в .utility — в N раз»] Это и обещанный ответ для rowid: слиянию всё равно, плотные id или случайные.</a:t>
            </a:r>
          </a:p>
          <a:p>
            <a:r>
              <a:t>Итог раунда: данные и тикет назначают победителя не хуже реализации. А лучший алгоритм использует то, что о данных уже известно.</a:t>
            </a:r>
          </a:p>
          <a:p>
            <a:r>
              <a:t>Если отстаю (−20 с): Выбросить «В черновике этого слайда я его пропустил…» и фразу про rowid. Итог раунда — одной фразой: «Лучший алгоритм использует то, что о данных уже известно».</a:t>
            </a:r>
          </a:p>
          <a:p>
            <a:r>
              <a:t>Под рукой:</a:t>
            </a:r>
          </a:p>
          <a:p>
            <a:r>
              <a:t>— Если на iPhone не домерил, вместо плейсхолдера: «На телефоне я его ещё не мерил — цифры появятся в репозитории». Не говорить «на телефоне будет так же». Про std::flat_set — только на вопрос: «так он вставляет диапазон; это отсортированный вектор, не плоская хеш-таблица».</a:t>
            </a:r>
          </a:p>
          <a:p>
            <a:r>
              <a:t>— x86 (bench.md E8, нс на элемент входа, libstdc++ / libc++): sort + unique 42,4 / 31,2 (libc++ быстрее: вход на 94% отсортирован); слияние через set_union 6,4 / 8,9, через inplace_merge + unique 6,7 / 8,6; flat 39,3 / 36,4 — слияние быстрее и её в 4–6 раз; unordered_set 241 / 247.</a:t>
            </a:r>
          </a:p>
          <a:p>
            <a:r>
              <a:t>— set_union берёт из второго диапазона max(n − m, 0) копий: без unique по дельте на 1,06 млн осталось 32 966 дублей (cpp.md §8). «Битовая карта для плотных rowid?» (qa X5): миллион id — 125 КБ, сильный кандидат, не мерил. «INSERT OR IGNORE в SQLite?» (qa X10): B-дерево и журнал, ожидаю медленнее, не мерил.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1:15 · к концу 16:30.</a:t>
            </a:r>
          </a:p>
          <a:p>
            <a:r>
              <a:t>[щелчок] Прежде чем менять процессор — признание. Первая версия моего бенчмарка проходила проверку на эталон и выдавала одни и те же цифры от запуска к запуску. И врала. Один массив на каждом повторе — и сортировка тысячи id давала семь наносекунд на элемент. На шестидесяти четырёх разных массивах — четырнадцать. Вдвое лучше правды. [пауза 1 с] Если ваш бенчмарк на JMH или в Go гоняет один и тот же маленький вход, он может врать так же.</a:t>
            </a:r>
          </a:p>
          <a:p>
            <a:r>
              <a:t>[щелчок] Гипотеза: предсказатель ветвлений выучил вход. Контроль: шестьдесят четыре одинаковые копии. Ветвления как у одного массива, адреса как у разных.</a:t>
            </a:r>
          </a:p>
          <a:p>
            <a:r>
              <a:t>[щелчок] На x86 копии быстрые: виноват предсказатель. На M2 медленные, как разные массивы. Значит, там дело не в истории ветвлений, а в чём-то адресном. Думаю, шестьдесят четыре копии не влезают в L1, но до счётчиков я не дошёл.</a:t>
            </a:r>
          </a:p>
          <a:p>
            <a:r>
              <a:t>[щелчок] Цена ошибки — [N дней] выброшенных замеров. [пауза 2 с] Даже ошибка измерения зависит от процессора.</a:t>
            </a:r>
          </a:p>
          <a:p>
            <a:r>
              <a:t>Если отстаю (−30 с): Версия на 45 секунд: «Мой первый бенчмарк гонял один массив: семь наносекунд вместо четырнадцати. Контроль с одинаковыми копиями: на x86 виноват предсказатель, на M2 — что-то адресное. Даже ошибка измерения зависит от процессора». Выбросить фразу про JMH и Go.</a:t>
            </a:r>
          </a:p>
          <a:p>
            <a:r>
              <a:t>Под рукой:</a:t>
            </a:r>
          </a:p>
          <a:p>
            <a:r>
              <a:t>— Полная таблица (backup): x86 Xeon, libstdc++ — 6,3 / 5,7 / 27,1; M2 Pro, Linux VM, libstdc++ — 4,8 / 15,4 / 14,6; M2 Pro, macOS, libc++ — 6,8 / — / 14,4. Заголовочные 6,8 и 14,4 сняты на macOS нативно; в Linux VM шёл только контроль с копиями, на какое ядро попадал её vCPU, решал хост. Вслух «семь» и «четырнадцать».</a:t>
            </a:r>
          </a:p>
          <a:p>
            <a:r>
              <a:t>— x86 подтверждён независимым повтором и более сильным контролем (bench.md E5): 9,7 / 9,6 / 46,9; 64 разных массива через один буфер в 8 КБ — 46,8, то есть рабочий набор ни при чём. Уже два чередующихся массива отнимают половину выигрыша (24,3). Radix без ветвлений на данных почти нечувствителен.</a:t>
            </a:r>
          </a:p>
          <a:p>
            <a:r>
              <a:t>— «M4 выучивает 10 000 ветвлений, почему на M2 не предсказатель?» (qa H15, Lemire 18.03.2026): именно поэтому контроль с копиями — история ветвлений у них одна, а время как у разных. По величине рабочий набор объясняет не всё: 8 КБ из L2 — максимум ≈3 нс/эл при разнице ≈10. Следующий шаг — Instruments → CPU Counters и контроль «8 копий × 1024 = 64 КБ &lt; L1». Идея — Lemire, «Benchmarking is hard: processors learn to predict branches», 2019.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1:25 · к концу 17:55.</a:t>
            </a:r>
          </a:p>
          <a:p>
            <a:r>
              <a:t>[шаг по сцене, пауза 2 с]</a:t>
            </a:r>
          </a:p>
          <a:p>
            <a:r>
              <a:t>Раунд четвёртый. Ради него доклад так и называется.</a:t>
            </a:r>
          </a:p>
          <a:p>
            <a:r>
              <a:t>Всё, что вы видели на Mac и iPhone, снято на переднем плане, в userInitiated. А наша задача живёт вот в этой строчке: Task, priority utility. Третье ружьё. [пауза] [если ответ C был про железо или приоритет: «Вот и ваше условие с первой ставки».]</a:t>
            </a:r>
          </a:p>
          <a:p>
            <a:r>
              <a:t>Код алгоритма я не трогаю — ни строчки. Меняю только приоритет задачи. Тот же код, те же входы: полмиллиона id, половина — повторы.</a:t>
            </a:r>
          </a:p>
          <a:p>
            <a:r>
              <a:t>[щелчок] Mac на переднем плане, iPhone на переднем плане, Mac в utility. Три ничьи: разница меньше восьми процентов.</a:t>
            </a:r>
          </a:p>
          <a:p>
            <a:r>
              <a:t>[щелчок] [пауза 2 с] iPhone в utility — сортировка быстрее почти вдвое. [пауза 1 с] Победитель появился там, где его не было.</a:t>
            </a:r>
          </a:p>
          <a:p>
            <a:r>
              <a:t>[щелчок] Честно про Mac: на миллионе разрыв вырос и у него — был на треть, стал почти вдвое. А ядро у Mac, судя по всему, осталось то же, производительное. Значит, utility меняет не только ядро.</a:t>
            </a:r>
          </a:p>
          <a:p>
            <a:r>
              <a:t>Бэкенд, ваша версия этой таблицы — через пару минут.</a:t>
            </a:r>
          </a:p>
          <a:p>
            <a:r>
              <a:t>А iPhone на миллионе — вот. [→ следующий слайд]</a:t>
            </a:r>
          </a:p>
          <a:p>
            <a:r>
              <a:t>Если отстаю (−20 с): Выбросить «Тот же код, те же входы…» (условия в футере) и фразу для бэкенда. Честную строку про Mac не выбрасывать: без неё заголовок спорит с собственной таблицей (errata P0-4).</a:t>
            </a:r>
          </a:p>
          <a:p>
            <a:r>
              <a:t>Под рукой:</a:t>
            </a:r>
          </a:p>
          <a:p>
            <a:r>
              <a:t>• Лестницы utility для Mac в данных колоды нет, поэтому здесь запасная фраза из cores («судя по всему») и на экране «ядро, судя по всему, то же: P». Если к 14.10 её снимут — вернуть «А ядро у Mac осталось то же, производительное, — это я покажу» и строку «ядро то же, P» (вместе с линией на cores, см. Под рукой cores).</a:t>
            </a:r>
          </a:p>
          <a:p>
            <a:r>
              <a:t>• «Почему на Mac хеш подорожал на 43%, если ядро то же?» — причину не мерил. Сортировка почти не заметила (+3%). Хеш на 1M (24 МиБ, мимо L2) заметил, на 512K (12 МиБ, в L2) — только +12%. Гипотеза: под utility ниже частота памяти или кластера, а хеш упирается в память. Проверка — лестница с cores на Mac в utility за 16 МиБ и Instruments → CPU Counters.</a:t>
            </a:r>
          </a:p>
          <a:p>
            <a:r>
              <a:t>• «Почему utility? Apple для синхронизации советует background» (qa I4, errata P1-9): да, в Energy Efficiency Guide синхронизация отнесена к background. Там ещё дороже: iPhone на 512K — 145,6 против 195,2 (sort ×1,3), Mac — 92,6 против 178,4 (×1,9); строки в backup. «Почему в background на iPhone разрыв меньше?» — причину не мерил. Гипотеза: в background частота E-кластера ещё ниже; сортировка упирается в вычисления и теряет пропорционально больше, а хеш и так ждёт память, задержка которой от частоты ядра почти не зависит. Проверка — счётчики или запись частоты. «Поставьте userInitiated» (qa I3): Apple просит, чтобы без действий пользователя приложение 90% времени работало в utility или ниже.</a:t>
            </a:r>
          </a:p>
          <a:p>
            <a:r>
              <a:t>• «Task или pthread?» (qa I5, I6, apple §5.1): в бенчмарке — pthread_set_qos_class_self_np; Task(priority: .utility), по исходникам Swift, — тот же класс 0x11 на кооперативном потоке, через сам Task не мерил. Если экран ждёт await task.value, приоритет поднимут — и мы в левом столбце матрицы. Не путать с QoS-классами Kubernetes: там лимиты и вытеснение, а не тип ядра.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0:40 · к концу 18:35.</a:t>
            </a:r>
          </a:p>
          <a:p>
            <a:r>
              <a:t>[щелчок — стартует видео; беру телефон, поднимаю на уровень плеча]</a:t>
            </a:r>
          </a:p>
          <a:p>
            <a:r>
              <a:t>Вот этот телефон, [модель iPhone]. На экране — запись с него.</a:t>
            </a:r>
          </a:p>
          <a:p>
            <a:r>
              <a:t>[видео: прогон в userInitiated] Сначала передний план. Запомните длину полосок.</a:t>
            </a:r>
          </a:p>
          <a:p>
            <a:r>
              <a:t>[видео: переключатель] Меняю одну строчку.</a:t>
            </a:r>
          </a:p>
          <a:p>
            <a:r>
              <a:t>[молчу 3–4 с, пока растёт полоса хеша; смотрю в зал, не на экран]</a:t>
            </a:r>
          </a:p>
          <a:p>
            <a:r>
              <a:t>[щелчок — «×3,3»] [пауза 2 с]</a:t>
            </a:r>
          </a:p>
          <a:p>
            <a:r>
              <a:t>Сортировка быстрее в три и три десятых раза. Тот же телефон, тот же код, те же данные. [пауза 1 с]</a:t>
            </a:r>
          </a:p>
          <a:p>
            <a:r>
              <a:t>Вот цена того вторничного approve. На Mac разработчика, на переднем плане, разрыв от силы на треть, а в CI на x86 его нет вовсе. [опускаю телефон]</a:t>
            </a:r>
          </a:p>
          <a:p>
            <a:r>
              <a:t>Моя версия: главное — под задачей сменилось ядро.</a:t>
            </a:r>
          </a:p>
          <a:p>
            <a:r>
              <a:t>Если отстаю (−10 с): Выбросить «На экране — запись с него» и «Сначала передний план. Запомните длину полосок». Молчание, пока растёт полоса хеша, и паузу после «×3,3» не сокращать: ради них слайд и сделан.</a:t>
            </a:r>
          </a:p>
          <a:p>
            <a:r>
              <a:t>Под рукой:</a:t>
            </a:r>
          </a:p>
          <a:p>
            <a:r>
              <a:t>• Пары «1M · userInitiated · iPhone» пока нет, а backup systems говорит, что на iPhone с 1M сортировка впереди и на переднем плане. Поэтому «Запомните длину полосок», а не «полоски рядом». На 512K на переднем плане ничья (19,6 / 18,2), в utility — ×1,9. Если пару не сняли — видео с переключателя, а вместо «Сначала передний план…» сказать «Приоритет utility» и сразу молчать.</a:t>
            </a:r>
          </a:p>
          <a:p>
            <a:r>
              <a:t>• «Втрое» — только для миллиона. Mac на 1M: ×1,1–1,3 в userInitiated, ×1,8 в utility. x86 на 1M: хеш на 15% в моём прогоне, ничья в повторе. Числа из видео не читаю: запись экрана сама грузит CPU, расхождение с медианами до 15%. Не говорю «в Xcode не увидите»: с устройства через Xcode эффект виден (errata P1-10).</a:t>
            </a:r>
          </a:p>
          <a:p>
            <a:r>
              <a:t>• Видео — встроенная запись экрана iOS, без кабеля (кабель меняет режим питания); H.264 до 4 МБ, &lt;video autoplay muted loop playsinline preload="auto" poster=…&gt;; проверить на компьютере площадки. Если не играет — постер и живой телефон в руке, текст тот же. «Покажите вживую» → «После доклада в экспертной зоне, можно и на вашем iPhone».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1:45 · к концу 20:20.</a:t>
            </a:r>
          </a:p>
          <a:p>
            <a:r>
              <a:t>Как это доказать? Привязки к ядру на Apple нет. Но можно спросить у памяти.</a:t>
            </a:r>
          </a:p>
          <a:p>
            <a:r>
              <a:t>[щелчок] Метод Дреппера из 2007 года: каждое чтение ждёт предыдущее, а объём памяти, по которому ходим, растёт. Это та самая лестница из первого раунда. Сплошная — Mac на переднем плане: изломы на 128 килобайтах и 16 мегабайтах. Это кэши производительного ядра, P.</a:t>
            </a:r>
          </a:p>
          <a:p>
            <a:r>
              <a:t>[щелчок] Пунктир — фон. Изломы уже на 64 килобайтах и около трёх-четырёх мегабайт: энергоэффективное ядро, E. [пауза 2 с] Частота двигает кривую вверх-вниз, а изломы стоят на границах кэша. Ступеньки выдают ядро.</a:t>
            </a:r>
          </a:p>
          <a:p>
            <a:r>
              <a:t>[щелчок] Справа iPhone, картина та же. Янтарная — utility. На iPhone она легла на пунктир: E. [пауза 1 с] Это факт на моём iPhone, а не закон: ядро выбирает закрытый контроллер Apple. На вашем может быть иначе — проверьте.</a:t>
            </a:r>
          </a:p>
          <a:p>
            <a:r>
              <a:t>[щелчок] Отсюда и разрыв: на E-ядре сортировка медленнее почти втрое, а хеш — почти вшестеро. Таблица в двенадцать мегабайт влезала в кэш P-ядра, а в четыре мегабайта E-ядра — нет. Это гипотеза, но с лестницей сходится. [пауза]</a:t>
            </a:r>
          </a:p>
          <a:p>
            <a:r>
              <a:t>«Не срочно» на телефоне значит «другой процессор». [пауза 2 с]</a:t>
            </a:r>
          </a:p>
          <a:p>
            <a:r>
              <a:t>А что из этого увидит ваш CI?</a:t>
            </a:r>
          </a:p>
          <a:p>
            <a:r>
              <a:t>Если отстаю (−30 с): Метод одной фразой: «Каждое чтение ждёт предыдущее, и лестница выдаёт размеры кэшей». Выбросить «Это та самая лестница из первого раунда». Не выбрасывать «частота двигает, изломы стоят», «факт, а не закон» и «почти втрое — почти вшестеро».</a:t>
            </a:r>
          </a:p>
          <a:p>
            <a:r>
              <a:t>Под рукой:</a:t>
            </a:r>
          </a:p>
          <a:p>
            <a:r>
              <a:t>• Лестницы utility для Mac в данных колоды нет, поэтому слайд собран по запасному варианту: шаг 3 только на правой панели, здесь «На iPhone она легла на пунктир: E», на qos — «А ядро у Mac, судя по всему, осталось то же, производительное». Если к 14.10 её снимут — вернуть основной: янтарная линия на левой панели в шаге 3 с подписью «utility: изломы на 128 КиБ и 16 МиБ — P»; заголовок «…utility работает на E-ядре, на Mac — на P»; здесь «На Mac она легла на сплошную: P. На iPhone — на пунктир: E»; на qos «…осталось то же, производительное, — это я покажу» и строка «ядро то же, P». При пересъёмке посмотреть, совпадает ли янтарная Mac со сплошной дальше 16 МиБ: если там выше — это ответ на 1,3 → 1,8.</a:t>
            </a:r>
          </a:p>
          <a:p>
            <a:r>
              <a:t>• «Как вы отличили E-ядро от P-ядра на пониженной частоте?» (qa H3): по положению изломов, а не по высоте кривой. Внутри L1 utility ≈2,5 нс против ≈8,5 у background: то же E-ядро, похоже, на более высокой частоте (с графика, ±10%; errata P2-15). Дополнительная проверка — Instruments → System Trace [ПП: подписывает ли он ядра как P и E, не проверено]. Привязки к ядру нет: DTS на форуме Apple — «thread affinity is not implemented / supported for Apple Silicon» (qa I9). XNU, Edge-планировщик (sched_clutch.c): для background контроллер P-ядра «would never recommend», utility — на любые, решает закрытый CLPC; «utility → E» — мой замер на этом iPhone (backup nb-kernel).</a:t>
            </a:r>
          </a:p>
          <a:p>
            <a:r>
              <a:t>• «Сортировка тоже замедлилась почти втрое — значит, не только память?» (qa H12): да — сортировка платит частотой и шириной E-ядра, хеш тем же и вдобавок вчетверо меньшим кэшем; без счётчиков это гипотеза. До заморозки 14.10 сверить по sysctl самого iPhone: [L1/L2 P- и E-ядер iPhone из sysctl]; у A15 P-L2 — 12 МБ, и тогда «в кэш P-ядра влезала» для 12 МиБ пограничная (apple §2.3). Background на 64 МБ ≈470 нс против ≈75 — в 6 раз; на 4–32 МБ — в 9–16 раз. На M5 Pro и Max E-ядер нет (apple.md §1.1ж).</a:t>
            </a:r>
          </a:p>
          <a:p>
            <a:r>
              <a:t>• Выброс янтарной линии iPhone около 1,5 МиБ (≈18 нс против ≈8 у соседей) — одна точка при медиане 3 блоков, данные на слайде оставлены как есть; до заморозки 14.10 переснять точку или взять больше блоков (errata P2-15).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1:20 · к концу 21:40.</a:t>
            </a:r>
          </a:p>
          <a:p>
            <a:r>
              <a:t>[щелчок] Соберём всё в одну таблицу. Один бенчмарк, одинаковые входы, три машины. [пауза 2 с]</a:t>
            </a:r>
          </a:p>
          <a:p>
            <a:r>
              <a:t>Слева x86 с Linux и libstdc++ — типичный CI. До полумиллиона хеш впереди, до сорока процентов, на миллионе — ничья. Тест зелёный, approve, хеш едет в релиз.</a:t>
            </a:r>
          </a:p>
          <a:p>
            <a:r>
              <a:t>[щелчок] Справа iPhone пользователя в utility. Столбец синий, и чем больше данных, тем сильнее: до трёх с лишним раз.</a:t>
            </a:r>
          </a:p>
          <a:p>
            <a:r>
              <a:t>[щелчок] Посередине мой Mac — почти ничья до полумиллиона. А macOS-раннер на GitHub — виртуалка, где гость видит один тип ядер: QoS там не уведёт поток на E-ядро, и мой эффект не воспроизвести в принципе.</a:t>
            </a:r>
          </a:p>
          <a:p>
            <a:r>
              <a:t>[пауза 2 с] CI не врёт. Он честно отвечает — про своё ядро.</a:t>
            </a:r>
          </a:p>
          <a:p>
            <a:r>
              <a:t>[щелчок] Бэкенд, это ваша таблица: CI на x86, прод на Graviton — другие кэши, другие соседи.</a:t>
            </a:r>
          </a:p>
          <a:p>
            <a:r>
              <a:t>Ваш алгоритм не выбирал процессор. Ни в телефоне, ни в облаке.</a:t>
            </a:r>
          </a:p>
          <a:p>
            <a:r>
              <a:t>Так что поехало в прод — и сколько это стоило?</a:t>
            </a:r>
          </a:p>
          <a:p>
            <a:r>
              <a:t>Если отстаю (−20 с): Выбросить «Тест зелёный…»; мост одной фразой: «Бэкенд, это ваша таблица: CI на x86, прод на Graviton». Не выбрасывать hosted-раннер и «CI не врёт — он отвечает про своё ядро».</a:t>
            </a:r>
          </a:p>
          <a:p>
            <a:r>
              <a:t>Под рукой:</a:t>
            </a:r>
          </a:p>
          <a:p>
            <a:r>
              <a:t>• Построение: 1 — столбец x86, 2 — iPhone, 3 — Mac вместе со сноской про hosted-раннеры (о них говорю на этом же щелчке), 4 — строка-мост про Graviton и Android.</a:t>
            </a:r>
          </a:p>
          <a:p>
            <a:r>
              <a:t>• Не влезло в футер, отвечать устно: вход в случайном порядке; iPhone — Low Power Mode off; x86 — Xeon в VM, GCC 13 / libstdc++; Mac — M2 Pro, macOS 27, libc++. Сноска про hosted-раннеры на экране сокращена: M1 / M2 и vCPU — в пункте о них ниже.</a:t>
            </a:r>
          </a:p>
          <a:p>
            <a:r>
              <a:t>• Клетки x86 64K–1M — янтарные плейсхолдеры до сверки определения «хеш на X%» по сырым данным моего прогона (errata P2-16; в репозитории их нет). Если X = T_sort/T_hash − 1: ×1,42 / ×1,27 / ×1,20 / ×1,15; если X = 1 − T_hash/T_sort: ×1,72 / ×1,37 / ×1,25 / ×1,18. Вписать один ряд, убрать скобки. «До сорока процентов» вслух верно при обоих; повтор определение не решает (64K ближе ко второму, 256K–1M — к первому).</a:t>
            </a:r>
          </a:p>
          <a:p>
            <a:r>
              <a:t>• Независимый повтор на x86 (bench.md E2, summary.md): 64K — хеш на 64% (T_sort/T_hash − 1) или на 39% (1 − T_hash/T_sort), 256K — 29%, 512K — 12%, 1M — ничья ±2% в обеих библиотеках (87,1 против 85,5; libc++ 88,7 против 89,3), с 2M впереди сортировка. Вывод держится: на 256K и 512K x86 даёт хеш, iPhone — sort ×1,3 и ×1,9. Абсолютные наносекунды между машинами не переносятся (+19…78%).</a:t>
            </a:r>
          </a:p>
          <a:p>
            <a:r>
              <a:t>• «Почему на x86 хеш?» (qa H14) — гипотеза: большой общий L3, и таблица до полумиллиона (≈12 МБ) лежит в нём, а не в памяти. Счётчиков в госте нет, это не замер. На повторе зависимое чтение на 16 МБ стоит 50 нс, на 64 МБ — 141 нс, и уже на 1M там ничья. У Дреппера есть пример: процессор с бо́льшим LLC вдвое быстрее на наборе, который помещается только в его кэш.</a:t>
            </a:r>
          </a:p>
          <a:p>
            <a:r>
              <a:t>• Hosted-раннеры (apple §6): macos-latest — VM на M1, 3 vCPU; xlarge — M2, 5 vCPU; гость видит hw.nperflevels = 1; в XNU для VMAPPLE MAX_CPU_CLUSTERS 1. «Как ловить в CI» (qa P8): устройство целевого класса (свои телефоны у self-hosted Mac или ферма), целевой QoS, версии ОС, компилятора и библиотеки в логе. Мосты — механизм, не мой замер (beyond §1, §5): Android — решает состояние процесса; Pixel 8/9: background = cpu0–3; Jetpack Microbenchmark меряет в top-app, на больших ядрах. Graviton: vCPU = физическое ядро, L2 1–2 МБ на ядро; не говорить «Graviton — это как E-ядро». Arrays.sort(long[]) на x86-Linux — SIMD-интринсика: в JDK 22 только на Intel с AVX-512, с JDK 23 и с AVX2 (на Zen 4 AVX-512-ветка выключена); на ARM — скалярный dual-pivot quicksort.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1:00 · к концу 22:40.</a:t>
            </a:r>
          </a:p>
          <a:p>
            <a:r>
              <a:t>Прод-метрик этого этапа у меня нет, рисовать их не буду. Есть лабораторная цена.</a:t>
            </a:r>
          </a:p>
          <a:p>
            <a:r>
              <a:t>[щелчок] Обычный пользователь — тысячи id: по оценке, разница меньше миллисекунды. Поэтому такой диф и проходит ревью.</a:t>
            </a:r>
          </a:p>
          <a:p>
            <a:r>
              <a:t>[щелчок] Платит хвост — долгоживущие аккаунты. Мой iPhone, .utility, полмиллиона id: этот approve стоит лишних двадцать шесть миллисекунд на синхронизацию и двенадцать мегабайт, которые сортировке не нужны. На тестовом миллионе — сто сорок миллисекунд.</a:t>
            </a:r>
          </a:p>
          <a:p>
            <a:r>
              <a:t>[щелчок] Это этап, а не вся синхронизация: дедуп занимает [доля этапа в синхронизации]. И время — не энергия: батарею я не мерил.</a:t>
            </a:r>
          </a:p>
          <a:p>
            <a:r>
              <a:t>В проде у нас [что поехало в прод] [потому что + одно ограничение, которое решило, до 5 слов; если его не было — не говорить]. Сделал бы иначе — сразу мерил бы на телефоне, в нужной очереди, и начал со слияния. [пауза] Так что же выбирать?</a:t>
            </a:r>
          </a:p>
          <a:p>
            <a:r>
              <a:t>Если отстаю (−25 с): «Прод-метрик у меня нет, рисовать не буду. У обычного пользователя разницы не видно. На моём iPhone в .utility при полумиллионе id этот approve стоит лишних двадцать шесть миллисекунд и двенадцать мегабайт на синхронизацию. В проде у нас [что поехало в прод]». Оговорки остаются на экране.</a:t>
            </a:r>
          </a:p>
          <a:p>
            <a:r>
              <a:t>Под рукой:</a:t>
            </a:r>
          </a:p>
          <a:p>
            <a:r>
              <a:t>• Арифметика (audit_comm §6.1): iPhone, .utility, U = N/2. 512K: 55,3 и 105,3 × 2^19 ≈ 29 и 55 мс. 1M: 57,4 × 2^20 ≈ 60 мс против 187,7 × 2^20 ≈ 197 мс, разница ≈137 мс, вслух «сто сорок». Память: 32·U + 8·N = 12 МиБ при 512K и 24 МиБ при 1M (apple.md §3.3); сортировка работает на месте. «Тысячи id» — оценка: малые N в .utility на iPhone не мерились. Если у реальных аккаунтов миллион всё же бывает — на case сказать «у самых старых — до миллиона» и вернуть заголовок про 1M.</a:t>
            </a:r>
          </a:p>
          <a:p>
            <a:r>
              <a:t>• Не говорить (audit_comm §6.2): «синхронизация стала втрое быстрее» (это этап), «экономим батарею» (не мерил), «у половины пользователей» (распределения N нет), проценты DAU и p95 без выборки. «Почему не flat, раз он самый быстрый?» — только если так и было: «Abseil в iOS-приложении — зависимость, размер бинаря, сборка; ради этих миллисекунд в хвосте мы его не потащили». Flat в .utility на iPhone не мерил (errata P2-23).</a:t>
            </a:r>
          </a:p>
          <a:p>
            <a:r>
              <a:t>• «Это заметно пользователю?» (qa P1): на этом этапе нет. Видят батарея и бюджет фонового окна; главное — CI систематически даёт обратный ответ, а на горячем пути та же ошибка метода стоит уже не миллисекунды. «Батарея?» (qa P4): не мерил. E-ядро медленнее, но экономнее, поэтому ×3,3 по времени не значит ×3,3 по энергии; проверял бы через Instruments или MetricKit на серии синхронизаций.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1:00 · к концу 23:40.</a:t>
            </a:r>
          </a:p>
          <a:p>
            <a:r>
              <a:t>Правило вместо нотации.</a:t>
            </a:r>
          </a:p>
          <a:p>
            <a:r>
              <a:t>[щелчок] Первое. Уникальных мало или нужен порядок первого появления — хеш-таблица, лучше плоская.</a:t>
            </a:r>
          </a:p>
          <a:p>
            <a:r>
              <a:t>[щелчок] Второе. Часть входа уже отсортирована — не трогайте её: остальное отсортируйте, схлопните и слейте.</a:t>
            </a:r>
          </a:p>
          <a:p>
            <a:r>
              <a:t>[щелчок] Третье. Целые ключи, почти все разные, данных больше кэша — radix или плоская таблица. Узловая — последней.</a:t>
            </a:r>
          </a:p>
          <a:p>
            <a:r>
              <a:t>[щелчок] Четвёртое, для всех. Код живёт не там, где мерили, — значит, цена шага другая. На телефоне в фоне — другое ядро. На бэкенде — ARM вместо x86 или контейнер, у которого кэш делят соседи.</a:t>
            </a:r>
          </a:p>
          <a:p>
            <a:r>
              <a:t>[щелчок] И пятое, самое короткое: сомневаетесь — меряйте.</a:t>
            </a:r>
          </a:p>
          <a:p>
            <a:r>
              <a:t>[пауза] Big-O нужен: он спасает от квадратичных катастроф. Но между двумя разумными алгоритмами он не выбирает: он считает шаги, а не их цену. [пауза] Вернёмся во вторник.</a:t>
            </a:r>
          </a:p>
          <a:p>
            <a:r>
              <a:t>Если отстаю (−25 с): Правила 1–3 не читать: «Первые три — про данные и контракт, они на слайде». Четвёртое целиком, пятое и «Big-O считает шаги, а не их цену».</a:t>
            </a:r>
          </a:p>
          <a:p>
            <a:r>
              <a:t>Под рукой:</a:t>
            </a:r>
          </a:p>
          <a:p>
            <a:r>
              <a:t>• Финальное состояние (все пять правил и строка про Big-O) держать 5 секунд: его фотографируют.</a:t>
            </a:r>
          </a:p>
          <a:p>
            <a:r>
              <a:t>• Правило 4, числа со слайда cores (iPhone, отношение к userInitiated): utility ≈1,3× в L1 и на 64 МБ, до ≈5× на 8–16 МБ; background — до ≈15× на 4–32 МБ (errata P1-14; с графика ±10%, сверить с сырыми данными). CPU-лимит, то есть квота CFS, сам по себе тормозит оба алгоритма одинаково; цену шага меняют соседи по L3 — гипотеза, я мерил без соседей (qa B10). Не говорить «Graviton — это как E-ядро».</a:t>
            </a:r>
          </a:p>
          <a:p>
            <a:r>
              <a:t>• Правило 1: при 1% уникальных flat с reserve(N) медленнее узловой таблицы (3,6 против 3,2 нс/эл) и берёт в 64 раза больше памяти (errata P2-19, backup reserve). Правило 3: radix и flat мерились на M2 Pro в userInitiated (6,9 и 11,7 против 19,9) и на x86 (bench.md E1: radix ≈40, flat ≈43, sort ≈84, unordered_set ≈260 нс/эл); на iPhone в .utility — не мерил (qa P7). Правило 2 — слайд merge: на x86 в 3,5–6,6 раза быстрее sort + unique; unique по дельте обязателен.</a:t>
            </a:r>
          </a:p>
          <a:p>
            <a:r>
              <a:t>• «Postgres сам выбирает между HashAggregate и Sort» (qa B7): да, по оценке числа различных значений и work_mem — по данным и памяти, ровно по этому правилу; про ядро он тоже не знает. «Кнут: преждевременная оптимизация»: правило не про то, чтобы оптимизировать дедуп, а про то, чтобы не выбирать контейнер по нотации.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1:00 · к концу 24:40.</a:t>
            </a:r>
          </a:p>
          <a:p>
            <a:r>
              <a:t>Вторник, 17:40. Тот же диф. [пауза 1 с] Сегодня approve я бы не поставил. [щелчок] [пауза 2 с — даю посмеяться над подписью «три года спустя», не говорю поверх] Changes requested — и три вопроса.</a:t>
            </a:r>
          </a:p>
          <a:p>
            <a:r>
              <a:t>[щелчок] Первый — контракт. Раньше выход был отсортирован, теперь — порядок таблицы. Кто-нибудь на это опирается?</a:t>
            </a:r>
          </a:p>
          <a:p>
            <a:r>
              <a:t>[щелчок] Второй — данные. Какие N, сколько повторов? Локальные id уже отсортированы — может, слить?</a:t>
            </a:r>
          </a:p>
          <a:p>
            <a:r>
              <a:t>[щелчок] Третий — где это исполняется. На каком железе и в каком приоритете мерили?</a:t>
            </a:r>
          </a:p>
          <a:p>
            <a:r>
              <a:t>[щелчок] Ваши руки: здесь большинство было за [буква]. Кто A — правы на миллионе разных id и на телефоне в фоне. Кто B — правы с плоской таблицей, при очень большой доле повторов и для порядка первого появления. [пауза] А кто выбрал C — вы были правы с первой минуты. Эти три вопроса и есть то самое условие.</a:t>
            </a:r>
          </a:p>
          <a:p>
            <a:r>
              <a:t>Подведём счёт.</a:t>
            </a:r>
          </a:p>
          <a:p>
            <a:r>
              <a:t>Если отстаю (−20 с): «Тот же диф. Сегодня — Changes requested и три вопроса: какой контракт, какие данные, где исполняется». Вердикты A и B не читать, они на карточках; вслух только «Кто выбрал C — вы были правы с первой минуты».</a:t>
            </a:r>
          </a:p>
          <a:p>
            <a:r>
              <a:t>Под рукой:</a:t>
            </a:r>
          </a:p>
          <a:p>
            <a:r>
              <a:t>• Вопрос 1 закрывает вторую мелочь со слайда diff, первая (reserve) закрыта на vote. Про reserve, если спросят: без него в libc++ 20 перестроений и 51,5 МБ запрошенной памяти вместо 33,6 (cpp.md §2.3); по времени не мерил.</a:t>
            </a:r>
          </a:p>
          <a:p>
            <a:r>
              <a:t>• На чём держатся вердикты. A: sort на iPhone в .utility быстрее в 1,9 раза на 512K и в 3,3 раза на 1M; на миллионе уникальных id сортировка впереди везде, в 2,1–3,1 раза (x86: 2,07 у меня, 2,9–3,1 на повторе). B: flat быстрее сортировки в 1,7 раза (N = U); при 1% уникальных хеш впереди в 3,7 раза, при порядке первого появления — в 3,4; при половине повторов узловая — ничья на Mac и проигрыш на iPhone в utility. C: условие, которого не хватало, — раунды 3 и 4.</a:t>
            </a:r>
          </a:p>
          <a:p>
            <a:r>
              <a:t>• Если большинство было за A или B, не подкалываю: «вы правы — в своих клетках». Полный чек-лист честного замера (восемь проверок) — в backup checklist и в репозитории.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0:45 · к концу 25:25.</a:t>
            </a:r>
          </a:p>
          <a:p>
            <a:r>
              <a:t>[щелчок] Четыре раунда — четыре числа. Хеш против std::sort — два — два. И ни разу победителя не назначил логарифм. Его назначали память, реализация, данные и ядро. Бенчмарк и сырые данные — по QR.</a:t>
            </a:r>
          </a:p>
          <a:p>
            <a:r>
              <a:t>[щелчок] Одно действие на понедельник. Откройте свой перф-тест и посмотрите, где он бежит. Мобильщикам — на телефоне ли и в той ли очереди. Бэкенду — на том ли железе, где прод. Если нет, вы знаете только одно: что быстрее у раннера.</a:t>
            </a:r>
          </a:p>
          <a:p>
            <a:r>
              <a:t>[щелчок] [пауза 2 с, смотрю в зал] Ваш алгоритм не выбирал процессор. [пауза] Проверьте, какой ему достался. [пауза 2 с] Спасибо!</a:t>
            </a:r>
          </a:p>
          <a:p>
            <a:r>
              <a:t>Если отстаю (−15 с): Первый абзац сжать до «Четыре числа — и ни разу победителя не назначил логарифм». Строки про мобильщиков и бэкенд не читать, они на экране. Рефрен и паузы вокруг него не трогать.</a:t>
            </a:r>
          </a:p>
          <a:p>
            <a:r>
              <a:t>Под рукой:</a:t>
            </a:r>
          </a:p>
          <a:p>
            <a:r>
              <a:t>• Полоса (errata §4.2): 51,3 / 19,9 = 2,58 (M2 Pro, N = U, sort против unordered_set); 19,9 / 11,7 = 1,70 (flat против sort); ≈12,0 / ≈3,2 = 3,7 (1% уникальных, unordered_set против sort); 187,7 / 57,4 = 3,27 (iPhone, .utility, 1M, U = N/2). «Два — два» — именно хеш против std::sort: в раундах 1 и 4 выиграла сортировка, в 2 и 3 — хеш. Если спросят «а radix и слияние?» — да, считая их, семья сортировки выигрывает чаще; счёт на полосе — про диф с ревью.</a:t>
            </a:r>
          </a:p>
          <a:p>
            <a:r>
              <a:t>• Концовка по craft §6.4: действие, рефрен, пауза 2 с и «Спасибо!» как сигнал к аплодисментам. «Вопросы?» не говорю: вопросы открывает модератор. Если модератор сам закрывает доклад, закончить на «Проверьте, какой ему достался».</a:t>
            </a:r>
          </a:p>
          <a:p>
            <a:r>
              <a:t>• QR и URL — настоящие (errata P0-14). «Соберёте за десять минут» не обещать, пока сам не собрал DedupBench с нуля на чистой машине. «Мы бэкенд, у нас x86 и там, и там» (qa B5): другое поколение CPU и LLC, соседи по L3, другая стандартная библиотека. Arrays.sort(long[]) на x86 — SIMD-интринсика (JDK 22 — Intel с AVX-512, с JDK 23 — и AVX2), на ARM — скалярный quicksort (beyond §5.4).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 · без шагов. Слайды после этого — запас для вопросов, в основной хронометраж не входят. Номер на экране → слайд → вопросы из qa.md:</a:t>
            </a:r>
          </a:p>
          <a:p>
            <a:r>
              <a:t>1 nb-where — «Какой iPhone? Где мерили? У нас CI на Mac-раннерах» (M1, M10, V7, P8) · 2 nb-kernel — «В XNU написано обратное» (I1, I9, H16) · 3 nb-dense — «rowid плотные, а мерили случайные» (M5, C8) · 4 nb-merge — «Почему не слить дельту?» (X1, C5, C10) · 5 nb-lang — «А в Java, Go, Rust, Swift, Python?» (B1–B3, B9, S1, X12) · 6 learned-table — «Почему на M2 не предсказатель?» (H15, H17) · 7 qos-bg — «Почему utility, а не background?» (I4, H13) · 8 systems — точка перехода на четырёх системах · 9 drift — две минуты под нагрузкой · 10 stdlib — libstdc++ против libc++ · 11 cachecost — рабочий набор против L2 · 12 sortmin, 13 hashtable, 14 radixmin — устройство алгоритмов за минуту · 15 reserve — «Почему reserve(N), а не под U?» (C12) · 16 checklist — восемь проверок честного замера · 17 sums — из чего складывается работа.</a:t>
            </a:r>
          </a:p>
          <a:p>
            <a:r>
              <a:t>Схема любого ответа: сразу признать верное → точная формулировка → вывод держится → мостик: «на каком железе и в каком приоритете мерили».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 · без шагов. Вопросы: «Какой iPhone, какая iOS?» (qa M1), «x86 — VM или железо?» (M10), «У нас CI на Mac-раннерах» (V7, P8), «Релиз собирают с -Os» (M9).</a:t>
            </a:r>
          </a:p>
          <a:p>
            <a:r>
              <a:t>Ответ: iPhone — [модель iPhone, чип, iOS]; Low Power Mode выключен, заряд 40–80 %, без кабеля, thermalState nominal; всё это пишет «паспорт устройства» в репозитории. Модель важна: у A15 L2 P-кластера 12 МБ, у A16–A18 Pro — 16 МБ, от этого зависит, где у хеша ступенька. x86 — VM, поэтому абсолютные наносекунды с Apple не сравниваю, только отношения внутри одной машины. Стандартный macOS-раннер GitHub — VM на M1 с тремя vCPU: гость видит один тип ядер (hw.nperflevels = 1), QoS не уведёт поток на E-ядро, мой эффект в hosted CI не воспроизвести. Ловить так: устройство целевого класса, тот же QoS, версии ОС, компилятора и библиотеки в логе.</a:t>
            </a:r>
          </a:p>
          <a:p>
            <a:r>
              <a:t>-Os: DedupBench собран с [флаги сборки DedupBench]; std::sort для uint64_t исполняется из системной libc++ и от наших флагов не зависит, хеш упирается в память; прогон с -Os — в плане.</a:t>
            </a:r>
          </a:p>
          <a:p>
            <a:r>
              <a:t>Мостик: «Поэтому паспорт условий — пункт чек-листа, а не формальность».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 · без шагов. Вопрос: «В XNU написано обратное: при Edge utility может идти на любые ядра» (qa I1, Б1).</a:t>
            </a:r>
          </a:p>
          <a:p>
            <a:r>
              <a:t>Ответ: Да, вы правы. Цитата «utility и bg только на E» — из старого AMP-планировщика, он собирается только без Edge. В Edge ограничение одно: background и maintenance контроллер производительности на P-ядра не отправляет никогда. Utility может идти куда угодно, решает закрытый CLPC. Поэтому «utility на E» — не закон ядра, а мой замер: на этом iPhone utility оказался на E, на Mac — на P. Это видно по ступенькам на cores.</a:t>
            </a:r>
          </a:p>
          <a:p>
            <a:r>
              <a:t>Мостик: даже ядро ОС не обещает, какое ядро процессора вам достанется. Поэтому я меряю, а не цитирую.</a:t>
            </a:r>
          </a:p>
          <a:p>
            <a:r>
              <a:t>Если спросят дальше. «Привязать к P-ядру?» (I9) — нет: thread affinity на Apple silicon не поддерживается, рычаг один — QoS, и он влияет на размещение, а не назначает ядро. «P и E похожи по микроархитектуре» (I2) — да, Tech Talk 2021, но у E вдвое меньше L1D, вчетверо меньше L2 и ниже частота; нагрузка с указателями упирается ровно в это. «На M5 Pro E-ядер нет» (H16) — да, там Super и Performance, фон уйдёт на M-ядра: правило «background = E» перестаёт работать даже у Apple — тем важнее мерить.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 · без шагов. Вопрос: «В кейсе rowid из SQLite — плотные, а мерили вы случайные 64-битные» (qa M5, Б2), «std::hash для целых — тождество» (C8).</a:t>
            </a:r>
          </a:p>
          <a:p>
            <a:r>
              <a:t>Ответ: Справедливо. Случайные id выбраны намеренно, чтобы раскладка не зависела от удачи. На плотных id узловой таблице везёт: std::hash — тождество, коллизий ноль. На x86-повторе при половине дублей unordered_set на плотных в 1,65 раза быстрее, чем на случайных, и обгоняет сортировку в 1,7 раза; при всех уникальных — 320 против 68 нс/эл, в 4,7 раза. Radix делает 3 прохода вместо 8. Sort и flat от раскладки не зависят. Значит, на rowid победитель может смениться — это ровно тезис раунда 3. Серия на iPhone — [снять до 14.10]; не снял — так и сказать.</a:t>
            </a:r>
          </a:p>
          <a:p>
            <a:r>
              <a:t>Обратный край: id с общими нулевыми младшими битами (снежинки с нулевым счётчиком, кратные 1024) в libc++ после reserve(2^k) сваливаются в одну цепочку: шаг 1024 — 64 ячейки из 65 536, вставка ×70; шаг 2^20 — ×1 500. libstdc++ простой модуль это скрывает, Abseil и boost перемешивают хеш. Проверьте гистограмму цепочек на своих id.</a:t>
            </a:r>
          </a:p>
          <a:p>
            <a:r>
              <a:t>Мостик: для rowid лучший кандидат вообще не хеш и не sort, а слияние отсортированной дельты (следующий слайд) или битовая карта.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 · без шагов. Вопросы: «Почему не отсортировать только дельту и слить?» (qa X1), «set_union не убирает дубли дельты» (C5), «std::flat_set — это flat_hash_set?» (C10).</a:t>
            </a:r>
          </a:p>
          <a:p>
            <a:r>
              <a:t>Ответ: Для нашей задачи это правильный ответ, он же на слайде merge. Сортируем дельту, схлопываем в ней повторы и сливаем с отсортированными локальными id через set_union или inplace_merge + unique. Без unique по дельте set_union оставит её дубли: из второго диапазона он берёт max(n − m, 0) копий — на 1,06 млн осталось 32 966 дублей. На x86 это в 3,5–6,6 раза быстрее sort + unique и в 4–6 раз быстрее flat_hash_set. libc++ в sort + unique быстрее libstdc++ (31 против 42): вход уже на 94% отсортирован. iPhone: [домерить на iPhone]; не домерил — «на телефоне ещё не мерил, цифры появятся в репозитории», не «будет так же».</a:t>
            </a:r>
          </a:p>
          <a:p>
            <a:r>
              <a:t>std::flat_set — не хеш-таблица, а отсортированный вектор; его insert(range) в libc++ — ровно этот рецепт: отсортировать хвост, inplace_merge, unique.</a:t>
            </a:r>
          </a:p>
          <a:p>
            <a:r>
              <a:t>INSERT OR IGNORE в SQLite (X10) — B-дерево и журнал, ожидаю медленнее, не мерил. Битовая карта для плотных rowid (X5): 1M id — 125 КБ, не мерил.</a:t>
            </a:r>
          </a:p>
          <a:p>
            <a:r>
              <a:t>Мостик: лучший алгоритм использует то, что о данных уже известно, — здесь «SQLite уже отсортировала».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 · без шагов. Вопросы: «А в Java/Kotlin, Go, Rust, Python, Swift?» (qa B1–B3, B9, S1), «Почему не всё на Swift?» (X12).</a:t>
            </a:r>
          </a:p>
          <a:p>
            <a:r>
              <a:t>Ответ: это карта устройства по исходникам, не замеры. Go с 1.24 и Rust — плоские Swiss tables, как Abseil. Swift и Python — тоже открытая адресация, но у Swift дорогой SipHash, а у Python каждый int — объект. C# — цепочки, но внутри массивов, без аллокации на элемент. А Java HashSet&lt;Long&gt; и котлиновский distinct() — узловые, да ещё с боксингом: два объекта на каждый id. Так что раунд 1 — про Java и Kotlin даже больше, чем про C++. Плоские замены на JVM — fastutil LongOpenHashSet и androidx MutableLongSet.</a:t>
            </a:r>
          </a:p>
          <a:p>
            <a:r>
              <a:t>Процессор выбирает и здесь: Arrays.sort(long[]) на x86-Linux в новых JDK — SIMD-интринсика, на ARM — скалярный dual-pivot quicksort; Go выбирает хеш-функцию по CPU, пороги мерили на Zen 4 и Apple M1.</a:t>
            </a:r>
          </a:p>
          <a:p>
            <a:r>
              <a:t>Swift (S1): Set плоский, но SipHash-1-3 дороже тождества; ожидаю ближе к flat, чем к unordered_set, где он относительно сортировки — не знаю, не мерил.</a:t>
            </a:r>
          </a:p>
          <a:p>
            <a:r>
              <a:t>Почему доклад на C++ (X12): один и тот же код без изменений на x86, Mac и iPhone — иначе сравнение платформ смешалось бы со сравнением языков.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 · без шагов. Вопросы: «M4 выучивает 10 000 ветвлений — почему на M2 не предсказатель?» (qa H15, Б3), «Linux VM на M2 — на каких ядрах шли vCPU?» (H17).</a:t>
            </a:r>
          </a:p>
          <a:p>
            <a:r>
              <a:t>Ответ: формулировка «предсказатель ни при чём» была слишком сильной. Факт: 64 одинаковые копии, у которых история ветвлений как у одного массива, на M2 так же медленны, как разные массивы. Значит, разницу даёт не история ветвлений, а что-то адресное. «Рабочий набор» — гипотеза, и по величине она объясняет не всё: 8 КБ из L2 — максимум ≈3 нс/эл при разнице ≈10. Следующий шаг — Instruments → CPU Counters и контроль «8 копий × 1024 = 64 КБ &lt; L1».</a:t>
            </a:r>
          </a:p>
          <a:p>
            <a:r>
              <a:t>VM: тип ядра под vCPU выбирает хост macOS, я его не контролировал. Заголовочные 6,8 и 14,4 сняты на macOS нативно; в Linux VM шёл только контроль с копиями. Выводы про P и E — только с нативных Mac и iPhone.</a:t>
            </a:r>
          </a:p>
          <a:p>
            <a:r>
              <a:t>x86 подтверждён повтором и более сильным контролем: 9,7 / 9,6 / 46,9; 64 разных массива через один буфер 8 КБ — 46,8; уже два чередующихся массива отнимают половину выигрыша (24,3).</a:t>
            </a:r>
          </a:p>
          <a:p>
            <a:r>
              <a:t>Мостик: одна и та же ошибка бенчмарка, а механизм на двух процессорах разный. Факт отдельно от гипотезы о причине. Идея опыта — Lemire, 2019.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 · без шагов. Вопрос: «Почему utility? Apple для синхронизации советует background» (qa I4, errata P1-9).</a:t>
            </a:r>
          </a:p>
          <a:p>
            <a:r>
              <a:t>Ответ: Да, в Energy Efficiency Guide синхронизация отнесена к background («such as indexing, synchronizing, and backups»). Utility — «не срочно, но результат нужен», им в проектах часто помечают синхронизацию. В background ещё дороже: на iPhone на 512K сортировка 145,6 нс/эл против 195,2 у хеша (×1,3), на Mac — 92,6 против 178,4 (×1,9). Вывод тот же: фон — это другое ядро и другая цена шага.</a:t>
            </a:r>
          </a:p>
          <a:p>
            <a:r>
              <a:t>«Почему на iPhone в background разрыв меньше, чем в utility?» (H13): причину не мерил. Гипотеза: в background частота E-кластера ещё ниже; сортировка упирается в вычисления и теряет пропорционально больше, а хеш и так ждёт память, задержка которой от частоты ядра почти не зависит. Проверка — счётчики или запись частоты.</a:t>
            </a:r>
          </a:p>
          <a:p>
            <a:r>
              <a:t>«Поставьте userInitiated» (I3): Apple просит, чтобы без действий пользователя приложение 90% времени работало в utility или ниже; в фоне потолок QoS к тому же режется ролью процесса. «А в настоящем фоне, в BGAppRefreshTask?» (I7): не мерил, ожидаю не лучше utility — гипотеза.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Backup, вне тайминга. Открывать на вопрос «А на других системах так же?» или «Где точка перехода у вас?».</a:t>
            </a:r>
          </a:p>
          <a:p>
            <a:r>
              <a:t>Ответ: это сравнение систем целиком — вместе меняются железо, ОС, компилятор и библиотека. Когда все id разные, N = U = 2^20, сортировка быстрее unordered_set везде: x86 — в 2,07 раза, M2 Pro в Linux-виртуалке — в 2,67, macOS — в 2,59, iPhone — в 2,53. А при половине дублей порог у каждой системы свой. На x86, по независимому повтору, сортировка впереди только при N = 16 и с двух миллионов; от 64 до миллиона — хеш или ничья. На macOS сортировка впереди до 256 и с миллиона, между ними близко. На iPhone — до 256 и с миллиона. Направление на больших N одно, а где именно переход — решает система.</a:t>
            </a:r>
          </a:p>
          <a:p>
            <a:r>
              <a:t>Под рукой:</a:t>
            </a:r>
          </a:p>
          <a:p>
            <a:r>
              <a:t>— Отношения посчитаны по неокруглённым медианам: 51,3 / 19,9 даёт 2,58, на слайде 2,59. Вслух — «в два с половиной раза».</a:t>
            </a:r>
          </a:p>
          <a:p>
            <a:r>
              <a:t>— x86, ×2,07 — мой прогон на своей VM (70 против 146 нс/эл). Независимый повтор на другой VM того же типа: ×3,1 с libstdc++ и ×2,9 с libc++, абсолютные наносекунды выше на 19–78%, направление то же (bench.md E1). Поэтому вслух только «в два-три раза».</a:t>
            </a:r>
          </a:p>
          <a:p>
            <a:r>
              <a:t>— x86, U = N/2 (повтор, bench.md E2): N = 16 — сортировка впереди, но пул из 64 входов при N = 16 — всего 1024 элемента, предсказатель его выучивает; на честно разных данных сортировка впереди в 1,75 раза, а не в 4 (E2b, тема learned). N = 64 и 256 — хеш на 4–9% с libstdc++, ничья с libc++. 1M — ничья (±2%) в обеих библиотеках. 2M — сортировка в 1,15 раза (libc++ — в 1,21).</a:t>
            </a:r>
          </a:p>
          <a:p>
            <a:r>
              <a:t>— M2 Pro · Linux — виртуальная машина на 4 vCPU: какой тип ядра стоит под vCPU, выбирает хост, я это не контролировал.</a:t>
            </a:r>
          </a:p>
          <a:p>
            <a:r>
              <a:t>— macOS: при N ≤ 256 сортировка заметно впереди (на 16 — 3,1 против 13,3 нс/эл), от 512 до 512K — в пределах ±8%, с 1M — снова сортировка (как на curve).</a:t>
            </a:r>
          </a:p>
          <a:p>
            <a:r>
              <a:t>— iPhone: [модель iPhone, чип, iOS]. Проверить до 17.10, что ×2,53 снято на том же аппарате, что серии utility; если нет — говорить «на iPhone почти то же» без модели.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Backup, вне тайминга.</a:t>
            </a:r>
          </a:p>
          <a:p>
            <a:r>
              <a:t>Q&amp;A: «А троттлинг? А под длительной нагрузкой?»</a:t>
            </a:r>
          </a:p>
          <a:p>
            <a:r>
              <a:t>Ответ: две минуты непрерывно, алгоритмы чередуются. Время выросло на 10–14%, хеш начал дорожать раньше, порядок не изменился. thermalState всю серию nominal, поэтому причину дрейфа не называю: nominal не доказывает отсутствие ограничений. Пятая минута — следующий опыт.</a:t>
            </a:r>
          </a:p>
          <a:p>
            <a:r>
              <a:t>Под рукой:</a:t>
            </a:r>
          </a:p>
          <a:p>
            <a:r>
              <a:t>— Первое окно: сортировка 19,0, хеш 17,8 нс/эл; последнее: 20,9 и 20,3. Рост: 20,9 / 19,0 = +10%, 20,3 / 17,8 = +14%. Хеш впереди во всех четырёх окнах.</a:t>
            </a:r>
          </a:p>
          <a:p>
            <a:r>
              <a:t>— Хеш дорожает с первой минуты (17,8 → 18,9), сортировка — со второй (19,0 → 19,0 → 20,5).</a:t>
            </a:r>
          </a:p>
          <a:p>
            <a:r>
              <a:t>— Это 256K при половине дублей и userInitiated: там на переднем плане хеш и так чуть впереди. Короткий запуск и длительная нагрузка — разные режимы; решение принимается для того режима, в котором реально живёт ваш код.</a:t>
            </a:r>
          </a:p>
          <a:p>
            <a:r>
              <a:t>— Устройство: [модель iPhone, чип, iOS] — та же строка, что во всех подписях с iPhone.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Backup, вне тайминга.</a:t>
            </a:r>
          </a:p>
          <a:p>
            <a:r>
              <a:t>Q&amp;A: «Это же разница Linux против Apple?»</a:t>
            </a:r>
          </a:p>
          <a:p>
            <a:r>
              <a:t>Ответ: одна машина x86, одинаковые входы, две стандартные библиотеки. Сортировка одинаковых чисел: libstdc++ — восемь наносекунд на элемент, libc++ — одна. Идеи pdqsort пришли в libc++ в LLVM 16, а одинаковые ключи она проходила за линейное время и раньше. Узел unordered_set: 16 байт против 24 — libc++ хранит в узле хеш. macOS, iOS и Android NDK — на libc++; отличается GCC на Linux. Алгоритм выбрали вы, библиотеку — тулчейн.</a:t>
            </a:r>
          </a:p>
          <a:p>
            <a:r>
              <a:t>И на Apple этот std::sort живёт в системной библиотеке: какой алгоритм исполнится, решает версия ОС, а не Xcode.</a:t>
            </a:r>
          </a:p>
          <a:p>
            <a:r>
              <a:t>Под рукой:</a:t>
            </a:r>
          </a:p>
          <a:p>
            <a:r>
              <a:t>— Числа воспроизведены при проверке: 8,19 против 0,94 нс/эл (на слайде 7,8 и 1,2 — пилот). unordered_set на 1M уникальных — 146 против 139, разница 5%: в хеше библиотека почти ничего не решает, решают узлы.</a:t>
            </a:r>
          </a:p>
          <a:p>
            <a:r>
              <a:t>— «libstdc++ экономнее: 16 байт против 24?» (qa C7): по запрошенным байтам да, 25 МБ против 34; по куче нет — glibc кладёт оба узла в чанк 32 Б, у Apple 24 Б тоже округляются до 32.</a:t>
            </a:r>
          </a:p>
          <a:p>
            <a:r>
              <a:t>— «Какая libc++ сортирует на телефоне — та, что в Xcode?» (qa C4): нет, std::sort для uint64_t со стандартным компаратором вызывает уже инстанцированный __sort из libc++.dylib, а она — часть iOS.</a:t>
            </a:r>
          </a:p>
          <a:p>
            <a:r>
              <a:t>— Версию, «с которой libc++ распознаёт паттерны», не называть: эвристика «разбиение без обменов → досортировать вставками» есть ещё до LLVM 14, BlockQuickSort и идеи pdqsort — LLVM 16 (errata P0-11).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Backup, вне тайминга. Таблица за графиком curve.</a:t>
            </a:r>
          </a:p>
          <a:p>
            <a:r>
              <a:t>Q&amp;A: «Почему ступенька именно там? Откуда двенадцать и двадцать четыре мегабайта?»</a:t>
            </a:r>
          </a:p>
          <a:p>
            <a:r>
              <a:t>Ответ: сортировка дорожает плавно — плюс один уровень логарифма на каждое удвоение. Хеш-таблица почти не дорожает до полумиллиона, а между 512K и миллионом — ступенька: 18,7 → 26,3, на четырёх миллионах 55,7. Посчитаем рабочий набор. Узел в libc++ — 24 байта, аллокатор Apple округляет его до 32; заголовка перед блоком нет. Плюс по 8 байт на ячейку, а ячеек после reserve(N) — N, вдвое больше, чем ключей. На полумиллионе входа это около 12 мегабайт — влезает в 16 мегабайт L2. На миллионе — около 24, уже нет. Это арифметика, а не измерение причины: чтобы сказать «промахи», нужны счётчики, и это следующий шаг. Но сортировке этот порог безразличен — её буфер читается подряд.</a:t>
            </a:r>
          </a:p>
          <a:p>
            <a:r>
              <a:t>Под рукой:</a:t>
            </a:r>
          </a:p>
          <a:p>
            <a:r>
              <a:t>— 32·U + 8·N (apple.md §3.3, cpp.md §2.4, errata P0-5): 512K (U = 256K): 8 + 4 = 12 МиБ (12,6 МБ); 1M: 16 + 8 = 24 МиБ (25,2 МБ). «А вход?» — ещё 8·N, на 512K это 4 МиБ. Его читают один раз подряд, префетчер ведёт поток, поэтому считаю таблицу. Но 12 + 4 = 16 — впритык, ещё одна причина говорить «гипотеза».</a:t>
            </a:r>
          </a:p>
          <a:p>
            <a:r>
              <a:t>— «Почему нет счётчиков?» (qa H1): «Согласен, это гипотеза. Следующий шаг — Instruments → CPU Counters, L1D Cache Miss Sampling».</a:t>
            </a:r>
          </a:p>
          <a:p>
            <a:r>
              <a:t>— «А TLB?» (qa H2): не исключал; 24 МиБ — около 1 500 страниц по 16 КБ. SLC 24 МБ не называть: sysctl его не отдаёт.</a:t>
            </a:r>
          </a:p>
          <a:p>
            <a:r>
              <a:t>— «22,6 или 26,3?» (qa M3): разные сессии; хеш на этой точке гуляет на 16%, сортировка — на полпроцента. Здесь сессия А, как на curve.</a:t>
            </a:r>
          </a:p>
          <a:p>
            <a:r>
              <a:t>— 1,4 раза: 26,3 / 18,7 = 1,41; сортировка 20,1 / 19,6 = +2,6%. На 4M сортировка быстрее в 2,6 раза (55,7 / 21,5).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Backup, вне тайминга. В основном потоке его заменил nodes.</a:t>
            </a:r>
          </a:p>
          <a:p>
            <a:r>
              <a:t>Q&amp;A: «А как именно работает sort + unique? Почему без аллокаций?»</a:t>
            </a:r>
          </a:p>
          <a:p>
            <a:r>
              <a:t>Ответ: восемь чисел, четыре разных. std::sort — introsort, в libc++ с идеями pdqsort: раскладывает всё на «меньше» и «больше» опорного и повторяет в половинах — логарифм N уровней, на каждом проход по всем N. После сортировки одинаковые стоят рядом — std::unique одним проходом сдвигает уникальные влево, erase отрезает хвост. Ни одной аллокации, один буфер, который читается подряд — как книги на одной полке. Слово «подряд» и есть ответ на весь раунд 1.</a:t>
            </a:r>
          </a:p>
          <a:p>
            <a:r>
              <a:t>Под рукой:</a:t>
            </a:r>
          </a:p>
          <a:p>
            <a:r>
              <a:t>— Идеи pdqsort и BlockQuickSort пришли в libc++ в LLVM 16; introsort — с LLVM 14. На Apple std::sort для целых исполняется из системной libc++, так что алгоритм выбирает версия ОС (cpp.md §4.1, §4.4). libstdc++ — introsort с медианой трёх.</a:t>
            </a:r>
          </a:p>
          <a:p>
            <a:r>
              <a:t>— Сравнений на случайных 64-битных при N = 2^20: libc++ — 22,2 на элемент, libstdc++ — 25,6; нижняя граница для сортировки сравнениями — 18,56 (cpp.md §7).</a:t>
            </a:r>
          </a:p>
          <a:p>
            <a:r>
              <a:t>— «0 аллокаций» — в этой реализации: сортируем свежую копию на месте, unique и erase память не просят.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Backup, вне тайминга. В основном потоке его заменил nodes.</a:t>
            </a:r>
          </a:p>
          <a:p>
            <a:r>
              <a:t>Q&amp;A: «Как устроена узловая хеш-таблица?» или «Деление в libc++ дорогое на ARM — может, хеш проиграл из-за него?»</a:t>
            </a:r>
          </a:p>
          <a:p>
            <a:r>
              <a:t>Ответ: хеш-функция превращает ключ в номер ячейки — как библиотечный каталог превращает название в номер шкафа. Ключ 42, посчитали хеш, взяли остаток от деления на число ячеек — вот шкаф; на слайде учебный пример с восемью. Деталь для знатоков: «остаток от деления» в реальных библиотеках разный. libstdc++ держит простое число ячеек и честно делит. libc++ после reserve под степень двойки берёт маску — младшие биты ключа. В моих замерах деления нет: дорого не оно, а узлы. Коэффициент заполнения по умолчанию 1.0 — reserve(N) выделяет N ячеек; без reserve таблица растёт и перевешивает все узлы. Два разных ключа в одном шкафу — коллизия; узловая реализация решает её цепочкой: в шкафу записка, где лежит первая книга, а в книге — где следующая. Цепочки в среднем короткие, отсюда «O(1)». Для целых std::hash — тождество. В libc++ после reserve под степень двойки номер ячейки — это просто младшие биты id. Для моих случайных id это идеально. Для плотных rowid ещё лучше — коллизий нет вовсе. А id с нулями в младших битах соберутся в одну цепочку. Проверьте гистограмму цепочек. У flat_hash_set из второго раунда свой перемешивающий хешер, absl::Hash, — ему тождество не грозит. Самое важное: каждый узел — отдельный кусок памяти, отдельный вызов new. Стандарт требует, чтобы ссылки на элементы переживали рост таблицы, и узлы — привычный способ это выполнить.</a:t>
            </a:r>
          </a:p>
          <a:p>
            <a:r>
              <a:t>Под рукой:</a:t>
            </a:r>
          </a:p>
          <a:p>
            <a:r>
              <a:t>— Деление в libc++ появляется только при росте без reserve (как в дифе) или при N, не равном степени двойки; reserve(1048576) даёт ровно 1 048 576 ячеек и маску h &amp; (N−1) (cpp.md §2.2). libstdc++ делит всегда, даже на каждом шаге цепочки: хеш в узле не хранится (cpp.md §3).</a:t>
            </a:r>
          </a:p>
          <a:p>
            <a:r>
              <a:t>— Id, кратные 1024, в libc++ после reserve(2^k) заняли 64 ячейки из 65 536, вставка медленнее в 70 раз; кратные 2^20 — в 1 500 раз (cpp.md §6, qa C8).</a:t>
            </a:r>
          </a:p>
          <a:p>
            <a:r>
              <a:t>— Плотные rowid на x86 при U = N: вся операция в 4,7 раза быстрее случайных id (320 → 68 нс/эл). Готовый ответ: «Серии специально на случайных id, чтобы убрать удачу раскладки. Бенчмарк в репозитории — запустите на своих id».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Backup, вне тайминга. В основном потоке radix — одна фиолетовая полоса на flat.</a:t>
            </a:r>
          </a:p>
          <a:p>
            <a:r>
              <a:t>Q&amp;A: «Как работает radix?» или «Почему не radix везде, раз он быстрее всех?»</a:t>
            </a:r>
          </a:p>
          <a:p>
            <a:r>
              <a:t>Ответ: поразрядная сортировка вообще не сравнивает числа — а значит, на неё не действует нижняя граница N log N для сортировок сравнением. Ключ — восемь байт. Берём младший байт, раскладываем числа по 256 корзинам, как письма по ячейкам на почте; внутри корзины порядок прихода сохраняется. Потом следующий байт, и так восемь раз — после последнего прохода всё отсортировано. На схеме то же самое на 8-битных ключах и полубайтах: два прохода. Это линейно: проход подсчёта и восемь проходов раскладки, без единого сравнения и без ветвлений на данных. Цена: буфер того же размера, и на тысяче элементов девять проходов и счётчики 8×256 дороже десяти сравнений на элемент — на малых N radix проигрывает. И работает только для «цифровых» ключей — целых фиксированной длины; строкам и объектам с компаратором нужен другой инструмент. Дальше — тот же unique.</a:t>
            </a:r>
          </a:p>
          <a:p>
            <a:r>
              <a:t>Под рукой:</a:t>
            </a:r>
          </a:p>
          <a:p>
            <a:r>
              <a:t>— Схема: вход 0x1A 0x03 0x2A 0x11. Проход 1, младший полубайт: ·1 → 0x11; ·3 → 0x03; ·A → 0x1A, 0x2A (в порядке прихода). После: 0x11 0x03 0x1A 0x2A. Проход 2, старший: 0· → 0x03; 1· → 0x11, 0x1A; 2· → 0x2A. После: 0x03 0x11 0x1A 0x2A.</a:t>
            </a:r>
          </a:p>
          <a:p>
            <a:r>
              <a:t>— «Почему не radix везде?» (qa C13): нужны целые ключи фиксированной длины, буфер ещё на N (8 МБ на миллионе — память, которую считает jetsam) и достаточно большой N. При малой доле уникальных radix проигрывает хешу.</a:t>
            </a:r>
          </a:p>
          <a:p>
            <a:r>
              <a:t>— Проходов (cpp.md §7): случайные 64-битные — 8; плотные rowid — 3; случайные меньше 2^32 — 4. Серии доклада — худший случай и для radix.</a:t>
            </a:r>
          </a:p>
          <a:p>
            <a:r>
              <a:t>— M2 Pro, userInitiated, N = U = 2^20: radix 6,9, flat 11,7, sort 19,9 нс/эл. x86, независимый повтор (bench.md E1): radix вровень с flat (40,8 и 42,6 нс/эл), а не быстрее всех; абсолютные наносекунды x86 со сцены не называть.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Backup, вне тайминга.</a:t>
            </a:r>
          </a:p>
          <a:p>
            <a:r>
              <a:t>Q&amp;A: «Почему reserve(N), а не под U? Вы искусственно раздули flat».</a:t>
            </a:r>
          </a:p>
          <a:p>
            <a:r>
              <a:t>Ответ: я резервировал под N, потому что N известен, а число уникальных — нет. При одном проценте уникальных это в 64 раза больше памяти и медленнее: 3,6 наносекунды на элемент против 2,9 — больше ёмкость, больше инициализации и обхода. Reserve — тоже решение, не бесплатная галочка, и зависит оно от доли уникальных. Оценить U по выборке — отдельный приём.</a:t>
            </a:r>
          </a:p>
          <a:p>
            <a:r>
              <a:t>Под рукой:</a:t>
            </a:r>
          </a:p>
          <a:p>
            <a:r>
              <a:t>— 18 874 344 / 294 912 ≈ 64,0 по точным байтам; 3,6 / 2,9 = 1,24 — на 24% медленнее.</a:t>
            </a:r>
          </a:p>
          <a:p>
            <a:r>
              <a:t>— «Почему 18,9 МБ, если ключей на 8 МБ?» (errata P2-11): 2^20 — неудачная точка для Swiss Table: ёмкость 2^20 − 1 вмещает только 917 504 ключа при загрузке 7/8, поэтому reserve берёт 2^21 − 1 слотов — по 8 байт ключа и байту метаданных, 18,9 МБ, заполнение 50%.</a:t>
            </a:r>
          </a:p>
          <a:p>
            <a:r>
              <a:t>— Отсюда правило на decision: «мало уникальных → плоская хеш-таблица, без reserve под весь вход». При 1% уникальных узловая таблица (3,2 нс/эл) даже быстрее flat с reserve(N) (3,6).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Backup, вне тайминга. На review сказано: «полный чек-лист — в backup и в репозитории».</a:t>
            </a:r>
          </a:p>
          <a:p>
            <a:r>
              <a:t>Q&amp;A: «Как вы проверяли, что замер честный?» или «Где полный чек-лист?»</a:t>
            </a:r>
          </a:p>
          <a:p>
            <a:r>
              <a:t>Ответ: чек-лист — четыре группы, каждая сегодня уже сработала. Одинаковая задача: контракт до таймера, все участники проходят проверку корректности. Проверенные код и входы: разные массивы, а не один повторённый; свои N и доля уникальных. Повторения и условия: чередование, медиана, разброс, вторая сессия — мы видели, что между сессиями одна и та же точка гуляет на шестнадцать процентов: 22,6 против 26,3. Версия компилятора, библиотеки и ОС в логе — на Apple std::sort для целых живёт в системной libc++. Устройство и режим — модель, QoS, Low Power Mode, заряд, нагрев. И выводы в пределах данных: факт отдельно от гипотезы о причине — «узлы не влезли в L2» до счётчиков остаётся гипотезой.</a:t>
            </a:r>
          </a:p>
          <a:p>
            <a:r>
              <a:t>Сфотографируйте — повторять не буду. [5 секунд]</a:t>
            </a:r>
          </a:p>
          <a:p>
            <a:r>
              <a:t>Под рукой:</a:t>
            </a:r>
          </a:p>
          <a:p>
            <a:r>
              <a:t>— Пункт 3 — урок learned: один массив в цикле давал сортировке тысячи id 6,8 нс/эл против 14,4 на 64 разных; на x86 виноват предсказатель, на M2 — что-то адресное, до счётчиков не дошёл.</a:t>
            </a:r>
          </a:p>
          <a:p>
            <a:r>
              <a:t>— Пункт 5: 26,3 / 22,6 = 1,16 — unordered_set на 1M при U = N/2, сессии А и Б; сортировка между сессиями стабильна (20,1 против 20,2).</a:t>
            </a:r>
          </a:p>
          <a:p>
            <a:r>
              <a:t>— Пункт 7: модель iPhone — [модель iPhone, чип, iOS]; пока её нет на слайдах, доклад нарушает свой же пункт 7 (qa M1).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Backup, вне тайминга. В основном потоке эту мысль несёт формула на memory.</a:t>
            </a:r>
          </a:p>
          <a:p>
            <a:r>
              <a:t>Q&amp;A: «Из чего складывается работа каждого?»</a:t>
            </a:r>
          </a:p>
          <a:p>
            <a:r>
              <a:t>Ответ: N — сколько чисел на входе, U — сколько разных. Сортировка — около N·log N сравнений и перестановок в одном плотном буфере, без единой аллокации. Хеш — хеши, обращения к ячейкам и узлам, проверки равенства, U аллокаций и U освобождений, обход при выгрузке. Шагов меньше — но какие это шаги.</a:t>
            </a:r>
          </a:p>
          <a:p>
            <a:r>
              <a:t>Под рукой:</a:t>
            </a:r>
          </a:p>
          <a:p>
            <a:r>
              <a:t>— Точное число действий хеша зависит от коллизий и дублей.</a:t>
            </a:r>
          </a:p>
          <a:p>
            <a:r>
              <a:t>— Счётчик аллокаций (allocs): при N = U = 2^20 — 1 048 577 вызовов new, запрошено 33,6 МБ в libc++ и 25,2 МБ в libstdc++; с округлением malloc ≈ 42 МБ. Плюс миллион delete в деструкторе.</a:t>
            </a:r>
          </a:p>
          <a:p>
            <a:r>
              <a:t>— Фазы на x86 (bench.md E11, U = N): reserve и вставки ≈43%, выгрузка ≈26%, деструктор 28–30%.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2:00–2:45. Дедупликация — это те самые три строчки из ревью. Два классических способа. Первый — отсортировать: после сортировки одинаковые id стоят рядом, и один проход их схлопывает. Это O(n log n). Второй — хеш-таблица: складываем id в множество, оно само отбрасывает повторы, потом выгружаем обратно. Это в среднем O(n) — линейно. Логарифм миллиона — около двадцати. На бумаге второй способ делает в двадцать раз меньше шагов. Я тоже сначала выбрал бы хеш-таблицу и закрыл тикет. Давайте проверим интуицию — вашу и мою.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7:15–8:15. Big-O отвечает на один вопрос: как растёт число шагов, когда растёт вход. Вдвое больше данных — примерно вдвое больше работы для линейной модели, чуть больше для N log N. Это по-настоящему полезно: Big-O спасает от катастрофы, когда данных станет в тысячу раз больше. Но время — это N, умноженное на число шагов, умноженное на цену шага. Big-O знает только средний множитель. Цена шага — от одной наносекунды за сложение в регистре до ста за поход в оперативную память: два порядка. А логарифм миллиона — двадцать. То есть память может перевесить логарифм в пять раз. Весь доклад — про этот последний множитель. → Переход: «Значит, надо посмотреть, из каких шагов состоит каждый соперник. Начнём с сортировки».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28:30–29:15. Вернёмся к вашей руке. Кто начал бы с сортировки — на телефоне в фоне она быстрее этого unordered_set. Кто с хеша — flat_hash_set и данные с повторами на его стороне. А кто попросил условие — был прав с первой минуты. Вот эти условия: какой выход нужен, какие N и доля уникальных, какой именно контейнер, какая система и связка инструментов, первый запуск или длительная нагрузка и с каким приоритетом, и какую долю этапа занимает операция. Мне хотелось бы, чтобы после сегодняшнего фраза «так должно быть быстрее» чаще превращалась в «давайте проверим». → Переход: «И одно действие на понедельник».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7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1" name="Google Shape;11;p3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6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" name="Google Shape;14;p36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5" name="Google Shape;15;p3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1" name="Google Shape;21;p3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2" name="Google Shape;22;p3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5" name="Google Shape;25;p39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39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7" name="Google Shape;27;p3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1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41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4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42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4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43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43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43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4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44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4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45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45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4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3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3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Text 101"/>
          <p:cNvSpPr txBox="1"/>
          <p:nvPr/>
        </p:nvSpPr>
        <p:spPr>
          <a:xfrm>
            <a:off x="557212" y="333375"/>
            <a:ext cx="52387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399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HardFest 2026 · трек «Разработка»</a:t>
            </a:r>
            <a:endParaRPr lang="ru-RU" sz="1399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ext 102"/>
          <p:cNvSpPr txBox="1"/>
          <p:nvPr/>
        </p:nvSpPr>
        <p:spPr>
          <a:xfrm>
            <a:off x="557212" y="1514475"/>
            <a:ext cx="5953125" cy="12858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4500"/>
              </a:lnSpc>
              <a:spcBef>
                <a:spcPts val="0"/>
              </a:spcBef>
              <a:buNone/>
            </a:pPr>
            <a:r>
              <a:rPr lang="ru-RU" sz="4001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O(n) </a:t>
            </a:r>
            <a:r>
              <a:rPr lang="ru-RU" sz="4001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ПРОИГРАЛ</a:t>
            </a:r>
            <a:br>
              <a:rPr lang="ru-RU" sz="4001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</a:br>
            <a:r>
              <a:rPr lang="ru-RU" sz="4001" b="1" i="0" dirty="0">
                <a:solidFill>
                  <a:srgbClr val="46CDA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O(n log n)</a:t>
            </a:r>
            <a:endParaRPr lang="ru-RU" sz="4001" b="1" i="0" dirty="0">
              <a:solidFill>
                <a:srgbClr val="46CDAE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2857500"/>
            <a:ext cx="561975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buNone/>
            </a:pPr>
            <a:r>
              <a:rPr lang="ru-RU" sz="2201" b="0" i="0" dirty="0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Ваш алгоритм не выбирал процессор, на котором работает</a:t>
            </a:r>
            <a:endParaRPr lang="ru-RU" sz="2201" b="0" i="0" dirty="0"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557212" y="4029075"/>
            <a:ext cx="71437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1601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Никита Нагорнов</a:t>
            </a:r>
            <a:r>
              <a:rPr lang="ru-RU" sz="1601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· iOS, компания «Исходный код»</a:t>
            </a:r>
            <a:endParaRPr lang="ru-RU" sz="1601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557212" y="4343400"/>
            <a:ext cx="714375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buNone/>
            </a:pPr>
            <a:r>
              <a:rPr lang="ru-RU" sz="1125" b="0" i="0" dirty="0">
                <a:solidFill>
                  <a:srgbClr val="8F8F8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github.com/Neoron95/conference-hardfest-algorithms</a:t>
            </a:r>
            <a:endParaRPr lang="ru-RU" sz="1125" b="0" i="0" dirty="0">
              <a:solidFill>
                <a:srgbClr val="8F8F8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pic>
        <p:nvPicPr>
          <p:cNvPr id="106" name="Picture 10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8950" y="604838"/>
            <a:ext cx="1809750" cy="6238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Title 101"/>
          <p:cNvSpPr txBox="1"/>
          <p:nvPr/>
        </p:nvSpPr>
        <p:spPr>
          <a:xfrm>
            <a:off x="557212" y="497964"/>
            <a:ext cx="6781800" cy="3415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КОД-РЕВЬЮ, ВТОРНИК, 17:40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2" name="Box 102"/>
          <p:cNvSpPr/>
          <p:nvPr/>
        </p:nvSpPr>
        <p:spPr>
          <a:xfrm>
            <a:off x="560784" y="1146572"/>
            <a:ext cx="7917656" cy="1669256"/>
          </a:xfrm>
          <a:prstGeom prst="roundRect">
            <a:avLst>
              <a:gd name="adj" fmla="val 4545"/>
            </a:avLst>
          </a:prstGeom>
          <a:solidFill>
            <a:srgbClr val="000000"/>
          </a:solidFill>
          <a:ln w="7144">
            <a:solidFill>
              <a:srgbClr val="FFFFFF"/>
            </a:solidFill>
          </a:ln>
        </p:spPr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790575" y="1316546"/>
            <a:ext cx="8251508" cy="2762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2025"/>
              </a:lnSpc>
              <a:spcBef>
                <a:spcPts val="0"/>
              </a:spcBef>
              <a:buNone/>
            </a:pPr>
            <a:r>
              <a:rPr lang="ru-RU" sz="1350" b="0" i="0" dirty="0">
                <a:solidFill>
                  <a:srgbClr val="8F8F8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// dedup ids after offline sync</a:t>
            </a:r>
            <a:endParaRPr lang="ru-RU" sz="1350" b="0" i="0" dirty="0">
              <a:solidFill>
                <a:srgbClr val="8F8F8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790575" y="1573721"/>
            <a:ext cx="8251508" cy="2762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2025"/>
              </a:lnSpc>
              <a:spcBef>
                <a:spcPts val="0"/>
              </a:spcBef>
              <a:buNone/>
            </a:pPr>
            <a:r>
              <a:rPr lang="ru-RU" sz="1350" b="0" i="0" dirty="0">
                <a:solidFill>
                  <a:srgbClr val="F08A7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- std::sort(ids.begin(), ids.end());</a:t>
            </a:r>
            <a:endParaRPr lang="ru-RU" sz="1350" b="0" i="0" dirty="0">
              <a:solidFill>
                <a:srgbClr val="F08A7A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790575" y="1830896"/>
            <a:ext cx="8251508" cy="2762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2025"/>
              </a:lnSpc>
              <a:spcBef>
                <a:spcPts val="0"/>
              </a:spcBef>
              <a:buNone/>
            </a:pPr>
            <a:r>
              <a:rPr lang="ru-RU" sz="1350" b="0" i="0" dirty="0">
                <a:solidFill>
                  <a:srgbClr val="F08A7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- ids.erase(std::unique(ids.begin(), ids.end()), ids.end());</a:t>
            </a:r>
            <a:endParaRPr lang="ru-RU" sz="1350" b="0" i="0" dirty="0">
              <a:solidFill>
                <a:srgbClr val="F08A7A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790575" y="2088071"/>
            <a:ext cx="8251508" cy="2762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2025"/>
              </a:lnSpc>
              <a:spcBef>
                <a:spcPts val="0"/>
              </a:spcBef>
              <a:buNone/>
            </a:pPr>
            <a:r>
              <a:rPr lang="ru-RU" sz="1350" b="0" i="0" dirty="0">
                <a:solidFill>
                  <a:srgbClr val="7BD88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+ std::unordered_set&lt;uint64_t&gt; s(ids.begin(), ids.end());</a:t>
            </a:r>
            <a:endParaRPr lang="ru-RU" sz="1350" b="0" i="0" dirty="0">
              <a:solidFill>
                <a:srgbClr val="7BD88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790575" y="2345246"/>
            <a:ext cx="8251508" cy="2762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2025"/>
              </a:lnSpc>
              <a:spcBef>
                <a:spcPts val="0"/>
              </a:spcBef>
              <a:buNone/>
            </a:pPr>
            <a:r>
              <a:rPr lang="ru-RU" sz="1350" b="0" i="0" dirty="0">
                <a:solidFill>
                  <a:srgbClr val="7BD88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+ ids.assign(s.begin(), s.end());</a:t>
            </a:r>
            <a:endParaRPr lang="ru-RU" sz="1350" b="0" i="0" dirty="0">
              <a:solidFill>
                <a:srgbClr val="7BD88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557212" y="2936876"/>
            <a:ext cx="8191119" cy="1965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97"/>
              </a:lnSpc>
              <a:spcBef>
                <a:spcPts val="0"/>
              </a:spcBef>
              <a:buNone/>
            </a:pPr>
            <a:r>
              <a:rPr lang="ru-RU" sz="103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та же идея — HashSet в Java, set в Python, map в Go; устроены они по-разному, об этом раунд 2</a:t>
            </a:r>
            <a:endParaRPr lang="ru-RU" sz="103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557212" y="3556238"/>
            <a:ext cx="4933950" cy="2503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22"/>
              </a:lnSpc>
              <a:spcBef>
                <a:spcPts val="0"/>
              </a:spcBef>
              <a:buNone/>
            </a:pPr>
            <a:r>
              <a:rPr lang="ru-RU" sz="151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Коллега:</a:t>
            </a:r>
            <a:r>
              <a:rPr lang="ru-RU" sz="151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«Линейно вместо n log n»</a:t>
            </a:r>
            <a:endParaRPr lang="ru-RU" sz="151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0" name="Box 110"/>
          <p:cNvSpPr/>
          <p:nvPr/>
        </p:nvSpPr>
        <p:spPr>
          <a:xfrm>
            <a:off x="5476875" y="3500438"/>
            <a:ext cx="1609725" cy="355178"/>
          </a:xfrm>
          <a:prstGeom prst="roundRect">
            <a:avLst>
              <a:gd name="adj" fmla="val 15670"/>
            </a:avLst>
          </a:prstGeom>
          <a:solidFill>
            <a:srgbClr val="0B2B26"/>
          </a:solidFill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5600319" y="3556238"/>
            <a:ext cx="1362837" cy="2503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822"/>
              </a:lnSpc>
              <a:spcBef>
                <a:spcPts val="0"/>
              </a:spcBef>
              <a:buNone/>
            </a:pPr>
            <a:r>
              <a:rPr lang="ru-RU" sz="1518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Approve ✓</a:t>
            </a:r>
            <a:endParaRPr lang="ru-RU" sz="1518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2" name="Picture 11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12" name="Slide Number 112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" grpId="0" animBg="1"/>
      <p:bldP spid="111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С ЧЕГО ВСЁ НАЧАЛОСЬ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60073"/>
            <a:ext cx="6781800" cy="8819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40"/>
              </a:lnSpc>
              <a:spcBef>
                <a:spcPts val="0"/>
              </a:spcBef>
              <a:buNone/>
            </a:pPr>
            <a:r>
              <a:rPr lang="ru-RU" sz="20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ЗАДАЧА: СКЛЕИТЬ ЛОКАЛЬНЫЕ ID С ДЕЛЬТОЙ С СЕРВЕРА БЕЗ ПОВТОРОВ — В ФОНЕ, НА ТЕЛЕФОНЕ</a:t>
            </a:r>
            <a:endParaRPr lang="ru-RU" sz="20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Box 103"/>
          <p:cNvSpPr/>
          <p:nvPr/>
        </p:nvSpPr>
        <p:spPr>
          <a:xfrm>
            <a:off x="560784" y="1585306"/>
            <a:ext cx="3040856" cy="488156"/>
          </a:xfrm>
          <a:prstGeom prst="roundRect">
            <a:avLst>
              <a:gd name="adj" fmla="val 15384"/>
            </a:avLst>
          </a:prstGeom>
          <a:solidFill>
            <a:srgbClr val="000000"/>
          </a:solidFill>
          <a:ln w="7144">
            <a:solidFill>
              <a:srgbClr val="FFFFFF"/>
            </a:solidFill>
          </a:ln>
        </p:spPr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714375" y="1721795"/>
            <a:ext cx="2843212" cy="21621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52"/>
              </a:lnSpc>
              <a:spcBef>
                <a:spcPts val="0"/>
              </a:spcBef>
              <a:buNone/>
            </a:pPr>
            <a:r>
              <a:rPr lang="ru-RU" sz="1242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Локальные id из SQLite</a:t>
            </a:r>
            <a:endParaRPr lang="ru-RU" sz="1242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Box 105"/>
          <p:cNvSpPr/>
          <p:nvPr/>
        </p:nvSpPr>
        <p:spPr>
          <a:xfrm>
            <a:off x="560784" y="2194906"/>
            <a:ext cx="3040856" cy="754856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 w="7144">
            <a:solidFill>
              <a:srgbClr val="FFFFFF"/>
            </a:solidFill>
          </a:ln>
        </p:spPr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714375" y="2363914"/>
            <a:ext cx="2843212" cy="21621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52"/>
              </a:lnSpc>
              <a:spcBef>
                <a:spcPts val="0"/>
              </a:spcBef>
              <a:buNone/>
            </a:pPr>
            <a:r>
              <a:rPr lang="ru-RU" sz="1242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Дельта с сервера</a:t>
            </a:r>
            <a:endParaRPr lang="ru-RU" sz="1242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714375" y="2594749"/>
            <a:ext cx="2843212" cy="182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87"/>
              </a:lnSpc>
              <a:spcBef>
                <a:spcPts val="0"/>
              </a:spcBef>
              <a:buNone/>
            </a:pPr>
            <a:r>
              <a:rPr lang="ru-RU" sz="990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дубли от ретраев и перекрытий страниц</a:t>
            </a:r>
            <a:endParaRPr lang="ru-RU" sz="990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8" name="Fill 108"/>
          <p:cNvSpPr/>
          <p:nvPr/>
        </p:nvSpPr>
        <p:spPr>
          <a:xfrm>
            <a:off x="4824412" y="1581734"/>
            <a:ext cx="3657600" cy="1371600"/>
          </a:xfrm>
          <a:prstGeom prst="roundRect">
            <a:avLst>
              <a:gd name="adj" fmla="val 5555"/>
            </a:avLst>
          </a:prstGeom>
          <a:solidFill>
            <a:srgbClr val="46CDAE"/>
          </a:solidFill>
          <a:ln>
            <a:noFill/>
          </a:ln>
        </p:spPr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5053012" y="2026472"/>
            <a:ext cx="3324987" cy="26090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904"/>
              </a:lnSpc>
              <a:spcBef>
                <a:spcPts val="0"/>
              </a:spcBef>
              <a:buNone/>
            </a:pPr>
            <a:r>
              <a:rPr lang="ru-RU" sz="1656" b="1" i="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Уникальные id</a:t>
            </a:r>
            <a:endParaRPr lang="ru-RU" sz="1656" b="1" i="0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5053012" y="2315635"/>
            <a:ext cx="3324987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1E1E1E"/>
                </a:solidFill>
                <a:latin typeface="Montserrat"/>
                <a:ea typeface="Montserrat"/>
                <a:cs typeface="Montserrat"/>
                <a:sym typeface="Montserrat"/>
              </a:rPr>
              <a:t>для следующего этапа синхронизации</a:t>
            </a:r>
            <a:endParaRPr lang="ru-RU" sz="1104" b="0" i="0" dirty="0">
              <a:solidFill>
                <a:srgbClr val="1E1E1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1" name="Line 111"/>
          <p:cNvSpPr/>
          <p:nvPr/>
        </p:nvSpPr>
        <p:spPr>
          <a:xfrm>
            <a:off x="3605212" y="1829384"/>
            <a:ext cx="1219200" cy="247650"/>
          </a:xfrm>
          <a:custGeom>
            <a:avLst/>
            <a:gdLst/>
            <a:ahLst/>
            <a:cxnLst/>
            <a:rect l="0" t="0" r="r" b="b"/>
            <a:pathLst>
              <a:path w="1219200" h="247650" fill="none">
                <a:moveTo>
                  <a:pt x="0" y="0"/>
                </a:moveTo>
                <a:lnTo>
                  <a:pt x="609600" y="0"/>
                </a:lnTo>
                <a:lnTo>
                  <a:pt x="609600" y="247650"/>
                </a:lnTo>
                <a:lnTo>
                  <a:pt x="1219200" y="247650"/>
                </a:lnTo>
              </a:path>
            </a:pathLst>
          </a:custGeom>
          <a:noFill/>
          <a:ln w="14288">
            <a:solidFill>
              <a:srgbClr val="8F8F8F"/>
            </a:solidFill>
            <a:round/>
            <a:tailEnd type="triangle" w="med" len="med"/>
          </a:ln>
        </p:spPr>
      </p:sp>
      <p:sp xmlns:p14="http://schemas.microsoft.com/office/powerpoint/2010/main">
        <p:nvSpPr>
          <p:cNvPr id="112" name="Line 112"/>
          <p:cNvSpPr/>
          <p:nvPr/>
        </p:nvSpPr>
        <p:spPr>
          <a:xfrm>
            <a:off x="3605212" y="2458034"/>
            <a:ext cx="1219200" cy="114300"/>
          </a:xfrm>
          <a:custGeom>
            <a:avLst/>
            <a:gdLst/>
            <a:ahLst/>
            <a:cxnLst/>
            <a:rect l="0" t="0" r="r" b="b"/>
            <a:pathLst>
              <a:path w="1219200" h="114300" fill="none">
                <a:moveTo>
                  <a:pt x="0" y="114300"/>
                </a:moveTo>
                <a:lnTo>
                  <a:pt x="609600" y="114300"/>
                </a:lnTo>
                <a:lnTo>
                  <a:pt x="609600" y="0"/>
                </a:lnTo>
                <a:lnTo>
                  <a:pt x="1219200" y="0"/>
                </a:lnTo>
              </a:path>
            </a:pathLst>
          </a:custGeom>
          <a:noFill/>
          <a:ln w="14288">
            <a:solidFill>
              <a:srgbClr val="8F8F8F"/>
            </a:solidFill>
            <a:round/>
            <a:tailEnd type="triangle" w="med" len="med"/>
          </a:ln>
        </p:spPr>
      </p:sp>
      <p:sp xmlns:p14="http://schemas.microsoft.com/office/powerpoint/2010/main">
        <p:nvSpPr>
          <p:cNvPr id="113" name="Box 113"/>
          <p:cNvSpPr/>
          <p:nvPr/>
        </p:nvSpPr>
        <p:spPr>
          <a:xfrm>
            <a:off x="564356" y="3112878"/>
            <a:ext cx="252412" cy="252412"/>
          </a:xfrm>
          <a:prstGeom prst="ellipse">
            <a:avLst/>
          </a:prstGeom>
          <a:solidFill>
            <a:srgbClr val="46CDAE"/>
          </a:solidFill>
          <a:ln w="14288">
            <a:solidFill>
              <a:srgbClr val="46CDAE"/>
            </a:solidFill>
          </a:ln>
        </p:spPr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566738" y="3093886"/>
            <a:ext cx="24765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242" b="1" i="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 lang="ru-RU" sz="1242" b="1" i="0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919162" y="3114545"/>
            <a:ext cx="2245804" cy="3835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Локальные уже отсортированы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6" name="Box 116"/>
          <p:cNvSpPr/>
          <p:nvPr/>
        </p:nvSpPr>
        <p:spPr>
          <a:xfrm>
            <a:off x="3269456" y="3112878"/>
            <a:ext cx="252412" cy="252412"/>
          </a:xfrm>
          <a:prstGeom prst="ellipse">
            <a:avLst/>
          </a:prstGeom>
          <a:solidFill>
            <a:srgbClr val="46CDAE"/>
          </a:solidFill>
          <a:ln w="14288">
            <a:solidFill>
              <a:srgbClr val="46CDAE"/>
            </a:solidFill>
          </a:ln>
        </p:spPr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3271838" y="3093886"/>
            <a:ext cx="24765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242" b="1" i="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 lang="ru-RU" sz="1242" b="1" i="0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3624262" y="3114545"/>
            <a:ext cx="2245804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Ключ — uint64_t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9" name="Box 119"/>
          <p:cNvSpPr/>
          <p:nvPr/>
        </p:nvSpPr>
        <p:spPr>
          <a:xfrm>
            <a:off x="5974556" y="3112878"/>
            <a:ext cx="252412" cy="252412"/>
          </a:xfrm>
          <a:prstGeom prst="ellipse">
            <a:avLst/>
          </a:prstGeom>
          <a:solidFill>
            <a:srgbClr val="46CDAE"/>
          </a:solidFill>
          <a:ln w="14288">
            <a:solidFill>
              <a:srgbClr val="46CDAE"/>
            </a:solidFill>
          </a:ln>
        </p:spPr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5976938" y="3093886"/>
            <a:ext cx="24765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242" b="1" i="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3</a:t>
            </a:r>
            <a:endParaRPr lang="ru-RU" sz="1242" b="1" i="0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1" name="Text 121"/>
          <p:cNvSpPr txBox="1"/>
          <p:nvPr/>
        </p:nvSpPr>
        <p:spPr>
          <a:xfrm>
            <a:off x="6329362" y="3128118"/>
            <a:ext cx="2245804" cy="2047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62"/>
              </a:lnSpc>
              <a:spcBef>
                <a:spcPts val="0"/>
              </a:spcBef>
              <a:buNone/>
            </a:pPr>
            <a:r>
              <a:rPr lang="ru-RU" sz="1125" b="1" i="0" dirty="0">
                <a:solidFill>
                  <a:srgbClr val="46CDA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Task(priority: .utility)</a:t>
            </a:r>
            <a:endParaRPr lang="ru-RU" sz="1125" b="1" i="0" dirty="0">
              <a:solidFill>
                <a:srgbClr val="46CDAE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557212" y="3626647"/>
            <a:ext cx="8191119" cy="3976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buNone/>
            </a:pPr>
            <a:r>
              <a:rPr lang="ru-RU" sz="1104" b="1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Размер:</a:t>
            </a:r>
            <a:r>
              <a:rPr lang="ru-RU" sz="1104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 тысячи id у обычного пользователя, сотни тысяч у долгоживущих аккаунтов; 1M — верхняя граница теста</a:t>
            </a:r>
            <a:endParaRPr lang="ru-RU" sz="1104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3" name="Text 123"/>
          <p:cNvSpPr txBox="1"/>
          <p:nvPr/>
        </p:nvSpPr>
        <p:spPr>
          <a:xfrm>
            <a:off x="557212" y="4554200"/>
            <a:ext cx="7936039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В сериях — случайные 64-битные id. На плотных rowid узловой таблице везёт (x86: быстрее сортировки в 1,7 раза), на id с нулевыми младшими битами — наоборот. Меряйте свои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4" name="Picture 12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24" name="Slide Number 124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4" grpId="0" animBg="1"/>
      <p:bldP spid="115" grpId="0" animBg="1"/>
      <p:bldP spid="117" grpId="0" animBg="1"/>
      <p:bldP spid="118" grpId="0" animBg="1"/>
      <p:bldP spid="120" grpId="0" animBg="1"/>
      <p:bldP spid="121" grpId="0" animBg="1"/>
      <p:bldP spid="122" grpId="0" animBg="1"/>
      <p:bldP spid="123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ВАША СТАВКА</a:t>
            </a:r>
            <a:endParaRPr lang="ru-RU" sz="1099" b="0" i="0" spc="94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НА БУМАГЕ ХЕШ ДЕЛАЕТ В 20 РАЗ МЕНЬШЕ ШАГОВ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Box 103"/>
          <p:cNvSpPr/>
          <p:nvPr/>
        </p:nvSpPr>
        <p:spPr>
          <a:xfrm>
            <a:off x="564356" y="1357060"/>
            <a:ext cx="2538412" cy="1547812"/>
          </a:xfrm>
          <a:prstGeom prst="roundRect">
            <a:avLst>
              <a:gd name="adj" fmla="val 4878"/>
            </a:avLst>
          </a:prstGeom>
          <a:solidFill>
            <a:srgbClr val="000000"/>
          </a:solidFill>
          <a:ln w="14288">
            <a:solidFill>
              <a:srgbClr val="46CDAE"/>
            </a:solidFill>
          </a:ln>
        </p:spPr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647700" y="1472637"/>
            <a:ext cx="2414588" cy="20833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buNone/>
            </a:pPr>
            <a:r>
              <a:rPr lang="ru-RU" sz="1242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 · sort + unique</a:t>
            </a:r>
            <a:endParaRPr lang="ru-RU" sz="1242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647700" y="1695673"/>
            <a:ext cx="2414588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O(n log n)</a:t>
            </a:r>
            <a:endParaRPr lang="ru-RU" sz="1104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647700" y="1973497"/>
            <a:ext cx="2656522" cy="579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1470"/>
              </a:lnSpc>
              <a:spcBef>
                <a:spcPts val="0"/>
              </a:spcBef>
              <a:buNone/>
            </a:pPr>
            <a:r>
              <a:rPr lang="ru-RU" sz="1050" b="0" i="0" dirty="0">
                <a:solidFill>
                  <a:srgbClr val="C8C8C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sort(v.begin(), v.end());</a:t>
            </a:r>
            <a:br>
              <a:rPr lang="ru-RU" sz="1050" b="0" i="0" dirty="0">
                <a:solidFill>
                  <a:srgbClr val="C8C8C8"/>
                </a:solidFill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ru-RU" sz="1050" b="0" i="0" dirty="0">
                <a:solidFill>
                  <a:srgbClr val="C8C8C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v.erase(unique(v.begin(),</a:t>
            </a:r>
            <a:br>
              <a:rPr lang="ru-RU" sz="1050" b="0" i="0" dirty="0">
                <a:solidFill>
                  <a:srgbClr val="C8C8C8"/>
                </a:solidFill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ru-RU" sz="1050" b="0" i="0" dirty="0">
                <a:solidFill>
                  <a:srgbClr val="C8C8C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        v.end()), v.end());</a:t>
            </a:r>
            <a:endParaRPr lang="ru-RU" sz="1050" b="0" i="0" dirty="0">
              <a:solidFill>
                <a:srgbClr val="C8C8C8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7" name="Box 107"/>
          <p:cNvSpPr/>
          <p:nvPr/>
        </p:nvSpPr>
        <p:spPr>
          <a:xfrm>
            <a:off x="3250406" y="1357060"/>
            <a:ext cx="2538412" cy="1547812"/>
          </a:xfrm>
          <a:prstGeom prst="roundRect">
            <a:avLst>
              <a:gd name="adj" fmla="val 4878"/>
            </a:avLst>
          </a:prstGeom>
          <a:solidFill>
            <a:srgbClr val="000000"/>
          </a:solidFill>
          <a:ln w="14288">
            <a:solidFill>
              <a:srgbClr val="E2489B"/>
            </a:solidFill>
          </a:ln>
        </p:spPr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3333750" y="1472637"/>
            <a:ext cx="2414588" cy="20833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buNone/>
            </a:pPr>
            <a:r>
              <a:rPr lang="ru-RU" sz="1242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B · unordered_set</a:t>
            </a:r>
            <a:endParaRPr lang="ru-RU" sz="1242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3333750" y="1695673"/>
            <a:ext cx="2414588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в среднем O(n)</a:t>
            </a:r>
            <a:endParaRPr lang="ru-RU" sz="1104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3333750" y="1973497"/>
            <a:ext cx="2656522" cy="76581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1470"/>
              </a:lnSpc>
              <a:spcBef>
                <a:spcPts val="0"/>
              </a:spcBef>
              <a:buNone/>
            </a:pPr>
            <a:r>
              <a:rPr lang="ru-RU" sz="1050" b="0" i="0" dirty="0">
                <a:solidFill>
                  <a:srgbClr val="C8C8C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unordered_set&lt;uint64_t&gt; s;</a:t>
            </a:r>
            <a:br>
              <a:rPr lang="ru-RU" sz="1050" b="0" i="0" dirty="0">
                <a:solidFill>
                  <a:srgbClr val="C8C8C8"/>
                </a:solidFill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ru-RU" sz="1050" b="0" i="0" dirty="0">
                <a:solidFill>
                  <a:srgbClr val="C8C8C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s.reserve(v.size());</a:t>
            </a:r>
            <a:br>
              <a:rPr lang="ru-RU" sz="1050" b="0" i="0" dirty="0">
                <a:solidFill>
                  <a:srgbClr val="C8C8C8"/>
                </a:solidFill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ru-RU" sz="1050" b="0" i="0" dirty="0">
                <a:solidFill>
                  <a:srgbClr val="C8C8C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for (auto x : v) s.insert(x);</a:t>
            </a:r>
            <a:br>
              <a:rPr lang="ru-RU" sz="1050" b="0" i="0" dirty="0">
                <a:solidFill>
                  <a:srgbClr val="C8C8C8"/>
                </a:solidFill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ru-RU" sz="1050" b="0" i="0" dirty="0">
                <a:solidFill>
                  <a:srgbClr val="C8C8C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v.assign(s.begin(), s.end());</a:t>
            </a:r>
            <a:endParaRPr lang="ru-RU" sz="1050" b="0" i="0" dirty="0">
              <a:solidFill>
                <a:srgbClr val="C8C8C8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557212" y="3117821"/>
            <a:ext cx="5424488" cy="481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643"/>
              </a:lnSpc>
              <a:spcBef>
                <a:spcPts val="0"/>
              </a:spcBef>
              <a:buNone/>
            </a:pPr>
            <a:r>
              <a:rPr lang="ru-RU" sz="3312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log₂ 10⁶ ≈ 20</a:t>
            </a:r>
            <a:endParaRPr lang="ru-RU" sz="3312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557212" y="3776201"/>
            <a:ext cx="8191119" cy="224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15"/>
              </a:lnSpc>
              <a:spcBef>
                <a:spcPts val="0"/>
              </a:spcBef>
              <a:buNone/>
            </a:pPr>
            <a:r>
              <a:rPr lang="ru-RU" sz="1242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Миллион 64-битных id, все разные, один поток, порядок выхода не важен</a:t>
            </a:r>
            <a:endParaRPr lang="ru-RU" sz="1242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557212" y="4081001"/>
            <a:ext cx="8191119" cy="224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15"/>
              </a:lnSpc>
              <a:spcBef>
                <a:spcPts val="0"/>
              </a:spcBef>
              <a:buNone/>
            </a:pPr>
            <a:r>
              <a:rPr lang="ru-RU" sz="1242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С чего вы начали бы до всяких замеров?</a:t>
            </a:r>
            <a:endParaRPr lang="ru-RU" sz="1242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4" name="Box 114"/>
          <p:cNvSpPr/>
          <p:nvPr/>
        </p:nvSpPr>
        <p:spPr>
          <a:xfrm>
            <a:off x="5936456" y="1357060"/>
            <a:ext cx="2538412" cy="1547812"/>
          </a:xfrm>
          <a:prstGeom prst="roundRect">
            <a:avLst>
              <a:gd name="adj" fmla="val 4878"/>
            </a:avLst>
          </a:prstGeom>
          <a:solidFill>
            <a:srgbClr val="000000"/>
          </a:solidFill>
          <a:ln w="14288">
            <a:solidFill>
              <a:srgbClr val="8F8F8F"/>
            </a:solidFill>
          </a:ln>
        </p:spPr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6019800" y="1472637"/>
            <a:ext cx="2414588" cy="3976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buNone/>
            </a:pPr>
            <a:r>
              <a:rPr lang="ru-RU" sz="1242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 · сначала спросил бы условие</a:t>
            </a:r>
            <a:endParaRPr lang="ru-RU" sz="1242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6019800" y="2049085"/>
            <a:ext cx="2414588" cy="5448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4140"/>
              </a:lnSpc>
              <a:spcBef>
                <a:spcPts val="0"/>
              </a:spcBef>
              <a:buNone/>
            </a:pPr>
            <a:r>
              <a:rPr lang="ru-RU" sz="4140" b="1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?</a:t>
            </a:r>
            <a:endParaRPr lang="ru-RU" sz="4140" b="1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7" name="Picture 11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17" name="Slide Number 117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1" grpId="0" animBg="1"/>
      <p:bldP spid="112" grpId="0" animBg="1"/>
      <p:bldP spid="113" grpId="0" animBg="1"/>
      <p:bldP spid="115" grpId="0" animBg="1"/>
      <p:bldP spid="116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СТАВКА №1 · ЧТО ПОКАЗАЛ СЕКУНДОМЕР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МИЛЛИОН УНИКАЛЬНЫХ ID: СОРТИРОВКА В 2,6 РАЗА БЫСТРЕЕ ХЕШ-ТАБЛИЦЫ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482298"/>
            <a:ext cx="8191119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Время всей операции на элемент, нс · меньше — лучше</a:t>
            </a:r>
            <a:endParaRPr lang="ru-RU" sz="966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557212" y="1711271"/>
            <a:ext cx="29718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80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 + unique</a:t>
            </a:r>
            <a:endParaRPr lang="ru-RU" sz="1104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Fill 105"/>
          <p:cNvSpPr/>
          <p:nvPr/>
        </p:nvSpPr>
        <p:spPr>
          <a:xfrm>
            <a:off x="557212" y="1947862"/>
            <a:ext cx="2033588" cy="304800"/>
          </a:xfrm>
          <a:prstGeom prst="roundRect">
            <a:avLst>
              <a:gd name="adj" fmla="val 12500"/>
            </a:avLst>
          </a:prstGeom>
          <a:solidFill>
            <a:srgbClr val="46CDAE"/>
          </a:solidFill>
          <a:ln>
            <a:noFill/>
          </a:ln>
        </p:spPr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2705100" y="1970325"/>
            <a:ext cx="1476375" cy="2503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22"/>
              </a:lnSpc>
              <a:spcBef>
                <a:spcPts val="0"/>
              </a:spcBef>
              <a:buNone/>
            </a:pPr>
            <a:r>
              <a:rPr lang="ru-RU" sz="1518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19,9 нс/эл</a:t>
            </a:r>
            <a:endParaRPr lang="ru-RU" sz="1518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4210050" y="2008794"/>
            <a:ext cx="1107758" cy="187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2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(20,9 мс)</a:t>
            </a:r>
            <a:endParaRPr lang="ru-RU" sz="1104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557212" y="2358971"/>
            <a:ext cx="29718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80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unordered_set</a:t>
            </a:r>
            <a:endParaRPr lang="ru-RU" sz="1104" b="0" i="0" dirty="0">
              <a:solidFill>
                <a:srgbClr val="E2489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9" name="Fill 109"/>
          <p:cNvSpPr/>
          <p:nvPr/>
        </p:nvSpPr>
        <p:spPr>
          <a:xfrm>
            <a:off x="557212" y="2595562"/>
            <a:ext cx="5238750" cy="304800"/>
          </a:xfrm>
          <a:prstGeom prst="roundRect">
            <a:avLst>
              <a:gd name="adj" fmla="val 12500"/>
            </a:avLst>
          </a:prstGeom>
          <a:solidFill>
            <a:srgbClr val="E2489B"/>
          </a:solidFill>
          <a:ln>
            <a:noFill/>
          </a:ln>
        </p:spPr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5910262" y="2618025"/>
            <a:ext cx="1476375" cy="2503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822"/>
              </a:lnSpc>
              <a:spcBef>
                <a:spcPts val="0"/>
              </a:spcBef>
              <a:buNone/>
            </a:pPr>
            <a:r>
              <a:rPr lang="ru-RU" sz="1518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51,3 нс/эл</a:t>
            </a:r>
            <a:endParaRPr lang="ru-RU" sz="1518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7415212" y="2656494"/>
            <a:ext cx="1009650" cy="187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2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(53,8 мс)</a:t>
            </a:r>
            <a:endParaRPr lang="ru-RU" sz="1104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557212" y="3086318"/>
            <a:ext cx="1598295" cy="439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312"/>
              </a:lnSpc>
              <a:spcBef>
                <a:spcPts val="0"/>
              </a:spcBef>
              <a:buNone/>
            </a:pPr>
            <a:r>
              <a:rPr lang="ru-RU" sz="3312" b="1" i="0" spc="-34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×2,6</a:t>
            </a:r>
            <a:endParaRPr lang="ru-RU" sz="3312" b="1" i="0" spc="-34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2233612" y="3187273"/>
            <a:ext cx="6464427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тот же опыт: D. Lemire, 2017 · почему: C. Carruth, CppCon 2014</a:t>
            </a:r>
            <a:endParaRPr lang="ru-RU" sz="966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4" name="Box 114"/>
          <p:cNvSpPr/>
          <p:nvPr/>
        </p:nvSpPr>
        <p:spPr>
          <a:xfrm>
            <a:off x="561975" y="3667125"/>
            <a:ext cx="1800225" cy="485775"/>
          </a:xfrm>
          <a:prstGeom prst="roundRect">
            <a:avLst>
              <a:gd name="adj" fmla="val 11538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661988" y="3821876"/>
            <a:ext cx="1657350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· размер и память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2362200" y="3799760"/>
            <a:ext cx="238125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→</a:t>
            </a:r>
            <a:endParaRPr lang="ru-RU" sz="1104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7" name="Box 117"/>
          <p:cNvSpPr/>
          <p:nvPr/>
        </p:nvSpPr>
        <p:spPr>
          <a:xfrm>
            <a:off x="2600325" y="3667125"/>
            <a:ext cx="1800225" cy="485775"/>
          </a:xfrm>
          <a:prstGeom prst="roundRect">
            <a:avLst>
              <a:gd name="adj" fmla="val 11538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2700338" y="3821876"/>
            <a:ext cx="1657350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· реализация хеша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9" name="Text 119"/>
          <p:cNvSpPr txBox="1"/>
          <p:nvPr/>
        </p:nvSpPr>
        <p:spPr>
          <a:xfrm>
            <a:off x="4400550" y="3799760"/>
            <a:ext cx="238125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→</a:t>
            </a:r>
            <a:endParaRPr lang="ru-RU" sz="1104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0" name="Box 120"/>
          <p:cNvSpPr/>
          <p:nvPr/>
        </p:nvSpPr>
        <p:spPr>
          <a:xfrm>
            <a:off x="4638675" y="3667125"/>
            <a:ext cx="1800225" cy="485775"/>
          </a:xfrm>
          <a:prstGeom prst="roundRect">
            <a:avLst>
              <a:gd name="adj" fmla="val 11538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21" name="Text 121"/>
          <p:cNvSpPr txBox="1"/>
          <p:nvPr/>
        </p:nvSpPr>
        <p:spPr>
          <a:xfrm>
            <a:off x="4738688" y="3821876"/>
            <a:ext cx="1657350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3</a:t>
            </a: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· данные и тикет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6438900" y="3799760"/>
            <a:ext cx="238125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→</a:t>
            </a:r>
            <a:endParaRPr lang="ru-RU" sz="1104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3" name="Box 123"/>
          <p:cNvSpPr/>
          <p:nvPr/>
        </p:nvSpPr>
        <p:spPr>
          <a:xfrm>
            <a:off x="6677025" y="3667125"/>
            <a:ext cx="1800225" cy="485775"/>
          </a:xfrm>
          <a:prstGeom prst="roundRect">
            <a:avLst>
              <a:gd name="adj" fmla="val 11538"/>
            </a:avLst>
          </a:prstGeom>
          <a:solidFill>
            <a:srgbClr val="0B2B26"/>
          </a:solidFill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24" name="Text 124"/>
          <p:cNvSpPr txBox="1"/>
          <p:nvPr/>
        </p:nvSpPr>
        <p:spPr>
          <a:xfrm>
            <a:off x="6777038" y="3742179"/>
            <a:ext cx="1657350" cy="33802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4 · процессор: ни строчки алгоритма</a:t>
            </a:r>
            <a:endParaRPr lang="ru-RU" sz="966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5" name="Text 125"/>
          <p:cNvSpPr txBox="1"/>
          <p:nvPr/>
        </p:nvSpPr>
        <p:spPr>
          <a:xfrm>
            <a:off x="557212" y="4554200"/>
            <a:ext cx="7936039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Apple M2 Pro · macOS 27 · Xcode 27.0 (Apple clang 21.0.0), libc++ · -O3 · 1 поток, QoS userInitiated · N = U = 2^20 · id случайные 64-битные · медиана 4 блоков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6" name="Picture 12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26" name="Slide Number 126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" grpId="0" animBg="1"/>
      <p:bldP spid="106" grpId="0" animBg="1"/>
      <p:bldP spid="107" grpId="0" animBg="1"/>
      <p:bldP spid="108" grpId="0" animBg="1"/>
      <p:bldP spid="110" grpId="0" animBg="1"/>
      <p:bldP spid="111" grpId="0" animBg="1"/>
      <p:bldP spid="112" grpId="0" animBg="1"/>
      <p:bldP spid="113" grpId="0" animBg="1"/>
      <p:bldP spid="115" grpId="0" animBg="1"/>
      <p:bldP spid="116" grpId="0" animBg="1"/>
      <p:bldP spid="118" grpId="0" animBg="1"/>
      <p:bldP spid="119" grpId="0" animBg="1"/>
      <p:bldP spid="121" grpId="0" animBg="1"/>
      <p:bldP spid="122" grpId="0" animBg="1"/>
      <p:bldP spid="124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ПЕРЕД ЧЕТЫРЬМЯ РАУНДАМИ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ПРАВИЛО: В ТАЙМЕРЕ ВСЯ ОПЕРАЦИЯ — ВМЕСТЕ С ВЫГРУЗКОЙ И ДЕСТРУКТОРОМ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Fill 103"/>
          <p:cNvSpPr/>
          <p:nvPr/>
        </p:nvSpPr>
        <p:spPr>
          <a:xfrm>
            <a:off x="557212" y="1563142"/>
            <a:ext cx="7924800" cy="1241971"/>
          </a:xfrm>
          <a:prstGeom prst="roundRect">
            <a:avLst>
              <a:gd name="adj" fmla="val 6135"/>
            </a:avLst>
          </a:prstGeom>
          <a:solidFill>
            <a:srgbClr val="141414"/>
          </a:solidFill>
          <a:ln>
            <a:noFill/>
          </a:ln>
        </p:spPr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747712" y="1728305"/>
            <a:ext cx="8345805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216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auto v = input;                      </a:t>
            </a:r>
            <a:r>
              <a:rPr lang="ru-RU" sz="1200" b="0" i="0" dirty="0">
                <a:solidFill>
                  <a:srgbClr val="8F8F8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// свежая копия — вне таймера</a:t>
            </a:r>
            <a:endParaRPr lang="ru-RU" sz="1200" b="0" i="0" dirty="0">
              <a:solidFill>
                <a:srgbClr val="8F8F8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747712" y="2002596"/>
            <a:ext cx="8345805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216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46CDA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timer.start();</a:t>
            </a:r>
            <a:r>
              <a:rPr lang="ru-RU" sz="120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alg(v); </a:t>
            </a:r>
            <a:r>
              <a:rPr lang="ru-RU" sz="1200" b="0" i="0" dirty="0">
                <a:solidFill>
                  <a:srgbClr val="46CDA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timer.stop();</a:t>
            </a:r>
            <a:r>
              <a:rPr lang="ru-RU" sz="120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ru-RU" sz="1200" b="0" i="0" dirty="0">
                <a:solidFill>
                  <a:srgbClr val="8F8F8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// reserve, вставки, выгрузка, деструктор</a:t>
            </a:r>
            <a:endParaRPr lang="ru-RU" sz="1200" b="0" i="0" dirty="0">
              <a:solidFill>
                <a:srgbClr val="8F8F8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747712" y="2276886"/>
            <a:ext cx="8345805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2160"/>
              </a:lnSpc>
              <a:spcBef>
                <a:spcPts val="0"/>
              </a:spcBef>
              <a:buNone/>
            </a:pPr>
            <a:r>
              <a:rPr lang="ru-RU" sz="120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std::sort(v.begin(), v.end()); if (v != ref) std::abort(); </a:t>
            </a:r>
            <a:r>
              <a:rPr lang="ru-RU" sz="1200" b="0" i="0" dirty="0">
                <a:solidFill>
                  <a:srgbClr val="8F8F8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// и в релизе</a:t>
            </a:r>
            <a:endParaRPr lang="ru-RU" sz="1200" b="0" i="0" dirty="0">
              <a:solidFill>
                <a:srgbClr val="8F8F8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7" name="Line 107"/>
          <p:cNvSpPr/>
          <p:nvPr/>
        </p:nvSpPr>
        <p:spPr>
          <a:xfrm>
            <a:off x="576262" y="3033712"/>
            <a:ext cx="48" cy="300930"/>
          </a:xfrm>
          <a:custGeom>
            <a:avLst/>
            <a:gdLst/>
            <a:ahLst/>
            <a:cxnLst/>
            <a:rect l="0" t="0" r="r" b="b"/>
            <a:pathLst>
              <a:path w="1" h="300930" fill="none">
                <a:moveTo>
                  <a:pt x="0" y="0"/>
                </a:moveTo>
                <a:lnTo>
                  <a:pt x="0" y="300930"/>
                </a:lnTo>
              </a:path>
            </a:pathLst>
          </a:custGeom>
          <a:noFill/>
          <a:ln w="38100">
            <a:solidFill>
              <a:srgbClr val="46CDAE"/>
            </a:solidFill>
          </a:ln>
        </p:spPr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747712" y="3040775"/>
            <a:ext cx="7743825" cy="2819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070"/>
              </a:lnSpc>
              <a:spcBef>
                <a:spcPts val="0"/>
              </a:spcBef>
              <a:buNone/>
            </a:pPr>
            <a:r>
              <a:rPr lang="ru-RU" sz="1656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Быстрое, но неправильное решение в турнире не участвует</a:t>
            </a:r>
            <a:endParaRPr lang="ru-RU" sz="1656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557212" y="4690824"/>
            <a:ext cx="7936039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Крайние случаи и проверки всех контрактов — в репозитории · «порядок первого появления» сверяем без сортировки, с эталоном на хеше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0" name="Picture 109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10" name="Slide Number 110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РАУНД </a:t>
            </a:r>
            <a:r>
              <a:rPr lang="ru-RU" sz="1099" b="0" i="0" spc="94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</a:t>
            </a: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ИЗ 4 · РАЗМЕР И ПАМЯТЬ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ПОСЛЕ 512K unordered_set ЛОМАЕТСЯ СТУПЕНЬКОЙ, СОРТИРОВКА — НЕТ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 xmlns:p14="http://schemas.microsoft.com/office/powerpoint/2010/main">
        <p:nvGrpSpPr>
          <p:cNvPr id="108" name="Chart 108"/>
          <p:cNvGrpSpPr/>
          <p:nvPr/>
        </p:nvGrpSpPr>
        <p:grpSpPr>
          <a:xfrm>
            <a:off x="976312" y="1714500"/>
            <a:ext cx="6076950" cy="2143173"/>
            <a:chOff x="976312" y="1714500"/>
            <a:chExt cx="6076950" cy="2143173"/>
          </a:xfrm>
        </p:grpSpPr>
        <p:sp>
          <p:nvSpPr>
            <p:cNvPr id="103" name="Line 103"/>
            <p:cNvSpPr/>
            <p:nvPr/>
          </p:nvSpPr>
          <p:spPr>
            <a:xfrm>
              <a:off x="976312" y="1714500"/>
              <a:ext cx="6076950" cy="48"/>
            </a:xfrm>
            <a:custGeom>
              <a:avLst/>
              <a:gdLst/>
              <a:ahLst/>
              <a:cxnLst/>
              <a:rect l="0" t="0" r="r" b="b"/>
              <a:pathLst>
                <a:path w="6076950" h="1" fill="none">
                  <a:moveTo>
                    <a:pt x="0" y="0"/>
                  </a:moveTo>
                  <a:lnTo>
                    <a:pt x="6076950" y="0"/>
                  </a:lnTo>
                </a:path>
              </a:pathLst>
            </a:custGeom>
            <a:noFill/>
            <a:ln w="4762">
              <a:solidFill>
                <a:srgbClr val="333333"/>
              </a:solidFill>
            </a:ln>
          </p:spPr>
        </p:sp>
        <p:sp>
          <p:nvSpPr>
            <p:cNvPr id="104" name="Line 104"/>
            <p:cNvSpPr/>
            <p:nvPr/>
          </p:nvSpPr>
          <p:spPr>
            <a:xfrm>
              <a:off x="976312" y="2428875"/>
              <a:ext cx="6076950" cy="48"/>
            </a:xfrm>
            <a:custGeom>
              <a:avLst/>
              <a:gdLst/>
              <a:ahLst/>
              <a:cxnLst/>
              <a:rect l="0" t="0" r="r" b="b"/>
              <a:pathLst>
                <a:path w="6076950" h="1" fill="none">
                  <a:moveTo>
                    <a:pt x="0" y="0"/>
                  </a:moveTo>
                  <a:lnTo>
                    <a:pt x="6076950" y="0"/>
                  </a:lnTo>
                </a:path>
              </a:pathLst>
            </a:custGeom>
            <a:noFill/>
            <a:ln w="4762">
              <a:solidFill>
                <a:srgbClr val="333333"/>
              </a:solidFill>
            </a:ln>
          </p:spPr>
        </p:sp>
        <p:sp>
          <p:nvSpPr>
            <p:cNvPr id="105" name="Line 105"/>
            <p:cNvSpPr/>
            <p:nvPr/>
          </p:nvSpPr>
          <p:spPr>
            <a:xfrm>
              <a:off x="976312" y="3143250"/>
              <a:ext cx="6076950" cy="48"/>
            </a:xfrm>
            <a:custGeom>
              <a:avLst/>
              <a:gdLst/>
              <a:ahLst/>
              <a:cxnLst/>
              <a:rect l="0" t="0" r="r" b="b"/>
              <a:pathLst>
                <a:path w="6076950" h="1" fill="none">
                  <a:moveTo>
                    <a:pt x="0" y="0"/>
                  </a:moveTo>
                  <a:lnTo>
                    <a:pt x="6076950" y="0"/>
                  </a:lnTo>
                </a:path>
              </a:pathLst>
            </a:custGeom>
            <a:noFill/>
            <a:ln w="4762">
              <a:solidFill>
                <a:srgbClr val="333333"/>
              </a:solidFill>
            </a:ln>
          </p:spPr>
        </p:sp>
        <p:sp>
          <p:nvSpPr>
            <p:cNvPr id="106" name="Line 106"/>
            <p:cNvSpPr/>
            <p:nvPr/>
          </p:nvSpPr>
          <p:spPr>
            <a:xfrm>
              <a:off x="976312" y="3857625"/>
              <a:ext cx="6076950" cy="48"/>
            </a:xfrm>
            <a:custGeom>
              <a:avLst/>
              <a:gdLst/>
              <a:ahLst/>
              <a:cxnLst/>
              <a:rect l="0" t="0" r="r" b="b"/>
              <a:pathLst>
                <a:path w="6076950" h="1" fill="none">
                  <a:moveTo>
                    <a:pt x="0" y="0"/>
                  </a:moveTo>
                  <a:lnTo>
                    <a:pt x="6076950" y="0"/>
                  </a:lnTo>
                </a:path>
              </a:pathLst>
            </a:custGeom>
            <a:noFill/>
            <a:ln w="9525">
              <a:solidFill>
                <a:srgbClr val="8F8F8F"/>
              </a:solidFill>
            </a:ln>
          </p:spPr>
        </p:sp>
        <p:sp>
          <p:nvSpPr>
            <p:cNvPr id="107" name="Line 107"/>
            <p:cNvSpPr/>
            <p:nvPr/>
          </p:nvSpPr>
          <p:spPr>
            <a:xfrm>
              <a:off x="1014412" y="3089910"/>
              <a:ext cx="6000750" cy="656273"/>
            </a:xfrm>
            <a:custGeom>
              <a:avLst/>
              <a:gdLst/>
              <a:ahLst/>
              <a:cxnLst/>
              <a:rect l="0" t="0" r="r" b="b"/>
              <a:pathLst>
                <a:path w="6000750" h="656273" fill="none">
                  <a:moveTo>
                    <a:pt x="0" y="656273"/>
                  </a:moveTo>
                  <a:lnTo>
                    <a:pt x="333375" y="633889"/>
                  </a:lnTo>
                  <a:lnTo>
                    <a:pt x="666750" y="566738"/>
                  </a:lnTo>
                  <a:lnTo>
                    <a:pt x="1000125" y="437198"/>
                  </a:lnTo>
                  <a:lnTo>
                    <a:pt x="1333500" y="330041"/>
                  </a:lnTo>
                  <a:lnTo>
                    <a:pt x="1666875" y="280988"/>
                  </a:lnTo>
                  <a:lnTo>
                    <a:pt x="2000250" y="254318"/>
                  </a:lnTo>
                  <a:lnTo>
                    <a:pt x="2333625" y="222885"/>
                  </a:lnTo>
                  <a:lnTo>
                    <a:pt x="2667000" y="196215"/>
                  </a:lnTo>
                  <a:lnTo>
                    <a:pt x="3000375" y="191929"/>
                  </a:lnTo>
                  <a:lnTo>
                    <a:pt x="3333750" y="173831"/>
                  </a:lnTo>
                  <a:lnTo>
                    <a:pt x="3667125" y="151448"/>
                  </a:lnTo>
                  <a:lnTo>
                    <a:pt x="4000500" y="133826"/>
                  </a:lnTo>
                  <a:lnTo>
                    <a:pt x="4333875" y="106680"/>
                  </a:lnTo>
                  <a:lnTo>
                    <a:pt x="4667250" y="89059"/>
                  </a:lnTo>
                  <a:lnTo>
                    <a:pt x="5000625" y="66675"/>
                  </a:lnTo>
                  <a:lnTo>
                    <a:pt x="5334000" y="49054"/>
                  </a:lnTo>
                  <a:lnTo>
                    <a:pt x="5667375" y="21908"/>
                  </a:lnTo>
                  <a:lnTo>
                    <a:pt x="6000750" y="0"/>
                  </a:lnTo>
                </a:path>
              </a:pathLst>
            </a:custGeom>
            <a:noFill/>
            <a:ln w="28575" cap="rnd">
              <a:solidFill>
                <a:srgbClr val="46CDAE"/>
              </a:solidFill>
              <a:round/>
            </a:ln>
          </p:spPr>
        </p:sp>
      </p:grp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976312" y="1480279"/>
            <a:ext cx="3462338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нс на элемент · ниже — лучше</a:t>
            </a:r>
            <a:endParaRPr lang="ru-RU" sz="966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519494" y="1627916"/>
            <a:ext cx="342519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60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519494" y="2342291"/>
            <a:ext cx="342519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40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519494" y="3056666"/>
            <a:ext cx="342519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20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519494" y="3771041"/>
            <a:ext cx="342519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0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882396" y="3899629"/>
            <a:ext cx="264033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16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2804160" y="3899629"/>
            <a:ext cx="421005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1K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4804410" y="3899629"/>
            <a:ext cx="421005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64K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5804535" y="3899629"/>
            <a:ext cx="421005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512K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6186964" y="3899629"/>
            <a:ext cx="322898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1M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9" name="Text 119"/>
          <p:cNvSpPr txBox="1"/>
          <p:nvPr/>
        </p:nvSpPr>
        <p:spPr>
          <a:xfrm>
            <a:off x="6804660" y="3899629"/>
            <a:ext cx="421005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4M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3264694" y="3899629"/>
            <a:ext cx="1500188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N, лог. шкала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1" name="Text 121"/>
          <p:cNvSpPr txBox="1"/>
          <p:nvPr/>
        </p:nvSpPr>
        <p:spPr>
          <a:xfrm>
            <a:off x="7167562" y="3004279"/>
            <a:ext cx="1382458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 + unique</a:t>
            </a:r>
            <a:endParaRPr lang="ru-RU" sz="966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grpSp xmlns:p14="http://schemas.microsoft.com/office/powerpoint/2010/main">
        <p:nvGrpSpPr>
          <p:cNvPr id="125" name="Chart 125"/>
          <p:cNvGrpSpPr/>
          <p:nvPr/>
        </p:nvGrpSpPr>
        <p:grpSpPr>
          <a:xfrm>
            <a:off x="1014412" y="1866424"/>
            <a:ext cx="6076950" cy="1562576"/>
            <a:chOff x="1014412" y="1866424"/>
            <a:chExt cx="6076950" cy="1562576"/>
          </a:xfrm>
        </p:grpSpPr>
        <p:sp>
          <p:nvSpPr>
            <p:cNvPr id="122" name="Line 122"/>
            <p:cNvSpPr/>
            <p:nvPr/>
          </p:nvSpPr>
          <p:spPr>
            <a:xfrm>
              <a:off x="1014412" y="1866424"/>
              <a:ext cx="6000750" cy="1562576"/>
            </a:xfrm>
            <a:custGeom>
              <a:avLst/>
              <a:gdLst/>
              <a:ahLst/>
              <a:cxnLst/>
              <a:rect l="0" t="0" r="r" b="b"/>
              <a:pathLst>
                <a:path w="6000750" h="1562576" fill="none">
                  <a:moveTo>
                    <a:pt x="0" y="1517809"/>
                  </a:moveTo>
                  <a:lnTo>
                    <a:pt x="333375" y="1562576"/>
                  </a:lnTo>
                  <a:lnTo>
                    <a:pt x="666750" y="1562576"/>
                  </a:lnTo>
                  <a:lnTo>
                    <a:pt x="1000125" y="1535906"/>
                  </a:lnTo>
                  <a:lnTo>
                    <a:pt x="1333500" y="1522571"/>
                  </a:lnTo>
                  <a:lnTo>
                    <a:pt x="1666875" y="1522571"/>
                  </a:lnTo>
                  <a:lnTo>
                    <a:pt x="2000250" y="1513523"/>
                  </a:lnTo>
                  <a:lnTo>
                    <a:pt x="2333625" y="1473041"/>
                  </a:lnTo>
                  <a:lnTo>
                    <a:pt x="2667000" y="1459706"/>
                  </a:lnTo>
                  <a:lnTo>
                    <a:pt x="3000375" y="1433036"/>
                  </a:lnTo>
                  <a:lnTo>
                    <a:pt x="3333750" y="1401604"/>
                  </a:lnTo>
                  <a:lnTo>
                    <a:pt x="3667125" y="1374934"/>
                  </a:lnTo>
                  <a:lnTo>
                    <a:pt x="4000500" y="1366361"/>
                  </a:lnTo>
                  <a:lnTo>
                    <a:pt x="4333875" y="1366361"/>
                  </a:lnTo>
                  <a:lnTo>
                    <a:pt x="4667250" y="1357312"/>
                  </a:lnTo>
                  <a:lnTo>
                    <a:pt x="5000625" y="1325880"/>
                  </a:lnTo>
                  <a:lnTo>
                    <a:pt x="5334000" y="1053465"/>
                  </a:lnTo>
                  <a:lnTo>
                    <a:pt x="5667375" y="558165"/>
                  </a:lnTo>
                  <a:lnTo>
                    <a:pt x="6000750" y="0"/>
                  </a:lnTo>
                </a:path>
              </a:pathLst>
            </a:custGeom>
            <a:noFill/>
            <a:ln w="28575" cap="rnd">
              <a:solidFill>
                <a:srgbClr val="E2489B"/>
              </a:solidFill>
              <a:round/>
            </a:ln>
          </p:spPr>
        </p:sp>
        <p:sp>
          <p:nvSpPr>
            <p:cNvPr id="123" name="Rect 123"/>
            <p:cNvSpPr/>
            <p:nvPr/>
          </p:nvSpPr>
          <p:spPr>
            <a:xfrm>
              <a:off x="5881688" y="2800350"/>
              <a:ext cx="600075" cy="495300"/>
            </a:xfrm>
            <a:prstGeom prst="roundRect">
              <a:avLst>
                <a:gd name="adj" fmla="val 19230"/>
              </a:avLst>
            </a:prstGeom>
            <a:noFill/>
            <a:ln w="19050">
              <a:solidFill>
                <a:srgbClr val="46CDAE"/>
              </a:solidFill>
            </a:ln>
          </p:spPr>
        </p:sp>
        <p:sp>
          <p:nvSpPr>
            <p:cNvPr id="124" name="Path 124"/>
            <p:cNvSpPr/>
            <p:nvPr/>
          </p:nvSpPr>
          <p:spPr>
            <a:xfrm>
              <a:off x="7053262" y="1876425"/>
              <a:ext cx="38100" cy="1204912"/>
            </a:xfrm>
            <a:custGeom>
              <a:avLst/>
              <a:gdLst/>
              <a:ahLst/>
              <a:cxnLst/>
              <a:rect l="0" t="0" r="r" b="b"/>
              <a:pathLst>
                <a:path w="38100" h="1204912" fill="none">
                  <a:moveTo>
                    <a:pt x="0" y="0"/>
                  </a:moveTo>
                  <a:lnTo>
                    <a:pt x="38100" y="0"/>
                  </a:lnTo>
                  <a:lnTo>
                    <a:pt x="38100" y="1204912"/>
                  </a:lnTo>
                  <a:lnTo>
                    <a:pt x="0" y="1204912"/>
                  </a:lnTo>
                </a:path>
              </a:pathLst>
            </a:custGeom>
            <a:noFill/>
            <a:ln w="9525">
              <a:solidFill>
                <a:srgbClr val="8F8F8F"/>
              </a:solidFill>
              <a:round/>
            </a:ln>
          </p:spPr>
        </p:sp>
      </p:grpSp>
      <p:sp xmlns:p14="http://schemas.microsoft.com/office/powerpoint/2010/main">
        <p:nvSpPr>
          <p:cNvPr id="126" name="Text 126"/>
          <p:cNvSpPr txBox="1"/>
          <p:nvPr/>
        </p:nvSpPr>
        <p:spPr>
          <a:xfrm>
            <a:off x="7167562" y="1780316"/>
            <a:ext cx="1382458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unordered_set</a:t>
            </a:r>
            <a:endParaRPr lang="ru-RU" sz="966" b="0" i="0" dirty="0">
              <a:solidFill>
                <a:srgbClr val="E2489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7" name="Text 127"/>
          <p:cNvSpPr txBox="1"/>
          <p:nvPr/>
        </p:nvSpPr>
        <p:spPr>
          <a:xfrm>
            <a:off x="7167562" y="2308954"/>
            <a:ext cx="1382458" cy="3134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 в 2,6 раза быстрее</a:t>
            </a:r>
            <a:endParaRPr lang="ru-RU" sz="966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8" name="Box 128"/>
          <p:cNvSpPr/>
          <p:nvPr/>
        </p:nvSpPr>
        <p:spPr>
          <a:xfrm>
            <a:off x="1360884" y="1746647"/>
            <a:ext cx="4298156" cy="1373981"/>
          </a:xfrm>
          <a:prstGeom prst="roundRect">
            <a:avLst>
              <a:gd name="adj" fmla="val 5517"/>
            </a:avLst>
          </a:prstGeom>
          <a:solidFill>
            <a:srgbClr val="000000"/>
          </a:solidFill>
          <a:ln w="7144">
            <a:solidFill>
              <a:srgbClr val="FFFFFF"/>
            </a:solidFill>
          </a:ln>
        </p:spPr>
      </p:sp>
      <p:grpSp xmlns:p14="http://schemas.microsoft.com/office/powerpoint/2010/main">
        <p:nvGrpSpPr>
          <p:cNvPr id="133" name="Chart 133"/>
          <p:cNvGrpSpPr/>
          <p:nvPr/>
        </p:nvGrpSpPr>
        <p:grpSpPr>
          <a:xfrm>
            <a:off x="1433512" y="1938338"/>
            <a:ext cx="4152900" cy="914448"/>
            <a:chOff x="1433512" y="1938338"/>
            <a:chExt cx="4152900" cy="914448"/>
          </a:xfrm>
        </p:grpSpPr>
        <p:sp>
          <p:nvSpPr>
            <p:cNvPr id="129" name="Rect 129"/>
            <p:cNvSpPr/>
            <p:nvPr/>
          </p:nvSpPr>
          <p:spPr>
            <a:xfrm>
              <a:off x="1509712" y="2395538"/>
              <a:ext cx="381000" cy="457200"/>
            </a:xfrm>
            <a:prstGeom prst="rect">
              <a:avLst/>
            </a:prstGeom>
            <a:solidFill>
              <a:srgbClr val="5E1C42"/>
            </a:solidFill>
            <a:ln w="9525">
              <a:solidFill>
                <a:srgbClr val="E2489B"/>
              </a:solidFill>
            </a:ln>
          </p:spPr>
        </p:sp>
        <p:sp>
          <p:nvSpPr>
            <p:cNvPr id="130" name="Rect 130"/>
            <p:cNvSpPr/>
            <p:nvPr/>
          </p:nvSpPr>
          <p:spPr>
            <a:xfrm>
              <a:off x="2043112" y="1938338"/>
              <a:ext cx="381000" cy="914400"/>
            </a:xfrm>
            <a:prstGeom prst="rect">
              <a:avLst/>
            </a:prstGeom>
            <a:solidFill>
              <a:srgbClr val="5E1C42"/>
            </a:solidFill>
            <a:ln w="9525">
              <a:solidFill>
                <a:srgbClr val="E2489B"/>
              </a:solidFill>
            </a:ln>
          </p:spPr>
        </p:sp>
        <p:sp>
          <p:nvSpPr>
            <p:cNvPr id="131" name="Line 131"/>
            <p:cNvSpPr/>
            <p:nvPr/>
          </p:nvSpPr>
          <p:spPr>
            <a:xfrm>
              <a:off x="1433512" y="2852738"/>
              <a:ext cx="1066800" cy="48"/>
            </a:xfrm>
            <a:custGeom>
              <a:avLst/>
              <a:gdLst/>
              <a:ahLst/>
              <a:cxnLst/>
              <a:rect l="0" t="0" r="r" b="b"/>
              <a:pathLst>
                <a:path w="1066800" h="1" fill="none">
                  <a:moveTo>
                    <a:pt x="0" y="0"/>
                  </a:moveTo>
                  <a:lnTo>
                    <a:pt x="1066800" y="0"/>
                  </a:lnTo>
                </a:path>
              </a:pathLst>
            </a:custGeom>
            <a:noFill/>
            <a:ln w="9525">
              <a:solidFill>
                <a:srgbClr val="8F8F8F"/>
              </a:solidFill>
            </a:ln>
          </p:spPr>
        </p:sp>
        <p:sp>
          <p:nvSpPr>
            <p:cNvPr id="132" name="Line 132"/>
            <p:cNvSpPr/>
            <p:nvPr/>
          </p:nvSpPr>
          <p:spPr>
            <a:xfrm>
              <a:off x="1433512" y="2243138"/>
              <a:ext cx="4152900" cy="48"/>
            </a:xfrm>
            <a:custGeom>
              <a:avLst/>
              <a:gdLst/>
              <a:ahLst/>
              <a:cxnLst/>
              <a:rect l="0" t="0" r="r" b="b"/>
              <a:pathLst>
                <a:path w="4152900" h="1" fill="none">
                  <a:moveTo>
                    <a:pt x="0" y="0"/>
                  </a:moveTo>
                  <a:lnTo>
                    <a:pt x="4152900" y="0"/>
                  </a:lnTo>
                </a:path>
              </a:pathLst>
            </a:custGeom>
            <a:noFill/>
            <a:ln w="14288">
              <a:solidFill>
                <a:srgbClr val="BFBFBF"/>
              </a:solidFill>
              <a:custDash>
                <a:ds d="400000" sp="266666"/>
              </a:custDash>
            </a:ln>
          </p:spPr>
        </p:sp>
      </p:grpSp>
      <p:sp xmlns:p14="http://schemas.microsoft.com/office/powerpoint/2010/main">
        <p:nvSpPr>
          <p:cNvPr id="134" name="Text 134"/>
          <p:cNvSpPr txBox="1"/>
          <p:nvPr/>
        </p:nvSpPr>
        <p:spPr>
          <a:xfrm>
            <a:off x="2576512" y="1851754"/>
            <a:ext cx="3038475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≈24 МиБ — мимо L2 ✗</a:t>
            </a:r>
            <a:endParaRPr lang="ru-RU" sz="966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35" name="Text 135"/>
          <p:cNvSpPr txBox="1"/>
          <p:nvPr/>
        </p:nvSpPr>
        <p:spPr>
          <a:xfrm>
            <a:off x="2576512" y="2037491"/>
            <a:ext cx="3038475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L2 P-кластера M2 Pro = 16 МиБ</a:t>
            </a:r>
            <a:endParaRPr lang="ru-RU" sz="966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6" name="Text 136"/>
          <p:cNvSpPr txBox="1"/>
          <p:nvPr/>
        </p:nvSpPr>
        <p:spPr>
          <a:xfrm>
            <a:off x="2576512" y="2308954"/>
            <a:ext cx="3038475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≈12 МиБ таблица — в L2 ✓</a:t>
            </a:r>
            <a:endParaRPr lang="ru-RU" sz="966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37" name="Text 137"/>
          <p:cNvSpPr txBox="1"/>
          <p:nvPr/>
        </p:nvSpPr>
        <p:spPr>
          <a:xfrm>
            <a:off x="2576512" y="2489929"/>
            <a:ext cx="3038475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(+4 МиБ вход, читается подряд)</a:t>
            </a:r>
            <a:endParaRPr lang="ru-RU" sz="966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8" name="Text 138"/>
          <p:cNvSpPr txBox="1"/>
          <p:nvPr/>
        </p:nvSpPr>
        <p:spPr>
          <a:xfrm>
            <a:off x="1411224" y="2885216"/>
            <a:ext cx="577977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512K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9" name="Text 139"/>
          <p:cNvSpPr txBox="1"/>
          <p:nvPr/>
        </p:nvSpPr>
        <p:spPr>
          <a:xfrm>
            <a:off x="1944624" y="2885216"/>
            <a:ext cx="577977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1M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40" name="Text 140"/>
          <p:cNvSpPr txBox="1"/>
          <p:nvPr/>
        </p:nvSpPr>
        <p:spPr>
          <a:xfrm>
            <a:off x="557212" y="4128229"/>
            <a:ext cx="8191119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рабочий набор ≈ 32·U + 8·N · это арифметика, не счётчики промахов</a:t>
            </a:r>
            <a:endParaRPr lang="ru-RU" sz="966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41" name="Text 141"/>
          <p:cNvSpPr txBox="1"/>
          <p:nvPr/>
        </p:nvSpPr>
        <p:spPr>
          <a:xfrm>
            <a:off x="557212" y="4554200"/>
            <a:ext cx="7936039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U = N/2 · M2 Pro, macOS, libc++, userInitiated · id — случайные 64-битные · медиана 4 блоков · сессия А </a:t>
            </a:r>
            <a:r>
              <a:rPr lang="ru-RU" sz="828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[дата сессии А]</a:t>
            </a: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 · unordered_set на 1M между сессиями: 22,6–26,3 нс/эл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42" name="Picture 14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42" name="Slide Number 142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" grpId="0" animBg="1"/>
      <p:bldP spid="110" grpId="0" animBg="1"/>
      <p:bldP spid="111" grpId="0" animBg="1"/>
      <p:bldP spid="112" grpId="0" animBg="1"/>
      <p:bldP spid="113" grpId="0" animBg="1"/>
      <p:bldP spid="114" grpId="0" animBg="1"/>
      <p:bldP spid="115" grpId="0" animBg="1"/>
      <p:bldP spid="116" grpId="0" animBg="1"/>
      <p:bldP spid="117" grpId="0" animBg="1"/>
      <p:bldP spid="118" grpId="0" animBg="1"/>
      <p:bldP spid="119" grpId="0" animBg="1"/>
      <p:bldP spid="120" grpId="0" animBg="1"/>
      <p:bldP spid="121" grpId="0" animBg="1"/>
      <p:bldP spid="126" grpId="0" animBg="1"/>
      <p:bldP spid="127" grpId="0" animBg="1"/>
      <p:bldP spid="134" grpId="0" animBg="1"/>
      <p:bldP spid="135" grpId="0" animBg="1"/>
      <p:bldP spid="136" grpId="0" animBg="1"/>
      <p:bldP spid="137" grpId="0" animBg="1"/>
      <p:bldP spid="138" grpId="0" animBg="1"/>
      <p:bldP spid="139" grpId="0" animBg="1"/>
      <p:bldP spid="140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РАУНД </a:t>
            </a:r>
            <a:r>
              <a:rPr lang="ru-RU" sz="1099" b="0" i="0" spc="94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</a:t>
            </a: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ИЗ 4 · РАЗМЕР И ПАМЯТЬ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60073"/>
            <a:ext cx="6781800" cy="597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40"/>
              </a:lnSpc>
              <a:spcBef>
                <a:spcPts val="0"/>
              </a:spcBef>
              <a:buNone/>
            </a:pPr>
            <a:r>
              <a:rPr lang="ru-RU" sz="20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УЗЛОВАЯ ТАБЛИЦА: КАЖДЫЙ КЛЮЧ — ОТДЕЛЬНЫЙ new И ПРЫЖОК ПО УКАЗАТЕЛЮ</a:t>
            </a:r>
            <a:endParaRPr lang="ru-RU" sz="20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572768"/>
            <a:ext cx="3168015" cy="2247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buNone/>
            </a:pPr>
            <a:r>
              <a:rPr lang="ru-RU" sz="1350" b="1" i="0" dirty="0">
                <a:solidFill>
                  <a:srgbClr val="46CDA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vector&lt;uint64_t&gt;</a:t>
            </a:r>
            <a:endParaRPr lang="ru-RU" sz="1350" b="1" i="0" dirty="0">
              <a:solidFill>
                <a:srgbClr val="46CDAE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4" name="Box 104"/>
          <p:cNvSpPr/>
          <p:nvPr/>
        </p:nvSpPr>
        <p:spPr>
          <a:xfrm>
            <a:off x="561975" y="1909762"/>
            <a:ext cx="303609" cy="295275"/>
          </a:xfrm>
          <a:prstGeom prst="rect">
            <a:avLst/>
          </a:prstGeom>
          <a:solidFill>
            <a:srgbClr val="174F45"/>
          </a:solidFill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05" name="Fill 105"/>
          <p:cNvSpPr/>
          <p:nvPr/>
        </p:nvSpPr>
        <p:spPr>
          <a:xfrm>
            <a:off x="870347" y="1905000"/>
            <a:ext cx="303609" cy="304800"/>
          </a:xfrm>
          <a:prstGeom prst="rect">
            <a:avLst/>
          </a:prstGeom>
          <a:solidFill>
            <a:srgbClr val="174F45"/>
          </a:solidFill>
          <a:ln>
            <a:noFill/>
          </a:ln>
        </p:spPr>
      </p:sp>
      <p:sp xmlns:p14="http://schemas.microsoft.com/office/powerpoint/2010/main">
        <p:nvSpPr>
          <p:cNvPr id="106" name="Line 106"/>
          <p:cNvSpPr/>
          <p:nvPr/>
        </p:nvSpPr>
        <p:spPr>
          <a:xfrm>
            <a:off x="870347" y="1909762"/>
            <a:ext cx="303609" cy="48"/>
          </a:xfrm>
          <a:custGeom>
            <a:avLst/>
            <a:gdLst/>
            <a:ahLst/>
            <a:cxnLst/>
            <a:rect l="0" t="0" r="r" b="b"/>
            <a:pathLst>
              <a:path w="303609" h="1" fill="none">
                <a:moveTo>
                  <a:pt x="0" y="0"/>
                </a:moveTo>
                <a:lnTo>
                  <a:pt x="303609" y="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07" name="Line 107"/>
          <p:cNvSpPr/>
          <p:nvPr/>
        </p:nvSpPr>
        <p:spPr>
          <a:xfrm>
            <a:off x="1169194" y="1905000"/>
            <a:ext cx="48" cy="304800"/>
          </a:xfrm>
          <a:custGeom>
            <a:avLst/>
            <a:gdLst/>
            <a:ahLst/>
            <a:cxnLst/>
            <a:rect l="0" t="0" r="r" b="b"/>
            <a:pathLst>
              <a:path w="1" h="304800" fill="none">
                <a:moveTo>
                  <a:pt x="0" y="0"/>
                </a:moveTo>
                <a:lnTo>
                  <a:pt x="0" y="30480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08" name="Line 108"/>
          <p:cNvSpPr/>
          <p:nvPr/>
        </p:nvSpPr>
        <p:spPr>
          <a:xfrm>
            <a:off x="870347" y="2205038"/>
            <a:ext cx="303609" cy="48"/>
          </a:xfrm>
          <a:custGeom>
            <a:avLst/>
            <a:gdLst/>
            <a:ahLst/>
            <a:cxnLst/>
            <a:rect l="0" t="0" r="r" b="b"/>
            <a:pathLst>
              <a:path w="303609" h="1" fill="none">
                <a:moveTo>
                  <a:pt x="0" y="0"/>
                </a:moveTo>
                <a:lnTo>
                  <a:pt x="303609" y="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09" name="Fill 109"/>
          <p:cNvSpPr/>
          <p:nvPr/>
        </p:nvSpPr>
        <p:spPr>
          <a:xfrm>
            <a:off x="1173956" y="1905000"/>
            <a:ext cx="303609" cy="304800"/>
          </a:xfrm>
          <a:prstGeom prst="rect">
            <a:avLst/>
          </a:prstGeom>
          <a:solidFill>
            <a:srgbClr val="174F45"/>
          </a:solidFill>
          <a:ln>
            <a:noFill/>
          </a:ln>
        </p:spPr>
      </p:sp>
      <p:sp xmlns:p14="http://schemas.microsoft.com/office/powerpoint/2010/main">
        <p:nvSpPr>
          <p:cNvPr id="110" name="Line 110"/>
          <p:cNvSpPr/>
          <p:nvPr/>
        </p:nvSpPr>
        <p:spPr>
          <a:xfrm>
            <a:off x="1173956" y="1909762"/>
            <a:ext cx="303609" cy="48"/>
          </a:xfrm>
          <a:custGeom>
            <a:avLst/>
            <a:gdLst/>
            <a:ahLst/>
            <a:cxnLst/>
            <a:rect l="0" t="0" r="r" b="b"/>
            <a:pathLst>
              <a:path w="303609" h="1" fill="none">
                <a:moveTo>
                  <a:pt x="0" y="0"/>
                </a:moveTo>
                <a:lnTo>
                  <a:pt x="303609" y="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11" name="Line 111"/>
          <p:cNvSpPr/>
          <p:nvPr/>
        </p:nvSpPr>
        <p:spPr>
          <a:xfrm>
            <a:off x="1472803" y="1905000"/>
            <a:ext cx="48" cy="304800"/>
          </a:xfrm>
          <a:custGeom>
            <a:avLst/>
            <a:gdLst/>
            <a:ahLst/>
            <a:cxnLst/>
            <a:rect l="0" t="0" r="r" b="b"/>
            <a:pathLst>
              <a:path w="1" h="304800" fill="none">
                <a:moveTo>
                  <a:pt x="0" y="0"/>
                </a:moveTo>
                <a:lnTo>
                  <a:pt x="0" y="30480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12" name="Line 112"/>
          <p:cNvSpPr/>
          <p:nvPr/>
        </p:nvSpPr>
        <p:spPr>
          <a:xfrm>
            <a:off x="1173956" y="2205038"/>
            <a:ext cx="303609" cy="48"/>
          </a:xfrm>
          <a:custGeom>
            <a:avLst/>
            <a:gdLst/>
            <a:ahLst/>
            <a:cxnLst/>
            <a:rect l="0" t="0" r="r" b="b"/>
            <a:pathLst>
              <a:path w="303609" h="1" fill="none">
                <a:moveTo>
                  <a:pt x="0" y="0"/>
                </a:moveTo>
                <a:lnTo>
                  <a:pt x="303609" y="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13" name="Fill 113"/>
          <p:cNvSpPr/>
          <p:nvPr/>
        </p:nvSpPr>
        <p:spPr>
          <a:xfrm>
            <a:off x="1477566" y="1905000"/>
            <a:ext cx="303609" cy="304800"/>
          </a:xfrm>
          <a:prstGeom prst="rect">
            <a:avLst/>
          </a:prstGeom>
          <a:solidFill>
            <a:srgbClr val="174F45"/>
          </a:solidFill>
          <a:ln>
            <a:noFill/>
          </a:ln>
        </p:spPr>
      </p:sp>
      <p:sp xmlns:p14="http://schemas.microsoft.com/office/powerpoint/2010/main">
        <p:nvSpPr>
          <p:cNvPr id="114" name="Line 114"/>
          <p:cNvSpPr/>
          <p:nvPr/>
        </p:nvSpPr>
        <p:spPr>
          <a:xfrm>
            <a:off x="1477566" y="1909762"/>
            <a:ext cx="303609" cy="48"/>
          </a:xfrm>
          <a:custGeom>
            <a:avLst/>
            <a:gdLst/>
            <a:ahLst/>
            <a:cxnLst/>
            <a:rect l="0" t="0" r="r" b="b"/>
            <a:pathLst>
              <a:path w="303609" h="1" fill="none">
                <a:moveTo>
                  <a:pt x="0" y="0"/>
                </a:moveTo>
                <a:lnTo>
                  <a:pt x="303609" y="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15" name="Line 115"/>
          <p:cNvSpPr/>
          <p:nvPr/>
        </p:nvSpPr>
        <p:spPr>
          <a:xfrm>
            <a:off x="1776412" y="1905000"/>
            <a:ext cx="48" cy="304800"/>
          </a:xfrm>
          <a:custGeom>
            <a:avLst/>
            <a:gdLst/>
            <a:ahLst/>
            <a:cxnLst/>
            <a:rect l="0" t="0" r="r" b="b"/>
            <a:pathLst>
              <a:path w="1" h="304800" fill="none">
                <a:moveTo>
                  <a:pt x="0" y="0"/>
                </a:moveTo>
                <a:lnTo>
                  <a:pt x="0" y="30480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16" name="Line 116"/>
          <p:cNvSpPr/>
          <p:nvPr/>
        </p:nvSpPr>
        <p:spPr>
          <a:xfrm>
            <a:off x="1477566" y="2205038"/>
            <a:ext cx="303609" cy="48"/>
          </a:xfrm>
          <a:custGeom>
            <a:avLst/>
            <a:gdLst/>
            <a:ahLst/>
            <a:cxnLst/>
            <a:rect l="0" t="0" r="r" b="b"/>
            <a:pathLst>
              <a:path w="303609" h="1" fill="none">
                <a:moveTo>
                  <a:pt x="0" y="0"/>
                </a:moveTo>
                <a:lnTo>
                  <a:pt x="303609" y="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17" name="Fill 117"/>
          <p:cNvSpPr/>
          <p:nvPr/>
        </p:nvSpPr>
        <p:spPr>
          <a:xfrm>
            <a:off x="1781175" y="1905000"/>
            <a:ext cx="303609" cy="304800"/>
          </a:xfrm>
          <a:prstGeom prst="rect">
            <a:avLst/>
          </a:prstGeom>
          <a:solidFill>
            <a:srgbClr val="174F45"/>
          </a:solidFill>
          <a:ln>
            <a:noFill/>
          </a:ln>
        </p:spPr>
      </p:sp>
      <p:sp xmlns:p14="http://schemas.microsoft.com/office/powerpoint/2010/main">
        <p:nvSpPr>
          <p:cNvPr id="118" name="Line 118"/>
          <p:cNvSpPr/>
          <p:nvPr/>
        </p:nvSpPr>
        <p:spPr>
          <a:xfrm>
            <a:off x="1781175" y="1909762"/>
            <a:ext cx="303609" cy="48"/>
          </a:xfrm>
          <a:custGeom>
            <a:avLst/>
            <a:gdLst/>
            <a:ahLst/>
            <a:cxnLst/>
            <a:rect l="0" t="0" r="r" b="b"/>
            <a:pathLst>
              <a:path w="303609" h="1" fill="none">
                <a:moveTo>
                  <a:pt x="0" y="0"/>
                </a:moveTo>
                <a:lnTo>
                  <a:pt x="303609" y="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19" name="Line 119"/>
          <p:cNvSpPr/>
          <p:nvPr/>
        </p:nvSpPr>
        <p:spPr>
          <a:xfrm>
            <a:off x="2080022" y="1905000"/>
            <a:ext cx="48" cy="304800"/>
          </a:xfrm>
          <a:custGeom>
            <a:avLst/>
            <a:gdLst/>
            <a:ahLst/>
            <a:cxnLst/>
            <a:rect l="0" t="0" r="r" b="b"/>
            <a:pathLst>
              <a:path w="1" h="304800" fill="none">
                <a:moveTo>
                  <a:pt x="0" y="0"/>
                </a:moveTo>
                <a:lnTo>
                  <a:pt x="0" y="30480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20" name="Line 120"/>
          <p:cNvSpPr/>
          <p:nvPr/>
        </p:nvSpPr>
        <p:spPr>
          <a:xfrm>
            <a:off x="1781175" y="2205038"/>
            <a:ext cx="303609" cy="48"/>
          </a:xfrm>
          <a:custGeom>
            <a:avLst/>
            <a:gdLst/>
            <a:ahLst/>
            <a:cxnLst/>
            <a:rect l="0" t="0" r="r" b="b"/>
            <a:pathLst>
              <a:path w="303609" h="1" fill="none">
                <a:moveTo>
                  <a:pt x="0" y="0"/>
                </a:moveTo>
                <a:lnTo>
                  <a:pt x="303609" y="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21" name="Fill 121"/>
          <p:cNvSpPr/>
          <p:nvPr/>
        </p:nvSpPr>
        <p:spPr>
          <a:xfrm>
            <a:off x="2084784" y="1905000"/>
            <a:ext cx="303609" cy="304800"/>
          </a:xfrm>
          <a:prstGeom prst="rect">
            <a:avLst/>
          </a:prstGeom>
          <a:solidFill>
            <a:srgbClr val="174F45"/>
          </a:solidFill>
          <a:ln>
            <a:noFill/>
          </a:ln>
        </p:spPr>
      </p:sp>
      <p:sp xmlns:p14="http://schemas.microsoft.com/office/powerpoint/2010/main">
        <p:nvSpPr>
          <p:cNvPr id="122" name="Line 122"/>
          <p:cNvSpPr/>
          <p:nvPr/>
        </p:nvSpPr>
        <p:spPr>
          <a:xfrm>
            <a:off x="2084784" y="1909762"/>
            <a:ext cx="303609" cy="48"/>
          </a:xfrm>
          <a:custGeom>
            <a:avLst/>
            <a:gdLst/>
            <a:ahLst/>
            <a:cxnLst/>
            <a:rect l="0" t="0" r="r" b="b"/>
            <a:pathLst>
              <a:path w="303609" h="1" fill="none">
                <a:moveTo>
                  <a:pt x="0" y="0"/>
                </a:moveTo>
                <a:lnTo>
                  <a:pt x="303609" y="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23" name="Line 123"/>
          <p:cNvSpPr/>
          <p:nvPr/>
        </p:nvSpPr>
        <p:spPr>
          <a:xfrm>
            <a:off x="2383631" y="1905000"/>
            <a:ext cx="48" cy="304800"/>
          </a:xfrm>
          <a:custGeom>
            <a:avLst/>
            <a:gdLst/>
            <a:ahLst/>
            <a:cxnLst/>
            <a:rect l="0" t="0" r="r" b="b"/>
            <a:pathLst>
              <a:path w="1" h="304800" fill="none">
                <a:moveTo>
                  <a:pt x="0" y="0"/>
                </a:moveTo>
                <a:lnTo>
                  <a:pt x="0" y="30480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24" name="Line 124"/>
          <p:cNvSpPr/>
          <p:nvPr/>
        </p:nvSpPr>
        <p:spPr>
          <a:xfrm>
            <a:off x="2084784" y="2205038"/>
            <a:ext cx="303609" cy="48"/>
          </a:xfrm>
          <a:custGeom>
            <a:avLst/>
            <a:gdLst/>
            <a:ahLst/>
            <a:cxnLst/>
            <a:rect l="0" t="0" r="r" b="b"/>
            <a:pathLst>
              <a:path w="303609" h="1" fill="none">
                <a:moveTo>
                  <a:pt x="0" y="0"/>
                </a:moveTo>
                <a:lnTo>
                  <a:pt x="303609" y="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25" name="Fill 125"/>
          <p:cNvSpPr/>
          <p:nvPr/>
        </p:nvSpPr>
        <p:spPr>
          <a:xfrm>
            <a:off x="2388394" y="1905000"/>
            <a:ext cx="303609" cy="304800"/>
          </a:xfrm>
          <a:prstGeom prst="rect">
            <a:avLst/>
          </a:prstGeom>
          <a:solidFill>
            <a:srgbClr val="174F45"/>
          </a:solidFill>
          <a:ln>
            <a:noFill/>
          </a:ln>
        </p:spPr>
      </p:sp>
      <p:sp xmlns:p14="http://schemas.microsoft.com/office/powerpoint/2010/main">
        <p:nvSpPr>
          <p:cNvPr id="126" name="Line 126"/>
          <p:cNvSpPr/>
          <p:nvPr/>
        </p:nvSpPr>
        <p:spPr>
          <a:xfrm>
            <a:off x="2388394" y="1909762"/>
            <a:ext cx="303609" cy="48"/>
          </a:xfrm>
          <a:custGeom>
            <a:avLst/>
            <a:gdLst/>
            <a:ahLst/>
            <a:cxnLst/>
            <a:rect l="0" t="0" r="r" b="b"/>
            <a:pathLst>
              <a:path w="303609" h="1" fill="none">
                <a:moveTo>
                  <a:pt x="0" y="0"/>
                </a:moveTo>
                <a:lnTo>
                  <a:pt x="303609" y="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27" name="Line 127"/>
          <p:cNvSpPr/>
          <p:nvPr/>
        </p:nvSpPr>
        <p:spPr>
          <a:xfrm>
            <a:off x="2687241" y="1905000"/>
            <a:ext cx="48" cy="304800"/>
          </a:xfrm>
          <a:custGeom>
            <a:avLst/>
            <a:gdLst/>
            <a:ahLst/>
            <a:cxnLst/>
            <a:rect l="0" t="0" r="r" b="b"/>
            <a:pathLst>
              <a:path w="1" h="304800" fill="none">
                <a:moveTo>
                  <a:pt x="0" y="0"/>
                </a:moveTo>
                <a:lnTo>
                  <a:pt x="0" y="30480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28" name="Line 128"/>
          <p:cNvSpPr/>
          <p:nvPr/>
        </p:nvSpPr>
        <p:spPr>
          <a:xfrm>
            <a:off x="2388394" y="2205038"/>
            <a:ext cx="303609" cy="48"/>
          </a:xfrm>
          <a:custGeom>
            <a:avLst/>
            <a:gdLst/>
            <a:ahLst/>
            <a:cxnLst/>
            <a:rect l="0" t="0" r="r" b="b"/>
            <a:pathLst>
              <a:path w="303609" h="1" fill="none">
                <a:moveTo>
                  <a:pt x="0" y="0"/>
                </a:moveTo>
                <a:lnTo>
                  <a:pt x="303609" y="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29" name="Fill 129"/>
          <p:cNvSpPr/>
          <p:nvPr/>
        </p:nvSpPr>
        <p:spPr>
          <a:xfrm>
            <a:off x="2692003" y="1905000"/>
            <a:ext cx="303609" cy="304800"/>
          </a:xfrm>
          <a:prstGeom prst="rect">
            <a:avLst/>
          </a:prstGeom>
          <a:solidFill>
            <a:srgbClr val="174F45"/>
          </a:solidFill>
          <a:ln>
            <a:noFill/>
          </a:ln>
        </p:spPr>
      </p:sp>
      <p:sp xmlns:p14="http://schemas.microsoft.com/office/powerpoint/2010/main">
        <p:nvSpPr>
          <p:cNvPr id="130" name="Line 130"/>
          <p:cNvSpPr/>
          <p:nvPr/>
        </p:nvSpPr>
        <p:spPr>
          <a:xfrm>
            <a:off x="2692003" y="1909762"/>
            <a:ext cx="303609" cy="48"/>
          </a:xfrm>
          <a:custGeom>
            <a:avLst/>
            <a:gdLst/>
            <a:ahLst/>
            <a:cxnLst/>
            <a:rect l="0" t="0" r="r" b="b"/>
            <a:pathLst>
              <a:path w="303609" h="1" fill="none">
                <a:moveTo>
                  <a:pt x="0" y="0"/>
                </a:moveTo>
                <a:lnTo>
                  <a:pt x="303609" y="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31" name="Line 131"/>
          <p:cNvSpPr/>
          <p:nvPr/>
        </p:nvSpPr>
        <p:spPr>
          <a:xfrm>
            <a:off x="2990850" y="1905000"/>
            <a:ext cx="48" cy="304800"/>
          </a:xfrm>
          <a:custGeom>
            <a:avLst/>
            <a:gdLst/>
            <a:ahLst/>
            <a:cxnLst/>
            <a:rect l="0" t="0" r="r" b="b"/>
            <a:pathLst>
              <a:path w="1" h="304800" fill="none">
                <a:moveTo>
                  <a:pt x="0" y="0"/>
                </a:moveTo>
                <a:lnTo>
                  <a:pt x="0" y="30480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32" name="Line 132"/>
          <p:cNvSpPr/>
          <p:nvPr/>
        </p:nvSpPr>
        <p:spPr>
          <a:xfrm>
            <a:off x="2692003" y="2205038"/>
            <a:ext cx="303609" cy="48"/>
          </a:xfrm>
          <a:custGeom>
            <a:avLst/>
            <a:gdLst/>
            <a:ahLst/>
            <a:cxnLst/>
            <a:rect l="0" t="0" r="r" b="b"/>
            <a:pathLst>
              <a:path w="303609" h="1" fill="none">
                <a:moveTo>
                  <a:pt x="0" y="0"/>
                </a:moveTo>
                <a:lnTo>
                  <a:pt x="303609" y="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33" name="Text 133"/>
          <p:cNvSpPr txBox="1"/>
          <p:nvPr/>
        </p:nvSpPr>
        <p:spPr>
          <a:xfrm>
            <a:off x="557212" y="2321137"/>
            <a:ext cx="3168015" cy="5868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8 Б на ключ, подряд</a:t>
            </a:r>
            <a:b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0 аллокаций</a:t>
            </a:r>
            <a:b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unique — на месте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4" name="Text 134"/>
          <p:cNvSpPr txBox="1"/>
          <p:nvPr/>
        </p:nvSpPr>
        <p:spPr>
          <a:xfrm>
            <a:off x="3910012" y="1572768"/>
            <a:ext cx="4737735" cy="2247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buNone/>
            </a:pPr>
            <a:r>
              <a:rPr lang="ru-RU" sz="1350" b="1" i="0" dirty="0">
                <a:solidFill>
                  <a:srgbClr val="E2489B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unordered_set</a:t>
            </a:r>
            <a:endParaRPr lang="ru-RU" sz="1350" b="1" i="0" dirty="0">
              <a:solidFill>
                <a:srgbClr val="E2489B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35" name="Box 135"/>
          <p:cNvSpPr/>
          <p:nvPr/>
        </p:nvSpPr>
        <p:spPr>
          <a:xfrm>
            <a:off x="3914775" y="1909762"/>
            <a:ext cx="455637" cy="295275"/>
          </a:xfrm>
          <a:prstGeom prst="rect">
            <a:avLst/>
          </a:prstGeom>
          <a:solidFill>
            <a:srgbClr val="5E1C42"/>
          </a:solidFill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36" name="Fill 136"/>
          <p:cNvSpPr/>
          <p:nvPr/>
        </p:nvSpPr>
        <p:spPr>
          <a:xfrm>
            <a:off x="4375175" y="1905000"/>
            <a:ext cx="455637" cy="304800"/>
          </a:xfrm>
          <a:prstGeom prst="rect">
            <a:avLst/>
          </a:prstGeom>
          <a:solidFill>
            <a:srgbClr val="5E1C42"/>
          </a:solidFill>
          <a:ln>
            <a:noFill/>
          </a:ln>
        </p:spPr>
      </p:sp>
      <p:sp xmlns:p14="http://schemas.microsoft.com/office/powerpoint/2010/main">
        <p:nvSpPr>
          <p:cNvPr id="137" name="Line 137"/>
          <p:cNvSpPr/>
          <p:nvPr/>
        </p:nvSpPr>
        <p:spPr>
          <a:xfrm>
            <a:off x="4375175" y="1909762"/>
            <a:ext cx="455637" cy="48"/>
          </a:xfrm>
          <a:custGeom>
            <a:avLst/>
            <a:gdLst/>
            <a:ahLst/>
            <a:cxnLst/>
            <a:rect l="0" t="0" r="r" b="b"/>
            <a:pathLst>
              <a:path w="455637" h="1" fill="none">
                <a:moveTo>
                  <a:pt x="0" y="0"/>
                </a:moveTo>
                <a:lnTo>
                  <a:pt x="455637" y="0"/>
                </a:lnTo>
              </a:path>
            </a:pathLst>
          </a:custGeom>
          <a:noFill/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38" name="Line 138"/>
          <p:cNvSpPr/>
          <p:nvPr/>
        </p:nvSpPr>
        <p:spPr>
          <a:xfrm>
            <a:off x="4826050" y="1905000"/>
            <a:ext cx="48" cy="304800"/>
          </a:xfrm>
          <a:custGeom>
            <a:avLst/>
            <a:gdLst/>
            <a:ahLst/>
            <a:cxnLst/>
            <a:rect l="0" t="0" r="r" b="b"/>
            <a:pathLst>
              <a:path w="1" h="304800" fill="none">
                <a:moveTo>
                  <a:pt x="0" y="0"/>
                </a:moveTo>
                <a:lnTo>
                  <a:pt x="0" y="304800"/>
                </a:lnTo>
              </a:path>
            </a:pathLst>
          </a:custGeom>
          <a:noFill/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39" name="Line 139"/>
          <p:cNvSpPr/>
          <p:nvPr/>
        </p:nvSpPr>
        <p:spPr>
          <a:xfrm>
            <a:off x="4375175" y="2205038"/>
            <a:ext cx="455637" cy="48"/>
          </a:xfrm>
          <a:custGeom>
            <a:avLst/>
            <a:gdLst/>
            <a:ahLst/>
            <a:cxnLst/>
            <a:rect l="0" t="0" r="r" b="b"/>
            <a:pathLst>
              <a:path w="455637" h="1" fill="none">
                <a:moveTo>
                  <a:pt x="0" y="0"/>
                </a:moveTo>
                <a:lnTo>
                  <a:pt x="455637" y="0"/>
                </a:lnTo>
              </a:path>
            </a:pathLst>
          </a:custGeom>
          <a:noFill/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40" name="Fill 140"/>
          <p:cNvSpPr/>
          <p:nvPr/>
        </p:nvSpPr>
        <p:spPr>
          <a:xfrm>
            <a:off x="4830812" y="1905000"/>
            <a:ext cx="455637" cy="304800"/>
          </a:xfrm>
          <a:prstGeom prst="rect">
            <a:avLst/>
          </a:prstGeom>
          <a:solidFill>
            <a:srgbClr val="5E1C42"/>
          </a:solidFill>
          <a:ln>
            <a:noFill/>
          </a:ln>
        </p:spPr>
      </p:sp>
      <p:sp xmlns:p14="http://schemas.microsoft.com/office/powerpoint/2010/main">
        <p:nvSpPr>
          <p:cNvPr id="141" name="Line 141"/>
          <p:cNvSpPr/>
          <p:nvPr/>
        </p:nvSpPr>
        <p:spPr>
          <a:xfrm>
            <a:off x="4830812" y="1909762"/>
            <a:ext cx="455637" cy="48"/>
          </a:xfrm>
          <a:custGeom>
            <a:avLst/>
            <a:gdLst/>
            <a:ahLst/>
            <a:cxnLst/>
            <a:rect l="0" t="0" r="r" b="b"/>
            <a:pathLst>
              <a:path w="455637" h="1" fill="none">
                <a:moveTo>
                  <a:pt x="0" y="0"/>
                </a:moveTo>
                <a:lnTo>
                  <a:pt x="455637" y="0"/>
                </a:lnTo>
              </a:path>
            </a:pathLst>
          </a:custGeom>
          <a:noFill/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42" name="Line 142"/>
          <p:cNvSpPr/>
          <p:nvPr/>
        </p:nvSpPr>
        <p:spPr>
          <a:xfrm>
            <a:off x="5281687" y="1905000"/>
            <a:ext cx="48" cy="304800"/>
          </a:xfrm>
          <a:custGeom>
            <a:avLst/>
            <a:gdLst/>
            <a:ahLst/>
            <a:cxnLst/>
            <a:rect l="0" t="0" r="r" b="b"/>
            <a:pathLst>
              <a:path w="1" h="304800" fill="none">
                <a:moveTo>
                  <a:pt x="0" y="0"/>
                </a:moveTo>
                <a:lnTo>
                  <a:pt x="0" y="304800"/>
                </a:lnTo>
              </a:path>
            </a:pathLst>
          </a:custGeom>
          <a:noFill/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43" name="Line 143"/>
          <p:cNvSpPr/>
          <p:nvPr/>
        </p:nvSpPr>
        <p:spPr>
          <a:xfrm>
            <a:off x="4830812" y="2205038"/>
            <a:ext cx="455637" cy="48"/>
          </a:xfrm>
          <a:custGeom>
            <a:avLst/>
            <a:gdLst/>
            <a:ahLst/>
            <a:cxnLst/>
            <a:rect l="0" t="0" r="r" b="b"/>
            <a:pathLst>
              <a:path w="455637" h="1" fill="none">
                <a:moveTo>
                  <a:pt x="0" y="0"/>
                </a:moveTo>
                <a:lnTo>
                  <a:pt x="455637" y="0"/>
                </a:lnTo>
              </a:path>
            </a:pathLst>
          </a:custGeom>
          <a:noFill/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44" name="Fill 144"/>
          <p:cNvSpPr/>
          <p:nvPr/>
        </p:nvSpPr>
        <p:spPr>
          <a:xfrm>
            <a:off x="5286449" y="1905000"/>
            <a:ext cx="455637" cy="304800"/>
          </a:xfrm>
          <a:prstGeom prst="rect">
            <a:avLst/>
          </a:prstGeom>
          <a:solidFill>
            <a:srgbClr val="5E1C42"/>
          </a:solidFill>
          <a:ln>
            <a:noFill/>
          </a:ln>
        </p:spPr>
      </p:sp>
      <p:sp xmlns:p14="http://schemas.microsoft.com/office/powerpoint/2010/main">
        <p:nvSpPr>
          <p:cNvPr id="145" name="Line 145"/>
          <p:cNvSpPr/>
          <p:nvPr/>
        </p:nvSpPr>
        <p:spPr>
          <a:xfrm>
            <a:off x="5286449" y="1909762"/>
            <a:ext cx="455637" cy="48"/>
          </a:xfrm>
          <a:custGeom>
            <a:avLst/>
            <a:gdLst/>
            <a:ahLst/>
            <a:cxnLst/>
            <a:rect l="0" t="0" r="r" b="b"/>
            <a:pathLst>
              <a:path w="455637" h="1" fill="none">
                <a:moveTo>
                  <a:pt x="0" y="0"/>
                </a:moveTo>
                <a:lnTo>
                  <a:pt x="455637" y="0"/>
                </a:lnTo>
              </a:path>
            </a:pathLst>
          </a:custGeom>
          <a:noFill/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46" name="Line 146"/>
          <p:cNvSpPr/>
          <p:nvPr/>
        </p:nvSpPr>
        <p:spPr>
          <a:xfrm>
            <a:off x="5737324" y="1905000"/>
            <a:ext cx="48" cy="304800"/>
          </a:xfrm>
          <a:custGeom>
            <a:avLst/>
            <a:gdLst/>
            <a:ahLst/>
            <a:cxnLst/>
            <a:rect l="0" t="0" r="r" b="b"/>
            <a:pathLst>
              <a:path w="1" h="304800" fill="none">
                <a:moveTo>
                  <a:pt x="0" y="0"/>
                </a:moveTo>
                <a:lnTo>
                  <a:pt x="0" y="304800"/>
                </a:lnTo>
              </a:path>
            </a:pathLst>
          </a:custGeom>
          <a:noFill/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47" name="Line 147"/>
          <p:cNvSpPr/>
          <p:nvPr/>
        </p:nvSpPr>
        <p:spPr>
          <a:xfrm>
            <a:off x="5286449" y="2205038"/>
            <a:ext cx="455637" cy="48"/>
          </a:xfrm>
          <a:custGeom>
            <a:avLst/>
            <a:gdLst/>
            <a:ahLst/>
            <a:cxnLst/>
            <a:rect l="0" t="0" r="r" b="b"/>
            <a:pathLst>
              <a:path w="455637" h="1" fill="none">
                <a:moveTo>
                  <a:pt x="0" y="0"/>
                </a:moveTo>
                <a:lnTo>
                  <a:pt x="455637" y="0"/>
                </a:lnTo>
              </a:path>
            </a:pathLst>
          </a:custGeom>
          <a:noFill/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48" name="Fill 148"/>
          <p:cNvSpPr/>
          <p:nvPr/>
        </p:nvSpPr>
        <p:spPr>
          <a:xfrm>
            <a:off x="5742087" y="1905000"/>
            <a:ext cx="455637" cy="304800"/>
          </a:xfrm>
          <a:prstGeom prst="rect">
            <a:avLst/>
          </a:prstGeom>
          <a:solidFill>
            <a:srgbClr val="5E1C42"/>
          </a:solidFill>
          <a:ln>
            <a:noFill/>
          </a:ln>
        </p:spPr>
      </p:sp>
      <p:sp xmlns:p14="http://schemas.microsoft.com/office/powerpoint/2010/main">
        <p:nvSpPr>
          <p:cNvPr id="149" name="Line 149"/>
          <p:cNvSpPr/>
          <p:nvPr/>
        </p:nvSpPr>
        <p:spPr>
          <a:xfrm>
            <a:off x="5742087" y="1909762"/>
            <a:ext cx="455637" cy="48"/>
          </a:xfrm>
          <a:custGeom>
            <a:avLst/>
            <a:gdLst/>
            <a:ahLst/>
            <a:cxnLst/>
            <a:rect l="0" t="0" r="r" b="b"/>
            <a:pathLst>
              <a:path w="455637" h="1" fill="none">
                <a:moveTo>
                  <a:pt x="0" y="0"/>
                </a:moveTo>
                <a:lnTo>
                  <a:pt x="455637" y="0"/>
                </a:lnTo>
              </a:path>
            </a:pathLst>
          </a:custGeom>
          <a:noFill/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50" name="Line 150"/>
          <p:cNvSpPr/>
          <p:nvPr/>
        </p:nvSpPr>
        <p:spPr>
          <a:xfrm>
            <a:off x="6192962" y="1905000"/>
            <a:ext cx="48" cy="304800"/>
          </a:xfrm>
          <a:custGeom>
            <a:avLst/>
            <a:gdLst/>
            <a:ahLst/>
            <a:cxnLst/>
            <a:rect l="0" t="0" r="r" b="b"/>
            <a:pathLst>
              <a:path w="1" h="304800" fill="none">
                <a:moveTo>
                  <a:pt x="0" y="0"/>
                </a:moveTo>
                <a:lnTo>
                  <a:pt x="0" y="304800"/>
                </a:lnTo>
              </a:path>
            </a:pathLst>
          </a:custGeom>
          <a:noFill/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51" name="Line 151"/>
          <p:cNvSpPr/>
          <p:nvPr/>
        </p:nvSpPr>
        <p:spPr>
          <a:xfrm>
            <a:off x="5742087" y="2205038"/>
            <a:ext cx="455637" cy="48"/>
          </a:xfrm>
          <a:custGeom>
            <a:avLst/>
            <a:gdLst/>
            <a:ahLst/>
            <a:cxnLst/>
            <a:rect l="0" t="0" r="r" b="b"/>
            <a:pathLst>
              <a:path w="455637" h="1" fill="none">
                <a:moveTo>
                  <a:pt x="0" y="0"/>
                </a:moveTo>
                <a:lnTo>
                  <a:pt x="455637" y="0"/>
                </a:lnTo>
              </a:path>
            </a:pathLst>
          </a:custGeom>
          <a:noFill/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52" name="Fill 152"/>
          <p:cNvSpPr/>
          <p:nvPr/>
        </p:nvSpPr>
        <p:spPr>
          <a:xfrm>
            <a:off x="6197724" y="1905000"/>
            <a:ext cx="455637" cy="304800"/>
          </a:xfrm>
          <a:prstGeom prst="rect">
            <a:avLst/>
          </a:prstGeom>
          <a:solidFill>
            <a:srgbClr val="5E1C42"/>
          </a:solidFill>
          <a:ln>
            <a:noFill/>
          </a:ln>
        </p:spPr>
      </p:sp>
      <p:sp xmlns:p14="http://schemas.microsoft.com/office/powerpoint/2010/main">
        <p:nvSpPr>
          <p:cNvPr id="153" name="Line 153"/>
          <p:cNvSpPr/>
          <p:nvPr/>
        </p:nvSpPr>
        <p:spPr>
          <a:xfrm>
            <a:off x="6197724" y="1909762"/>
            <a:ext cx="455637" cy="48"/>
          </a:xfrm>
          <a:custGeom>
            <a:avLst/>
            <a:gdLst/>
            <a:ahLst/>
            <a:cxnLst/>
            <a:rect l="0" t="0" r="r" b="b"/>
            <a:pathLst>
              <a:path w="455637" h="1" fill="none">
                <a:moveTo>
                  <a:pt x="0" y="0"/>
                </a:moveTo>
                <a:lnTo>
                  <a:pt x="455637" y="0"/>
                </a:lnTo>
              </a:path>
            </a:pathLst>
          </a:custGeom>
          <a:noFill/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54" name="Line 154"/>
          <p:cNvSpPr/>
          <p:nvPr/>
        </p:nvSpPr>
        <p:spPr>
          <a:xfrm>
            <a:off x="6648599" y="1905000"/>
            <a:ext cx="48" cy="304800"/>
          </a:xfrm>
          <a:custGeom>
            <a:avLst/>
            <a:gdLst/>
            <a:ahLst/>
            <a:cxnLst/>
            <a:rect l="0" t="0" r="r" b="b"/>
            <a:pathLst>
              <a:path w="1" h="304800" fill="none">
                <a:moveTo>
                  <a:pt x="0" y="0"/>
                </a:moveTo>
                <a:lnTo>
                  <a:pt x="0" y="304800"/>
                </a:lnTo>
              </a:path>
            </a:pathLst>
          </a:custGeom>
          <a:noFill/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55" name="Line 155"/>
          <p:cNvSpPr/>
          <p:nvPr/>
        </p:nvSpPr>
        <p:spPr>
          <a:xfrm>
            <a:off x="6197724" y="2205038"/>
            <a:ext cx="455637" cy="48"/>
          </a:xfrm>
          <a:custGeom>
            <a:avLst/>
            <a:gdLst/>
            <a:ahLst/>
            <a:cxnLst/>
            <a:rect l="0" t="0" r="r" b="b"/>
            <a:pathLst>
              <a:path w="455637" h="1" fill="none">
                <a:moveTo>
                  <a:pt x="0" y="0"/>
                </a:moveTo>
                <a:lnTo>
                  <a:pt x="455637" y="0"/>
                </a:lnTo>
              </a:path>
            </a:pathLst>
          </a:custGeom>
          <a:noFill/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56" name="Text 156"/>
          <p:cNvSpPr txBox="1"/>
          <p:nvPr/>
        </p:nvSpPr>
        <p:spPr>
          <a:xfrm>
            <a:off x="6767512" y="1970816"/>
            <a:ext cx="1794510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массив ячеек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 xmlns:p14="http://schemas.microsoft.com/office/powerpoint/2010/main">
        <p:nvGrpSpPr>
          <p:cNvPr id="165" name="Chart 165"/>
          <p:cNvGrpSpPr/>
          <p:nvPr/>
        </p:nvGrpSpPr>
        <p:grpSpPr>
          <a:xfrm>
            <a:off x="4095750" y="2185988"/>
            <a:ext cx="2886551" cy="1610677"/>
            <a:chOff x="4095750" y="2185988"/>
            <a:chExt cx="2886551" cy="1610677"/>
          </a:xfrm>
        </p:grpSpPr>
        <p:sp>
          <p:nvSpPr>
            <p:cNvPr id="157" name="Dot 157"/>
            <p:cNvSpPr/>
            <p:nvPr/>
          </p:nvSpPr>
          <p:spPr>
            <a:xfrm>
              <a:off x="4114800" y="2185988"/>
              <a:ext cx="47625" cy="47625"/>
            </a:xfrm>
            <a:prstGeom prst="ellipse">
              <a:avLst/>
            </a:prstGeom>
            <a:solidFill>
              <a:srgbClr val="E2489B"/>
            </a:solidFill>
            <a:ln>
              <a:noFill/>
            </a:ln>
          </p:spPr>
        </p:sp>
        <p:sp>
          <p:nvSpPr>
            <p:cNvPr id="158" name="Path 158"/>
            <p:cNvSpPr/>
            <p:nvPr/>
          </p:nvSpPr>
          <p:spPr>
            <a:xfrm>
              <a:off x="4138612" y="2209800"/>
              <a:ext cx="1" cy="252412"/>
            </a:xfrm>
            <a:custGeom>
              <a:avLst/>
              <a:gdLst/>
              <a:ahLst/>
              <a:cxnLst/>
              <a:rect l="0" t="0" r="r" b="b"/>
              <a:pathLst>
                <a:path w="1" h="252412" fill="none">
                  <a:moveTo>
                    <a:pt x="0" y="0"/>
                  </a:moveTo>
                  <a:lnTo>
                    <a:pt x="0" y="252412"/>
                  </a:lnTo>
                </a:path>
              </a:pathLst>
            </a:custGeom>
            <a:noFill/>
            <a:ln w="14288" cap="rnd">
              <a:solidFill>
                <a:srgbClr val="E2489B"/>
              </a:solidFill>
              <a:tailEnd type="arrow" w="med" len="med"/>
            </a:ln>
          </p:spPr>
        </p:sp>
        <p:sp>
          <p:nvSpPr>
            <p:cNvPr id="159" name="Dot 159"/>
            <p:cNvSpPr/>
            <p:nvPr/>
          </p:nvSpPr>
          <p:spPr>
            <a:xfrm>
              <a:off x="5029200" y="2185988"/>
              <a:ext cx="47625" cy="47625"/>
            </a:xfrm>
            <a:prstGeom prst="ellipse">
              <a:avLst/>
            </a:prstGeom>
            <a:solidFill>
              <a:srgbClr val="E2489B"/>
            </a:solidFill>
            <a:ln>
              <a:noFill/>
            </a:ln>
          </p:spPr>
        </p:sp>
        <p:sp>
          <p:nvSpPr>
            <p:cNvPr id="160" name="Path 160"/>
            <p:cNvSpPr/>
            <p:nvPr/>
          </p:nvSpPr>
          <p:spPr>
            <a:xfrm>
              <a:off x="5053012" y="2209800"/>
              <a:ext cx="601504" cy="873919"/>
            </a:xfrm>
            <a:custGeom>
              <a:avLst/>
              <a:gdLst/>
              <a:ahLst/>
              <a:cxnLst/>
              <a:rect l="0" t="0" r="r" b="b"/>
              <a:pathLst>
                <a:path w="601504" h="873919" fill="none">
                  <a:moveTo>
                    <a:pt x="0" y="0"/>
                  </a:moveTo>
                  <a:lnTo>
                    <a:pt x="601504" y="873919"/>
                  </a:lnTo>
                </a:path>
              </a:pathLst>
            </a:custGeom>
            <a:noFill/>
            <a:ln w="14288" cap="rnd">
              <a:solidFill>
                <a:srgbClr val="E2489B"/>
              </a:solidFill>
              <a:tailEnd type="arrow" w="med" len="med"/>
            </a:ln>
          </p:spPr>
        </p:sp>
        <p:sp>
          <p:nvSpPr>
            <p:cNvPr id="161" name="Dot 161"/>
            <p:cNvSpPr/>
            <p:nvPr/>
          </p:nvSpPr>
          <p:spPr>
            <a:xfrm>
              <a:off x="4095750" y="2719388"/>
              <a:ext cx="47625" cy="47625"/>
            </a:xfrm>
            <a:prstGeom prst="ellipse">
              <a:avLst/>
            </a:prstGeom>
            <a:solidFill>
              <a:srgbClr val="E2489B"/>
            </a:solidFill>
            <a:ln>
              <a:noFill/>
            </a:ln>
          </p:spPr>
        </p:sp>
        <p:sp>
          <p:nvSpPr>
            <p:cNvPr id="162" name="Path 162"/>
            <p:cNvSpPr/>
            <p:nvPr/>
          </p:nvSpPr>
          <p:spPr>
            <a:xfrm>
              <a:off x="4119562" y="2743200"/>
              <a:ext cx="1053941" cy="480060"/>
            </a:xfrm>
            <a:custGeom>
              <a:avLst/>
              <a:gdLst/>
              <a:ahLst/>
              <a:cxnLst/>
              <a:rect l="0" t="0" r="r" b="b"/>
              <a:pathLst>
                <a:path w="1053941" h="480060" fill="none">
                  <a:moveTo>
                    <a:pt x="0" y="0"/>
                  </a:moveTo>
                  <a:lnTo>
                    <a:pt x="1053941" y="480060"/>
                  </a:lnTo>
                </a:path>
              </a:pathLst>
            </a:custGeom>
            <a:noFill/>
            <a:ln w="14288" cap="rnd">
              <a:solidFill>
                <a:srgbClr val="E2489B"/>
              </a:solidFill>
              <a:tailEnd type="arrow" w="med" len="med"/>
            </a:ln>
          </p:spPr>
        </p:sp>
        <p:sp>
          <p:nvSpPr>
            <p:cNvPr id="163" name="Dot 163"/>
            <p:cNvSpPr/>
            <p:nvPr/>
          </p:nvSpPr>
          <p:spPr>
            <a:xfrm>
              <a:off x="5367338" y="3338512"/>
              <a:ext cx="47625" cy="47625"/>
            </a:xfrm>
            <a:prstGeom prst="ellipse">
              <a:avLst/>
            </a:prstGeom>
            <a:solidFill>
              <a:srgbClr val="E2489B"/>
            </a:solidFill>
            <a:ln>
              <a:noFill/>
            </a:ln>
          </p:spPr>
        </p:sp>
        <p:sp>
          <p:nvSpPr>
            <p:cNvPr id="164" name="Path 164"/>
            <p:cNvSpPr/>
            <p:nvPr/>
          </p:nvSpPr>
          <p:spPr>
            <a:xfrm>
              <a:off x="5391150" y="3362325"/>
              <a:ext cx="1591151" cy="434340"/>
            </a:xfrm>
            <a:custGeom>
              <a:avLst/>
              <a:gdLst/>
              <a:ahLst/>
              <a:cxnLst/>
              <a:rect l="0" t="0" r="r" b="b"/>
              <a:pathLst>
                <a:path w="1591151" h="434340" fill="none">
                  <a:moveTo>
                    <a:pt x="0" y="0"/>
                  </a:moveTo>
                  <a:lnTo>
                    <a:pt x="1591151" y="434340"/>
                  </a:lnTo>
                </a:path>
              </a:pathLst>
            </a:custGeom>
            <a:noFill/>
            <a:ln w="14288" cap="rnd">
              <a:solidFill>
                <a:srgbClr val="E2489B"/>
              </a:solidFill>
              <a:tailEnd type="arrow" w="med" len="med"/>
            </a:ln>
          </p:spPr>
        </p:sp>
      </p:grpSp>
      <p:sp xmlns:p14="http://schemas.microsoft.com/office/powerpoint/2010/main">
        <p:nvSpPr>
          <p:cNvPr id="166" name="Box 166"/>
          <p:cNvSpPr/>
          <p:nvPr/>
        </p:nvSpPr>
        <p:spPr>
          <a:xfrm>
            <a:off x="3914775" y="2481262"/>
            <a:ext cx="1247775" cy="257175"/>
          </a:xfrm>
          <a:prstGeom prst="roundRect">
            <a:avLst>
              <a:gd name="adj" fmla="val 14285"/>
            </a:avLst>
          </a:prstGeom>
          <a:solidFill>
            <a:srgbClr val="000000"/>
          </a:solidFill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67" name="Text 167"/>
          <p:cNvSpPr txBox="1"/>
          <p:nvPr/>
        </p:nvSpPr>
        <p:spPr>
          <a:xfrm>
            <a:off x="3899106" y="2432360"/>
            <a:ext cx="450437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next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68" name="Line 168"/>
          <p:cNvSpPr/>
          <p:nvPr/>
        </p:nvSpPr>
        <p:spPr>
          <a:xfrm>
            <a:off x="4331494" y="2486025"/>
            <a:ext cx="48" cy="247650"/>
          </a:xfrm>
          <a:custGeom>
            <a:avLst/>
            <a:gdLst/>
            <a:ahLst/>
            <a:cxnLst/>
            <a:rect l="0" t="0" r="r" b="b"/>
            <a:pathLst>
              <a:path w="1" h="247650" fill="none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4762">
            <a:solidFill>
              <a:srgbClr val="E2489B"/>
            </a:solidFill>
          </a:ln>
        </p:spPr>
      </p:sp>
      <p:sp xmlns:p14="http://schemas.microsoft.com/office/powerpoint/2010/main">
        <p:nvSpPr>
          <p:cNvPr id="169" name="Text 169"/>
          <p:cNvSpPr txBox="1"/>
          <p:nvPr/>
        </p:nvSpPr>
        <p:spPr>
          <a:xfrm>
            <a:off x="4329112" y="2432360"/>
            <a:ext cx="4191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хеш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70" name="Line 170"/>
          <p:cNvSpPr/>
          <p:nvPr/>
        </p:nvSpPr>
        <p:spPr>
          <a:xfrm>
            <a:off x="4745831" y="2486025"/>
            <a:ext cx="48" cy="247650"/>
          </a:xfrm>
          <a:custGeom>
            <a:avLst/>
            <a:gdLst/>
            <a:ahLst/>
            <a:cxnLst/>
            <a:rect l="0" t="0" r="r" b="b"/>
            <a:pathLst>
              <a:path w="1" h="247650" fill="none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4762">
            <a:solidFill>
              <a:srgbClr val="E2489B"/>
            </a:solidFill>
          </a:ln>
        </p:spPr>
      </p:sp>
      <p:sp xmlns:p14="http://schemas.microsoft.com/office/powerpoint/2010/main">
        <p:nvSpPr>
          <p:cNvPr id="171" name="Text 171"/>
          <p:cNvSpPr txBox="1"/>
          <p:nvPr/>
        </p:nvSpPr>
        <p:spPr>
          <a:xfrm>
            <a:off x="4743450" y="2432360"/>
            <a:ext cx="4191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ключ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72" name="Box 172"/>
          <p:cNvSpPr/>
          <p:nvPr/>
        </p:nvSpPr>
        <p:spPr>
          <a:xfrm>
            <a:off x="5191125" y="3100388"/>
            <a:ext cx="1247775" cy="257175"/>
          </a:xfrm>
          <a:prstGeom prst="roundRect">
            <a:avLst>
              <a:gd name="adj" fmla="val 14285"/>
            </a:avLst>
          </a:prstGeom>
          <a:solidFill>
            <a:srgbClr val="000000"/>
          </a:solidFill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73" name="Text 173"/>
          <p:cNvSpPr txBox="1"/>
          <p:nvPr/>
        </p:nvSpPr>
        <p:spPr>
          <a:xfrm>
            <a:off x="5175456" y="3051485"/>
            <a:ext cx="450437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next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74" name="Line 174"/>
          <p:cNvSpPr/>
          <p:nvPr/>
        </p:nvSpPr>
        <p:spPr>
          <a:xfrm>
            <a:off x="5607844" y="3105150"/>
            <a:ext cx="48" cy="247650"/>
          </a:xfrm>
          <a:custGeom>
            <a:avLst/>
            <a:gdLst/>
            <a:ahLst/>
            <a:cxnLst/>
            <a:rect l="0" t="0" r="r" b="b"/>
            <a:pathLst>
              <a:path w="1" h="247650" fill="none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4762">
            <a:solidFill>
              <a:srgbClr val="E2489B"/>
            </a:solidFill>
          </a:ln>
        </p:spPr>
      </p:sp>
      <p:sp xmlns:p14="http://schemas.microsoft.com/office/powerpoint/2010/main">
        <p:nvSpPr>
          <p:cNvPr id="175" name="Text 175"/>
          <p:cNvSpPr txBox="1"/>
          <p:nvPr/>
        </p:nvSpPr>
        <p:spPr>
          <a:xfrm>
            <a:off x="5605462" y="3051485"/>
            <a:ext cx="4191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хеш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76" name="Line 176"/>
          <p:cNvSpPr/>
          <p:nvPr/>
        </p:nvSpPr>
        <p:spPr>
          <a:xfrm>
            <a:off x="6022181" y="3105150"/>
            <a:ext cx="48" cy="247650"/>
          </a:xfrm>
          <a:custGeom>
            <a:avLst/>
            <a:gdLst/>
            <a:ahLst/>
            <a:cxnLst/>
            <a:rect l="0" t="0" r="r" b="b"/>
            <a:pathLst>
              <a:path w="1" h="247650" fill="none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4762">
            <a:solidFill>
              <a:srgbClr val="E2489B"/>
            </a:solidFill>
          </a:ln>
        </p:spPr>
      </p:sp>
      <p:sp xmlns:p14="http://schemas.microsoft.com/office/powerpoint/2010/main">
        <p:nvSpPr>
          <p:cNvPr id="177" name="Text 177"/>
          <p:cNvSpPr txBox="1"/>
          <p:nvPr/>
        </p:nvSpPr>
        <p:spPr>
          <a:xfrm>
            <a:off x="6019800" y="3051485"/>
            <a:ext cx="4191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ключ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78" name="Box 178"/>
          <p:cNvSpPr/>
          <p:nvPr/>
        </p:nvSpPr>
        <p:spPr>
          <a:xfrm>
            <a:off x="7000875" y="3671888"/>
            <a:ext cx="1247775" cy="257175"/>
          </a:xfrm>
          <a:prstGeom prst="roundRect">
            <a:avLst>
              <a:gd name="adj" fmla="val 14285"/>
            </a:avLst>
          </a:prstGeom>
          <a:solidFill>
            <a:srgbClr val="000000"/>
          </a:solidFill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79" name="Text 179"/>
          <p:cNvSpPr txBox="1"/>
          <p:nvPr/>
        </p:nvSpPr>
        <p:spPr>
          <a:xfrm>
            <a:off x="6985206" y="3622985"/>
            <a:ext cx="450437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next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80" name="Line 180"/>
          <p:cNvSpPr/>
          <p:nvPr/>
        </p:nvSpPr>
        <p:spPr>
          <a:xfrm>
            <a:off x="7417594" y="3676650"/>
            <a:ext cx="48" cy="247650"/>
          </a:xfrm>
          <a:custGeom>
            <a:avLst/>
            <a:gdLst/>
            <a:ahLst/>
            <a:cxnLst/>
            <a:rect l="0" t="0" r="r" b="b"/>
            <a:pathLst>
              <a:path w="1" h="247650" fill="none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4762">
            <a:solidFill>
              <a:srgbClr val="E2489B"/>
            </a:solidFill>
          </a:ln>
        </p:spPr>
      </p:sp>
      <p:sp xmlns:p14="http://schemas.microsoft.com/office/powerpoint/2010/main">
        <p:nvSpPr>
          <p:cNvPr id="181" name="Text 181"/>
          <p:cNvSpPr txBox="1"/>
          <p:nvPr/>
        </p:nvSpPr>
        <p:spPr>
          <a:xfrm>
            <a:off x="7415212" y="3622985"/>
            <a:ext cx="4191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хеш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82" name="Line 182"/>
          <p:cNvSpPr/>
          <p:nvPr/>
        </p:nvSpPr>
        <p:spPr>
          <a:xfrm>
            <a:off x="7831931" y="3676650"/>
            <a:ext cx="48" cy="247650"/>
          </a:xfrm>
          <a:custGeom>
            <a:avLst/>
            <a:gdLst/>
            <a:ahLst/>
            <a:cxnLst/>
            <a:rect l="0" t="0" r="r" b="b"/>
            <a:pathLst>
              <a:path w="1" h="247650" fill="none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4762">
            <a:solidFill>
              <a:srgbClr val="E2489B"/>
            </a:solidFill>
          </a:ln>
        </p:spPr>
      </p:sp>
      <p:sp xmlns:p14="http://schemas.microsoft.com/office/powerpoint/2010/main">
        <p:nvSpPr>
          <p:cNvPr id="183" name="Text 183"/>
          <p:cNvSpPr txBox="1"/>
          <p:nvPr/>
        </p:nvSpPr>
        <p:spPr>
          <a:xfrm>
            <a:off x="7829550" y="3622985"/>
            <a:ext cx="4191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950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ключ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84" name="Text 184"/>
          <p:cNvSpPr txBox="1"/>
          <p:nvPr/>
        </p:nvSpPr>
        <p:spPr>
          <a:xfrm>
            <a:off x="5567362" y="2430036"/>
            <a:ext cx="2775585" cy="33802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next + хеш + ключ = 24 Б</a:t>
            </a:r>
            <a:b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→ malloc: 32 Б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85" name="Text 185"/>
          <p:cNvSpPr txBox="1"/>
          <p:nvPr/>
        </p:nvSpPr>
        <p:spPr>
          <a:xfrm>
            <a:off x="6557962" y="3142391"/>
            <a:ext cx="2010346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каждый узел — свой new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86" name="Text 186"/>
          <p:cNvSpPr txBox="1"/>
          <p:nvPr/>
        </p:nvSpPr>
        <p:spPr>
          <a:xfrm>
            <a:off x="3910012" y="4071079"/>
            <a:ext cx="4737735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стандарт: ссылки на элементы переживают rehash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87" name="Line 187"/>
          <p:cNvSpPr/>
          <p:nvPr/>
        </p:nvSpPr>
        <p:spPr>
          <a:xfrm>
            <a:off x="571500" y="3238500"/>
            <a:ext cx="48" cy="378470"/>
          </a:xfrm>
          <a:custGeom>
            <a:avLst/>
            <a:gdLst/>
            <a:ahLst/>
            <a:cxnLst/>
            <a:rect l="0" t="0" r="r" b="b"/>
            <a:pathLst>
              <a:path w="1" h="378470" fill="none">
                <a:moveTo>
                  <a:pt x="0" y="0"/>
                </a:moveTo>
                <a:lnTo>
                  <a:pt x="0" y="378470"/>
                </a:lnTo>
              </a:path>
            </a:pathLst>
          </a:custGeom>
          <a:noFill/>
          <a:ln w="28575">
            <a:solidFill>
              <a:srgbClr val="333333"/>
            </a:solidFill>
          </a:ln>
        </p:spPr>
      </p:sp>
      <p:sp xmlns:p14="http://schemas.microsoft.com/office/powerpoint/2010/main">
        <p:nvSpPr>
          <p:cNvPr id="188" name="Text 188"/>
          <p:cNvSpPr txBox="1"/>
          <p:nvPr/>
        </p:nvSpPr>
        <p:spPr>
          <a:xfrm>
            <a:off x="719138" y="3226012"/>
            <a:ext cx="2895600" cy="3976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buNone/>
            </a:pPr>
            <a:r>
              <a:rPr lang="ru-RU" sz="1104" b="0" i="1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«Discontiguous data structures are the root of all (performance) evil»</a:t>
            </a:r>
            <a:endParaRPr lang="ru-RU" sz="1104" b="0" i="1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89" name="Text 189"/>
          <p:cNvSpPr txBox="1"/>
          <p:nvPr/>
        </p:nvSpPr>
        <p:spPr>
          <a:xfrm>
            <a:off x="719138" y="3918679"/>
            <a:ext cx="3001232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— Chandler Carruth, CppCon 2014</a:t>
            </a:r>
            <a:endParaRPr lang="ru-RU" sz="966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90" name="Text 190"/>
          <p:cNvSpPr txBox="1"/>
          <p:nvPr/>
        </p:nvSpPr>
        <p:spPr>
          <a:xfrm>
            <a:off x="557212" y="4690824"/>
            <a:ext cx="7936039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схема устройства, не трасса · размеры узлов подтверждены счётчиком аллокаций · libstdc++: узел 16 Б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91" name="Picture 19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91" name="Slide Number 191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3" fill="hold">
                      <p:stCondLst>
                        <p:cond delay="indefinite"/>
                      </p:stCondLst>
                      <p:childTnLst>
                        <p:par>
                          <p:cTn id="234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4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4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4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4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4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4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4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4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4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4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4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4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4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4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4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4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4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4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4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4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4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4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4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4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4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4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4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4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4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4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4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0" dur="4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3" dur="4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6" dur="4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9" dur="4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2" dur="4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4" fill="hold">
                      <p:stCondLst>
                        <p:cond delay="indefinite"/>
                      </p:stCondLst>
                      <p:childTnLst>
                        <p:par>
                          <p:cTn id="245" fill="hold">
                            <p:stCondLst>
                              <p:cond delay="0"/>
                            </p:stCondLst>
                            <p:childTnLst>
                              <p:par>
                                <p:cTn id="2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4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0" dur="4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4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" grpId="0" animBg="1"/>
      <p:bldP spid="133" grpId="0" animBg="1"/>
      <p:bldP spid="134" grpId="0" animBg="1"/>
      <p:bldP spid="156" grpId="0" animBg="1"/>
      <p:bldP spid="167" grpId="0" animBg="1"/>
      <p:bldP spid="169" grpId="0" animBg="1"/>
      <p:bldP spid="171" grpId="0" animBg="1"/>
      <p:bldP spid="173" grpId="0" animBg="1"/>
      <p:bldP spid="175" grpId="0" animBg="1"/>
      <p:bldP spid="177" grpId="0" animBg="1"/>
      <p:bldP spid="179" grpId="0" animBg="1"/>
      <p:bldP spid="181" grpId="0" animBg="1"/>
      <p:bldP spid="183" grpId="0" animBg="1"/>
      <p:bldP spid="184" grpId="0" animBg="1"/>
      <p:bldP spid="185" grpId="0" animBg="1"/>
      <p:bldP spid="186" grpId="0" animBg="1"/>
      <p:bldP spid="188" grpId="0" animBg="1"/>
      <p:bldP spid="189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РАУНД </a:t>
            </a:r>
            <a:r>
              <a:rPr lang="ru-RU" sz="1099" b="0" i="0" spc="94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</a:t>
            </a: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ИЗ 4 · РАЗМЕР И ПАМЯТЬ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ЦЕНА ШАГА — ОТ 1,7 ДО 100 НС: РЕШАЕТ, ГДЕ ЛЕЖАТ ДАННЫЕ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Box 103"/>
          <p:cNvSpPr/>
          <p:nvPr/>
        </p:nvSpPr>
        <p:spPr>
          <a:xfrm>
            <a:off x="560784" y="1508522"/>
            <a:ext cx="7917656" cy="812602"/>
          </a:xfrm>
          <a:prstGeom prst="roundRect">
            <a:avLst>
              <a:gd name="adj" fmla="val 9295"/>
            </a:avLst>
          </a:prstGeom>
          <a:solidFill>
            <a:srgbClr val="000000"/>
          </a:solidFill>
          <a:ln w="7144">
            <a:solidFill>
              <a:srgbClr val="FFFFFF"/>
            </a:solidFill>
          </a:ln>
        </p:spPr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1581150" y="1598973"/>
            <a:ext cx="1500188" cy="2293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656"/>
              </a:lnSpc>
              <a:spcBef>
                <a:spcPts val="0"/>
              </a:spcBef>
              <a:buNone/>
            </a:pPr>
            <a:r>
              <a:rPr lang="ru-RU" sz="138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Время ≈ N ×</a:t>
            </a:r>
            <a:endParaRPr lang="ru-RU" sz="138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3069431" y="1598973"/>
            <a:ext cx="2481262" cy="2293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656"/>
              </a:lnSpc>
              <a:spcBef>
                <a:spcPts val="0"/>
              </a:spcBef>
              <a:buNone/>
            </a:pPr>
            <a:r>
              <a:rPr lang="ru-RU" sz="138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(шагов на элемент)</a:t>
            </a:r>
            <a:endParaRPr lang="ru-RU" sz="138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5521642" y="1598973"/>
            <a:ext cx="224790" cy="2293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656"/>
              </a:lnSpc>
              <a:spcBef>
                <a:spcPts val="0"/>
              </a:spcBef>
              <a:buNone/>
            </a:pPr>
            <a:r>
              <a:rPr lang="ru-RU" sz="138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×</a:t>
            </a:r>
            <a:endParaRPr lang="ru-RU" sz="138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5728811" y="1598973"/>
            <a:ext cx="1696402" cy="2293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656"/>
              </a:lnSpc>
              <a:spcBef>
                <a:spcPts val="0"/>
              </a:spcBef>
              <a:buNone/>
            </a:pPr>
            <a:r>
              <a:rPr lang="ru-RU" sz="1380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(цена шага)</a:t>
            </a:r>
            <a:endParaRPr lang="ru-RU" sz="1380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Line 108"/>
          <p:cNvSpPr/>
          <p:nvPr/>
        </p:nvSpPr>
        <p:spPr>
          <a:xfrm>
            <a:off x="3119438" y="1860500"/>
            <a:ext cx="2381250" cy="48"/>
          </a:xfrm>
          <a:custGeom>
            <a:avLst/>
            <a:gdLst/>
            <a:ahLst/>
            <a:cxnLst/>
            <a:rect l="0" t="0" r="r" b="b"/>
            <a:pathLst>
              <a:path w="2381250" h="1" fill="none">
                <a:moveTo>
                  <a:pt x="0" y="0"/>
                </a:moveTo>
                <a:lnTo>
                  <a:pt x="2381250" y="0"/>
                </a:lnTo>
              </a:path>
            </a:pathLst>
          </a:custGeom>
          <a:noFill/>
          <a:ln w="14288">
            <a:solidFill>
              <a:srgbClr val="333333"/>
            </a:solidFill>
          </a:ln>
        </p:spPr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3114675" y="1897380"/>
            <a:ext cx="2390775" cy="33802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это видит Big-O: 1 или log N, ×20 на миллионе</a:t>
            </a:r>
            <a:endParaRPr lang="ru-RU" sz="966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0" name="Line 110"/>
          <p:cNvSpPr/>
          <p:nvPr/>
        </p:nvSpPr>
        <p:spPr>
          <a:xfrm>
            <a:off x="5767388" y="1860500"/>
            <a:ext cx="1619250" cy="48"/>
          </a:xfrm>
          <a:custGeom>
            <a:avLst/>
            <a:gdLst/>
            <a:ahLst/>
            <a:cxnLst/>
            <a:rect l="0" t="0" r="r" b="b"/>
            <a:pathLst>
              <a:path w="1619250" h="1" fill="none">
                <a:moveTo>
                  <a:pt x="0" y="0"/>
                </a:moveTo>
                <a:lnTo>
                  <a:pt x="1619250" y="0"/>
                </a:lnTo>
              </a:path>
            </a:pathLst>
          </a:custGeom>
          <a:noFill/>
          <a:ln w="14288">
            <a:solidFill>
              <a:srgbClr val="FFFFFF"/>
            </a:solidFill>
          </a:ln>
        </p:spPr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5762625" y="1897380"/>
            <a:ext cx="1628775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это решает процессор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557212" y="2465591"/>
            <a:ext cx="911542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L1</a:t>
            </a:r>
            <a:endParaRPr lang="ru-RU" sz="1104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3" name="Fill 113"/>
          <p:cNvSpPr/>
          <p:nvPr/>
        </p:nvSpPr>
        <p:spPr>
          <a:xfrm>
            <a:off x="1528762" y="2462212"/>
            <a:ext cx="80962" cy="209550"/>
          </a:xfrm>
          <a:prstGeom prst="roundRect">
            <a:avLst>
              <a:gd name="adj" fmla="val 35294"/>
            </a:avLst>
          </a:prstGeom>
          <a:solidFill>
            <a:srgbClr val="6E6E6E"/>
          </a:solidFill>
          <a:ln>
            <a:noFill/>
          </a:ln>
        </p:spPr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1724025" y="2465591"/>
            <a:ext cx="1318305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≈1,7 нс · 128 КиБ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557212" y="2732291"/>
            <a:ext cx="911542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L2</a:t>
            </a:r>
            <a:endParaRPr lang="ru-RU" sz="1104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6" name="Fill 116"/>
          <p:cNvSpPr/>
          <p:nvPr/>
        </p:nvSpPr>
        <p:spPr>
          <a:xfrm>
            <a:off x="1528762" y="2728912"/>
            <a:ext cx="309562" cy="209550"/>
          </a:xfrm>
          <a:prstGeom prst="roundRect">
            <a:avLst>
              <a:gd name="adj" fmla="val 13636"/>
            </a:avLst>
          </a:prstGeom>
          <a:solidFill>
            <a:srgbClr val="8F8F8F"/>
          </a:solidFill>
          <a:ln>
            <a:noFill/>
          </a:ln>
        </p:spPr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1952625" y="2732291"/>
            <a:ext cx="3025682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≈6,5 нс · 16 МиБ на кластер из 4 P-ядер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557212" y="2998991"/>
            <a:ext cx="911542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память</a:t>
            </a:r>
            <a:endParaRPr lang="ru-RU" sz="1104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9" name="Fill 119"/>
          <p:cNvSpPr/>
          <p:nvPr/>
        </p:nvSpPr>
        <p:spPr>
          <a:xfrm>
            <a:off x="1528762" y="2995612"/>
            <a:ext cx="4762500" cy="209550"/>
          </a:xfrm>
          <a:prstGeom prst="roundRect">
            <a:avLst>
              <a:gd name="adj" fmla="val 13636"/>
            </a:avLst>
          </a:prstGeom>
          <a:solidFill>
            <a:srgbClr val="BFBFBF"/>
          </a:solidFill>
          <a:ln>
            <a:noFill/>
          </a:ln>
        </p:spPr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6405562" y="2998991"/>
            <a:ext cx="1524178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≈100 нс · гигабайты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1" name="Box 121"/>
          <p:cNvSpPr/>
          <p:nvPr/>
        </p:nvSpPr>
        <p:spPr>
          <a:xfrm>
            <a:off x="561975" y="3395662"/>
            <a:ext cx="151805" cy="180975"/>
          </a:xfrm>
          <a:prstGeom prst="rect">
            <a:avLst/>
          </a:prstGeom>
          <a:solidFill>
            <a:srgbClr val="174F45"/>
          </a:solidFill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22" name="Fill 122"/>
          <p:cNvSpPr/>
          <p:nvPr/>
        </p:nvSpPr>
        <p:spPr>
          <a:xfrm>
            <a:off x="718542" y="3390900"/>
            <a:ext cx="151805" cy="190500"/>
          </a:xfrm>
          <a:prstGeom prst="rect">
            <a:avLst/>
          </a:prstGeom>
          <a:solidFill>
            <a:srgbClr val="174F45"/>
          </a:solidFill>
          <a:ln>
            <a:noFill/>
          </a:ln>
        </p:spPr>
      </p:sp>
      <p:sp xmlns:p14="http://schemas.microsoft.com/office/powerpoint/2010/main">
        <p:nvSpPr>
          <p:cNvPr id="123" name="Line 123"/>
          <p:cNvSpPr/>
          <p:nvPr/>
        </p:nvSpPr>
        <p:spPr>
          <a:xfrm>
            <a:off x="718542" y="3395662"/>
            <a:ext cx="151805" cy="48"/>
          </a:xfrm>
          <a:custGeom>
            <a:avLst/>
            <a:gdLst/>
            <a:ahLst/>
            <a:cxnLst/>
            <a:rect l="0" t="0" r="r" b="b"/>
            <a:pathLst>
              <a:path w="151805" h="1" fill="none">
                <a:moveTo>
                  <a:pt x="0" y="0"/>
                </a:moveTo>
                <a:lnTo>
                  <a:pt x="151805" y="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24" name="Line 124"/>
          <p:cNvSpPr/>
          <p:nvPr/>
        </p:nvSpPr>
        <p:spPr>
          <a:xfrm>
            <a:off x="865584" y="3390900"/>
            <a:ext cx="48" cy="190500"/>
          </a:xfrm>
          <a:custGeom>
            <a:avLst/>
            <a:gdLst/>
            <a:ahLst/>
            <a:cxnLst/>
            <a:rect l="0" t="0" r="r" b="b"/>
            <a:pathLst>
              <a:path w="1" h="190500" fill="none">
                <a:moveTo>
                  <a:pt x="0" y="0"/>
                </a:moveTo>
                <a:lnTo>
                  <a:pt x="0" y="19050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25" name="Line 125"/>
          <p:cNvSpPr/>
          <p:nvPr/>
        </p:nvSpPr>
        <p:spPr>
          <a:xfrm>
            <a:off x="718542" y="3576638"/>
            <a:ext cx="151805" cy="48"/>
          </a:xfrm>
          <a:custGeom>
            <a:avLst/>
            <a:gdLst/>
            <a:ahLst/>
            <a:cxnLst/>
            <a:rect l="0" t="0" r="r" b="b"/>
            <a:pathLst>
              <a:path w="151805" h="1" fill="none">
                <a:moveTo>
                  <a:pt x="0" y="0"/>
                </a:moveTo>
                <a:lnTo>
                  <a:pt x="151805" y="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26" name="Fill 126"/>
          <p:cNvSpPr/>
          <p:nvPr/>
        </p:nvSpPr>
        <p:spPr>
          <a:xfrm>
            <a:off x="870347" y="3390900"/>
            <a:ext cx="151805" cy="190500"/>
          </a:xfrm>
          <a:prstGeom prst="rect">
            <a:avLst/>
          </a:prstGeom>
          <a:solidFill>
            <a:srgbClr val="174F45"/>
          </a:solidFill>
          <a:ln>
            <a:noFill/>
          </a:ln>
        </p:spPr>
      </p:sp>
      <p:sp xmlns:p14="http://schemas.microsoft.com/office/powerpoint/2010/main">
        <p:nvSpPr>
          <p:cNvPr id="127" name="Line 127"/>
          <p:cNvSpPr/>
          <p:nvPr/>
        </p:nvSpPr>
        <p:spPr>
          <a:xfrm>
            <a:off x="870347" y="3395662"/>
            <a:ext cx="151805" cy="48"/>
          </a:xfrm>
          <a:custGeom>
            <a:avLst/>
            <a:gdLst/>
            <a:ahLst/>
            <a:cxnLst/>
            <a:rect l="0" t="0" r="r" b="b"/>
            <a:pathLst>
              <a:path w="151805" h="1" fill="none">
                <a:moveTo>
                  <a:pt x="0" y="0"/>
                </a:moveTo>
                <a:lnTo>
                  <a:pt x="151805" y="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28" name="Line 128"/>
          <p:cNvSpPr/>
          <p:nvPr/>
        </p:nvSpPr>
        <p:spPr>
          <a:xfrm>
            <a:off x="1017389" y="3390900"/>
            <a:ext cx="48" cy="190500"/>
          </a:xfrm>
          <a:custGeom>
            <a:avLst/>
            <a:gdLst/>
            <a:ahLst/>
            <a:cxnLst/>
            <a:rect l="0" t="0" r="r" b="b"/>
            <a:pathLst>
              <a:path w="1" h="190500" fill="none">
                <a:moveTo>
                  <a:pt x="0" y="0"/>
                </a:moveTo>
                <a:lnTo>
                  <a:pt x="0" y="19050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29" name="Line 129"/>
          <p:cNvSpPr/>
          <p:nvPr/>
        </p:nvSpPr>
        <p:spPr>
          <a:xfrm>
            <a:off x="870347" y="3576638"/>
            <a:ext cx="151805" cy="48"/>
          </a:xfrm>
          <a:custGeom>
            <a:avLst/>
            <a:gdLst/>
            <a:ahLst/>
            <a:cxnLst/>
            <a:rect l="0" t="0" r="r" b="b"/>
            <a:pathLst>
              <a:path w="151805" h="1" fill="none">
                <a:moveTo>
                  <a:pt x="0" y="0"/>
                </a:moveTo>
                <a:lnTo>
                  <a:pt x="151805" y="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30" name="Fill 130"/>
          <p:cNvSpPr/>
          <p:nvPr/>
        </p:nvSpPr>
        <p:spPr>
          <a:xfrm>
            <a:off x="1022152" y="3390900"/>
            <a:ext cx="151805" cy="190500"/>
          </a:xfrm>
          <a:prstGeom prst="rect">
            <a:avLst/>
          </a:prstGeom>
          <a:solidFill>
            <a:srgbClr val="174F45"/>
          </a:solidFill>
          <a:ln>
            <a:noFill/>
          </a:ln>
        </p:spPr>
      </p:sp>
      <p:sp xmlns:p14="http://schemas.microsoft.com/office/powerpoint/2010/main">
        <p:nvSpPr>
          <p:cNvPr id="131" name="Line 131"/>
          <p:cNvSpPr/>
          <p:nvPr/>
        </p:nvSpPr>
        <p:spPr>
          <a:xfrm>
            <a:off x="1022152" y="3395662"/>
            <a:ext cx="151805" cy="48"/>
          </a:xfrm>
          <a:custGeom>
            <a:avLst/>
            <a:gdLst/>
            <a:ahLst/>
            <a:cxnLst/>
            <a:rect l="0" t="0" r="r" b="b"/>
            <a:pathLst>
              <a:path w="151805" h="1" fill="none">
                <a:moveTo>
                  <a:pt x="0" y="0"/>
                </a:moveTo>
                <a:lnTo>
                  <a:pt x="151805" y="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32" name="Line 132"/>
          <p:cNvSpPr/>
          <p:nvPr/>
        </p:nvSpPr>
        <p:spPr>
          <a:xfrm>
            <a:off x="1169194" y="3390900"/>
            <a:ext cx="48" cy="190500"/>
          </a:xfrm>
          <a:custGeom>
            <a:avLst/>
            <a:gdLst/>
            <a:ahLst/>
            <a:cxnLst/>
            <a:rect l="0" t="0" r="r" b="b"/>
            <a:pathLst>
              <a:path w="1" h="190500" fill="none">
                <a:moveTo>
                  <a:pt x="0" y="0"/>
                </a:moveTo>
                <a:lnTo>
                  <a:pt x="0" y="19050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33" name="Line 133"/>
          <p:cNvSpPr/>
          <p:nvPr/>
        </p:nvSpPr>
        <p:spPr>
          <a:xfrm>
            <a:off x="1022152" y="3576638"/>
            <a:ext cx="151805" cy="48"/>
          </a:xfrm>
          <a:custGeom>
            <a:avLst/>
            <a:gdLst/>
            <a:ahLst/>
            <a:cxnLst/>
            <a:rect l="0" t="0" r="r" b="b"/>
            <a:pathLst>
              <a:path w="151805" h="1" fill="none">
                <a:moveTo>
                  <a:pt x="0" y="0"/>
                </a:moveTo>
                <a:lnTo>
                  <a:pt x="151805" y="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34" name="Fill 134"/>
          <p:cNvSpPr/>
          <p:nvPr/>
        </p:nvSpPr>
        <p:spPr>
          <a:xfrm>
            <a:off x="1173956" y="3390900"/>
            <a:ext cx="151805" cy="190500"/>
          </a:xfrm>
          <a:prstGeom prst="rect">
            <a:avLst/>
          </a:prstGeom>
          <a:solidFill>
            <a:srgbClr val="174F45"/>
          </a:solidFill>
          <a:ln>
            <a:noFill/>
          </a:ln>
        </p:spPr>
      </p:sp>
      <p:sp xmlns:p14="http://schemas.microsoft.com/office/powerpoint/2010/main">
        <p:nvSpPr>
          <p:cNvPr id="135" name="Line 135"/>
          <p:cNvSpPr/>
          <p:nvPr/>
        </p:nvSpPr>
        <p:spPr>
          <a:xfrm>
            <a:off x="1173956" y="3395662"/>
            <a:ext cx="151805" cy="48"/>
          </a:xfrm>
          <a:custGeom>
            <a:avLst/>
            <a:gdLst/>
            <a:ahLst/>
            <a:cxnLst/>
            <a:rect l="0" t="0" r="r" b="b"/>
            <a:pathLst>
              <a:path w="151805" h="1" fill="none">
                <a:moveTo>
                  <a:pt x="0" y="0"/>
                </a:moveTo>
                <a:lnTo>
                  <a:pt x="151805" y="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36" name="Line 136"/>
          <p:cNvSpPr/>
          <p:nvPr/>
        </p:nvSpPr>
        <p:spPr>
          <a:xfrm>
            <a:off x="1320998" y="3390900"/>
            <a:ext cx="48" cy="190500"/>
          </a:xfrm>
          <a:custGeom>
            <a:avLst/>
            <a:gdLst/>
            <a:ahLst/>
            <a:cxnLst/>
            <a:rect l="0" t="0" r="r" b="b"/>
            <a:pathLst>
              <a:path w="1" h="190500" fill="none">
                <a:moveTo>
                  <a:pt x="0" y="0"/>
                </a:moveTo>
                <a:lnTo>
                  <a:pt x="0" y="19050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37" name="Line 137"/>
          <p:cNvSpPr/>
          <p:nvPr/>
        </p:nvSpPr>
        <p:spPr>
          <a:xfrm>
            <a:off x="1173956" y="3576638"/>
            <a:ext cx="151805" cy="48"/>
          </a:xfrm>
          <a:custGeom>
            <a:avLst/>
            <a:gdLst/>
            <a:ahLst/>
            <a:cxnLst/>
            <a:rect l="0" t="0" r="r" b="b"/>
            <a:pathLst>
              <a:path w="151805" h="1" fill="none">
                <a:moveTo>
                  <a:pt x="0" y="0"/>
                </a:moveTo>
                <a:lnTo>
                  <a:pt x="151805" y="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38" name="Fill 138"/>
          <p:cNvSpPr/>
          <p:nvPr/>
        </p:nvSpPr>
        <p:spPr>
          <a:xfrm>
            <a:off x="1325761" y="3390900"/>
            <a:ext cx="151805" cy="190500"/>
          </a:xfrm>
          <a:prstGeom prst="rect">
            <a:avLst/>
          </a:prstGeom>
          <a:solidFill>
            <a:srgbClr val="174F45"/>
          </a:solidFill>
          <a:ln>
            <a:noFill/>
          </a:ln>
        </p:spPr>
      </p:sp>
      <p:sp xmlns:p14="http://schemas.microsoft.com/office/powerpoint/2010/main">
        <p:nvSpPr>
          <p:cNvPr id="139" name="Line 139"/>
          <p:cNvSpPr/>
          <p:nvPr/>
        </p:nvSpPr>
        <p:spPr>
          <a:xfrm>
            <a:off x="1325761" y="3395662"/>
            <a:ext cx="151805" cy="48"/>
          </a:xfrm>
          <a:custGeom>
            <a:avLst/>
            <a:gdLst/>
            <a:ahLst/>
            <a:cxnLst/>
            <a:rect l="0" t="0" r="r" b="b"/>
            <a:pathLst>
              <a:path w="151805" h="1" fill="none">
                <a:moveTo>
                  <a:pt x="0" y="0"/>
                </a:moveTo>
                <a:lnTo>
                  <a:pt x="151805" y="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40" name="Line 140"/>
          <p:cNvSpPr/>
          <p:nvPr/>
        </p:nvSpPr>
        <p:spPr>
          <a:xfrm>
            <a:off x="1472803" y="3390900"/>
            <a:ext cx="48" cy="190500"/>
          </a:xfrm>
          <a:custGeom>
            <a:avLst/>
            <a:gdLst/>
            <a:ahLst/>
            <a:cxnLst/>
            <a:rect l="0" t="0" r="r" b="b"/>
            <a:pathLst>
              <a:path w="1" h="190500" fill="none">
                <a:moveTo>
                  <a:pt x="0" y="0"/>
                </a:moveTo>
                <a:lnTo>
                  <a:pt x="0" y="19050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41" name="Line 141"/>
          <p:cNvSpPr/>
          <p:nvPr/>
        </p:nvSpPr>
        <p:spPr>
          <a:xfrm>
            <a:off x="1325761" y="3576638"/>
            <a:ext cx="151805" cy="48"/>
          </a:xfrm>
          <a:custGeom>
            <a:avLst/>
            <a:gdLst/>
            <a:ahLst/>
            <a:cxnLst/>
            <a:rect l="0" t="0" r="r" b="b"/>
            <a:pathLst>
              <a:path w="151805" h="1" fill="none">
                <a:moveTo>
                  <a:pt x="0" y="0"/>
                </a:moveTo>
                <a:lnTo>
                  <a:pt x="151805" y="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42" name="Fill 142"/>
          <p:cNvSpPr/>
          <p:nvPr/>
        </p:nvSpPr>
        <p:spPr>
          <a:xfrm>
            <a:off x="1477566" y="3390900"/>
            <a:ext cx="151805" cy="190500"/>
          </a:xfrm>
          <a:prstGeom prst="rect">
            <a:avLst/>
          </a:prstGeom>
          <a:solidFill>
            <a:srgbClr val="174F45"/>
          </a:solidFill>
          <a:ln>
            <a:noFill/>
          </a:ln>
        </p:spPr>
      </p:sp>
      <p:sp xmlns:p14="http://schemas.microsoft.com/office/powerpoint/2010/main">
        <p:nvSpPr>
          <p:cNvPr id="143" name="Line 143"/>
          <p:cNvSpPr/>
          <p:nvPr/>
        </p:nvSpPr>
        <p:spPr>
          <a:xfrm>
            <a:off x="1477566" y="3395662"/>
            <a:ext cx="151805" cy="48"/>
          </a:xfrm>
          <a:custGeom>
            <a:avLst/>
            <a:gdLst/>
            <a:ahLst/>
            <a:cxnLst/>
            <a:rect l="0" t="0" r="r" b="b"/>
            <a:pathLst>
              <a:path w="151805" h="1" fill="none">
                <a:moveTo>
                  <a:pt x="0" y="0"/>
                </a:moveTo>
                <a:lnTo>
                  <a:pt x="151805" y="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44" name="Line 144"/>
          <p:cNvSpPr/>
          <p:nvPr/>
        </p:nvSpPr>
        <p:spPr>
          <a:xfrm>
            <a:off x="1624608" y="3390900"/>
            <a:ext cx="48" cy="190500"/>
          </a:xfrm>
          <a:custGeom>
            <a:avLst/>
            <a:gdLst/>
            <a:ahLst/>
            <a:cxnLst/>
            <a:rect l="0" t="0" r="r" b="b"/>
            <a:pathLst>
              <a:path w="1" h="190500" fill="none">
                <a:moveTo>
                  <a:pt x="0" y="0"/>
                </a:moveTo>
                <a:lnTo>
                  <a:pt x="0" y="19050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45" name="Line 145"/>
          <p:cNvSpPr/>
          <p:nvPr/>
        </p:nvSpPr>
        <p:spPr>
          <a:xfrm>
            <a:off x="1477566" y="3576638"/>
            <a:ext cx="151805" cy="48"/>
          </a:xfrm>
          <a:custGeom>
            <a:avLst/>
            <a:gdLst/>
            <a:ahLst/>
            <a:cxnLst/>
            <a:rect l="0" t="0" r="r" b="b"/>
            <a:pathLst>
              <a:path w="151805" h="1" fill="none">
                <a:moveTo>
                  <a:pt x="0" y="0"/>
                </a:moveTo>
                <a:lnTo>
                  <a:pt x="151805" y="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46" name="Fill 146"/>
          <p:cNvSpPr/>
          <p:nvPr/>
        </p:nvSpPr>
        <p:spPr>
          <a:xfrm>
            <a:off x="1629370" y="3390900"/>
            <a:ext cx="151805" cy="190500"/>
          </a:xfrm>
          <a:prstGeom prst="rect">
            <a:avLst/>
          </a:prstGeom>
          <a:solidFill>
            <a:srgbClr val="174F45"/>
          </a:solidFill>
          <a:ln>
            <a:noFill/>
          </a:ln>
        </p:spPr>
      </p:sp>
      <p:sp xmlns:p14="http://schemas.microsoft.com/office/powerpoint/2010/main">
        <p:nvSpPr>
          <p:cNvPr id="147" name="Line 147"/>
          <p:cNvSpPr/>
          <p:nvPr/>
        </p:nvSpPr>
        <p:spPr>
          <a:xfrm>
            <a:off x="1629370" y="3395662"/>
            <a:ext cx="151805" cy="48"/>
          </a:xfrm>
          <a:custGeom>
            <a:avLst/>
            <a:gdLst/>
            <a:ahLst/>
            <a:cxnLst/>
            <a:rect l="0" t="0" r="r" b="b"/>
            <a:pathLst>
              <a:path w="151805" h="1" fill="none">
                <a:moveTo>
                  <a:pt x="0" y="0"/>
                </a:moveTo>
                <a:lnTo>
                  <a:pt x="151805" y="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48" name="Line 148"/>
          <p:cNvSpPr/>
          <p:nvPr/>
        </p:nvSpPr>
        <p:spPr>
          <a:xfrm>
            <a:off x="1776412" y="3390900"/>
            <a:ext cx="48" cy="190500"/>
          </a:xfrm>
          <a:custGeom>
            <a:avLst/>
            <a:gdLst/>
            <a:ahLst/>
            <a:cxnLst/>
            <a:rect l="0" t="0" r="r" b="b"/>
            <a:pathLst>
              <a:path w="1" h="190500" fill="none">
                <a:moveTo>
                  <a:pt x="0" y="0"/>
                </a:moveTo>
                <a:lnTo>
                  <a:pt x="0" y="19050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49" name="Line 149"/>
          <p:cNvSpPr/>
          <p:nvPr/>
        </p:nvSpPr>
        <p:spPr>
          <a:xfrm>
            <a:off x="1629370" y="3576638"/>
            <a:ext cx="151805" cy="48"/>
          </a:xfrm>
          <a:custGeom>
            <a:avLst/>
            <a:gdLst/>
            <a:ahLst/>
            <a:cxnLst/>
            <a:rect l="0" t="0" r="r" b="b"/>
            <a:pathLst>
              <a:path w="151805" h="1" fill="none">
                <a:moveTo>
                  <a:pt x="0" y="0"/>
                </a:moveTo>
                <a:lnTo>
                  <a:pt x="151805" y="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50" name="Fill 150"/>
          <p:cNvSpPr/>
          <p:nvPr/>
        </p:nvSpPr>
        <p:spPr>
          <a:xfrm>
            <a:off x="1781175" y="3390900"/>
            <a:ext cx="151805" cy="190500"/>
          </a:xfrm>
          <a:prstGeom prst="rect">
            <a:avLst/>
          </a:prstGeom>
          <a:solidFill>
            <a:srgbClr val="174F45"/>
          </a:solidFill>
          <a:ln>
            <a:noFill/>
          </a:ln>
        </p:spPr>
      </p:sp>
      <p:sp xmlns:p14="http://schemas.microsoft.com/office/powerpoint/2010/main">
        <p:nvSpPr>
          <p:cNvPr id="151" name="Line 151"/>
          <p:cNvSpPr/>
          <p:nvPr/>
        </p:nvSpPr>
        <p:spPr>
          <a:xfrm>
            <a:off x="1781175" y="3395662"/>
            <a:ext cx="151805" cy="48"/>
          </a:xfrm>
          <a:custGeom>
            <a:avLst/>
            <a:gdLst/>
            <a:ahLst/>
            <a:cxnLst/>
            <a:rect l="0" t="0" r="r" b="b"/>
            <a:pathLst>
              <a:path w="151805" h="1" fill="none">
                <a:moveTo>
                  <a:pt x="0" y="0"/>
                </a:moveTo>
                <a:lnTo>
                  <a:pt x="151805" y="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52" name="Line 152"/>
          <p:cNvSpPr/>
          <p:nvPr/>
        </p:nvSpPr>
        <p:spPr>
          <a:xfrm>
            <a:off x="1928217" y="3390900"/>
            <a:ext cx="48" cy="190500"/>
          </a:xfrm>
          <a:custGeom>
            <a:avLst/>
            <a:gdLst/>
            <a:ahLst/>
            <a:cxnLst/>
            <a:rect l="0" t="0" r="r" b="b"/>
            <a:pathLst>
              <a:path w="1" h="190500" fill="none">
                <a:moveTo>
                  <a:pt x="0" y="0"/>
                </a:moveTo>
                <a:lnTo>
                  <a:pt x="0" y="19050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53" name="Line 153"/>
          <p:cNvSpPr/>
          <p:nvPr/>
        </p:nvSpPr>
        <p:spPr>
          <a:xfrm>
            <a:off x="1781175" y="3576638"/>
            <a:ext cx="151805" cy="48"/>
          </a:xfrm>
          <a:custGeom>
            <a:avLst/>
            <a:gdLst/>
            <a:ahLst/>
            <a:cxnLst/>
            <a:rect l="0" t="0" r="r" b="b"/>
            <a:pathLst>
              <a:path w="151805" h="1" fill="none">
                <a:moveTo>
                  <a:pt x="0" y="0"/>
                </a:moveTo>
                <a:lnTo>
                  <a:pt x="151805" y="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54" name="Fill 154"/>
          <p:cNvSpPr/>
          <p:nvPr/>
        </p:nvSpPr>
        <p:spPr>
          <a:xfrm>
            <a:off x="1932980" y="3390900"/>
            <a:ext cx="151805" cy="190500"/>
          </a:xfrm>
          <a:prstGeom prst="rect">
            <a:avLst/>
          </a:prstGeom>
          <a:solidFill>
            <a:srgbClr val="174F45"/>
          </a:solidFill>
          <a:ln>
            <a:noFill/>
          </a:ln>
        </p:spPr>
      </p:sp>
      <p:sp xmlns:p14="http://schemas.microsoft.com/office/powerpoint/2010/main">
        <p:nvSpPr>
          <p:cNvPr id="155" name="Line 155"/>
          <p:cNvSpPr/>
          <p:nvPr/>
        </p:nvSpPr>
        <p:spPr>
          <a:xfrm>
            <a:off x="1932980" y="3395662"/>
            <a:ext cx="151805" cy="48"/>
          </a:xfrm>
          <a:custGeom>
            <a:avLst/>
            <a:gdLst/>
            <a:ahLst/>
            <a:cxnLst/>
            <a:rect l="0" t="0" r="r" b="b"/>
            <a:pathLst>
              <a:path w="151805" h="1" fill="none">
                <a:moveTo>
                  <a:pt x="0" y="0"/>
                </a:moveTo>
                <a:lnTo>
                  <a:pt x="151805" y="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56" name="Line 156"/>
          <p:cNvSpPr/>
          <p:nvPr/>
        </p:nvSpPr>
        <p:spPr>
          <a:xfrm>
            <a:off x="2080022" y="3390900"/>
            <a:ext cx="48" cy="190500"/>
          </a:xfrm>
          <a:custGeom>
            <a:avLst/>
            <a:gdLst/>
            <a:ahLst/>
            <a:cxnLst/>
            <a:rect l="0" t="0" r="r" b="b"/>
            <a:pathLst>
              <a:path w="1" h="190500" fill="none">
                <a:moveTo>
                  <a:pt x="0" y="0"/>
                </a:moveTo>
                <a:lnTo>
                  <a:pt x="0" y="19050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57" name="Line 157"/>
          <p:cNvSpPr/>
          <p:nvPr/>
        </p:nvSpPr>
        <p:spPr>
          <a:xfrm>
            <a:off x="1932980" y="3576638"/>
            <a:ext cx="151805" cy="48"/>
          </a:xfrm>
          <a:custGeom>
            <a:avLst/>
            <a:gdLst/>
            <a:ahLst/>
            <a:cxnLst/>
            <a:rect l="0" t="0" r="r" b="b"/>
            <a:pathLst>
              <a:path w="151805" h="1" fill="none">
                <a:moveTo>
                  <a:pt x="0" y="0"/>
                </a:moveTo>
                <a:lnTo>
                  <a:pt x="151805" y="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58" name="Fill 158"/>
          <p:cNvSpPr/>
          <p:nvPr/>
        </p:nvSpPr>
        <p:spPr>
          <a:xfrm>
            <a:off x="2084784" y="3390900"/>
            <a:ext cx="151805" cy="190500"/>
          </a:xfrm>
          <a:prstGeom prst="rect">
            <a:avLst/>
          </a:prstGeom>
          <a:solidFill>
            <a:srgbClr val="174F45"/>
          </a:solidFill>
          <a:ln>
            <a:noFill/>
          </a:ln>
        </p:spPr>
      </p:sp>
      <p:sp xmlns:p14="http://schemas.microsoft.com/office/powerpoint/2010/main">
        <p:nvSpPr>
          <p:cNvPr id="159" name="Line 159"/>
          <p:cNvSpPr/>
          <p:nvPr/>
        </p:nvSpPr>
        <p:spPr>
          <a:xfrm>
            <a:off x="2084784" y="3395662"/>
            <a:ext cx="151805" cy="48"/>
          </a:xfrm>
          <a:custGeom>
            <a:avLst/>
            <a:gdLst/>
            <a:ahLst/>
            <a:cxnLst/>
            <a:rect l="0" t="0" r="r" b="b"/>
            <a:pathLst>
              <a:path w="151805" h="1" fill="none">
                <a:moveTo>
                  <a:pt x="0" y="0"/>
                </a:moveTo>
                <a:lnTo>
                  <a:pt x="151805" y="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60" name="Line 160"/>
          <p:cNvSpPr/>
          <p:nvPr/>
        </p:nvSpPr>
        <p:spPr>
          <a:xfrm>
            <a:off x="2231827" y="3390900"/>
            <a:ext cx="48" cy="190500"/>
          </a:xfrm>
          <a:custGeom>
            <a:avLst/>
            <a:gdLst/>
            <a:ahLst/>
            <a:cxnLst/>
            <a:rect l="0" t="0" r="r" b="b"/>
            <a:pathLst>
              <a:path w="1" h="190500" fill="none">
                <a:moveTo>
                  <a:pt x="0" y="0"/>
                </a:moveTo>
                <a:lnTo>
                  <a:pt x="0" y="19050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61" name="Line 161"/>
          <p:cNvSpPr/>
          <p:nvPr/>
        </p:nvSpPr>
        <p:spPr>
          <a:xfrm>
            <a:off x="2084784" y="3576638"/>
            <a:ext cx="151805" cy="48"/>
          </a:xfrm>
          <a:custGeom>
            <a:avLst/>
            <a:gdLst/>
            <a:ahLst/>
            <a:cxnLst/>
            <a:rect l="0" t="0" r="r" b="b"/>
            <a:pathLst>
              <a:path w="151805" h="1" fill="none">
                <a:moveTo>
                  <a:pt x="0" y="0"/>
                </a:moveTo>
                <a:lnTo>
                  <a:pt x="151805" y="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62" name="Fill 162"/>
          <p:cNvSpPr/>
          <p:nvPr/>
        </p:nvSpPr>
        <p:spPr>
          <a:xfrm>
            <a:off x="2236589" y="3390900"/>
            <a:ext cx="151805" cy="190500"/>
          </a:xfrm>
          <a:prstGeom prst="rect">
            <a:avLst/>
          </a:prstGeom>
          <a:solidFill>
            <a:srgbClr val="174F45"/>
          </a:solidFill>
          <a:ln>
            <a:noFill/>
          </a:ln>
        </p:spPr>
      </p:sp>
      <p:sp xmlns:p14="http://schemas.microsoft.com/office/powerpoint/2010/main">
        <p:nvSpPr>
          <p:cNvPr id="163" name="Line 163"/>
          <p:cNvSpPr/>
          <p:nvPr/>
        </p:nvSpPr>
        <p:spPr>
          <a:xfrm>
            <a:off x="2236589" y="3395662"/>
            <a:ext cx="151805" cy="48"/>
          </a:xfrm>
          <a:custGeom>
            <a:avLst/>
            <a:gdLst/>
            <a:ahLst/>
            <a:cxnLst/>
            <a:rect l="0" t="0" r="r" b="b"/>
            <a:pathLst>
              <a:path w="151805" h="1" fill="none">
                <a:moveTo>
                  <a:pt x="0" y="0"/>
                </a:moveTo>
                <a:lnTo>
                  <a:pt x="151805" y="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64" name="Line 164"/>
          <p:cNvSpPr/>
          <p:nvPr/>
        </p:nvSpPr>
        <p:spPr>
          <a:xfrm>
            <a:off x="2383631" y="3390900"/>
            <a:ext cx="48" cy="190500"/>
          </a:xfrm>
          <a:custGeom>
            <a:avLst/>
            <a:gdLst/>
            <a:ahLst/>
            <a:cxnLst/>
            <a:rect l="0" t="0" r="r" b="b"/>
            <a:pathLst>
              <a:path w="1" h="190500" fill="none">
                <a:moveTo>
                  <a:pt x="0" y="0"/>
                </a:moveTo>
                <a:lnTo>
                  <a:pt x="0" y="19050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65" name="Line 165"/>
          <p:cNvSpPr/>
          <p:nvPr/>
        </p:nvSpPr>
        <p:spPr>
          <a:xfrm>
            <a:off x="2236589" y="3576638"/>
            <a:ext cx="151805" cy="48"/>
          </a:xfrm>
          <a:custGeom>
            <a:avLst/>
            <a:gdLst/>
            <a:ahLst/>
            <a:cxnLst/>
            <a:rect l="0" t="0" r="r" b="b"/>
            <a:pathLst>
              <a:path w="151805" h="1" fill="none">
                <a:moveTo>
                  <a:pt x="0" y="0"/>
                </a:moveTo>
                <a:lnTo>
                  <a:pt x="151805" y="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66" name="Fill 166"/>
          <p:cNvSpPr/>
          <p:nvPr/>
        </p:nvSpPr>
        <p:spPr>
          <a:xfrm>
            <a:off x="2388394" y="3390900"/>
            <a:ext cx="151805" cy="190500"/>
          </a:xfrm>
          <a:prstGeom prst="rect">
            <a:avLst/>
          </a:prstGeom>
          <a:solidFill>
            <a:srgbClr val="174F45"/>
          </a:solidFill>
          <a:ln>
            <a:noFill/>
          </a:ln>
        </p:spPr>
      </p:sp>
      <p:sp xmlns:p14="http://schemas.microsoft.com/office/powerpoint/2010/main">
        <p:nvSpPr>
          <p:cNvPr id="167" name="Line 167"/>
          <p:cNvSpPr/>
          <p:nvPr/>
        </p:nvSpPr>
        <p:spPr>
          <a:xfrm>
            <a:off x="2388394" y="3395662"/>
            <a:ext cx="151805" cy="48"/>
          </a:xfrm>
          <a:custGeom>
            <a:avLst/>
            <a:gdLst/>
            <a:ahLst/>
            <a:cxnLst/>
            <a:rect l="0" t="0" r="r" b="b"/>
            <a:pathLst>
              <a:path w="151805" h="1" fill="none">
                <a:moveTo>
                  <a:pt x="0" y="0"/>
                </a:moveTo>
                <a:lnTo>
                  <a:pt x="151805" y="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68" name="Line 168"/>
          <p:cNvSpPr/>
          <p:nvPr/>
        </p:nvSpPr>
        <p:spPr>
          <a:xfrm>
            <a:off x="2535436" y="3390900"/>
            <a:ext cx="48" cy="190500"/>
          </a:xfrm>
          <a:custGeom>
            <a:avLst/>
            <a:gdLst/>
            <a:ahLst/>
            <a:cxnLst/>
            <a:rect l="0" t="0" r="r" b="b"/>
            <a:pathLst>
              <a:path w="1" h="190500" fill="none">
                <a:moveTo>
                  <a:pt x="0" y="0"/>
                </a:moveTo>
                <a:lnTo>
                  <a:pt x="0" y="19050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69" name="Line 169"/>
          <p:cNvSpPr/>
          <p:nvPr/>
        </p:nvSpPr>
        <p:spPr>
          <a:xfrm>
            <a:off x="2388394" y="3576638"/>
            <a:ext cx="151805" cy="48"/>
          </a:xfrm>
          <a:custGeom>
            <a:avLst/>
            <a:gdLst/>
            <a:ahLst/>
            <a:cxnLst/>
            <a:rect l="0" t="0" r="r" b="b"/>
            <a:pathLst>
              <a:path w="151805" h="1" fill="none">
                <a:moveTo>
                  <a:pt x="0" y="0"/>
                </a:moveTo>
                <a:lnTo>
                  <a:pt x="151805" y="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70" name="Fill 170"/>
          <p:cNvSpPr/>
          <p:nvPr/>
        </p:nvSpPr>
        <p:spPr>
          <a:xfrm>
            <a:off x="2540198" y="3390900"/>
            <a:ext cx="151805" cy="190500"/>
          </a:xfrm>
          <a:prstGeom prst="rect">
            <a:avLst/>
          </a:prstGeom>
          <a:solidFill>
            <a:srgbClr val="174F45"/>
          </a:solidFill>
          <a:ln>
            <a:noFill/>
          </a:ln>
        </p:spPr>
      </p:sp>
      <p:sp xmlns:p14="http://schemas.microsoft.com/office/powerpoint/2010/main">
        <p:nvSpPr>
          <p:cNvPr id="171" name="Line 171"/>
          <p:cNvSpPr/>
          <p:nvPr/>
        </p:nvSpPr>
        <p:spPr>
          <a:xfrm>
            <a:off x="2540198" y="3395662"/>
            <a:ext cx="151805" cy="48"/>
          </a:xfrm>
          <a:custGeom>
            <a:avLst/>
            <a:gdLst/>
            <a:ahLst/>
            <a:cxnLst/>
            <a:rect l="0" t="0" r="r" b="b"/>
            <a:pathLst>
              <a:path w="151805" h="1" fill="none">
                <a:moveTo>
                  <a:pt x="0" y="0"/>
                </a:moveTo>
                <a:lnTo>
                  <a:pt x="151805" y="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72" name="Line 172"/>
          <p:cNvSpPr/>
          <p:nvPr/>
        </p:nvSpPr>
        <p:spPr>
          <a:xfrm>
            <a:off x="2687241" y="3390900"/>
            <a:ext cx="48" cy="190500"/>
          </a:xfrm>
          <a:custGeom>
            <a:avLst/>
            <a:gdLst/>
            <a:ahLst/>
            <a:cxnLst/>
            <a:rect l="0" t="0" r="r" b="b"/>
            <a:pathLst>
              <a:path w="1" h="190500" fill="none">
                <a:moveTo>
                  <a:pt x="0" y="0"/>
                </a:moveTo>
                <a:lnTo>
                  <a:pt x="0" y="19050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73" name="Line 173"/>
          <p:cNvSpPr/>
          <p:nvPr/>
        </p:nvSpPr>
        <p:spPr>
          <a:xfrm>
            <a:off x="2540198" y="3576638"/>
            <a:ext cx="151805" cy="48"/>
          </a:xfrm>
          <a:custGeom>
            <a:avLst/>
            <a:gdLst/>
            <a:ahLst/>
            <a:cxnLst/>
            <a:rect l="0" t="0" r="r" b="b"/>
            <a:pathLst>
              <a:path w="151805" h="1" fill="none">
                <a:moveTo>
                  <a:pt x="0" y="0"/>
                </a:moveTo>
                <a:lnTo>
                  <a:pt x="151805" y="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74" name="Fill 174"/>
          <p:cNvSpPr/>
          <p:nvPr/>
        </p:nvSpPr>
        <p:spPr>
          <a:xfrm>
            <a:off x="2692003" y="3390900"/>
            <a:ext cx="151805" cy="190500"/>
          </a:xfrm>
          <a:prstGeom prst="rect">
            <a:avLst/>
          </a:prstGeom>
          <a:solidFill>
            <a:srgbClr val="174F45"/>
          </a:solidFill>
          <a:ln>
            <a:noFill/>
          </a:ln>
        </p:spPr>
      </p:sp>
      <p:sp xmlns:p14="http://schemas.microsoft.com/office/powerpoint/2010/main">
        <p:nvSpPr>
          <p:cNvPr id="175" name="Line 175"/>
          <p:cNvSpPr/>
          <p:nvPr/>
        </p:nvSpPr>
        <p:spPr>
          <a:xfrm>
            <a:off x="2692003" y="3395662"/>
            <a:ext cx="151805" cy="48"/>
          </a:xfrm>
          <a:custGeom>
            <a:avLst/>
            <a:gdLst/>
            <a:ahLst/>
            <a:cxnLst/>
            <a:rect l="0" t="0" r="r" b="b"/>
            <a:pathLst>
              <a:path w="151805" h="1" fill="none">
                <a:moveTo>
                  <a:pt x="0" y="0"/>
                </a:moveTo>
                <a:lnTo>
                  <a:pt x="151805" y="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76" name="Line 176"/>
          <p:cNvSpPr/>
          <p:nvPr/>
        </p:nvSpPr>
        <p:spPr>
          <a:xfrm>
            <a:off x="2839045" y="3390900"/>
            <a:ext cx="48" cy="190500"/>
          </a:xfrm>
          <a:custGeom>
            <a:avLst/>
            <a:gdLst/>
            <a:ahLst/>
            <a:cxnLst/>
            <a:rect l="0" t="0" r="r" b="b"/>
            <a:pathLst>
              <a:path w="1" h="190500" fill="none">
                <a:moveTo>
                  <a:pt x="0" y="0"/>
                </a:moveTo>
                <a:lnTo>
                  <a:pt x="0" y="19050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77" name="Line 177"/>
          <p:cNvSpPr/>
          <p:nvPr/>
        </p:nvSpPr>
        <p:spPr>
          <a:xfrm>
            <a:off x="2692003" y="3576638"/>
            <a:ext cx="151805" cy="48"/>
          </a:xfrm>
          <a:custGeom>
            <a:avLst/>
            <a:gdLst/>
            <a:ahLst/>
            <a:cxnLst/>
            <a:rect l="0" t="0" r="r" b="b"/>
            <a:pathLst>
              <a:path w="151805" h="1" fill="none">
                <a:moveTo>
                  <a:pt x="0" y="0"/>
                </a:moveTo>
                <a:lnTo>
                  <a:pt x="151805" y="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78" name="Fill 178"/>
          <p:cNvSpPr/>
          <p:nvPr/>
        </p:nvSpPr>
        <p:spPr>
          <a:xfrm>
            <a:off x="2843808" y="3390900"/>
            <a:ext cx="151805" cy="190500"/>
          </a:xfrm>
          <a:prstGeom prst="rect">
            <a:avLst/>
          </a:prstGeom>
          <a:solidFill>
            <a:srgbClr val="174F45"/>
          </a:solidFill>
          <a:ln>
            <a:noFill/>
          </a:ln>
        </p:spPr>
      </p:sp>
      <p:sp xmlns:p14="http://schemas.microsoft.com/office/powerpoint/2010/main">
        <p:nvSpPr>
          <p:cNvPr id="179" name="Line 179"/>
          <p:cNvSpPr/>
          <p:nvPr/>
        </p:nvSpPr>
        <p:spPr>
          <a:xfrm>
            <a:off x="2843808" y="3395662"/>
            <a:ext cx="151805" cy="48"/>
          </a:xfrm>
          <a:custGeom>
            <a:avLst/>
            <a:gdLst/>
            <a:ahLst/>
            <a:cxnLst/>
            <a:rect l="0" t="0" r="r" b="b"/>
            <a:pathLst>
              <a:path w="151805" h="1" fill="none">
                <a:moveTo>
                  <a:pt x="0" y="0"/>
                </a:moveTo>
                <a:lnTo>
                  <a:pt x="151805" y="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80" name="Line 180"/>
          <p:cNvSpPr/>
          <p:nvPr/>
        </p:nvSpPr>
        <p:spPr>
          <a:xfrm>
            <a:off x="2990850" y="3390900"/>
            <a:ext cx="48" cy="190500"/>
          </a:xfrm>
          <a:custGeom>
            <a:avLst/>
            <a:gdLst/>
            <a:ahLst/>
            <a:cxnLst/>
            <a:rect l="0" t="0" r="r" b="b"/>
            <a:pathLst>
              <a:path w="1" h="190500" fill="none">
                <a:moveTo>
                  <a:pt x="0" y="0"/>
                </a:moveTo>
                <a:lnTo>
                  <a:pt x="0" y="19050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81" name="Line 181"/>
          <p:cNvSpPr/>
          <p:nvPr/>
        </p:nvSpPr>
        <p:spPr>
          <a:xfrm>
            <a:off x="2843808" y="3576638"/>
            <a:ext cx="151805" cy="48"/>
          </a:xfrm>
          <a:custGeom>
            <a:avLst/>
            <a:gdLst/>
            <a:ahLst/>
            <a:cxnLst/>
            <a:rect l="0" t="0" r="r" b="b"/>
            <a:pathLst>
              <a:path w="151805" h="1" fill="none">
                <a:moveTo>
                  <a:pt x="0" y="0"/>
                </a:moveTo>
                <a:lnTo>
                  <a:pt x="151805" y="0"/>
                </a:lnTo>
              </a:path>
            </a:pathLst>
          </a:custGeom>
          <a:noFill/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82" name="Text 182"/>
          <p:cNvSpPr txBox="1"/>
          <p:nvPr/>
        </p:nvSpPr>
        <p:spPr>
          <a:xfrm>
            <a:off x="3148012" y="3312470"/>
            <a:ext cx="5522595" cy="3257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08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строка кэша: 128 Б на Apple (hw.cachelinesize), 64 Б на x86 → 16 ключей за одно чтение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83" name="Fill 183"/>
          <p:cNvSpPr/>
          <p:nvPr/>
        </p:nvSpPr>
        <p:spPr>
          <a:xfrm>
            <a:off x="557212" y="3771900"/>
            <a:ext cx="4762500" cy="311869"/>
          </a:xfrm>
          <a:prstGeom prst="roundRect">
            <a:avLst>
              <a:gd name="adj" fmla="val 18324"/>
            </a:avLst>
          </a:prstGeom>
          <a:solidFill>
            <a:srgbClr val="000000"/>
          </a:solidFill>
          <a:ln>
            <a:noFill/>
          </a:ln>
        </p:spPr>
      </p:sp>
      <p:sp xmlns:p14="http://schemas.microsoft.com/office/powerpoint/2010/main">
        <p:nvSpPr>
          <p:cNvPr id="184" name="Line 184"/>
          <p:cNvSpPr/>
          <p:nvPr/>
        </p:nvSpPr>
        <p:spPr>
          <a:xfrm>
            <a:off x="571500" y="3771900"/>
            <a:ext cx="48" cy="311869"/>
          </a:xfrm>
          <a:custGeom>
            <a:avLst/>
            <a:gdLst/>
            <a:ahLst/>
            <a:cxnLst/>
            <a:rect l="0" t="0" r="r" b="b"/>
            <a:pathLst>
              <a:path w="1" h="311869" fill="none">
                <a:moveTo>
                  <a:pt x="0" y="0"/>
                </a:moveTo>
                <a:lnTo>
                  <a:pt x="0" y="311869"/>
                </a:lnTo>
              </a:path>
            </a:pathLst>
          </a:custGeom>
          <a:noFill/>
          <a:ln w="28575">
            <a:solidFill>
              <a:srgbClr val="46CDAE"/>
            </a:solidFill>
          </a:ln>
        </p:spPr>
      </p:sp>
      <p:sp xmlns:p14="http://schemas.microsoft.com/office/powerpoint/2010/main">
        <p:nvSpPr>
          <p:cNvPr id="185" name="Text 185"/>
          <p:cNvSpPr txBox="1"/>
          <p:nvPr/>
        </p:nvSpPr>
        <p:spPr>
          <a:xfrm>
            <a:off x="700088" y="3839736"/>
            <a:ext cx="4610100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адреса известны заранее → десятки промахов в полёте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86" name="Fill 186"/>
          <p:cNvSpPr/>
          <p:nvPr/>
        </p:nvSpPr>
        <p:spPr>
          <a:xfrm>
            <a:off x="5472112" y="3771900"/>
            <a:ext cx="3009900" cy="311869"/>
          </a:xfrm>
          <a:prstGeom prst="roundRect">
            <a:avLst>
              <a:gd name="adj" fmla="val 18324"/>
            </a:avLst>
          </a:prstGeom>
          <a:solidFill>
            <a:srgbClr val="000000"/>
          </a:solidFill>
          <a:ln>
            <a:noFill/>
          </a:ln>
        </p:spPr>
      </p:sp>
      <p:sp xmlns:p14="http://schemas.microsoft.com/office/powerpoint/2010/main">
        <p:nvSpPr>
          <p:cNvPr id="187" name="Line 187"/>
          <p:cNvSpPr/>
          <p:nvPr/>
        </p:nvSpPr>
        <p:spPr>
          <a:xfrm>
            <a:off x="5486400" y="3771900"/>
            <a:ext cx="48" cy="311869"/>
          </a:xfrm>
          <a:custGeom>
            <a:avLst/>
            <a:gdLst/>
            <a:ahLst/>
            <a:cxnLst/>
            <a:rect l="0" t="0" r="r" b="b"/>
            <a:pathLst>
              <a:path w="1" h="311869" fill="none">
                <a:moveTo>
                  <a:pt x="0" y="0"/>
                </a:moveTo>
                <a:lnTo>
                  <a:pt x="0" y="311869"/>
                </a:lnTo>
              </a:path>
            </a:pathLst>
          </a:custGeom>
          <a:noFill/>
          <a:ln w="28575">
            <a:solidFill>
              <a:srgbClr val="E2489B"/>
            </a:solidFill>
          </a:ln>
        </p:spPr>
      </p:sp>
      <p:sp xmlns:p14="http://schemas.microsoft.com/office/powerpoint/2010/main">
        <p:nvSpPr>
          <p:cNvPr id="188" name="Text 188"/>
          <p:cNvSpPr txBox="1"/>
          <p:nvPr/>
        </p:nvSpPr>
        <p:spPr>
          <a:xfrm>
            <a:off x="5614988" y="3839736"/>
            <a:ext cx="2857500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адрес внутри узла → жди каждый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89" name="Text 189"/>
          <p:cNvSpPr txBox="1"/>
          <p:nvPr/>
        </p:nvSpPr>
        <p:spPr>
          <a:xfrm>
            <a:off x="557212" y="4690824"/>
            <a:ext cx="7936039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M2 Pro, P-ядро, userInitiated · задержки — мой замер зависимого чтения (pointer chasing, метод Drepper 2007) · полный график — в раунде 4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90" name="Picture 189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90" name="Slide Number 190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7" fill="hold">
                      <p:stCondLst>
                        <p:cond delay="indefinite"/>
                      </p:stCondLst>
                      <p:childTnLst>
                        <p:par>
                          <p:cTn id="248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4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4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4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4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4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4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4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4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4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4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4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4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4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4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4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4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4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4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4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4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4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4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4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4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4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4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4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4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6" dur="4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4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4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4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8" dur="4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4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4" dur="4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4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0" dur="4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4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6" dur="4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7" fill="hold">
                      <p:stCondLst>
                        <p:cond delay="indefinite"/>
                      </p:stCondLst>
                      <p:childTnLst>
                        <p:par>
                          <p:cTn id="268" fill="hold">
                            <p:stCondLst>
                              <p:cond delay="0"/>
                            </p:stCondLst>
                            <p:childTnLst>
                              <p:par>
                                <p:cTn id="2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4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4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4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4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4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4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" grpId="0" animBg="1"/>
      <p:bldP spid="105" grpId="0" animBg="1"/>
      <p:bldP spid="106" grpId="0" animBg="1"/>
      <p:bldP spid="107" grpId="0" animBg="1"/>
      <p:bldP spid="109" grpId="0" animBg="1"/>
      <p:bldP spid="111" grpId="0" animBg="1"/>
      <p:bldP spid="112" grpId="0" animBg="1"/>
      <p:bldP spid="114" grpId="0" animBg="1"/>
      <p:bldP spid="115" grpId="0" animBg="1"/>
      <p:bldP spid="117" grpId="0" animBg="1"/>
      <p:bldP spid="118" grpId="0" animBg="1"/>
      <p:bldP spid="120" grpId="0" animBg="1"/>
      <p:bldP spid="182" grpId="0" animBg="1"/>
      <p:bldP spid="185" grpId="0" animBg="1"/>
      <p:bldP spid="188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РАУНД </a:t>
            </a:r>
            <a:r>
              <a:rPr lang="ru-RU" sz="1099" b="0" i="0" spc="94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</a:t>
            </a: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ИЗ 4 · РАЗМЕР И ПАМЯТЬ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МИЛЛИОН ЭЛЕМЕНТОВ — МИЛЛИОН ВЫЗОВОВ new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Fill 103"/>
          <p:cNvSpPr/>
          <p:nvPr/>
        </p:nvSpPr>
        <p:spPr>
          <a:xfrm>
            <a:off x="557212" y="1349916"/>
            <a:ext cx="5619750" cy="322659"/>
          </a:xfrm>
          <a:prstGeom prst="roundRect">
            <a:avLst>
              <a:gd name="adj" fmla="val 17712"/>
            </a:avLst>
          </a:prstGeom>
          <a:solidFill>
            <a:srgbClr val="0B2B26"/>
          </a:solidFill>
          <a:ln>
            <a:noFill/>
          </a:ln>
        </p:spPr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690562" y="1410724"/>
            <a:ext cx="5476875" cy="20833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buNone/>
            </a:pPr>
            <a:r>
              <a:rPr lang="ru-RU" sz="1242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Сколько вызовов new: 0, 1 000 или 1 000 000?</a:t>
            </a:r>
            <a:endParaRPr lang="ru-RU" sz="1242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Fill 105"/>
          <p:cNvSpPr/>
          <p:nvPr/>
        </p:nvSpPr>
        <p:spPr>
          <a:xfrm>
            <a:off x="557212" y="1845216"/>
            <a:ext cx="2514600" cy="209550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>
            <a:noFill/>
          </a:ln>
        </p:spPr>
      </p:sp>
      <p:sp xmlns:p14="http://schemas.microsoft.com/office/powerpoint/2010/main">
        <p:nvSpPr>
          <p:cNvPr id="106" name="Line 106"/>
          <p:cNvSpPr/>
          <p:nvPr/>
        </p:nvSpPr>
        <p:spPr>
          <a:xfrm>
            <a:off x="557212" y="1864266"/>
            <a:ext cx="2514600" cy="48"/>
          </a:xfrm>
          <a:custGeom>
            <a:avLst/>
            <a:gdLst/>
            <a:ahLst/>
            <a:cxnLst/>
            <a:rect l="0" t="0" r="r" b="b"/>
            <a:pathLst>
              <a:path w="2514600" h="1" fill="none">
                <a:moveTo>
                  <a:pt x="0" y="0"/>
                </a:moveTo>
                <a:lnTo>
                  <a:pt x="2514600" y="0"/>
                </a:lnTo>
              </a:path>
            </a:pathLst>
          </a:custGeom>
          <a:noFill/>
          <a:ln w="38100">
            <a:solidFill>
              <a:srgbClr val="46CDAE"/>
            </a:solidFill>
          </a:ln>
        </p:spPr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728662" y="2006426"/>
            <a:ext cx="2265426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 + unique</a:t>
            </a:r>
            <a:endParaRPr lang="ru-RU" sz="1104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728662" y="2282089"/>
            <a:ext cx="2265426" cy="4747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588"/>
              </a:lnSpc>
              <a:spcBef>
                <a:spcPts val="0"/>
              </a:spcBef>
              <a:buNone/>
            </a:pPr>
            <a:r>
              <a:rPr lang="ru-RU" sz="3588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0</a:t>
            </a:r>
            <a:endParaRPr lang="ru-RU" sz="3588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728662" y="2741503"/>
            <a:ext cx="2265426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вызовов new · на месте</a:t>
            </a:r>
            <a:endParaRPr lang="ru-RU" sz="966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0" name="Fill 110"/>
          <p:cNvSpPr/>
          <p:nvPr/>
        </p:nvSpPr>
        <p:spPr>
          <a:xfrm>
            <a:off x="3262312" y="1845216"/>
            <a:ext cx="2514600" cy="209550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>
            <a:noFill/>
          </a:ln>
        </p:spPr>
      </p:sp>
      <p:sp xmlns:p14="http://schemas.microsoft.com/office/powerpoint/2010/main">
        <p:nvSpPr>
          <p:cNvPr id="111" name="Line 111"/>
          <p:cNvSpPr/>
          <p:nvPr/>
        </p:nvSpPr>
        <p:spPr>
          <a:xfrm>
            <a:off x="3262312" y="1864266"/>
            <a:ext cx="2514600" cy="48"/>
          </a:xfrm>
          <a:custGeom>
            <a:avLst/>
            <a:gdLst/>
            <a:ahLst/>
            <a:cxnLst/>
            <a:rect l="0" t="0" r="r" b="b"/>
            <a:pathLst>
              <a:path w="2514600" h="1" fill="none">
                <a:moveTo>
                  <a:pt x="0" y="0"/>
                </a:moveTo>
                <a:lnTo>
                  <a:pt x="2514600" y="0"/>
                </a:lnTo>
              </a:path>
            </a:pathLst>
          </a:custGeom>
          <a:noFill/>
          <a:ln w="38100">
            <a:solidFill>
              <a:srgbClr val="E2489B"/>
            </a:solidFill>
          </a:ln>
        </p:spPr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3433762" y="2006426"/>
            <a:ext cx="2265426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unordered_set</a:t>
            </a:r>
            <a:endParaRPr lang="ru-RU" sz="1104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3433762" y="2282089"/>
            <a:ext cx="2265426" cy="4747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588"/>
              </a:lnSpc>
              <a:spcBef>
                <a:spcPts val="0"/>
              </a:spcBef>
              <a:buNone/>
            </a:pPr>
            <a:r>
              <a:rPr lang="ru-RU" sz="3588" b="1" i="0" dirty="0">
                <a:solidFill>
                  <a:srgbClr val="E2489B"/>
                </a:solidFill>
                <a:latin typeface="Montserrat"/>
                <a:ea typeface="Montserrat"/>
                <a:cs typeface="Montserrat"/>
                <a:sym typeface="Montserrat"/>
              </a:rPr>
              <a:t>≈1 млн</a:t>
            </a:r>
            <a:endParaRPr lang="ru-RU" sz="3588" b="1" i="0" dirty="0">
              <a:solidFill>
                <a:srgbClr val="E2489B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3433762" y="2741503"/>
            <a:ext cx="2265426" cy="33802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вызовов new · запрошено 33,6 МБ, с округлением malloc ≈42 МБ</a:t>
            </a:r>
            <a:endParaRPr lang="ru-RU" sz="966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3433762" y="3108067"/>
            <a:ext cx="2265426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+ миллион delete в деструкторе</a:t>
            </a:r>
            <a:endParaRPr lang="ru-RU" sz="966" b="0" i="0" dirty="0">
              <a:solidFill>
                <a:srgbClr val="E2489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6" name="Fill 116"/>
          <p:cNvSpPr/>
          <p:nvPr/>
        </p:nvSpPr>
        <p:spPr>
          <a:xfrm>
            <a:off x="5967412" y="1845216"/>
            <a:ext cx="2514600" cy="209550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>
            <a:noFill/>
          </a:ln>
        </p:spPr>
      </p:sp>
      <p:sp xmlns:p14="http://schemas.microsoft.com/office/powerpoint/2010/main">
        <p:nvSpPr>
          <p:cNvPr id="117" name="Line 117"/>
          <p:cNvSpPr/>
          <p:nvPr/>
        </p:nvSpPr>
        <p:spPr>
          <a:xfrm>
            <a:off x="5967412" y="1864266"/>
            <a:ext cx="2514600" cy="48"/>
          </a:xfrm>
          <a:custGeom>
            <a:avLst/>
            <a:gdLst/>
            <a:ahLst/>
            <a:cxnLst/>
            <a:rect l="0" t="0" r="r" b="b"/>
            <a:pathLst>
              <a:path w="2514600" h="1" fill="none">
                <a:moveTo>
                  <a:pt x="0" y="0"/>
                </a:moveTo>
                <a:lnTo>
                  <a:pt x="2514600" y="0"/>
                </a:lnTo>
              </a:path>
            </a:pathLst>
          </a:custGeom>
          <a:noFill/>
          <a:ln w="38100">
            <a:solidFill>
              <a:srgbClr val="FFFFFF"/>
            </a:solidFill>
          </a:ln>
        </p:spPr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6138862" y="2006426"/>
            <a:ext cx="2265426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flat_hash_set</a:t>
            </a:r>
            <a:endParaRPr lang="ru-RU" sz="1104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9" name="Text 119"/>
          <p:cNvSpPr txBox="1"/>
          <p:nvPr/>
        </p:nvSpPr>
        <p:spPr>
          <a:xfrm>
            <a:off x="6138862" y="2282089"/>
            <a:ext cx="2265426" cy="4747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588"/>
              </a:lnSpc>
              <a:spcBef>
                <a:spcPts val="0"/>
              </a:spcBef>
              <a:buNone/>
            </a:pPr>
            <a:r>
              <a:rPr lang="ru-RU" sz="3588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 lang="ru-RU" sz="3588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6138862" y="2741503"/>
            <a:ext cx="2265426" cy="33802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вызов new · 18,9 МБ на всю таблицу</a:t>
            </a:r>
            <a:endParaRPr lang="ru-RU" sz="966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1" name="Text 121"/>
          <p:cNvSpPr txBox="1"/>
          <p:nvPr/>
        </p:nvSpPr>
        <p:spPr>
          <a:xfrm>
            <a:off x="557212" y="4027601"/>
            <a:ext cx="8191119" cy="33802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Notification Service Extension ~24 МБ, виджет ~30 МБ — наблюдаемые лимиты jetsam · x86: деструктор ≈30% времени · МБ = 10⁶ байт</a:t>
            </a:r>
            <a:endParaRPr lang="ru-RU" sz="966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557212" y="4690824"/>
            <a:ext cx="7936039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N = U = 2²⁰, все id разные — как в голосовании · libc++ · вызовы посчитаны подменой operator new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3" name="Picture 12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23" name="Slide Number 123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7" grpId="0" animBg="1"/>
      <p:bldP spid="108" grpId="0" animBg="1"/>
      <p:bldP spid="109" grpId="0" animBg="1"/>
      <p:bldP spid="112" grpId="0" animBg="1"/>
      <p:bldP spid="113" grpId="0" animBg="1"/>
      <p:bldP spid="114" grpId="0" animBg="1"/>
      <p:bldP spid="115" grpId="0" animBg="1"/>
      <p:bldP spid="121" grpId="0" animBg="1"/>
      <p:bldP spid="118" grpId="0" animBg="1"/>
      <p:bldP spid="119" grpId="0" animBg="1"/>
      <p:bldP spid="120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РАУНД </a:t>
            </a:r>
            <a:r>
              <a:rPr lang="ru-RU" sz="1099" b="0" i="0" spc="94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2</a:t>
            </a: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ИЗ 4 · РЕАЛИЗАЦИЯ ХЕША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60073"/>
            <a:ext cx="6781800" cy="8819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40"/>
              </a:lnSpc>
              <a:spcBef>
                <a:spcPts val="0"/>
              </a:spcBef>
              <a:buNone/>
            </a:pPr>
            <a:r>
              <a:rPr lang="ru-RU" sz="20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ПЛОСКАЯ ТАБЛИЦА: КЛЮЧИ В САМОМ МАССИВЕ, ОДНА АЛЛОКАЦИЯ НА ВСЮ ТАБЛИЦУ</a:t>
            </a:r>
            <a:endParaRPr lang="ru-RU" sz="20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630308"/>
            <a:ext cx="3324987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80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Узловая · unordered_set</a:t>
            </a:r>
            <a:endParaRPr lang="ru-RU" sz="1104" b="0" i="0" dirty="0">
              <a:solidFill>
                <a:srgbClr val="E2489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grpSp xmlns:p14="http://schemas.microsoft.com/office/powerpoint/2010/main">
        <p:nvGrpSpPr>
          <p:cNvPr id="119" name="Chart 119"/>
          <p:cNvGrpSpPr/>
          <p:nvPr/>
        </p:nvGrpSpPr>
        <p:grpSpPr>
          <a:xfrm>
            <a:off x="561975" y="2024062"/>
            <a:ext cx="2890837" cy="1404938"/>
            <a:chOff x="561975" y="2024062"/>
            <a:chExt cx="2890837" cy="1404938"/>
          </a:xfrm>
        </p:grpSpPr>
        <p:sp>
          <p:nvSpPr>
            <p:cNvPr id="104" name="Rect 104"/>
            <p:cNvSpPr/>
            <p:nvPr/>
          </p:nvSpPr>
          <p:spPr>
            <a:xfrm>
              <a:off x="561975" y="2024062"/>
              <a:ext cx="2286000" cy="333375"/>
            </a:xfrm>
            <a:prstGeom prst="roundRect">
              <a:avLst>
                <a:gd name="adj" fmla="val 11428"/>
              </a:avLst>
            </a:prstGeom>
            <a:solidFill>
              <a:srgbClr val="5E1C42"/>
            </a:solidFill>
            <a:ln w="9525">
              <a:solidFill>
                <a:srgbClr val="E2489B"/>
              </a:solidFill>
            </a:ln>
          </p:spPr>
        </p:sp>
        <p:sp>
          <p:nvSpPr>
            <p:cNvPr id="105" name="Line 105"/>
            <p:cNvSpPr/>
            <p:nvPr/>
          </p:nvSpPr>
          <p:spPr>
            <a:xfrm>
              <a:off x="942975" y="2024062"/>
              <a:ext cx="48" cy="333375"/>
            </a:xfrm>
            <a:custGeom>
              <a:avLst/>
              <a:gdLst/>
              <a:ahLst/>
              <a:cxnLst/>
              <a:rect l="0" t="0" r="r" b="b"/>
              <a:pathLst>
                <a:path w="1" h="333375" fill="none">
                  <a:moveTo>
                    <a:pt x="0" y="0"/>
                  </a:moveTo>
                  <a:lnTo>
                    <a:pt x="0" y="333375"/>
                  </a:lnTo>
                </a:path>
              </a:pathLst>
            </a:custGeom>
            <a:noFill/>
            <a:ln w="9525">
              <a:solidFill>
                <a:srgbClr val="E2489B"/>
              </a:solidFill>
            </a:ln>
          </p:spPr>
        </p:sp>
        <p:sp>
          <p:nvSpPr>
            <p:cNvPr id="106" name="Line 106"/>
            <p:cNvSpPr/>
            <p:nvPr/>
          </p:nvSpPr>
          <p:spPr>
            <a:xfrm>
              <a:off x="1323975" y="2024062"/>
              <a:ext cx="48" cy="333375"/>
            </a:xfrm>
            <a:custGeom>
              <a:avLst/>
              <a:gdLst/>
              <a:ahLst/>
              <a:cxnLst/>
              <a:rect l="0" t="0" r="r" b="b"/>
              <a:pathLst>
                <a:path w="1" h="333375" fill="none">
                  <a:moveTo>
                    <a:pt x="0" y="0"/>
                  </a:moveTo>
                  <a:lnTo>
                    <a:pt x="0" y="333375"/>
                  </a:lnTo>
                </a:path>
              </a:pathLst>
            </a:custGeom>
            <a:noFill/>
            <a:ln w="9525">
              <a:solidFill>
                <a:srgbClr val="E2489B"/>
              </a:solidFill>
            </a:ln>
          </p:spPr>
        </p:sp>
        <p:sp>
          <p:nvSpPr>
            <p:cNvPr id="107" name="Line 107"/>
            <p:cNvSpPr/>
            <p:nvPr/>
          </p:nvSpPr>
          <p:spPr>
            <a:xfrm>
              <a:off x="1704975" y="2024062"/>
              <a:ext cx="48" cy="333375"/>
            </a:xfrm>
            <a:custGeom>
              <a:avLst/>
              <a:gdLst/>
              <a:ahLst/>
              <a:cxnLst/>
              <a:rect l="0" t="0" r="r" b="b"/>
              <a:pathLst>
                <a:path w="1" h="333375" fill="none">
                  <a:moveTo>
                    <a:pt x="0" y="0"/>
                  </a:moveTo>
                  <a:lnTo>
                    <a:pt x="0" y="333375"/>
                  </a:lnTo>
                </a:path>
              </a:pathLst>
            </a:custGeom>
            <a:noFill/>
            <a:ln w="9525">
              <a:solidFill>
                <a:srgbClr val="E2489B"/>
              </a:solidFill>
            </a:ln>
          </p:spPr>
        </p:sp>
        <p:sp>
          <p:nvSpPr>
            <p:cNvPr id="108" name="Line 108"/>
            <p:cNvSpPr/>
            <p:nvPr/>
          </p:nvSpPr>
          <p:spPr>
            <a:xfrm>
              <a:off x="2085975" y="2024062"/>
              <a:ext cx="48" cy="333375"/>
            </a:xfrm>
            <a:custGeom>
              <a:avLst/>
              <a:gdLst/>
              <a:ahLst/>
              <a:cxnLst/>
              <a:rect l="0" t="0" r="r" b="b"/>
              <a:pathLst>
                <a:path w="1" h="333375" fill="none">
                  <a:moveTo>
                    <a:pt x="0" y="0"/>
                  </a:moveTo>
                  <a:lnTo>
                    <a:pt x="0" y="333375"/>
                  </a:lnTo>
                </a:path>
              </a:pathLst>
            </a:custGeom>
            <a:noFill/>
            <a:ln w="9525">
              <a:solidFill>
                <a:srgbClr val="E2489B"/>
              </a:solidFill>
            </a:ln>
          </p:spPr>
        </p:sp>
        <p:sp>
          <p:nvSpPr>
            <p:cNvPr id="109" name="Line 109"/>
            <p:cNvSpPr/>
            <p:nvPr/>
          </p:nvSpPr>
          <p:spPr>
            <a:xfrm>
              <a:off x="2466975" y="2024062"/>
              <a:ext cx="48" cy="333375"/>
            </a:xfrm>
            <a:custGeom>
              <a:avLst/>
              <a:gdLst/>
              <a:ahLst/>
              <a:cxnLst/>
              <a:rect l="0" t="0" r="r" b="b"/>
              <a:pathLst>
                <a:path w="1" h="333375" fill="none">
                  <a:moveTo>
                    <a:pt x="0" y="0"/>
                  </a:moveTo>
                  <a:lnTo>
                    <a:pt x="0" y="333375"/>
                  </a:lnTo>
                </a:path>
              </a:pathLst>
            </a:custGeom>
            <a:noFill/>
            <a:ln w="9525">
              <a:solidFill>
                <a:srgbClr val="E2489B"/>
              </a:solidFill>
            </a:ln>
          </p:spPr>
        </p:sp>
        <p:sp>
          <p:nvSpPr>
            <p:cNvPr id="110" name="Rect 110"/>
            <p:cNvSpPr/>
            <p:nvPr/>
          </p:nvSpPr>
          <p:spPr>
            <a:xfrm>
              <a:off x="595312" y="2857500"/>
              <a:ext cx="609600" cy="304800"/>
            </a:xfrm>
            <a:prstGeom prst="roundRect">
              <a:avLst>
                <a:gd name="adj" fmla="val 12500"/>
              </a:avLst>
            </a:prstGeom>
            <a:solidFill>
              <a:srgbClr val="000000"/>
            </a:solidFill>
            <a:ln w="9525">
              <a:solidFill>
                <a:srgbClr val="E2489B"/>
              </a:solidFill>
            </a:ln>
          </p:spPr>
        </p:sp>
        <p:sp>
          <p:nvSpPr>
            <p:cNvPr id="111" name="Path 111"/>
            <p:cNvSpPr/>
            <p:nvPr/>
          </p:nvSpPr>
          <p:spPr>
            <a:xfrm>
              <a:off x="752475" y="2190750"/>
              <a:ext cx="144780" cy="652939"/>
            </a:xfrm>
            <a:custGeom>
              <a:avLst/>
              <a:gdLst/>
              <a:ahLst/>
              <a:cxnLst/>
              <a:rect l="0" t="0" r="r" b="b"/>
              <a:pathLst>
                <a:path w="144780" h="652939" fill="none">
                  <a:moveTo>
                    <a:pt x="0" y="0"/>
                  </a:moveTo>
                  <a:lnTo>
                    <a:pt x="144780" y="652939"/>
                  </a:lnTo>
                </a:path>
              </a:pathLst>
            </a:custGeom>
            <a:noFill/>
            <a:ln w="14288" cap="rnd">
              <a:solidFill>
                <a:srgbClr val="E2489B"/>
              </a:solidFill>
              <a:tailEnd type="arrow" w="med" len="med"/>
            </a:ln>
          </p:spPr>
        </p:sp>
        <p:sp>
          <p:nvSpPr>
            <p:cNvPr id="112" name="Dot 112"/>
            <p:cNvSpPr/>
            <p:nvPr/>
          </p:nvSpPr>
          <p:spPr>
            <a:xfrm>
              <a:off x="719138" y="2157412"/>
              <a:ext cx="66675" cy="66675"/>
            </a:xfrm>
            <a:prstGeom prst="ellipse">
              <a:avLst/>
            </a:prstGeom>
            <a:solidFill>
              <a:srgbClr val="E2489B"/>
            </a:solidFill>
            <a:ln>
              <a:noFill/>
            </a:ln>
          </p:spPr>
        </p:sp>
        <p:sp>
          <p:nvSpPr>
            <p:cNvPr id="113" name="Rect 113"/>
            <p:cNvSpPr/>
            <p:nvPr/>
          </p:nvSpPr>
          <p:spPr>
            <a:xfrm>
              <a:off x="1624012" y="3124200"/>
              <a:ext cx="609600" cy="304800"/>
            </a:xfrm>
            <a:prstGeom prst="roundRect">
              <a:avLst>
                <a:gd name="adj" fmla="val 12500"/>
              </a:avLst>
            </a:prstGeom>
            <a:solidFill>
              <a:srgbClr val="000000"/>
            </a:solidFill>
            <a:ln w="9525">
              <a:solidFill>
                <a:srgbClr val="E2489B"/>
              </a:solidFill>
            </a:ln>
          </p:spPr>
        </p:sp>
        <p:sp>
          <p:nvSpPr>
            <p:cNvPr id="114" name="Path 114"/>
            <p:cNvSpPr/>
            <p:nvPr/>
          </p:nvSpPr>
          <p:spPr>
            <a:xfrm>
              <a:off x="1514475" y="2190750"/>
              <a:ext cx="408623" cy="920591"/>
            </a:xfrm>
            <a:custGeom>
              <a:avLst/>
              <a:gdLst/>
              <a:ahLst/>
              <a:cxnLst/>
              <a:rect l="0" t="0" r="r" b="b"/>
              <a:pathLst>
                <a:path w="408623" h="920591" fill="none">
                  <a:moveTo>
                    <a:pt x="0" y="0"/>
                  </a:moveTo>
                  <a:lnTo>
                    <a:pt x="408623" y="920591"/>
                  </a:lnTo>
                </a:path>
              </a:pathLst>
            </a:custGeom>
            <a:noFill/>
            <a:ln w="14288" cap="rnd">
              <a:solidFill>
                <a:srgbClr val="E2489B"/>
              </a:solidFill>
              <a:tailEnd type="arrow" w="med" len="med"/>
            </a:ln>
          </p:spPr>
        </p:sp>
        <p:sp>
          <p:nvSpPr>
            <p:cNvPr id="115" name="Dot 115"/>
            <p:cNvSpPr/>
            <p:nvPr/>
          </p:nvSpPr>
          <p:spPr>
            <a:xfrm>
              <a:off x="1481138" y="2157412"/>
              <a:ext cx="66675" cy="66675"/>
            </a:xfrm>
            <a:prstGeom prst="ellipse">
              <a:avLst/>
            </a:prstGeom>
            <a:solidFill>
              <a:srgbClr val="E2489B"/>
            </a:solidFill>
            <a:ln>
              <a:noFill/>
            </a:ln>
          </p:spPr>
        </p:sp>
        <p:sp>
          <p:nvSpPr>
            <p:cNvPr id="116" name="Rect 116"/>
            <p:cNvSpPr/>
            <p:nvPr/>
          </p:nvSpPr>
          <p:spPr>
            <a:xfrm>
              <a:off x="2843212" y="2733675"/>
              <a:ext cx="609600" cy="304800"/>
            </a:xfrm>
            <a:prstGeom prst="roundRect">
              <a:avLst>
                <a:gd name="adj" fmla="val 12500"/>
              </a:avLst>
            </a:prstGeom>
            <a:solidFill>
              <a:srgbClr val="000000"/>
            </a:solidFill>
            <a:ln w="9525">
              <a:solidFill>
                <a:srgbClr val="E2489B"/>
              </a:solidFill>
            </a:ln>
          </p:spPr>
        </p:sp>
        <p:sp>
          <p:nvSpPr>
            <p:cNvPr id="117" name="Path 117"/>
            <p:cNvSpPr/>
            <p:nvPr/>
          </p:nvSpPr>
          <p:spPr>
            <a:xfrm>
              <a:off x="2657475" y="2190750"/>
              <a:ext cx="481012" cy="532447"/>
            </a:xfrm>
            <a:custGeom>
              <a:avLst/>
              <a:gdLst/>
              <a:ahLst/>
              <a:cxnLst/>
              <a:rect l="0" t="0" r="r" b="b"/>
              <a:pathLst>
                <a:path w="481012" h="532447" fill="none">
                  <a:moveTo>
                    <a:pt x="0" y="0"/>
                  </a:moveTo>
                  <a:lnTo>
                    <a:pt x="481012" y="532447"/>
                  </a:lnTo>
                </a:path>
              </a:pathLst>
            </a:custGeom>
            <a:noFill/>
            <a:ln w="14288" cap="rnd">
              <a:solidFill>
                <a:srgbClr val="E2489B"/>
              </a:solidFill>
              <a:tailEnd type="arrow" w="med" len="med"/>
            </a:ln>
          </p:spPr>
        </p:sp>
        <p:sp>
          <p:nvSpPr>
            <p:cNvPr id="118" name="Dot 118"/>
            <p:cNvSpPr/>
            <p:nvPr/>
          </p:nvSpPr>
          <p:spPr>
            <a:xfrm>
              <a:off x="2624138" y="2157412"/>
              <a:ext cx="66675" cy="66675"/>
            </a:xfrm>
            <a:prstGeom prst="ellipse">
              <a:avLst/>
            </a:prstGeom>
            <a:solidFill>
              <a:srgbClr val="E2489B"/>
            </a:solidFill>
            <a:ln>
              <a:noFill/>
            </a:ln>
          </p:spPr>
        </p:sp>
      </p:grp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571881" y="2796921"/>
            <a:ext cx="656463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42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21" name="Text 121"/>
          <p:cNvSpPr txBox="1"/>
          <p:nvPr/>
        </p:nvSpPr>
        <p:spPr>
          <a:xfrm>
            <a:off x="1600581" y="3063621"/>
            <a:ext cx="656463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50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2819781" y="2673096"/>
            <a:ext cx="656463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7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23" name="Text 123"/>
          <p:cNvSpPr txBox="1"/>
          <p:nvPr/>
        </p:nvSpPr>
        <p:spPr>
          <a:xfrm>
            <a:off x="557212" y="3573036"/>
            <a:ext cx="3168015" cy="33802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в ячейке указатель, ключ — в узле:</a:t>
            </a:r>
            <a:b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свой new на каждый ключ</a:t>
            </a:r>
            <a:endParaRPr lang="ru-RU" sz="966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4" name="Text 124"/>
          <p:cNvSpPr txBox="1"/>
          <p:nvPr/>
        </p:nvSpPr>
        <p:spPr>
          <a:xfrm>
            <a:off x="4138612" y="1630308"/>
            <a:ext cx="4502277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80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Плоская · flat_hash_set (Swiss Table)</a:t>
            </a:r>
            <a:endParaRPr lang="ru-RU" sz="1104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5" name="Box 125"/>
          <p:cNvSpPr/>
          <p:nvPr/>
        </p:nvSpPr>
        <p:spPr>
          <a:xfrm>
            <a:off x="4088606" y="1950244"/>
            <a:ext cx="3719512" cy="766762"/>
          </a:xfrm>
          <a:prstGeom prst="roundRect">
            <a:avLst>
              <a:gd name="adj" fmla="val 7317"/>
            </a:avLst>
          </a:prstGeom>
          <a:noFill/>
          <a:ln w="14288">
            <a:solidFill>
              <a:srgbClr val="8F8F8F"/>
            </a:solidFill>
            <a:prstDash val="dash"/>
          </a:ln>
        </p:spPr>
      </p:sp>
      <p:sp xmlns:p14="http://schemas.microsoft.com/office/powerpoint/2010/main">
        <p:nvSpPr>
          <p:cNvPr id="126" name="Box 126"/>
          <p:cNvSpPr/>
          <p:nvPr/>
        </p:nvSpPr>
        <p:spPr>
          <a:xfrm>
            <a:off x="4143375" y="2024062"/>
            <a:ext cx="409575" cy="333375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27" name="Text 127"/>
          <p:cNvSpPr txBox="1"/>
          <p:nvPr/>
        </p:nvSpPr>
        <p:spPr>
          <a:xfrm>
            <a:off x="4143375" y="1958721"/>
            <a:ext cx="409575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55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000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42</a:t>
            </a:r>
            <a:endParaRPr lang="ru-RU" sz="1200" b="1" i="0" dirty="0">
              <a:solidFill>
                <a:srgbClr val="00000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28" name="Box 128"/>
          <p:cNvSpPr/>
          <p:nvPr/>
        </p:nvSpPr>
        <p:spPr>
          <a:xfrm>
            <a:off x="4600575" y="2024062"/>
            <a:ext cx="409575" cy="333375"/>
          </a:xfrm>
          <a:prstGeom prst="rect">
            <a:avLst/>
          </a:prstGeom>
          <a:solidFill>
            <a:srgbClr val="4A4A4A"/>
          </a:solidFill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29" name="Box 129"/>
          <p:cNvSpPr/>
          <p:nvPr/>
        </p:nvSpPr>
        <p:spPr>
          <a:xfrm>
            <a:off x="5057775" y="2024062"/>
            <a:ext cx="409575" cy="333375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30" name="Text 130"/>
          <p:cNvSpPr txBox="1"/>
          <p:nvPr/>
        </p:nvSpPr>
        <p:spPr>
          <a:xfrm>
            <a:off x="5057775" y="1958721"/>
            <a:ext cx="409575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55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000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50</a:t>
            </a:r>
            <a:endParaRPr lang="ru-RU" sz="1200" b="1" i="0" dirty="0">
              <a:solidFill>
                <a:srgbClr val="00000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31" name="Box 131"/>
          <p:cNvSpPr/>
          <p:nvPr/>
        </p:nvSpPr>
        <p:spPr>
          <a:xfrm>
            <a:off x="5514975" y="2024062"/>
            <a:ext cx="409575" cy="333375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32" name="Text 132"/>
          <p:cNvSpPr txBox="1"/>
          <p:nvPr/>
        </p:nvSpPr>
        <p:spPr>
          <a:xfrm>
            <a:off x="5514975" y="1958721"/>
            <a:ext cx="409575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55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000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7</a:t>
            </a:r>
            <a:endParaRPr lang="ru-RU" sz="1200" b="1" i="0" dirty="0">
              <a:solidFill>
                <a:srgbClr val="00000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33" name="Box 133"/>
          <p:cNvSpPr/>
          <p:nvPr/>
        </p:nvSpPr>
        <p:spPr>
          <a:xfrm>
            <a:off x="5972175" y="2024062"/>
            <a:ext cx="409575" cy="333375"/>
          </a:xfrm>
          <a:prstGeom prst="rect">
            <a:avLst/>
          </a:prstGeom>
          <a:solidFill>
            <a:srgbClr val="4A4A4A"/>
          </a:solidFill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34" name="Box 134"/>
          <p:cNvSpPr/>
          <p:nvPr/>
        </p:nvSpPr>
        <p:spPr>
          <a:xfrm>
            <a:off x="6429375" y="2024062"/>
            <a:ext cx="409575" cy="333375"/>
          </a:xfrm>
          <a:prstGeom prst="rect">
            <a:avLst/>
          </a:prstGeom>
          <a:solidFill>
            <a:srgbClr val="4A4A4A"/>
          </a:solidFill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35" name="Box 135"/>
          <p:cNvSpPr/>
          <p:nvPr/>
        </p:nvSpPr>
        <p:spPr>
          <a:xfrm>
            <a:off x="6886575" y="2024062"/>
            <a:ext cx="409575" cy="333375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36" name="Text 136"/>
          <p:cNvSpPr txBox="1"/>
          <p:nvPr/>
        </p:nvSpPr>
        <p:spPr>
          <a:xfrm>
            <a:off x="6886575" y="1958721"/>
            <a:ext cx="409575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55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000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91</a:t>
            </a:r>
            <a:endParaRPr lang="ru-RU" sz="1200" b="1" i="0" dirty="0">
              <a:solidFill>
                <a:srgbClr val="00000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37" name="Box 137"/>
          <p:cNvSpPr/>
          <p:nvPr/>
        </p:nvSpPr>
        <p:spPr>
          <a:xfrm>
            <a:off x="7343775" y="2024062"/>
            <a:ext cx="409575" cy="333375"/>
          </a:xfrm>
          <a:prstGeom prst="rect">
            <a:avLst/>
          </a:prstGeom>
          <a:solidFill>
            <a:srgbClr val="4A4A4A"/>
          </a:solidFill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38" name="Box 138"/>
          <p:cNvSpPr/>
          <p:nvPr/>
        </p:nvSpPr>
        <p:spPr>
          <a:xfrm>
            <a:off x="4143375" y="2424112"/>
            <a:ext cx="409575" cy="219075"/>
          </a:xfrm>
          <a:prstGeom prst="rect">
            <a:avLst/>
          </a:prstGeom>
          <a:solidFill>
            <a:srgbClr val="000000"/>
          </a:solidFill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39" name="Text 139"/>
          <p:cNvSpPr txBox="1"/>
          <p:nvPr/>
        </p:nvSpPr>
        <p:spPr>
          <a:xfrm>
            <a:off x="4143375" y="2405634"/>
            <a:ext cx="409575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0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h7</a:t>
            </a:r>
            <a:endParaRPr lang="ru-RU" sz="10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0" name="Box 140"/>
          <p:cNvSpPr/>
          <p:nvPr/>
        </p:nvSpPr>
        <p:spPr>
          <a:xfrm>
            <a:off x="4600575" y="2424112"/>
            <a:ext cx="409575" cy="219075"/>
          </a:xfrm>
          <a:prstGeom prst="rect">
            <a:avLst/>
          </a:prstGeom>
          <a:solidFill>
            <a:srgbClr val="000000"/>
          </a:solidFill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41" name="Text 141"/>
          <p:cNvSpPr txBox="1"/>
          <p:nvPr/>
        </p:nvSpPr>
        <p:spPr>
          <a:xfrm>
            <a:off x="4600575" y="2405634"/>
            <a:ext cx="409575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0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∅</a:t>
            </a:r>
            <a:endParaRPr lang="ru-RU" sz="10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2" name="Box 142"/>
          <p:cNvSpPr/>
          <p:nvPr/>
        </p:nvSpPr>
        <p:spPr>
          <a:xfrm>
            <a:off x="5057775" y="2424112"/>
            <a:ext cx="409575" cy="219075"/>
          </a:xfrm>
          <a:prstGeom prst="rect">
            <a:avLst/>
          </a:prstGeom>
          <a:solidFill>
            <a:srgbClr val="000000"/>
          </a:solidFill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43" name="Text 143"/>
          <p:cNvSpPr txBox="1"/>
          <p:nvPr/>
        </p:nvSpPr>
        <p:spPr>
          <a:xfrm>
            <a:off x="5057775" y="2405634"/>
            <a:ext cx="409575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0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h7</a:t>
            </a:r>
            <a:endParaRPr lang="ru-RU" sz="10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4" name="Box 144"/>
          <p:cNvSpPr/>
          <p:nvPr/>
        </p:nvSpPr>
        <p:spPr>
          <a:xfrm>
            <a:off x="5514975" y="2424112"/>
            <a:ext cx="409575" cy="219075"/>
          </a:xfrm>
          <a:prstGeom prst="rect">
            <a:avLst/>
          </a:prstGeom>
          <a:solidFill>
            <a:srgbClr val="000000"/>
          </a:solidFill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45" name="Text 145"/>
          <p:cNvSpPr txBox="1"/>
          <p:nvPr/>
        </p:nvSpPr>
        <p:spPr>
          <a:xfrm>
            <a:off x="5514975" y="2405634"/>
            <a:ext cx="409575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0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h7</a:t>
            </a:r>
            <a:endParaRPr lang="ru-RU" sz="10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6" name="Box 146"/>
          <p:cNvSpPr/>
          <p:nvPr/>
        </p:nvSpPr>
        <p:spPr>
          <a:xfrm>
            <a:off x="5972175" y="2424112"/>
            <a:ext cx="409575" cy="219075"/>
          </a:xfrm>
          <a:prstGeom prst="rect">
            <a:avLst/>
          </a:prstGeom>
          <a:solidFill>
            <a:srgbClr val="000000"/>
          </a:solidFill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47" name="Text 147"/>
          <p:cNvSpPr txBox="1"/>
          <p:nvPr/>
        </p:nvSpPr>
        <p:spPr>
          <a:xfrm>
            <a:off x="5972175" y="2405634"/>
            <a:ext cx="409575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0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∅</a:t>
            </a:r>
            <a:endParaRPr lang="ru-RU" sz="10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8" name="Box 148"/>
          <p:cNvSpPr/>
          <p:nvPr/>
        </p:nvSpPr>
        <p:spPr>
          <a:xfrm>
            <a:off x="6429375" y="2424112"/>
            <a:ext cx="409575" cy="219075"/>
          </a:xfrm>
          <a:prstGeom prst="rect">
            <a:avLst/>
          </a:prstGeom>
          <a:solidFill>
            <a:srgbClr val="000000"/>
          </a:solidFill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49" name="Text 149"/>
          <p:cNvSpPr txBox="1"/>
          <p:nvPr/>
        </p:nvSpPr>
        <p:spPr>
          <a:xfrm>
            <a:off x="6429375" y="2405634"/>
            <a:ext cx="409575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0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∅</a:t>
            </a:r>
            <a:endParaRPr lang="ru-RU" sz="10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50" name="Box 150"/>
          <p:cNvSpPr/>
          <p:nvPr/>
        </p:nvSpPr>
        <p:spPr>
          <a:xfrm>
            <a:off x="6886575" y="2424112"/>
            <a:ext cx="409575" cy="219075"/>
          </a:xfrm>
          <a:prstGeom prst="rect">
            <a:avLst/>
          </a:prstGeom>
          <a:solidFill>
            <a:srgbClr val="000000"/>
          </a:solidFill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51" name="Text 151"/>
          <p:cNvSpPr txBox="1"/>
          <p:nvPr/>
        </p:nvSpPr>
        <p:spPr>
          <a:xfrm>
            <a:off x="6886575" y="2405634"/>
            <a:ext cx="409575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0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h7</a:t>
            </a:r>
            <a:endParaRPr lang="ru-RU" sz="10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52" name="Box 152"/>
          <p:cNvSpPr/>
          <p:nvPr/>
        </p:nvSpPr>
        <p:spPr>
          <a:xfrm>
            <a:off x="7343775" y="2424112"/>
            <a:ext cx="409575" cy="219075"/>
          </a:xfrm>
          <a:prstGeom prst="rect">
            <a:avLst/>
          </a:prstGeom>
          <a:solidFill>
            <a:srgbClr val="000000"/>
          </a:solidFill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53" name="Text 153"/>
          <p:cNvSpPr txBox="1"/>
          <p:nvPr/>
        </p:nvSpPr>
        <p:spPr>
          <a:xfrm>
            <a:off x="7343775" y="2405634"/>
            <a:ext cx="409575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650"/>
              </a:lnSpc>
              <a:spcBef>
                <a:spcPts val="0"/>
              </a:spcBef>
              <a:buNone/>
            </a:pPr>
            <a:r>
              <a:rPr lang="ru-RU" sz="10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∅</a:t>
            </a:r>
            <a:endParaRPr lang="ru-RU" sz="10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54" name="Text 154"/>
          <p:cNvSpPr txBox="1"/>
          <p:nvPr/>
        </p:nvSpPr>
        <p:spPr>
          <a:xfrm>
            <a:off x="7891462" y="2104166"/>
            <a:ext cx="636842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ключи</a:t>
            </a:r>
            <a:endParaRPr lang="ru-RU" sz="966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5" name="Text 155"/>
          <p:cNvSpPr txBox="1"/>
          <p:nvPr/>
        </p:nvSpPr>
        <p:spPr>
          <a:xfrm>
            <a:off x="7891462" y="2447066"/>
            <a:ext cx="636842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метки</a:t>
            </a:r>
            <a:endParaRPr lang="ru-RU" sz="966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6" name="Text 156"/>
          <p:cNvSpPr txBox="1"/>
          <p:nvPr/>
        </p:nvSpPr>
        <p:spPr>
          <a:xfrm>
            <a:off x="4138612" y="2811036"/>
            <a:ext cx="4502277" cy="33802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группа: 8 слотов на ARM, 16 на x86 ·</a:t>
            </a:r>
            <a:b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одно векторное сравнение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7" name="Text 157"/>
          <p:cNvSpPr txBox="1"/>
          <p:nvPr/>
        </p:nvSpPr>
        <p:spPr>
          <a:xfrm>
            <a:off x="4138612" y="3232879"/>
            <a:ext cx="4502277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метка: ∅ — пусто, h7 — 7 бит хеша</a:t>
            </a:r>
            <a:endParaRPr lang="ru-RU" sz="966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8" name="Text 158"/>
          <p:cNvSpPr txBox="1"/>
          <p:nvPr/>
        </p:nvSpPr>
        <p:spPr>
          <a:xfrm>
            <a:off x="4138612" y="3514010"/>
            <a:ext cx="4502277" cy="3835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 аллокация</a:t>
            </a: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на всю таблицу</a:t>
            </a:r>
            <a:b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цена: ссылки не переживают рост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9" name="Text 159"/>
          <p:cNvSpPr txBox="1"/>
          <p:nvPr/>
        </p:nvSpPr>
        <p:spPr>
          <a:xfrm>
            <a:off x="557212" y="4066460"/>
            <a:ext cx="8191119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так же устроены:</a:t>
            </a: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map в Go ≥ 1.24, HashMap в Rust (hashbrown)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60" name="Text 160"/>
          <p:cNvSpPr txBox="1"/>
          <p:nvPr/>
        </p:nvSpPr>
        <p:spPr>
          <a:xfrm>
            <a:off x="557212" y="4690824"/>
            <a:ext cx="7936039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absl::flat_hash_set, Abseil 20260817 · Matt Kulukundis, CppCon 2017 · на схеме группа 8 — как на M2 и iPhone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61" name="Picture 16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61" name="Slide Number 161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indefinite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4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" grpId="0" animBg="1"/>
      <p:bldP spid="120" grpId="0" animBg="1"/>
      <p:bldP spid="121" grpId="0" animBg="1"/>
      <p:bldP spid="122" grpId="0" animBg="1"/>
      <p:bldP spid="123" grpId="0" animBg="1"/>
      <p:bldP spid="124" grpId="0" animBg="1"/>
      <p:bldP spid="127" grpId="0" animBg="1"/>
      <p:bldP spid="130" grpId="0" animBg="1"/>
      <p:bldP spid="132" grpId="0" animBg="1"/>
      <p:bldP spid="136" grpId="0" animBg="1"/>
      <p:bldP spid="139" grpId="0" animBg="1"/>
      <p:bldP spid="141" grpId="0" animBg="1"/>
      <p:bldP spid="143" grpId="0" animBg="1"/>
      <p:bldP spid="145" grpId="0" animBg="1"/>
      <p:bldP spid="147" grpId="0" animBg="1"/>
      <p:bldP spid="149" grpId="0" animBg="1"/>
      <p:bldP spid="151" grpId="0" animBg="1"/>
      <p:bldP spid="153" grpId="0" animBg="1"/>
      <p:bldP spid="154" grpId="0" animBg="1"/>
      <p:bldP spid="155" grpId="0" animBg="1"/>
      <p:bldP spid="156" grpId="0" animBg="1"/>
      <p:bldP spid="157" grpId="0" animBg="1"/>
      <p:bldP spid="158" grpId="0" animBg="1"/>
      <p:bldP spid="159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РАУНД </a:t>
            </a:r>
            <a:r>
              <a:rPr lang="ru-RU" sz="1099" b="0" i="0" spc="94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2</a:t>
            </a: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ИЗ 4 · РЕАЛИЗАЦИЯ ХЕША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ТА ЖЕ O(1), ДРУГАЯ ПАМЯТЬ: flat_hash_set В 1,7 РАЗА БЫСТРЕЕ СОРТИРОВКИ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499329"/>
            <a:ext cx="4933950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нс на элемент · меньше — лучше</a:t>
            </a:r>
            <a:endParaRPr lang="ru-RU" sz="966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557212" y="1820808"/>
            <a:ext cx="1647349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80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unordered_set</a:t>
            </a:r>
            <a:endParaRPr lang="ru-RU" sz="1104" b="0" i="0" dirty="0">
              <a:solidFill>
                <a:srgbClr val="E2489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Fill 105"/>
          <p:cNvSpPr/>
          <p:nvPr/>
        </p:nvSpPr>
        <p:spPr>
          <a:xfrm>
            <a:off x="2233612" y="1771650"/>
            <a:ext cx="4886325" cy="304800"/>
          </a:xfrm>
          <a:prstGeom prst="roundRect">
            <a:avLst>
              <a:gd name="adj" fmla="val 12500"/>
            </a:avLst>
          </a:prstGeom>
          <a:solidFill>
            <a:srgbClr val="E2489B"/>
          </a:solidFill>
          <a:ln>
            <a:noFill/>
          </a:ln>
        </p:spPr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7234238" y="1813392"/>
            <a:ext cx="1009650" cy="23111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70"/>
              </a:lnSpc>
              <a:spcBef>
                <a:spcPts val="0"/>
              </a:spcBef>
              <a:buNone/>
            </a:pPr>
            <a:r>
              <a:rPr lang="ru-RU" sz="1518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51,3</a:t>
            </a:r>
            <a:endParaRPr lang="ru-RU" sz="1518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557212" y="2239908"/>
            <a:ext cx="1647349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80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 + unique</a:t>
            </a:r>
            <a:endParaRPr lang="ru-RU" sz="1104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Fill 108"/>
          <p:cNvSpPr/>
          <p:nvPr/>
        </p:nvSpPr>
        <p:spPr>
          <a:xfrm>
            <a:off x="2233612" y="2190750"/>
            <a:ext cx="1895475" cy="304800"/>
          </a:xfrm>
          <a:prstGeom prst="roundRect">
            <a:avLst>
              <a:gd name="adj" fmla="val 12500"/>
            </a:avLst>
          </a:prstGeom>
          <a:solidFill>
            <a:srgbClr val="46CDAE"/>
          </a:solidFill>
          <a:ln>
            <a:noFill/>
          </a:ln>
        </p:spPr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4243388" y="2232492"/>
            <a:ext cx="1009650" cy="23111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70"/>
              </a:lnSpc>
              <a:spcBef>
                <a:spcPts val="0"/>
              </a:spcBef>
              <a:buNone/>
            </a:pPr>
            <a:r>
              <a:rPr lang="ru-RU" sz="1518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19,9</a:t>
            </a:r>
            <a:endParaRPr lang="ru-RU" sz="1518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557212" y="2659008"/>
            <a:ext cx="1647349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80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flat_hash_set</a:t>
            </a:r>
            <a:endParaRPr lang="ru-RU" sz="1104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1" name="Fill 111"/>
          <p:cNvSpPr/>
          <p:nvPr/>
        </p:nvSpPr>
        <p:spPr>
          <a:xfrm>
            <a:off x="2233612" y="2609850"/>
            <a:ext cx="1114425" cy="304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</p:spPr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3462338" y="2651592"/>
            <a:ext cx="1009650" cy="23111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70"/>
              </a:lnSpc>
              <a:spcBef>
                <a:spcPts val="0"/>
              </a:spcBef>
              <a:buNone/>
            </a:pPr>
            <a:r>
              <a:rPr lang="ru-RU" sz="1518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11,7</a:t>
            </a:r>
            <a:endParaRPr lang="ru-RU" sz="1518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5472112" y="2277938"/>
            <a:ext cx="1571625" cy="5448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4140"/>
              </a:lnSpc>
              <a:spcBef>
                <a:spcPts val="0"/>
              </a:spcBef>
              <a:buNone/>
            </a:pPr>
            <a:r>
              <a:rPr lang="ru-RU" sz="4140" b="1" i="0" spc="-34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×1,7</a:t>
            </a:r>
            <a:endParaRPr lang="ru-RU" sz="4140" b="1" i="0" spc="-34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7072312" y="2355207"/>
            <a:ext cx="1480566" cy="3257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08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flat против</a:t>
            </a:r>
            <a:b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sort + unique</a:t>
            </a:r>
            <a:endParaRPr lang="ru-RU" sz="966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5" name="Box 115"/>
          <p:cNvSpPr/>
          <p:nvPr/>
        </p:nvSpPr>
        <p:spPr>
          <a:xfrm>
            <a:off x="6488906" y="3493294"/>
            <a:ext cx="1985962" cy="328612"/>
          </a:xfrm>
          <a:prstGeom prst="roundRect">
            <a:avLst>
              <a:gd name="adj" fmla="val 22222"/>
            </a:avLst>
          </a:prstGeom>
          <a:solidFill>
            <a:srgbClr val="000000"/>
          </a:solidFill>
          <a:ln w="14288">
            <a:solidFill>
              <a:srgbClr val="46CDAE"/>
            </a:solidFill>
          </a:ln>
        </p:spPr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6610350" y="3572531"/>
            <a:ext cx="1823942" cy="187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25"/>
              </a:lnSpc>
              <a:spcBef>
                <a:spcPts val="0"/>
              </a:spcBef>
              <a:buNone/>
            </a:pPr>
            <a:r>
              <a:rPr lang="ru-RU" sz="1104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B · с хеш-таблицы</a:t>
            </a:r>
            <a:endParaRPr lang="ru-RU" sz="1104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557212" y="3078108"/>
            <a:ext cx="1647349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80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9B87F5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radix + unique</a:t>
            </a:r>
            <a:endParaRPr lang="ru-RU" sz="1104" b="0" i="0" dirty="0">
              <a:solidFill>
                <a:srgbClr val="9B87F5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8" name="Fill 118"/>
          <p:cNvSpPr/>
          <p:nvPr/>
        </p:nvSpPr>
        <p:spPr>
          <a:xfrm>
            <a:off x="2233612" y="3133725"/>
            <a:ext cx="657225" cy="95250"/>
          </a:xfrm>
          <a:prstGeom prst="roundRect">
            <a:avLst>
              <a:gd name="adj" fmla="val 20000"/>
            </a:avLst>
          </a:prstGeom>
          <a:solidFill>
            <a:srgbClr val="9B87F5"/>
          </a:solidFill>
          <a:ln>
            <a:noFill/>
          </a:ln>
        </p:spPr>
      </p:sp>
      <p:sp xmlns:p14="http://schemas.microsoft.com/office/powerpoint/2010/main">
        <p:nvSpPr>
          <p:cNvPr id="119" name="Text 119"/>
          <p:cNvSpPr txBox="1"/>
          <p:nvPr/>
        </p:nvSpPr>
        <p:spPr>
          <a:xfrm>
            <a:off x="3005138" y="3070692"/>
            <a:ext cx="1009650" cy="23111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70"/>
              </a:lnSpc>
              <a:spcBef>
                <a:spcPts val="0"/>
              </a:spcBef>
              <a:buNone/>
            </a:pPr>
            <a:r>
              <a:rPr lang="ru-RU" sz="1518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6,9</a:t>
            </a:r>
            <a:endParaRPr lang="ru-RU" sz="1518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0" name="Box 120"/>
          <p:cNvSpPr/>
          <p:nvPr/>
        </p:nvSpPr>
        <p:spPr>
          <a:xfrm>
            <a:off x="3498056" y="3074194"/>
            <a:ext cx="214312" cy="214312"/>
          </a:xfrm>
          <a:prstGeom prst="ellipse">
            <a:avLst/>
          </a:prstGeom>
          <a:solidFill>
            <a:srgbClr val="46CDAE"/>
          </a:solidFill>
          <a:ln w="14288">
            <a:solidFill>
              <a:srgbClr val="46CDAE"/>
            </a:solidFill>
          </a:ln>
        </p:spPr>
      </p:sp>
      <p:sp xmlns:p14="http://schemas.microsoft.com/office/powerpoint/2010/main">
        <p:nvSpPr>
          <p:cNvPr id="121" name="Text 121"/>
          <p:cNvSpPr txBox="1"/>
          <p:nvPr/>
        </p:nvSpPr>
        <p:spPr>
          <a:xfrm>
            <a:off x="3500438" y="3057176"/>
            <a:ext cx="209550" cy="2190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75"/>
              </a:lnSpc>
              <a:spcBef>
                <a:spcPts val="0"/>
              </a:spcBef>
              <a:buNone/>
            </a:pPr>
            <a:r>
              <a:rPr lang="ru-RU" sz="1035" b="1" i="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 lang="ru-RU" sz="1035" b="1" i="0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3833812" y="3012432"/>
            <a:ext cx="4816221" cy="3257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08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8 проходов по байту ключа, без сравнений ·</a:t>
            </a:r>
            <a:b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только целые ключи · буфер на N</a:t>
            </a:r>
            <a:endParaRPr lang="ru-RU" sz="966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3" name="Text 123"/>
          <p:cNvSpPr txBox="1"/>
          <p:nvPr/>
        </p:nvSpPr>
        <p:spPr>
          <a:xfrm>
            <a:off x="557212" y="3952160"/>
            <a:ext cx="8191119" cy="3835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E2489B"/>
                </a:solidFill>
                <a:latin typeface="Montserrat"/>
                <a:ea typeface="Montserrat"/>
                <a:cs typeface="Montserrat"/>
                <a:sym typeface="Montserrat"/>
              </a:rPr>
              <a:t>узловые:</a:t>
            </a: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std::unordered_*, Java HashSet&lt;Long&gt;</a:t>
            </a:r>
            <a:b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плоские:</a:t>
            </a: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Abseil, Go ≥ 1.24, Rust, fastutil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4" name="Text 124"/>
          <p:cNvSpPr txBox="1"/>
          <p:nvPr/>
        </p:nvSpPr>
        <p:spPr>
          <a:xfrm>
            <a:off x="557212" y="4690824"/>
            <a:ext cx="7936039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N = U = 2²⁰ · M2 Pro, macOS, libc++, userInitiated · Abseil 20260817, reserve(N) · id — случайные 64-битные · flat и radix — только M2 Pro, userInitiated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5" name="Picture 12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25" name="Slide Number 125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" grpId="0" animBg="1"/>
      <p:bldP spid="106" grpId="0" animBg="1"/>
      <p:bldP spid="107" grpId="0" animBg="1"/>
      <p:bldP spid="109" grpId="0" animBg="1"/>
      <p:bldP spid="110" grpId="0" animBg="1"/>
      <p:bldP spid="112" grpId="0" animBg="1"/>
      <p:bldP spid="113" grpId="0" animBg="1"/>
      <p:bldP spid="114" grpId="0" animBg="1"/>
      <p:bldP spid="116" grpId="0" animBg="1"/>
      <p:bldP spid="117" grpId="0" animBg="1"/>
      <p:bldP spid="119" grpId="0" animBg="1"/>
      <p:bldP spid="121" grpId="0" animBg="1"/>
      <p:bldP spid="122" grpId="0" animBg="1"/>
      <p:bldP spid="123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СТАВКА №2 · РАУНД 3 ИЗ 4 · ДАННЫЕ И ТИКЕТ</a:t>
            </a:r>
            <a:endParaRPr lang="ru-RU" sz="1099" b="0" i="0" spc="94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3415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СОРТИРОВКА ИЛИ ХЕШ?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346929"/>
            <a:ext cx="8191119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Точка отсчёта — ставка №1: миллион id, все разные · нс на элемент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557212" y="1630308"/>
            <a:ext cx="1451134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80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 + unique</a:t>
            </a:r>
            <a:endParaRPr lang="ru-RU" sz="1104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Fill 105"/>
          <p:cNvSpPr/>
          <p:nvPr/>
        </p:nvSpPr>
        <p:spPr>
          <a:xfrm>
            <a:off x="2043112" y="1619250"/>
            <a:ext cx="947738" cy="228600"/>
          </a:xfrm>
          <a:prstGeom prst="roundRect">
            <a:avLst>
              <a:gd name="adj" fmla="val 12500"/>
            </a:avLst>
          </a:prstGeom>
          <a:solidFill>
            <a:srgbClr val="46CDAE"/>
          </a:solidFill>
          <a:ln>
            <a:noFill/>
          </a:ln>
        </p:spPr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3105150" y="1622908"/>
            <a:ext cx="617220" cy="20833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buNone/>
            </a:pPr>
            <a:r>
              <a:rPr lang="ru-RU" sz="1242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20</a:t>
            </a:r>
            <a:endParaRPr lang="ru-RU" sz="1242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557212" y="1954158"/>
            <a:ext cx="1451134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80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unordered_set</a:t>
            </a:r>
            <a:endParaRPr lang="ru-RU" sz="1104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Fill 108"/>
          <p:cNvSpPr/>
          <p:nvPr/>
        </p:nvSpPr>
        <p:spPr>
          <a:xfrm>
            <a:off x="2043112" y="1943100"/>
            <a:ext cx="2443162" cy="228600"/>
          </a:xfrm>
          <a:prstGeom prst="roundRect">
            <a:avLst>
              <a:gd name="adj" fmla="val 12500"/>
            </a:avLst>
          </a:prstGeom>
          <a:solidFill>
            <a:srgbClr val="E2489B"/>
          </a:solidFill>
          <a:ln>
            <a:noFill/>
          </a:ln>
        </p:spPr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4600575" y="1946758"/>
            <a:ext cx="581025" cy="20833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buNone/>
            </a:pPr>
            <a:r>
              <a:rPr lang="ru-RU" sz="1242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51</a:t>
            </a:r>
            <a:endParaRPr lang="ru-RU" sz="1242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5186362" y="1735816"/>
            <a:ext cx="2971800" cy="3275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29"/>
              </a:lnSpc>
              <a:spcBef>
                <a:spcPts val="0"/>
              </a:spcBef>
              <a:buNone/>
            </a:pPr>
            <a:r>
              <a:rPr lang="ru-RU" sz="2208" b="1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→</a:t>
            </a:r>
            <a:r>
              <a:rPr lang="ru-RU" sz="2208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×2,6</a:t>
            </a:r>
            <a:endParaRPr lang="ru-RU" sz="2208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557212" y="2443926"/>
            <a:ext cx="8191119" cy="713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732"/>
              </a:lnSpc>
              <a:spcBef>
                <a:spcPts val="0"/>
              </a:spcBef>
              <a:buNone/>
            </a:pPr>
            <a:r>
              <a:rPr lang="ru-RU" sz="2484" b="1" i="0" spc="-34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Тот же миллион. Уникальных — 1%.</a:t>
            </a:r>
            <a:br>
              <a:rPr lang="ru-RU" sz="2484" b="1" i="0" spc="-34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2484" b="1" i="0" spc="-34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Кто впереди?</a:t>
            </a:r>
            <a:endParaRPr lang="ru-RU" sz="2484" b="1" i="0" spc="-34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2" name="Box 112"/>
          <p:cNvSpPr/>
          <p:nvPr/>
        </p:nvSpPr>
        <p:spPr>
          <a:xfrm>
            <a:off x="564356" y="3398044"/>
            <a:ext cx="2538412" cy="823912"/>
          </a:xfrm>
          <a:prstGeom prst="roundRect">
            <a:avLst>
              <a:gd name="adj" fmla="val 9090"/>
            </a:avLst>
          </a:prstGeom>
          <a:solidFill>
            <a:srgbClr val="000000"/>
          </a:solidFill>
          <a:ln w="14288">
            <a:solidFill>
              <a:srgbClr val="8F8F8F"/>
            </a:solidFill>
          </a:ln>
        </p:spPr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723900" y="3589559"/>
            <a:ext cx="2314480" cy="288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25"/>
              </a:lnSpc>
              <a:spcBef>
                <a:spcPts val="0"/>
              </a:spcBef>
              <a:buNone/>
            </a:pPr>
            <a:r>
              <a:rPr lang="ru-RU" sz="1932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sort</a:t>
            </a:r>
            <a:endParaRPr lang="ru-RU" sz="1932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723900" y="3866301"/>
            <a:ext cx="2314480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sort + unique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5" name="Box 115"/>
          <p:cNvSpPr/>
          <p:nvPr/>
        </p:nvSpPr>
        <p:spPr>
          <a:xfrm>
            <a:off x="3250406" y="3398044"/>
            <a:ext cx="2538412" cy="823912"/>
          </a:xfrm>
          <a:prstGeom prst="roundRect">
            <a:avLst>
              <a:gd name="adj" fmla="val 9090"/>
            </a:avLst>
          </a:prstGeom>
          <a:solidFill>
            <a:srgbClr val="000000"/>
          </a:solidFill>
          <a:ln w="14288">
            <a:solidFill>
              <a:srgbClr val="8F8F8F"/>
            </a:solidFill>
          </a:ln>
        </p:spPr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3409950" y="3589559"/>
            <a:ext cx="2314480" cy="288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125"/>
              </a:lnSpc>
              <a:spcBef>
                <a:spcPts val="0"/>
              </a:spcBef>
              <a:buNone/>
            </a:pPr>
            <a:r>
              <a:rPr lang="ru-RU" sz="1932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хеш</a:t>
            </a:r>
            <a:endParaRPr lang="ru-RU" sz="1932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3409950" y="3866301"/>
            <a:ext cx="2314480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unordered_set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8" name="Picture 11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18" name="Slide Number 118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" grpId="0" animBg="1"/>
      <p:bldP spid="104" grpId="0" animBg="1"/>
      <p:bldP spid="106" grpId="0" animBg="1"/>
      <p:bldP spid="107" grpId="0" animBg="1"/>
      <p:bldP spid="109" grpId="0" animBg="1"/>
      <p:bldP spid="110" grpId="0" animBg="1"/>
      <p:bldP spid="111" grpId="0" animBg="1"/>
      <p:bldP spid="113" grpId="0" animBg="1"/>
      <p:bldP spid="114" grpId="0" animBg="1"/>
      <p:bldP spid="116" grpId="0" animBg="1"/>
      <p:bldP spid="117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РАУНД </a:t>
            </a:r>
            <a:r>
              <a:rPr lang="ru-RU" sz="1099" b="0" i="0" spc="94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3</a:t>
            </a: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ИЗ 4 · ДАННЫЕ И ТИКЕТ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60073"/>
            <a:ext cx="6781800" cy="8819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40"/>
              </a:lnSpc>
              <a:spcBef>
                <a:spcPts val="0"/>
              </a:spcBef>
              <a:buNone/>
            </a:pPr>
            <a:r>
              <a:rPr lang="ru-RU" sz="20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ПОБЕДИТЕЛЯ НАЗНАЧАЮТ ДАННЫЕ: 1% УНИКАЛЬНЫХ — ХЕШ ×3,7, 100% — СОРТИРОВКА ×2,6</a:t>
            </a:r>
            <a:endParaRPr lang="ru-RU" sz="20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580876"/>
            <a:ext cx="4933950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нс на элемент, лог. шкала · ниже — лучше</a:t>
            </a:r>
            <a:endParaRPr lang="ru-RU" sz="966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 xmlns:p14="http://schemas.microsoft.com/office/powerpoint/2010/main">
        <p:nvGrpSpPr>
          <p:cNvPr id="108" name="Chart 108"/>
          <p:cNvGrpSpPr/>
          <p:nvPr/>
        </p:nvGrpSpPr>
        <p:grpSpPr>
          <a:xfrm>
            <a:off x="938212" y="2134184"/>
            <a:ext cx="6000750" cy="1547861"/>
            <a:chOff x="938212" y="2134184"/>
            <a:chExt cx="6000750" cy="1547861"/>
          </a:xfrm>
        </p:grpSpPr>
        <p:sp>
          <p:nvSpPr>
            <p:cNvPr id="104" name="Line 104"/>
            <p:cNvSpPr/>
            <p:nvPr/>
          </p:nvSpPr>
          <p:spPr>
            <a:xfrm>
              <a:off x="938212" y="3181934"/>
              <a:ext cx="6000750" cy="48"/>
            </a:xfrm>
            <a:custGeom>
              <a:avLst/>
              <a:gdLst/>
              <a:ahLst/>
              <a:cxnLst/>
              <a:rect l="0" t="0" r="r" b="b"/>
              <a:pathLst>
                <a:path w="6000750" h="1" fill="none">
                  <a:moveTo>
                    <a:pt x="0" y="0"/>
                  </a:moveTo>
                  <a:lnTo>
                    <a:pt x="6000750" y="0"/>
                  </a:lnTo>
                </a:path>
              </a:pathLst>
            </a:custGeom>
            <a:noFill/>
            <a:ln w="4762">
              <a:solidFill>
                <a:srgbClr val="333333"/>
              </a:solidFill>
            </a:ln>
          </p:spPr>
        </p:sp>
        <p:sp>
          <p:nvSpPr>
            <p:cNvPr id="105" name="Line 105"/>
            <p:cNvSpPr/>
            <p:nvPr/>
          </p:nvSpPr>
          <p:spPr>
            <a:xfrm>
              <a:off x="938212" y="2634247"/>
              <a:ext cx="6000750" cy="48"/>
            </a:xfrm>
            <a:custGeom>
              <a:avLst/>
              <a:gdLst/>
              <a:ahLst/>
              <a:cxnLst/>
              <a:rect l="0" t="0" r="r" b="b"/>
              <a:pathLst>
                <a:path w="6000750" h="1" fill="none">
                  <a:moveTo>
                    <a:pt x="0" y="0"/>
                  </a:moveTo>
                  <a:lnTo>
                    <a:pt x="6000750" y="0"/>
                  </a:lnTo>
                </a:path>
              </a:pathLst>
            </a:custGeom>
            <a:noFill/>
            <a:ln w="4762">
              <a:solidFill>
                <a:srgbClr val="333333"/>
              </a:solidFill>
            </a:ln>
          </p:spPr>
        </p:sp>
        <p:sp>
          <p:nvSpPr>
            <p:cNvPr id="106" name="Line 106"/>
            <p:cNvSpPr/>
            <p:nvPr/>
          </p:nvSpPr>
          <p:spPr>
            <a:xfrm>
              <a:off x="938212" y="2134184"/>
              <a:ext cx="6000750" cy="48"/>
            </a:xfrm>
            <a:custGeom>
              <a:avLst/>
              <a:gdLst/>
              <a:ahLst/>
              <a:cxnLst/>
              <a:rect l="0" t="0" r="r" b="b"/>
              <a:pathLst>
                <a:path w="6000750" h="1" fill="none">
                  <a:moveTo>
                    <a:pt x="0" y="0"/>
                  </a:moveTo>
                  <a:lnTo>
                    <a:pt x="6000750" y="0"/>
                  </a:lnTo>
                </a:path>
              </a:pathLst>
            </a:custGeom>
            <a:noFill/>
            <a:ln w="4762">
              <a:solidFill>
                <a:srgbClr val="333333"/>
              </a:solidFill>
            </a:ln>
          </p:spPr>
        </p:sp>
        <p:sp>
          <p:nvSpPr>
            <p:cNvPr id="107" name="Line 107"/>
            <p:cNvSpPr/>
            <p:nvPr/>
          </p:nvSpPr>
          <p:spPr>
            <a:xfrm>
              <a:off x="938212" y="3681997"/>
              <a:ext cx="6000750" cy="48"/>
            </a:xfrm>
            <a:custGeom>
              <a:avLst/>
              <a:gdLst/>
              <a:ahLst/>
              <a:cxnLst/>
              <a:rect l="0" t="0" r="r" b="b"/>
              <a:pathLst>
                <a:path w="6000750" h="1" fill="none">
                  <a:moveTo>
                    <a:pt x="0" y="0"/>
                  </a:moveTo>
                  <a:lnTo>
                    <a:pt x="6000750" y="0"/>
                  </a:lnTo>
                </a:path>
              </a:pathLst>
            </a:custGeom>
            <a:noFill/>
            <a:ln w="9525">
              <a:solidFill>
                <a:srgbClr val="8F8F8F"/>
              </a:solidFill>
            </a:ln>
          </p:spPr>
        </p:sp>
      </p:grp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519494" y="3595413"/>
            <a:ext cx="342519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519494" y="3095351"/>
            <a:ext cx="342519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3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519494" y="2547663"/>
            <a:ext cx="342519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10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519494" y="2047601"/>
            <a:ext cx="342519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30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525780" y="3771626"/>
            <a:ext cx="1205865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все равны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2248852" y="3771626"/>
            <a:ext cx="617220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1%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3677602" y="3771626"/>
            <a:ext cx="617220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10%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5106352" y="3771626"/>
            <a:ext cx="617220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50%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6535102" y="3771626"/>
            <a:ext cx="617220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100%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7224712" y="3771626"/>
            <a:ext cx="1323594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доля уникальных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 xmlns:p14="http://schemas.microsoft.com/office/powerpoint/2010/main">
        <p:nvGrpSpPr>
          <p:cNvPr id="124" name="Chart 124"/>
          <p:cNvGrpSpPr/>
          <p:nvPr/>
        </p:nvGrpSpPr>
        <p:grpSpPr>
          <a:xfrm>
            <a:off x="1128712" y="1887487"/>
            <a:ext cx="5715000" cy="1711642"/>
            <a:chOff x="1128712" y="1887487"/>
            <a:chExt cx="5715000" cy="1711642"/>
          </a:xfrm>
        </p:grpSpPr>
        <p:sp>
          <p:nvSpPr>
            <p:cNvPr id="119" name="Line 119"/>
            <p:cNvSpPr/>
            <p:nvPr/>
          </p:nvSpPr>
          <p:spPr>
            <a:xfrm>
              <a:off x="1128712" y="2311349"/>
              <a:ext cx="5715000" cy="1287780"/>
            </a:xfrm>
            <a:custGeom>
              <a:avLst/>
              <a:gdLst/>
              <a:ahLst/>
              <a:cxnLst/>
              <a:rect l="0" t="0" r="r" b="b"/>
              <a:pathLst>
                <a:path w="5715000" h="1287780" fill="none">
                  <a:moveTo>
                    <a:pt x="0" y="1287780"/>
                  </a:moveTo>
                  <a:lnTo>
                    <a:pt x="1428750" y="240030"/>
                  </a:lnTo>
                  <a:lnTo>
                    <a:pt x="2857500" y="60960"/>
                  </a:lnTo>
                  <a:lnTo>
                    <a:pt x="4286250" y="0"/>
                  </a:lnTo>
                  <a:lnTo>
                    <a:pt x="5715000" y="12859"/>
                  </a:lnTo>
                </a:path>
              </a:pathLst>
            </a:custGeom>
            <a:noFill/>
            <a:ln w="28575" cap="rnd">
              <a:solidFill>
                <a:srgbClr val="46CDAE"/>
              </a:solidFill>
              <a:round/>
            </a:ln>
          </p:spPr>
        </p:sp>
        <p:sp>
          <p:nvSpPr>
            <p:cNvPr id="120" name="Line 120"/>
            <p:cNvSpPr/>
            <p:nvPr/>
          </p:nvSpPr>
          <p:spPr>
            <a:xfrm>
              <a:off x="1128712" y="1887487"/>
              <a:ext cx="5715000" cy="1480185"/>
            </a:xfrm>
            <a:custGeom>
              <a:avLst/>
              <a:gdLst/>
              <a:ahLst/>
              <a:cxnLst/>
              <a:rect l="0" t="0" r="r" b="b"/>
              <a:pathLst>
                <a:path w="5715000" h="1480185" fill="none">
                  <a:moveTo>
                    <a:pt x="0" y="1480185"/>
                  </a:moveTo>
                  <a:lnTo>
                    <a:pt x="1428750" y="1262063"/>
                  </a:lnTo>
                  <a:lnTo>
                    <a:pt x="2857500" y="942975"/>
                  </a:lnTo>
                  <a:lnTo>
                    <a:pt x="4286250" y="366712"/>
                  </a:lnTo>
                  <a:lnTo>
                    <a:pt x="5715000" y="0"/>
                  </a:lnTo>
                </a:path>
              </a:pathLst>
            </a:custGeom>
            <a:noFill/>
            <a:ln w="28575" cap="rnd">
              <a:solidFill>
                <a:srgbClr val="E2489B"/>
              </a:solidFill>
              <a:round/>
            </a:ln>
          </p:spPr>
        </p:sp>
        <p:sp>
          <p:nvSpPr>
            <p:cNvPr id="121" name="Line 121"/>
            <p:cNvSpPr/>
            <p:nvPr/>
          </p:nvSpPr>
          <p:spPr>
            <a:xfrm>
              <a:off x="2557462" y="2594242"/>
              <a:ext cx="48" cy="512445"/>
            </a:xfrm>
            <a:custGeom>
              <a:avLst/>
              <a:gdLst/>
              <a:ahLst/>
              <a:cxnLst/>
              <a:rect l="0" t="0" r="r" b="b"/>
              <a:pathLst>
                <a:path w="1" h="512445" fill="none">
                  <a:moveTo>
                    <a:pt x="0" y="0"/>
                  </a:moveTo>
                  <a:lnTo>
                    <a:pt x="0" y="512445"/>
                  </a:lnTo>
                </a:path>
              </a:pathLst>
            </a:custGeom>
            <a:noFill/>
            <a:ln w="9525">
              <a:solidFill>
                <a:srgbClr val="FFFFFF"/>
              </a:solidFill>
              <a:custDash>
                <a:ds d="250000" sp="250000"/>
              </a:custDash>
            </a:ln>
          </p:spPr>
        </p:sp>
        <p:sp>
          <p:nvSpPr>
            <p:cNvPr id="122" name="Dot 122"/>
            <p:cNvSpPr/>
            <p:nvPr/>
          </p:nvSpPr>
          <p:spPr>
            <a:xfrm>
              <a:off x="2519362" y="2513279"/>
              <a:ext cx="76200" cy="76200"/>
            </a:xfrm>
            <a:prstGeom prst="ellipse">
              <a:avLst/>
            </a:prstGeom>
            <a:solidFill>
              <a:srgbClr val="46CDAE"/>
            </a:solidFill>
            <a:ln w="9525">
              <a:solidFill>
                <a:srgbClr val="000000"/>
              </a:solidFill>
            </a:ln>
          </p:spPr>
        </p:sp>
        <p:sp>
          <p:nvSpPr>
            <p:cNvPr id="123" name="Dot 123"/>
            <p:cNvSpPr/>
            <p:nvPr/>
          </p:nvSpPr>
          <p:spPr>
            <a:xfrm>
              <a:off x="2519362" y="3111449"/>
              <a:ext cx="76200" cy="76200"/>
            </a:xfrm>
            <a:prstGeom prst="ellipse">
              <a:avLst/>
            </a:prstGeom>
            <a:solidFill>
              <a:srgbClr val="E2489B"/>
            </a:solidFill>
            <a:ln w="9525">
              <a:solidFill>
                <a:srgbClr val="000000"/>
              </a:solidFill>
            </a:ln>
          </p:spPr>
        </p:sp>
      </p:grpSp>
      <p:sp xmlns:p14="http://schemas.microsoft.com/office/powerpoint/2010/main">
        <p:nvSpPr>
          <p:cNvPr id="125" name="Text 125"/>
          <p:cNvSpPr txBox="1"/>
          <p:nvPr/>
        </p:nvSpPr>
        <p:spPr>
          <a:xfrm>
            <a:off x="6996112" y="1799951"/>
            <a:ext cx="1559052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unordered_set</a:t>
            </a:r>
            <a:endParaRPr lang="ru-RU" sz="966" b="0" i="0" dirty="0">
              <a:solidFill>
                <a:srgbClr val="E2489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6" name="Text 126"/>
          <p:cNvSpPr txBox="1"/>
          <p:nvPr/>
        </p:nvSpPr>
        <p:spPr>
          <a:xfrm>
            <a:off x="6996112" y="2238101"/>
            <a:ext cx="1559052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 + unique</a:t>
            </a:r>
            <a:endParaRPr lang="ru-RU" sz="966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7" name="Fill 127"/>
          <p:cNvSpPr/>
          <p:nvPr/>
        </p:nvSpPr>
        <p:spPr>
          <a:xfrm>
            <a:off x="2033588" y="3996322"/>
            <a:ext cx="1047750" cy="213345"/>
          </a:xfrm>
          <a:prstGeom prst="roundRect">
            <a:avLst>
              <a:gd name="adj" fmla="val 17858"/>
            </a:avLst>
          </a:prstGeom>
          <a:solidFill>
            <a:srgbClr val="5E1C42"/>
          </a:solidFill>
          <a:ln>
            <a:noFill/>
          </a:ln>
        </p:spPr>
      </p:sp>
      <p:sp xmlns:p14="http://schemas.microsoft.com/office/powerpoint/2010/main">
        <p:nvSpPr>
          <p:cNvPr id="128" name="Text 128"/>
          <p:cNvSpPr txBox="1"/>
          <p:nvPr/>
        </p:nvSpPr>
        <p:spPr>
          <a:xfrm>
            <a:off x="2028825" y="4007380"/>
            <a:ext cx="1057275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380"/>
              </a:lnSpc>
              <a:spcBef>
                <a:spcPts val="0"/>
              </a:spcBef>
              <a:buNone/>
            </a:pPr>
            <a:r>
              <a:rPr lang="ru-RU" sz="1104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хеш ×3,7</a:t>
            </a:r>
            <a:endParaRPr lang="ru-RU" sz="1104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 xmlns:p14="http://schemas.microsoft.com/office/powerpoint/2010/main">
        <p:nvGrpSpPr>
          <p:cNvPr id="134" name="Chart 134"/>
          <p:cNvGrpSpPr/>
          <p:nvPr/>
        </p:nvGrpSpPr>
        <p:grpSpPr>
          <a:xfrm>
            <a:off x="5376862" y="1849387"/>
            <a:ext cx="1504950" cy="512921"/>
            <a:chOff x="5376862" y="1849387"/>
            <a:chExt cx="1504950" cy="512921"/>
          </a:xfrm>
        </p:grpSpPr>
        <p:sp>
          <p:nvSpPr>
            <p:cNvPr id="129" name="Dot 129"/>
            <p:cNvSpPr/>
            <p:nvPr/>
          </p:nvSpPr>
          <p:spPr>
            <a:xfrm>
              <a:off x="5376862" y="2273249"/>
              <a:ext cx="76200" cy="76200"/>
            </a:xfrm>
            <a:prstGeom prst="ellipse">
              <a:avLst/>
            </a:prstGeom>
            <a:solidFill>
              <a:srgbClr val="46CDAE"/>
            </a:solidFill>
            <a:ln w="9525">
              <a:solidFill>
                <a:srgbClr val="000000"/>
              </a:solidFill>
            </a:ln>
          </p:spPr>
        </p:sp>
        <p:sp>
          <p:nvSpPr>
            <p:cNvPr id="130" name="Dot 130"/>
            <p:cNvSpPr/>
            <p:nvPr/>
          </p:nvSpPr>
          <p:spPr>
            <a:xfrm>
              <a:off x="5376862" y="2216099"/>
              <a:ext cx="76200" cy="76200"/>
            </a:xfrm>
            <a:prstGeom prst="ellipse">
              <a:avLst/>
            </a:prstGeom>
            <a:solidFill>
              <a:srgbClr val="E2489B"/>
            </a:solidFill>
            <a:ln w="9525">
              <a:solidFill>
                <a:srgbClr val="000000"/>
              </a:solidFill>
            </a:ln>
          </p:spPr>
        </p:sp>
        <p:sp>
          <p:nvSpPr>
            <p:cNvPr id="131" name="Line 131"/>
            <p:cNvSpPr/>
            <p:nvPr/>
          </p:nvSpPr>
          <p:spPr>
            <a:xfrm>
              <a:off x="6843712" y="1930349"/>
              <a:ext cx="48" cy="350996"/>
            </a:xfrm>
            <a:custGeom>
              <a:avLst/>
              <a:gdLst/>
              <a:ahLst/>
              <a:cxnLst/>
              <a:rect l="0" t="0" r="r" b="b"/>
              <a:pathLst>
                <a:path w="1" h="350996" fill="none">
                  <a:moveTo>
                    <a:pt x="0" y="0"/>
                  </a:moveTo>
                  <a:lnTo>
                    <a:pt x="0" y="350996"/>
                  </a:lnTo>
                </a:path>
              </a:pathLst>
            </a:custGeom>
            <a:noFill/>
            <a:ln w="9525">
              <a:solidFill>
                <a:srgbClr val="FFFFFF"/>
              </a:solidFill>
              <a:custDash>
                <a:ds d="250000" sp="250000"/>
              </a:custDash>
            </a:ln>
          </p:spPr>
        </p:sp>
        <p:sp>
          <p:nvSpPr>
            <p:cNvPr id="132" name="Dot 132"/>
            <p:cNvSpPr/>
            <p:nvPr/>
          </p:nvSpPr>
          <p:spPr>
            <a:xfrm>
              <a:off x="6805612" y="2286108"/>
              <a:ext cx="76200" cy="76200"/>
            </a:xfrm>
            <a:prstGeom prst="ellipse">
              <a:avLst/>
            </a:prstGeom>
            <a:solidFill>
              <a:srgbClr val="46CDAE"/>
            </a:solidFill>
            <a:ln w="9525">
              <a:solidFill>
                <a:srgbClr val="000000"/>
              </a:solidFill>
            </a:ln>
          </p:spPr>
        </p:sp>
        <p:sp>
          <p:nvSpPr>
            <p:cNvPr id="133" name="Dot 133"/>
            <p:cNvSpPr/>
            <p:nvPr/>
          </p:nvSpPr>
          <p:spPr>
            <a:xfrm>
              <a:off x="6805612" y="1849387"/>
              <a:ext cx="76200" cy="76200"/>
            </a:xfrm>
            <a:prstGeom prst="ellipse">
              <a:avLst/>
            </a:prstGeom>
            <a:solidFill>
              <a:srgbClr val="E2489B"/>
            </a:solidFill>
            <a:ln w="9525">
              <a:solidFill>
                <a:srgbClr val="000000"/>
              </a:solidFill>
            </a:ln>
          </p:spPr>
        </p:sp>
      </p:grpSp>
      <p:sp xmlns:p14="http://schemas.microsoft.com/office/powerpoint/2010/main">
        <p:nvSpPr>
          <p:cNvPr id="135" name="Text 135"/>
          <p:cNvSpPr txBox="1"/>
          <p:nvPr/>
        </p:nvSpPr>
        <p:spPr>
          <a:xfrm>
            <a:off x="4664869" y="3989329"/>
            <a:ext cx="1500188" cy="3257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208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почти ничья:</a:t>
            </a:r>
            <a:br>
              <a:rPr lang="ru-RU" sz="966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</a:br>
            <a:r>
              <a:rPr lang="ru-RU" sz="966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20 против 23</a:t>
            </a:r>
            <a:endParaRPr lang="ru-RU" sz="966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36" name="Fill 136"/>
          <p:cNvSpPr/>
          <p:nvPr/>
        </p:nvSpPr>
        <p:spPr>
          <a:xfrm>
            <a:off x="6272212" y="3996322"/>
            <a:ext cx="1143000" cy="213345"/>
          </a:xfrm>
          <a:prstGeom prst="roundRect">
            <a:avLst>
              <a:gd name="adj" fmla="val 17858"/>
            </a:avLst>
          </a:prstGeom>
          <a:solidFill>
            <a:srgbClr val="174F45"/>
          </a:solidFill>
          <a:ln>
            <a:noFill/>
          </a:ln>
        </p:spPr>
      </p:sp>
      <p:sp xmlns:p14="http://schemas.microsoft.com/office/powerpoint/2010/main">
        <p:nvSpPr>
          <p:cNvPr id="137" name="Text 137"/>
          <p:cNvSpPr txBox="1"/>
          <p:nvPr/>
        </p:nvSpPr>
        <p:spPr>
          <a:xfrm>
            <a:off x="6267450" y="4007380"/>
            <a:ext cx="1152525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380"/>
              </a:lnSpc>
              <a:spcBef>
                <a:spcPts val="0"/>
              </a:spcBef>
              <a:buNone/>
            </a:pPr>
            <a:r>
              <a:rPr lang="ru-RU" sz="1104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sort ×2,6</a:t>
            </a:r>
            <a:endParaRPr lang="ru-RU" sz="1104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 xmlns:p14="http://schemas.microsoft.com/office/powerpoint/2010/main">
        <p:nvGrpSpPr>
          <p:cNvPr id="140" name="Chart 140"/>
          <p:cNvGrpSpPr/>
          <p:nvPr/>
        </p:nvGrpSpPr>
        <p:grpSpPr>
          <a:xfrm>
            <a:off x="1128712" y="2442318"/>
            <a:ext cx="5715000" cy="824865"/>
            <a:chOff x="1128712" y="2442318"/>
            <a:chExt cx="5715000" cy="824865"/>
          </a:xfrm>
        </p:grpSpPr>
        <p:sp>
          <p:nvSpPr>
            <p:cNvPr id="138" name="Line 138"/>
            <p:cNvSpPr/>
            <p:nvPr/>
          </p:nvSpPr>
          <p:spPr>
            <a:xfrm>
              <a:off x="1128712" y="2442318"/>
              <a:ext cx="5715000" cy="824865"/>
            </a:xfrm>
            <a:custGeom>
              <a:avLst/>
              <a:gdLst/>
              <a:ahLst/>
              <a:cxnLst/>
              <a:rect l="0" t="0" r="r" b="b"/>
              <a:pathLst>
                <a:path w="5715000" h="824865" fill="none">
                  <a:moveTo>
                    <a:pt x="0" y="824865"/>
                  </a:moveTo>
                  <a:lnTo>
                    <a:pt x="1428750" y="0"/>
                  </a:lnTo>
                  <a:lnTo>
                    <a:pt x="2857500" y="39053"/>
                  </a:lnTo>
                  <a:lnTo>
                    <a:pt x="4286250" y="187643"/>
                  </a:lnTo>
                  <a:lnTo>
                    <a:pt x="5715000" y="362426"/>
                  </a:lnTo>
                </a:path>
              </a:pathLst>
            </a:custGeom>
            <a:noFill/>
            <a:ln w="14288" cap="rnd">
              <a:solidFill>
                <a:srgbClr val="9B87F5"/>
              </a:solidFill>
              <a:round/>
            </a:ln>
          </p:spPr>
        </p:sp>
        <p:sp>
          <p:nvSpPr>
            <p:cNvPr id="139" name="Line 139"/>
            <p:cNvSpPr/>
            <p:nvPr/>
          </p:nvSpPr>
          <p:spPr>
            <a:xfrm>
              <a:off x="1128712" y="2559952"/>
              <a:ext cx="5715000" cy="641985"/>
            </a:xfrm>
            <a:custGeom>
              <a:avLst/>
              <a:gdLst/>
              <a:ahLst/>
              <a:cxnLst/>
              <a:rect l="0" t="0" r="r" b="b"/>
              <a:pathLst>
                <a:path w="5715000" h="641985" fill="none">
                  <a:moveTo>
                    <a:pt x="0" y="641985"/>
                  </a:moveTo>
                  <a:lnTo>
                    <a:pt x="1428750" y="541496"/>
                  </a:lnTo>
                  <a:lnTo>
                    <a:pt x="2857500" y="340519"/>
                  </a:lnTo>
                  <a:lnTo>
                    <a:pt x="4286250" y="0"/>
                  </a:lnTo>
                  <a:lnTo>
                    <a:pt x="5715000" y="0"/>
                  </a:lnTo>
                </a:path>
              </a:pathLst>
            </a:custGeom>
            <a:noFill/>
            <a:ln w="28575" cap="rnd">
              <a:solidFill>
                <a:srgbClr val="FFFFFF"/>
              </a:solidFill>
              <a:round/>
            </a:ln>
          </p:spPr>
        </p:sp>
      </p:grpSp>
      <p:sp xmlns:p14="http://schemas.microsoft.com/office/powerpoint/2010/main">
        <p:nvSpPr>
          <p:cNvPr id="141" name="Text 141"/>
          <p:cNvSpPr txBox="1"/>
          <p:nvPr/>
        </p:nvSpPr>
        <p:spPr>
          <a:xfrm>
            <a:off x="6996112" y="2471463"/>
            <a:ext cx="1559052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flat_hash_set</a:t>
            </a:r>
            <a:endParaRPr lang="ru-RU" sz="966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42" name="Text 142"/>
          <p:cNvSpPr txBox="1"/>
          <p:nvPr/>
        </p:nvSpPr>
        <p:spPr>
          <a:xfrm>
            <a:off x="6996112" y="2719113"/>
            <a:ext cx="1559052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9B87F5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radix + unique</a:t>
            </a:r>
            <a:endParaRPr lang="ru-RU" sz="966" b="0" i="0" dirty="0">
              <a:solidFill>
                <a:srgbClr val="9B87F5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43" name="Text 143"/>
          <p:cNvSpPr txBox="1"/>
          <p:nvPr/>
        </p:nvSpPr>
        <p:spPr>
          <a:xfrm>
            <a:off x="557212" y="4554200"/>
            <a:ext cx="7936039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N = 2²⁰ · M2 Pro, macOS, libc++, userInitiated · id — случайные 64-битные · сессия Б </a:t>
            </a:r>
            <a:r>
              <a:rPr lang="ru-RU" sz="828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[дата сессии Б]</a:t>
            </a: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 · flat и radix — только M2 Pro, userInitiated · «все равны» = U = 1 · ось X — категории, не шкала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44" name="Picture 14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44" name="Slide Number 144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5" grpId="0" animBg="1"/>
      <p:bldP spid="126" grpId="0" animBg="1"/>
      <p:bldP spid="128" grpId="0" animBg="1"/>
      <p:bldP spid="135" grpId="0" animBg="1"/>
      <p:bldP spid="137" grpId="0" animBg="1"/>
      <p:bldP spid="141" grpId="0" animBg="1"/>
      <p:bldP spid="142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РАУНД </a:t>
            </a:r>
            <a:r>
              <a:rPr lang="ru-RU" sz="1099" b="0" i="0" spc="94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3</a:t>
            </a: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ИЗ 4 · ДАННЫЕ И ТИКЕТ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60073"/>
            <a:ext cx="6781800" cy="8819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40"/>
              </a:lnSpc>
              <a:spcBef>
                <a:spcPts val="0"/>
              </a:spcBef>
              <a:buNone/>
            </a:pPr>
            <a:r>
              <a:rPr lang="ru-RU" sz="20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ТРЕБОВАНИЕ В ТИКЕТЕ МЕНЯЕТ ПОБЕДИТЕЛЯ: ДЛЯ ПОРЯДКА ПЕРВОГО ПОЯВЛЕНИЯ ХЕШ БЫСТРЕЕ В 3,4 РАЗА</a:t>
            </a:r>
            <a:endParaRPr lang="ru-RU" sz="20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568607"/>
            <a:ext cx="8191119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нс на элемент · в строках 1–2 sort + unique — одна и та же операция</a:t>
            </a:r>
            <a:endParaRPr lang="ru-RU" sz="966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671512" y="1825782"/>
            <a:ext cx="2971800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Что нужно на выходе</a:t>
            </a:r>
            <a:endParaRPr lang="ru-RU" sz="966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3609594" y="1825782"/>
            <a:ext cx="1362837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 + unique</a:t>
            </a:r>
            <a:endParaRPr lang="ru-RU" sz="966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5057394" y="1825782"/>
            <a:ext cx="1362837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unordered_set</a:t>
            </a:r>
            <a:endParaRPr lang="ru-RU" sz="966" b="0" i="0" dirty="0">
              <a:solidFill>
                <a:srgbClr val="E2489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6577012" y="1825782"/>
            <a:ext cx="1990725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Итог</a:t>
            </a:r>
            <a:endParaRPr lang="ru-RU" sz="966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Fill 108"/>
          <p:cNvSpPr/>
          <p:nvPr/>
        </p:nvSpPr>
        <p:spPr>
          <a:xfrm>
            <a:off x="557212" y="2081797"/>
            <a:ext cx="7924800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671512" y="2257295"/>
            <a:ext cx="2971800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Уникальные, порядок любой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3609594" y="2088999"/>
            <a:ext cx="1362837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850"/>
              </a:lnSpc>
              <a:spcBef>
                <a:spcPts val="0"/>
              </a:spcBef>
              <a:buNone/>
            </a:pPr>
            <a:r>
              <a:rPr lang="ru-RU" sz="1242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20,2</a:t>
            </a:r>
            <a:endParaRPr lang="ru-RU" sz="1242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5057394" y="2088999"/>
            <a:ext cx="1362837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850"/>
              </a:lnSpc>
              <a:spcBef>
                <a:spcPts val="0"/>
              </a:spcBef>
              <a:buNone/>
            </a:pPr>
            <a:r>
              <a:rPr lang="ru-RU" sz="1242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22,6</a:t>
            </a:r>
            <a:endParaRPr lang="ru-RU" sz="1242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6577012" y="2257295"/>
            <a:ext cx="1990725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≈ близко</a:t>
            </a:r>
            <a:endParaRPr lang="ru-RU" sz="1104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3" name="Fill 113"/>
          <p:cNvSpPr/>
          <p:nvPr/>
        </p:nvSpPr>
        <p:spPr>
          <a:xfrm>
            <a:off x="557212" y="2615197"/>
            <a:ext cx="7924800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671512" y="2752595"/>
            <a:ext cx="2971800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Уникальные, отсортированные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5" name="Box 115"/>
          <p:cNvSpPr/>
          <p:nvPr/>
        </p:nvSpPr>
        <p:spPr>
          <a:xfrm>
            <a:off x="3648075" y="2677109"/>
            <a:ext cx="1285875" cy="371475"/>
          </a:xfrm>
          <a:prstGeom prst="roundRect">
            <a:avLst>
              <a:gd name="adj" fmla="val 10000"/>
            </a:avLst>
          </a:prstGeom>
          <a:solidFill>
            <a:srgbClr val="174F45"/>
          </a:solidFill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3648075" y="2593824"/>
            <a:ext cx="1285875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850"/>
              </a:lnSpc>
              <a:spcBef>
                <a:spcPts val="0"/>
              </a:spcBef>
              <a:buNone/>
            </a:pPr>
            <a:r>
              <a:rPr lang="ru-RU" sz="1242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20,2</a:t>
            </a:r>
            <a:endParaRPr lang="ru-RU" sz="1242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5057394" y="2584299"/>
            <a:ext cx="1362837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850"/>
              </a:lnSpc>
              <a:spcBef>
                <a:spcPts val="0"/>
              </a:spcBef>
              <a:buNone/>
            </a:pPr>
            <a:r>
              <a:rPr lang="ru-RU" sz="1242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32,6</a:t>
            </a:r>
            <a:endParaRPr lang="ru-RU" sz="1242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6577012" y="2752595"/>
            <a:ext cx="1990725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</a:t>
            </a:r>
            <a:r>
              <a:rPr lang="ru-RU" sz="1104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×1,6</a:t>
            </a:r>
            <a:endParaRPr lang="ru-RU" sz="1104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9" name="Fill 119"/>
          <p:cNvSpPr/>
          <p:nvPr/>
        </p:nvSpPr>
        <p:spPr>
          <a:xfrm>
            <a:off x="557212" y="3110497"/>
            <a:ext cx="7924800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</p:sp>
      <p:sp xmlns:p14="http://schemas.microsoft.com/office/powerpoint/2010/main">
        <p:nvSpPr>
          <p:cNvPr id="120" name="Fill 120"/>
          <p:cNvSpPr/>
          <p:nvPr/>
        </p:nvSpPr>
        <p:spPr>
          <a:xfrm>
            <a:off x="557212" y="3129547"/>
            <a:ext cx="7924800" cy="457200"/>
          </a:xfrm>
          <a:prstGeom prst="rect">
            <a:avLst/>
          </a:prstGeom>
          <a:solidFill>
            <a:srgbClr val="0B2B26"/>
          </a:solidFill>
          <a:ln>
            <a:noFill/>
          </a:ln>
        </p:spPr>
      </p:sp>
      <p:sp xmlns:p14="http://schemas.microsoft.com/office/powerpoint/2010/main">
        <p:nvSpPr>
          <p:cNvPr id="121" name="Line 121"/>
          <p:cNvSpPr/>
          <p:nvPr/>
        </p:nvSpPr>
        <p:spPr>
          <a:xfrm>
            <a:off x="576262" y="3129547"/>
            <a:ext cx="48" cy="457200"/>
          </a:xfrm>
          <a:custGeom>
            <a:avLst/>
            <a:gdLst/>
            <a:ahLst/>
            <a:cxnLst/>
            <a:rect l="0" t="0" r="r" b="b"/>
            <a:pathLst>
              <a:path w="1" h="457200" fill="none">
                <a:moveTo>
                  <a:pt x="0" y="0"/>
                </a:moveTo>
                <a:lnTo>
                  <a:pt x="0" y="457200"/>
                </a:lnTo>
              </a:path>
            </a:pathLst>
          </a:custGeom>
          <a:noFill/>
          <a:ln w="38100">
            <a:solidFill>
              <a:srgbClr val="FFFFFF"/>
            </a:solidFill>
          </a:ln>
        </p:spPr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671512" y="3247895"/>
            <a:ext cx="2971800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В порядке первого появления</a:t>
            </a:r>
            <a:endParaRPr lang="ru-RU" sz="1104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3" name="Text 123"/>
          <p:cNvSpPr txBox="1"/>
          <p:nvPr/>
        </p:nvSpPr>
        <p:spPr>
          <a:xfrm>
            <a:off x="3609594" y="3079599"/>
            <a:ext cx="1362837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850"/>
              </a:lnSpc>
              <a:spcBef>
                <a:spcPts val="0"/>
              </a:spcBef>
              <a:buNone/>
            </a:pPr>
            <a:r>
              <a:rPr lang="ru-RU" sz="1242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74,6</a:t>
            </a:r>
            <a:endParaRPr lang="ru-RU" sz="1242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4" name="Box 124"/>
          <p:cNvSpPr/>
          <p:nvPr/>
        </p:nvSpPr>
        <p:spPr>
          <a:xfrm>
            <a:off x="5095875" y="3172409"/>
            <a:ext cx="1285875" cy="371475"/>
          </a:xfrm>
          <a:prstGeom prst="roundRect">
            <a:avLst>
              <a:gd name="adj" fmla="val 10000"/>
            </a:avLst>
          </a:prstGeom>
          <a:solidFill>
            <a:srgbClr val="5E1C42"/>
          </a:solidFill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25" name="Text 125"/>
          <p:cNvSpPr txBox="1"/>
          <p:nvPr/>
        </p:nvSpPr>
        <p:spPr>
          <a:xfrm>
            <a:off x="5095875" y="3089124"/>
            <a:ext cx="1285875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850"/>
              </a:lnSpc>
              <a:spcBef>
                <a:spcPts val="0"/>
              </a:spcBef>
              <a:buNone/>
            </a:pPr>
            <a:r>
              <a:rPr lang="ru-RU" sz="1242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22,0</a:t>
            </a:r>
            <a:endParaRPr lang="ru-RU" sz="1242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6" name="Text 126"/>
          <p:cNvSpPr txBox="1"/>
          <p:nvPr/>
        </p:nvSpPr>
        <p:spPr>
          <a:xfrm>
            <a:off x="6577012" y="3247895"/>
            <a:ext cx="1914525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хеш</a:t>
            </a:r>
            <a:r>
              <a:rPr lang="ru-RU" sz="1104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×3,4</a:t>
            </a:r>
            <a:endParaRPr lang="ru-RU" sz="1104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7" name="Box 127"/>
          <p:cNvSpPr/>
          <p:nvPr/>
        </p:nvSpPr>
        <p:spPr>
          <a:xfrm>
            <a:off x="560784" y="3761769"/>
            <a:ext cx="7917656" cy="602456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7144">
            <a:solidFill>
              <a:srgbClr val="FFFFFF"/>
            </a:solidFill>
          </a:ln>
        </p:spPr>
      </p:sp>
      <p:sp xmlns:p14="http://schemas.microsoft.com/office/powerpoint/2010/main">
        <p:nvSpPr>
          <p:cNvPr id="128" name="Text 128"/>
          <p:cNvSpPr txBox="1"/>
          <p:nvPr/>
        </p:nvSpPr>
        <p:spPr>
          <a:xfrm>
            <a:off x="714375" y="3836197"/>
            <a:ext cx="7758112" cy="3976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«Порядок любой» = </a:t>
            </a:r>
            <a:r>
              <a:rPr lang="ru-RU" sz="1104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любой каждый раз</a:t>
            </a: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: flat_hash_set, Set в Swift и map в Go меняют порядок обхода от запуска к запуску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9" name="Text 129"/>
          <p:cNvSpPr txBox="1"/>
          <p:nvPr/>
        </p:nvSpPr>
        <p:spPr>
          <a:xfrm>
            <a:off x="557212" y="4554200"/>
            <a:ext cx="7936039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N = 2^20, U/N = 0,5 · id — случайные 64-битные · M2 Pro, macOS, libc++ · сессия Б </a:t>
            </a:r>
            <a:r>
              <a:rPr lang="ru-RU" sz="828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[дата сессии Б]</a:t>
            </a: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 · первое появление на M2 — пары (ключ, индекс) и вторая сортировка; с битовой маской (x86) на 25–30% быстрее, хеш всё равно впереди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30" name="Picture 129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30" name="Slide Number 130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" grpId="0" animBg="1"/>
      <p:bldP spid="110" grpId="0" animBg="1"/>
      <p:bldP spid="111" grpId="0" animBg="1"/>
      <p:bldP spid="112" grpId="0" animBg="1"/>
      <p:bldP spid="114" grpId="0" animBg="1"/>
      <p:bldP spid="116" grpId="0" animBg="1"/>
      <p:bldP spid="117" grpId="0" animBg="1"/>
      <p:bldP spid="118" grpId="0" animBg="1"/>
      <p:bldP spid="122" grpId="0" animBg="1"/>
      <p:bldP spid="123" grpId="0" animBg="1"/>
      <p:bldP spid="125" grpId="0" animBg="1"/>
      <p:bldP spid="126" grpId="0" animBg="1"/>
      <p:bldP spid="128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РАУНД </a:t>
            </a:r>
            <a:r>
              <a:rPr lang="ru-RU" sz="1099" b="0" i="0" spc="94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3</a:t>
            </a: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ИЗ 4 · ДАННЫЕ И ТИКЕТ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УЖЕ ОТСОРТИРОВАННЫЙ ВХОД: sort + unique В 8 РАЗ БЫСТРЕЕ ХЕША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525161"/>
            <a:ext cx="8191119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нс на элемент · те же ключи и повторы, другая перестановка</a:t>
            </a:r>
            <a:endParaRPr lang="ru-RU" sz="966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671512" y="1782336"/>
            <a:ext cx="2971800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Порядок входа</a:t>
            </a:r>
            <a:endParaRPr lang="ru-RU" sz="966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3609594" y="1782336"/>
            <a:ext cx="1362837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 + unique</a:t>
            </a:r>
            <a:endParaRPr lang="ru-RU" sz="966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5057394" y="1782336"/>
            <a:ext cx="1362837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unordered_set</a:t>
            </a:r>
            <a:endParaRPr lang="ru-RU" sz="966" b="0" i="0" dirty="0">
              <a:solidFill>
                <a:srgbClr val="E2489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6577012" y="1782336"/>
            <a:ext cx="1990725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Итог</a:t>
            </a:r>
            <a:endParaRPr lang="ru-RU" sz="966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Fill 108"/>
          <p:cNvSpPr/>
          <p:nvPr/>
        </p:nvSpPr>
        <p:spPr>
          <a:xfrm>
            <a:off x="557212" y="2038350"/>
            <a:ext cx="7924800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671512" y="2213848"/>
            <a:ext cx="2971800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Случайный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3609594" y="2045552"/>
            <a:ext cx="1362837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850"/>
              </a:lnSpc>
              <a:spcBef>
                <a:spcPts val="0"/>
              </a:spcBef>
              <a:buNone/>
            </a:pPr>
            <a:r>
              <a:rPr lang="ru-RU" sz="1242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20,2</a:t>
            </a:r>
            <a:endParaRPr lang="ru-RU" sz="1242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5057394" y="2045552"/>
            <a:ext cx="1362837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850"/>
              </a:lnSpc>
              <a:spcBef>
                <a:spcPts val="0"/>
              </a:spcBef>
              <a:buNone/>
            </a:pPr>
            <a:r>
              <a:rPr lang="ru-RU" sz="1242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22,6</a:t>
            </a:r>
            <a:endParaRPr lang="ru-RU" sz="1242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6577012" y="2213848"/>
            <a:ext cx="1990725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≈ близко</a:t>
            </a:r>
            <a:endParaRPr lang="ru-RU" sz="1104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3" name="Fill 113"/>
          <p:cNvSpPr/>
          <p:nvPr/>
        </p:nvSpPr>
        <p:spPr>
          <a:xfrm>
            <a:off x="557212" y="2571750"/>
            <a:ext cx="7924800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671512" y="2709148"/>
            <a:ext cx="2971800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Сериями одинаковых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3609594" y="2540852"/>
            <a:ext cx="1362837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850"/>
              </a:lnSpc>
              <a:spcBef>
                <a:spcPts val="0"/>
              </a:spcBef>
              <a:buNone/>
            </a:pPr>
            <a:r>
              <a:rPr lang="ru-RU" sz="1242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20,5</a:t>
            </a:r>
            <a:endParaRPr lang="ru-RU" sz="1242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6" name="Box 116"/>
          <p:cNvSpPr/>
          <p:nvPr/>
        </p:nvSpPr>
        <p:spPr>
          <a:xfrm>
            <a:off x="5095875" y="2633662"/>
            <a:ext cx="1285875" cy="371475"/>
          </a:xfrm>
          <a:prstGeom prst="roundRect">
            <a:avLst>
              <a:gd name="adj" fmla="val 10000"/>
            </a:avLst>
          </a:prstGeom>
          <a:solidFill>
            <a:srgbClr val="5E1C42"/>
          </a:solidFill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5095875" y="2550377"/>
            <a:ext cx="1285875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850"/>
              </a:lnSpc>
              <a:spcBef>
                <a:spcPts val="0"/>
              </a:spcBef>
              <a:buNone/>
            </a:pPr>
            <a:r>
              <a:rPr lang="ru-RU" sz="1242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15,5</a:t>
            </a:r>
            <a:endParaRPr lang="ru-RU" sz="1242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6577012" y="2709148"/>
            <a:ext cx="1990725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хеш</a:t>
            </a:r>
            <a:r>
              <a:rPr lang="ru-RU" sz="1104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×1,3</a:t>
            </a:r>
            <a:endParaRPr lang="ru-RU" sz="1104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9" name="Fill 119"/>
          <p:cNvSpPr/>
          <p:nvPr/>
        </p:nvSpPr>
        <p:spPr>
          <a:xfrm>
            <a:off x="557212" y="3067050"/>
            <a:ext cx="7924800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</p:sp>
      <p:sp xmlns:p14="http://schemas.microsoft.com/office/powerpoint/2010/main">
        <p:nvSpPr>
          <p:cNvPr id="120" name="Fill 120"/>
          <p:cNvSpPr/>
          <p:nvPr/>
        </p:nvSpPr>
        <p:spPr>
          <a:xfrm>
            <a:off x="557212" y="3086100"/>
            <a:ext cx="7924800" cy="457200"/>
          </a:xfrm>
          <a:prstGeom prst="rect">
            <a:avLst/>
          </a:prstGeom>
          <a:solidFill>
            <a:srgbClr val="0B2B26"/>
          </a:solidFill>
          <a:ln>
            <a:noFill/>
          </a:ln>
        </p:spPr>
      </p:sp>
      <p:sp xmlns:p14="http://schemas.microsoft.com/office/powerpoint/2010/main">
        <p:nvSpPr>
          <p:cNvPr id="121" name="Line 121"/>
          <p:cNvSpPr/>
          <p:nvPr/>
        </p:nvSpPr>
        <p:spPr>
          <a:xfrm>
            <a:off x="576262" y="3086100"/>
            <a:ext cx="48" cy="457200"/>
          </a:xfrm>
          <a:custGeom>
            <a:avLst/>
            <a:gdLst/>
            <a:ahLst/>
            <a:cxnLst/>
            <a:rect l="0" t="0" r="r" b="b"/>
            <a:pathLst>
              <a:path w="1" h="457200" fill="none">
                <a:moveTo>
                  <a:pt x="0" y="0"/>
                </a:moveTo>
                <a:lnTo>
                  <a:pt x="0" y="457200"/>
                </a:lnTo>
              </a:path>
            </a:pathLst>
          </a:custGeom>
          <a:noFill/>
          <a:ln w="38100">
            <a:solidFill>
              <a:srgbClr val="FFFFFF"/>
            </a:solidFill>
          </a:ln>
        </p:spPr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671512" y="3204448"/>
            <a:ext cx="2088832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Уже отсортированный</a:t>
            </a:r>
            <a:endParaRPr lang="ru-RU" sz="1104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3" name="Box 123"/>
          <p:cNvSpPr/>
          <p:nvPr/>
        </p:nvSpPr>
        <p:spPr>
          <a:xfrm>
            <a:off x="2659856" y="3207544"/>
            <a:ext cx="214312" cy="214312"/>
          </a:xfrm>
          <a:prstGeom prst="ellipse">
            <a:avLst/>
          </a:prstGeom>
          <a:solidFill>
            <a:srgbClr val="46CDAE"/>
          </a:solidFill>
          <a:ln w="14288">
            <a:solidFill>
              <a:srgbClr val="46CDAE"/>
            </a:solidFill>
          </a:ln>
        </p:spPr>
      </p:sp>
      <p:sp xmlns:p14="http://schemas.microsoft.com/office/powerpoint/2010/main">
        <p:nvSpPr>
          <p:cNvPr id="124" name="Text 124"/>
          <p:cNvSpPr txBox="1"/>
          <p:nvPr/>
        </p:nvSpPr>
        <p:spPr>
          <a:xfrm>
            <a:off x="2662238" y="3184835"/>
            <a:ext cx="209550" cy="2190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75"/>
              </a:lnSpc>
              <a:spcBef>
                <a:spcPts val="0"/>
              </a:spcBef>
              <a:buNone/>
            </a:pPr>
            <a:r>
              <a:rPr lang="ru-RU" sz="966" b="1" i="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 lang="ru-RU" sz="966" b="1" i="0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5" name="Box 125"/>
          <p:cNvSpPr/>
          <p:nvPr/>
        </p:nvSpPr>
        <p:spPr>
          <a:xfrm>
            <a:off x="3648075" y="3128962"/>
            <a:ext cx="1285875" cy="371475"/>
          </a:xfrm>
          <a:prstGeom prst="roundRect">
            <a:avLst>
              <a:gd name="adj" fmla="val 10000"/>
            </a:avLst>
          </a:prstGeom>
          <a:solidFill>
            <a:srgbClr val="174F45"/>
          </a:solidFill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26" name="Text 126"/>
          <p:cNvSpPr txBox="1"/>
          <p:nvPr/>
        </p:nvSpPr>
        <p:spPr>
          <a:xfrm>
            <a:off x="3648075" y="3045677"/>
            <a:ext cx="1285875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850"/>
              </a:lnSpc>
              <a:spcBef>
                <a:spcPts val="0"/>
              </a:spcBef>
              <a:buNone/>
            </a:pPr>
            <a:r>
              <a:rPr lang="ru-RU" sz="1242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2,0</a:t>
            </a:r>
            <a:endParaRPr lang="ru-RU" sz="1242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7" name="Text 127"/>
          <p:cNvSpPr txBox="1"/>
          <p:nvPr/>
        </p:nvSpPr>
        <p:spPr>
          <a:xfrm>
            <a:off x="5057394" y="3036152"/>
            <a:ext cx="1362837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850"/>
              </a:lnSpc>
              <a:spcBef>
                <a:spcPts val="0"/>
              </a:spcBef>
              <a:buNone/>
            </a:pPr>
            <a:r>
              <a:rPr lang="ru-RU" sz="1242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16,5</a:t>
            </a:r>
            <a:endParaRPr lang="ru-RU" sz="1242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8" name="Text 128"/>
          <p:cNvSpPr txBox="1"/>
          <p:nvPr/>
        </p:nvSpPr>
        <p:spPr>
          <a:xfrm>
            <a:off x="6577012" y="3204448"/>
            <a:ext cx="1914525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</a:t>
            </a:r>
            <a:r>
              <a:rPr lang="ru-RU" sz="1104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×8</a:t>
            </a:r>
            <a:endParaRPr lang="ru-RU" sz="1104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9" name="Text 129"/>
          <p:cNvSpPr txBox="1"/>
          <p:nvPr/>
        </p:nvSpPr>
        <p:spPr>
          <a:xfrm>
            <a:off x="557212" y="3683212"/>
            <a:ext cx="8191119" cy="20833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libc++: разбиение без единого обмена → досортировать вставками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0" name="Text 130"/>
          <p:cNvSpPr txBox="1"/>
          <p:nvPr/>
        </p:nvSpPr>
        <p:spPr>
          <a:xfrm>
            <a:off x="557212" y="3902287"/>
            <a:ext cx="8191119" cy="20833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≈2 сравнения на элемент вместо ≈22</a:t>
            </a:r>
            <a:endParaRPr lang="ru-RU" sz="1104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31" name="Text 131"/>
          <p:cNvSpPr txBox="1"/>
          <p:nvPr/>
        </p:nvSpPr>
        <p:spPr>
          <a:xfrm>
            <a:off x="557212" y="4121362"/>
            <a:ext cx="8191119" cy="20833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libstdc++ так не делает</a:t>
            </a:r>
            <a:endParaRPr lang="ru-RU" sz="1104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2" name="Text 132"/>
          <p:cNvSpPr txBox="1"/>
          <p:nvPr/>
        </p:nvSpPr>
        <p:spPr>
          <a:xfrm>
            <a:off x="557212" y="4554200"/>
            <a:ext cx="7936039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N = 2^20, U/N = 0,5 · id — случайные 64-битные · одинаковые множества ключей и кратности · M2 Pro, macOS, libc++ · std::sort для целых на Apple — из системной libc++ (macOS 27) · сессия Б </a:t>
            </a:r>
            <a:r>
              <a:rPr lang="ru-RU" sz="828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[дата сессии Б]</a:t>
            </a:r>
            <a:endParaRPr lang="ru-RU" sz="828" b="0" i="0" dirty="0">
              <a:solidFill>
                <a:srgbClr val="F2C14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33" name="Picture 13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33" name="Slide Number 133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" grpId="0" animBg="1"/>
      <p:bldP spid="110" grpId="0" animBg="1"/>
      <p:bldP spid="111" grpId="0" animBg="1"/>
      <p:bldP spid="112" grpId="0" animBg="1"/>
      <p:bldP spid="114" grpId="0" animBg="1"/>
      <p:bldP spid="115" grpId="0" animBg="1"/>
      <p:bldP spid="117" grpId="0" animBg="1"/>
      <p:bldP spid="118" grpId="0" animBg="1"/>
      <p:bldP spid="122" grpId="0" animBg="1"/>
      <p:bldP spid="124" grpId="0" animBg="1"/>
      <p:bldP spid="126" grpId="0" animBg="1"/>
      <p:bldP spid="127" grpId="0" animBg="1"/>
      <p:bldP spid="128" grpId="0" animBg="1"/>
      <p:bldP spid="129" grpId="0" animBg="1"/>
      <p:bldP spid="130" grpId="0" animBg="1"/>
      <p:bldP spid="131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РАУНД </a:t>
            </a:r>
            <a:r>
              <a:rPr lang="ru-RU" sz="1099" b="0" i="0" spc="94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3</a:t>
            </a: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ИЗ 4 · ДАННЫЕ И ТИКЕТ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60073"/>
            <a:ext cx="6781800" cy="8819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40"/>
              </a:lnSpc>
              <a:spcBef>
                <a:spcPts val="0"/>
              </a:spcBef>
              <a:buNone/>
            </a:pPr>
            <a:r>
              <a:rPr lang="ru-RU" sz="20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ЛУЧШИЙ ОТВЕТ — НИ sort, НИ ХЕШ: ОТСОРТИРОВАТЬ ДЕЛЬТУ, УБРАТЬ В НЕЙ ПОВТОРЫ И СЛИТЬ С ЛОКАЛЬНЫМИ</a:t>
            </a:r>
            <a:endParaRPr lang="ru-RU" sz="20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Box 103"/>
          <p:cNvSpPr/>
          <p:nvPr/>
        </p:nvSpPr>
        <p:spPr>
          <a:xfrm>
            <a:off x="560784" y="1585306"/>
            <a:ext cx="1993106" cy="450056"/>
          </a:xfrm>
          <a:prstGeom prst="roundRect">
            <a:avLst>
              <a:gd name="adj" fmla="val 16666"/>
            </a:avLst>
          </a:prstGeom>
          <a:solidFill>
            <a:srgbClr val="000000"/>
          </a:solidFill>
          <a:ln w="7144">
            <a:solidFill>
              <a:srgbClr val="FFFFFF"/>
            </a:solidFill>
          </a:ln>
        </p:spPr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676275" y="1628511"/>
            <a:ext cx="1214909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80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Локальные · 1M</a:t>
            </a:r>
            <a:endParaRPr lang="ru-RU" sz="1104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676275" y="1823805"/>
            <a:ext cx="1327350" cy="17240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08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уже отсортированы</a:t>
            </a:r>
            <a:endParaRPr lang="ru-RU" sz="966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6" name="Box 106"/>
          <p:cNvSpPr/>
          <p:nvPr/>
        </p:nvSpPr>
        <p:spPr>
          <a:xfrm>
            <a:off x="2221706" y="1703178"/>
            <a:ext cx="214312" cy="214312"/>
          </a:xfrm>
          <a:prstGeom prst="ellipse">
            <a:avLst/>
          </a:prstGeom>
          <a:solidFill>
            <a:srgbClr val="46CDAE"/>
          </a:solidFill>
          <a:ln w="14288">
            <a:solidFill>
              <a:srgbClr val="46CDAE"/>
            </a:solidFill>
          </a:ln>
        </p:spPr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2224088" y="1680469"/>
            <a:ext cx="209550" cy="2190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575"/>
              </a:lnSpc>
              <a:spcBef>
                <a:spcPts val="0"/>
              </a:spcBef>
              <a:buNone/>
            </a:pPr>
            <a:r>
              <a:rPr lang="ru-RU" sz="966" b="1" i="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 lang="ru-RU" sz="966" b="1" i="0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8" name="Box 108"/>
          <p:cNvSpPr/>
          <p:nvPr/>
        </p:nvSpPr>
        <p:spPr>
          <a:xfrm>
            <a:off x="560784" y="2156806"/>
            <a:ext cx="1993106" cy="450056"/>
          </a:xfrm>
          <a:prstGeom prst="roundRect">
            <a:avLst>
              <a:gd name="adj" fmla="val 16666"/>
            </a:avLst>
          </a:prstGeom>
          <a:solidFill>
            <a:srgbClr val="000000"/>
          </a:solidFill>
          <a:ln w="7144">
            <a:solidFill>
              <a:srgbClr val="FFFFFF"/>
            </a:solidFill>
          </a:ln>
        </p:spPr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676275" y="2200011"/>
            <a:ext cx="982977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80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Дельта · 64K</a:t>
            </a:r>
            <a:endParaRPr lang="ru-RU" sz="1104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676275" y="2395305"/>
            <a:ext cx="710422" cy="17240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08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с дублями</a:t>
            </a:r>
            <a:endParaRPr lang="ru-RU" sz="966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1" name="Box 111"/>
          <p:cNvSpPr/>
          <p:nvPr/>
        </p:nvSpPr>
        <p:spPr>
          <a:xfrm>
            <a:off x="2789634" y="2242531"/>
            <a:ext cx="792956" cy="278606"/>
          </a:xfrm>
          <a:prstGeom prst="roundRect">
            <a:avLst>
              <a:gd name="adj" fmla="val 26666"/>
            </a:avLst>
          </a:prstGeom>
          <a:solidFill>
            <a:srgbClr val="000000"/>
          </a:solidFill>
          <a:ln w="7144">
            <a:solidFill>
              <a:srgbClr val="FFFFFF"/>
            </a:solidFill>
          </a:ln>
        </p:spPr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2833688" y="2299443"/>
            <a:ext cx="70485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125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sort</a:t>
            </a:r>
            <a:endParaRPr lang="ru-RU" sz="1125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13" name="Box 113"/>
          <p:cNvSpPr/>
          <p:nvPr/>
        </p:nvSpPr>
        <p:spPr>
          <a:xfrm>
            <a:off x="3818334" y="2242531"/>
            <a:ext cx="869156" cy="278606"/>
          </a:xfrm>
          <a:prstGeom prst="roundRect">
            <a:avLst>
              <a:gd name="adj" fmla="val 26666"/>
            </a:avLst>
          </a:prstGeom>
          <a:solidFill>
            <a:srgbClr val="000000"/>
          </a:solidFill>
          <a:ln w="7144">
            <a:solidFill>
              <a:srgbClr val="FFFFFF"/>
            </a:solidFill>
          </a:ln>
        </p:spPr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3862388" y="2299443"/>
            <a:ext cx="78105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125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unique</a:t>
            </a:r>
            <a:endParaRPr lang="ru-RU" sz="1125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15" name="Box 115"/>
          <p:cNvSpPr/>
          <p:nvPr/>
        </p:nvSpPr>
        <p:spPr>
          <a:xfrm>
            <a:off x="4923234" y="1585306"/>
            <a:ext cx="1593056" cy="1021556"/>
          </a:xfrm>
          <a:prstGeom prst="roundRect">
            <a:avLst>
              <a:gd name="adj" fmla="val 7407"/>
            </a:avLst>
          </a:prstGeom>
          <a:solidFill>
            <a:srgbClr val="000000"/>
          </a:solidFill>
          <a:ln w="7144">
            <a:solidFill>
              <a:srgbClr val="FFFFFF"/>
            </a:solidFill>
          </a:ln>
        </p:spPr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5038725" y="1807105"/>
            <a:ext cx="1431512" cy="3695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80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Слить за один проход</a:t>
            </a:r>
            <a:endParaRPr lang="ru-RU" sz="1104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5038725" y="2197591"/>
            <a:ext cx="770283" cy="1924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65"/>
              </a:lnSpc>
              <a:spcBef>
                <a:spcPts val="0"/>
              </a:spcBef>
              <a:buNone/>
            </a:pPr>
            <a:r>
              <a:rPr lang="ru-RU" sz="1050" b="0" i="0" dirty="0">
                <a:solidFill>
                  <a:srgbClr val="C8C8C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set_union</a:t>
            </a:r>
            <a:endParaRPr lang="ru-RU" sz="1050" b="0" i="0" dirty="0">
              <a:solidFill>
                <a:srgbClr val="C8C8C8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18" name="Box 118"/>
          <p:cNvSpPr/>
          <p:nvPr/>
        </p:nvSpPr>
        <p:spPr>
          <a:xfrm>
            <a:off x="6750844" y="1584116"/>
            <a:ext cx="1728788" cy="1023938"/>
          </a:xfrm>
          <a:prstGeom prst="roundRect">
            <a:avLst>
              <a:gd name="adj" fmla="val 7407"/>
            </a:avLst>
          </a:prstGeom>
          <a:solidFill>
            <a:srgbClr val="46CDAE"/>
          </a:solidFill>
          <a:ln w="4762">
            <a:solidFill>
              <a:srgbClr val="FFFFFF"/>
            </a:solidFill>
          </a:ln>
        </p:spPr>
      </p:sp>
      <p:sp xmlns:p14="http://schemas.microsoft.com/office/powerpoint/2010/main">
        <p:nvSpPr>
          <p:cNvPr id="119" name="Text 119"/>
          <p:cNvSpPr txBox="1"/>
          <p:nvPr/>
        </p:nvSpPr>
        <p:spPr>
          <a:xfrm>
            <a:off x="6867525" y="2007394"/>
            <a:ext cx="1339613" cy="200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28"/>
              </a:lnSpc>
              <a:spcBef>
                <a:spcPts val="0"/>
              </a:spcBef>
              <a:buNone/>
            </a:pPr>
            <a:r>
              <a:rPr lang="ru-RU" sz="1242" b="1" i="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Уникальные id</a:t>
            </a:r>
            <a:endParaRPr lang="ru-RU" sz="1242" b="1" i="0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0" name="Line 120"/>
          <p:cNvSpPr/>
          <p:nvPr/>
        </p:nvSpPr>
        <p:spPr>
          <a:xfrm>
            <a:off x="2557462" y="1810334"/>
            <a:ext cx="2362200" cy="48"/>
          </a:xfrm>
          <a:custGeom>
            <a:avLst/>
            <a:gdLst/>
            <a:ahLst/>
            <a:cxnLst/>
            <a:rect l="0" t="0" r="r" b="b"/>
            <a:pathLst>
              <a:path w="2362200" h="1" fill="none">
                <a:moveTo>
                  <a:pt x="0" y="0"/>
                </a:moveTo>
                <a:lnTo>
                  <a:pt x="2362200" y="0"/>
                </a:lnTo>
              </a:path>
            </a:pathLst>
          </a:custGeom>
          <a:noFill/>
          <a:ln w="14288">
            <a:solidFill>
              <a:srgbClr val="8F8F8F"/>
            </a:solidFill>
            <a:round/>
            <a:tailEnd type="triangle" w="med" len="med"/>
          </a:ln>
        </p:spPr>
      </p:sp>
      <p:sp xmlns:p14="http://schemas.microsoft.com/office/powerpoint/2010/main">
        <p:nvSpPr>
          <p:cNvPr id="121" name="Line 121"/>
          <p:cNvSpPr/>
          <p:nvPr/>
        </p:nvSpPr>
        <p:spPr>
          <a:xfrm>
            <a:off x="2557462" y="2381834"/>
            <a:ext cx="228600" cy="48"/>
          </a:xfrm>
          <a:custGeom>
            <a:avLst/>
            <a:gdLst/>
            <a:ahLst/>
            <a:cxnLst/>
            <a:rect l="0" t="0" r="r" b="b"/>
            <a:pathLst>
              <a:path w="228600" h="1" fill="none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/>
          <a:ln w="14288">
            <a:solidFill>
              <a:srgbClr val="8F8F8F"/>
            </a:solidFill>
            <a:round/>
            <a:tailEnd type="triangle" w="med" len="med"/>
          </a:ln>
        </p:spPr>
      </p:sp>
      <p:sp xmlns:p14="http://schemas.microsoft.com/office/powerpoint/2010/main">
        <p:nvSpPr>
          <p:cNvPr id="122" name="Line 122"/>
          <p:cNvSpPr/>
          <p:nvPr/>
        </p:nvSpPr>
        <p:spPr>
          <a:xfrm>
            <a:off x="3586162" y="2381834"/>
            <a:ext cx="228600" cy="48"/>
          </a:xfrm>
          <a:custGeom>
            <a:avLst/>
            <a:gdLst/>
            <a:ahLst/>
            <a:cxnLst/>
            <a:rect l="0" t="0" r="r" b="b"/>
            <a:pathLst>
              <a:path w="228600" h="1" fill="none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/>
          <a:ln w="14288">
            <a:solidFill>
              <a:srgbClr val="8F8F8F"/>
            </a:solidFill>
            <a:round/>
            <a:tailEnd type="triangle" w="med" len="med"/>
          </a:ln>
        </p:spPr>
      </p:sp>
      <p:sp xmlns:p14="http://schemas.microsoft.com/office/powerpoint/2010/main">
        <p:nvSpPr>
          <p:cNvPr id="123" name="Line 123"/>
          <p:cNvSpPr/>
          <p:nvPr/>
        </p:nvSpPr>
        <p:spPr>
          <a:xfrm>
            <a:off x="4691062" y="2381834"/>
            <a:ext cx="228600" cy="48"/>
          </a:xfrm>
          <a:custGeom>
            <a:avLst/>
            <a:gdLst/>
            <a:ahLst/>
            <a:cxnLst/>
            <a:rect l="0" t="0" r="r" b="b"/>
            <a:pathLst>
              <a:path w="228600" h="1" fill="none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/>
          <a:ln w="14288">
            <a:solidFill>
              <a:srgbClr val="8F8F8F"/>
            </a:solidFill>
            <a:round/>
            <a:tailEnd type="triangle" w="med" len="med"/>
          </a:ln>
        </p:spPr>
      </p:sp>
      <p:sp xmlns:p14="http://schemas.microsoft.com/office/powerpoint/2010/main">
        <p:nvSpPr>
          <p:cNvPr id="124" name="Line 124"/>
          <p:cNvSpPr/>
          <p:nvPr/>
        </p:nvSpPr>
        <p:spPr>
          <a:xfrm>
            <a:off x="6519862" y="2096084"/>
            <a:ext cx="228600" cy="48"/>
          </a:xfrm>
          <a:custGeom>
            <a:avLst/>
            <a:gdLst/>
            <a:ahLst/>
            <a:cxnLst/>
            <a:rect l="0" t="0" r="r" b="b"/>
            <a:pathLst>
              <a:path w="228600" h="1" fill="none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/>
          <a:ln w="14288">
            <a:solidFill>
              <a:srgbClr val="8F8F8F"/>
            </a:solidFill>
            <a:round/>
            <a:tailEnd type="triangle" w="med" len="med"/>
          </a:ln>
        </p:spPr>
      </p:sp>
      <p:sp xmlns:p14="http://schemas.microsoft.com/office/powerpoint/2010/main">
        <p:nvSpPr>
          <p:cNvPr id="125" name="Box 125"/>
          <p:cNvSpPr/>
          <p:nvPr/>
        </p:nvSpPr>
        <p:spPr>
          <a:xfrm>
            <a:off x="560784" y="2728306"/>
            <a:ext cx="7917656" cy="983456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7144">
            <a:solidFill>
              <a:srgbClr val="FFFFFF"/>
            </a:solidFill>
          </a:ln>
        </p:spPr>
      </p:sp>
      <p:sp xmlns:p14="http://schemas.microsoft.com/office/powerpoint/2010/main">
        <p:nvSpPr>
          <p:cNvPr id="126" name="Fill 126"/>
          <p:cNvSpPr/>
          <p:nvPr/>
        </p:nvSpPr>
        <p:spPr>
          <a:xfrm>
            <a:off x="633412" y="3000959"/>
            <a:ext cx="7772400" cy="228600"/>
          </a:xfrm>
          <a:prstGeom prst="roundRect">
            <a:avLst>
              <a:gd name="adj" fmla="val 16666"/>
            </a:avLst>
          </a:prstGeom>
          <a:solidFill>
            <a:srgbClr val="0B2B26"/>
          </a:solidFill>
          <a:ln>
            <a:noFill/>
          </a:ln>
        </p:spPr>
      </p:sp>
      <p:sp xmlns:p14="http://schemas.microsoft.com/office/powerpoint/2010/main">
        <p:nvSpPr>
          <p:cNvPr id="127" name="Text 127"/>
          <p:cNvSpPr txBox="1"/>
          <p:nvPr/>
        </p:nvSpPr>
        <p:spPr>
          <a:xfrm>
            <a:off x="709612" y="2794553"/>
            <a:ext cx="8429625" cy="22955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std::sort(D.begin(), D.end());</a:t>
            </a:r>
            <a:endParaRPr lang="ru-RU" sz="1275" b="0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28" name="Text 128"/>
          <p:cNvSpPr txBox="1"/>
          <p:nvPr/>
        </p:nvSpPr>
        <p:spPr>
          <a:xfrm>
            <a:off x="709612" y="3004103"/>
            <a:ext cx="8429625" cy="22955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D.erase(std::unique(D.begin(), D.end()), D.end());</a:t>
            </a:r>
            <a:endParaRPr lang="ru-RU" sz="1275" b="0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29" name="Text 129"/>
          <p:cNvSpPr txBox="1"/>
          <p:nvPr/>
        </p:nvSpPr>
        <p:spPr>
          <a:xfrm>
            <a:off x="709612" y="3432728"/>
            <a:ext cx="8429625" cy="22955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1658"/>
              </a:lnSpc>
              <a:spcBef>
                <a:spcPts val="0"/>
              </a:spcBef>
              <a:buNone/>
            </a:pPr>
            <a:r>
              <a:rPr lang="ru-RU" sz="1275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std::set_union(L.begin(), L.end(), D.begin(), D.end(), back_inserter(out));</a:t>
            </a:r>
            <a:endParaRPr lang="ru-RU" sz="1275" b="0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30" name="Text 130"/>
          <p:cNvSpPr txBox="1"/>
          <p:nvPr/>
        </p:nvSpPr>
        <p:spPr>
          <a:xfrm>
            <a:off x="1452562" y="3230720"/>
            <a:ext cx="4933950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↑ без неё set_union оставит дубли дельты</a:t>
            </a:r>
            <a:endParaRPr lang="ru-RU" sz="966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31" name="Fill 131"/>
          <p:cNvSpPr/>
          <p:nvPr/>
        </p:nvSpPr>
        <p:spPr>
          <a:xfrm>
            <a:off x="557212" y="3829634"/>
            <a:ext cx="7924800" cy="285750"/>
          </a:xfrm>
          <a:prstGeom prst="roundRect">
            <a:avLst>
              <a:gd name="adj" fmla="val 13333"/>
            </a:avLst>
          </a:prstGeom>
          <a:solidFill>
            <a:srgbClr val="46CDAE"/>
          </a:solidFill>
          <a:ln>
            <a:noFill/>
          </a:ln>
        </p:spPr>
      </p:sp>
      <p:sp xmlns:p14="http://schemas.microsoft.com/office/powerpoint/2010/main">
        <p:nvSpPr>
          <p:cNvPr id="132" name="Text 132"/>
          <p:cNvSpPr txBox="1"/>
          <p:nvPr/>
        </p:nvSpPr>
        <p:spPr>
          <a:xfrm>
            <a:off x="709612" y="3762611"/>
            <a:ext cx="7762875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50"/>
              </a:lnSpc>
              <a:spcBef>
                <a:spcPts val="0"/>
              </a:spcBef>
              <a:buNone/>
            </a:pPr>
            <a:r>
              <a:rPr lang="ru-RU" sz="1035" b="0" i="0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x86: слияние в 3,5–6,6 раза быстрее sort + unique (libc++ / libstdc++)</a:t>
            </a:r>
            <a:endParaRPr lang="ru-RU" sz="1035" b="0" i="0" dirty="0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33" name="Text 133"/>
          <p:cNvSpPr txBox="1"/>
          <p:nvPr/>
        </p:nvSpPr>
        <p:spPr>
          <a:xfrm>
            <a:off x="557212" y="4185902"/>
            <a:ext cx="8191119" cy="1767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42"/>
              </a:lnSpc>
              <a:spcBef>
                <a:spcPts val="0"/>
              </a:spcBef>
              <a:buNone/>
            </a:pPr>
            <a:r>
              <a:rPr lang="ru-RU" sz="103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iPhone, .utility: </a:t>
            </a:r>
            <a:r>
              <a:rPr lang="ru-RU" sz="1035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[домерить на iPhone]</a:t>
            </a:r>
            <a:endParaRPr lang="ru-RU" sz="1035" b="0" i="0" dirty="0">
              <a:solidFill>
                <a:srgbClr val="F2C14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4" name="Text 134"/>
          <p:cNvSpPr txBox="1"/>
          <p:nvPr/>
        </p:nvSpPr>
        <p:spPr>
          <a:xfrm>
            <a:off x="557212" y="4554200"/>
            <a:ext cx="7936039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локальные 2^20 (отсортированы, уникальны) + дельта 2^16 (половина — повторы) · id — случайные 64-битные · x86: повтор на отдельной VM (Xeon 2,1 ГГц; GCC 13 / libstdc++, Clang 18 / libc++), не та, что на flip · так вставляет диапазон std::flat_set в libc++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35" name="Picture 13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35" name="Slide Number 135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" grpId="0" animBg="1"/>
      <p:bldP spid="105" grpId="0" animBg="1"/>
      <p:bldP spid="107" grpId="0" animBg="1"/>
      <p:bldP spid="109" grpId="0" animBg="1"/>
      <p:bldP spid="110" grpId="0" animBg="1"/>
      <p:bldP spid="112" grpId="0" animBg="1"/>
      <p:bldP spid="114" grpId="0" animBg="1"/>
      <p:bldP spid="116" grpId="0" animBg="1"/>
      <p:bldP spid="117" grpId="0" animBg="1"/>
      <p:bldP spid="119" grpId="0" animBg="1"/>
      <p:bldP spid="127" grpId="0" animBg="1"/>
      <p:bldP spid="128" grpId="0" animBg="1"/>
      <p:bldP spid="129" grpId="0" animBg="1"/>
      <p:bldP spid="130" grpId="0" animBg="1"/>
      <p:bldP spid="132" grpId="0" animBg="1"/>
      <p:bldP spid="133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Title 101"/>
          <p:cNvSpPr txBox="1"/>
          <p:nvPr/>
        </p:nvSpPr>
        <p:spPr>
          <a:xfrm>
            <a:off x="557212" y="49796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МОЙ БЕНЧМАРК ВРАЛ — НА ДВУХ ПРОЦЕССОРАХ ПО РАЗНЫМ ПРИЧИНАМ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2" name="Text 102"/>
          <p:cNvSpPr txBox="1"/>
          <p:nvPr/>
        </p:nvSpPr>
        <p:spPr>
          <a:xfrm>
            <a:off x="557212" y="1279639"/>
            <a:ext cx="8191119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sort + unique · 1024 id · M2 Pro, macOS · нс на элемент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00062" y="1546154"/>
            <a:ext cx="1009650" cy="3695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2760"/>
              </a:lnSpc>
              <a:spcBef>
                <a:spcPts val="0"/>
              </a:spcBef>
              <a:buNone/>
            </a:pPr>
            <a:r>
              <a:rPr lang="ru-RU" sz="2760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6,8</a:t>
            </a:r>
            <a:endParaRPr lang="ru-RU" sz="2760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1624012" y="1517764"/>
            <a:ext cx="1990725" cy="33802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один массив в цикле</a:t>
            </a:r>
            <a:b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966" b="0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подозрительно быстро</a:t>
            </a:r>
            <a:endParaRPr lang="ru-RU" sz="966" b="0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3618738" y="1582564"/>
            <a:ext cx="734949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против</a:t>
            </a:r>
            <a:endParaRPr lang="ru-RU" sz="1104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4380548" y="1546154"/>
            <a:ext cx="1205865" cy="3695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2760"/>
              </a:lnSpc>
              <a:spcBef>
                <a:spcPts val="0"/>
              </a:spcBef>
              <a:buNone/>
            </a:pPr>
            <a:r>
              <a:rPr lang="ru-RU" sz="276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14,4</a:t>
            </a:r>
            <a:endParaRPr lang="ru-RU" sz="276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5700712" y="1517764"/>
            <a:ext cx="1990725" cy="33802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64 разных</a:t>
            </a:r>
            <a:b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массива</a:t>
            </a:r>
            <a:endParaRPr lang="ru-RU" sz="966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557212" y="1974964"/>
            <a:ext cx="8191119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та же ловушка — JMH или go test -bench на одном маленьком входе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557212" y="2258839"/>
            <a:ext cx="8191119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Гипотеза:</a:t>
            </a: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предсказатель ветвлений выучил вход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557212" y="2479789"/>
            <a:ext cx="8191119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1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Контроль:</a:t>
            </a: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 64 одинаковые копии — ветвления как у одного массива, адреса как у 64 разных</a:t>
            </a:r>
            <a:endParaRPr lang="ru-RU" sz="966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1" name="Box 111"/>
          <p:cNvSpPr/>
          <p:nvPr/>
        </p:nvSpPr>
        <p:spPr>
          <a:xfrm>
            <a:off x="560784" y="2834625"/>
            <a:ext cx="2850356" cy="1097756"/>
          </a:xfrm>
          <a:prstGeom prst="roundRect">
            <a:avLst>
              <a:gd name="adj" fmla="val 6896"/>
            </a:avLst>
          </a:prstGeom>
          <a:solidFill>
            <a:srgbClr val="000000"/>
          </a:solidFill>
          <a:ln w="7144">
            <a:solidFill>
              <a:srgbClr val="FFFFFF"/>
            </a:solidFill>
          </a:ln>
        </p:spPr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695325" y="2930084"/>
            <a:ext cx="2671762" cy="187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2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x86 Xeon: копии быстрые</a:t>
            </a:r>
            <a:endParaRPr lang="ru-RU" sz="1104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695325" y="3120324"/>
            <a:ext cx="2671762" cy="1833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94"/>
              </a:lnSpc>
              <a:spcBef>
                <a:spcPts val="0"/>
              </a:spcBef>
              <a:buNone/>
            </a:pPr>
            <a:r>
              <a:rPr lang="ru-RU" sz="1035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5,7</a:t>
            </a:r>
            <a:r>
              <a:rPr lang="ru-RU" sz="1035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 ≈ один массив 6,3</a:t>
            </a:r>
            <a:endParaRPr lang="ru-RU" sz="1035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695325" y="3313131"/>
            <a:ext cx="2671762" cy="1833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94"/>
              </a:lnSpc>
              <a:spcBef>
                <a:spcPts val="0"/>
              </a:spcBef>
              <a:buNone/>
            </a:pPr>
            <a:r>
              <a:rPr lang="ru-RU" sz="1035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→ предсказатель ветвлений</a:t>
            </a:r>
            <a:endParaRPr lang="ru-RU" sz="1035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5" name="Box 115"/>
          <p:cNvSpPr/>
          <p:nvPr/>
        </p:nvSpPr>
        <p:spPr>
          <a:xfrm>
            <a:off x="3570684" y="2834625"/>
            <a:ext cx="4907756" cy="1097756"/>
          </a:xfrm>
          <a:prstGeom prst="roundRect">
            <a:avLst>
              <a:gd name="adj" fmla="val 6896"/>
            </a:avLst>
          </a:prstGeom>
          <a:solidFill>
            <a:srgbClr val="000000"/>
          </a:solidFill>
          <a:ln w="7144">
            <a:solidFill>
              <a:srgbClr val="FFFFFF"/>
            </a:solidFill>
          </a:ln>
        </p:spPr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3705225" y="2930084"/>
            <a:ext cx="4729162" cy="187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2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M2 Pro: копии медленные</a:t>
            </a:r>
            <a:endParaRPr lang="ru-RU" sz="1104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3705225" y="3120324"/>
            <a:ext cx="4729162" cy="1833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94"/>
              </a:lnSpc>
              <a:spcBef>
                <a:spcPts val="0"/>
              </a:spcBef>
              <a:buNone/>
            </a:pPr>
            <a:r>
              <a:rPr lang="ru-RU" sz="1035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15,4</a:t>
            </a:r>
            <a:r>
              <a:rPr lang="ru-RU" sz="1035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 ≈ разные массивы 14,6</a:t>
            </a:r>
            <a:endParaRPr lang="ru-RU" sz="1035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3705225" y="3313131"/>
            <a:ext cx="4729162" cy="1833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94"/>
              </a:lnSpc>
              <a:spcBef>
                <a:spcPts val="0"/>
              </a:spcBef>
              <a:buNone/>
            </a:pPr>
            <a:r>
              <a:rPr lang="ru-RU" sz="1035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→ не история ветвлений, а что-то адресное</a:t>
            </a:r>
            <a:endParaRPr lang="ru-RU" sz="1035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9" name="Text 119"/>
          <p:cNvSpPr txBox="1"/>
          <p:nvPr/>
        </p:nvSpPr>
        <p:spPr>
          <a:xfrm>
            <a:off x="3705225" y="3506437"/>
            <a:ext cx="4729162" cy="17240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08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гипотеза — 512 КБ &gt; L1; счётчики — следующий шаг</a:t>
            </a:r>
            <a:endParaRPr lang="ru-RU" sz="966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0" name="Fill 120"/>
          <p:cNvSpPr/>
          <p:nvPr/>
        </p:nvSpPr>
        <p:spPr>
          <a:xfrm>
            <a:off x="557212" y="4088353"/>
            <a:ext cx="4572000" cy="180975"/>
          </a:xfrm>
          <a:prstGeom prst="rect">
            <a:avLst/>
          </a:prstGeom>
          <a:solidFill>
            <a:srgbClr val="0B2B26"/>
          </a:solidFill>
          <a:ln>
            <a:noFill/>
          </a:ln>
        </p:spPr>
      </p:sp>
      <p:sp xmlns:p14="http://schemas.microsoft.com/office/powerpoint/2010/main">
        <p:nvSpPr>
          <p:cNvPr id="121" name="Line 121"/>
          <p:cNvSpPr/>
          <p:nvPr/>
        </p:nvSpPr>
        <p:spPr>
          <a:xfrm>
            <a:off x="571500" y="4088353"/>
            <a:ext cx="48" cy="180975"/>
          </a:xfrm>
          <a:custGeom>
            <a:avLst/>
            <a:gdLst/>
            <a:ahLst/>
            <a:cxnLst/>
            <a:rect l="0" t="0" r="r" b="b"/>
            <a:pathLst>
              <a:path w="1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28575">
            <a:solidFill>
              <a:srgbClr val="46CDAE"/>
            </a:solidFill>
          </a:ln>
        </p:spPr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719138" y="4073717"/>
            <a:ext cx="4400550" cy="2000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25"/>
              </a:lnSpc>
              <a:spcBef>
                <a:spcPts val="0"/>
              </a:spcBef>
              <a:buNone/>
            </a:pPr>
            <a:r>
              <a:rPr lang="ru-RU" sz="1035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Цена ошибки: </a:t>
            </a:r>
            <a:r>
              <a:rPr lang="ru-RU" sz="1035" b="1" i="0" dirty="0">
                <a:solidFill>
                  <a:srgbClr val="F2C14E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[N дней]</a:t>
            </a:r>
            <a:r>
              <a:rPr lang="ru-RU" sz="1035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замеров — в корзину</a:t>
            </a:r>
            <a:endParaRPr lang="ru-RU" sz="1035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3" name="Text 123"/>
          <p:cNvSpPr txBox="1"/>
          <p:nvPr/>
        </p:nvSpPr>
        <p:spPr>
          <a:xfrm>
            <a:off x="557212" y="4554200"/>
            <a:ext cx="7936039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U = 512, случайный порядок · вход восстанавливается перед вызовом · медиана 4 блоков · все серии доклада — на пуле разных массивов (64 при N ≤ </a:t>
            </a:r>
            <a:r>
              <a:rPr lang="ru-RU" sz="828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[порог N]</a:t>
            </a: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, дальше — </a:t>
            </a:r>
            <a:r>
              <a:rPr lang="ru-RU" sz="828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[размер пула при больших N]</a:t>
            </a: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) · M2: копии — Linux VM, тип ядра не контролировался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4" name="Picture 12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24" name="Slide Number 124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" grpId="0" animBg="1"/>
      <p:bldP spid="103" grpId="0" animBg="1"/>
      <p:bldP spid="104" grpId="0" animBg="1"/>
      <p:bldP spid="105" grpId="0" animBg="1"/>
      <p:bldP spid="106" grpId="0" animBg="1"/>
      <p:bldP spid="107" grpId="0" animBg="1"/>
      <p:bldP spid="108" grpId="0" animBg="1"/>
      <p:bldP spid="109" grpId="0" animBg="1"/>
      <p:bldP spid="110" grpId="0" animBg="1"/>
      <p:bldP spid="112" grpId="0" animBg="1"/>
      <p:bldP spid="113" grpId="0" animBg="1"/>
      <p:bldP spid="114" grpId="0" animBg="1"/>
      <p:bldP spid="116" grpId="0" animBg="1"/>
      <p:bldP spid="117" grpId="0" animBg="1"/>
      <p:bldP spid="118" grpId="0" animBg="1"/>
      <p:bldP spid="119" grpId="0" animBg="1"/>
      <p:bldP spid="122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РАУНД </a:t>
            </a:r>
            <a:r>
              <a:rPr lang="ru-RU" sz="1099" b="0" i="0" spc="94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4</a:t>
            </a: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ИЗ 4 · ПРОЦЕССОР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ОДНА СТРОЧКА ПРИОРИТЕТА: НА 512K ТРИ НИЧЬИ, НА iPhone В .utility — sort ×1,9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Box 103"/>
          <p:cNvSpPr/>
          <p:nvPr/>
        </p:nvSpPr>
        <p:spPr>
          <a:xfrm>
            <a:off x="564356" y="1540669"/>
            <a:ext cx="252412" cy="252412"/>
          </a:xfrm>
          <a:prstGeom prst="ellipse">
            <a:avLst/>
          </a:prstGeom>
          <a:solidFill>
            <a:srgbClr val="46CDAE"/>
          </a:solidFill>
          <a:ln w="14288">
            <a:solidFill>
              <a:srgbClr val="46CDAE"/>
            </a:solidFill>
          </a:ln>
        </p:spPr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566738" y="1521677"/>
            <a:ext cx="24765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875"/>
              </a:lnSpc>
              <a:spcBef>
                <a:spcPts val="0"/>
              </a:spcBef>
              <a:buNone/>
            </a:pPr>
            <a:r>
              <a:rPr lang="ru-RU" sz="1242" b="1" i="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3</a:t>
            </a:r>
            <a:endParaRPr lang="ru-RU" sz="1242" b="1" i="0" dirty="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938212" y="1509903"/>
            <a:ext cx="4657725" cy="3390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2520"/>
              </a:lnSpc>
              <a:spcBef>
                <a:spcPts val="0"/>
              </a:spcBef>
              <a:buNone/>
            </a:pPr>
            <a:r>
              <a:rPr lang="ru-RU" sz="2100" b="1" i="0" dirty="0">
                <a:solidFill>
                  <a:srgbClr val="46CDA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Task(priority: .utility)</a:t>
            </a:r>
            <a:endParaRPr lang="ru-RU" sz="2100" b="1" i="0" dirty="0">
              <a:solidFill>
                <a:srgbClr val="46CDAE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938212" y="1858536"/>
            <a:ext cx="7798689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в бенчмарке — pthread_set_qos_class_self_np, тот же класс QoS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557212" y="2144286"/>
            <a:ext cx="8191119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N = 512K, U = N/2 · в клетке: </a:t>
            </a:r>
            <a:r>
              <a:rPr lang="ru-RU" sz="966" b="0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sort</a:t>
            </a: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 / </a:t>
            </a:r>
            <a:r>
              <a:rPr lang="ru-RU" sz="966" b="0" i="0" dirty="0">
                <a:solidFill>
                  <a:srgbClr val="E2489B"/>
                </a:solidFill>
                <a:latin typeface="Montserrat"/>
                <a:ea typeface="Montserrat"/>
                <a:cs typeface="Montserrat"/>
                <a:sym typeface="Montserrat"/>
              </a:rPr>
              <a:t>хеш</a:t>
            </a: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, нс на элемент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1635919" y="2356333"/>
            <a:ext cx="3462338" cy="20833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490"/>
              </a:lnSpc>
              <a:spcBef>
                <a:spcPts val="0"/>
              </a:spcBef>
              <a:buNone/>
            </a:pPr>
            <a:r>
              <a:rPr lang="ru-RU" sz="1242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userInitiated</a:t>
            </a:r>
            <a:endParaRPr lang="ru-RU" sz="1242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5083969" y="2356333"/>
            <a:ext cx="3462338" cy="20833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490"/>
              </a:lnSpc>
              <a:spcBef>
                <a:spcPts val="0"/>
              </a:spcBef>
              <a:buNone/>
            </a:pPr>
            <a:r>
              <a:rPr lang="ru-RU" sz="1242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.utility</a:t>
            </a:r>
            <a:endParaRPr lang="ru-RU" sz="1242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557212" y="2765908"/>
            <a:ext cx="1088136" cy="20833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buNone/>
            </a:pPr>
            <a:r>
              <a:rPr lang="ru-RU" sz="1242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Mac</a:t>
            </a:r>
            <a:endParaRPr lang="ru-RU" sz="1242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557212" y="3394558"/>
            <a:ext cx="1088136" cy="20833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buNone/>
            </a:pPr>
            <a:r>
              <a:rPr lang="ru-RU" sz="1242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iPhone</a:t>
            </a:r>
            <a:endParaRPr lang="ru-RU" sz="1242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2" name="Box 112"/>
          <p:cNvSpPr/>
          <p:nvPr/>
        </p:nvSpPr>
        <p:spPr>
          <a:xfrm>
            <a:off x="1703784" y="2594372"/>
            <a:ext cx="3326606" cy="564356"/>
          </a:xfrm>
          <a:prstGeom prst="roundRect">
            <a:avLst>
              <a:gd name="adj" fmla="val 13333"/>
            </a:avLst>
          </a:prstGeom>
          <a:noFill/>
          <a:ln w="7144">
            <a:solidFill>
              <a:srgbClr val="FFFFFF"/>
            </a:solidFill>
          </a:ln>
        </p:spPr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1857375" y="2729393"/>
            <a:ext cx="1724025" cy="32750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2429"/>
              </a:lnSpc>
              <a:spcBef>
                <a:spcPts val="0"/>
              </a:spcBef>
              <a:buNone/>
            </a:pPr>
            <a:r>
              <a:rPr lang="ru-RU" sz="220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≈</a:t>
            </a:r>
            <a:endParaRPr lang="ru-RU" sz="220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3381375" y="2754724"/>
            <a:ext cx="1692592" cy="25039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1822"/>
              </a:lnSpc>
              <a:spcBef>
                <a:spcPts val="0"/>
              </a:spcBef>
              <a:buNone/>
            </a:pPr>
            <a:r>
              <a:rPr lang="ru-RU" sz="151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19,6 / 18,7</a:t>
            </a:r>
            <a:endParaRPr lang="ru-RU" sz="151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5" name="Box 115"/>
          <p:cNvSpPr/>
          <p:nvPr/>
        </p:nvSpPr>
        <p:spPr>
          <a:xfrm>
            <a:off x="5151834" y="2594372"/>
            <a:ext cx="3326606" cy="564356"/>
          </a:xfrm>
          <a:prstGeom prst="roundRect">
            <a:avLst>
              <a:gd name="adj" fmla="val 13333"/>
            </a:avLst>
          </a:prstGeom>
          <a:noFill/>
          <a:ln w="7144">
            <a:solidFill>
              <a:srgbClr val="FFFFFF"/>
            </a:solidFill>
          </a:ln>
        </p:spPr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5305425" y="2729393"/>
            <a:ext cx="1724025" cy="32750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2429"/>
              </a:lnSpc>
              <a:spcBef>
                <a:spcPts val="0"/>
              </a:spcBef>
              <a:buNone/>
            </a:pPr>
            <a:r>
              <a:rPr lang="ru-RU" sz="220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≈</a:t>
            </a:r>
            <a:endParaRPr lang="ru-RU" sz="220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6829425" y="2754724"/>
            <a:ext cx="1692592" cy="25039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1822"/>
              </a:lnSpc>
              <a:spcBef>
                <a:spcPts val="0"/>
              </a:spcBef>
              <a:buNone/>
            </a:pPr>
            <a:r>
              <a:rPr lang="ru-RU" sz="151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20,1 / 21,0</a:t>
            </a:r>
            <a:endParaRPr lang="ru-RU" sz="151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8" name="Box 118"/>
          <p:cNvSpPr/>
          <p:nvPr/>
        </p:nvSpPr>
        <p:spPr>
          <a:xfrm>
            <a:off x="1703784" y="3223022"/>
            <a:ext cx="3326606" cy="564356"/>
          </a:xfrm>
          <a:prstGeom prst="roundRect">
            <a:avLst>
              <a:gd name="adj" fmla="val 13333"/>
            </a:avLst>
          </a:prstGeom>
          <a:noFill/>
          <a:ln w="7144">
            <a:solidFill>
              <a:srgbClr val="FFFFFF"/>
            </a:solidFill>
          </a:ln>
        </p:spPr>
      </p:sp>
      <p:sp xmlns:p14="http://schemas.microsoft.com/office/powerpoint/2010/main">
        <p:nvSpPr>
          <p:cNvPr id="119" name="Text 119"/>
          <p:cNvSpPr txBox="1"/>
          <p:nvPr/>
        </p:nvSpPr>
        <p:spPr>
          <a:xfrm>
            <a:off x="1857375" y="3358043"/>
            <a:ext cx="1724025" cy="32750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2429"/>
              </a:lnSpc>
              <a:spcBef>
                <a:spcPts val="0"/>
              </a:spcBef>
              <a:buNone/>
            </a:pPr>
            <a:r>
              <a:rPr lang="ru-RU" sz="220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≈</a:t>
            </a:r>
            <a:endParaRPr lang="ru-RU" sz="220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3381375" y="3383374"/>
            <a:ext cx="1692592" cy="25039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1822"/>
              </a:lnSpc>
              <a:spcBef>
                <a:spcPts val="0"/>
              </a:spcBef>
              <a:buNone/>
            </a:pPr>
            <a:r>
              <a:rPr lang="ru-RU" sz="151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19,6 / 18,2</a:t>
            </a:r>
            <a:endParaRPr lang="ru-RU" sz="151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1" name="Box 121"/>
          <p:cNvSpPr/>
          <p:nvPr/>
        </p:nvSpPr>
        <p:spPr>
          <a:xfrm>
            <a:off x="5151834" y="3223022"/>
            <a:ext cx="3326606" cy="564356"/>
          </a:xfrm>
          <a:prstGeom prst="roundRect">
            <a:avLst>
              <a:gd name="adj" fmla="val 13333"/>
            </a:avLst>
          </a:prstGeom>
          <a:noFill/>
          <a:ln w="7144">
            <a:solidFill>
              <a:srgbClr val="FFFFFF"/>
            </a:solidFill>
          </a:ln>
        </p:spPr>
      </p:sp>
      <p:sp xmlns:p14="http://schemas.microsoft.com/office/powerpoint/2010/main">
        <p:nvSpPr>
          <p:cNvPr id="122" name="Box 122"/>
          <p:cNvSpPr/>
          <p:nvPr/>
        </p:nvSpPr>
        <p:spPr>
          <a:xfrm>
            <a:off x="5153025" y="3224212"/>
            <a:ext cx="3324225" cy="561975"/>
          </a:xfrm>
          <a:prstGeom prst="roundRect">
            <a:avLst>
              <a:gd name="adj" fmla="val 13333"/>
            </a:avLst>
          </a:prstGeom>
          <a:solidFill>
            <a:srgbClr val="174F45"/>
          </a:solidFill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23" name="Text 123"/>
          <p:cNvSpPr txBox="1"/>
          <p:nvPr/>
        </p:nvSpPr>
        <p:spPr>
          <a:xfrm>
            <a:off x="5310188" y="3374056"/>
            <a:ext cx="1724025" cy="2889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2125"/>
              </a:lnSpc>
              <a:spcBef>
                <a:spcPts val="0"/>
              </a:spcBef>
              <a:buNone/>
            </a:pPr>
            <a:r>
              <a:rPr lang="ru-RU" sz="1932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sort ×1,9</a:t>
            </a:r>
            <a:endParaRPr lang="ru-RU" sz="1932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4" name="Text 124"/>
          <p:cNvSpPr txBox="1"/>
          <p:nvPr/>
        </p:nvSpPr>
        <p:spPr>
          <a:xfrm>
            <a:off x="6834188" y="3383374"/>
            <a:ext cx="1682115" cy="25039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1822"/>
              </a:lnSpc>
              <a:spcBef>
                <a:spcPts val="0"/>
              </a:spcBef>
              <a:buNone/>
            </a:pPr>
            <a:r>
              <a:rPr lang="ru-RU" sz="151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55,3 / 105,3</a:t>
            </a:r>
            <a:endParaRPr lang="ru-RU" sz="151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5" name="Text 125"/>
          <p:cNvSpPr txBox="1"/>
          <p:nvPr/>
        </p:nvSpPr>
        <p:spPr>
          <a:xfrm>
            <a:off x="557212" y="3874085"/>
            <a:ext cx="8191119" cy="224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15"/>
              </a:lnSpc>
              <a:spcBef>
                <a:spcPts val="0"/>
              </a:spcBef>
              <a:buNone/>
            </a:pPr>
            <a:r>
              <a:rPr lang="ru-RU" sz="1242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Mac, 1M: ×1,3 → ×1,8 — ядро, судя по всему, то же: P</a:t>
            </a:r>
            <a:endParaRPr lang="ru-RU" sz="1242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6" name="Text 126"/>
          <p:cNvSpPr txBox="1"/>
          <p:nvPr/>
        </p:nvSpPr>
        <p:spPr>
          <a:xfrm>
            <a:off x="557212" y="4115961"/>
            <a:ext cx="8191119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Mac 1M userInitiated: ×1,3 в сессии А, ×1,1 в сессии Б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7" name="Text 127"/>
          <p:cNvSpPr txBox="1"/>
          <p:nvPr/>
        </p:nvSpPr>
        <p:spPr>
          <a:xfrm>
            <a:off x="557212" y="4554200"/>
            <a:ext cx="7936039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N = 2^19, U = N/2 · id случайные 64-битные · одинаковые входы · Mac: M2 Pro, macOS 27, libc++ · iPhone: </a:t>
            </a:r>
            <a:r>
              <a:rPr lang="ru-RU" sz="828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[модель iPhone, чип, iOS]</a:t>
            </a: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 · thermalState nominal, Low Power Mode off · медианы · строки background — в backup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8" name="Picture 12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28" name="Slide Number 128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7" grpId="0" animBg="1"/>
      <p:bldP spid="108" grpId="0" animBg="1"/>
      <p:bldP spid="109" grpId="0" animBg="1"/>
      <p:bldP spid="110" grpId="0" animBg="1"/>
      <p:bldP spid="111" grpId="0" animBg="1"/>
      <p:bldP spid="113" grpId="0" animBg="1"/>
      <p:bldP spid="114" grpId="0" animBg="1"/>
      <p:bldP spid="116" grpId="0" animBg="1"/>
      <p:bldP spid="117" grpId="0" animBg="1"/>
      <p:bldP spid="119" grpId="0" animBg="1"/>
      <p:bldP spid="120" grpId="0" animBg="1"/>
      <p:bldP spid="123" grpId="0" animBg="1"/>
      <p:bldP spid="124" grpId="0" animBg="1"/>
      <p:bldP spid="125" grpId="0" animBg="1"/>
      <p:bldP spid="126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Text 101"/>
          <p:cNvSpPr txBox="1"/>
          <p:nvPr/>
        </p:nvSpPr>
        <p:spPr>
          <a:xfrm>
            <a:off x="557212" y="538353"/>
            <a:ext cx="4657725" cy="3390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2520"/>
              </a:lnSpc>
              <a:spcBef>
                <a:spcPts val="0"/>
              </a:spcBef>
              <a:buNone/>
            </a:pPr>
            <a:r>
              <a:rPr lang="ru-RU" sz="2100" b="1" i="0" dirty="0">
                <a:solidFill>
                  <a:srgbClr val="46CDA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Task(priority: .utility)</a:t>
            </a:r>
            <a:endParaRPr lang="ru-RU" sz="2100" b="1" i="0" dirty="0">
              <a:solidFill>
                <a:srgbClr val="46CDAE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2" name="Box 102"/>
          <p:cNvSpPr/>
          <p:nvPr/>
        </p:nvSpPr>
        <p:spPr>
          <a:xfrm>
            <a:off x="6774656" y="1321594"/>
            <a:ext cx="1700212" cy="2652712"/>
          </a:xfrm>
          <a:prstGeom prst="roundRect">
            <a:avLst>
              <a:gd name="adj" fmla="val 6666"/>
            </a:avLst>
          </a:prstGeom>
          <a:solidFill>
            <a:srgbClr val="000000"/>
          </a:solidFill>
          <a:ln w="14288">
            <a:solidFill>
              <a:srgbClr val="46CDAE"/>
            </a:solidFill>
            <a:prstDash val="dash"/>
          </a:ln>
        </p:spPr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6899196" y="2384983"/>
            <a:ext cx="1451134" cy="515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304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[видео с iPhone, 8–12 с: userInitiated → utility]</a:t>
            </a:r>
            <a:endParaRPr lang="ru-RU" sz="966" b="0" i="0" dirty="0">
              <a:solidFill>
                <a:srgbClr val="F2C14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452628" y="1539564"/>
            <a:ext cx="6228969" cy="1333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0350"/>
              </a:lnSpc>
              <a:spcBef>
                <a:spcPts val="0"/>
              </a:spcBef>
              <a:buNone/>
            </a:pPr>
            <a:r>
              <a:rPr lang="ru-RU" sz="10350" b="1" i="0" spc="-138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×3,3</a:t>
            </a:r>
            <a:endParaRPr lang="ru-RU" sz="10350" b="1" i="0" spc="-138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452628" y="2976860"/>
            <a:ext cx="6228969" cy="4747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794"/>
              </a:lnSpc>
              <a:spcBef>
                <a:spcPts val="0"/>
              </a:spcBef>
              <a:buNone/>
            </a:pPr>
            <a:r>
              <a:rPr lang="ru-RU" sz="138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сортировка быстрее хеша</a:t>
            </a:r>
            <a:br>
              <a:rPr lang="ru-RU" sz="138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380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тот же iPhone, тот же код, миллион id</a:t>
            </a:r>
            <a:endParaRPr lang="ru-RU" sz="1380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557212" y="4554200"/>
            <a:ext cx="7936039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[модель iPhone, чип, iOS]</a:t>
            </a: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 · N = 2^20, U = N/2 · id — случайные 64-битные · utility: sort 57,4 / unordered_set 187,7 нс/эл · userInitiated: sort </a:t>
            </a:r>
            <a:r>
              <a:rPr lang="ru-RU" sz="828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[a]</a:t>
            </a: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 / unordered_set </a:t>
            </a:r>
            <a:r>
              <a:rPr lang="ru-RU" sz="828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[b]</a:t>
            </a: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 нс/эл · видео — иллюстрация, числа — медианы серии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7" name="Picture 10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07" name="Slide Number 107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" grpId="0" animBg="1"/>
      <p:bldP spid="103" grpId="0" animBg="1"/>
      <p:bldP spid="104" grpId="0" animBg="1"/>
      <p:bldP spid="105" grpId="0" animBg="1"/>
      <p:bldP spid="106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РАУНД </a:t>
            </a:r>
            <a:r>
              <a:rPr lang="ru-RU" sz="1099" b="0" i="0" spc="94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4</a:t>
            </a: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ИЗ 4 · ПРОЦЕССОР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СТУПЕНЬКИ КЭША ВЫДАЮТ ЯДРО: НА МОЁМ iPhone utility РАБОТАЕТ НА E-ядре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447860"/>
            <a:ext cx="2088832" cy="187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2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MacBook Pro · M2 Pro</a:t>
            </a:r>
            <a:endParaRPr lang="ru-RU" sz="1104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2494216" y="1462271"/>
            <a:ext cx="1872996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нс на зависимое чтение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 xmlns:p14="http://schemas.microsoft.com/office/powerpoint/2010/main">
        <p:nvGrpSpPr>
          <p:cNvPr id="113" name="Chart 113"/>
          <p:cNvGrpSpPr/>
          <p:nvPr/>
        </p:nvGrpSpPr>
        <p:grpSpPr>
          <a:xfrm>
            <a:off x="1128712" y="2067967"/>
            <a:ext cx="3086148" cy="1000125"/>
            <a:chOff x="1128712" y="2067967"/>
            <a:chExt cx="3086148" cy="1000125"/>
          </a:xfrm>
        </p:grpSpPr>
        <p:sp>
          <p:nvSpPr>
            <p:cNvPr id="105" name="Line 105"/>
            <p:cNvSpPr/>
            <p:nvPr/>
          </p:nvSpPr>
          <p:spPr>
            <a:xfrm>
              <a:off x="1128712" y="2553742"/>
              <a:ext cx="3086100" cy="48"/>
            </a:xfrm>
            <a:custGeom>
              <a:avLst/>
              <a:gdLst/>
              <a:ahLst/>
              <a:cxnLst/>
              <a:rect l="0" t="0" r="r" b="b"/>
              <a:pathLst>
                <a:path w="3086100" h="1" fill="none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w="4762">
              <a:solidFill>
                <a:srgbClr val="333333"/>
              </a:solidFill>
            </a:ln>
          </p:spPr>
        </p:sp>
        <p:sp>
          <p:nvSpPr>
            <p:cNvPr id="106" name="Line 106"/>
            <p:cNvSpPr/>
            <p:nvPr/>
          </p:nvSpPr>
          <p:spPr>
            <a:xfrm>
              <a:off x="1128712" y="2067967"/>
              <a:ext cx="3086100" cy="48"/>
            </a:xfrm>
            <a:custGeom>
              <a:avLst/>
              <a:gdLst/>
              <a:ahLst/>
              <a:cxnLst/>
              <a:rect l="0" t="0" r="r" b="b"/>
              <a:pathLst>
                <a:path w="3086100" h="1" fill="none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w="4762">
              <a:solidFill>
                <a:srgbClr val="333333"/>
              </a:solidFill>
            </a:ln>
          </p:spPr>
        </p:sp>
        <p:sp>
          <p:nvSpPr>
            <p:cNvPr id="107" name="Line 107"/>
            <p:cNvSpPr/>
            <p:nvPr/>
          </p:nvSpPr>
          <p:spPr>
            <a:xfrm>
              <a:off x="1128712" y="3039517"/>
              <a:ext cx="3086100" cy="48"/>
            </a:xfrm>
            <a:custGeom>
              <a:avLst/>
              <a:gdLst/>
              <a:ahLst/>
              <a:cxnLst/>
              <a:rect l="0" t="0" r="r" b="b"/>
              <a:pathLst>
                <a:path w="3086100" h="1" fill="none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w="9525">
              <a:solidFill>
                <a:srgbClr val="8F8F8F"/>
              </a:solidFill>
            </a:ln>
          </p:spPr>
        </p:sp>
        <p:sp>
          <p:nvSpPr>
            <p:cNvPr id="108" name="Line 108"/>
            <p:cNvSpPr/>
            <p:nvPr/>
          </p:nvSpPr>
          <p:spPr>
            <a:xfrm>
              <a:off x="1128712" y="3039517"/>
              <a:ext cx="48" cy="28575"/>
            </a:xfrm>
            <a:custGeom>
              <a:avLst/>
              <a:gdLst/>
              <a:ahLst/>
              <a:cxnLst/>
              <a:rect l="0" t="0" r="r" b="b"/>
              <a:pathLst>
                <a:path w="1" h="28575" fill="none">
                  <a:moveTo>
                    <a:pt x="0" y="0"/>
                  </a:moveTo>
                  <a:lnTo>
                    <a:pt x="0" y="28575"/>
                  </a:lnTo>
                </a:path>
              </a:pathLst>
            </a:custGeom>
            <a:noFill/>
            <a:ln w="9525">
              <a:solidFill>
                <a:srgbClr val="8F8F8F"/>
              </a:solidFill>
            </a:ln>
          </p:spPr>
        </p:sp>
        <p:sp>
          <p:nvSpPr>
            <p:cNvPr id="109" name="Line 109"/>
            <p:cNvSpPr/>
            <p:nvPr/>
          </p:nvSpPr>
          <p:spPr>
            <a:xfrm>
              <a:off x="1900238" y="3039517"/>
              <a:ext cx="48" cy="28575"/>
            </a:xfrm>
            <a:custGeom>
              <a:avLst/>
              <a:gdLst/>
              <a:ahLst/>
              <a:cxnLst/>
              <a:rect l="0" t="0" r="r" b="b"/>
              <a:pathLst>
                <a:path w="1" h="28575" fill="none">
                  <a:moveTo>
                    <a:pt x="0" y="0"/>
                  </a:moveTo>
                  <a:lnTo>
                    <a:pt x="0" y="28575"/>
                  </a:lnTo>
                </a:path>
              </a:pathLst>
            </a:custGeom>
            <a:noFill/>
            <a:ln w="9525">
              <a:solidFill>
                <a:srgbClr val="8F8F8F"/>
              </a:solidFill>
            </a:ln>
          </p:spPr>
        </p:sp>
        <p:sp>
          <p:nvSpPr>
            <p:cNvPr id="110" name="Line 110"/>
            <p:cNvSpPr/>
            <p:nvPr/>
          </p:nvSpPr>
          <p:spPr>
            <a:xfrm>
              <a:off x="2671762" y="3039517"/>
              <a:ext cx="48" cy="28575"/>
            </a:xfrm>
            <a:custGeom>
              <a:avLst/>
              <a:gdLst/>
              <a:ahLst/>
              <a:cxnLst/>
              <a:rect l="0" t="0" r="r" b="b"/>
              <a:pathLst>
                <a:path w="1" h="28575" fill="none">
                  <a:moveTo>
                    <a:pt x="0" y="0"/>
                  </a:moveTo>
                  <a:lnTo>
                    <a:pt x="0" y="28575"/>
                  </a:lnTo>
                </a:path>
              </a:pathLst>
            </a:custGeom>
            <a:noFill/>
            <a:ln w="9525">
              <a:solidFill>
                <a:srgbClr val="8F8F8F"/>
              </a:solidFill>
            </a:ln>
          </p:spPr>
        </p:sp>
        <p:sp>
          <p:nvSpPr>
            <p:cNvPr id="111" name="Line 111"/>
            <p:cNvSpPr/>
            <p:nvPr/>
          </p:nvSpPr>
          <p:spPr>
            <a:xfrm>
              <a:off x="3700462" y="3039517"/>
              <a:ext cx="48" cy="28575"/>
            </a:xfrm>
            <a:custGeom>
              <a:avLst/>
              <a:gdLst/>
              <a:ahLst/>
              <a:cxnLst/>
              <a:rect l="0" t="0" r="r" b="b"/>
              <a:pathLst>
                <a:path w="1" h="28575" fill="none">
                  <a:moveTo>
                    <a:pt x="0" y="0"/>
                  </a:moveTo>
                  <a:lnTo>
                    <a:pt x="0" y="28575"/>
                  </a:lnTo>
                </a:path>
              </a:pathLst>
            </a:custGeom>
            <a:noFill/>
            <a:ln w="9525">
              <a:solidFill>
                <a:srgbClr val="8F8F8F"/>
              </a:solidFill>
            </a:ln>
          </p:spPr>
        </p:sp>
        <p:sp>
          <p:nvSpPr>
            <p:cNvPr id="112" name="Line 112"/>
            <p:cNvSpPr/>
            <p:nvPr/>
          </p:nvSpPr>
          <p:spPr>
            <a:xfrm>
              <a:off x="4214812" y="3039517"/>
              <a:ext cx="48" cy="28575"/>
            </a:xfrm>
            <a:custGeom>
              <a:avLst/>
              <a:gdLst/>
              <a:ahLst/>
              <a:cxnLst/>
              <a:rect l="0" t="0" r="r" b="b"/>
              <a:pathLst>
                <a:path w="1" h="28575" fill="none">
                  <a:moveTo>
                    <a:pt x="0" y="0"/>
                  </a:moveTo>
                  <a:lnTo>
                    <a:pt x="0" y="28575"/>
                  </a:lnTo>
                </a:path>
              </a:pathLst>
            </a:custGeom>
            <a:noFill/>
            <a:ln w="9525">
              <a:solidFill>
                <a:srgbClr val="8F8F8F"/>
              </a:solidFill>
            </a:ln>
          </p:spPr>
        </p:sp>
      </p:grpSp>
      <p:sp xmlns:p14="http://schemas.microsoft.com/office/powerpoint/2010/main">
        <p:nvSpPr>
          <p:cNvPr id="114" name="Fill 114"/>
          <p:cNvSpPr/>
          <p:nvPr/>
        </p:nvSpPr>
        <p:spPr>
          <a:xfrm>
            <a:off x="1638300" y="1653629"/>
            <a:ext cx="9525" cy="1385888"/>
          </a:xfrm>
          <a:prstGeom prst="rect">
            <a:avLst/>
          </a:prstGeom>
          <a:solidFill>
            <a:srgbClr val="4A4A4A"/>
          </a:solidFill>
          <a:ln>
            <a:noFill/>
          </a:ln>
        </p:spPr>
      </p:sp>
      <p:sp xmlns:p14="http://schemas.microsoft.com/office/powerpoint/2010/main">
        <p:nvSpPr>
          <p:cNvPr id="115" name="Fill 115"/>
          <p:cNvSpPr/>
          <p:nvPr/>
        </p:nvSpPr>
        <p:spPr>
          <a:xfrm>
            <a:off x="3181350" y="1653629"/>
            <a:ext cx="9525" cy="1385888"/>
          </a:xfrm>
          <a:prstGeom prst="rect">
            <a:avLst/>
          </a:prstGeom>
          <a:solidFill>
            <a:srgbClr val="4A4A4A"/>
          </a:solidFill>
          <a:ln>
            <a:noFill/>
          </a:ln>
        </p:spPr>
      </p:sp>
      <p:sp xmlns:p14="http://schemas.microsoft.com/office/powerpoint/2010/main">
        <p:nvSpPr>
          <p:cNvPr id="116" name="Fill 116"/>
          <p:cNvSpPr/>
          <p:nvPr/>
        </p:nvSpPr>
        <p:spPr>
          <a:xfrm>
            <a:off x="1895475" y="1653629"/>
            <a:ext cx="9525" cy="1385888"/>
          </a:xfrm>
          <a:prstGeom prst="rect">
            <a:avLst/>
          </a:prstGeom>
          <a:solidFill>
            <a:srgbClr val="4A4A4A"/>
          </a:solidFill>
          <a:ln>
            <a:noFill/>
          </a:ln>
        </p:spPr>
      </p:sp>
      <p:sp xmlns:p14="http://schemas.microsoft.com/office/powerpoint/2010/main">
        <p:nvSpPr>
          <p:cNvPr id="117" name="Fill 117"/>
          <p:cNvSpPr/>
          <p:nvPr/>
        </p:nvSpPr>
        <p:spPr>
          <a:xfrm>
            <a:off x="3695700" y="1653629"/>
            <a:ext cx="9525" cy="1385888"/>
          </a:xfrm>
          <a:prstGeom prst="rect">
            <a:avLst/>
          </a:prstGeom>
          <a:solidFill>
            <a:srgbClr val="4A4A4A"/>
          </a:solidFill>
          <a:ln>
            <a:noFill/>
          </a:ln>
        </p:spPr>
      </p:sp>
      <p:sp xmlns:p14="http://schemas.microsoft.com/office/powerpoint/2010/main">
        <p:nvSpPr>
          <p:cNvPr id="118" name="Line 118"/>
          <p:cNvSpPr/>
          <p:nvPr/>
        </p:nvSpPr>
        <p:spPr>
          <a:xfrm>
            <a:off x="1128712" y="1869371"/>
            <a:ext cx="3086100" cy="866299"/>
          </a:xfrm>
          <a:custGeom>
            <a:avLst/>
            <a:gdLst/>
            <a:ahLst/>
            <a:cxnLst/>
            <a:rect l="0" t="0" r="r" b="b"/>
            <a:pathLst>
              <a:path w="3086100" h="866299" fill="none">
                <a:moveTo>
                  <a:pt x="0" y="866299"/>
                </a:moveTo>
                <a:lnTo>
                  <a:pt x="150019" y="794861"/>
                </a:lnTo>
                <a:lnTo>
                  <a:pt x="255746" y="798671"/>
                </a:lnTo>
                <a:lnTo>
                  <a:pt x="405765" y="810101"/>
                </a:lnTo>
                <a:lnTo>
                  <a:pt x="515779" y="798671"/>
                </a:lnTo>
                <a:lnTo>
                  <a:pt x="665798" y="603885"/>
                </a:lnTo>
                <a:lnTo>
                  <a:pt x="771525" y="603885"/>
                </a:lnTo>
                <a:lnTo>
                  <a:pt x="921544" y="551021"/>
                </a:lnTo>
                <a:lnTo>
                  <a:pt x="1027271" y="554831"/>
                </a:lnTo>
                <a:lnTo>
                  <a:pt x="1177290" y="607695"/>
                </a:lnTo>
                <a:lnTo>
                  <a:pt x="1287304" y="577691"/>
                </a:lnTo>
                <a:lnTo>
                  <a:pt x="1437322" y="551021"/>
                </a:lnTo>
                <a:lnTo>
                  <a:pt x="1543050" y="611029"/>
                </a:lnTo>
                <a:lnTo>
                  <a:pt x="1693069" y="611029"/>
                </a:lnTo>
                <a:lnTo>
                  <a:pt x="1798796" y="622459"/>
                </a:lnTo>
                <a:lnTo>
                  <a:pt x="1948815" y="450056"/>
                </a:lnTo>
                <a:lnTo>
                  <a:pt x="2058829" y="160973"/>
                </a:lnTo>
                <a:lnTo>
                  <a:pt x="2208848" y="67151"/>
                </a:lnTo>
                <a:lnTo>
                  <a:pt x="2314575" y="40957"/>
                </a:lnTo>
                <a:lnTo>
                  <a:pt x="2464594" y="37148"/>
                </a:lnTo>
                <a:lnTo>
                  <a:pt x="2570321" y="14764"/>
                </a:lnTo>
                <a:lnTo>
                  <a:pt x="2720340" y="7144"/>
                </a:lnTo>
                <a:lnTo>
                  <a:pt x="2830354" y="44767"/>
                </a:lnTo>
                <a:lnTo>
                  <a:pt x="2980372" y="0"/>
                </a:lnTo>
                <a:lnTo>
                  <a:pt x="3086100" y="7144"/>
                </a:lnTo>
              </a:path>
            </a:pathLst>
          </a:custGeom>
          <a:noFill/>
          <a:ln w="23812">
            <a:solidFill>
              <a:srgbClr val="8F8F8F"/>
            </a:solidFill>
            <a:custDash>
              <a:ds d="280000" sp="200000"/>
            </a:custDash>
            <a:round/>
          </a:ln>
        </p:spPr>
      </p:sp>
      <p:sp xmlns:p14="http://schemas.microsoft.com/office/powerpoint/2010/main">
        <p:nvSpPr>
          <p:cNvPr id="119" name="Line 119"/>
          <p:cNvSpPr/>
          <p:nvPr/>
        </p:nvSpPr>
        <p:spPr>
          <a:xfrm>
            <a:off x="1128712" y="2056537"/>
            <a:ext cx="3086100" cy="866775"/>
          </a:xfrm>
          <a:custGeom>
            <a:avLst/>
            <a:gdLst/>
            <a:ahLst/>
            <a:cxnLst/>
            <a:rect l="0" t="0" r="r" b="b"/>
            <a:pathLst>
              <a:path w="3086100" h="866775" fill="none">
                <a:moveTo>
                  <a:pt x="0" y="866775"/>
                </a:moveTo>
                <a:lnTo>
                  <a:pt x="150019" y="859155"/>
                </a:lnTo>
                <a:lnTo>
                  <a:pt x="255746" y="862965"/>
                </a:lnTo>
                <a:lnTo>
                  <a:pt x="405765" y="862965"/>
                </a:lnTo>
                <a:lnTo>
                  <a:pt x="515779" y="859155"/>
                </a:lnTo>
                <a:lnTo>
                  <a:pt x="665798" y="859155"/>
                </a:lnTo>
                <a:lnTo>
                  <a:pt x="771525" y="859155"/>
                </a:lnTo>
                <a:lnTo>
                  <a:pt x="921544" y="619125"/>
                </a:lnTo>
                <a:lnTo>
                  <a:pt x="1027271" y="592931"/>
                </a:lnTo>
                <a:lnTo>
                  <a:pt x="1177290" y="589121"/>
                </a:lnTo>
                <a:lnTo>
                  <a:pt x="1287304" y="596741"/>
                </a:lnTo>
                <a:lnTo>
                  <a:pt x="1437322" y="589121"/>
                </a:lnTo>
                <a:lnTo>
                  <a:pt x="1543050" y="589121"/>
                </a:lnTo>
                <a:lnTo>
                  <a:pt x="1693069" y="589121"/>
                </a:lnTo>
                <a:lnTo>
                  <a:pt x="1798796" y="589121"/>
                </a:lnTo>
                <a:lnTo>
                  <a:pt x="1948815" y="589121"/>
                </a:lnTo>
                <a:lnTo>
                  <a:pt x="2058829" y="589121"/>
                </a:lnTo>
                <a:lnTo>
                  <a:pt x="2208848" y="562927"/>
                </a:lnTo>
                <a:lnTo>
                  <a:pt x="2314575" y="513874"/>
                </a:lnTo>
                <a:lnTo>
                  <a:pt x="2464594" y="202882"/>
                </a:lnTo>
                <a:lnTo>
                  <a:pt x="2570321" y="56674"/>
                </a:lnTo>
                <a:lnTo>
                  <a:pt x="2720340" y="33814"/>
                </a:lnTo>
                <a:lnTo>
                  <a:pt x="2830354" y="15240"/>
                </a:lnTo>
                <a:lnTo>
                  <a:pt x="2980372" y="0"/>
                </a:lnTo>
                <a:lnTo>
                  <a:pt x="3086100" y="3810"/>
                </a:lnTo>
              </a:path>
            </a:pathLst>
          </a:custGeom>
          <a:noFill/>
          <a:ln w="23812" cap="rnd">
            <a:solidFill>
              <a:srgbClr val="FFFFFF"/>
            </a:solidFill>
            <a:round/>
          </a:ln>
        </p:spPr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514350" y="2010682"/>
            <a:ext cx="519112" cy="1417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96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100 нс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1" name="Text 121"/>
          <p:cNvSpPr txBox="1"/>
          <p:nvPr/>
        </p:nvSpPr>
        <p:spPr>
          <a:xfrm>
            <a:off x="514350" y="2485816"/>
            <a:ext cx="519112" cy="1417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96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10 нс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514350" y="2960950"/>
            <a:ext cx="519112" cy="1417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96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 нс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3" name="Text 123"/>
          <p:cNvSpPr txBox="1"/>
          <p:nvPr/>
        </p:nvSpPr>
        <p:spPr>
          <a:xfrm>
            <a:off x="869156" y="3110096"/>
            <a:ext cx="519112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16К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4" name="Text 124"/>
          <p:cNvSpPr txBox="1"/>
          <p:nvPr/>
        </p:nvSpPr>
        <p:spPr>
          <a:xfrm>
            <a:off x="1640681" y="3110096"/>
            <a:ext cx="519112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128К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5" name="Text 125"/>
          <p:cNvSpPr txBox="1"/>
          <p:nvPr/>
        </p:nvSpPr>
        <p:spPr>
          <a:xfrm>
            <a:off x="2412206" y="3110096"/>
            <a:ext cx="519112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1М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6" name="Text 126"/>
          <p:cNvSpPr txBox="1"/>
          <p:nvPr/>
        </p:nvSpPr>
        <p:spPr>
          <a:xfrm>
            <a:off x="3440906" y="3110096"/>
            <a:ext cx="519112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16М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7" name="Text 127"/>
          <p:cNvSpPr txBox="1"/>
          <p:nvPr/>
        </p:nvSpPr>
        <p:spPr>
          <a:xfrm>
            <a:off x="3955256" y="3110096"/>
            <a:ext cx="519112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64М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8" name="Text 128"/>
          <p:cNvSpPr txBox="1"/>
          <p:nvPr/>
        </p:nvSpPr>
        <p:spPr>
          <a:xfrm>
            <a:off x="1938338" y="1646636"/>
            <a:ext cx="1156811" cy="17240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08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 L1 128 КиБ</a:t>
            </a:r>
            <a:endParaRPr lang="ru-RU" sz="966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9" name="Text 129"/>
          <p:cNvSpPr txBox="1"/>
          <p:nvPr/>
        </p:nvSpPr>
        <p:spPr>
          <a:xfrm>
            <a:off x="3729038" y="1646636"/>
            <a:ext cx="952500" cy="17240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08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 L2 16 МиБ</a:t>
            </a:r>
            <a:endParaRPr lang="ru-RU" sz="966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30" name="Text 130"/>
          <p:cNvSpPr txBox="1"/>
          <p:nvPr/>
        </p:nvSpPr>
        <p:spPr>
          <a:xfrm>
            <a:off x="642938" y="1822849"/>
            <a:ext cx="962025" cy="17240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208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E L1 64 КиБ</a:t>
            </a:r>
            <a:endParaRPr lang="ru-RU" sz="966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31" name="Text 131"/>
          <p:cNvSpPr txBox="1"/>
          <p:nvPr/>
        </p:nvSpPr>
        <p:spPr>
          <a:xfrm>
            <a:off x="2243138" y="1822849"/>
            <a:ext cx="904875" cy="17240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208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E L2 4 МиБ</a:t>
            </a:r>
            <a:endParaRPr lang="ru-RU" sz="966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32" name="Text 132"/>
          <p:cNvSpPr txBox="1"/>
          <p:nvPr/>
        </p:nvSpPr>
        <p:spPr>
          <a:xfrm>
            <a:off x="2147888" y="2700521"/>
            <a:ext cx="1205865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userInitiated</a:t>
            </a:r>
            <a:endParaRPr lang="ru-RU" sz="966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3" name="Text 133"/>
          <p:cNvSpPr txBox="1"/>
          <p:nvPr/>
        </p:nvSpPr>
        <p:spPr>
          <a:xfrm>
            <a:off x="1985962" y="2205221"/>
            <a:ext cx="1009650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1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background</a:t>
            </a:r>
            <a:endParaRPr lang="ru-RU" sz="966" b="1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4" name="Text 134"/>
          <p:cNvSpPr txBox="1"/>
          <p:nvPr/>
        </p:nvSpPr>
        <p:spPr>
          <a:xfrm>
            <a:off x="4672012" y="1447860"/>
            <a:ext cx="3952875" cy="187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2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iPhone </a:t>
            </a:r>
            <a:r>
              <a:rPr lang="ru-RU" sz="1104" b="0" i="0" dirty="0">
                <a:solidFill>
                  <a:srgbClr val="F2C14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[модель iPhone]</a:t>
            </a:r>
            <a:endParaRPr lang="ru-RU" sz="1104" b="0" i="0" dirty="0">
              <a:solidFill>
                <a:srgbClr val="F2C14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grpSp xmlns:p14="http://schemas.microsoft.com/office/powerpoint/2010/main">
        <p:nvGrpSpPr>
          <p:cNvPr id="143" name="Chart 143"/>
          <p:cNvGrpSpPr/>
          <p:nvPr/>
        </p:nvGrpSpPr>
        <p:grpSpPr>
          <a:xfrm>
            <a:off x="5243512" y="2067967"/>
            <a:ext cx="3086148" cy="1000125"/>
            <a:chOff x="5243512" y="2067967"/>
            <a:chExt cx="3086148" cy="1000125"/>
          </a:xfrm>
        </p:grpSpPr>
        <p:sp>
          <p:nvSpPr>
            <p:cNvPr id="135" name="Line 135"/>
            <p:cNvSpPr/>
            <p:nvPr/>
          </p:nvSpPr>
          <p:spPr>
            <a:xfrm>
              <a:off x="5243512" y="2553742"/>
              <a:ext cx="3086100" cy="48"/>
            </a:xfrm>
            <a:custGeom>
              <a:avLst/>
              <a:gdLst/>
              <a:ahLst/>
              <a:cxnLst/>
              <a:rect l="0" t="0" r="r" b="b"/>
              <a:pathLst>
                <a:path w="3086100" h="1" fill="none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w="4762">
              <a:solidFill>
                <a:srgbClr val="333333"/>
              </a:solidFill>
            </a:ln>
          </p:spPr>
        </p:sp>
        <p:sp>
          <p:nvSpPr>
            <p:cNvPr id="136" name="Line 136"/>
            <p:cNvSpPr/>
            <p:nvPr/>
          </p:nvSpPr>
          <p:spPr>
            <a:xfrm>
              <a:off x="5243512" y="2067967"/>
              <a:ext cx="3086100" cy="48"/>
            </a:xfrm>
            <a:custGeom>
              <a:avLst/>
              <a:gdLst/>
              <a:ahLst/>
              <a:cxnLst/>
              <a:rect l="0" t="0" r="r" b="b"/>
              <a:pathLst>
                <a:path w="3086100" h="1" fill="none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w="4762">
              <a:solidFill>
                <a:srgbClr val="333333"/>
              </a:solidFill>
            </a:ln>
          </p:spPr>
        </p:sp>
        <p:sp>
          <p:nvSpPr>
            <p:cNvPr id="137" name="Line 137"/>
            <p:cNvSpPr/>
            <p:nvPr/>
          </p:nvSpPr>
          <p:spPr>
            <a:xfrm>
              <a:off x="5243512" y="3039517"/>
              <a:ext cx="3086100" cy="48"/>
            </a:xfrm>
            <a:custGeom>
              <a:avLst/>
              <a:gdLst/>
              <a:ahLst/>
              <a:cxnLst/>
              <a:rect l="0" t="0" r="r" b="b"/>
              <a:pathLst>
                <a:path w="3086100" h="1" fill="none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w="9525">
              <a:solidFill>
                <a:srgbClr val="8F8F8F"/>
              </a:solidFill>
            </a:ln>
          </p:spPr>
        </p:sp>
        <p:sp>
          <p:nvSpPr>
            <p:cNvPr id="138" name="Line 138"/>
            <p:cNvSpPr/>
            <p:nvPr/>
          </p:nvSpPr>
          <p:spPr>
            <a:xfrm>
              <a:off x="5243512" y="3039517"/>
              <a:ext cx="48" cy="28575"/>
            </a:xfrm>
            <a:custGeom>
              <a:avLst/>
              <a:gdLst/>
              <a:ahLst/>
              <a:cxnLst/>
              <a:rect l="0" t="0" r="r" b="b"/>
              <a:pathLst>
                <a:path w="1" h="28575" fill="none">
                  <a:moveTo>
                    <a:pt x="0" y="0"/>
                  </a:moveTo>
                  <a:lnTo>
                    <a:pt x="0" y="28575"/>
                  </a:lnTo>
                </a:path>
              </a:pathLst>
            </a:custGeom>
            <a:noFill/>
            <a:ln w="9525">
              <a:solidFill>
                <a:srgbClr val="8F8F8F"/>
              </a:solidFill>
            </a:ln>
          </p:spPr>
        </p:sp>
        <p:sp>
          <p:nvSpPr>
            <p:cNvPr id="139" name="Line 139"/>
            <p:cNvSpPr/>
            <p:nvPr/>
          </p:nvSpPr>
          <p:spPr>
            <a:xfrm>
              <a:off x="6015038" y="3039517"/>
              <a:ext cx="48" cy="28575"/>
            </a:xfrm>
            <a:custGeom>
              <a:avLst/>
              <a:gdLst/>
              <a:ahLst/>
              <a:cxnLst/>
              <a:rect l="0" t="0" r="r" b="b"/>
              <a:pathLst>
                <a:path w="1" h="28575" fill="none">
                  <a:moveTo>
                    <a:pt x="0" y="0"/>
                  </a:moveTo>
                  <a:lnTo>
                    <a:pt x="0" y="28575"/>
                  </a:lnTo>
                </a:path>
              </a:pathLst>
            </a:custGeom>
            <a:noFill/>
            <a:ln w="9525">
              <a:solidFill>
                <a:srgbClr val="8F8F8F"/>
              </a:solidFill>
            </a:ln>
          </p:spPr>
        </p:sp>
        <p:sp>
          <p:nvSpPr>
            <p:cNvPr id="140" name="Line 140"/>
            <p:cNvSpPr/>
            <p:nvPr/>
          </p:nvSpPr>
          <p:spPr>
            <a:xfrm>
              <a:off x="6786562" y="3039517"/>
              <a:ext cx="48" cy="28575"/>
            </a:xfrm>
            <a:custGeom>
              <a:avLst/>
              <a:gdLst/>
              <a:ahLst/>
              <a:cxnLst/>
              <a:rect l="0" t="0" r="r" b="b"/>
              <a:pathLst>
                <a:path w="1" h="28575" fill="none">
                  <a:moveTo>
                    <a:pt x="0" y="0"/>
                  </a:moveTo>
                  <a:lnTo>
                    <a:pt x="0" y="28575"/>
                  </a:lnTo>
                </a:path>
              </a:pathLst>
            </a:custGeom>
            <a:noFill/>
            <a:ln w="9525">
              <a:solidFill>
                <a:srgbClr val="8F8F8F"/>
              </a:solidFill>
            </a:ln>
          </p:spPr>
        </p:sp>
        <p:sp>
          <p:nvSpPr>
            <p:cNvPr id="141" name="Line 141"/>
            <p:cNvSpPr/>
            <p:nvPr/>
          </p:nvSpPr>
          <p:spPr>
            <a:xfrm>
              <a:off x="7815262" y="3039517"/>
              <a:ext cx="48" cy="28575"/>
            </a:xfrm>
            <a:custGeom>
              <a:avLst/>
              <a:gdLst/>
              <a:ahLst/>
              <a:cxnLst/>
              <a:rect l="0" t="0" r="r" b="b"/>
              <a:pathLst>
                <a:path w="1" h="28575" fill="none">
                  <a:moveTo>
                    <a:pt x="0" y="0"/>
                  </a:moveTo>
                  <a:lnTo>
                    <a:pt x="0" y="28575"/>
                  </a:lnTo>
                </a:path>
              </a:pathLst>
            </a:custGeom>
            <a:noFill/>
            <a:ln w="9525">
              <a:solidFill>
                <a:srgbClr val="8F8F8F"/>
              </a:solidFill>
            </a:ln>
          </p:spPr>
        </p:sp>
        <p:sp>
          <p:nvSpPr>
            <p:cNvPr id="142" name="Line 142"/>
            <p:cNvSpPr/>
            <p:nvPr/>
          </p:nvSpPr>
          <p:spPr>
            <a:xfrm>
              <a:off x="8329612" y="3039517"/>
              <a:ext cx="48" cy="28575"/>
            </a:xfrm>
            <a:custGeom>
              <a:avLst/>
              <a:gdLst/>
              <a:ahLst/>
              <a:cxnLst/>
              <a:rect l="0" t="0" r="r" b="b"/>
              <a:pathLst>
                <a:path w="1" h="28575" fill="none">
                  <a:moveTo>
                    <a:pt x="0" y="0"/>
                  </a:moveTo>
                  <a:lnTo>
                    <a:pt x="0" y="28575"/>
                  </a:lnTo>
                </a:path>
              </a:pathLst>
            </a:custGeom>
            <a:noFill/>
            <a:ln w="9525">
              <a:solidFill>
                <a:srgbClr val="8F8F8F"/>
              </a:solidFill>
            </a:ln>
          </p:spPr>
        </p:sp>
      </p:grpSp>
      <p:sp xmlns:p14="http://schemas.microsoft.com/office/powerpoint/2010/main">
        <p:nvSpPr>
          <p:cNvPr id="144" name="Box 144"/>
          <p:cNvSpPr/>
          <p:nvPr/>
        </p:nvSpPr>
        <p:spPr>
          <a:xfrm>
            <a:off x="5286375" y="1691729"/>
            <a:ext cx="1800225" cy="304800"/>
          </a:xfrm>
          <a:prstGeom prst="roundRect">
            <a:avLst>
              <a:gd name="adj" fmla="val 12121"/>
            </a:avLst>
          </a:prstGeom>
          <a:solidFill>
            <a:srgbClr val="0B2B26"/>
          </a:solidFill>
          <a:ln w="9525">
            <a:solidFill>
              <a:srgbClr val="46CDAE"/>
            </a:solidFill>
            <a:prstDash val="dash"/>
          </a:ln>
        </p:spPr>
      </p:sp>
      <p:sp xmlns:p14="http://schemas.microsoft.com/office/powerpoint/2010/main">
        <p:nvSpPr>
          <p:cNvPr id="145" name="Text 145"/>
          <p:cNvSpPr txBox="1"/>
          <p:nvPr/>
        </p:nvSpPr>
        <p:spPr>
          <a:xfrm>
            <a:off x="5348288" y="1700518"/>
            <a:ext cx="1733550" cy="2714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994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[вертикали L1/L2 P и E — из sysctl этого iPhone]</a:t>
            </a:r>
            <a:endParaRPr lang="ru-RU" sz="828" b="0" i="0" dirty="0">
              <a:solidFill>
                <a:srgbClr val="F2C14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 xmlns:p14="http://schemas.microsoft.com/office/powerpoint/2010/main">
        <p:nvGrpSpPr>
          <p:cNvPr id="149" name="Chart 149"/>
          <p:cNvGrpSpPr/>
          <p:nvPr/>
        </p:nvGrpSpPr>
        <p:grpSpPr>
          <a:xfrm>
            <a:off x="5243512" y="1741736"/>
            <a:ext cx="3086100" cy="1181576"/>
            <a:chOff x="5243512" y="1741736"/>
            <a:chExt cx="3086100" cy="1181576"/>
          </a:xfrm>
        </p:grpSpPr>
        <p:sp>
          <p:nvSpPr>
            <p:cNvPr id="146" name="Line 146"/>
            <p:cNvSpPr/>
            <p:nvPr/>
          </p:nvSpPr>
          <p:spPr>
            <a:xfrm>
              <a:off x="5243512" y="1741736"/>
              <a:ext cx="3086100" cy="847725"/>
            </a:xfrm>
            <a:custGeom>
              <a:avLst/>
              <a:gdLst/>
              <a:ahLst/>
              <a:cxnLst/>
              <a:rect l="0" t="0" r="r" b="b"/>
              <a:pathLst>
                <a:path w="3086100" h="847725" fill="none">
                  <a:moveTo>
                    <a:pt x="0" y="847725"/>
                  </a:moveTo>
                  <a:lnTo>
                    <a:pt x="150019" y="847725"/>
                  </a:lnTo>
                  <a:lnTo>
                    <a:pt x="255746" y="847725"/>
                  </a:lnTo>
                  <a:lnTo>
                    <a:pt x="405765" y="847725"/>
                  </a:lnTo>
                  <a:lnTo>
                    <a:pt x="515779" y="847725"/>
                  </a:lnTo>
                  <a:lnTo>
                    <a:pt x="665797" y="622459"/>
                  </a:lnTo>
                  <a:lnTo>
                    <a:pt x="771525" y="588645"/>
                  </a:lnTo>
                  <a:lnTo>
                    <a:pt x="921544" y="630079"/>
                  </a:lnTo>
                  <a:lnTo>
                    <a:pt x="1027271" y="618649"/>
                  </a:lnTo>
                  <a:lnTo>
                    <a:pt x="1177290" y="614839"/>
                  </a:lnTo>
                  <a:lnTo>
                    <a:pt x="1287304" y="614839"/>
                  </a:lnTo>
                  <a:lnTo>
                    <a:pt x="1437322" y="611505"/>
                  </a:lnTo>
                  <a:lnTo>
                    <a:pt x="1543050" y="614839"/>
                  </a:lnTo>
                  <a:lnTo>
                    <a:pt x="1693069" y="614839"/>
                  </a:lnTo>
                  <a:lnTo>
                    <a:pt x="1798796" y="600075"/>
                  </a:lnTo>
                  <a:lnTo>
                    <a:pt x="1948815" y="510064"/>
                  </a:lnTo>
                  <a:lnTo>
                    <a:pt x="2058829" y="442436"/>
                  </a:lnTo>
                  <a:lnTo>
                    <a:pt x="2208848" y="382429"/>
                  </a:lnTo>
                  <a:lnTo>
                    <a:pt x="2314575" y="356235"/>
                  </a:lnTo>
                  <a:lnTo>
                    <a:pt x="2464594" y="314801"/>
                  </a:lnTo>
                  <a:lnTo>
                    <a:pt x="2570321" y="194786"/>
                  </a:lnTo>
                  <a:lnTo>
                    <a:pt x="2720340" y="123825"/>
                  </a:lnTo>
                  <a:lnTo>
                    <a:pt x="2830354" y="70961"/>
                  </a:lnTo>
                  <a:lnTo>
                    <a:pt x="2980372" y="18574"/>
                  </a:lnTo>
                  <a:lnTo>
                    <a:pt x="3086100" y="0"/>
                  </a:lnTo>
                </a:path>
              </a:pathLst>
            </a:custGeom>
            <a:noFill/>
            <a:ln w="23812">
              <a:solidFill>
                <a:srgbClr val="8F8F8F"/>
              </a:solidFill>
              <a:custDash>
                <a:ds d="280000" sp="200000"/>
              </a:custDash>
              <a:round/>
            </a:ln>
          </p:spPr>
        </p:sp>
        <p:sp>
          <p:nvSpPr>
            <p:cNvPr id="147" name="Line 147"/>
            <p:cNvSpPr/>
            <p:nvPr/>
          </p:nvSpPr>
          <p:spPr>
            <a:xfrm>
              <a:off x="5243512" y="2127974"/>
              <a:ext cx="3086100" cy="795338"/>
            </a:xfrm>
            <a:custGeom>
              <a:avLst/>
              <a:gdLst/>
              <a:ahLst/>
              <a:cxnLst/>
              <a:rect l="0" t="0" r="r" b="b"/>
              <a:pathLst>
                <a:path w="3086100" h="795338" fill="none">
                  <a:moveTo>
                    <a:pt x="0" y="791527"/>
                  </a:moveTo>
                  <a:lnTo>
                    <a:pt x="150019" y="791527"/>
                  </a:lnTo>
                  <a:lnTo>
                    <a:pt x="255746" y="791527"/>
                  </a:lnTo>
                  <a:lnTo>
                    <a:pt x="405765" y="791527"/>
                  </a:lnTo>
                  <a:lnTo>
                    <a:pt x="515779" y="791527"/>
                  </a:lnTo>
                  <a:lnTo>
                    <a:pt x="665797" y="795338"/>
                  </a:lnTo>
                  <a:lnTo>
                    <a:pt x="771525" y="795338"/>
                  </a:lnTo>
                  <a:lnTo>
                    <a:pt x="921544" y="540067"/>
                  </a:lnTo>
                  <a:lnTo>
                    <a:pt x="1027271" y="532447"/>
                  </a:lnTo>
                  <a:lnTo>
                    <a:pt x="1177290" y="532447"/>
                  </a:lnTo>
                  <a:lnTo>
                    <a:pt x="1287304" y="532447"/>
                  </a:lnTo>
                  <a:lnTo>
                    <a:pt x="1437322" y="532447"/>
                  </a:lnTo>
                  <a:lnTo>
                    <a:pt x="1543050" y="532447"/>
                  </a:lnTo>
                  <a:lnTo>
                    <a:pt x="1693069" y="532447"/>
                  </a:lnTo>
                  <a:lnTo>
                    <a:pt x="1798796" y="532447"/>
                  </a:lnTo>
                  <a:lnTo>
                    <a:pt x="1948815" y="521494"/>
                  </a:lnTo>
                  <a:lnTo>
                    <a:pt x="2058829" y="510064"/>
                  </a:lnTo>
                  <a:lnTo>
                    <a:pt x="2208848" y="495300"/>
                  </a:lnTo>
                  <a:lnTo>
                    <a:pt x="2314575" y="491490"/>
                  </a:lnTo>
                  <a:lnTo>
                    <a:pt x="2464594" y="453866"/>
                  </a:lnTo>
                  <a:lnTo>
                    <a:pt x="2570321" y="401479"/>
                  </a:lnTo>
                  <a:lnTo>
                    <a:pt x="2720340" y="277654"/>
                  </a:lnTo>
                  <a:lnTo>
                    <a:pt x="2830354" y="142399"/>
                  </a:lnTo>
                  <a:lnTo>
                    <a:pt x="2980372" y="37624"/>
                  </a:lnTo>
                  <a:lnTo>
                    <a:pt x="3086100" y="0"/>
                  </a:lnTo>
                </a:path>
              </a:pathLst>
            </a:custGeom>
            <a:noFill/>
            <a:ln w="23812" cap="rnd">
              <a:solidFill>
                <a:srgbClr val="FFFFFF"/>
              </a:solidFill>
              <a:round/>
            </a:ln>
          </p:spPr>
        </p:sp>
        <p:sp>
          <p:nvSpPr>
            <p:cNvPr id="148" name="Line 148"/>
            <p:cNvSpPr/>
            <p:nvPr/>
          </p:nvSpPr>
          <p:spPr>
            <a:xfrm>
              <a:off x="5243512" y="2067967"/>
              <a:ext cx="3086100" cy="776288"/>
            </a:xfrm>
            <a:custGeom>
              <a:avLst/>
              <a:gdLst/>
              <a:ahLst/>
              <a:cxnLst/>
              <a:rect l="0" t="0" r="r" b="b"/>
              <a:pathLst>
                <a:path w="3086100" h="776288" fill="none">
                  <a:moveTo>
                    <a:pt x="0" y="776288"/>
                  </a:moveTo>
                  <a:lnTo>
                    <a:pt x="150019" y="776288"/>
                  </a:lnTo>
                  <a:lnTo>
                    <a:pt x="255746" y="776288"/>
                  </a:lnTo>
                  <a:lnTo>
                    <a:pt x="405765" y="776288"/>
                  </a:lnTo>
                  <a:lnTo>
                    <a:pt x="515779" y="769144"/>
                  </a:lnTo>
                  <a:lnTo>
                    <a:pt x="665797" y="543878"/>
                  </a:lnTo>
                  <a:lnTo>
                    <a:pt x="771525" y="547688"/>
                  </a:lnTo>
                  <a:lnTo>
                    <a:pt x="921544" y="547688"/>
                  </a:lnTo>
                  <a:lnTo>
                    <a:pt x="1027271" y="547688"/>
                  </a:lnTo>
                  <a:lnTo>
                    <a:pt x="1177290" y="547688"/>
                  </a:lnTo>
                  <a:lnTo>
                    <a:pt x="1287304" y="543878"/>
                  </a:lnTo>
                  <a:lnTo>
                    <a:pt x="1437322" y="547688"/>
                  </a:lnTo>
                  <a:lnTo>
                    <a:pt x="1543050" y="536258"/>
                  </a:lnTo>
                  <a:lnTo>
                    <a:pt x="1693069" y="360045"/>
                  </a:lnTo>
                  <a:lnTo>
                    <a:pt x="1798796" y="529114"/>
                  </a:lnTo>
                  <a:lnTo>
                    <a:pt x="1948815" y="495300"/>
                  </a:lnTo>
                  <a:lnTo>
                    <a:pt x="2058829" y="349091"/>
                  </a:lnTo>
                  <a:lnTo>
                    <a:pt x="2208848" y="273844"/>
                  </a:lnTo>
                  <a:lnTo>
                    <a:pt x="2314575" y="243840"/>
                  </a:lnTo>
                  <a:lnTo>
                    <a:pt x="2464594" y="183833"/>
                  </a:lnTo>
                  <a:lnTo>
                    <a:pt x="2570321" y="131445"/>
                  </a:lnTo>
                  <a:lnTo>
                    <a:pt x="2720340" y="78581"/>
                  </a:lnTo>
                  <a:lnTo>
                    <a:pt x="2830354" y="52388"/>
                  </a:lnTo>
                  <a:lnTo>
                    <a:pt x="2980372" y="18574"/>
                  </a:lnTo>
                  <a:lnTo>
                    <a:pt x="3086100" y="0"/>
                  </a:lnTo>
                </a:path>
              </a:pathLst>
            </a:custGeom>
            <a:noFill/>
            <a:ln w="23812" cap="rnd">
              <a:solidFill>
                <a:srgbClr val="46CDAE"/>
              </a:solidFill>
              <a:round/>
            </a:ln>
          </p:spPr>
        </p:sp>
      </p:grpSp>
      <p:sp xmlns:p14="http://schemas.microsoft.com/office/powerpoint/2010/main">
        <p:nvSpPr>
          <p:cNvPr id="150" name="Text 150"/>
          <p:cNvSpPr txBox="1"/>
          <p:nvPr/>
        </p:nvSpPr>
        <p:spPr>
          <a:xfrm>
            <a:off x="4629150" y="2010682"/>
            <a:ext cx="519112" cy="1417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96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100 нс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1" name="Text 151"/>
          <p:cNvSpPr txBox="1"/>
          <p:nvPr/>
        </p:nvSpPr>
        <p:spPr>
          <a:xfrm>
            <a:off x="4629150" y="2485816"/>
            <a:ext cx="519112" cy="1417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96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10 нс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2" name="Text 152"/>
          <p:cNvSpPr txBox="1"/>
          <p:nvPr/>
        </p:nvSpPr>
        <p:spPr>
          <a:xfrm>
            <a:off x="4629150" y="2960950"/>
            <a:ext cx="519112" cy="1417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96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 нс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3" name="Text 153"/>
          <p:cNvSpPr txBox="1"/>
          <p:nvPr/>
        </p:nvSpPr>
        <p:spPr>
          <a:xfrm>
            <a:off x="4983956" y="3110096"/>
            <a:ext cx="519112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16К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4" name="Text 154"/>
          <p:cNvSpPr txBox="1"/>
          <p:nvPr/>
        </p:nvSpPr>
        <p:spPr>
          <a:xfrm>
            <a:off x="5755481" y="3110096"/>
            <a:ext cx="519112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128К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5" name="Text 155"/>
          <p:cNvSpPr txBox="1"/>
          <p:nvPr/>
        </p:nvSpPr>
        <p:spPr>
          <a:xfrm>
            <a:off x="6527006" y="3110096"/>
            <a:ext cx="519112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1М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6" name="Text 156"/>
          <p:cNvSpPr txBox="1"/>
          <p:nvPr/>
        </p:nvSpPr>
        <p:spPr>
          <a:xfrm>
            <a:off x="7555706" y="3110096"/>
            <a:ext cx="519112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16М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7" name="Text 157"/>
          <p:cNvSpPr txBox="1"/>
          <p:nvPr/>
        </p:nvSpPr>
        <p:spPr>
          <a:xfrm>
            <a:off x="8070056" y="3110096"/>
            <a:ext cx="519112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64М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8" name="Text 158"/>
          <p:cNvSpPr txBox="1"/>
          <p:nvPr/>
        </p:nvSpPr>
        <p:spPr>
          <a:xfrm>
            <a:off x="6100762" y="2138546"/>
            <a:ext cx="1009650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1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background</a:t>
            </a:r>
            <a:endParaRPr lang="ru-RU" sz="966" b="1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9" name="Text 159"/>
          <p:cNvSpPr txBox="1"/>
          <p:nvPr/>
        </p:nvSpPr>
        <p:spPr>
          <a:xfrm>
            <a:off x="5291138" y="2633846"/>
            <a:ext cx="617220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utility</a:t>
            </a:r>
            <a:endParaRPr lang="ru-RU" sz="966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60" name="Text 160"/>
          <p:cNvSpPr txBox="1"/>
          <p:nvPr/>
        </p:nvSpPr>
        <p:spPr>
          <a:xfrm>
            <a:off x="6234112" y="2700521"/>
            <a:ext cx="1205865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userInitiated</a:t>
            </a:r>
            <a:endParaRPr lang="ru-RU" sz="966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61" name="Fill 161"/>
          <p:cNvSpPr/>
          <p:nvPr/>
        </p:nvSpPr>
        <p:spPr>
          <a:xfrm>
            <a:off x="557212" y="3448050"/>
            <a:ext cx="5524500" cy="267444"/>
          </a:xfrm>
          <a:prstGeom prst="rect">
            <a:avLst/>
          </a:prstGeom>
          <a:solidFill>
            <a:srgbClr val="0B2B26"/>
          </a:solidFill>
          <a:ln>
            <a:noFill/>
          </a:ln>
        </p:spPr>
      </p:sp>
      <p:sp xmlns:p14="http://schemas.microsoft.com/office/powerpoint/2010/main">
        <p:nvSpPr>
          <p:cNvPr id="162" name="Line 162"/>
          <p:cNvSpPr/>
          <p:nvPr/>
        </p:nvSpPr>
        <p:spPr>
          <a:xfrm>
            <a:off x="571500" y="3448050"/>
            <a:ext cx="48" cy="267444"/>
          </a:xfrm>
          <a:custGeom>
            <a:avLst/>
            <a:gdLst/>
            <a:ahLst/>
            <a:cxnLst/>
            <a:rect l="0" t="0" r="r" b="b"/>
            <a:pathLst>
              <a:path w="1" h="267444" fill="none">
                <a:moveTo>
                  <a:pt x="0" y="0"/>
                </a:moveTo>
                <a:lnTo>
                  <a:pt x="0" y="267444"/>
                </a:lnTo>
              </a:path>
            </a:pathLst>
          </a:custGeom>
          <a:noFill/>
          <a:ln w="28575">
            <a:solidFill>
              <a:srgbClr val="46CDAE"/>
            </a:solidFill>
          </a:ln>
        </p:spPr>
      </p:sp>
      <p:sp xmlns:p14="http://schemas.microsoft.com/office/powerpoint/2010/main">
        <p:nvSpPr>
          <p:cNvPr id="163" name="Text 163"/>
          <p:cNvSpPr txBox="1"/>
          <p:nvPr/>
        </p:nvSpPr>
        <p:spPr>
          <a:xfrm>
            <a:off x="700088" y="3470636"/>
            <a:ext cx="5372100" cy="2293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6"/>
              </a:lnSpc>
              <a:spcBef>
                <a:spcPts val="0"/>
              </a:spcBef>
              <a:buNone/>
            </a:pPr>
            <a:r>
              <a:rPr lang="ru-RU" sz="138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«Не срочно» на телефоне = другой процессор</a:t>
            </a:r>
            <a:endParaRPr lang="ru-RU" sz="138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64" name="Text 164"/>
          <p:cNvSpPr txBox="1"/>
          <p:nvPr/>
        </p:nvSpPr>
        <p:spPr>
          <a:xfrm>
            <a:off x="557212" y="3764907"/>
            <a:ext cx="8191119" cy="3257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08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512K, iPhone: sort 19,6 → 55,3 (×2,8) · хеш 18,2 → 105,3 (×5,8)</a:t>
            </a:r>
            <a:b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таблица ≈12 МиБ: в L2 P помещается, в L2 E — нет (гипотеза)</a:t>
            </a:r>
            <a:endParaRPr lang="ru-RU" sz="966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65" name="Text 165"/>
          <p:cNvSpPr txBox="1"/>
          <p:nvPr/>
        </p:nvSpPr>
        <p:spPr>
          <a:xfrm>
            <a:off x="557212" y="4554200"/>
            <a:ext cx="7936039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 поток · случайный цикл по строкам кэша (Drepper 2007) · медиана 3 блоков · вертикали — L1/L2 из sysctl: M2 Pro и </a:t>
            </a:r>
            <a:r>
              <a:rPr lang="ru-RU" sz="828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[hw.machine, чип]</a:t>
            </a: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, iOS </a:t>
            </a:r>
            <a:r>
              <a:rPr lang="ru-RU" sz="828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[версия iOS]</a:t>
            </a: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 · thermalState nominal, Low Power Mode off · utility → E — мой замер, не правило XNU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66" name="Picture 16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66" name="Slide Number 166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4" fill="hold">
                      <p:stCondLst>
                        <p:cond delay="indefinite"/>
                      </p:stCondLst>
                      <p:childTnLst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4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8" fill="hold">
                      <p:stCondLst>
                        <p:cond delay="indefinite"/>
                      </p:stCondLst>
                      <p:childTnLst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4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4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4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4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" grpId="0" animBg="1"/>
      <p:bldP spid="104" grpId="0" animBg="1"/>
      <p:bldP spid="120" grpId="0" animBg="1"/>
      <p:bldP spid="121" grpId="0" animBg="1"/>
      <p:bldP spid="122" grpId="0" animBg="1"/>
      <p:bldP spid="123" grpId="0" animBg="1"/>
      <p:bldP spid="124" grpId="0" animBg="1"/>
      <p:bldP spid="125" grpId="0" animBg="1"/>
      <p:bldP spid="126" grpId="0" animBg="1"/>
      <p:bldP spid="127" grpId="0" animBg="1"/>
      <p:bldP spid="128" grpId="0" animBg="1"/>
      <p:bldP spid="129" grpId="0" animBg="1"/>
      <p:bldP spid="132" grpId="0" animBg="1"/>
      <p:bldP spid="130" grpId="0" animBg="1"/>
      <p:bldP spid="131" grpId="0" animBg="1"/>
      <p:bldP spid="133" grpId="0" animBg="1"/>
      <p:bldP spid="134" grpId="0" animBg="1"/>
      <p:bldP spid="145" grpId="0" animBg="1"/>
      <p:bldP spid="150" grpId="0" animBg="1"/>
      <p:bldP spid="151" grpId="0" animBg="1"/>
      <p:bldP spid="152" grpId="0" animBg="1"/>
      <p:bldP spid="153" grpId="0" animBg="1"/>
      <p:bldP spid="154" grpId="0" animBg="1"/>
      <p:bldP spid="155" grpId="0" animBg="1"/>
      <p:bldP spid="156" grpId="0" animBg="1"/>
      <p:bldP spid="157" grpId="0" animBg="1"/>
      <p:bldP spid="158" grpId="0" animBg="1"/>
      <p:bldP spid="159" grpId="0" animBg="1"/>
      <p:bldP spid="160" grpId="0" animBg="1"/>
      <p:bldP spid="163" grpId="0" animBg="1"/>
      <p:bldP spid="164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РАУНД </a:t>
            </a:r>
            <a:r>
              <a:rPr lang="ru-RU" sz="1099" b="0" i="0" spc="94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4</a:t>
            </a: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ИЗ 4 · ПРОЦЕССОР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60073"/>
            <a:ext cx="6781800" cy="8819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40"/>
              </a:lnSpc>
              <a:spcBef>
                <a:spcPts val="0"/>
              </a:spcBef>
              <a:buNone/>
            </a:pPr>
            <a:r>
              <a:rPr lang="ru-RU" sz="20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ОДИН БЕНЧМАРК — ТРИ ОТВЕТА: CI НА x86 ЗА ХЕШ, Mac — ПОЧТИ НИЧЬЯ, iPhone — ЗА СОРТИРОВКУ</a:t>
            </a:r>
            <a:endParaRPr lang="ru-RU" sz="20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574741"/>
            <a:ext cx="656463" cy="3257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08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</a:t>
            </a:r>
            <a:br>
              <a:rPr lang="ru-RU" sz="966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</a:br>
            <a:r>
              <a:rPr lang="ru-RU" sz="966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 = N/2</a:t>
            </a:r>
            <a:endParaRPr lang="ru-RU" sz="966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1116378" y="1574741"/>
            <a:ext cx="2510695" cy="3257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208"/>
              </a:lnSpc>
              <a:spcBef>
                <a:spcPts val="0"/>
              </a:spcBef>
              <a:buNone/>
            </a:pPr>
            <a:r>
              <a:rPr lang="ru-RU" sz="966" b="1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CI · Linux x86 (Xeon)</a:t>
            </a:r>
            <a:br>
              <a:rPr lang="ru-RU" sz="966" b="1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GCC, libstdc++</a:t>
            </a:r>
            <a:endParaRPr lang="ru-RU" sz="966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3564303" y="1574741"/>
            <a:ext cx="2510695" cy="3257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208"/>
              </a:lnSpc>
              <a:spcBef>
                <a:spcPts val="0"/>
              </a:spcBef>
              <a:buNone/>
            </a:pPr>
            <a:r>
              <a:rPr lang="ru-RU" sz="966" b="1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Mac разработчика</a:t>
            </a:r>
            <a:br>
              <a:rPr lang="ru-RU" sz="966" b="1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M2 Pro, userInitiated</a:t>
            </a:r>
            <a:endParaRPr lang="ru-RU" sz="966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6012228" y="1574741"/>
            <a:ext cx="2510695" cy="3257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208"/>
              </a:lnSpc>
              <a:spcBef>
                <a:spcPts val="0"/>
              </a:spcBef>
              <a:buNone/>
            </a:pPr>
            <a:r>
              <a:rPr lang="ru-RU" sz="966" b="1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[модель iPhone]</a:t>
            </a:r>
            <a:br>
              <a:rPr lang="ru-RU" sz="966" b="1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iOS </a:t>
            </a:r>
            <a:r>
              <a:rPr lang="ru-RU" sz="966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[27.0.x]</a:t>
            </a: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 · .utility</a:t>
            </a:r>
            <a:endParaRPr lang="ru-RU" sz="966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557212" y="1891878"/>
            <a:ext cx="617220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64K</a:t>
            </a:r>
            <a:endParaRPr lang="ru-RU" sz="1104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557212" y="2225253"/>
            <a:ext cx="617220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256K</a:t>
            </a:r>
            <a:endParaRPr lang="ru-RU" sz="1104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557212" y="2558628"/>
            <a:ext cx="617220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512K</a:t>
            </a:r>
            <a:endParaRPr lang="ru-RU" sz="1104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557212" y="2892003"/>
            <a:ext cx="617220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00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1M</a:t>
            </a:r>
            <a:endParaRPr lang="ru-RU" sz="1104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1" name="Box 111"/>
          <p:cNvSpPr/>
          <p:nvPr/>
        </p:nvSpPr>
        <p:spPr>
          <a:xfrm>
            <a:off x="1169194" y="1965116"/>
            <a:ext cx="2405062" cy="300038"/>
          </a:xfrm>
          <a:prstGeom prst="roundRect">
            <a:avLst>
              <a:gd name="adj" fmla="val 12500"/>
            </a:avLst>
          </a:prstGeom>
          <a:solidFill>
            <a:srgbClr val="5E1C42"/>
          </a:solidFill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1166812" y="1907094"/>
            <a:ext cx="2409825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325"/>
              </a:lnSpc>
              <a:spcBef>
                <a:spcPts val="0"/>
              </a:spcBef>
              <a:buNone/>
            </a:pPr>
            <a:r>
              <a:rPr lang="ru-RU" sz="1173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хеш </a:t>
            </a:r>
            <a:r>
              <a:rPr lang="ru-RU" sz="1173" b="0" i="0" dirty="0">
                <a:solidFill>
                  <a:srgbClr val="F2C14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[×1,42 или ×1,72]</a:t>
            </a:r>
            <a:endParaRPr lang="ru-RU" sz="1173" b="0" i="0" dirty="0">
              <a:solidFill>
                <a:srgbClr val="F2C14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3" name="Box 113"/>
          <p:cNvSpPr/>
          <p:nvPr/>
        </p:nvSpPr>
        <p:spPr>
          <a:xfrm>
            <a:off x="1169194" y="2298491"/>
            <a:ext cx="2405062" cy="300038"/>
          </a:xfrm>
          <a:prstGeom prst="roundRect">
            <a:avLst>
              <a:gd name="adj" fmla="val 12500"/>
            </a:avLst>
          </a:prstGeom>
          <a:solidFill>
            <a:srgbClr val="5E1C42"/>
          </a:solidFill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1166812" y="2240469"/>
            <a:ext cx="2409825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325"/>
              </a:lnSpc>
              <a:spcBef>
                <a:spcPts val="0"/>
              </a:spcBef>
              <a:buNone/>
            </a:pPr>
            <a:r>
              <a:rPr lang="ru-RU" sz="1173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хеш </a:t>
            </a:r>
            <a:r>
              <a:rPr lang="ru-RU" sz="1173" b="0" i="0" dirty="0">
                <a:solidFill>
                  <a:srgbClr val="F2C14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[×1,27 или ×1,37]</a:t>
            </a:r>
            <a:endParaRPr lang="ru-RU" sz="1173" b="0" i="0" dirty="0">
              <a:solidFill>
                <a:srgbClr val="F2C14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5" name="Box 115"/>
          <p:cNvSpPr/>
          <p:nvPr/>
        </p:nvSpPr>
        <p:spPr>
          <a:xfrm>
            <a:off x="1169194" y="2631866"/>
            <a:ext cx="2405062" cy="300038"/>
          </a:xfrm>
          <a:prstGeom prst="roundRect">
            <a:avLst>
              <a:gd name="adj" fmla="val 12500"/>
            </a:avLst>
          </a:prstGeom>
          <a:solidFill>
            <a:srgbClr val="5E1C42"/>
          </a:solidFill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1166812" y="2573844"/>
            <a:ext cx="2409825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325"/>
              </a:lnSpc>
              <a:spcBef>
                <a:spcPts val="0"/>
              </a:spcBef>
              <a:buNone/>
            </a:pPr>
            <a:r>
              <a:rPr lang="ru-RU" sz="1173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хеш </a:t>
            </a:r>
            <a:r>
              <a:rPr lang="ru-RU" sz="1173" b="0" i="0" dirty="0">
                <a:solidFill>
                  <a:srgbClr val="F2C14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[×1,20 или ×1,25]</a:t>
            </a:r>
            <a:endParaRPr lang="ru-RU" sz="1173" b="0" i="0" dirty="0">
              <a:solidFill>
                <a:srgbClr val="F2C14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7" name="Box 117"/>
          <p:cNvSpPr/>
          <p:nvPr/>
        </p:nvSpPr>
        <p:spPr>
          <a:xfrm>
            <a:off x="1170384" y="2966431"/>
            <a:ext cx="2402681" cy="297656"/>
          </a:xfrm>
          <a:prstGeom prst="roundRect">
            <a:avLst>
              <a:gd name="adj" fmla="val 12500"/>
            </a:avLst>
          </a:prstGeom>
          <a:noFill/>
          <a:ln w="7144">
            <a:solidFill>
              <a:srgbClr val="FFFFFF"/>
            </a:solidFill>
          </a:ln>
        </p:spPr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1176338" y="2966344"/>
            <a:ext cx="2390775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62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≈ · хеш </a:t>
            </a:r>
            <a:r>
              <a:rPr lang="ru-RU" sz="966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[×1,15 или ×1,18]</a:t>
            </a:r>
            <a:br>
              <a:rPr lang="ru-RU" sz="966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в моём прогоне, ничья в повторе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9" name="Box 119"/>
          <p:cNvSpPr/>
          <p:nvPr/>
        </p:nvSpPr>
        <p:spPr>
          <a:xfrm>
            <a:off x="6066234" y="1966306"/>
            <a:ext cx="2402681" cy="297656"/>
          </a:xfrm>
          <a:prstGeom prst="roundRect">
            <a:avLst>
              <a:gd name="adj" fmla="val 12500"/>
            </a:avLst>
          </a:prstGeom>
          <a:noFill/>
          <a:ln w="7144">
            <a:solidFill>
              <a:srgbClr val="FFFFFF"/>
            </a:solidFill>
          </a:ln>
        </p:spPr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6062662" y="1907094"/>
            <a:ext cx="2409825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325"/>
              </a:lnSpc>
              <a:spcBef>
                <a:spcPts val="0"/>
              </a:spcBef>
              <a:buNone/>
            </a:pPr>
            <a:r>
              <a:rPr lang="ru-RU" sz="1173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≈</a:t>
            </a:r>
            <a:endParaRPr lang="ru-RU" sz="1173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1" name="Box 121"/>
          <p:cNvSpPr/>
          <p:nvPr/>
        </p:nvSpPr>
        <p:spPr>
          <a:xfrm>
            <a:off x="6065044" y="2298491"/>
            <a:ext cx="2405062" cy="300038"/>
          </a:xfrm>
          <a:prstGeom prst="roundRect">
            <a:avLst>
              <a:gd name="adj" fmla="val 12500"/>
            </a:avLst>
          </a:prstGeom>
          <a:solidFill>
            <a:srgbClr val="174F45"/>
          </a:solidFill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6062662" y="2240469"/>
            <a:ext cx="2409825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325"/>
              </a:lnSpc>
              <a:spcBef>
                <a:spcPts val="0"/>
              </a:spcBef>
              <a:buNone/>
            </a:pPr>
            <a:r>
              <a:rPr lang="ru-RU" sz="1173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 ×1,3</a:t>
            </a:r>
            <a:endParaRPr lang="ru-RU" sz="1173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3" name="Box 123"/>
          <p:cNvSpPr/>
          <p:nvPr/>
        </p:nvSpPr>
        <p:spPr>
          <a:xfrm>
            <a:off x="6065044" y="2631866"/>
            <a:ext cx="2405062" cy="300038"/>
          </a:xfrm>
          <a:prstGeom prst="roundRect">
            <a:avLst>
              <a:gd name="adj" fmla="val 12500"/>
            </a:avLst>
          </a:prstGeom>
          <a:solidFill>
            <a:srgbClr val="23806D"/>
          </a:solidFill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24" name="Text 124"/>
          <p:cNvSpPr txBox="1"/>
          <p:nvPr/>
        </p:nvSpPr>
        <p:spPr>
          <a:xfrm>
            <a:off x="6062662" y="2573844"/>
            <a:ext cx="2409825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325"/>
              </a:lnSpc>
              <a:spcBef>
                <a:spcPts val="0"/>
              </a:spcBef>
              <a:buNone/>
            </a:pPr>
            <a:r>
              <a:rPr lang="ru-RU" sz="1173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 ×1,9</a:t>
            </a:r>
            <a:endParaRPr lang="ru-RU" sz="1173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5" name="Box 125"/>
          <p:cNvSpPr/>
          <p:nvPr/>
        </p:nvSpPr>
        <p:spPr>
          <a:xfrm>
            <a:off x="6065044" y="2965241"/>
            <a:ext cx="2405062" cy="300038"/>
          </a:xfrm>
          <a:prstGeom prst="roundRect">
            <a:avLst>
              <a:gd name="adj" fmla="val 12500"/>
            </a:avLst>
          </a:prstGeom>
          <a:solidFill>
            <a:srgbClr val="46CDAE"/>
          </a:solidFill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26" name="Text 126"/>
          <p:cNvSpPr txBox="1"/>
          <p:nvPr/>
        </p:nvSpPr>
        <p:spPr>
          <a:xfrm>
            <a:off x="6062662" y="2907219"/>
            <a:ext cx="2409825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325"/>
              </a:lnSpc>
              <a:spcBef>
                <a:spcPts val="0"/>
              </a:spcBef>
              <a:buNone/>
            </a:pPr>
            <a:r>
              <a:rPr lang="ru-RU" sz="1173" b="0" i="0" dirty="0">
                <a:solidFill>
                  <a:srgbClr val="00000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 ×3,3</a:t>
            </a:r>
            <a:endParaRPr lang="ru-RU" sz="1173" b="0" i="0" dirty="0">
              <a:solidFill>
                <a:srgbClr val="00000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7" name="Box 127"/>
          <p:cNvSpPr/>
          <p:nvPr/>
        </p:nvSpPr>
        <p:spPr>
          <a:xfrm>
            <a:off x="3618309" y="1966306"/>
            <a:ext cx="2402681" cy="297656"/>
          </a:xfrm>
          <a:prstGeom prst="roundRect">
            <a:avLst>
              <a:gd name="adj" fmla="val 12500"/>
            </a:avLst>
          </a:prstGeom>
          <a:noFill/>
          <a:ln w="7144">
            <a:solidFill>
              <a:srgbClr val="FFFFFF"/>
            </a:solidFill>
          </a:ln>
        </p:spPr>
      </p:sp>
      <p:sp xmlns:p14="http://schemas.microsoft.com/office/powerpoint/2010/main">
        <p:nvSpPr>
          <p:cNvPr id="128" name="Text 128"/>
          <p:cNvSpPr txBox="1"/>
          <p:nvPr/>
        </p:nvSpPr>
        <p:spPr>
          <a:xfrm>
            <a:off x="3614738" y="1907094"/>
            <a:ext cx="2409825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325"/>
              </a:lnSpc>
              <a:spcBef>
                <a:spcPts val="0"/>
              </a:spcBef>
              <a:buNone/>
            </a:pPr>
            <a:r>
              <a:rPr lang="ru-RU" sz="1173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≈</a:t>
            </a:r>
            <a:endParaRPr lang="ru-RU" sz="1173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9" name="Box 129"/>
          <p:cNvSpPr/>
          <p:nvPr/>
        </p:nvSpPr>
        <p:spPr>
          <a:xfrm>
            <a:off x="3618309" y="2299681"/>
            <a:ext cx="2402681" cy="297656"/>
          </a:xfrm>
          <a:prstGeom prst="roundRect">
            <a:avLst>
              <a:gd name="adj" fmla="val 12500"/>
            </a:avLst>
          </a:prstGeom>
          <a:noFill/>
          <a:ln w="7144">
            <a:solidFill>
              <a:srgbClr val="FFFFFF"/>
            </a:solidFill>
          </a:ln>
        </p:spPr>
      </p:sp>
      <p:sp xmlns:p14="http://schemas.microsoft.com/office/powerpoint/2010/main">
        <p:nvSpPr>
          <p:cNvPr id="130" name="Text 130"/>
          <p:cNvSpPr txBox="1"/>
          <p:nvPr/>
        </p:nvSpPr>
        <p:spPr>
          <a:xfrm>
            <a:off x="3614738" y="2240469"/>
            <a:ext cx="2409825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325"/>
              </a:lnSpc>
              <a:spcBef>
                <a:spcPts val="0"/>
              </a:spcBef>
              <a:buNone/>
            </a:pPr>
            <a:r>
              <a:rPr lang="ru-RU" sz="1173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≈ (хеш ×1,06)</a:t>
            </a:r>
            <a:endParaRPr lang="ru-RU" sz="1173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1" name="Box 131"/>
          <p:cNvSpPr/>
          <p:nvPr/>
        </p:nvSpPr>
        <p:spPr>
          <a:xfrm>
            <a:off x="3618309" y="2633056"/>
            <a:ext cx="2402681" cy="297656"/>
          </a:xfrm>
          <a:prstGeom prst="roundRect">
            <a:avLst>
              <a:gd name="adj" fmla="val 12500"/>
            </a:avLst>
          </a:prstGeom>
          <a:noFill/>
          <a:ln w="7144">
            <a:solidFill>
              <a:srgbClr val="FFFFFF"/>
            </a:solidFill>
          </a:ln>
        </p:spPr>
      </p:sp>
      <p:sp xmlns:p14="http://schemas.microsoft.com/office/powerpoint/2010/main">
        <p:nvSpPr>
          <p:cNvPr id="132" name="Text 132"/>
          <p:cNvSpPr txBox="1"/>
          <p:nvPr/>
        </p:nvSpPr>
        <p:spPr>
          <a:xfrm>
            <a:off x="3614738" y="2573844"/>
            <a:ext cx="2409825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325"/>
              </a:lnSpc>
              <a:spcBef>
                <a:spcPts val="0"/>
              </a:spcBef>
              <a:buNone/>
            </a:pPr>
            <a:r>
              <a:rPr lang="ru-RU" sz="1173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≈ (хеш ×1,05)</a:t>
            </a:r>
            <a:endParaRPr lang="ru-RU" sz="1173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3" name="Box 133"/>
          <p:cNvSpPr/>
          <p:nvPr/>
        </p:nvSpPr>
        <p:spPr>
          <a:xfrm>
            <a:off x="3617119" y="2965241"/>
            <a:ext cx="2405062" cy="300038"/>
          </a:xfrm>
          <a:prstGeom prst="roundRect">
            <a:avLst>
              <a:gd name="adj" fmla="val 12500"/>
            </a:avLst>
          </a:prstGeom>
          <a:solidFill>
            <a:srgbClr val="174F45"/>
          </a:solidFill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34" name="Text 134"/>
          <p:cNvSpPr txBox="1"/>
          <p:nvPr/>
        </p:nvSpPr>
        <p:spPr>
          <a:xfrm>
            <a:off x="3614738" y="2907219"/>
            <a:ext cx="2409825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2325"/>
              </a:lnSpc>
              <a:spcBef>
                <a:spcPts val="0"/>
              </a:spcBef>
              <a:buNone/>
            </a:pPr>
            <a:r>
              <a:rPr lang="ru-RU" sz="1173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 ×1,3*</a:t>
            </a:r>
            <a:endParaRPr lang="ru-RU" sz="1173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35" name="Text 135"/>
          <p:cNvSpPr txBox="1"/>
          <p:nvPr/>
        </p:nvSpPr>
        <p:spPr>
          <a:xfrm>
            <a:off x="557212" y="3335495"/>
            <a:ext cx="8191119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E2489B"/>
                </a:solidFill>
                <a:latin typeface="Montserrat"/>
                <a:ea typeface="Montserrat"/>
                <a:cs typeface="Montserrat"/>
                <a:sym typeface="Montserrat"/>
              </a:rPr>
              <a:t>unordered_set</a:t>
            </a: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 против </a:t>
            </a:r>
            <a:r>
              <a:rPr lang="ru-RU" sz="966" b="0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sort + unique</a:t>
            </a: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 · × — во сколько раз быстрее победитель · ≈ — ничья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6" name="Text 136"/>
          <p:cNvSpPr txBox="1"/>
          <p:nvPr/>
        </p:nvSpPr>
        <p:spPr>
          <a:xfrm>
            <a:off x="557212" y="3602195"/>
            <a:ext cx="8191119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GitHub-hosted macOS-раннеры — VM: гость видит один тип ядер (hw.nperflevels = 1), QoS не выберет E-ядро</a:t>
            </a:r>
            <a:endParaRPr lang="ru-RU" sz="966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7" name="Line 137"/>
          <p:cNvSpPr/>
          <p:nvPr/>
        </p:nvSpPr>
        <p:spPr>
          <a:xfrm>
            <a:off x="571500" y="3905834"/>
            <a:ext cx="48" cy="364480"/>
          </a:xfrm>
          <a:custGeom>
            <a:avLst/>
            <a:gdLst/>
            <a:ahLst/>
            <a:cxnLst/>
            <a:rect l="0" t="0" r="r" b="b"/>
            <a:pathLst>
              <a:path w="1" h="364480" fill="none">
                <a:moveTo>
                  <a:pt x="0" y="0"/>
                </a:moveTo>
                <a:lnTo>
                  <a:pt x="0" y="364480"/>
                </a:lnTo>
              </a:path>
            </a:pathLst>
          </a:custGeom>
          <a:noFill/>
          <a:ln w="28575">
            <a:solidFill>
              <a:srgbClr val="FFFFFF"/>
            </a:solidFill>
          </a:ln>
        </p:spPr>
      </p:sp>
      <p:sp xmlns:p14="http://schemas.microsoft.com/office/powerpoint/2010/main">
        <p:nvSpPr>
          <p:cNvPr id="138" name="Text 138"/>
          <p:cNvSpPr txBox="1"/>
          <p:nvPr/>
        </p:nvSpPr>
        <p:spPr>
          <a:xfrm>
            <a:off x="681038" y="3895595"/>
            <a:ext cx="7810500" cy="3835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CI на x86 → прод на Graviton</a:t>
            </a: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· Android: закрытое приложение → cpuset background — та же таблица, другие столбцы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9" name="Text 139"/>
          <p:cNvSpPr txBox="1"/>
          <p:nvPr/>
        </p:nvSpPr>
        <p:spPr>
          <a:xfrm>
            <a:off x="557212" y="4554200"/>
            <a:ext cx="7936039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Никита Нагорнов · github.com/Neoron95/conference-hardfest-algorithms · id случайные 64-битные, seed 17/29/43 · iPhone </a:t>
            </a:r>
            <a:r>
              <a:rPr lang="ru-RU" sz="828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[модель iPhone, чип, iOS]</a:t>
            </a: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, </a:t>
            </a:r>
            <a:r>
              <a:rPr lang="ru-RU" sz="828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[hw.machine]</a:t>
            </a: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 · *×1,3 — сессия А, в сессии Б ×1,1 · сравниваются системы целиком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40" name="Picture 139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40" name="Slide Number 140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" grpId="0" animBg="1"/>
      <p:bldP spid="112" grpId="0" animBg="1"/>
      <p:bldP spid="114" grpId="0" animBg="1"/>
      <p:bldP spid="116" grpId="0" animBg="1"/>
      <p:bldP spid="118" grpId="0" animBg="1"/>
      <p:bldP spid="106" grpId="0" animBg="1"/>
      <p:bldP spid="120" grpId="0" animBg="1"/>
      <p:bldP spid="122" grpId="0" animBg="1"/>
      <p:bldP spid="124" grpId="0" animBg="1"/>
      <p:bldP spid="126" grpId="0" animBg="1"/>
      <p:bldP spid="105" grpId="0" animBg="1"/>
      <p:bldP spid="128" grpId="0" animBg="1"/>
      <p:bldP spid="130" grpId="0" animBg="1"/>
      <p:bldP spid="132" grpId="0" animBg="1"/>
      <p:bldP spid="134" grpId="0" animBg="1"/>
      <p:bldP spid="136" grpId="0" animBg="1"/>
      <p:bldP spid="138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ПОСЛЕ ЧЕТЫРЁХ РАУНДОВ · ЧТО ЭТО СТОИЛО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60073"/>
            <a:ext cx="6781800" cy="8819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40"/>
              </a:lnSpc>
              <a:spcBef>
                <a:spcPts val="0"/>
              </a:spcBef>
              <a:buNone/>
            </a:pPr>
            <a:r>
              <a:rPr lang="ru-RU" sz="20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ЦЕНА APPROVE ЖИВЁТ В ХВОСТЕ: +26 МС И +12 МиБ НА СИНХРОНИЗАЦИЮ ПРИ ПОЛУМИЛЛИОНЕ ID</a:t>
            </a:r>
            <a:endParaRPr lang="ru-RU" sz="20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671512" y="1568607"/>
            <a:ext cx="2600325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id на одну синхронизацию</a:t>
            </a:r>
            <a:endParaRPr lang="ru-RU" sz="966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3300412" y="1568607"/>
            <a:ext cx="1476375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 + unique</a:t>
            </a:r>
            <a:endParaRPr lang="ru-RU" sz="966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4805362" y="1568607"/>
            <a:ext cx="1476375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unordered_set</a:t>
            </a:r>
            <a:endParaRPr lang="ru-RU" sz="966" b="0" i="0" dirty="0">
              <a:solidFill>
                <a:srgbClr val="E2489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6310312" y="1568607"/>
            <a:ext cx="2186940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цена approve</a:t>
            </a:r>
            <a:endParaRPr lang="ru-RU" sz="966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7" name="Fill 107"/>
          <p:cNvSpPr/>
          <p:nvPr/>
        </p:nvSpPr>
        <p:spPr>
          <a:xfrm>
            <a:off x="557212" y="1805572"/>
            <a:ext cx="7924800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671512" y="1864255"/>
            <a:ext cx="2600325" cy="3695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80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Обычный пользователь,</a:t>
            </a:r>
            <a:b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тысячи id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3300412" y="1959505"/>
            <a:ext cx="5365623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80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разница &lt; 1 мс (оценка)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0" name="Fill 110"/>
          <p:cNvSpPr/>
          <p:nvPr/>
        </p:nvSpPr>
        <p:spPr>
          <a:xfrm>
            <a:off x="557212" y="2291347"/>
            <a:ext cx="7924800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</p:sp>
      <p:sp xmlns:p14="http://schemas.microsoft.com/office/powerpoint/2010/main">
        <p:nvSpPr>
          <p:cNvPr id="111" name="Fill 111"/>
          <p:cNvSpPr/>
          <p:nvPr/>
        </p:nvSpPr>
        <p:spPr>
          <a:xfrm>
            <a:off x="557212" y="2319922"/>
            <a:ext cx="7924800" cy="419100"/>
          </a:xfrm>
          <a:prstGeom prst="rect">
            <a:avLst/>
          </a:prstGeom>
          <a:solidFill>
            <a:srgbClr val="0B2B26"/>
          </a:solidFill>
          <a:ln>
            <a:noFill/>
          </a:ln>
        </p:spPr>
      </p:sp>
      <p:sp xmlns:p14="http://schemas.microsoft.com/office/powerpoint/2010/main">
        <p:nvSpPr>
          <p:cNvPr id="112" name="Line 112"/>
          <p:cNvSpPr/>
          <p:nvPr/>
        </p:nvSpPr>
        <p:spPr>
          <a:xfrm>
            <a:off x="576262" y="2319922"/>
            <a:ext cx="48" cy="419100"/>
          </a:xfrm>
          <a:custGeom>
            <a:avLst/>
            <a:gdLst/>
            <a:ahLst/>
            <a:cxnLst/>
            <a:rect l="0" t="0" r="r" b="b"/>
            <a:pathLst>
              <a:path w="1" h="419100" fill="none">
                <a:moveTo>
                  <a:pt x="0" y="0"/>
                </a:moveTo>
                <a:lnTo>
                  <a:pt x="0" y="419100"/>
                </a:lnTo>
              </a:path>
            </a:pathLst>
          </a:custGeom>
          <a:noFill/>
          <a:ln w="38100">
            <a:solidFill>
              <a:srgbClr val="FFFFFF"/>
            </a:solidFill>
          </a:ln>
        </p:spPr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671512" y="2418830"/>
            <a:ext cx="2600325" cy="20833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buNone/>
            </a:pPr>
            <a:r>
              <a:rPr lang="ru-RU" sz="1242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512K id</a:t>
            </a:r>
            <a:endParaRPr lang="ru-RU" sz="1242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3300412" y="2418830"/>
            <a:ext cx="1476375" cy="20833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buNone/>
            </a:pPr>
            <a:r>
              <a:rPr lang="ru-RU" sz="1242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≈29 мс</a:t>
            </a:r>
            <a:endParaRPr lang="ru-RU" sz="1242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4805362" y="2418830"/>
            <a:ext cx="1476375" cy="20833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buNone/>
            </a:pPr>
            <a:r>
              <a:rPr lang="ru-RU" sz="1242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≈55 мс</a:t>
            </a:r>
            <a:endParaRPr lang="ru-RU" sz="1242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6310312" y="2418830"/>
            <a:ext cx="2124075" cy="20833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90"/>
              </a:lnSpc>
              <a:spcBef>
                <a:spcPts val="0"/>
              </a:spcBef>
              <a:buNone/>
            </a:pPr>
            <a:r>
              <a:rPr lang="ru-RU" sz="1242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+26 мс, +12 МиБ</a:t>
            </a:r>
            <a:endParaRPr lang="ru-RU" sz="1242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671512" y="2864380"/>
            <a:ext cx="2600325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80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1M id (тестовый размер)</a:t>
            </a:r>
            <a:endParaRPr lang="ru-RU" sz="1104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3300412" y="2854356"/>
            <a:ext cx="1476375" cy="2052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66"/>
              </a:lnSpc>
              <a:spcBef>
                <a:spcPts val="0"/>
              </a:spcBef>
              <a:buNone/>
            </a:pPr>
            <a:r>
              <a:rPr lang="ru-RU" sz="1173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≈60 мс</a:t>
            </a:r>
            <a:endParaRPr lang="ru-RU" sz="1173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9" name="Text 119"/>
          <p:cNvSpPr txBox="1"/>
          <p:nvPr/>
        </p:nvSpPr>
        <p:spPr>
          <a:xfrm>
            <a:off x="4805362" y="2854356"/>
            <a:ext cx="1476375" cy="2052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66"/>
              </a:lnSpc>
              <a:spcBef>
                <a:spcPts val="0"/>
              </a:spcBef>
              <a:buNone/>
            </a:pPr>
            <a:r>
              <a:rPr lang="ru-RU" sz="1173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≈197 мс</a:t>
            </a:r>
            <a:endParaRPr lang="ru-RU" sz="1173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6310312" y="2854356"/>
            <a:ext cx="2186940" cy="2052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66"/>
              </a:lnSpc>
              <a:spcBef>
                <a:spcPts val="0"/>
              </a:spcBef>
              <a:buNone/>
            </a:pPr>
            <a:r>
              <a:rPr lang="ru-RU" sz="1173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+137 мс, +24 МиБ</a:t>
            </a:r>
            <a:endParaRPr lang="ru-RU" sz="1173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1" name="Fill 121"/>
          <p:cNvSpPr/>
          <p:nvPr/>
        </p:nvSpPr>
        <p:spPr>
          <a:xfrm>
            <a:off x="557212" y="3186697"/>
            <a:ext cx="7924800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557212" y="3311682"/>
            <a:ext cx="8191119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этап, а не вся синхронизация: </a:t>
            </a:r>
            <a:r>
              <a:rPr lang="ru-RU" sz="966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[доля этапа в синхронизации]</a:t>
            </a: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 · время ≠ энергия: не мерил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3" name="Box 123"/>
          <p:cNvSpPr/>
          <p:nvPr/>
        </p:nvSpPr>
        <p:spPr>
          <a:xfrm>
            <a:off x="560784" y="3590319"/>
            <a:ext cx="7917656" cy="707231"/>
          </a:xfrm>
          <a:prstGeom prst="roundRect">
            <a:avLst>
              <a:gd name="adj" fmla="val 10666"/>
            </a:avLst>
          </a:prstGeom>
          <a:solidFill>
            <a:srgbClr val="000000"/>
          </a:solidFill>
          <a:ln w="7144">
            <a:solidFill>
              <a:srgbClr val="FFFFFF"/>
            </a:solidFill>
          </a:ln>
        </p:spPr>
      </p:sp>
      <p:sp xmlns:p14="http://schemas.microsoft.com/office/powerpoint/2010/main">
        <p:nvSpPr>
          <p:cNvPr id="124" name="Text 124"/>
          <p:cNvSpPr txBox="1"/>
          <p:nvPr/>
        </p:nvSpPr>
        <p:spPr>
          <a:xfrm>
            <a:off x="714375" y="3677769"/>
            <a:ext cx="7720012" cy="21621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52"/>
              </a:lnSpc>
              <a:spcBef>
                <a:spcPts val="0"/>
              </a:spcBef>
              <a:buNone/>
            </a:pPr>
            <a:r>
              <a:rPr lang="ru-RU" sz="1242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В проде:</a:t>
            </a:r>
            <a:r>
              <a:rPr lang="ru-RU" sz="1242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ru-RU" sz="1242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[что поехало в прод]</a:t>
            </a:r>
            <a:endParaRPr lang="ru-RU" sz="1242" b="0" i="0" dirty="0">
              <a:solidFill>
                <a:srgbClr val="F2C14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5" name="Text 125"/>
          <p:cNvSpPr txBox="1"/>
          <p:nvPr/>
        </p:nvSpPr>
        <p:spPr>
          <a:xfrm>
            <a:off x="714375" y="3923590"/>
            <a:ext cx="7720012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80"/>
              </a:lnSpc>
              <a:spcBef>
                <a:spcPts val="0"/>
              </a:spcBef>
              <a:buNone/>
            </a:pPr>
            <a:r>
              <a:rPr lang="ru-RU" sz="1104" b="1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Иначе:</a:t>
            </a:r>
            <a:r>
              <a:rPr lang="ru-RU" sz="1104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 сразу мерить на телефоне в .utility и начать со слияния</a:t>
            </a:r>
            <a:endParaRPr lang="ru-RU" sz="1104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6" name="Text 126"/>
          <p:cNvSpPr txBox="1"/>
          <p:nvPr/>
        </p:nvSpPr>
        <p:spPr>
          <a:xfrm>
            <a:off x="557212" y="4554200"/>
            <a:ext cx="7936039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iPhone </a:t>
            </a:r>
            <a:r>
              <a:rPr lang="ru-RU" sz="828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[модель iPhone, чип, iOS]</a:t>
            </a: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 · Task(priority: .utility) · U = N/2 · время: нс/эл со слайдов qos (512K) и x33 (1M) × N · память: unordered_set 32·U + 8·N, sort + unique — на месте · лаборатория, не прод-телеметрия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7" name="Picture 12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27" name="Slide Number 127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8" grpId="0" animBg="1"/>
      <p:bldP spid="109" grpId="0" animBg="1"/>
      <p:bldP spid="113" grpId="0" animBg="1"/>
      <p:bldP spid="114" grpId="0" animBg="1"/>
      <p:bldP spid="115" grpId="0" animBg="1"/>
      <p:bldP spid="116" grpId="0" animBg="1"/>
      <p:bldP spid="117" grpId="0" animBg="1"/>
      <p:bldP spid="118" grpId="0" animBg="1"/>
      <p:bldP spid="119" grpId="0" animBg="1"/>
      <p:bldP spid="120" grpId="0" animBg="1"/>
      <p:bldP spid="122" grpId="0" animBg="1"/>
      <p:bldP spid="124" grpId="0" animBg="1"/>
      <p:bldP spid="125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ПОСЛЕ ЧЕТЫРЁХ РАУНДОВ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60073"/>
            <a:ext cx="6781800" cy="8819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40"/>
              </a:lnSpc>
              <a:spcBef>
                <a:spcPts val="0"/>
              </a:spcBef>
              <a:buNone/>
            </a:pPr>
            <a:r>
              <a:rPr lang="ru-RU" sz="20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ПРАВИЛО ВЫБОРА: СНАЧАЛА ДАННЫЕ И КОНТРАКТ, ПОТОМ ЖЕЛЕЗО, И ТОЛЬКО ПОТОМ НОТАЦИЯ</a:t>
            </a:r>
            <a:endParaRPr lang="ru-RU" sz="20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39021" y="1622109"/>
            <a:ext cx="301668" cy="22814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647"/>
              </a:lnSpc>
              <a:spcBef>
                <a:spcPts val="0"/>
              </a:spcBef>
              <a:buNone/>
            </a:pPr>
            <a:r>
              <a:rPr lang="ru-RU" sz="1647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 lang="ru-RU" sz="1647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936193" y="1609771"/>
            <a:ext cx="7757343" cy="1963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97"/>
              </a:lnSpc>
              <a:spcBef>
                <a:spcPts val="0"/>
              </a:spcBef>
              <a:buNone/>
            </a:pPr>
            <a:r>
              <a:rPr lang="ru-RU" sz="1074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Мало уникальных или порядок первого появления</a:t>
            </a:r>
            <a:r>
              <a:rPr lang="ru-RU" sz="107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→ плоская хеш-таблица, без reserve под весь вход</a:t>
            </a:r>
            <a:endParaRPr lang="ru-RU" sz="107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539021" y="2128995"/>
            <a:ext cx="301668" cy="22814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647"/>
              </a:lnSpc>
              <a:spcBef>
                <a:spcPts val="0"/>
              </a:spcBef>
              <a:buNone/>
            </a:pPr>
            <a:r>
              <a:rPr lang="ru-RU" sz="1647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 lang="ru-RU" sz="1647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936193" y="2116333"/>
            <a:ext cx="7757343" cy="2002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28"/>
              </a:lnSpc>
              <a:spcBef>
                <a:spcPts val="0"/>
              </a:spcBef>
              <a:buNone/>
            </a:pPr>
            <a:r>
              <a:rPr lang="ru-RU" sz="1098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Часть входа уже отсортирована</a:t>
            </a:r>
            <a:r>
              <a:rPr lang="ru-RU" sz="109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→ остальное отсортировать, убрать повторы и слить (x86: ×3,5–6,6)</a:t>
            </a:r>
            <a:endParaRPr lang="ru-RU" sz="109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539021" y="2635881"/>
            <a:ext cx="301668" cy="22814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647"/>
              </a:lnSpc>
              <a:spcBef>
                <a:spcPts val="0"/>
              </a:spcBef>
              <a:buNone/>
            </a:pPr>
            <a:r>
              <a:rPr lang="ru-RU" sz="1647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3</a:t>
            </a:r>
            <a:endParaRPr lang="ru-RU" sz="1647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936193" y="2623219"/>
            <a:ext cx="7757343" cy="2002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28"/>
              </a:lnSpc>
              <a:spcBef>
                <a:spcPts val="0"/>
              </a:spcBef>
              <a:buNone/>
            </a:pPr>
            <a:r>
              <a:rPr lang="ru-RU" sz="1098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Целые ключи, почти все разные, больше кэша</a:t>
            </a:r>
            <a:r>
              <a:rPr lang="ru-RU" sz="109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→ </a:t>
            </a:r>
            <a:r>
              <a:rPr lang="ru-RU" sz="1098" b="0" i="0" dirty="0">
                <a:solidFill>
                  <a:srgbClr val="9B87F5"/>
                </a:solidFill>
                <a:latin typeface="Montserrat"/>
                <a:ea typeface="Montserrat"/>
                <a:cs typeface="Montserrat"/>
                <a:sym typeface="Montserrat"/>
              </a:rPr>
              <a:t>radix</a:t>
            </a:r>
            <a:r>
              <a:rPr lang="ru-RU" sz="109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или </a:t>
            </a:r>
            <a:r>
              <a:rPr lang="ru-RU" sz="109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flat</a:t>
            </a:r>
            <a:r>
              <a:rPr lang="ru-RU" sz="109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; узловой unordered_set — последним</a:t>
            </a:r>
            <a:endParaRPr lang="ru-RU" sz="109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539021" y="3142767"/>
            <a:ext cx="301668" cy="22814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647"/>
              </a:lnSpc>
              <a:spcBef>
                <a:spcPts val="0"/>
              </a:spcBef>
              <a:buNone/>
            </a:pPr>
            <a:r>
              <a:rPr lang="ru-RU" sz="1647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4</a:t>
            </a:r>
            <a:endParaRPr lang="ru-RU" sz="1647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936193" y="3130104"/>
            <a:ext cx="7757343" cy="2002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28"/>
              </a:lnSpc>
              <a:spcBef>
                <a:spcPts val="0"/>
              </a:spcBef>
              <a:buNone/>
            </a:pPr>
            <a:r>
              <a:rPr lang="ru-RU" sz="1098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Код живёт не там, где мерили</a:t>
            </a:r>
            <a:r>
              <a:rPr lang="ru-RU" sz="109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→ цена шага другая</a:t>
            </a:r>
            <a:endParaRPr lang="ru-RU" sz="109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539021" y="3820194"/>
            <a:ext cx="301668" cy="22814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647"/>
              </a:lnSpc>
              <a:spcBef>
                <a:spcPts val="0"/>
              </a:spcBef>
              <a:buNone/>
            </a:pPr>
            <a:r>
              <a:rPr lang="ru-RU" sz="1647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r>
            <a:endParaRPr lang="ru-RU" sz="1647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936193" y="3807531"/>
            <a:ext cx="7757343" cy="2002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28"/>
              </a:lnSpc>
              <a:spcBef>
                <a:spcPts val="0"/>
              </a:spcBef>
              <a:buNone/>
            </a:pPr>
            <a:r>
              <a:rPr lang="ru-RU" sz="1098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Сомневаетесь</a:t>
            </a:r>
            <a:r>
              <a:rPr lang="ru-RU" sz="109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→ меряйте</a:t>
            </a:r>
            <a:endParaRPr lang="ru-RU" sz="109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936193" y="3349883"/>
            <a:ext cx="7757343" cy="1775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49"/>
              </a:lnSpc>
              <a:spcBef>
                <a:spcPts val="0"/>
              </a:spcBef>
              <a:buNone/>
            </a:pPr>
            <a:r>
              <a:rPr lang="ru-RU" sz="961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iPhone в .utility: чтение памяти до 5× дороже · ARM-инстанс вместо x86 · контейнер, где L3 делят соседи</a:t>
            </a:r>
            <a:endParaRPr lang="ru-RU" sz="961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557212" y="4148096"/>
            <a:ext cx="8147692" cy="23947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736"/>
              </a:lnSpc>
              <a:spcBef>
                <a:spcPts val="0"/>
              </a:spcBef>
              <a:buNone/>
            </a:pPr>
            <a:r>
              <a:rPr lang="ru-RU" sz="151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Big-O считает шаги, а не их цену</a:t>
            </a:r>
            <a:endParaRPr lang="ru-RU" sz="151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557212" y="4690824"/>
            <a:ext cx="7936039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Никита Нагорнов · github.com/Neoron95/conference-hardfest-algorithms · слайд 24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6" name="Picture 11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16" name="Slide Number 116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" grpId="0" animBg="1"/>
      <p:bldP spid="104" grpId="0" animBg="1"/>
      <p:bldP spid="105" grpId="0" animBg="1"/>
      <p:bldP spid="106" grpId="0" animBg="1"/>
      <p:bldP spid="107" grpId="0" animBg="1"/>
      <p:bldP spid="108" grpId="0" animBg="1"/>
      <p:bldP spid="109" grpId="0" animBg="1"/>
      <p:bldP spid="110" grpId="0" animBg="1"/>
      <p:bldP spid="113" grpId="0" animBg="1"/>
      <p:bldP spid="111" grpId="0" animBg="1"/>
      <p:bldP spid="112" grpId="0" animBg="1"/>
      <p:bldP spid="114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ПОСЛЕ ЧЕТЫРЁХ РАУНДОВ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3415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КОД-РЕВЬЮ, ВТОРНИК, 17:40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Box 103"/>
          <p:cNvSpPr/>
          <p:nvPr/>
        </p:nvSpPr>
        <p:spPr>
          <a:xfrm>
            <a:off x="560784" y="1146572"/>
            <a:ext cx="7345763" cy="1548279"/>
          </a:xfrm>
          <a:prstGeom prst="roundRect">
            <a:avLst>
              <a:gd name="adj" fmla="val 4545"/>
            </a:avLst>
          </a:prstGeom>
          <a:solidFill>
            <a:srgbClr val="000000"/>
          </a:solidFill>
          <a:ln w="7144">
            <a:solidFill>
              <a:srgbClr val="FFFFFF"/>
            </a:solidFill>
          </a:ln>
        </p:spPr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773734" y="1304022"/>
            <a:ext cx="7656038" cy="2562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1879"/>
              </a:lnSpc>
              <a:spcBef>
                <a:spcPts val="0"/>
              </a:spcBef>
              <a:buNone/>
            </a:pPr>
            <a:r>
              <a:rPr lang="ru-RU" sz="1253" b="0" i="0" dirty="0">
                <a:solidFill>
                  <a:srgbClr val="8F8F8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// dedup ids after offline sync</a:t>
            </a:r>
            <a:endParaRPr lang="ru-RU" sz="1253" b="0" i="0" dirty="0">
              <a:solidFill>
                <a:srgbClr val="8F8F8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773734" y="1542638"/>
            <a:ext cx="7656038" cy="2562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1879"/>
              </a:lnSpc>
              <a:spcBef>
                <a:spcPts val="0"/>
              </a:spcBef>
              <a:buNone/>
            </a:pPr>
            <a:r>
              <a:rPr lang="ru-RU" sz="1253" b="0" i="0" dirty="0">
                <a:solidFill>
                  <a:srgbClr val="F08A7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- std::sort(ids.begin(), ids.end());</a:t>
            </a:r>
            <a:endParaRPr lang="ru-RU" sz="1253" b="0" i="0" dirty="0">
              <a:solidFill>
                <a:srgbClr val="F08A7A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773734" y="1781254"/>
            <a:ext cx="7656038" cy="2562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1879"/>
              </a:lnSpc>
              <a:spcBef>
                <a:spcPts val="0"/>
              </a:spcBef>
              <a:buNone/>
            </a:pPr>
            <a:r>
              <a:rPr lang="ru-RU" sz="1253" b="0" i="0" dirty="0">
                <a:solidFill>
                  <a:srgbClr val="F08A7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- ids.erase(std::unique(ids.begin(), ids.end()), ids.end());</a:t>
            </a:r>
            <a:endParaRPr lang="ru-RU" sz="1253" b="0" i="0" dirty="0">
              <a:solidFill>
                <a:srgbClr val="F08A7A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773734" y="2019870"/>
            <a:ext cx="7656038" cy="2562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1879"/>
              </a:lnSpc>
              <a:spcBef>
                <a:spcPts val="0"/>
              </a:spcBef>
              <a:buNone/>
            </a:pPr>
            <a:r>
              <a:rPr lang="ru-RU" sz="1253" b="0" i="0" dirty="0">
                <a:solidFill>
                  <a:srgbClr val="7BD88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+ std::unordered_set&lt;uint64_t&gt; s(ids.begin(), ids.end());</a:t>
            </a:r>
            <a:endParaRPr lang="ru-RU" sz="1253" b="0" i="0" dirty="0">
              <a:solidFill>
                <a:srgbClr val="7BD88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773734" y="2258486"/>
            <a:ext cx="7656038" cy="2562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1879"/>
              </a:lnSpc>
              <a:spcBef>
                <a:spcPts val="0"/>
              </a:spcBef>
              <a:buNone/>
            </a:pPr>
            <a:r>
              <a:rPr lang="ru-RU" sz="1253" b="0" i="0" dirty="0">
                <a:solidFill>
                  <a:srgbClr val="7BD88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+ ids.assign(s.begin(), s.end());</a:t>
            </a:r>
            <a:endParaRPr lang="ru-RU" sz="1253" b="0" i="0" dirty="0">
              <a:solidFill>
                <a:srgbClr val="7BD88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557212" y="3382087"/>
            <a:ext cx="4577892" cy="2323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90"/>
              </a:lnSpc>
              <a:spcBef>
                <a:spcPts val="0"/>
              </a:spcBef>
              <a:buNone/>
            </a:pPr>
            <a:r>
              <a:rPr lang="ru-RU" sz="140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Коллега:</a:t>
            </a:r>
            <a:r>
              <a:rPr lang="ru-RU" sz="140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«Линейно вместо n log n»</a:t>
            </a:r>
            <a:endParaRPr lang="ru-RU" sz="140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5117429" y="3123706"/>
            <a:ext cx="2902984" cy="1656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65"/>
              </a:lnSpc>
              <a:spcBef>
                <a:spcPts val="0"/>
              </a:spcBef>
              <a:buNone/>
            </a:pPr>
            <a:r>
              <a:rPr lang="ru-RU" sz="89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Никита, три года спустя</a:t>
            </a:r>
            <a:endParaRPr lang="ru-RU" sz="896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1" name="Box 111"/>
          <p:cNvSpPr/>
          <p:nvPr/>
        </p:nvSpPr>
        <p:spPr>
          <a:xfrm>
            <a:off x="5121848" y="3330313"/>
            <a:ext cx="2642451" cy="329547"/>
          </a:xfrm>
          <a:prstGeom prst="roundRect">
            <a:avLst>
              <a:gd name="adj" fmla="val 15670"/>
            </a:avLst>
          </a:prstGeom>
          <a:solidFill>
            <a:srgbClr val="0B2B26"/>
          </a:solidFill>
          <a:ln w="8838">
            <a:solidFill>
              <a:srgbClr val="46CDAE"/>
            </a:solidFill>
          </a:ln>
        </p:spPr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5128034" y="3382087"/>
            <a:ext cx="2630078" cy="23232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ctr">
              <a:lnSpc>
                <a:spcPts val="1690"/>
              </a:lnSpc>
              <a:spcBef>
                <a:spcPts val="0"/>
              </a:spcBef>
              <a:buNone/>
            </a:pPr>
            <a:r>
              <a:rPr lang="ru-RU" sz="1408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Changes requested</a:t>
            </a:r>
            <a:endParaRPr lang="ru-RU" sz="1408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3" name="Fill 113"/>
          <p:cNvSpPr/>
          <p:nvPr/>
        </p:nvSpPr>
        <p:spPr>
          <a:xfrm>
            <a:off x="963743" y="2490738"/>
            <a:ext cx="2863392" cy="13256"/>
          </a:xfrm>
          <a:prstGeom prst="rect">
            <a:avLst/>
          </a:prstGeom>
          <a:solidFill>
            <a:srgbClr val="46CDAE"/>
          </a:solidFill>
          <a:ln>
            <a:noFill/>
          </a:ln>
        </p:spPr>
      </p:sp>
      <p:sp xmlns:p14="http://schemas.microsoft.com/office/powerpoint/2010/main">
        <p:nvSpPr>
          <p:cNvPr id="114" name="Fill 114"/>
          <p:cNvSpPr/>
          <p:nvPr/>
        </p:nvSpPr>
        <p:spPr>
          <a:xfrm>
            <a:off x="1847506" y="2503995"/>
            <a:ext cx="8838" cy="300479"/>
          </a:xfrm>
          <a:prstGeom prst="rect">
            <a:avLst/>
          </a:prstGeom>
          <a:solidFill>
            <a:srgbClr val="46CDAE"/>
          </a:solidFill>
          <a:ln>
            <a:noFill/>
          </a:ln>
        </p:spPr>
      </p:sp>
      <p:sp xmlns:p14="http://schemas.microsoft.com/office/powerpoint/2010/main">
        <p:nvSpPr>
          <p:cNvPr id="115" name="Box 115"/>
          <p:cNvSpPr/>
          <p:nvPr/>
        </p:nvSpPr>
        <p:spPr>
          <a:xfrm>
            <a:off x="561631" y="2808893"/>
            <a:ext cx="4409977" cy="410812"/>
          </a:xfrm>
          <a:prstGeom prst="roundRect">
            <a:avLst>
              <a:gd name="adj" fmla="val 12635"/>
            </a:avLst>
          </a:prstGeom>
          <a:solidFill>
            <a:srgbClr val="0B2B26"/>
          </a:solidFill>
          <a:ln w="8838">
            <a:solidFill>
              <a:srgbClr val="46CDAE"/>
            </a:solidFill>
          </a:ln>
        </p:spPr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654426" y="2858577"/>
            <a:ext cx="4312763" cy="3136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65"/>
              </a:lnSpc>
              <a:spcBef>
                <a:spcPts val="0"/>
              </a:spcBef>
              <a:buNone/>
            </a:pPr>
            <a:r>
              <a:rPr lang="ru-RU" sz="896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Контракт:</a:t>
            </a:r>
            <a:r>
              <a:rPr lang="ru-RU" sz="89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раньше выход был отсортирован, теперь — порядок таблицы. Кто-то на это опирается?</a:t>
            </a:r>
            <a:endParaRPr lang="ru-RU" sz="89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7" name="Fill 117"/>
          <p:cNvSpPr/>
          <p:nvPr/>
        </p:nvSpPr>
        <p:spPr>
          <a:xfrm>
            <a:off x="963743" y="2252122"/>
            <a:ext cx="5156756" cy="13256"/>
          </a:xfrm>
          <a:prstGeom prst="rect">
            <a:avLst/>
          </a:prstGeom>
          <a:solidFill>
            <a:srgbClr val="46CDAE"/>
          </a:solidFill>
          <a:ln>
            <a:noFill/>
          </a:ln>
        </p:spPr>
      </p:sp>
      <p:sp xmlns:p14="http://schemas.microsoft.com/office/powerpoint/2010/main">
        <p:nvSpPr>
          <p:cNvPr id="118" name="Box 118"/>
          <p:cNvSpPr/>
          <p:nvPr/>
        </p:nvSpPr>
        <p:spPr>
          <a:xfrm>
            <a:off x="4238085" y="2305148"/>
            <a:ext cx="3667616" cy="410812"/>
          </a:xfrm>
          <a:prstGeom prst="roundRect">
            <a:avLst>
              <a:gd name="adj" fmla="val 12635"/>
            </a:avLst>
          </a:prstGeom>
          <a:solidFill>
            <a:srgbClr val="0B2B26"/>
          </a:solidFill>
          <a:ln w="8838">
            <a:solidFill>
              <a:srgbClr val="46CDAE"/>
            </a:solidFill>
          </a:ln>
        </p:spPr>
      </p:sp>
      <p:sp xmlns:p14="http://schemas.microsoft.com/office/powerpoint/2010/main">
        <p:nvSpPr>
          <p:cNvPr id="119" name="Text 119"/>
          <p:cNvSpPr txBox="1"/>
          <p:nvPr/>
        </p:nvSpPr>
        <p:spPr>
          <a:xfrm>
            <a:off x="4330880" y="2354832"/>
            <a:ext cx="3535052" cy="3136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65"/>
              </a:lnSpc>
              <a:spcBef>
                <a:spcPts val="0"/>
              </a:spcBef>
              <a:buNone/>
            </a:pPr>
            <a:r>
              <a:rPr lang="ru-RU" sz="896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Данные:</a:t>
            </a:r>
            <a:r>
              <a:rPr lang="ru-RU" sz="89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какие N и доля повторов? Локальные id уже отсортированы — может, слить?</a:t>
            </a:r>
            <a:endParaRPr lang="ru-RU" sz="89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0" name="Fill 120"/>
          <p:cNvSpPr/>
          <p:nvPr/>
        </p:nvSpPr>
        <p:spPr>
          <a:xfrm>
            <a:off x="773734" y="1536274"/>
            <a:ext cx="2960606" cy="13256"/>
          </a:xfrm>
          <a:prstGeom prst="rect">
            <a:avLst/>
          </a:prstGeom>
          <a:solidFill>
            <a:srgbClr val="46CDAE"/>
          </a:solidFill>
          <a:ln>
            <a:noFill/>
          </a:ln>
        </p:spPr>
      </p:sp>
      <p:sp xmlns:p14="http://schemas.microsoft.com/office/powerpoint/2010/main">
        <p:nvSpPr>
          <p:cNvPr id="121" name="Fill 121"/>
          <p:cNvSpPr/>
          <p:nvPr/>
        </p:nvSpPr>
        <p:spPr>
          <a:xfrm>
            <a:off x="3760853" y="1439061"/>
            <a:ext cx="525839" cy="8838"/>
          </a:xfrm>
          <a:prstGeom prst="rect">
            <a:avLst/>
          </a:prstGeom>
          <a:solidFill>
            <a:srgbClr val="46CDAE"/>
          </a:solidFill>
          <a:ln>
            <a:noFill/>
          </a:ln>
        </p:spPr>
      </p:sp>
      <p:sp xmlns:p14="http://schemas.microsoft.com/office/powerpoint/2010/main">
        <p:nvSpPr>
          <p:cNvPr id="122" name="Box 122"/>
          <p:cNvSpPr/>
          <p:nvPr/>
        </p:nvSpPr>
        <p:spPr>
          <a:xfrm>
            <a:off x="4291111" y="1200445"/>
            <a:ext cx="3543889" cy="375461"/>
          </a:xfrm>
          <a:prstGeom prst="roundRect">
            <a:avLst>
              <a:gd name="adj" fmla="val 13798"/>
            </a:avLst>
          </a:prstGeom>
          <a:solidFill>
            <a:srgbClr val="0B2B26"/>
          </a:solidFill>
          <a:ln w="8838">
            <a:solidFill>
              <a:srgbClr val="46CDAE"/>
            </a:solidFill>
          </a:ln>
        </p:spPr>
      </p:sp>
      <p:sp xmlns:p14="http://schemas.microsoft.com/office/powerpoint/2010/main">
        <p:nvSpPr>
          <p:cNvPr id="123" name="Text 123"/>
          <p:cNvSpPr txBox="1"/>
          <p:nvPr/>
        </p:nvSpPr>
        <p:spPr>
          <a:xfrm>
            <a:off x="4375068" y="1232453"/>
            <a:ext cx="3455513" cy="3136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65"/>
              </a:lnSpc>
              <a:spcBef>
                <a:spcPts val="0"/>
              </a:spcBef>
              <a:buNone/>
            </a:pPr>
            <a:r>
              <a:rPr lang="ru-RU" sz="896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Где исполняется:</a:t>
            </a:r>
            <a:r>
              <a:rPr lang="ru-RU" sz="89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Task(priority: .utility) на телефоне. На каком железе и в каком QoS мерили?</a:t>
            </a:r>
            <a:endParaRPr lang="ru-RU" sz="89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4" name="Box 124"/>
          <p:cNvSpPr/>
          <p:nvPr/>
        </p:nvSpPr>
        <p:spPr>
          <a:xfrm>
            <a:off x="563841" y="3765566"/>
            <a:ext cx="2355228" cy="799805"/>
          </a:xfrm>
          <a:prstGeom prst="roundRect">
            <a:avLst>
              <a:gd name="adj" fmla="val 8695"/>
            </a:avLst>
          </a:prstGeom>
          <a:solidFill>
            <a:srgbClr val="000000"/>
          </a:solidFill>
          <a:ln w="13256">
            <a:solidFill>
              <a:srgbClr val="46CDAE"/>
            </a:solidFill>
          </a:ln>
        </p:spPr>
      </p:sp>
      <p:sp xmlns:p14="http://schemas.microsoft.com/office/powerpoint/2010/main">
        <p:nvSpPr>
          <p:cNvPr id="125" name="Text 125"/>
          <p:cNvSpPr txBox="1"/>
          <p:nvPr/>
        </p:nvSpPr>
        <p:spPr>
          <a:xfrm>
            <a:off x="650008" y="3836407"/>
            <a:ext cx="2266852" cy="3022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20"/>
              </a:lnSpc>
              <a:spcBef>
                <a:spcPts val="0"/>
              </a:spcBef>
              <a:buNone/>
            </a:pPr>
            <a:r>
              <a:rPr lang="ru-RU" sz="896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 · sort</a:t>
            </a:r>
            <a:r>
              <a:rPr lang="ru-RU" sz="89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— прав на 1M разных id и на телефоне в фоне</a:t>
            </a:r>
            <a:endParaRPr lang="ru-RU" sz="89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6" name="Box 126"/>
          <p:cNvSpPr/>
          <p:nvPr/>
        </p:nvSpPr>
        <p:spPr>
          <a:xfrm>
            <a:off x="3056052" y="3765566"/>
            <a:ext cx="2355228" cy="799805"/>
          </a:xfrm>
          <a:prstGeom prst="roundRect">
            <a:avLst>
              <a:gd name="adj" fmla="val 8695"/>
            </a:avLst>
          </a:prstGeom>
          <a:solidFill>
            <a:srgbClr val="000000"/>
          </a:solidFill>
          <a:ln w="13256">
            <a:solidFill>
              <a:srgbClr val="E2489B"/>
            </a:solidFill>
          </a:ln>
        </p:spPr>
      </p:sp>
      <p:sp xmlns:p14="http://schemas.microsoft.com/office/powerpoint/2010/main">
        <p:nvSpPr>
          <p:cNvPr id="127" name="Text 127"/>
          <p:cNvSpPr txBox="1"/>
          <p:nvPr/>
        </p:nvSpPr>
        <p:spPr>
          <a:xfrm>
            <a:off x="3142219" y="3836407"/>
            <a:ext cx="2266852" cy="4445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20"/>
              </a:lnSpc>
              <a:spcBef>
                <a:spcPts val="0"/>
              </a:spcBef>
              <a:buNone/>
            </a:pPr>
            <a:r>
              <a:rPr lang="ru-RU" sz="896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B · хеш</a:t>
            </a:r>
            <a:r>
              <a:rPr lang="ru-RU" sz="89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— прав с плоской таблицей, при очень большой доле повторов и для порядка первого появления</a:t>
            </a:r>
            <a:endParaRPr lang="ru-RU" sz="89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8" name="Box 128"/>
          <p:cNvSpPr/>
          <p:nvPr/>
        </p:nvSpPr>
        <p:spPr>
          <a:xfrm>
            <a:off x="5548263" y="3765566"/>
            <a:ext cx="2355228" cy="799805"/>
          </a:xfrm>
          <a:prstGeom prst="roundRect">
            <a:avLst>
              <a:gd name="adj" fmla="val 8695"/>
            </a:avLst>
          </a:prstGeom>
          <a:solidFill>
            <a:srgbClr val="000000"/>
          </a:solidFill>
          <a:ln w="13256">
            <a:solidFill>
              <a:srgbClr val="46CDAE"/>
            </a:solidFill>
          </a:ln>
        </p:spPr>
      </p:sp>
      <p:sp xmlns:p14="http://schemas.microsoft.com/office/powerpoint/2010/main">
        <p:nvSpPr>
          <p:cNvPr id="129" name="Text 129"/>
          <p:cNvSpPr txBox="1"/>
          <p:nvPr/>
        </p:nvSpPr>
        <p:spPr>
          <a:xfrm>
            <a:off x="5634430" y="3836548"/>
            <a:ext cx="2266852" cy="1568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96"/>
              </a:lnSpc>
              <a:spcBef>
                <a:spcPts val="0"/>
              </a:spcBef>
              <a:buNone/>
            </a:pPr>
            <a:r>
              <a:rPr lang="ru-RU" sz="877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 · условие</a:t>
            </a:r>
            <a:r>
              <a:rPr lang="ru-RU" sz="877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— прав с первой минуты</a:t>
            </a:r>
            <a:endParaRPr lang="ru-RU" sz="877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30" name="Picture 129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30" name="Slide Number 130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" grpId="0" animBg="1"/>
      <p:bldP spid="112" grpId="0" animBg="1"/>
      <p:bldP spid="116" grpId="0" animBg="1"/>
      <p:bldP spid="119" grpId="0" animBg="1"/>
      <p:bldP spid="123" grpId="0" animBg="1"/>
      <p:bldP spid="125" grpId="0" animBg="1"/>
      <p:bldP spid="127" grpId="0" animBg="1"/>
      <p:bldP spid="129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Title 101"/>
          <p:cNvSpPr txBox="1"/>
          <p:nvPr/>
        </p:nvSpPr>
        <p:spPr>
          <a:xfrm>
            <a:off x="557212" y="497964"/>
            <a:ext cx="6781800" cy="3415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ПОСЛЕ ЧЕТЫРЁХ РАУНДОВ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2" name="Box 102"/>
          <p:cNvSpPr/>
          <p:nvPr/>
        </p:nvSpPr>
        <p:spPr>
          <a:xfrm>
            <a:off x="560784" y="1194197"/>
            <a:ext cx="5669145" cy="1420634"/>
          </a:xfrm>
          <a:prstGeom prst="roundRect">
            <a:avLst>
              <a:gd name="adj" fmla="val 4878"/>
            </a:avLst>
          </a:prstGeom>
          <a:solidFill>
            <a:srgbClr val="000000"/>
          </a:solidFill>
          <a:ln w="7144">
            <a:solidFill>
              <a:srgbClr val="FFFFFF"/>
            </a:solidFill>
          </a:ln>
        </p:spPr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709567" y="1530005"/>
            <a:ext cx="1274336" cy="4659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532"/>
              </a:lnSpc>
              <a:spcBef>
                <a:spcPts val="0"/>
              </a:spcBef>
              <a:buNone/>
            </a:pPr>
            <a:r>
              <a:rPr lang="ru-RU" sz="3532" b="1" i="0" spc="-63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×2,6</a:t>
            </a:r>
            <a:endParaRPr lang="ru-RU" sz="3532" b="1" i="0" spc="-63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709567" y="1978162"/>
            <a:ext cx="1274336" cy="1711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11"/>
              </a:lnSpc>
              <a:spcBef>
                <a:spcPts val="0"/>
              </a:spcBef>
              <a:buNone/>
            </a:pPr>
            <a:r>
              <a:rPr lang="ru-RU" sz="1009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sort</a:t>
            </a:r>
            <a:endParaRPr lang="ru-RU" sz="1009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709567" y="2159952"/>
            <a:ext cx="1274336" cy="1631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48"/>
              </a:lnSpc>
              <a:spcBef>
                <a:spcPts val="0"/>
              </a:spcBef>
              <a:buNone/>
            </a:pPr>
            <a:r>
              <a:rPr lang="ru-RU" sz="883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размер и память</a:t>
            </a:r>
            <a:endParaRPr lang="ru-RU" sz="883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6" name="Line 106"/>
          <p:cNvSpPr/>
          <p:nvPr/>
        </p:nvSpPr>
        <p:spPr>
          <a:xfrm>
            <a:off x="2012197" y="1369097"/>
            <a:ext cx="48" cy="1070834"/>
          </a:xfrm>
          <a:custGeom>
            <a:avLst/>
            <a:gdLst/>
            <a:ahLst/>
            <a:cxnLst/>
            <a:rect l="0" t="0" r="r" b="b"/>
            <a:pathLst>
              <a:path w="1" h="1070834" fill="none">
                <a:moveTo>
                  <a:pt x="0" y="0"/>
                </a:moveTo>
                <a:lnTo>
                  <a:pt x="0" y="1070834"/>
                </a:lnTo>
              </a:path>
            </a:pathLst>
          </a:custGeom>
          <a:noFill/>
          <a:ln w="4353">
            <a:solidFill>
              <a:srgbClr val="333333"/>
            </a:solidFill>
          </a:ln>
        </p:spPr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2092727" y="1530005"/>
            <a:ext cx="1256924" cy="4659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532"/>
              </a:lnSpc>
              <a:spcBef>
                <a:spcPts val="0"/>
              </a:spcBef>
              <a:buNone/>
            </a:pPr>
            <a:r>
              <a:rPr lang="ru-RU" sz="3532" b="1" i="0" spc="-63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×1,7</a:t>
            </a:r>
            <a:endParaRPr lang="ru-RU" sz="3532" b="1" i="0" spc="-63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2092727" y="1978162"/>
            <a:ext cx="1256924" cy="1711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11"/>
              </a:lnSpc>
              <a:spcBef>
                <a:spcPts val="0"/>
              </a:spcBef>
              <a:buNone/>
            </a:pPr>
            <a:r>
              <a:rPr lang="ru-RU" sz="1009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flat</a:t>
            </a:r>
            <a:endParaRPr lang="ru-RU" sz="1009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2092727" y="2159952"/>
            <a:ext cx="1256924" cy="1631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48"/>
              </a:lnSpc>
              <a:spcBef>
                <a:spcPts val="0"/>
              </a:spcBef>
              <a:buNone/>
            </a:pPr>
            <a:r>
              <a:rPr lang="ru-RU" sz="883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реализация хеша</a:t>
            </a:r>
            <a:endParaRPr lang="ru-RU" sz="883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0" name="Line 110"/>
          <p:cNvSpPr/>
          <p:nvPr/>
        </p:nvSpPr>
        <p:spPr>
          <a:xfrm>
            <a:off x="3395357" y="1369097"/>
            <a:ext cx="48" cy="1070834"/>
          </a:xfrm>
          <a:custGeom>
            <a:avLst/>
            <a:gdLst/>
            <a:ahLst/>
            <a:cxnLst/>
            <a:rect l="0" t="0" r="r" b="b"/>
            <a:pathLst>
              <a:path w="1" h="1070834" fill="none">
                <a:moveTo>
                  <a:pt x="0" y="0"/>
                </a:moveTo>
                <a:lnTo>
                  <a:pt x="0" y="1070834"/>
                </a:lnTo>
              </a:path>
            </a:pathLst>
          </a:custGeom>
          <a:noFill/>
          <a:ln w="4353">
            <a:solidFill>
              <a:srgbClr val="333333"/>
            </a:solidFill>
          </a:ln>
        </p:spPr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3475887" y="1530005"/>
            <a:ext cx="1256924" cy="4659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532"/>
              </a:lnSpc>
              <a:spcBef>
                <a:spcPts val="0"/>
              </a:spcBef>
              <a:buNone/>
            </a:pPr>
            <a:r>
              <a:rPr lang="ru-RU" sz="3532" b="1" i="0" spc="-63" dirty="0">
                <a:solidFill>
                  <a:srgbClr val="E2489B"/>
                </a:solidFill>
                <a:latin typeface="Montserrat"/>
                <a:ea typeface="Montserrat"/>
                <a:cs typeface="Montserrat"/>
                <a:sym typeface="Montserrat"/>
              </a:rPr>
              <a:t>×3,7</a:t>
            </a:r>
            <a:endParaRPr lang="ru-RU" sz="3532" b="1" i="0" spc="-63" dirty="0">
              <a:solidFill>
                <a:srgbClr val="E2489B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3475887" y="1978162"/>
            <a:ext cx="1256924" cy="1711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11"/>
              </a:lnSpc>
              <a:spcBef>
                <a:spcPts val="0"/>
              </a:spcBef>
              <a:buNone/>
            </a:pPr>
            <a:r>
              <a:rPr lang="ru-RU" sz="1009" b="1" i="0" dirty="0">
                <a:solidFill>
                  <a:srgbClr val="E2489B"/>
                </a:solidFill>
                <a:latin typeface="Montserrat"/>
                <a:ea typeface="Montserrat"/>
                <a:cs typeface="Montserrat"/>
                <a:sym typeface="Montserrat"/>
              </a:rPr>
              <a:t>хеш</a:t>
            </a:r>
            <a:endParaRPr lang="ru-RU" sz="1009" b="1" i="0" dirty="0">
              <a:solidFill>
                <a:srgbClr val="E2489B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3475887" y="2159952"/>
            <a:ext cx="1256924" cy="1631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48"/>
              </a:lnSpc>
              <a:spcBef>
                <a:spcPts val="0"/>
              </a:spcBef>
              <a:buNone/>
            </a:pPr>
            <a:r>
              <a:rPr lang="ru-RU" sz="883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данные и тикет</a:t>
            </a:r>
            <a:endParaRPr lang="ru-RU" sz="883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4" name="Line 114"/>
          <p:cNvSpPr/>
          <p:nvPr/>
        </p:nvSpPr>
        <p:spPr>
          <a:xfrm>
            <a:off x="4778517" y="1369097"/>
            <a:ext cx="48" cy="1070834"/>
          </a:xfrm>
          <a:custGeom>
            <a:avLst/>
            <a:gdLst/>
            <a:ahLst/>
            <a:cxnLst/>
            <a:rect l="0" t="0" r="r" b="b"/>
            <a:pathLst>
              <a:path w="1" h="1070834" fill="none">
                <a:moveTo>
                  <a:pt x="0" y="0"/>
                </a:moveTo>
                <a:lnTo>
                  <a:pt x="0" y="1070834"/>
                </a:lnTo>
              </a:path>
            </a:pathLst>
          </a:custGeom>
          <a:noFill/>
          <a:ln w="4353">
            <a:solidFill>
              <a:srgbClr val="333333"/>
            </a:solidFill>
          </a:ln>
        </p:spPr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4859047" y="1530005"/>
            <a:ext cx="1256924" cy="4659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532"/>
              </a:lnSpc>
              <a:spcBef>
                <a:spcPts val="0"/>
              </a:spcBef>
              <a:buNone/>
            </a:pPr>
            <a:r>
              <a:rPr lang="ru-RU" sz="3532" b="1" i="0" spc="-63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×3,3</a:t>
            </a:r>
            <a:endParaRPr lang="ru-RU" sz="3532" b="1" i="0" spc="-63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4859047" y="1978162"/>
            <a:ext cx="1256924" cy="1711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11"/>
              </a:lnSpc>
              <a:spcBef>
                <a:spcPts val="0"/>
              </a:spcBef>
              <a:buNone/>
            </a:pPr>
            <a:r>
              <a:rPr lang="ru-RU" sz="1009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sort</a:t>
            </a:r>
            <a:endParaRPr lang="ru-RU" sz="1009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4859047" y="2159952"/>
            <a:ext cx="1256924" cy="1631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48"/>
              </a:lnSpc>
              <a:spcBef>
                <a:spcPts val="0"/>
              </a:spcBef>
              <a:buNone/>
            </a:pPr>
            <a:r>
              <a:rPr lang="ru-RU" sz="883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процессор</a:t>
            </a:r>
            <a:endParaRPr lang="ru-RU" sz="883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8" name="Fill 118"/>
          <p:cNvSpPr/>
          <p:nvPr/>
        </p:nvSpPr>
        <p:spPr>
          <a:xfrm>
            <a:off x="6372797" y="1190625"/>
            <a:ext cx="1427778" cy="1427778"/>
          </a:xfrm>
          <a:prstGeom prst="roundRect">
            <a:avLst>
              <a:gd name="adj" fmla="val 4878"/>
            </a:avLst>
          </a:prstGeom>
          <a:solidFill>
            <a:srgbClr val="000000"/>
          </a:solidFill>
          <a:ln>
            <a:noFill/>
          </a:ln>
        </p:spPr>
      </p:sp>
      <p:sp xmlns:p14="http://schemas.microsoft.com/office/powerpoint/2010/main">
        <p:nvSpPr>
          <p:cNvPr id="119" name="Text 119"/>
          <p:cNvSpPr txBox="1"/>
          <p:nvPr/>
        </p:nvSpPr>
        <p:spPr>
          <a:xfrm>
            <a:off x="3639124" y="2689112"/>
            <a:ext cx="4161451" cy="16318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r">
              <a:lnSpc>
                <a:spcPts val="1148"/>
              </a:lnSpc>
              <a:spcBef>
                <a:spcPts val="0"/>
              </a:spcBef>
              <a:buNone/>
            </a:pPr>
            <a:r>
              <a:rPr lang="ru-RU" sz="883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github.com/Neoron95/conference-hardfest-algorithms</a:t>
            </a:r>
            <a:endParaRPr lang="ru-RU" sz="883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557212" y="2955569"/>
            <a:ext cx="7486782" cy="2048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76"/>
              </a:lnSpc>
              <a:spcBef>
                <a:spcPts val="0"/>
              </a:spcBef>
              <a:buNone/>
            </a:pPr>
            <a:r>
              <a:rPr lang="ru-RU" sz="1135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iOS:</a:t>
            </a:r>
            <a:r>
              <a:rPr lang="ru-RU" sz="113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прогоните перф-тест на телефоне, в той очереди, где живёт код</a:t>
            </a:r>
            <a:endParaRPr lang="ru-RU" sz="1135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1" name="Text 121"/>
          <p:cNvSpPr txBox="1"/>
          <p:nvPr/>
        </p:nvSpPr>
        <p:spPr>
          <a:xfrm>
            <a:off x="557212" y="3199336"/>
            <a:ext cx="7486782" cy="2048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76"/>
              </a:lnSpc>
              <a:spcBef>
                <a:spcPts val="0"/>
              </a:spcBef>
              <a:buNone/>
            </a:pPr>
            <a:r>
              <a:rPr lang="ru-RU" sz="1135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Бэкенд:</a:t>
            </a:r>
            <a:r>
              <a:rPr lang="ru-RU" sz="113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на том железе, где прод (ARM, соседи по L3, другая стандартная библиотека)</a:t>
            </a:r>
            <a:endParaRPr lang="ru-RU" sz="1135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557212" y="3729112"/>
            <a:ext cx="7486782" cy="65176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97"/>
              </a:lnSpc>
              <a:spcBef>
                <a:spcPts val="0"/>
              </a:spcBef>
              <a:buNone/>
            </a:pPr>
            <a:r>
              <a:rPr lang="ru-RU" sz="2270" b="1" i="0" spc="-32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Ваш алгоритм не выбирал процессор.</a:t>
            </a:r>
            <a:br>
              <a:rPr lang="ru-RU" sz="2270" b="1" i="0" spc="-32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2270" b="1" i="0" spc="-32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Проверьте, какой ему достался.</a:t>
            </a:r>
            <a:endParaRPr lang="ru-RU" sz="2270" b="1" i="0" spc="-32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3" name="Text 123"/>
          <p:cNvSpPr txBox="1"/>
          <p:nvPr/>
        </p:nvSpPr>
        <p:spPr>
          <a:xfrm>
            <a:off x="557212" y="4690824"/>
            <a:ext cx="7936039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Никита Нагорнов · iOS, компания «Исходный код» · код, сырые данные и условия всех замеров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4" name="Picture 123" descr="final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797" y="1190625"/>
            <a:ext cx="1427778" cy="1427778"/>
          </a:xfrm>
          <a:prstGeom prst="rect">
            <a:avLst/>
          </a:prstGeom>
        </p:spPr>
      </p:pic>
      <p:pic>
        <p:nvPicPr>
          <p:cNvPr id="125" name="Picture 124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24" name="Slide Number 124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" grpId="0" animBg="1"/>
      <p:bldP spid="104" grpId="0" animBg="1"/>
      <p:bldP spid="105" grpId="0" animBg="1"/>
      <p:bldP spid="107" grpId="0" animBg="1"/>
      <p:bldP spid="108" grpId="0" animBg="1"/>
      <p:bldP spid="109" grpId="0" animBg="1"/>
      <p:bldP spid="111" grpId="0" animBg="1"/>
      <p:bldP spid="112" grpId="0" animBg="1"/>
      <p:bldP spid="113" grpId="0" animBg="1"/>
      <p:bldP spid="115" grpId="0" animBg="1"/>
      <p:bldP spid="116" grpId="0" animBg="1"/>
      <p:bldP spid="117" grpId="0" animBg="1"/>
      <p:bldP spid="119" grpId="0" animBg="1"/>
      <p:bldP spid="120" grpId="0" animBg="1"/>
      <p:bldP spid="121" grpId="0" animBg="1"/>
      <p:bldP spid="122" grpId="0" animBg="1"/>
    </p:bld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Title 101"/>
          <p:cNvSpPr txBox="1"/>
          <p:nvPr/>
        </p:nvSpPr>
        <p:spPr>
          <a:xfrm>
            <a:off x="557212" y="497964"/>
            <a:ext cx="6781800" cy="3415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BACKUP · ДЛЯ ВОПРОСОВ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2" name="Text 102"/>
          <p:cNvSpPr txBox="1"/>
          <p:nvPr/>
        </p:nvSpPr>
        <p:spPr>
          <a:xfrm>
            <a:off x="557212" y="1122363"/>
            <a:ext cx="8191119" cy="1965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97"/>
              </a:lnSpc>
              <a:spcBef>
                <a:spcPts val="0"/>
              </a:spcBef>
              <a:buNone/>
            </a:pPr>
            <a:r>
              <a:rPr lang="ru-RU" sz="1035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17 слайдов к вероятным вопросам · готовый ответ — в заметках</a:t>
            </a:r>
            <a:endParaRPr lang="ru-RU" sz="1035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21780" y="1492076"/>
            <a:ext cx="264033" cy="189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6"/>
              </a:lnSpc>
              <a:spcBef>
                <a:spcPts val="0"/>
              </a:spcBef>
              <a:buNone/>
            </a:pPr>
            <a:r>
              <a:rPr lang="ru-RU" sz="103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 lang="ru-RU" sz="103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862012" y="1492076"/>
            <a:ext cx="3638931" cy="189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46"/>
              </a:lnSpc>
              <a:spcBef>
                <a:spcPts val="0"/>
              </a:spcBef>
              <a:buNone/>
            </a:pPr>
            <a:r>
              <a:rPr lang="ru-RU" sz="103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Где мерили: паспорт условий</a:t>
            </a:r>
            <a:endParaRPr lang="ru-RU" sz="1035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521780" y="1720006"/>
            <a:ext cx="264033" cy="189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6"/>
              </a:lnSpc>
              <a:spcBef>
                <a:spcPts val="0"/>
              </a:spcBef>
              <a:buNone/>
            </a:pPr>
            <a:r>
              <a:rPr lang="ru-RU" sz="103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 lang="ru-RU" sz="103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862012" y="1720006"/>
            <a:ext cx="3638931" cy="189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46"/>
              </a:lnSpc>
              <a:spcBef>
                <a:spcPts val="0"/>
              </a:spcBef>
              <a:buNone/>
            </a:pPr>
            <a:r>
              <a:rPr lang="ru-RU" sz="103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Кто выбирает ядро: XNU, Apple, замер</a:t>
            </a:r>
            <a:endParaRPr lang="ru-RU" sz="1035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521780" y="1947937"/>
            <a:ext cx="264033" cy="189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6"/>
              </a:lnSpc>
              <a:spcBef>
                <a:spcPts val="0"/>
              </a:spcBef>
              <a:buNone/>
            </a:pPr>
            <a:r>
              <a:rPr lang="ru-RU" sz="103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3</a:t>
            </a:r>
            <a:endParaRPr lang="ru-RU" sz="103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862012" y="1947937"/>
            <a:ext cx="3638931" cy="189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46"/>
              </a:lnSpc>
              <a:spcBef>
                <a:spcPts val="0"/>
              </a:spcBef>
              <a:buNone/>
            </a:pPr>
            <a:r>
              <a:rPr lang="ru-RU" sz="103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Плотные rowid против случайных id</a:t>
            </a:r>
            <a:endParaRPr lang="ru-RU" sz="1035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521780" y="2175867"/>
            <a:ext cx="264033" cy="189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6"/>
              </a:lnSpc>
              <a:spcBef>
                <a:spcPts val="0"/>
              </a:spcBef>
              <a:buNone/>
            </a:pPr>
            <a:r>
              <a:rPr lang="ru-RU" sz="103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4</a:t>
            </a:r>
            <a:endParaRPr lang="ru-RU" sz="103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862012" y="2175867"/>
            <a:ext cx="3638931" cy="189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46"/>
              </a:lnSpc>
              <a:spcBef>
                <a:spcPts val="0"/>
              </a:spcBef>
              <a:buNone/>
            </a:pPr>
            <a:r>
              <a:rPr lang="ru-RU" sz="103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Слияние дельты: рецепт и цифры x86</a:t>
            </a:r>
            <a:endParaRPr lang="ru-RU" sz="1035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521780" y="2403797"/>
            <a:ext cx="264033" cy="189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6"/>
              </a:lnSpc>
              <a:spcBef>
                <a:spcPts val="0"/>
              </a:spcBef>
              <a:buNone/>
            </a:pPr>
            <a:r>
              <a:rPr lang="ru-RU" sz="103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r>
            <a:endParaRPr lang="ru-RU" sz="103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862012" y="2403797"/>
            <a:ext cx="3638931" cy="189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46"/>
              </a:lnSpc>
              <a:spcBef>
                <a:spcPts val="0"/>
              </a:spcBef>
              <a:buNone/>
            </a:pPr>
            <a:r>
              <a:rPr lang="ru-RU" sz="103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В вашем языке: Swift, Go, Rust, Java…</a:t>
            </a:r>
            <a:endParaRPr lang="ru-RU" sz="1035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521780" y="2631727"/>
            <a:ext cx="264033" cy="189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6"/>
              </a:lnSpc>
              <a:spcBef>
                <a:spcPts val="0"/>
              </a:spcBef>
              <a:buNone/>
            </a:pPr>
            <a:r>
              <a:rPr lang="ru-RU" sz="103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6</a:t>
            </a:r>
            <a:endParaRPr lang="ru-RU" sz="103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862012" y="2631727"/>
            <a:ext cx="3638931" cy="189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46"/>
              </a:lnSpc>
              <a:spcBef>
                <a:spcPts val="0"/>
              </a:spcBef>
              <a:buNone/>
            </a:pPr>
            <a:r>
              <a:rPr lang="ru-RU" sz="103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«Бенчмарк врал»: полная таблица 3×3</a:t>
            </a:r>
            <a:endParaRPr lang="ru-RU" sz="1035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521780" y="2859658"/>
            <a:ext cx="264033" cy="189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6"/>
              </a:lnSpc>
              <a:spcBef>
                <a:spcPts val="0"/>
              </a:spcBef>
              <a:buNone/>
            </a:pPr>
            <a:r>
              <a:rPr lang="ru-RU" sz="103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7</a:t>
            </a:r>
            <a:endParaRPr lang="ru-RU" sz="103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862012" y="2859658"/>
            <a:ext cx="3638931" cy="189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46"/>
              </a:lnSpc>
              <a:spcBef>
                <a:spcPts val="0"/>
              </a:spcBef>
              <a:buNone/>
            </a:pPr>
            <a:r>
              <a:rPr lang="ru-RU" sz="103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Приоритет background: ещё дороже</a:t>
            </a:r>
            <a:endParaRPr lang="ru-RU" sz="1035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521780" y="3087588"/>
            <a:ext cx="264033" cy="189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6"/>
              </a:lnSpc>
              <a:spcBef>
                <a:spcPts val="0"/>
              </a:spcBef>
              <a:buNone/>
            </a:pPr>
            <a:r>
              <a:rPr lang="ru-RU" sz="103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8</a:t>
            </a:r>
            <a:endParaRPr lang="ru-RU" sz="103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862012" y="3087588"/>
            <a:ext cx="3638931" cy="189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46"/>
              </a:lnSpc>
              <a:spcBef>
                <a:spcPts val="0"/>
              </a:spcBef>
              <a:buNone/>
            </a:pPr>
            <a:r>
              <a:rPr lang="ru-RU" sz="103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Точка перехода на четырёх системах</a:t>
            </a:r>
            <a:endParaRPr lang="ru-RU" sz="1035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9" name="Text 119"/>
          <p:cNvSpPr txBox="1"/>
          <p:nvPr/>
        </p:nvSpPr>
        <p:spPr>
          <a:xfrm>
            <a:off x="521780" y="3315518"/>
            <a:ext cx="264033" cy="189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6"/>
              </a:lnSpc>
              <a:spcBef>
                <a:spcPts val="0"/>
              </a:spcBef>
              <a:buNone/>
            </a:pPr>
            <a:r>
              <a:rPr lang="ru-RU" sz="103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9</a:t>
            </a:r>
            <a:endParaRPr lang="ru-RU" sz="103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862012" y="3315518"/>
            <a:ext cx="3638931" cy="189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46"/>
              </a:lnSpc>
              <a:spcBef>
                <a:spcPts val="0"/>
              </a:spcBef>
              <a:buNone/>
            </a:pPr>
            <a:r>
              <a:rPr lang="ru-RU" sz="103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Дрейф под нагрузкой</a:t>
            </a:r>
            <a:endParaRPr lang="ru-RU" sz="1035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1" name="Text 121"/>
          <p:cNvSpPr txBox="1"/>
          <p:nvPr/>
        </p:nvSpPr>
        <p:spPr>
          <a:xfrm>
            <a:off x="4636580" y="1492076"/>
            <a:ext cx="264033" cy="189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6"/>
              </a:lnSpc>
              <a:spcBef>
                <a:spcPts val="0"/>
              </a:spcBef>
              <a:buNone/>
            </a:pPr>
            <a:r>
              <a:rPr lang="ru-RU" sz="103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10</a:t>
            </a:r>
            <a:endParaRPr lang="ru-RU" sz="103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4976812" y="1492076"/>
            <a:ext cx="3638931" cy="189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46"/>
              </a:lnSpc>
              <a:spcBef>
                <a:spcPts val="0"/>
              </a:spcBef>
              <a:buNone/>
            </a:pPr>
            <a:r>
              <a:rPr lang="ru-RU" sz="103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libstdc++ против libc++</a:t>
            </a:r>
            <a:endParaRPr lang="ru-RU" sz="1035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3" name="Text 123"/>
          <p:cNvSpPr txBox="1"/>
          <p:nvPr/>
        </p:nvSpPr>
        <p:spPr>
          <a:xfrm>
            <a:off x="4636580" y="1720006"/>
            <a:ext cx="264033" cy="189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6"/>
              </a:lnSpc>
              <a:spcBef>
                <a:spcPts val="0"/>
              </a:spcBef>
              <a:buNone/>
            </a:pPr>
            <a:r>
              <a:rPr lang="ru-RU" sz="103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11</a:t>
            </a:r>
            <a:endParaRPr lang="ru-RU" sz="103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4" name="Text 124"/>
          <p:cNvSpPr txBox="1"/>
          <p:nvPr/>
        </p:nvSpPr>
        <p:spPr>
          <a:xfrm>
            <a:off x="4976812" y="1720006"/>
            <a:ext cx="3638931" cy="189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46"/>
              </a:lnSpc>
              <a:spcBef>
                <a:spcPts val="0"/>
              </a:spcBef>
              <a:buNone/>
            </a:pPr>
            <a:r>
              <a:rPr lang="ru-RU" sz="103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Рабочий набор хеша против кэша</a:t>
            </a:r>
            <a:endParaRPr lang="ru-RU" sz="1035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5" name="Text 125"/>
          <p:cNvSpPr txBox="1"/>
          <p:nvPr/>
        </p:nvSpPr>
        <p:spPr>
          <a:xfrm>
            <a:off x="4636580" y="1947937"/>
            <a:ext cx="264033" cy="189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6"/>
              </a:lnSpc>
              <a:spcBef>
                <a:spcPts val="0"/>
              </a:spcBef>
              <a:buNone/>
            </a:pPr>
            <a:r>
              <a:rPr lang="ru-RU" sz="103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12</a:t>
            </a:r>
            <a:endParaRPr lang="ru-RU" sz="103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6" name="Text 126"/>
          <p:cNvSpPr txBox="1"/>
          <p:nvPr/>
        </p:nvSpPr>
        <p:spPr>
          <a:xfrm>
            <a:off x="4976812" y="1947937"/>
            <a:ext cx="3638931" cy="189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46"/>
              </a:lnSpc>
              <a:spcBef>
                <a:spcPts val="0"/>
              </a:spcBef>
              <a:buNone/>
            </a:pPr>
            <a:r>
              <a:rPr lang="ru-RU" sz="103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sort + unique за минуту</a:t>
            </a:r>
            <a:endParaRPr lang="ru-RU" sz="1035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7" name="Text 127"/>
          <p:cNvSpPr txBox="1"/>
          <p:nvPr/>
        </p:nvSpPr>
        <p:spPr>
          <a:xfrm>
            <a:off x="4636580" y="2175867"/>
            <a:ext cx="264033" cy="189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6"/>
              </a:lnSpc>
              <a:spcBef>
                <a:spcPts val="0"/>
              </a:spcBef>
              <a:buNone/>
            </a:pPr>
            <a:r>
              <a:rPr lang="ru-RU" sz="103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13</a:t>
            </a:r>
            <a:endParaRPr lang="ru-RU" sz="103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8" name="Text 128"/>
          <p:cNvSpPr txBox="1"/>
          <p:nvPr/>
        </p:nvSpPr>
        <p:spPr>
          <a:xfrm>
            <a:off x="4976812" y="2175867"/>
            <a:ext cx="3638931" cy="189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46"/>
              </a:lnSpc>
              <a:spcBef>
                <a:spcPts val="0"/>
              </a:spcBef>
              <a:buNone/>
            </a:pPr>
            <a:r>
              <a:rPr lang="ru-RU" sz="103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Узловая хеш-таблица и std::hash</a:t>
            </a:r>
            <a:endParaRPr lang="ru-RU" sz="1035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9" name="Text 129"/>
          <p:cNvSpPr txBox="1"/>
          <p:nvPr/>
        </p:nvSpPr>
        <p:spPr>
          <a:xfrm>
            <a:off x="4636580" y="2403797"/>
            <a:ext cx="264033" cy="189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6"/>
              </a:lnSpc>
              <a:spcBef>
                <a:spcPts val="0"/>
              </a:spcBef>
              <a:buNone/>
            </a:pPr>
            <a:r>
              <a:rPr lang="ru-RU" sz="103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14</a:t>
            </a:r>
            <a:endParaRPr lang="ru-RU" sz="103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0" name="Text 130"/>
          <p:cNvSpPr txBox="1"/>
          <p:nvPr/>
        </p:nvSpPr>
        <p:spPr>
          <a:xfrm>
            <a:off x="4976812" y="2403797"/>
            <a:ext cx="3638931" cy="189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46"/>
              </a:lnSpc>
              <a:spcBef>
                <a:spcPts val="0"/>
              </a:spcBef>
              <a:buNone/>
            </a:pPr>
            <a:r>
              <a:rPr lang="ru-RU" sz="103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Radix sort за минуту</a:t>
            </a:r>
            <a:endParaRPr lang="ru-RU" sz="1035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1" name="Text 131"/>
          <p:cNvSpPr txBox="1"/>
          <p:nvPr/>
        </p:nvSpPr>
        <p:spPr>
          <a:xfrm>
            <a:off x="4636580" y="2631727"/>
            <a:ext cx="264033" cy="189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6"/>
              </a:lnSpc>
              <a:spcBef>
                <a:spcPts val="0"/>
              </a:spcBef>
              <a:buNone/>
            </a:pPr>
            <a:r>
              <a:rPr lang="ru-RU" sz="103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15</a:t>
            </a:r>
            <a:endParaRPr lang="ru-RU" sz="103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2" name="Text 132"/>
          <p:cNvSpPr txBox="1"/>
          <p:nvPr/>
        </p:nvSpPr>
        <p:spPr>
          <a:xfrm>
            <a:off x="4976812" y="2631727"/>
            <a:ext cx="3638931" cy="189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46"/>
              </a:lnSpc>
              <a:spcBef>
                <a:spcPts val="0"/>
              </a:spcBef>
              <a:buNone/>
            </a:pPr>
            <a:r>
              <a:rPr lang="ru-RU" sz="103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reserve(N): скорость ценой памяти</a:t>
            </a:r>
            <a:endParaRPr lang="ru-RU" sz="1035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3" name="Text 133"/>
          <p:cNvSpPr txBox="1"/>
          <p:nvPr/>
        </p:nvSpPr>
        <p:spPr>
          <a:xfrm>
            <a:off x="4636580" y="2859658"/>
            <a:ext cx="264033" cy="189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6"/>
              </a:lnSpc>
              <a:spcBef>
                <a:spcPts val="0"/>
              </a:spcBef>
              <a:buNone/>
            </a:pPr>
            <a:r>
              <a:rPr lang="ru-RU" sz="103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16</a:t>
            </a:r>
            <a:endParaRPr lang="ru-RU" sz="103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4" name="Text 134"/>
          <p:cNvSpPr txBox="1"/>
          <p:nvPr/>
        </p:nvSpPr>
        <p:spPr>
          <a:xfrm>
            <a:off x="4976812" y="2859658"/>
            <a:ext cx="3638931" cy="189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46"/>
              </a:lnSpc>
              <a:spcBef>
                <a:spcPts val="0"/>
              </a:spcBef>
              <a:buNone/>
            </a:pPr>
            <a:r>
              <a:rPr lang="ru-RU" sz="103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Честный замер: восемь проверок</a:t>
            </a:r>
            <a:endParaRPr lang="ru-RU" sz="1035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5" name="Text 135"/>
          <p:cNvSpPr txBox="1"/>
          <p:nvPr/>
        </p:nvSpPr>
        <p:spPr>
          <a:xfrm>
            <a:off x="4636580" y="3087588"/>
            <a:ext cx="264033" cy="189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6"/>
              </a:lnSpc>
              <a:spcBef>
                <a:spcPts val="0"/>
              </a:spcBef>
              <a:buNone/>
            </a:pPr>
            <a:r>
              <a:rPr lang="ru-RU" sz="1035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17</a:t>
            </a:r>
            <a:endParaRPr lang="ru-RU" sz="1035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6" name="Text 136"/>
          <p:cNvSpPr txBox="1"/>
          <p:nvPr/>
        </p:nvSpPr>
        <p:spPr>
          <a:xfrm>
            <a:off x="4976812" y="3087588"/>
            <a:ext cx="3638931" cy="189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46"/>
              </a:lnSpc>
              <a:spcBef>
                <a:spcPts val="0"/>
              </a:spcBef>
              <a:buNone/>
            </a:pPr>
            <a:r>
              <a:rPr lang="ru-RU" sz="103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Из чего складывается работа</a:t>
            </a:r>
            <a:endParaRPr lang="ru-RU" sz="1035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7" name="Text 137"/>
          <p:cNvSpPr txBox="1"/>
          <p:nvPr/>
        </p:nvSpPr>
        <p:spPr>
          <a:xfrm>
            <a:off x="557212" y="4690824"/>
            <a:ext cx="7936039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Сырые данные, харнесс и условия замеров — github.com/Neoron95/conference-hardfest-algorithms · архив (скрыт): twoways, bigo, questions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38" name="Picture 13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38" name="Slide Number 138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ГДЕ МЕРИЛИ: У КАЖДОЙ МАШИНЫ СВОИ ЯДРА И КЭШИ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Line 103"/>
          <p:cNvSpPr/>
          <p:nvPr/>
        </p:nvSpPr>
        <p:spPr>
          <a:xfrm>
            <a:off x="557212" y="1586553"/>
            <a:ext cx="1057275" cy="48"/>
          </a:xfrm>
          <a:custGeom>
            <a:avLst/>
            <a:gdLst/>
            <a:ahLst/>
            <a:cxnLst/>
            <a:rect l="0" t="0" r="r" b="b"/>
            <a:pathLst>
              <a:path w="1057275" h="1" fill="none">
                <a:moveTo>
                  <a:pt x="0" y="0"/>
                </a:moveTo>
                <a:lnTo>
                  <a:pt x="1057275" y="0"/>
                </a:lnTo>
              </a:path>
            </a:pathLst>
          </a:custGeom>
          <a:noFill/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614362" y="1386289"/>
            <a:ext cx="990600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Условие</a:t>
            </a:r>
            <a:endParaRPr lang="ru-RU" sz="828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Line 105"/>
          <p:cNvSpPr/>
          <p:nvPr/>
        </p:nvSpPr>
        <p:spPr>
          <a:xfrm>
            <a:off x="1614488" y="1586553"/>
            <a:ext cx="2028825" cy="48"/>
          </a:xfrm>
          <a:custGeom>
            <a:avLst/>
            <a:gdLst/>
            <a:ahLst/>
            <a:cxnLst/>
            <a:rect l="0" t="0" r="r" b="b"/>
            <a:pathLst>
              <a:path w="2028825" h="1" fill="none">
                <a:moveTo>
                  <a:pt x="0" y="0"/>
                </a:moveTo>
                <a:lnTo>
                  <a:pt x="2028825" y="0"/>
                </a:lnTo>
              </a:path>
            </a:pathLst>
          </a:custGeom>
          <a:noFill/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1671638" y="1386289"/>
            <a:ext cx="1962150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iPhone</a:t>
            </a:r>
            <a:endParaRPr lang="ru-RU" sz="828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7" name="Line 107"/>
          <p:cNvSpPr/>
          <p:nvPr/>
        </p:nvSpPr>
        <p:spPr>
          <a:xfrm>
            <a:off x="3643312" y="1586553"/>
            <a:ext cx="1952625" cy="48"/>
          </a:xfrm>
          <a:custGeom>
            <a:avLst/>
            <a:gdLst/>
            <a:ahLst/>
            <a:cxnLst/>
            <a:rect l="0" t="0" r="r" b="b"/>
            <a:pathLst>
              <a:path w="1952625" h="1" fill="none">
                <a:moveTo>
                  <a:pt x="0" y="0"/>
                </a:moveTo>
                <a:lnTo>
                  <a:pt x="1952625" y="0"/>
                </a:lnTo>
              </a:path>
            </a:pathLst>
          </a:custGeom>
          <a:noFill/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3700462" y="1386289"/>
            <a:ext cx="1885950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Mac</a:t>
            </a:r>
            <a:endParaRPr lang="ru-RU" sz="828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9" name="Line 109"/>
          <p:cNvSpPr/>
          <p:nvPr/>
        </p:nvSpPr>
        <p:spPr>
          <a:xfrm>
            <a:off x="5595938" y="1586553"/>
            <a:ext cx="1333500" cy="48"/>
          </a:xfrm>
          <a:custGeom>
            <a:avLst/>
            <a:gdLst/>
            <a:ahLst/>
            <a:cxnLst/>
            <a:rect l="0" t="0" r="r" b="b"/>
            <a:pathLst>
              <a:path w="1333500" h="1" fill="none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/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5653088" y="1386289"/>
            <a:ext cx="1266825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x86</a:t>
            </a:r>
            <a:endParaRPr lang="ru-RU" sz="828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1" name="Line 111"/>
          <p:cNvSpPr/>
          <p:nvPr/>
        </p:nvSpPr>
        <p:spPr>
          <a:xfrm>
            <a:off x="6929438" y="1586553"/>
            <a:ext cx="1552575" cy="48"/>
          </a:xfrm>
          <a:custGeom>
            <a:avLst/>
            <a:gdLst/>
            <a:ahLst/>
            <a:cxnLst/>
            <a:rect l="0" t="0" r="r" b="b"/>
            <a:pathLst>
              <a:path w="1552575" h="1" fill="none">
                <a:moveTo>
                  <a:pt x="0" y="0"/>
                </a:moveTo>
                <a:lnTo>
                  <a:pt x="1552575" y="0"/>
                </a:lnTo>
              </a:path>
            </a:pathLst>
          </a:custGeom>
          <a:noFill/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6986588" y="1386289"/>
            <a:ext cx="1485900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Раннер GitHub, macOS</a:t>
            </a:r>
            <a:endParaRPr lang="ru-RU" sz="828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3" name="Line 113"/>
          <p:cNvSpPr/>
          <p:nvPr/>
        </p:nvSpPr>
        <p:spPr>
          <a:xfrm>
            <a:off x="557212" y="1962195"/>
            <a:ext cx="1057275" cy="48"/>
          </a:xfrm>
          <a:custGeom>
            <a:avLst/>
            <a:gdLst/>
            <a:ahLst/>
            <a:cxnLst/>
            <a:rect l="0" t="0" r="r" b="b"/>
            <a:pathLst>
              <a:path w="1057275" h="1" fill="none">
                <a:moveTo>
                  <a:pt x="0" y="0"/>
                </a:moveTo>
                <a:lnTo>
                  <a:pt x="105727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614362" y="1627688"/>
            <a:ext cx="990600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Устройство</a:t>
            </a:r>
            <a:endParaRPr lang="ru-RU" sz="828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5" name="Line 115"/>
          <p:cNvSpPr/>
          <p:nvPr/>
        </p:nvSpPr>
        <p:spPr>
          <a:xfrm>
            <a:off x="1614488" y="1962195"/>
            <a:ext cx="2028825" cy="48"/>
          </a:xfrm>
          <a:custGeom>
            <a:avLst/>
            <a:gdLst/>
            <a:ahLst/>
            <a:cxnLst/>
            <a:rect l="0" t="0" r="r" b="b"/>
            <a:pathLst>
              <a:path w="2028825" h="1" fill="none">
                <a:moveTo>
                  <a:pt x="0" y="0"/>
                </a:moveTo>
                <a:lnTo>
                  <a:pt x="202882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1671638" y="1632695"/>
            <a:ext cx="1962150" cy="15278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53"/>
              </a:lnSpc>
              <a:spcBef>
                <a:spcPts val="0"/>
              </a:spcBef>
              <a:buNone/>
            </a:pPr>
            <a:r>
              <a:rPr lang="ru-RU" sz="810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[модель iPhone]</a:t>
            </a:r>
            <a:r>
              <a:rPr lang="ru-RU" sz="81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(</a:t>
            </a:r>
            <a:r>
              <a:rPr lang="ru-RU" sz="810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[hw.machine, чип]</a:t>
            </a:r>
            <a:r>
              <a:rPr lang="ru-RU" sz="810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 lang="ru-RU" sz="810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7" name="Line 117"/>
          <p:cNvSpPr/>
          <p:nvPr/>
        </p:nvSpPr>
        <p:spPr>
          <a:xfrm>
            <a:off x="3643312" y="1962195"/>
            <a:ext cx="1952625" cy="48"/>
          </a:xfrm>
          <a:custGeom>
            <a:avLst/>
            <a:gdLst/>
            <a:ahLst/>
            <a:cxnLst/>
            <a:rect l="0" t="0" r="r" b="b"/>
            <a:pathLst>
              <a:path w="1952625" h="1" fill="none">
                <a:moveTo>
                  <a:pt x="0" y="0"/>
                </a:moveTo>
                <a:lnTo>
                  <a:pt x="195262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3700462" y="1627688"/>
            <a:ext cx="1885950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MacBook Pro, M2 Pro </a:t>
            </a:r>
            <a:r>
              <a:rPr lang="ru-RU" sz="828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[сверить: 8P + 4E или 6P + 4E]</a:t>
            </a:r>
            <a:endParaRPr lang="ru-RU" sz="828" b="0" i="0" dirty="0">
              <a:solidFill>
                <a:srgbClr val="F2C14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9" name="Line 119"/>
          <p:cNvSpPr/>
          <p:nvPr/>
        </p:nvSpPr>
        <p:spPr>
          <a:xfrm>
            <a:off x="5595938" y="1962195"/>
            <a:ext cx="1333500" cy="48"/>
          </a:xfrm>
          <a:custGeom>
            <a:avLst/>
            <a:gdLst/>
            <a:ahLst/>
            <a:cxnLst/>
            <a:rect l="0" t="0" r="r" b="b"/>
            <a:pathLst>
              <a:path w="1333500" h="1" fill="none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5653088" y="1627688"/>
            <a:ext cx="1266825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Intel Xeon 2,1 ГГц, VM</a:t>
            </a:r>
            <a:endParaRPr lang="ru-RU" sz="82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1" name="Line 121"/>
          <p:cNvSpPr/>
          <p:nvPr/>
        </p:nvSpPr>
        <p:spPr>
          <a:xfrm>
            <a:off x="6929438" y="1962195"/>
            <a:ext cx="1552575" cy="48"/>
          </a:xfrm>
          <a:custGeom>
            <a:avLst/>
            <a:gdLst/>
            <a:ahLst/>
            <a:cxnLst/>
            <a:rect l="0" t="0" r="r" b="b"/>
            <a:pathLst>
              <a:path w="1552575" h="1" fill="none">
                <a:moveTo>
                  <a:pt x="0" y="0"/>
                </a:moveTo>
                <a:lnTo>
                  <a:pt x="155257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6986588" y="1627688"/>
            <a:ext cx="1485900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«Apple M1 (Virtual)», 3 vCPU; xlarge — M2, 5 vCPU</a:t>
            </a:r>
            <a:endParaRPr lang="ru-RU" sz="828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3" name="Line 123"/>
          <p:cNvSpPr/>
          <p:nvPr/>
        </p:nvSpPr>
        <p:spPr>
          <a:xfrm>
            <a:off x="557212" y="2472080"/>
            <a:ext cx="1057275" cy="48"/>
          </a:xfrm>
          <a:custGeom>
            <a:avLst/>
            <a:gdLst/>
            <a:ahLst/>
            <a:cxnLst/>
            <a:rect l="0" t="0" r="r" b="b"/>
            <a:pathLst>
              <a:path w="1057275" h="1" fill="none">
                <a:moveTo>
                  <a:pt x="0" y="0"/>
                </a:moveTo>
                <a:lnTo>
                  <a:pt x="105727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24" name="Text 124"/>
          <p:cNvSpPr txBox="1"/>
          <p:nvPr/>
        </p:nvSpPr>
        <p:spPr>
          <a:xfrm>
            <a:off x="614362" y="2000949"/>
            <a:ext cx="990600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Ядра и кэши (sysctl)</a:t>
            </a:r>
            <a:endParaRPr lang="ru-RU" sz="828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5" name="Line 125"/>
          <p:cNvSpPr/>
          <p:nvPr/>
        </p:nvSpPr>
        <p:spPr>
          <a:xfrm>
            <a:off x="1614488" y="2472080"/>
            <a:ext cx="2028825" cy="48"/>
          </a:xfrm>
          <a:custGeom>
            <a:avLst/>
            <a:gdLst/>
            <a:ahLst/>
            <a:cxnLst/>
            <a:rect l="0" t="0" r="r" b="b"/>
            <a:pathLst>
              <a:path w="2028825" h="1" fill="none">
                <a:moveTo>
                  <a:pt x="0" y="0"/>
                </a:moveTo>
                <a:lnTo>
                  <a:pt x="202882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26" name="Text 126"/>
          <p:cNvSpPr txBox="1"/>
          <p:nvPr/>
        </p:nvSpPr>
        <p:spPr>
          <a:xfrm>
            <a:off x="1671638" y="2000949"/>
            <a:ext cx="1962150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[L1/L2 P- и E-ядер iPhone из sysctl]</a:t>
            </a:r>
            <a:endParaRPr lang="ru-RU" sz="828" b="0" i="0" dirty="0">
              <a:solidFill>
                <a:srgbClr val="F2C14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7" name="Line 127"/>
          <p:cNvSpPr/>
          <p:nvPr/>
        </p:nvSpPr>
        <p:spPr>
          <a:xfrm>
            <a:off x="3643312" y="2472080"/>
            <a:ext cx="1952625" cy="48"/>
          </a:xfrm>
          <a:custGeom>
            <a:avLst/>
            <a:gdLst/>
            <a:ahLst/>
            <a:cxnLst/>
            <a:rect l="0" t="0" r="r" b="b"/>
            <a:pathLst>
              <a:path w="1952625" h="1" fill="none">
                <a:moveTo>
                  <a:pt x="0" y="0"/>
                </a:moveTo>
                <a:lnTo>
                  <a:pt x="195262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28" name="Text 128"/>
          <p:cNvSpPr txBox="1"/>
          <p:nvPr/>
        </p:nvSpPr>
        <p:spPr>
          <a:xfrm>
            <a:off x="3700462" y="2000949"/>
            <a:ext cx="1885950" cy="4291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P: L1D 128 КиБ · L2 16 МиБ</a:t>
            </a:r>
            <a:b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E: L1D 64 КиБ · L2 4 МиБ</a:t>
            </a:r>
            <a:b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строка кэша 128 Б</a:t>
            </a:r>
            <a:endParaRPr lang="ru-RU" sz="82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9" name="Line 129"/>
          <p:cNvSpPr/>
          <p:nvPr/>
        </p:nvSpPr>
        <p:spPr>
          <a:xfrm>
            <a:off x="5595938" y="2472080"/>
            <a:ext cx="1333500" cy="48"/>
          </a:xfrm>
          <a:custGeom>
            <a:avLst/>
            <a:gdLst/>
            <a:ahLst/>
            <a:cxnLst/>
            <a:rect l="0" t="0" r="r" b="b"/>
            <a:pathLst>
              <a:path w="1333500" h="1" fill="none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30" name="Text 130"/>
          <p:cNvSpPr txBox="1"/>
          <p:nvPr/>
        </p:nvSpPr>
        <p:spPr>
          <a:xfrm>
            <a:off x="5653088" y="2000949"/>
            <a:ext cx="1266825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[L3 из lscpu]</a:t>
            </a:r>
            <a:endParaRPr lang="ru-RU" sz="828" b="0" i="0" dirty="0">
              <a:solidFill>
                <a:srgbClr val="F2C14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1" name="Line 131"/>
          <p:cNvSpPr/>
          <p:nvPr/>
        </p:nvSpPr>
        <p:spPr>
          <a:xfrm>
            <a:off x="6929438" y="2472080"/>
            <a:ext cx="1552575" cy="48"/>
          </a:xfrm>
          <a:custGeom>
            <a:avLst/>
            <a:gdLst/>
            <a:ahLst/>
            <a:cxnLst/>
            <a:rect l="0" t="0" r="r" b="b"/>
            <a:pathLst>
              <a:path w="1552575" h="1" fill="none">
                <a:moveTo>
                  <a:pt x="0" y="0"/>
                </a:moveTo>
                <a:lnTo>
                  <a:pt x="155257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32" name="Text 132"/>
          <p:cNvSpPr txBox="1"/>
          <p:nvPr/>
        </p:nvSpPr>
        <p:spPr>
          <a:xfrm>
            <a:off x="6986588" y="2000949"/>
            <a:ext cx="1485900" cy="4291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hw.nperflevels = 1</a:t>
            </a:r>
            <a:br>
              <a:rPr lang="ru-RU" sz="828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-RU" sz="828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«Standard»: L1D 128 КиБ, L2 12 МиБ</a:t>
            </a:r>
            <a:endParaRPr lang="ru-RU" sz="828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3" name="Line 133"/>
          <p:cNvSpPr/>
          <p:nvPr/>
        </p:nvSpPr>
        <p:spPr>
          <a:xfrm>
            <a:off x="557212" y="2845341"/>
            <a:ext cx="1057275" cy="48"/>
          </a:xfrm>
          <a:custGeom>
            <a:avLst/>
            <a:gdLst/>
            <a:ahLst/>
            <a:cxnLst/>
            <a:rect l="0" t="0" r="r" b="b"/>
            <a:pathLst>
              <a:path w="1057275" h="1" fill="none">
                <a:moveTo>
                  <a:pt x="0" y="0"/>
                </a:moveTo>
                <a:lnTo>
                  <a:pt x="105727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34" name="Text 134"/>
          <p:cNvSpPr txBox="1"/>
          <p:nvPr/>
        </p:nvSpPr>
        <p:spPr>
          <a:xfrm>
            <a:off x="614362" y="2510834"/>
            <a:ext cx="990600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Планировщик</a:t>
            </a:r>
            <a:endParaRPr lang="ru-RU" sz="828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35" name="Line 135"/>
          <p:cNvSpPr/>
          <p:nvPr/>
        </p:nvSpPr>
        <p:spPr>
          <a:xfrm>
            <a:off x="1614488" y="2845341"/>
            <a:ext cx="2028825" cy="48"/>
          </a:xfrm>
          <a:custGeom>
            <a:avLst/>
            <a:gdLst/>
            <a:ahLst/>
            <a:cxnLst/>
            <a:rect l="0" t="0" r="r" b="b"/>
            <a:pathLst>
              <a:path w="2028825" h="1" fill="none">
                <a:moveTo>
                  <a:pt x="0" y="0"/>
                </a:moveTo>
                <a:lnTo>
                  <a:pt x="202882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36" name="Text 136"/>
          <p:cNvSpPr txBox="1"/>
          <p:nvPr/>
        </p:nvSpPr>
        <p:spPr>
          <a:xfrm>
            <a:off x="1671638" y="2510834"/>
            <a:ext cx="1962150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kern.sched = </a:t>
            </a:r>
            <a:r>
              <a:rPr lang="ru-RU" sz="828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[снять на iPhone]</a:t>
            </a:r>
            <a:endParaRPr lang="ru-RU" sz="828" b="0" i="0" dirty="0">
              <a:solidFill>
                <a:srgbClr val="F2C14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7" name="Line 137"/>
          <p:cNvSpPr/>
          <p:nvPr/>
        </p:nvSpPr>
        <p:spPr>
          <a:xfrm>
            <a:off x="3643312" y="2845341"/>
            <a:ext cx="1952625" cy="48"/>
          </a:xfrm>
          <a:custGeom>
            <a:avLst/>
            <a:gdLst/>
            <a:ahLst/>
            <a:cxnLst/>
            <a:rect l="0" t="0" r="r" b="b"/>
            <a:pathLst>
              <a:path w="1952625" h="1" fill="none">
                <a:moveTo>
                  <a:pt x="0" y="0"/>
                </a:moveTo>
                <a:lnTo>
                  <a:pt x="195262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38" name="Text 138"/>
          <p:cNvSpPr txBox="1"/>
          <p:nvPr/>
        </p:nvSpPr>
        <p:spPr>
          <a:xfrm>
            <a:off x="3700462" y="2510834"/>
            <a:ext cx="1885950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kern.sched = edge</a:t>
            </a:r>
            <a:endParaRPr lang="ru-RU" sz="82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9" name="Line 139"/>
          <p:cNvSpPr/>
          <p:nvPr/>
        </p:nvSpPr>
        <p:spPr>
          <a:xfrm>
            <a:off x="5595938" y="2845341"/>
            <a:ext cx="1333500" cy="48"/>
          </a:xfrm>
          <a:custGeom>
            <a:avLst/>
            <a:gdLst/>
            <a:ahLst/>
            <a:cxnLst/>
            <a:rect l="0" t="0" r="r" b="b"/>
            <a:pathLst>
              <a:path w="1333500" h="1" fill="none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40" name="Text 140"/>
          <p:cNvSpPr txBox="1"/>
          <p:nvPr/>
        </p:nvSpPr>
        <p:spPr>
          <a:xfrm>
            <a:off x="5653088" y="2510834"/>
            <a:ext cx="1266825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Linux, все vCPU одного типа</a:t>
            </a:r>
            <a:endParaRPr lang="ru-RU" sz="82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41" name="Line 141"/>
          <p:cNvSpPr/>
          <p:nvPr/>
        </p:nvSpPr>
        <p:spPr>
          <a:xfrm>
            <a:off x="6929438" y="2845341"/>
            <a:ext cx="1552575" cy="48"/>
          </a:xfrm>
          <a:custGeom>
            <a:avLst/>
            <a:gdLst/>
            <a:ahLst/>
            <a:cxnLst/>
            <a:rect l="0" t="0" r="r" b="b"/>
            <a:pathLst>
              <a:path w="1552575" h="1" fill="none">
                <a:moveTo>
                  <a:pt x="0" y="0"/>
                </a:moveTo>
                <a:lnTo>
                  <a:pt x="155257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42" name="Text 142"/>
          <p:cNvSpPr txBox="1"/>
          <p:nvPr/>
        </p:nvSpPr>
        <p:spPr>
          <a:xfrm>
            <a:off x="6986588" y="2510834"/>
            <a:ext cx="1485900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симметричный: в VM нет AMP</a:t>
            </a:r>
            <a:endParaRPr lang="ru-RU" sz="828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43" name="Line 143"/>
          <p:cNvSpPr/>
          <p:nvPr/>
        </p:nvSpPr>
        <p:spPr>
          <a:xfrm>
            <a:off x="557212" y="3355226"/>
            <a:ext cx="1057275" cy="48"/>
          </a:xfrm>
          <a:custGeom>
            <a:avLst/>
            <a:gdLst/>
            <a:ahLst/>
            <a:cxnLst/>
            <a:rect l="0" t="0" r="r" b="b"/>
            <a:pathLst>
              <a:path w="1057275" h="1" fill="none">
                <a:moveTo>
                  <a:pt x="0" y="0"/>
                </a:moveTo>
                <a:lnTo>
                  <a:pt x="105727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44" name="Text 144"/>
          <p:cNvSpPr txBox="1"/>
          <p:nvPr/>
        </p:nvSpPr>
        <p:spPr>
          <a:xfrm>
            <a:off x="614362" y="2884095"/>
            <a:ext cx="990600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ОС и сборка</a:t>
            </a:r>
            <a:endParaRPr lang="ru-RU" sz="828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45" name="Line 145"/>
          <p:cNvSpPr/>
          <p:nvPr/>
        </p:nvSpPr>
        <p:spPr>
          <a:xfrm>
            <a:off x="1614488" y="3355226"/>
            <a:ext cx="2028825" cy="48"/>
          </a:xfrm>
          <a:custGeom>
            <a:avLst/>
            <a:gdLst/>
            <a:ahLst/>
            <a:cxnLst/>
            <a:rect l="0" t="0" r="r" b="b"/>
            <a:pathLst>
              <a:path w="2028825" h="1" fill="none">
                <a:moveTo>
                  <a:pt x="0" y="0"/>
                </a:moveTo>
                <a:lnTo>
                  <a:pt x="202882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46" name="Text 146"/>
          <p:cNvSpPr txBox="1"/>
          <p:nvPr/>
        </p:nvSpPr>
        <p:spPr>
          <a:xfrm>
            <a:off x="1671638" y="2884095"/>
            <a:ext cx="1962150" cy="4291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iOS </a:t>
            </a:r>
            <a:r>
              <a:rPr lang="ru-RU" sz="828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[27.0.x]</a:t>
            </a: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· Xcode 27.0 / Apple clang 21.0.0 · </a:t>
            </a:r>
            <a:r>
              <a:rPr lang="ru-RU" sz="828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[флаги сборки DedupBench]</a:t>
            </a:r>
            <a:endParaRPr lang="ru-RU" sz="828" b="0" i="0" dirty="0">
              <a:solidFill>
                <a:srgbClr val="F2C14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47" name="Line 147"/>
          <p:cNvSpPr/>
          <p:nvPr/>
        </p:nvSpPr>
        <p:spPr>
          <a:xfrm>
            <a:off x="3643312" y="3355226"/>
            <a:ext cx="1952625" cy="48"/>
          </a:xfrm>
          <a:custGeom>
            <a:avLst/>
            <a:gdLst/>
            <a:ahLst/>
            <a:cxnLst/>
            <a:rect l="0" t="0" r="r" b="b"/>
            <a:pathLst>
              <a:path w="1952625" h="1" fill="none">
                <a:moveTo>
                  <a:pt x="0" y="0"/>
                </a:moveTo>
                <a:lnTo>
                  <a:pt x="195262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48" name="Text 148"/>
          <p:cNvSpPr txBox="1"/>
          <p:nvPr/>
        </p:nvSpPr>
        <p:spPr>
          <a:xfrm>
            <a:off x="3700462" y="2884095"/>
            <a:ext cx="1885950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macOS 27 · Xcode 27.0 / Apple clang 21.0.0 · -O3</a:t>
            </a:r>
            <a:endParaRPr lang="ru-RU" sz="82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49" name="Line 149"/>
          <p:cNvSpPr/>
          <p:nvPr/>
        </p:nvSpPr>
        <p:spPr>
          <a:xfrm>
            <a:off x="5595938" y="3355226"/>
            <a:ext cx="1333500" cy="48"/>
          </a:xfrm>
          <a:custGeom>
            <a:avLst/>
            <a:gdLst/>
            <a:ahLst/>
            <a:cxnLst/>
            <a:rect l="0" t="0" r="r" b="b"/>
            <a:pathLst>
              <a:path w="1333500" h="1" fill="none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50" name="Text 150"/>
          <p:cNvSpPr txBox="1"/>
          <p:nvPr/>
        </p:nvSpPr>
        <p:spPr>
          <a:xfrm>
            <a:off x="5653088" y="2884095"/>
            <a:ext cx="1266825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Linux · GCC 13 / libstdc++</a:t>
            </a:r>
            <a:endParaRPr lang="ru-RU" sz="82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1" name="Line 151"/>
          <p:cNvSpPr/>
          <p:nvPr/>
        </p:nvSpPr>
        <p:spPr>
          <a:xfrm>
            <a:off x="6929438" y="3355226"/>
            <a:ext cx="1552575" cy="48"/>
          </a:xfrm>
          <a:custGeom>
            <a:avLst/>
            <a:gdLst/>
            <a:ahLst/>
            <a:cxnLst/>
            <a:rect l="0" t="0" r="r" b="b"/>
            <a:pathLst>
              <a:path w="1552575" h="1" fill="none">
                <a:moveTo>
                  <a:pt x="0" y="0"/>
                </a:moveTo>
                <a:lnTo>
                  <a:pt x="155257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52" name="Text 152"/>
          <p:cNvSpPr txBox="1"/>
          <p:nvPr/>
        </p:nvSpPr>
        <p:spPr>
          <a:xfrm>
            <a:off x="6986588" y="2884095"/>
            <a:ext cx="1485900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macOS 26 · Xcode 26.6</a:t>
            </a:r>
            <a:endParaRPr lang="ru-RU" sz="828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3" name="Line 153"/>
          <p:cNvSpPr/>
          <p:nvPr/>
        </p:nvSpPr>
        <p:spPr>
          <a:xfrm>
            <a:off x="557212" y="3865111"/>
            <a:ext cx="1057275" cy="48"/>
          </a:xfrm>
          <a:custGeom>
            <a:avLst/>
            <a:gdLst/>
            <a:ahLst/>
            <a:cxnLst/>
            <a:rect l="0" t="0" r="r" b="b"/>
            <a:pathLst>
              <a:path w="1057275" h="1" fill="none">
                <a:moveTo>
                  <a:pt x="0" y="0"/>
                </a:moveTo>
                <a:lnTo>
                  <a:pt x="105727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54" name="Text 154"/>
          <p:cNvSpPr txBox="1"/>
          <p:nvPr/>
        </p:nvSpPr>
        <p:spPr>
          <a:xfrm>
            <a:off x="614362" y="3393981"/>
            <a:ext cx="990600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Режим</a:t>
            </a:r>
            <a:endParaRPr lang="ru-RU" sz="828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55" name="Line 155"/>
          <p:cNvSpPr/>
          <p:nvPr/>
        </p:nvSpPr>
        <p:spPr>
          <a:xfrm>
            <a:off x="1614488" y="3865111"/>
            <a:ext cx="2028825" cy="48"/>
          </a:xfrm>
          <a:custGeom>
            <a:avLst/>
            <a:gdLst/>
            <a:ahLst/>
            <a:cxnLst/>
            <a:rect l="0" t="0" r="r" b="b"/>
            <a:pathLst>
              <a:path w="2028825" h="1" fill="none">
                <a:moveTo>
                  <a:pt x="0" y="0"/>
                </a:moveTo>
                <a:lnTo>
                  <a:pt x="202882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56" name="Text 156"/>
          <p:cNvSpPr txBox="1"/>
          <p:nvPr/>
        </p:nvSpPr>
        <p:spPr>
          <a:xfrm>
            <a:off x="1671638" y="3393981"/>
            <a:ext cx="1962150" cy="4291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Low Power Mode off · заряд 40–80%, без кабеля · thermalState nominal</a:t>
            </a:r>
            <a:endParaRPr lang="ru-RU" sz="82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7" name="Line 157"/>
          <p:cNvSpPr/>
          <p:nvPr/>
        </p:nvSpPr>
        <p:spPr>
          <a:xfrm>
            <a:off x="3643312" y="3865111"/>
            <a:ext cx="1952625" cy="48"/>
          </a:xfrm>
          <a:custGeom>
            <a:avLst/>
            <a:gdLst/>
            <a:ahLst/>
            <a:cxnLst/>
            <a:rect l="0" t="0" r="r" b="b"/>
            <a:pathLst>
              <a:path w="1952625" h="1" fill="none">
                <a:moveTo>
                  <a:pt x="0" y="0"/>
                </a:moveTo>
                <a:lnTo>
                  <a:pt x="195262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58" name="Text 158"/>
          <p:cNvSpPr txBox="1"/>
          <p:nvPr/>
        </p:nvSpPr>
        <p:spPr>
          <a:xfrm>
            <a:off x="3700462" y="3393981"/>
            <a:ext cx="1885950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QoS — так же, как на iPhone</a:t>
            </a:r>
            <a:endParaRPr lang="ru-RU" sz="82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9" name="Line 159"/>
          <p:cNvSpPr/>
          <p:nvPr/>
        </p:nvSpPr>
        <p:spPr>
          <a:xfrm>
            <a:off x="5595938" y="3865111"/>
            <a:ext cx="1333500" cy="48"/>
          </a:xfrm>
          <a:custGeom>
            <a:avLst/>
            <a:gdLst/>
            <a:ahLst/>
            <a:cxnLst/>
            <a:rect l="0" t="0" r="r" b="b"/>
            <a:pathLst>
              <a:path w="1333500" h="1" fill="none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60" name="Text 160"/>
          <p:cNvSpPr txBox="1"/>
          <p:nvPr/>
        </p:nvSpPr>
        <p:spPr>
          <a:xfrm>
            <a:off x="5653088" y="3393981"/>
            <a:ext cx="1266825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без QoS</a:t>
            </a:r>
            <a:endParaRPr lang="ru-RU" sz="82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61" name="Line 161"/>
          <p:cNvSpPr/>
          <p:nvPr/>
        </p:nvSpPr>
        <p:spPr>
          <a:xfrm>
            <a:off x="6929438" y="3865111"/>
            <a:ext cx="1552575" cy="48"/>
          </a:xfrm>
          <a:custGeom>
            <a:avLst/>
            <a:gdLst/>
            <a:ahLst/>
            <a:cxnLst/>
            <a:rect l="0" t="0" r="r" b="b"/>
            <a:pathLst>
              <a:path w="1552575" h="1" fill="none">
                <a:moveTo>
                  <a:pt x="0" y="0"/>
                </a:moveTo>
                <a:lnTo>
                  <a:pt x="155257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62" name="Text 162"/>
          <p:cNvSpPr txBox="1"/>
          <p:nvPr/>
        </p:nvSpPr>
        <p:spPr>
          <a:xfrm>
            <a:off x="6986588" y="3398988"/>
            <a:ext cx="1485900" cy="15278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53"/>
              </a:lnSpc>
              <a:spcBef>
                <a:spcPts val="0"/>
              </a:spcBef>
              <a:buNone/>
            </a:pPr>
            <a:r>
              <a:rPr lang="ru-RU" sz="810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QoS не выбирает тип ядра</a:t>
            </a:r>
            <a:endParaRPr lang="ru-RU" sz="810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63" name="Text 163"/>
          <p:cNvSpPr txBox="1"/>
          <p:nvPr/>
        </p:nvSpPr>
        <p:spPr>
          <a:xfrm>
            <a:off x="557212" y="4554200"/>
            <a:ext cx="7936039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 поток · QoS через pthread_set_qos_class_self_np · std::sort для uint64_t на iPhone — из системной libc++, его задаёт версия iOS · x86-повтор (E1–E11): другая VM Xeon 2,1 ГГц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64" name="Picture 16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64" name="Slide Number 164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utility → E-ядро — НЕ ЗАКОН XNU, А МОЙ ЗАМЕР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Box 103"/>
          <p:cNvSpPr/>
          <p:nvPr/>
        </p:nvSpPr>
        <p:spPr>
          <a:xfrm>
            <a:off x="560784" y="1353488"/>
            <a:ext cx="4945856" cy="1241152"/>
          </a:xfrm>
          <a:prstGeom prst="roundRect">
            <a:avLst>
              <a:gd name="adj" fmla="val 6104"/>
            </a:avLst>
          </a:prstGeom>
          <a:solidFill>
            <a:srgbClr val="000000"/>
          </a:solidFill>
          <a:ln w="7144">
            <a:solidFill>
              <a:srgbClr val="FFFFFF"/>
            </a:solidFill>
          </a:ln>
        </p:spPr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695325" y="1457727"/>
            <a:ext cx="4767262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XNU · Edge-планировщик · sched_clutch.c</a:t>
            </a:r>
            <a:endParaRPr lang="ru-RU" sz="828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695325" y="1635338"/>
            <a:ext cx="4767262" cy="4975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1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«…lower QoS buckets (such as UT) to be scheduled on all CPUs… The only restriction is for BG/Maintenance… would never recommend execution on the P-cores»</a:t>
            </a:r>
            <a:endParaRPr lang="ru-RU" sz="966" b="0" i="1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695325" y="2151846"/>
            <a:ext cx="4767262" cy="33802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utility — на любые ядра, решает закрытый CLPC · для background контроллер P-ядра „would never recommend“</a:t>
            </a:r>
            <a:endParaRPr lang="ru-RU" sz="966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7" name="Box 107"/>
          <p:cNvSpPr/>
          <p:nvPr/>
        </p:nvSpPr>
        <p:spPr>
          <a:xfrm>
            <a:off x="560784" y="2741533"/>
            <a:ext cx="1088231" cy="177105"/>
          </a:xfrm>
          <a:prstGeom prst="roundRect">
            <a:avLst>
              <a:gd name="adj" fmla="val 20678"/>
            </a:avLst>
          </a:prstGeom>
          <a:noFill/>
          <a:ln w="7144">
            <a:solidFill>
              <a:srgbClr val="FFFFFF"/>
            </a:solidFill>
          </a:ln>
        </p:spPr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590264" y="2750522"/>
            <a:ext cx="1029272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не действует</a:t>
            </a:r>
            <a:endParaRPr lang="ru-RU" sz="828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1766888" y="2682210"/>
            <a:ext cx="3867150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Старый AMP (sched_amp_common.c), собирается только без Edge: «utility and b[g] threads on E-Cores only»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0" name="Box 110"/>
          <p:cNvSpPr/>
          <p:nvPr/>
        </p:nvSpPr>
        <p:spPr>
          <a:xfrm>
            <a:off x="560784" y="3065532"/>
            <a:ext cx="4945856" cy="876523"/>
          </a:xfrm>
          <a:prstGeom prst="roundRect">
            <a:avLst>
              <a:gd name="adj" fmla="val 8623"/>
            </a:avLst>
          </a:prstGeom>
          <a:solidFill>
            <a:srgbClr val="000000"/>
          </a:solidFill>
          <a:ln w="7144">
            <a:solidFill>
              <a:srgbClr val="FFFFFF"/>
            </a:solidFill>
          </a:ln>
        </p:spPr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695325" y="3169771"/>
            <a:ext cx="4767262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Apple Developer · 22.06.2020</a:t>
            </a:r>
            <a:endParaRPr lang="ru-RU" sz="828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695325" y="3347382"/>
            <a:ext cx="4767262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1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QoS используется, «to influence placement of threads on P or E cores»</a:t>
            </a:r>
            <a:endParaRPr lang="ru-RU" sz="966" b="0" i="1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695325" y="3542065"/>
            <a:ext cx="4767262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Привязки к ядру нет: «thread affinity is not implemented / supported for Apple Silicon» (DTS, форум Apple)</a:t>
            </a:r>
            <a:endParaRPr lang="ru-RU" sz="828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4" name="Box 114"/>
          <p:cNvSpPr/>
          <p:nvPr/>
        </p:nvSpPr>
        <p:spPr>
          <a:xfrm>
            <a:off x="5664994" y="1352297"/>
            <a:ext cx="2814638" cy="2590949"/>
          </a:xfrm>
          <a:prstGeom prst="roundRect">
            <a:avLst>
              <a:gd name="adj" fmla="val 2935"/>
            </a:avLst>
          </a:prstGeom>
          <a:solidFill>
            <a:srgbClr val="141414"/>
          </a:solidFill>
          <a:ln w="4762">
            <a:solidFill>
              <a:srgbClr val="FFFFFF"/>
            </a:solidFill>
          </a:ln>
        </p:spPr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5819775" y="1476777"/>
            <a:ext cx="2608802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spc="75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МОЙ ЗАМЕР</a:t>
            </a:r>
            <a:endParaRPr lang="ru-RU" sz="828" b="0" i="0" spc="75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5819775" y="1683814"/>
            <a:ext cx="2608802" cy="2118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18"/>
              </a:lnSpc>
              <a:spcBef>
                <a:spcPts val="0"/>
              </a:spcBef>
              <a:buNone/>
            </a:pPr>
            <a:r>
              <a:rPr lang="ru-RU" sz="1380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utility</a:t>
            </a:r>
            <a:endParaRPr lang="ru-RU" sz="1380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5819775" y="1921445"/>
            <a:ext cx="2608802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Mac M2 Pro → P-ядро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5819775" y="2160835"/>
            <a:ext cx="2608802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iPhone </a:t>
            </a:r>
            <a:r>
              <a:rPr lang="ru-RU" sz="1104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[модель iPhone]</a:t>
            </a: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→ E-ядро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9" name="Line 119"/>
          <p:cNvSpPr/>
          <p:nvPr/>
        </p:nvSpPr>
        <p:spPr>
          <a:xfrm>
            <a:off x="5819775" y="2412846"/>
            <a:ext cx="2505075" cy="48"/>
          </a:xfrm>
          <a:custGeom>
            <a:avLst/>
            <a:gdLst/>
            <a:ahLst/>
            <a:cxnLst/>
            <a:rect l="0" t="0" r="r" b="b"/>
            <a:pathLst>
              <a:path w="2505075" h="1" fill="none">
                <a:moveTo>
                  <a:pt x="0" y="0"/>
                </a:moveTo>
                <a:lnTo>
                  <a:pt x="250507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5819775" y="2466900"/>
            <a:ext cx="2608802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background → E на обоих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1" name="Line 121"/>
          <p:cNvSpPr/>
          <p:nvPr/>
        </p:nvSpPr>
        <p:spPr>
          <a:xfrm>
            <a:off x="5819775" y="2718911"/>
            <a:ext cx="2505075" cy="48"/>
          </a:xfrm>
          <a:custGeom>
            <a:avLst/>
            <a:gdLst/>
            <a:ahLst/>
            <a:cxnLst/>
            <a:rect l="0" t="0" r="r" b="b"/>
            <a:pathLst>
              <a:path w="2505075" h="1" fill="none">
                <a:moveTo>
                  <a:pt x="0" y="0"/>
                </a:moveTo>
                <a:lnTo>
                  <a:pt x="250507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5819775" y="2774841"/>
            <a:ext cx="2608802" cy="4975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Решает закрытый CLPC: на вашем устройстве может быть иначе — проверьте</a:t>
            </a:r>
            <a:endParaRPr lang="ru-RU" sz="966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3" name="Text 123"/>
          <p:cNvSpPr txBox="1"/>
          <p:nvPr/>
        </p:nvSpPr>
        <p:spPr>
          <a:xfrm>
            <a:off x="5819775" y="3310399"/>
            <a:ext cx="2608802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На M5 Pro и M5 Max E-ядер нет вовсе</a:t>
            </a:r>
            <a:endParaRPr lang="ru-RU" sz="966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4" name="Text 124"/>
          <p:cNvSpPr txBox="1"/>
          <p:nvPr/>
        </p:nvSpPr>
        <p:spPr>
          <a:xfrm>
            <a:off x="557212" y="4554200"/>
            <a:ext cx="7936039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xnu-12377.121.6: sched_clutch.c, стр. 6604–6612 · sched.h, стр. 191–207 — Edge на всех асимметричных arm64 · sched_amp_common.c — под #if !CONFIG_SCHED_EDGE · Apple Developer News, 22.06.2020 · ступеньки ядер — слайд cores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5" name="Picture 12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25" name="Slide Number 125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ПЛОТНЫЕ rowid: НА x86 ХЕШ ВПЕРЕДИ В 1,7 РАЗА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338664"/>
            <a:ext cx="8191119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x86-повтор, серия E7 · N = 2^20, U = N/2 · нс на элемент: libstdc++ / libc++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4" name="Line 104"/>
          <p:cNvSpPr/>
          <p:nvPr/>
        </p:nvSpPr>
        <p:spPr>
          <a:xfrm>
            <a:off x="557212" y="1751752"/>
            <a:ext cx="1733550" cy="48"/>
          </a:xfrm>
          <a:custGeom>
            <a:avLst/>
            <a:gdLst/>
            <a:ahLst/>
            <a:cxnLst/>
            <a:rect l="0" t="0" r="r" b="b"/>
            <a:pathLst>
              <a:path w="1733550" h="1" fill="none">
                <a:moveTo>
                  <a:pt x="0" y="0"/>
                </a:moveTo>
                <a:lnTo>
                  <a:pt x="1733550" y="0"/>
                </a:lnTo>
              </a:path>
            </a:pathLst>
          </a:custGeom>
          <a:noFill/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614362" y="1556251"/>
            <a:ext cx="1666875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id</a:t>
            </a:r>
            <a:endParaRPr lang="ru-RU" sz="828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6" name="Line 106"/>
          <p:cNvSpPr/>
          <p:nvPr/>
        </p:nvSpPr>
        <p:spPr>
          <a:xfrm>
            <a:off x="2290762" y="1751752"/>
            <a:ext cx="1166812" cy="48"/>
          </a:xfrm>
          <a:custGeom>
            <a:avLst/>
            <a:gdLst/>
            <a:ahLst/>
            <a:cxnLst/>
            <a:rect l="0" t="0" r="r" b="b"/>
            <a:pathLst>
              <a:path w="1166812" h="1" fill="none">
                <a:moveTo>
                  <a:pt x="0" y="0"/>
                </a:moveTo>
                <a:lnTo>
                  <a:pt x="1166812" y="0"/>
                </a:lnTo>
              </a:path>
            </a:pathLst>
          </a:custGeom>
          <a:noFill/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2317837" y="1556251"/>
            <a:ext cx="1112663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 + unique</a:t>
            </a:r>
            <a:endParaRPr lang="ru-RU" sz="828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Line 108"/>
          <p:cNvSpPr/>
          <p:nvPr/>
        </p:nvSpPr>
        <p:spPr>
          <a:xfrm>
            <a:off x="3457575" y="1751752"/>
            <a:ext cx="1166812" cy="48"/>
          </a:xfrm>
          <a:custGeom>
            <a:avLst/>
            <a:gdLst/>
            <a:ahLst/>
            <a:cxnLst/>
            <a:rect l="0" t="0" r="r" b="b"/>
            <a:pathLst>
              <a:path w="1166812" h="1" fill="none">
                <a:moveTo>
                  <a:pt x="0" y="0"/>
                </a:moveTo>
                <a:lnTo>
                  <a:pt x="1166812" y="0"/>
                </a:lnTo>
              </a:path>
            </a:pathLst>
          </a:custGeom>
          <a:noFill/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3484650" y="1556251"/>
            <a:ext cx="1112663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unordered_set</a:t>
            </a:r>
            <a:endParaRPr lang="ru-RU" sz="828" b="0" i="0" dirty="0">
              <a:solidFill>
                <a:srgbClr val="E2489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0" name="Line 110"/>
          <p:cNvSpPr/>
          <p:nvPr/>
        </p:nvSpPr>
        <p:spPr>
          <a:xfrm>
            <a:off x="4624388" y="1751752"/>
            <a:ext cx="1166812" cy="48"/>
          </a:xfrm>
          <a:custGeom>
            <a:avLst/>
            <a:gdLst/>
            <a:ahLst/>
            <a:cxnLst/>
            <a:rect l="0" t="0" r="r" b="b"/>
            <a:pathLst>
              <a:path w="1166812" h="1" fill="none">
                <a:moveTo>
                  <a:pt x="0" y="0"/>
                </a:moveTo>
                <a:lnTo>
                  <a:pt x="1166812" y="0"/>
                </a:lnTo>
              </a:path>
            </a:pathLst>
          </a:custGeom>
          <a:noFill/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4651462" y="1556251"/>
            <a:ext cx="1112663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9B87F5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radix + unique</a:t>
            </a:r>
            <a:endParaRPr lang="ru-RU" sz="828" b="0" i="0" dirty="0">
              <a:solidFill>
                <a:srgbClr val="9B87F5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2" name="Line 112"/>
          <p:cNvSpPr/>
          <p:nvPr/>
        </p:nvSpPr>
        <p:spPr>
          <a:xfrm>
            <a:off x="5791200" y="1751752"/>
            <a:ext cx="1166812" cy="48"/>
          </a:xfrm>
          <a:custGeom>
            <a:avLst/>
            <a:gdLst/>
            <a:ahLst/>
            <a:cxnLst/>
            <a:rect l="0" t="0" r="r" b="b"/>
            <a:pathLst>
              <a:path w="1166812" h="1" fill="none">
                <a:moveTo>
                  <a:pt x="0" y="0"/>
                </a:moveTo>
                <a:lnTo>
                  <a:pt x="1166812" y="0"/>
                </a:lnTo>
              </a:path>
            </a:pathLst>
          </a:custGeom>
          <a:noFill/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5818275" y="1556251"/>
            <a:ext cx="1112663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flat_hash_set</a:t>
            </a:r>
            <a:endParaRPr lang="ru-RU" sz="828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4" name="Line 114"/>
          <p:cNvSpPr/>
          <p:nvPr/>
        </p:nvSpPr>
        <p:spPr>
          <a:xfrm>
            <a:off x="6958012" y="1751752"/>
            <a:ext cx="1524000" cy="48"/>
          </a:xfrm>
          <a:custGeom>
            <a:avLst/>
            <a:gdLst/>
            <a:ahLst/>
            <a:cxnLst/>
            <a:rect l="0" t="0" r="r" b="b"/>
            <a:pathLst>
              <a:path w="1524000" h="1" fill="none">
                <a:moveTo>
                  <a:pt x="0" y="0"/>
                </a:moveTo>
                <a:lnTo>
                  <a:pt x="1524000" y="0"/>
                </a:lnTo>
              </a:path>
            </a:pathLst>
          </a:custGeom>
          <a:noFill/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6979730" y="1556251"/>
            <a:ext cx="1480566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хеш против sort</a:t>
            </a:r>
            <a:endParaRPr lang="ru-RU" sz="828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6" name="Line 116"/>
          <p:cNvSpPr/>
          <p:nvPr/>
        </p:nvSpPr>
        <p:spPr>
          <a:xfrm>
            <a:off x="557212" y="1992705"/>
            <a:ext cx="1733550" cy="48"/>
          </a:xfrm>
          <a:custGeom>
            <a:avLst/>
            <a:gdLst/>
            <a:ahLst/>
            <a:cxnLst/>
            <a:rect l="0" t="0" r="r" b="b"/>
            <a:pathLst>
              <a:path w="1733550" h="1" fill="none">
                <a:moveTo>
                  <a:pt x="0" y="0"/>
                </a:moveTo>
                <a:lnTo>
                  <a:pt x="173355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614362" y="1791950"/>
            <a:ext cx="1666875" cy="1671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случайные 64-бит</a:t>
            </a:r>
            <a:endParaRPr lang="ru-RU" sz="897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8" name="Line 118"/>
          <p:cNvSpPr/>
          <p:nvPr/>
        </p:nvSpPr>
        <p:spPr>
          <a:xfrm>
            <a:off x="2290762" y="1992705"/>
            <a:ext cx="1166812" cy="48"/>
          </a:xfrm>
          <a:custGeom>
            <a:avLst/>
            <a:gdLst/>
            <a:ahLst/>
            <a:cxnLst/>
            <a:rect l="0" t="0" r="r" b="b"/>
            <a:pathLst>
              <a:path w="1166812" h="1" fill="none">
                <a:moveTo>
                  <a:pt x="0" y="0"/>
                </a:moveTo>
                <a:lnTo>
                  <a:pt x="1166812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19" name="Text 119"/>
          <p:cNvSpPr txBox="1"/>
          <p:nvPr/>
        </p:nvSpPr>
        <p:spPr>
          <a:xfrm>
            <a:off x="2317837" y="1791950"/>
            <a:ext cx="1112663" cy="1671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86,4 / 89,0</a:t>
            </a:r>
            <a:endParaRPr lang="ru-RU" sz="897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0" name="Line 120"/>
          <p:cNvSpPr/>
          <p:nvPr/>
        </p:nvSpPr>
        <p:spPr>
          <a:xfrm>
            <a:off x="3457575" y="1992705"/>
            <a:ext cx="1166812" cy="48"/>
          </a:xfrm>
          <a:custGeom>
            <a:avLst/>
            <a:gdLst/>
            <a:ahLst/>
            <a:cxnLst/>
            <a:rect l="0" t="0" r="r" b="b"/>
            <a:pathLst>
              <a:path w="1166812" h="1" fill="none">
                <a:moveTo>
                  <a:pt x="0" y="0"/>
                </a:moveTo>
                <a:lnTo>
                  <a:pt x="1166812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21" name="Text 121"/>
          <p:cNvSpPr txBox="1"/>
          <p:nvPr/>
        </p:nvSpPr>
        <p:spPr>
          <a:xfrm>
            <a:off x="3484650" y="1791950"/>
            <a:ext cx="1112663" cy="1671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85,6 / 88,7</a:t>
            </a:r>
            <a:endParaRPr lang="ru-RU" sz="897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2" name="Line 122"/>
          <p:cNvSpPr/>
          <p:nvPr/>
        </p:nvSpPr>
        <p:spPr>
          <a:xfrm>
            <a:off x="4624388" y="1992705"/>
            <a:ext cx="1166812" cy="48"/>
          </a:xfrm>
          <a:custGeom>
            <a:avLst/>
            <a:gdLst/>
            <a:ahLst/>
            <a:cxnLst/>
            <a:rect l="0" t="0" r="r" b="b"/>
            <a:pathLst>
              <a:path w="1166812" h="1" fill="none">
                <a:moveTo>
                  <a:pt x="0" y="0"/>
                </a:moveTo>
                <a:lnTo>
                  <a:pt x="1166812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23" name="Text 123"/>
          <p:cNvSpPr txBox="1"/>
          <p:nvPr/>
        </p:nvSpPr>
        <p:spPr>
          <a:xfrm>
            <a:off x="4651462" y="1791950"/>
            <a:ext cx="1112663" cy="1671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38,0 / 40,3</a:t>
            </a:r>
            <a:endParaRPr lang="ru-RU" sz="897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4" name="Line 124"/>
          <p:cNvSpPr/>
          <p:nvPr/>
        </p:nvSpPr>
        <p:spPr>
          <a:xfrm>
            <a:off x="5791200" y="1992705"/>
            <a:ext cx="1166812" cy="48"/>
          </a:xfrm>
          <a:custGeom>
            <a:avLst/>
            <a:gdLst/>
            <a:ahLst/>
            <a:cxnLst/>
            <a:rect l="0" t="0" r="r" b="b"/>
            <a:pathLst>
              <a:path w="1166812" h="1" fill="none">
                <a:moveTo>
                  <a:pt x="0" y="0"/>
                </a:moveTo>
                <a:lnTo>
                  <a:pt x="1166812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25" name="Text 125"/>
          <p:cNvSpPr txBox="1"/>
          <p:nvPr/>
        </p:nvSpPr>
        <p:spPr>
          <a:xfrm>
            <a:off x="5818275" y="1791950"/>
            <a:ext cx="1112663" cy="1671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34,7 / 36,9</a:t>
            </a:r>
            <a:endParaRPr lang="ru-RU" sz="897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6" name="Line 126"/>
          <p:cNvSpPr/>
          <p:nvPr/>
        </p:nvSpPr>
        <p:spPr>
          <a:xfrm>
            <a:off x="6958012" y="1992705"/>
            <a:ext cx="1524000" cy="48"/>
          </a:xfrm>
          <a:custGeom>
            <a:avLst/>
            <a:gdLst/>
            <a:ahLst/>
            <a:cxnLst/>
            <a:rect l="0" t="0" r="r" b="b"/>
            <a:pathLst>
              <a:path w="1524000" h="1" fill="none">
                <a:moveTo>
                  <a:pt x="0" y="0"/>
                </a:moveTo>
                <a:lnTo>
                  <a:pt x="152400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27" name="Text 127"/>
          <p:cNvSpPr txBox="1"/>
          <p:nvPr/>
        </p:nvSpPr>
        <p:spPr>
          <a:xfrm>
            <a:off x="6979730" y="1791950"/>
            <a:ext cx="1480566" cy="1671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≈ ничья</a:t>
            </a:r>
            <a:endParaRPr lang="ru-RU" sz="897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8" name="Line 128"/>
          <p:cNvSpPr/>
          <p:nvPr/>
        </p:nvSpPr>
        <p:spPr>
          <a:xfrm>
            <a:off x="557212" y="2231276"/>
            <a:ext cx="1733550" cy="48"/>
          </a:xfrm>
          <a:custGeom>
            <a:avLst/>
            <a:gdLst/>
            <a:ahLst/>
            <a:cxnLst/>
            <a:rect l="0" t="0" r="r" b="b"/>
            <a:pathLst>
              <a:path w="1733550" h="1" fill="none">
                <a:moveTo>
                  <a:pt x="0" y="0"/>
                </a:moveTo>
                <a:lnTo>
                  <a:pt x="173355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29" name="Text 129"/>
          <p:cNvSpPr txBox="1"/>
          <p:nvPr/>
        </p:nvSpPr>
        <p:spPr>
          <a:xfrm>
            <a:off x="614362" y="2030521"/>
            <a:ext cx="1666875" cy="1671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плотные, перемешаны</a:t>
            </a:r>
            <a:endParaRPr lang="ru-RU" sz="897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0" name="Line 130"/>
          <p:cNvSpPr/>
          <p:nvPr/>
        </p:nvSpPr>
        <p:spPr>
          <a:xfrm>
            <a:off x="2290762" y="2231276"/>
            <a:ext cx="1166812" cy="48"/>
          </a:xfrm>
          <a:custGeom>
            <a:avLst/>
            <a:gdLst/>
            <a:ahLst/>
            <a:cxnLst/>
            <a:rect l="0" t="0" r="r" b="b"/>
            <a:pathLst>
              <a:path w="1166812" h="1" fill="none">
                <a:moveTo>
                  <a:pt x="0" y="0"/>
                </a:moveTo>
                <a:lnTo>
                  <a:pt x="1166812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31" name="Text 131"/>
          <p:cNvSpPr txBox="1"/>
          <p:nvPr/>
        </p:nvSpPr>
        <p:spPr>
          <a:xfrm>
            <a:off x="2317837" y="2030521"/>
            <a:ext cx="1112663" cy="1671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87,8 / 89,8</a:t>
            </a:r>
            <a:endParaRPr lang="ru-RU" sz="897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2" name="Line 132"/>
          <p:cNvSpPr/>
          <p:nvPr/>
        </p:nvSpPr>
        <p:spPr>
          <a:xfrm>
            <a:off x="3457575" y="2231276"/>
            <a:ext cx="1166812" cy="48"/>
          </a:xfrm>
          <a:custGeom>
            <a:avLst/>
            <a:gdLst/>
            <a:ahLst/>
            <a:cxnLst/>
            <a:rect l="0" t="0" r="r" b="b"/>
            <a:pathLst>
              <a:path w="1166812" h="1" fill="none">
                <a:moveTo>
                  <a:pt x="0" y="0"/>
                </a:moveTo>
                <a:lnTo>
                  <a:pt x="1166812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33" name="Text 133"/>
          <p:cNvSpPr txBox="1"/>
          <p:nvPr/>
        </p:nvSpPr>
        <p:spPr>
          <a:xfrm>
            <a:off x="3484650" y="2030521"/>
            <a:ext cx="1112663" cy="1671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52,8 / 53,3</a:t>
            </a:r>
            <a:endParaRPr lang="ru-RU" sz="897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34" name="Line 134"/>
          <p:cNvSpPr/>
          <p:nvPr/>
        </p:nvSpPr>
        <p:spPr>
          <a:xfrm>
            <a:off x="4624388" y="2231276"/>
            <a:ext cx="1166812" cy="48"/>
          </a:xfrm>
          <a:custGeom>
            <a:avLst/>
            <a:gdLst/>
            <a:ahLst/>
            <a:cxnLst/>
            <a:rect l="0" t="0" r="r" b="b"/>
            <a:pathLst>
              <a:path w="1166812" h="1" fill="none">
                <a:moveTo>
                  <a:pt x="0" y="0"/>
                </a:moveTo>
                <a:lnTo>
                  <a:pt x="1166812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35" name="Text 135"/>
          <p:cNvSpPr txBox="1"/>
          <p:nvPr/>
        </p:nvSpPr>
        <p:spPr>
          <a:xfrm>
            <a:off x="4651462" y="2030521"/>
            <a:ext cx="1112663" cy="1671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21,6 / 22,1</a:t>
            </a:r>
            <a:endParaRPr lang="ru-RU" sz="897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6" name="Line 136"/>
          <p:cNvSpPr/>
          <p:nvPr/>
        </p:nvSpPr>
        <p:spPr>
          <a:xfrm>
            <a:off x="5791200" y="2231276"/>
            <a:ext cx="1166812" cy="48"/>
          </a:xfrm>
          <a:custGeom>
            <a:avLst/>
            <a:gdLst/>
            <a:ahLst/>
            <a:cxnLst/>
            <a:rect l="0" t="0" r="r" b="b"/>
            <a:pathLst>
              <a:path w="1166812" h="1" fill="none">
                <a:moveTo>
                  <a:pt x="0" y="0"/>
                </a:moveTo>
                <a:lnTo>
                  <a:pt x="1166812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37" name="Text 137"/>
          <p:cNvSpPr txBox="1"/>
          <p:nvPr/>
        </p:nvSpPr>
        <p:spPr>
          <a:xfrm>
            <a:off x="5818275" y="2030521"/>
            <a:ext cx="1112663" cy="1671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35,5 / 36,9</a:t>
            </a:r>
            <a:endParaRPr lang="ru-RU" sz="897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8" name="Fill 138"/>
          <p:cNvSpPr/>
          <p:nvPr/>
        </p:nvSpPr>
        <p:spPr>
          <a:xfrm>
            <a:off x="6958012" y="1995086"/>
            <a:ext cx="1524000" cy="238571"/>
          </a:xfrm>
          <a:prstGeom prst="rect">
            <a:avLst/>
          </a:prstGeom>
          <a:solidFill>
            <a:srgbClr val="5E1C42"/>
          </a:solidFill>
          <a:ln>
            <a:noFill/>
          </a:ln>
        </p:spPr>
      </p:sp>
      <p:sp xmlns:p14="http://schemas.microsoft.com/office/powerpoint/2010/main">
        <p:nvSpPr>
          <p:cNvPr id="139" name="Line 139"/>
          <p:cNvSpPr/>
          <p:nvPr/>
        </p:nvSpPr>
        <p:spPr>
          <a:xfrm>
            <a:off x="6958012" y="2231276"/>
            <a:ext cx="1524000" cy="48"/>
          </a:xfrm>
          <a:custGeom>
            <a:avLst/>
            <a:gdLst/>
            <a:ahLst/>
            <a:cxnLst/>
            <a:rect l="0" t="0" r="r" b="b"/>
            <a:pathLst>
              <a:path w="1524000" h="1" fill="none">
                <a:moveTo>
                  <a:pt x="0" y="0"/>
                </a:moveTo>
                <a:lnTo>
                  <a:pt x="152400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40" name="Text 140"/>
          <p:cNvSpPr txBox="1"/>
          <p:nvPr/>
        </p:nvSpPr>
        <p:spPr>
          <a:xfrm>
            <a:off x="6979730" y="2030521"/>
            <a:ext cx="1480566" cy="1671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хеш ×1,7</a:t>
            </a:r>
            <a:endParaRPr lang="ru-RU" sz="897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41" name="Box 141"/>
          <p:cNvSpPr/>
          <p:nvPr/>
        </p:nvSpPr>
        <p:spPr>
          <a:xfrm>
            <a:off x="560784" y="2351529"/>
            <a:ext cx="4755356" cy="1543124"/>
          </a:xfrm>
          <a:prstGeom prst="roundRect">
            <a:avLst>
              <a:gd name="adj" fmla="val 4915"/>
            </a:avLst>
          </a:prstGeom>
          <a:solidFill>
            <a:srgbClr val="000000"/>
          </a:solidFill>
          <a:ln w="7144">
            <a:solidFill>
              <a:srgbClr val="FFFFFF"/>
            </a:solidFill>
          </a:ln>
        </p:spPr>
      </p:sp>
      <p:sp xmlns:p14="http://schemas.microsoft.com/office/powerpoint/2010/main">
        <p:nvSpPr>
          <p:cNvPr id="142" name="Text 142"/>
          <p:cNvSpPr txBox="1"/>
          <p:nvPr/>
        </p:nvSpPr>
        <p:spPr>
          <a:xfrm>
            <a:off x="695325" y="2452955"/>
            <a:ext cx="4576762" cy="189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46"/>
              </a:lnSpc>
              <a:spcBef>
                <a:spcPts val="0"/>
              </a:spcBef>
              <a:buNone/>
            </a:pPr>
            <a:r>
              <a:rPr lang="ru-RU" sz="1035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Ловушка libc++: id с шагом 2^k</a:t>
            </a:r>
            <a:endParaRPr lang="ru-RU" sz="1035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43" name="Text 143"/>
          <p:cNvSpPr txBox="1"/>
          <p:nvPr/>
        </p:nvSpPr>
        <p:spPr>
          <a:xfrm>
            <a:off x="695325" y="2664648"/>
            <a:ext cx="4576762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std::hash — тождество: ячейка = младшие k бит id</a:t>
            </a:r>
            <a:endParaRPr lang="ru-RU" sz="828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44" name="Line 144"/>
          <p:cNvSpPr/>
          <p:nvPr/>
        </p:nvSpPr>
        <p:spPr>
          <a:xfrm>
            <a:off x="695325" y="3087261"/>
            <a:ext cx="1047750" cy="48"/>
          </a:xfrm>
          <a:custGeom>
            <a:avLst/>
            <a:gdLst/>
            <a:ahLst/>
            <a:cxnLst/>
            <a:rect l="0" t="0" r="r" b="b"/>
            <a:pathLst>
              <a:path w="1047750" h="1" fill="none">
                <a:moveTo>
                  <a:pt x="0" y="0"/>
                </a:moveTo>
                <a:lnTo>
                  <a:pt x="1047750" y="0"/>
                </a:lnTo>
              </a:path>
            </a:pathLst>
          </a:custGeom>
          <a:noFill/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45" name="Text 145"/>
          <p:cNvSpPr txBox="1"/>
          <p:nvPr/>
        </p:nvSpPr>
        <p:spPr>
          <a:xfrm>
            <a:off x="752475" y="2896523"/>
            <a:ext cx="981075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65 536 id</a:t>
            </a:r>
            <a:endParaRPr lang="ru-RU" sz="828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46" name="Line 146"/>
          <p:cNvSpPr/>
          <p:nvPr/>
        </p:nvSpPr>
        <p:spPr>
          <a:xfrm>
            <a:off x="1743075" y="3087261"/>
            <a:ext cx="1047750" cy="48"/>
          </a:xfrm>
          <a:custGeom>
            <a:avLst/>
            <a:gdLst/>
            <a:ahLst/>
            <a:cxnLst/>
            <a:rect l="0" t="0" r="r" b="b"/>
            <a:pathLst>
              <a:path w="1047750" h="1" fill="none">
                <a:moveTo>
                  <a:pt x="0" y="0"/>
                </a:moveTo>
                <a:lnTo>
                  <a:pt x="1047750" y="0"/>
                </a:lnTo>
              </a:path>
            </a:pathLst>
          </a:custGeom>
          <a:noFill/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47" name="Text 147"/>
          <p:cNvSpPr txBox="1"/>
          <p:nvPr/>
        </p:nvSpPr>
        <p:spPr>
          <a:xfrm>
            <a:off x="1771936" y="2896523"/>
            <a:ext cx="990028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занято ячеек</a:t>
            </a:r>
            <a:endParaRPr lang="ru-RU" sz="828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48" name="Line 148"/>
          <p:cNvSpPr/>
          <p:nvPr/>
        </p:nvSpPr>
        <p:spPr>
          <a:xfrm>
            <a:off x="2790825" y="3087261"/>
            <a:ext cx="1295400" cy="48"/>
          </a:xfrm>
          <a:custGeom>
            <a:avLst/>
            <a:gdLst/>
            <a:ahLst/>
            <a:cxnLst/>
            <a:rect l="0" t="0" r="r" b="b"/>
            <a:pathLst>
              <a:path w="1295400" h="1" fill="none">
                <a:moveTo>
                  <a:pt x="0" y="0"/>
                </a:moveTo>
                <a:lnTo>
                  <a:pt x="1295400" y="0"/>
                </a:lnTo>
              </a:path>
            </a:pathLst>
          </a:custGeom>
          <a:noFill/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49" name="Text 149"/>
          <p:cNvSpPr txBox="1"/>
          <p:nvPr/>
        </p:nvSpPr>
        <p:spPr>
          <a:xfrm>
            <a:off x="2815971" y="2896523"/>
            <a:ext cx="1245108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нс на вставку</a:t>
            </a:r>
            <a:endParaRPr lang="ru-RU" sz="828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50" name="Line 150"/>
          <p:cNvSpPr/>
          <p:nvPr/>
        </p:nvSpPr>
        <p:spPr>
          <a:xfrm>
            <a:off x="4086225" y="3087261"/>
            <a:ext cx="1104900" cy="48"/>
          </a:xfrm>
          <a:custGeom>
            <a:avLst/>
            <a:gdLst/>
            <a:ahLst/>
            <a:cxnLst/>
            <a:rect l="0" t="0" r="r" b="b"/>
            <a:pathLst>
              <a:path w="1104900" h="1" fill="none">
                <a:moveTo>
                  <a:pt x="0" y="0"/>
                </a:moveTo>
                <a:lnTo>
                  <a:pt x="1104900" y="0"/>
                </a:lnTo>
              </a:path>
            </a:pathLst>
          </a:custGeom>
          <a:noFill/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51" name="Text 151"/>
          <p:cNvSpPr txBox="1"/>
          <p:nvPr/>
        </p:nvSpPr>
        <p:spPr>
          <a:xfrm>
            <a:off x="4114228" y="2896523"/>
            <a:ext cx="1048893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libstdc++: нс</a:t>
            </a:r>
            <a:endParaRPr lang="ru-RU" sz="828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52" name="Line 152"/>
          <p:cNvSpPr/>
          <p:nvPr/>
        </p:nvSpPr>
        <p:spPr>
          <a:xfrm>
            <a:off x="695325" y="3318689"/>
            <a:ext cx="1047750" cy="48"/>
          </a:xfrm>
          <a:custGeom>
            <a:avLst/>
            <a:gdLst/>
            <a:ahLst/>
            <a:cxnLst/>
            <a:rect l="0" t="0" r="r" b="b"/>
            <a:pathLst>
              <a:path w="1047750" h="1" fill="none">
                <a:moveTo>
                  <a:pt x="0" y="0"/>
                </a:moveTo>
                <a:lnTo>
                  <a:pt x="104775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53" name="Text 153"/>
          <p:cNvSpPr txBox="1"/>
          <p:nvPr/>
        </p:nvSpPr>
        <p:spPr>
          <a:xfrm>
            <a:off x="752475" y="3122697"/>
            <a:ext cx="981075" cy="1671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плотные 1..N</a:t>
            </a:r>
            <a:endParaRPr lang="ru-RU" sz="897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4" name="Line 154"/>
          <p:cNvSpPr/>
          <p:nvPr/>
        </p:nvSpPr>
        <p:spPr>
          <a:xfrm>
            <a:off x="1743075" y="3318689"/>
            <a:ext cx="1047750" cy="48"/>
          </a:xfrm>
          <a:custGeom>
            <a:avLst/>
            <a:gdLst/>
            <a:ahLst/>
            <a:cxnLst/>
            <a:rect l="0" t="0" r="r" b="b"/>
            <a:pathLst>
              <a:path w="1047750" h="1" fill="none">
                <a:moveTo>
                  <a:pt x="0" y="0"/>
                </a:moveTo>
                <a:lnTo>
                  <a:pt x="104775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55" name="Text 155"/>
          <p:cNvSpPr txBox="1"/>
          <p:nvPr/>
        </p:nvSpPr>
        <p:spPr>
          <a:xfrm>
            <a:off x="1771936" y="3122697"/>
            <a:ext cx="990028" cy="1671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65 536</a:t>
            </a:r>
            <a:endParaRPr lang="ru-RU" sz="897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6" name="Line 156"/>
          <p:cNvSpPr/>
          <p:nvPr/>
        </p:nvSpPr>
        <p:spPr>
          <a:xfrm>
            <a:off x="2790825" y="3318689"/>
            <a:ext cx="1295400" cy="48"/>
          </a:xfrm>
          <a:custGeom>
            <a:avLst/>
            <a:gdLst/>
            <a:ahLst/>
            <a:cxnLst/>
            <a:rect l="0" t="0" r="r" b="b"/>
            <a:pathLst>
              <a:path w="1295400" h="1" fill="none">
                <a:moveTo>
                  <a:pt x="0" y="0"/>
                </a:moveTo>
                <a:lnTo>
                  <a:pt x="129540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57" name="Text 157"/>
          <p:cNvSpPr txBox="1"/>
          <p:nvPr/>
        </p:nvSpPr>
        <p:spPr>
          <a:xfrm>
            <a:off x="2815971" y="3122697"/>
            <a:ext cx="1245108" cy="1671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40</a:t>
            </a:r>
            <a:endParaRPr lang="ru-RU" sz="897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8" name="Line 158"/>
          <p:cNvSpPr/>
          <p:nvPr/>
        </p:nvSpPr>
        <p:spPr>
          <a:xfrm>
            <a:off x="4086225" y="3318689"/>
            <a:ext cx="1104900" cy="48"/>
          </a:xfrm>
          <a:custGeom>
            <a:avLst/>
            <a:gdLst/>
            <a:ahLst/>
            <a:cxnLst/>
            <a:rect l="0" t="0" r="r" b="b"/>
            <a:pathLst>
              <a:path w="1104900" h="1" fill="none">
                <a:moveTo>
                  <a:pt x="0" y="0"/>
                </a:moveTo>
                <a:lnTo>
                  <a:pt x="110490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59" name="Text 159"/>
          <p:cNvSpPr txBox="1"/>
          <p:nvPr/>
        </p:nvSpPr>
        <p:spPr>
          <a:xfrm>
            <a:off x="4114228" y="3122697"/>
            <a:ext cx="1048893" cy="1671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39</a:t>
            </a:r>
            <a:endParaRPr lang="ru-RU" sz="897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60" name="Line 160"/>
          <p:cNvSpPr/>
          <p:nvPr/>
        </p:nvSpPr>
        <p:spPr>
          <a:xfrm>
            <a:off x="695325" y="3547735"/>
            <a:ext cx="1047750" cy="48"/>
          </a:xfrm>
          <a:custGeom>
            <a:avLst/>
            <a:gdLst/>
            <a:ahLst/>
            <a:cxnLst/>
            <a:rect l="0" t="0" r="r" b="b"/>
            <a:pathLst>
              <a:path w="1047750" h="1" fill="none">
                <a:moveTo>
                  <a:pt x="0" y="0"/>
                </a:moveTo>
                <a:lnTo>
                  <a:pt x="104775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61" name="Text 161"/>
          <p:cNvSpPr txBox="1"/>
          <p:nvPr/>
        </p:nvSpPr>
        <p:spPr>
          <a:xfrm>
            <a:off x="752475" y="3351743"/>
            <a:ext cx="981075" cy="1671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шаг 1024</a:t>
            </a:r>
            <a:endParaRPr lang="ru-RU" sz="897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62" name="Line 162"/>
          <p:cNvSpPr/>
          <p:nvPr/>
        </p:nvSpPr>
        <p:spPr>
          <a:xfrm>
            <a:off x="1743075" y="3547735"/>
            <a:ext cx="1047750" cy="48"/>
          </a:xfrm>
          <a:custGeom>
            <a:avLst/>
            <a:gdLst/>
            <a:ahLst/>
            <a:cxnLst/>
            <a:rect l="0" t="0" r="r" b="b"/>
            <a:pathLst>
              <a:path w="1047750" h="1" fill="none">
                <a:moveTo>
                  <a:pt x="0" y="0"/>
                </a:moveTo>
                <a:lnTo>
                  <a:pt x="104775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63" name="Text 163"/>
          <p:cNvSpPr txBox="1"/>
          <p:nvPr/>
        </p:nvSpPr>
        <p:spPr>
          <a:xfrm>
            <a:off x="1771936" y="3351743"/>
            <a:ext cx="990028" cy="1671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64</a:t>
            </a:r>
            <a:endParaRPr lang="ru-RU" sz="897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64" name="Line 164"/>
          <p:cNvSpPr/>
          <p:nvPr/>
        </p:nvSpPr>
        <p:spPr>
          <a:xfrm>
            <a:off x="2790825" y="3547735"/>
            <a:ext cx="1295400" cy="48"/>
          </a:xfrm>
          <a:custGeom>
            <a:avLst/>
            <a:gdLst/>
            <a:ahLst/>
            <a:cxnLst/>
            <a:rect l="0" t="0" r="r" b="b"/>
            <a:pathLst>
              <a:path w="1295400" h="1" fill="none">
                <a:moveTo>
                  <a:pt x="0" y="0"/>
                </a:moveTo>
                <a:lnTo>
                  <a:pt x="129540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65" name="Text 165"/>
          <p:cNvSpPr txBox="1"/>
          <p:nvPr/>
        </p:nvSpPr>
        <p:spPr>
          <a:xfrm>
            <a:off x="2815971" y="3351743"/>
            <a:ext cx="1245108" cy="1671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2 762 · </a:t>
            </a:r>
            <a:r>
              <a:rPr lang="ru-RU" sz="897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×70</a:t>
            </a:r>
            <a:endParaRPr lang="ru-RU" sz="897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66" name="Line 166"/>
          <p:cNvSpPr/>
          <p:nvPr/>
        </p:nvSpPr>
        <p:spPr>
          <a:xfrm>
            <a:off x="4086225" y="3547735"/>
            <a:ext cx="1104900" cy="48"/>
          </a:xfrm>
          <a:custGeom>
            <a:avLst/>
            <a:gdLst/>
            <a:ahLst/>
            <a:cxnLst/>
            <a:rect l="0" t="0" r="r" b="b"/>
            <a:pathLst>
              <a:path w="1104900" h="1" fill="none">
                <a:moveTo>
                  <a:pt x="0" y="0"/>
                </a:moveTo>
                <a:lnTo>
                  <a:pt x="110490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67" name="Text 167"/>
          <p:cNvSpPr txBox="1"/>
          <p:nvPr/>
        </p:nvSpPr>
        <p:spPr>
          <a:xfrm>
            <a:off x="4114228" y="3351743"/>
            <a:ext cx="1048893" cy="1671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41</a:t>
            </a:r>
            <a:endParaRPr lang="ru-RU" sz="897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68" name="Line 168"/>
          <p:cNvSpPr/>
          <p:nvPr/>
        </p:nvSpPr>
        <p:spPr>
          <a:xfrm>
            <a:off x="695325" y="3776782"/>
            <a:ext cx="1047750" cy="48"/>
          </a:xfrm>
          <a:custGeom>
            <a:avLst/>
            <a:gdLst/>
            <a:ahLst/>
            <a:cxnLst/>
            <a:rect l="0" t="0" r="r" b="b"/>
            <a:pathLst>
              <a:path w="1047750" h="1" fill="none">
                <a:moveTo>
                  <a:pt x="0" y="0"/>
                </a:moveTo>
                <a:lnTo>
                  <a:pt x="104775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69" name="Text 169"/>
          <p:cNvSpPr txBox="1"/>
          <p:nvPr/>
        </p:nvSpPr>
        <p:spPr>
          <a:xfrm>
            <a:off x="752475" y="3580790"/>
            <a:ext cx="981075" cy="1671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шаг 2^20</a:t>
            </a:r>
            <a:endParaRPr lang="ru-RU" sz="897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70" name="Line 170"/>
          <p:cNvSpPr/>
          <p:nvPr/>
        </p:nvSpPr>
        <p:spPr>
          <a:xfrm>
            <a:off x="1743075" y="3776782"/>
            <a:ext cx="1047750" cy="48"/>
          </a:xfrm>
          <a:custGeom>
            <a:avLst/>
            <a:gdLst/>
            <a:ahLst/>
            <a:cxnLst/>
            <a:rect l="0" t="0" r="r" b="b"/>
            <a:pathLst>
              <a:path w="1047750" h="1" fill="none">
                <a:moveTo>
                  <a:pt x="0" y="0"/>
                </a:moveTo>
                <a:lnTo>
                  <a:pt x="104775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71" name="Text 171"/>
          <p:cNvSpPr txBox="1"/>
          <p:nvPr/>
        </p:nvSpPr>
        <p:spPr>
          <a:xfrm>
            <a:off x="1771936" y="3580790"/>
            <a:ext cx="990028" cy="1671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 lang="ru-RU" sz="897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72" name="Line 172"/>
          <p:cNvSpPr/>
          <p:nvPr/>
        </p:nvSpPr>
        <p:spPr>
          <a:xfrm>
            <a:off x="2790825" y="3776782"/>
            <a:ext cx="1295400" cy="48"/>
          </a:xfrm>
          <a:custGeom>
            <a:avLst/>
            <a:gdLst/>
            <a:ahLst/>
            <a:cxnLst/>
            <a:rect l="0" t="0" r="r" b="b"/>
            <a:pathLst>
              <a:path w="1295400" h="1" fill="none">
                <a:moveTo>
                  <a:pt x="0" y="0"/>
                </a:moveTo>
                <a:lnTo>
                  <a:pt x="129540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73" name="Text 173"/>
          <p:cNvSpPr txBox="1"/>
          <p:nvPr/>
        </p:nvSpPr>
        <p:spPr>
          <a:xfrm>
            <a:off x="2815971" y="3580790"/>
            <a:ext cx="1245108" cy="1671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60 540 · </a:t>
            </a:r>
            <a:r>
              <a:rPr lang="ru-RU" sz="897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×1 500</a:t>
            </a:r>
            <a:endParaRPr lang="ru-RU" sz="897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74" name="Line 174"/>
          <p:cNvSpPr/>
          <p:nvPr/>
        </p:nvSpPr>
        <p:spPr>
          <a:xfrm>
            <a:off x="4086225" y="3776782"/>
            <a:ext cx="1104900" cy="48"/>
          </a:xfrm>
          <a:custGeom>
            <a:avLst/>
            <a:gdLst/>
            <a:ahLst/>
            <a:cxnLst/>
            <a:rect l="0" t="0" r="r" b="b"/>
            <a:pathLst>
              <a:path w="1104900" h="1" fill="none">
                <a:moveTo>
                  <a:pt x="0" y="0"/>
                </a:moveTo>
                <a:lnTo>
                  <a:pt x="110490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75" name="Text 175"/>
          <p:cNvSpPr txBox="1"/>
          <p:nvPr/>
        </p:nvSpPr>
        <p:spPr>
          <a:xfrm>
            <a:off x="4114228" y="3580790"/>
            <a:ext cx="1048893" cy="1671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38</a:t>
            </a:r>
            <a:endParaRPr lang="ru-RU" sz="897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76" name="Box 176"/>
          <p:cNvSpPr/>
          <p:nvPr/>
        </p:nvSpPr>
        <p:spPr>
          <a:xfrm>
            <a:off x="5475684" y="2351529"/>
            <a:ext cx="3002756" cy="1543124"/>
          </a:xfrm>
          <a:prstGeom prst="roundRect">
            <a:avLst>
              <a:gd name="adj" fmla="val 4915"/>
            </a:avLst>
          </a:prstGeom>
          <a:solidFill>
            <a:srgbClr val="000000"/>
          </a:solidFill>
          <a:ln w="7144">
            <a:solidFill>
              <a:srgbClr val="FFFFFF"/>
            </a:solidFill>
          </a:ln>
        </p:spPr>
      </p:sp>
      <p:sp xmlns:p14="http://schemas.microsoft.com/office/powerpoint/2010/main">
        <p:nvSpPr>
          <p:cNvPr id="177" name="Text 177"/>
          <p:cNvSpPr txBox="1"/>
          <p:nvPr/>
        </p:nvSpPr>
        <p:spPr>
          <a:xfrm>
            <a:off x="5610225" y="2455768"/>
            <a:ext cx="2824162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iPhone · userInitiated и .utility · 512K и 1M · случайные и плотные id</a:t>
            </a:r>
            <a:endParaRPr lang="ru-RU" sz="828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78" name="Text 178"/>
          <p:cNvSpPr txBox="1"/>
          <p:nvPr/>
        </p:nvSpPr>
        <p:spPr>
          <a:xfrm>
            <a:off x="5610225" y="2787178"/>
            <a:ext cx="2824162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2C14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[снять до 14.10]</a:t>
            </a:r>
            <a:endParaRPr lang="ru-RU" sz="1104" b="0" i="0" dirty="0">
              <a:solidFill>
                <a:srgbClr val="F2C14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79" name="Line 179"/>
          <p:cNvSpPr/>
          <p:nvPr/>
        </p:nvSpPr>
        <p:spPr>
          <a:xfrm>
            <a:off x="5610225" y="3039189"/>
            <a:ext cx="2733675" cy="48"/>
          </a:xfrm>
          <a:custGeom>
            <a:avLst/>
            <a:gdLst/>
            <a:ahLst/>
            <a:cxnLst/>
            <a:rect l="0" t="0" r="r" b="b"/>
            <a:pathLst>
              <a:path w="2733675" h="1" fill="none">
                <a:moveTo>
                  <a:pt x="0" y="0"/>
                </a:moveTo>
                <a:lnTo>
                  <a:pt x="273367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80" name="Text 180"/>
          <p:cNvSpPr txBox="1"/>
          <p:nvPr/>
        </p:nvSpPr>
        <p:spPr>
          <a:xfrm>
            <a:off x="5610225" y="3096056"/>
            <a:ext cx="2824162" cy="4633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Для rowid победитель может смениться. Лучший кандидат — не хеш и не sort, а слияние дельты или битовая карта</a:t>
            </a:r>
            <a:endParaRPr lang="ru-RU" sz="897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81" name="Text 181"/>
          <p:cNvSpPr txBox="1"/>
          <p:nvPr/>
        </p:nvSpPr>
        <p:spPr>
          <a:xfrm>
            <a:off x="557212" y="4554200"/>
            <a:ext cx="7936039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x86-повтор на отдельной VM: Xeon 2,1 ГГц; GCC 13 / libstdc++ и Clang 18 / libc++; медиана сессий · ловушка — тест cluster.cpp, x86, reserve(N) · все серии доклада сняты на случайных 64-битных id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82" name="Picture 18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82" name="Slide Number 182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60073"/>
            <a:ext cx="6781800" cy="597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40"/>
              </a:lnSpc>
              <a:spcBef>
                <a:spcPts val="0"/>
              </a:spcBef>
              <a:buNone/>
            </a:pPr>
            <a:r>
              <a:rPr lang="ru-RU" sz="20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СОРТИРУЕМ ТОЛЬКО ДЕЛЬТУ И СЛИВАЕМ: НА x86 В 3,5–6,6 РАЗА БЫСТРЕЕ sort + unique</a:t>
            </a:r>
            <a:endParaRPr lang="ru-RU" sz="20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Box 103"/>
          <p:cNvSpPr/>
          <p:nvPr/>
        </p:nvSpPr>
        <p:spPr>
          <a:xfrm>
            <a:off x="560784" y="1452414"/>
            <a:ext cx="7917656" cy="849437"/>
          </a:xfrm>
          <a:prstGeom prst="roundRect">
            <a:avLst>
              <a:gd name="adj" fmla="val 8895"/>
            </a:avLst>
          </a:prstGeom>
          <a:solidFill>
            <a:srgbClr val="000000"/>
          </a:solidFill>
          <a:ln w="7144">
            <a:solidFill>
              <a:srgbClr val="FFFFFF"/>
            </a:solidFill>
          </a:ln>
        </p:spPr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714375" y="1514183"/>
            <a:ext cx="8419148" cy="19240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1365"/>
              </a:lnSpc>
              <a:spcBef>
                <a:spcPts val="0"/>
              </a:spcBef>
              <a:buNone/>
            </a:pPr>
            <a:r>
              <a:rPr lang="ru-RU" sz="105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std::sort(D.begin(), D.end());</a:t>
            </a:r>
            <a:endParaRPr lang="ru-RU" sz="1050" b="0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714375" y="1706544"/>
            <a:ext cx="8419148" cy="19240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1365"/>
              </a:lnSpc>
              <a:spcBef>
                <a:spcPts val="0"/>
              </a:spcBef>
              <a:buNone/>
            </a:pPr>
            <a:r>
              <a:rPr lang="ru-RU" sz="105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D.erase(std::unique(D.begin(), D.end()), D.end());</a:t>
            </a:r>
            <a:endParaRPr lang="ru-RU" sz="1050" b="0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1285875" y="1893748"/>
            <a:ext cx="7148512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↑ без этого шага set_union оставит дубли дельты</a:t>
            </a:r>
            <a:endParaRPr lang="ru-RU" sz="828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714375" y="2054578"/>
            <a:ext cx="8419148" cy="19240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1365"/>
              </a:lnSpc>
              <a:spcBef>
                <a:spcPts val="0"/>
              </a:spcBef>
              <a:buNone/>
            </a:pPr>
            <a:r>
              <a:rPr lang="ru-RU" sz="105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std::set_union(L.begin(), L.end(), D.begin(), D.end(), std::back_inserter(out));</a:t>
            </a:r>
            <a:endParaRPr lang="ru-RU" sz="1050" b="0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8" name="Line 108"/>
          <p:cNvSpPr/>
          <p:nvPr/>
        </p:nvSpPr>
        <p:spPr>
          <a:xfrm>
            <a:off x="557212" y="2618259"/>
            <a:ext cx="3714750" cy="48"/>
          </a:xfrm>
          <a:custGeom>
            <a:avLst/>
            <a:gdLst/>
            <a:ahLst/>
            <a:cxnLst/>
            <a:rect l="0" t="0" r="r" b="b"/>
            <a:pathLst>
              <a:path w="3714750" h="1" fill="none">
                <a:moveTo>
                  <a:pt x="0" y="0"/>
                </a:moveTo>
                <a:lnTo>
                  <a:pt x="3714750" y="0"/>
                </a:lnTo>
              </a:path>
            </a:pathLst>
          </a:custGeom>
          <a:noFill/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633412" y="2437045"/>
            <a:ext cx="3629025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вариант</a:t>
            </a:r>
            <a:endParaRPr lang="ru-RU" sz="828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0" name="Line 110"/>
          <p:cNvSpPr/>
          <p:nvPr/>
        </p:nvSpPr>
        <p:spPr>
          <a:xfrm>
            <a:off x="4271962" y="2618259"/>
            <a:ext cx="2095500" cy="48"/>
          </a:xfrm>
          <a:custGeom>
            <a:avLst/>
            <a:gdLst/>
            <a:ahLst/>
            <a:cxnLst/>
            <a:rect l="0" t="0" r="r" b="b"/>
            <a:pathLst>
              <a:path w="2095500" h="1" fill="none">
                <a:moveTo>
                  <a:pt x="0" y="0"/>
                </a:moveTo>
                <a:lnTo>
                  <a:pt x="2095500" y="0"/>
                </a:lnTo>
              </a:path>
            </a:pathLst>
          </a:custGeom>
          <a:noFill/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4304728" y="2437045"/>
            <a:ext cx="2029968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нс/эл: libstdc++ / libc++</a:t>
            </a:r>
            <a:endParaRPr lang="ru-RU" sz="828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2" name="Line 112"/>
          <p:cNvSpPr/>
          <p:nvPr/>
        </p:nvSpPr>
        <p:spPr>
          <a:xfrm>
            <a:off x="6367462" y="2618259"/>
            <a:ext cx="2114550" cy="48"/>
          </a:xfrm>
          <a:custGeom>
            <a:avLst/>
            <a:gdLst/>
            <a:ahLst/>
            <a:cxnLst/>
            <a:rect l="0" t="0" r="r" b="b"/>
            <a:pathLst>
              <a:path w="2114550" h="1" fill="none">
                <a:moveTo>
                  <a:pt x="0" y="0"/>
                </a:moveTo>
                <a:lnTo>
                  <a:pt x="2114550" y="0"/>
                </a:lnTo>
              </a:path>
            </a:pathLst>
          </a:custGeom>
          <a:noFill/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6399943" y="2437045"/>
            <a:ext cx="2049590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быстрее sort + unique, раз</a:t>
            </a:r>
            <a:endParaRPr lang="ru-RU" sz="828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4" name="Line 114"/>
          <p:cNvSpPr/>
          <p:nvPr/>
        </p:nvSpPr>
        <p:spPr>
          <a:xfrm>
            <a:off x="557212" y="2830637"/>
            <a:ext cx="3714750" cy="48"/>
          </a:xfrm>
          <a:custGeom>
            <a:avLst/>
            <a:gdLst/>
            <a:ahLst/>
            <a:cxnLst/>
            <a:rect l="0" t="0" r="r" b="b"/>
            <a:pathLst>
              <a:path w="3714750" h="1" fill="none">
                <a:moveTo>
                  <a:pt x="0" y="0"/>
                </a:moveTo>
                <a:lnTo>
                  <a:pt x="371475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633412" y="2644169"/>
            <a:ext cx="3629025" cy="1671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sort + unique всего входа</a:t>
            </a:r>
            <a:endParaRPr lang="ru-RU" sz="897" b="0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6" name="Line 116"/>
          <p:cNvSpPr/>
          <p:nvPr/>
        </p:nvSpPr>
        <p:spPr>
          <a:xfrm>
            <a:off x="4271962" y="2830637"/>
            <a:ext cx="2095500" cy="48"/>
          </a:xfrm>
          <a:custGeom>
            <a:avLst/>
            <a:gdLst/>
            <a:ahLst/>
            <a:cxnLst/>
            <a:rect l="0" t="0" r="r" b="b"/>
            <a:pathLst>
              <a:path w="2095500" h="1" fill="none">
                <a:moveTo>
                  <a:pt x="0" y="0"/>
                </a:moveTo>
                <a:lnTo>
                  <a:pt x="209550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4304728" y="2644169"/>
            <a:ext cx="2029968" cy="1671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42,4 / 31,2</a:t>
            </a:r>
            <a:endParaRPr lang="ru-RU" sz="897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8" name="Line 118"/>
          <p:cNvSpPr/>
          <p:nvPr/>
        </p:nvSpPr>
        <p:spPr>
          <a:xfrm>
            <a:off x="6367462" y="2830637"/>
            <a:ext cx="2114550" cy="48"/>
          </a:xfrm>
          <a:custGeom>
            <a:avLst/>
            <a:gdLst/>
            <a:ahLst/>
            <a:cxnLst/>
            <a:rect l="0" t="0" r="r" b="b"/>
            <a:pathLst>
              <a:path w="2114550" h="1" fill="none">
                <a:moveTo>
                  <a:pt x="0" y="0"/>
                </a:moveTo>
                <a:lnTo>
                  <a:pt x="211455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19" name="Text 119"/>
          <p:cNvSpPr txBox="1"/>
          <p:nvPr/>
        </p:nvSpPr>
        <p:spPr>
          <a:xfrm>
            <a:off x="6399943" y="2644169"/>
            <a:ext cx="2049590" cy="1671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 lang="ru-RU" sz="897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0" name="Line 120"/>
          <p:cNvSpPr/>
          <p:nvPr/>
        </p:nvSpPr>
        <p:spPr>
          <a:xfrm>
            <a:off x="557212" y="3040633"/>
            <a:ext cx="3714750" cy="48"/>
          </a:xfrm>
          <a:custGeom>
            <a:avLst/>
            <a:gdLst/>
            <a:ahLst/>
            <a:cxnLst/>
            <a:rect l="0" t="0" r="r" b="b"/>
            <a:pathLst>
              <a:path w="3714750" h="1" fill="none">
                <a:moveTo>
                  <a:pt x="0" y="0"/>
                </a:moveTo>
                <a:lnTo>
                  <a:pt x="371475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21" name="Text 121"/>
          <p:cNvSpPr txBox="1"/>
          <p:nvPr/>
        </p:nvSpPr>
        <p:spPr>
          <a:xfrm>
            <a:off x="633412" y="2854166"/>
            <a:ext cx="3629025" cy="1671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E2489B"/>
                </a:solidFill>
                <a:latin typeface="Montserrat"/>
                <a:ea typeface="Montserrat"/>
                <a:cs typeface="Montserrat"/>
                <a:sym typeface="Montserrat"/>
              </a:rPr>
              <a:t>unordered_set</a:t>
            </a:r>
            <a:endParaRPr lang="ru-RU" sz="897" b="0" i="0" dirty="0">
              <a:solidFill>
                <a:srgbClr val="E2489B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2" name="Line 122"/>
          <p:cNvSpPr/>
          <p:nvPr/>
        </p:nvSpPr>
        <p:spPr>
          <a:xfrm>
            <a:off x="4271962" y="3040633"/>
            <a:ext cx="2095500" cy="48"/>
          </a:xfrm>
          <a:custGeom>
            <a:avLst/>
            <a:gdLst/>
            <a:ahLst/>
            <a:cxnLst/>
            <a:rect l="0" t="0" r="r" b="b"/>
            <a:pathLst>
              <a:path w="2095500" h="1" fill="none">
                <a:moveTo>
                  <a:pt x="0" y="0"/>
                </a:moveTo>
                <a:lnTo>
                  <a:pt x="209550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23" name="Text 123"/>
          <p:cNvSpPr txBox="1"/>
          <p:nvPr/>
        </p:nvSpPr>
        <p:spPr>
          <a:xfrm>
            <a:off x="4304728" y="2854166"/>
            <a:ext cx="2029968" cy="1671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240,8 / 247,0</a:t>
            </a:r>
            <a:endParaRPr lang="ru-RU" sz="897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4" name="Line 124"/>
          <p:cNvSpPr/>
          <p:nvPr/>
        </p:nvSpPr>
        <p:spPr>
          <a:xfrm>
            <a:off x="6367462" y="3040633"/>
            <a:ext cx="2114550" cy="48"/>
          </a:xfrm>
          <a:custGeom>
            <a:avLst/>
            <a:gdLst/>
            <a:ahLst/>
            <a:cxnLst/>
            <a:rect l="0" t="0" r="r" b="b"/>
            <a:pathLst>
              <a:path w="2114550" h="1" fill="none">
                <a:moveTo>
                  <a:pt x="0" y="0"/>
                </a:moveTo>
                <a:lnTo>
                  <a:pt x="211455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25" name="Text 125"/>
          <p:cNvSpPr txBox="1"/>
          <p:nvPr/>
        </p:nvSpPr>
        <p:spPr>
          <a:xfrm>
            <a:off x="6399943" y="2854166"/>
            <a:ext cx="2049590" cy="1671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0,18 / 0,13</a:t>
            </a:r>
            <a:endParaRPr lang="ru-RU" sz="897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6" name="Line 126"/>
          <p:cNvSpPr/>
          <p:nvPr/>
        </p:nvSpPr>
        <p:spPr>
          <a:xfrm>
            <a:off x="557212" y="3250629"/>
            <a:ext cx="3714750" cy="48"/>
          </a:xfrm>
          <a:custGeom>
            <a:avLst/>
            <a:gdLst/>
            <a:ahLst/>
            <a:cxnLst/>
            <a:rect l="0" t="0" r="r" b="b"/>
            <a:pathLst>
              <a:path w="3714750" h="1" fill="none">
                <a:moveTo>
                  <a:pt x="0" y="0"/>
                </a:moveTo>
                <a:lnTo>
                  <a:pt x="371475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27" name="Text 127"/>
          <p:cNvSpPr txBox="1"/>
          <p:nvPr/>
        </p:nvSpPr>
        <p:spPr>
          <a:xfrm>
            <a:off x="633412" y="3064162"/>
            <a:ext cx="3629025" cy="1671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9B87F5"/>
                </a:solidFill>
                <a:latin typeface="Montserrat"/>
                <a:ea typeface="Montserrat"/>
                <a:cs typeface="Montserrat"/>
                <a:sym typeface="Montserrat"/>
              </a:rPr>
              <a:t>radix + unique</a:t>
            </a:r>
            <a:endParaRPr lang="ru-RU" sz="897" b="0" i="0" dirty="0">
              <a:solidFill>
                <a:srgbClr val="9B87F5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8" name="Line 128"/>
          <p:cNvSpPr/>
          <p:nvPr/>
        </p:nvSpPr>
        <p:spPr>
          <a:xfrm>
            <a:off x="4271962" y="3250629"/>
            <a:ext cx="2095500" cy="48"/>
          </a:xfrm>
          <a:custGeom>
            <a:avLst/>
            <a:gdLst/>
            <a:ahLst/>
            <a:cxnLst/>
            <a:rect l="0" t="0" r="r" b="b"/>
            <a:pathLst>
              <a:path w="2095500" h="1" fill="none">
                <a:moveTo>
                  <a:pt x="0" y="0"/>
                </a:moveTo>
                <a:lnTo>
                  <a:pt x="209550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29" name="Text 129"/>
          <p:cNvSpPr txBox="1"/>
          <p:nvPr/>
        </p:nvSpPr>
        <p:spPr>
          <a:xfrm>
            <a:off x="4304728" y="3064162"/>
            <a:ext cx="2029968" cy="1671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41,4 / 39,8</a:t>
            </a:r>
            <a:endParaRPr lang="ru-RU" sz="897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0" name="Line 130"/>
          <p:cNvSpPr/>
          <p:nvPr/>
        </p:nvSpPr>
        <p:spPr>
          <a:xfrm>
            <a:off x="6367462" y="3250629"/>
            <a:ext cx="2114550" cy="48"/>
          </a:xfrm>
          <a:custGeom>
            <a:avLst/>
            <a:gdLst/>
            <a:ahLst/>
            <a:cxnLst/>
            <a:rect l="0" t="0" r="r" b="b"/>
            <a:pathLst>
              <a:path w="2114550" h="1" fill="none">
                <a:moveTo>
                  <a:pt x="0" y="0"/>
                </a:moveTo>
                <a:lnTo>
                  <a:pt x="211455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31" name="Text 131"/>
          <p:cNvSpPr txBox="1"/>
          <p:nvPr/>
        </p:nvSpPr>
        <p:spPr>
          <a:xfrm>
            <a:off x="6399943" y="3064162"/>
            <a:ext cx="2049590" cy="1671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1,0 / 0,8</a:t>
            </a:r>
            <a:endParaRPr lang="ru-RU" sz="897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2" name="Line 132"/>
          <p:cNvSpPr/>
          <p:nvPr/>
        </p:nvSpPr>
        <p:spPr>
          <a:xfrm>
            <a:off x="557212" y="3460626"/>
            <a:ext cx="3714750" cy="48"/>
          </a:xfrm>
          <a:custGeom>
            <a:avLst/>
            <a:gdLst/>
            <a:ahLst/>
            <a:cxnLst/>
            <a:rect l="0" t="0" r="r" b="b"/>
            <a:pathLst>
              <a:path w="3714750" h="1" fill="none">
                <a:moveTo>
                  <a:pt x="0" y="0"/>
                </a:moveTo>
                <a:lnTo>
                  <a:pt x="371475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33" name="Text 133"/>
          <p:cNvSpPr txBox="1"/>
          <p:nvPr/>
        </p:nvSpPr>
        <p:spPr>
          <a:xfrm>
            <a:off x="633412" y="3274159"/>
            <a:ext cx="3629025" cy="1671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flat_hash_set</a:t>
            </a:r>
            <a:endParaRPr lang="ru-RU" sz="897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4" name="Line 134"/>
          <p:cNvSpPr/>
          <p:nvPr/>
        </p:nvSpPr>
        <p:spPr>
          <a:xfrm>
            <a:off x="4271962" y="3460626"/>
            <a:ext cx="2095500" cy="48"/>
          </a:xfrm>
          <a:custGeom>
            <a:avLst/>
            <a:gdLst/>
            <a:ahLst/>
            <a:cxnLst/>
            <a:rect l="0" t="0" r="r" b="b"/>
            <a:pathLst>
              <a:path w="2095500" h="1" fill="none">
                <a:moveTo>
                  <a:pt x="0" y="0"/>
                </a:moveTo>
                <a:lnTo>
                  <a:pt x="209550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35" name="Text 135"/>
          <p:cNvSpPr txBox="1"/>
          <p:nvPr/>
        </p:nvSpPr>
        <p:spPr>
          <a:xfrm>
            <a:off x="4304728" y="3274159"/>
            <a:ext cx="2029968" cy="1671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39,3 / 36,4</a:t>
            </a:r>
            <a:endParaRPr lang="ru-RU" sz="897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6" name="Line 136"/>
          <p:cNvSpPr/>
          <p:nvPr/>
        </p:nvSpPr>
        <p:spPr>
          <a:xfrm>
            <a:off x="6367462" y="3460626"/>
            <a:ext cx="2114550" cy="48"/>
          </a:xfrm>
          <a:custGeom>
            <a:avLst/>
            <a:gdLst/>
            <a:ahLst/>
            <a:cxnLst/>
            <a:rect l="0" t="0" r="r" b="b"/>
            <a:pathLst>
              <a:path w="2114550" h="1" fill="none">
                <a:moveTo>
                  <a:pt x="0" y="0"/>
                </a:moveTo>
                <a:lnTo>
                  <a:pt x="211455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37" name="Text 137"/>
          <p:cNvSpPr txBox="1"/>
          <p:nvPr/>
        </p:nvSpPr>
        <p:spPr>
          <a:xfrm>
            <a:off x="6399943" y="3274159"/>
            <a:ext cx="2049590" cy="1671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1,1 / 0,9</a:t>
            </a:r>
            <a:endParaRPr lang="ru-RU" sz="897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8" name="Fill 138"/>
          <p:cNvSpPr/>
          <p:nvPr/>
        </p:nvSpPr>
        <p:spPr>
          <a:xfrm>
            <a:off x="557212" y="3463007"/>
            <a:ext cx="3714750" cy="209996"/>
          </a:xfrm>
          <a:prstGeom prst="rect">
            <a:avLst/>
          </a:prstGeom>
          <a:solidFill>
            <a:srgbClr val="0B2B26"/>
          </a:solidFill>
          <a:ln>
            <a:noFill/>
          </a:ln>
        </p:spPr>
      </p:sp>
      <p:sp xmlns:p14="http://schemas.microsoft.com/office/powerpoint/2010/main">
        <p:nvSpPr>
          <p:cNvPr id="139" name="Line 139"/>
          <p:cNvSpPr/>
          <p:nvPr/>
        </p:nvSpPr>
        <p:spPr>
          <a:xfrm>
            <a:off x="557212" y="3670622"/>
            <a:ext cx="3714750" cy="48"/>
          </a:xfrm>
          <a:custGeom>
            <a:avLst/>
            <a:gdLst/>
            <a:ahLst/>
            <a:cxnLst/>
            <a:rect l="0" t="0" r="r" b="b"/>
            <a:pathLst>
              <a:path w="3714750" h="1" fill="none">
                <a:moveTo>
                  <a:pt x="0" y="0"/>
                </a:moveTo>
                <a:lnTo>
                  <a:pt x="371475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40" name="Text 140"/>
          <p:cNvSpPr txBox="1"/>
          <p:nvPr/>
        </p:nvSpPr>
        <p:spPr>
          <a:xfrm>
            <a:off x="633412" y="3484155"/>
            <a:ext cx="3629025" cy="1671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sort(Δ) + unique(Δ) + set_union</a:t>
            </a:r>
            <a:endParaRPr lang="ru-RU" sz="897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41" name="Fill 141"/>
          <p:cNvSpPr/>
          <p:nvPr/>
        </p:nvSpPr>
        <p:spPr>
          <a:xfrm>
            <a:off x="4271962" y="3463007"/>
            <a:ext cx="2095500" cy="209996"/>
          </a:xfrm>
          <a:prstGeom prst="rect">
            <a:avLst/>
          </a:prstGeom>
          <a:solidFill>
            <a:srgbClr val="0B2B26"/>
          </a:solidFill>
          <a:ln>
            <a:noFill/>
          </a:ln>
        </p:spPr>
      </p:sp>
      <p:sp xmlns:p14="http://schemas.microsoft.com/office/powerpoint/2010/main">
        <p:nvSpPr>
          <p:cNvPr id="142" name="Line 142"/>
          <p:cNvSpPr/>
          <p:nvPr/>
        </p:nvSpPr>
        <p:spPr>
          <a:xfrm>
            <a:off x="4271962" y="3670622"/>
            <a:ext cx="2095500" cy="48"/>
          </a:xfrm>
          <a:custGeom>
            <a:avLst/>
            <a:gdLst/>
            <a:ahLst/>
            <a:cxnLst/>
            <a:rect l="0" t="0" r="r" b="b"/>
            <a:pathLst>
              <a:path w="2095500" h="1" fill="none">
                <a:moveTo>
                  <a:pt x="0" y="0"/>
                </a:moveTo>
                <a:lnTo>
                  <a:pt x="209550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43" name="Text 143"/>
          <p:cNvSpPr txBox="1"/>
          <p:nvPr/>
        </p:nvSpPr>
        <p:spPr>
          <a:xfrm>
            <a:off x="4304728" y="3484155"/>
            <a:ext cx="2029968" cy="1671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6,4 / 8,9</a:t>
            </a:r>
            <a:endParaRPr lang="ru-RU" sz="897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44" name="Fill 144"/>
          <p:cNvSpPr/>
          <p:nvPr/>
        </p:nvSpPr>
        <p:spPr>
          <a:xfrm>
            <a:off x="6367462" y="3463007"/>
            <a:ext cx="2114550" cy="209996"/>
          </a:xfrm>
          <a:prstGeom prst="rect">
            <a:avLst/>
          </a:prstGeom>
          <a:solidFill>
            <a:srgbClr val="0B2B26"/>
          </a:solidFill>
          <a:ln>
            <a:noFill/>
          </a:ln>
        </p:spPr>
      </p:sp>
      <p:sp xmlns:p14="http://schemas.microsoft.com/office/powerpoint/2010/main">
        <p:nvSpPr>
          <p:cNvPr id="145" name="Line 145"/>
          <p:cNvSpPr/>
          <p:nvPr/>
        </p:nvSpPr>
        <p:spPr>
          <a:xfrm>
            <a:off x="6367462" y="3670622"/>
            <a:ext cx="2114550" cy="48"/>
          </a:xfrm>
          <a:custGeom>
            <a:avLst/>
            <a:gdLst/>
            <a:ahLst/>
            <a:cxnLst/>
            <a:rect l="0" t="0" r="r" b="b"/>
            <a:pathLst>
              <a:path w="2114550" h="1" fill="none">
                <a:moveTo>
                  <a:pt x="0" y="0"/>
                </a:moveTo>
                <a:lnTo>
                  <a:pt x="211455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46" name="Text 146"/>
          <p:cNvSpPr txBox="1"/>
          <p:nvPr/>
        </p:nvSpPr>
        <p:spPr>
          <a:xfrm>
            <a:off x="6399943" y="3484155"/>
            <a:ext cx="2049590" cy="1671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6,6 / 3,5</a:t>
            </a:r>
            <a:endParaRPr lang="ru-RU" sz="897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47" name="Fill 147"/>
          <p:cNvSpPr/>
          <p:nvPr/>
        </p:nvSpPr>
        <p:spPr>
          <a:xfrm>
            <a:off x="557212" y="3673004"/>
            <a:ext cx="3714750" cy="209996"/>
          </a:xfrm>
          <a:prstGeom prst="rect">
            <a:avLst/>
          </a:prstGeom>
          <a:solidFill>
            <a:srgbClr val="0B2B26"/>
          </a:solidFill>
          <a:ln>
            <a:noFill/>
          </a:ln>
        </p:spPr>
      </p:sp>
      <p:sp xmlns:p14="http://schemas.microsoft.com/office/powerpoint/2010/main">
        <p:nvSpPr>
          <p:cNvPr id="148" name="Line 148"/>
          <p:cNvSpPr/>
          <p:nvPr/>
        </p:nvSpPr>
        <p:spPr>
          <a:xfrm>
            <a:off x="557212" y="3880619"/>
            <a:ext cx="3714750" cy="48"/>
          </a:xfrm>
          <a:custGeom>
            <a:avLst/>
            <a:gdLst/>
            <a:ahLst/>
            <a:cxnLst/>
            <a:rect l="0" t="0" r="r" b="b"/>
            <a:pathLst>
              <a:path w="3714750" h="1" fill="none">
                <a:moveTo>
                  <a:pt x="0" y="0"/>
                </a:moveTo>
                <a:lnTo>
                  <a:pt x="371475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49" name="Text 149"/>
          <p:cNvSpPr txBox="1"/>
          <p:nvPr/>
        </p:nvSpPr>
        <p:spPr>
          <a:xfrm>
            <a:off x="633412" y="3694152"/>
            <a:ext cx="3629025" cy="1671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sort(Δ) + unique(Δ) + inplace_merge + unique</a:t>
            </a:r>
            <a:endParaRPr lang="ru-RU" sz="897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50" name="Fill 150"/>
          <p:cNvSpPr/>
          <p:nvPr/>
        </p:nvSpPr>
        <p:spPr>
          <a:xfrm>
            <a:off x="4271962" y="3673004"/>
            <a:ext cx="2095500" cy="209996"/>
          </a:xfrm>
          <a:prstGeom prst="rect">
            <a:avLst/>
          </a:prstGeom>
          <a:solidFill>
            <a:srgbClr val="0B2B26"/>
          </a:solidFill>
          <a:ln>
            <a:noFill/>
          </a:ln>
        </p:spPr>
      </p:sp>
      <p:sp xmlns:p14="http://schemas.microsoft.com/office/powerpoint/2010/main">
        <p:nvSpPr>
          <p:cNvPr id="151" name="Line 151"/>
          <p:cNvSpPr/>
          <p:nvPr/>
        </p:nvSpPr>
        <p:spPr>
          <a:xfrm>
            <a:off x="4271962" y="3880619"/>
            <a:ext cx="2095500" cy="48"/>
          </a:xfrm>
          <a:custGeom>
            <a:avLst/>
            <a:gdLst/>
            <a:ahLst/>
            <a:cxnLst/>
            <a:rect l="0" t="0" r="r" b="b"/>
            <a:pathLst>
              <a:path w="2095500" h="1" fill="none">
                <a:moveTo>
                  <a:pt x="0" y="0"/>
                </a:moveTo>
                <a:lnTo>
                  <a:pt x="209550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52" name="Text 152"/>
          <p:cNvSpPr txBox="1"/>
          <p:nvPr/>
        </p:nvSpPr>
        <p:spPr>
          <a:xfrm>
            <a:off x="4304728" y="3694152"/>
            <a:ext cx="2029968" cy="1671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6,7 / 8,6</a:t>
            </a:r>
            <a:endParaRPr lang="ru-RU" sz="897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53" name="Fill 153"/>
          <p:cNvSpPr/>
          <p:nvPr/>
        </p:nvSpPr>
        <p:spPr>
          <a:xfrm>
            <a:off x="6367462" y="3673004"/>
            <a:ext cx="2114550" cy="209996"/>
          </a:xfrm>
          <a:prstGeom prst="rect">
            <a:avLst/>
          </a:prstGeom>
          <a:solidFill>
            <a:srgbClr val="0B2B26"/>
          </a:solidFill>
          <a:ln>
            <a:noFill/>
          </a:ln>
        </p:spPr>
      </p:sp>
      <p:sp xmlns:p14="http://schemas.microsoft.com/office/powerpoint/2010/main">
        <p:nvSpPr>
          <p:cNvPr id="154" name="Line 154"/>
          <p:cNvSpPr/>
          <p:nvPr/>
        </p:nvSpPr>
        <p:spPr>
          <a:xfrm>
            <a:off x="6367462" y="3880619"/>
            <a:ext cx="2114550" cy="48"/>
          </a:xfrm>
          <a:custGeom>
            <a:avLst/>
            <a:gdLst/>
            <a:ahLst/>
            <a:cxnLst/>
            <a:rect l="0" t="0" r="r" b="b"/>
            <a:pathLst>
              <a:path w="2114550" h="1" fill="none">
                <a:moveTo>
                  <a:pt x="0" y="0"/>
                </a:moveTo>
                <a:lnTo>
                  <a:pt x="211455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55" name="Text 155"/>
          <p:cNvSpPr txBox="1"/>
          <p:nvPr/>
        </p:nvSpPr>
        <p:spPr>
          <a:xfrm>
            <a:off x="6399943" y="3694152"/>
            <a:ext cx="2049590" cy="1671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6,3 / 3,6</a:t>
            </a:r>
            <a:endParaRPr lang="ru-RU" sz="897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56" name="Line 156"/>
          <p:cNvSpPr/>
          <p:nvPr/>
        </p:nvSpPr>
        <p:spPr>
          <a:xfrm>
            <a:off x="557212" y="4090615"/>
            <a:ext cx="3714750" cy="48"/>
          </a:xfrm>
          <a:custGeom>
            <a:avLst/>
            <a:gdLst/>
            <a:ahLst/>
            <a:cxnLst/>
            <a:rect l="0" t="0" r="r" b="b"/>
            <a:pathLst>
              <a:path w="3714750" h="1" fill="none">
                <a:moveTo>
                  <a:pt x="0" y="0"/>
                </a:moveTo>
                <a:lnTo>
                  <a:pt x="371475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57" name="Text 157"/>
          <p:cNvSpPr txBox="1"/>
          <p:nvPr/>
        </p:nvSpPr>
        <p:spPr>
          <a:xfrm>
            <a:off x="633412" y="3904148"/>
            <a:ext cx="3629025" cy="1671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iPhone, .utility</a:t>
            </a:r>
            <a:endParaRPr lang="ru-RU" sz="897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8" name="Line 158"/>
          <p:cNvSpPr/>
          <p:nvPr/>
        </p:nvSpPr>
        <p:spPr>
          <a:xfrm>
            <a:off x="4271962" y="4090615"/>
            <a:ext cx="4210050" cy="48"/>
          </a:xfrm>
          <a:custGeom>
            <a:avLst/>
            <a:gdLst/>
            <a:ahLst/>
            <a:cxnLst/>
            <a:rect l="0" t="0" r="r" b="b"/>
            <a:pathLst>
              <a:path w="4210050" h="1" fill="none">
                <a:moveTo>
                  <a:pt x="0" y="0"/>
                </a:moveTo>
                <a:lnTo>
                  <a:pt x="421005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59" name="Text 159"/>
          <p:cNvSpPr txBox="1"/>
          <p:nvPr/>
        </p:nvSpPr>
        <p:spPr>
          <a:xfrm>
            <a:off x="4281488" y="3904148"/>
            <a:ext cx="4191000" cy="1671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[домерить на iPhone]</a:t>
            </a:r>
            <a:endParaRPr lang="ru-RU" sz="897" b="0" i="0" dirty="0">
              <a:solidFill>
                <a:srgbClr val="F2C14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60" name="Text 160"/>
          <p:cNvSpPr txBox="1"/>
          <p:nvPr/>
        </p:nvSpPr>
        <p:spPr>
          <a:xfrm>
            <a:off x="557212" y="4554200"/>
            <a:ext cx="7936039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L — 2^20 локальных id (отсортированы, уникальны) + дельта D — 2^16, половина — повторы · x86-повтор на отдельной VM (Xeon 2,1 ГГц; GCC 13, Clang 18), медиана сессий · так вставляет диапазон std::flat_set в libc++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61" name="Picture 16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61" name="Slide Number 161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УЗЕЛ НА КЛЮЧ — ТОЛЬКО В C++ И Java/Kotlin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338664"/>
            <a:ext cx="8191119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Карта устройства по исходникам стандартных библиотек — не результаты замеров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4" name="Line 104"/>
          <p:cNvSpPr/>
          <p:nvPr/>
        </p:nvSpPr>
        <p:spPr>
          <a:xfrm>
            <a:off x="557212" y="1761277"/>
            <a:ext cx="838200" cy="48"/>
          </a:xfrm>
          <a:custGeom>
            <a:avLst/>
            <a:gdLst/>
            <a:ahLst/>
            <a:cxnLst/>
            <a:rect l="0" t="0" r="r" b="b"/>
            <a:pathLst>
              <a:path w="838200" h="1" fill="none">
                <a:moveTo>
                  <a:pt x="0" y="0"/>
                </a:moveTo>
                <a:lnTo>
                  <a:pt x="838200" y="0"/>
                </a:lnTo>
              </a:path>
            </a:pathLst>
          </a:custGeom>
          <a:noFill/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614362" y="1570538"/>
            <a:ext cx="771525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Язык</a:t>
            </a:r>
            <a:endParaRPr lang="ru-RU" sz="828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6" name="Line 106"/>
          <p:cNvSpPr/>
          <p:nvPr/>
        </p:nvSpPr>
        <p:spPr>
          <a:xfrm>
            <a:off x="1395412" y="1761277"/>
            <a:ext cx="1571625" cy="48"/>
          </a:xfrm>
          <a:custGeom>
            <a:avLst/>
            <a:gdLst/>
            <a:ahLst/>
            <a:cxnLst/>
            <a:rect l="0" t="0" r="r" b="b"/>
            <a:pathLst>
              <a:path w="1571625" h="1" fill="none">
                <a:moveTo>
                  <a:pt x="0" y="0"/>
                </a:moveTo>
                <a:lnTo>
                  <a:pt x="1571625" y="0"/>
                </a:lnTo>
              </a:path>
            </a:pathLst>
          </a:custGeom>
          <a:noFill/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1452562" y="1570538"/>
            <a:ext cx="1504950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Множество</a:t>
            </a:r>
            <a:endParaRPr lang="ru-RU" sz="828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Line 108"/>
          <p:cNvSpPr/>
          <p:nvPr/>
        </p:nvSpPr>
        <p:spPr>
          <a:xfrm>
            <a:off x="2967038" y="1761277"/>
            <a:ext cx="2400300" cy="48"/>
          </a:xfrm>
          <a:custGeom>
            <a:avLst/>
            <a:gdLst/>
            <a:ahLst/>
            <a:cxnLst/>
            <a:rect l="0" t="0" r="r" b="b"/>
            <a:pathLst>
              <a:path w="2400300" h="1" fill="none">
                <a:moveTo>
                  <a:pt x="0" y="0"/>
                </a:moveTo>
                <a:lnTo>
                  <a:pt x="2400300" y="0"/>
                </a:lnTo>
              </a:path>
            </a:pathLst>
          </a:custGeom>
          <a:noFill/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3024188" y="1570538"/>
            <a:ext cx="2333625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Узловая или плоская</a:t>
            </a:r>
            <a:endParaRPr lang="ru-RU" sz="828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0" name="Line 110"/>
          <p:cNvSpPr/>
          <p:nvPr/>
        </p:nvSpPr>
        <p:spPr>
          <a:xfrm>
            <a:off x="5367338" y="1761277"/>
            <a:ext cx="1590675" cy="48"/>
          </a:xfrm>
          <a:custGeom>
            <a:avLst/>
            <a:gdLst/>
            <a:ahLst/>
            <a:cxnLst/>
            <a:rect l="0" t="0" r="r" b="b"/>
            <a:pathLst>
              <a:path w="1590675" h="1" fill="none">
                <a:moveTo>
                  <a:pt x="0" y="0"/>
                </a:moveTo>
                <a:lnTo>
                  <a:pt x="1590675" y="0"/>
                </a:lnTo>
              </a:path>
            </a:pathLst>
          </a:custGeom>
          <a:noFill/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5424488" y="1570538"/>
            <a:ext cx="1524000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Хешер для целого</a:t>
            </a:r>
            <a:endParaRPr lang="ru-RU" sz="828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2" name="Line 112"/>
          <p:cNvSpPr/>
          <p:nvPr/>
        </p:nvSpPr>
        <p:spPr>
          <a:xfrm>
            <a:off x="6958012" y="1761277"/>
            <a:ext cx="1524000" cy="48"/>
          </a:xfrm>
          <a:custGeom>
            <a:avLst/>
            <a:gdLst/>
            <a:ahLst/>
            <a:cxnLst/>
            <a:rect l="0" t="0" r="r" b="b"/>
            <a:pathLst>
              <a:path w="1524000" h="1" fill="none">
                <a:moveTo>
                  <a:pt x="0" y="0"/>
                </a:moveTo>
                <a:lnTo>
                  <a:pt x="1524000" y="0"/>
                </a:lnTo>
              </a:path>
            </a:pathLst>
          </a:custGeom>
          <a:noFill/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7015162" y="1570538"/>
            <a:ext cx="1457325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 + unique</a:t>
            </a:r>
            <a:endParaRPr lang="ru-RU" sz="828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4" name="Line 114"/>
          <p:cNvSpPr/>
          <p:nvPr/>
        </p:nvSpPr>
        <p:spPr>
          <a:xfrm>
            <a:off x="557212" y="1981245"/>
            <a:ext cx="838200" cy="48"/>
          </a:xfrm>
          <a:custGeom>
            <a:avLst/>
            <a:gdLst/>
            <a:ahLst/>
            <a:cxnLst/>
            <a:rect l="0" t="0" r="r" b="b"/>
            <a:pathLst>
              <a:path w="838200" h="1" fill="none">
                <a:moveTo>
                  <a:pt x="0" y="0"/>
                </a:moveTo>
                <a:lnTo>
                  <a:pt x="83820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614362" y="1792888"/>
            <a:ext cx="771525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C++</a:t>
            </a:r>
            <a:endParaRPr lang="ru-RU" sz="828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6" name="Line 116"/>
          <p:cNvSpPr/>
          <p:nvPr/>
        </p:nvSpPr>
        <p:spPr>
          <a:xfrm>
            <a:off x="1395412" y="1981245"/>
            <a:ext cx="1571625" cy="48"/>
          </a:xfrm>
          <a:custGeom>
            <a:avLst/>
            <a:gdLst/>
            <a:ahLst/>
            <a:cxnLst/>
            <a:rect l="0" t="0" r="r" b="b"/>
            <a:pathLst>
              <a:path w="1571625" h="1" fill="none">
                <a:moveTo>
                  <a:pt x="0" y="0"/>
                </a:moveTo>
                <a:lnTo>
                  <a:pt x="157162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1452562" y="1792888"/>
            <a:ext cx="1504950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std::unordered_set</a:t>
            </a:r>
            <a:endParaRPr lang="ru-RU" sz="82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8" name="Line 118"/>
          <p:cNvSpPr/>
          <p:nvPr/>
        </p:nvSpPr>
        <p:spPr>
          <a:xfrm>
            <a:off x="2967038" y="1981245"/>
            <a:ext cx="2400300" cy="48"/>
          </a:xfrm>
          <a:custGeom>
            <a:avLst/>
            <a:gdLst/>
            <a:ahLst/>
            <a:cxnLst/>
            <a:rect l="0" t="0" r="r" b="b"/>
            <a:pathLst>
              <a:path w="2400300" h="1" fill="none">
                <a:moveTo>
                  <a:pt x="0" y="0"/>
                </a:moveTo>
                <a:lnTo>
                  <a:pt x="240030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19" name="Text 119"/>
          <p:cNvSpPr txBox="1"/>
          <p:nvPr/>
        </p:nvSpPr>
        <p:spPr>
          <a:xfrm>
            <a:off x="3024188" y="1792888"/>
            <a:ext cx="2333625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E2489B"/>
                </a:solidFill>
                <a:latin typeface="Montserrat"/>
                <a:ea typeface="Montserrat"/>
                <a:cs typeface="Montserrat"/>
                <a:sym typeface="Montserrat"/>
              </a:rPr>
              <a:t>узловая</a:t>
            </a: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: узел на ключ, цепочки</a:t>
            </a:r>
            <a:endParaRPr lang="ru-RU" sz="82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0" name="Line 120"/>
          <p:cNvSpPr/>
          <p:nvPr/>
        </p:nvSpPr>
        <p:spPr>
          <a:xfrm>
            <a:off x="5367338" y="1981245"/>
            <a:ext cx="1590675" cy="48"/>
          </a:xfrm>
          <a:custGeom>
            <a:avLst/>
            <a:gdLst/>
            <a:ahLst/>
            <a:cxnLst/>
            <a:rect l="0" t="0" r="r" b="b"/>
            <a:pathLst>
              <a:path w="1590675" h="1" fill="none">
                <a:moveTo>
                  <a:pt x="0" y="0"/>
                </a:moveTo>
                <a:lnTo>
                  <a:pt x="159067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21" name="Text 121"/>
          <p:cNvSpPr txBox="1"/>
          <p:nvPr/>
        </p:nvSpPr>
        <p:spPr>
          <a:xfrm>
            <a:off x="5424488" y="1792888"/>
            <a:ext cx="1524000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тождество</a:t>
            </a:r>
            <a:endParaRPr lang="ru-RU" sz="82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2" name="Line 122"/>
          <p:cNvSpPr/>
          <p:nvPr/>
        </p:nvSpPr>
        <p:spPr>
          <a:xfrm>
            <a:off x="6958012" y="1981245"/>
            <a:ext cx="1524000" cy="48"/>
          </a:xfrm>
          <a:custGeom>
            <a:avLst/>
            <a:gdLst/>
            <a:ahLst/>
            <a:cxnLst/>
            <a:rect l="0" t="0" r="r" b="b"/>
            <a:pathLst>
              <a:path w="1524000" h="1" fill="none">
                <a:moveTo>
                  <a:pt x="0" y="0"/>
                </a:moveTo>
                <a:lnTo>
                  <a:pt x="152400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23" name="Text 123"/>
          <p:cNvSpPr txBox="1"/>
          <p:nvPr/>
        </p:nvSpPr>
        <p:spPr>
          <a:xfrm>
            <a:off x="7015162" y="1792888"/>
            <a:ext cx="1457325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sort + unique</a:t>
            </a:r>
            <a:endParaRPr lang="ru-RU" sz="82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4" name="Line 124"/>
          <p:cNvSpPr/>
          <p:nvPr/>
        </p:nvSpPr>
        <p:spPr>
          <a:xfrm>
            <a:off x="557212" y="2335456"/>
            <a:ext cx="838200" cy="48"/>
          </a:xfrm>
          <a:custGeom>
            <a:avLst/>
            <a:gdLst/>
            <a:ahLst/>
            <a:cxnLst/>
            <a:rect l="0" t="0" r="r" b="b"/>
            <a:pathLst>
              <a:path w="838200" h="1" fill="none">
                <a:moveTo>
                  <a:pt x="0" y="0"/>
                </a:moveTo>
                <a:lnTo>
                  <a:pt x="83820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25" name="Text 125"/>
          <p:cNvSpPr txBox="1"/>
          <p:nvPr/>
        </p:nvSpPr>
        <p:spPr>
          <a:xfrm>
            <a:off x="614362" y="2010474"/>
            <a:ext cx="771525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Swift</a:t>
            </a:r>
            <a:endParaRPr lang="ru-RU" sz="828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6" name="Line 126"/>
          <p:cNvSpPr/>
          <p:nvPr/>
        </p:nvSpPr>
        <p:spPr>
          <a:xfrm>
            <a:off x="1395412" y="2335456"/>
            <a:ext cx="1571625" cy="48"/>
          </a:xfrm>
          <a:custGeom>
            <a:avLst/>
            <a:gdLst/>
            <a:ahLst/>
            <a:cxnLst/>
            <a:rect l="0" t="0" r="r" b="b"/>
            <a:pathLst>
              <a:path w="1571625" h="1" fill="none">
                <a:moveTo>
                  <a:pt x="0" y="0"/>
                </a:moveTo>
                <a:lnTo>
                  <a:pt x="157162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27" name="Text 127"/>
          <p:cNvSpPr txBox="1"/>
          <p:nvPr/>
        </p:nvSpPr>
        <p:spPr>
          <a:xfrm>
            <a:off x="1452562" y="2010474"/>
            <a:ext cx="1504950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Set&lt;UInt64&gt;</a:t>
            </a:r>
            <a:endParaRPr lang="ru-RU" sz="82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8" name="Line 128"/>
          <p:cNvSpPr/>
          <p:nvPr/>
        </p:nvSpPr>
        <p:spPr>
          <a:xfrm>
            <a:off x="2967038" y="2335456"/>
            <a:ext cx="2400300" cy="48"/>
          </a:xfrm>
          <a:custGeom>
            <a:avLst/>
            <a:gdLst/>
            <a:ahLst/>
            <a:cxnLst/>
            <a:rect l="0" t="0" r="r" b="b"/>
            <a:pathLst>
              <a:path w="2400300" h="1" fill="none">
                <a:moveTo>
                  <a:pt x="0" y="0"/>
                </a:moveTo>
                <a:lnTo>
                  <a:pt x="240030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29" name="Text 129"/>
          <p:cNvSpPr txBox="1"/>
          <p:nvPr/>
        </p:nvSpPr>
        <p:spPr>
          <a:xfrm>
            <a:off x="3024188" y="2010474"/>
            <a:ext cx="2333625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плоская</a:t>
            </a: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: открытая адресация, линейные пробы</a:t>
            </a:r>
            <a:endParaRPr lang="ru-RU" sz="82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0" name="Line 130"/>
          <p:cNvSpPr/>
          <p:nvPr/>
        </p:nvSpPr>
        <p:spPr>
          <a:xfrm>
            <a:off x="5367338" y="2335456"/>
            <a:ext cx="1590675" cy="48"/>
          </a:xfrm>
          <a:custGeom>
            <a:avLst/>
            <a:gdLst/>
            <a:ahLst/>
            <a:cxnLst/>
            <a:rect l="0" t="0" r="r" b="b"/>
            <a:pathLst>
              <a:path w="1590675" h="1" fill="none">
                <a:moveTo>
                  <a:pt x="0" y="0"/>
                </a:moveTo>
                <a:lnTo>
                  <a:pt x="159067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31" name="Text 131"/>
          <p:cNvSpPr txBox="1"/>
          <p:nvPr/>
        </p:nvSpPr>
        <p:spPr>
          <a:xfrm>
            <a:off x="5424488" y="2010474"/>
            <a:ext cx="1524000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SipHash-1-3, случайный сид</a:t>
            </a:r>
            <a:endParaRPr lang="ru-RU" sz="82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2" name="Line 132"/>
          <p:cNvSpPr/>
          <p:nvPr/>
        </p:nvSpPr>
        <p:spPr>
          <a:xfrm>
            <a:off x="6958012" y="2335456"/>
            <a:ext cx="1524000" cy="48"/>
          </a:xfrm>
          <a:custGeom>
            <a:avLst/>
            <a:gdLst/>
            <a:ahLst/>
            <a:cxnLst/>
            <a:rect l="0" t="0" r="r" b="b"/>
            <a:pathLst>
              <a:path w="1524000" h="1" fill="none">
                <a:moveTo>
                  <a:pt x="0" y="0"/>
                </a:moveTo>
                <a:lnTo>
                  <a:pt x="152400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33" name="Text 133"/>
          <p:cNvSpPr txBox="1"/>
          <p:nvPr/>
        </p:nvSpPr>
        <p:spPr>
          <a:xfrm>
            <a:off x="7015162" y="2010474"/>
            <a:ext cx="1457325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sort() + проход</a:t>
            </a:r>
            <a:endParaRPr lang="ru-RU" sz="82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4" name="Line 134"/>
          <p:cNvSpPr/>
          <p:nvPr/>
        </p:nvSpPr>
        <p:spPr>
          <a:xfrm>
            <a:off x="557212" y="2689667"/>
            <a:ext cx="838200" cy="48"/>
          </a:xfrm>
          <a:custGeom>
            <a:avLst/>
            <a:gdLst/>
            <a:ahLst/>
            <a:cxnLst/>
            <a:rect l="0" t="0" r="r" b="b"/>
            <a:pathLst>
              <a:path w="838200" h="1" fill="none">
                <a:moveTo>
                  <a:pt x="0" y="0"/>
                </a:moveTo>
                <a:lnTo>
                  <a:pt x="83820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35" name="Text 135"/>
          <p:cNvSpPr txBox="1"/>
          <p:nvPr/>
        </p:nvSpPr>
        <p:spPr>
          <a:xfrm>
            <a:off x="614362" y="2364685"/>
            <a:ext cx="771525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Go ≥ 1.24</a:t>
            </a:r>
            <a:endParaRPr lang="ru-RU" sz="828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36" name="Line 136"/>
          <p:cNvSpPr/>
          <p:nvPr/>
        </p:nvSpPr>
        <p:spPr>
          <a:xfrm>
            <a:off x="1395412" y="2689667"/>
            <a:ext cx="1571625" cy="48"/>
          </a:xfrm>
          <a:custGeom>
            <a:avLst/>
            <a:gdLst/>
            <a:ahLst/>
            <a:cxnLst/>
            <a:rect l="0" t="0" r="r" b="b"/>
            <a:pathLst>
              <a:path w="1571625" h="1" fill="none">
                <a:moveTo>
                  <a:pt x="0" y="0"/>
                </a:moveTo>
                <a:lnTo>
                  <a:pt x="157162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37" name="Text 137"/>
          <p:cNvSpPr txBox="1"/>
          <p:nvPr/>
        </p:nvSpPr>
        <p:spPr>
          <a:xfrm>
            <a:off x="1452562" y="2364685"/>
            <a:ext cx="1504950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map[uint64]struct{}</a:t>
            </a:r>
            <a:endParaRPr lang="ru-RU" sz="82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8" name="Line 138"/>
          <p:cNvSpPr/>
          <p:nvPr/>
        </p:nvSpPr>
        <p:spPr>
          <a:xfrm>
            <a:off x="2967038" y="2689667"/>
            <a:ext cx="2400300" cy="48"/>
          </a:xfrm>
          <a:custGeom>
            <a:avLst/>
            <a:gdLst/>
            <a:ahLst/>
            <a:cxnLst/>
            <a:rect l="0" t="0" r="r" b="b"/>
            <a:pathLst>
              <a:path w="2400300" h="1" fill="none">
                <a:moveTo>
                  <a:pt x="0" y="0"/>
                </a:moveTo>
                <a:lnTo>
                  <a:pt x="240030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39" name="Text 139"/>
          <p:cNvSpPr txBox="1"/>
          <p:nvPr/>
        </p:nvSpPr>
        <p:spPr>
          <a:xfrm>
            <a:off x="3024188" y="2364685"/>
            <a:ext cx="2333625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плоская</a:t>
            </a: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: Swiss table, группы по 8</a:t>
            </a:r>
            <a:endParaRPr lang="ru-RU" sz="82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40" name="Line 140"/>
          <p:cNvSpPr/>
          <p:nvPr/>
        </p:nvSpPr>
        <p:spPr>
          <a:xfrm>
            <a:off x="5367338" y="2689667"/>
            <a:ext cx="1590675" cy="48"/>
          </a:xfrm>
          <a:custGeom>
            <a:avLst/>
            <a:gdLst/>
            <a:ahLst/>
            <a:cxnLst/>
            <a:rect l="0" t="0" r="r" b="b"/>
            <a:pathLst>
              <a:path w="1590675" h="1" fill="none">
                <a:moveTo>
                  <a:pt x="0" y="0"/>
                </a:moveTo>
                <a:lnTo>
                  <a:pt x="159067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41" name="Text 141"/>
          <p:cNvSpPr txBox="1"/>
          <p:nvPr/>
        </p:nvSpPr>
        <p:spPr>
          <a:xfrm>
            <a:off x="5424488" y="2364685"/>
            <a:ext cx="1524000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скалярный, сид на каждую карту</a:t>
            </a:r>
            <a:endParaRPr lang="ru-RU" sz="82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42" name="Line 142"/>
          <p:cNvSpPr/>
          <p:nvPr/>
        </p:nvSpPr>
        <p:spPr>
          <a:xfrm>
            <a:off x="6958012" y="2689667"/>
            <a:ext cx="1524000" cy="48"/>
          </a:xfrm>
          <a:custGeom>
            <a:avLst/>
            <a:gdLst/>
            <a:ahLst/>
            <a:cxnLst/>
            <a:rect l="0" t="0" r="r" b="b"/>
            <a:pathLst>
              <a:path w="1524000" h="1" fill="none">
                <a:moveTo>
                  <a:pt x="0" y="0"/>
                </a:moveTo>
                <a:lnTo>
                  <a:pt x="152400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43" name="Text 143"/>
          <p:cNvSpPr txBox="1"/>
          <p:nvPr/>
        </p:nvSpPr>
        <p:spPr>
          <a:xfrm>
            <a:off x="7015162" y="2364685"/>
            <a:ext cx="1457325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slices.Sort + slices.Compact</a:t>
            </a:r>
            <a:endParaRPr lang="ru-RU" sz="82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44" name="Line 144"/>
          <p:cNvSpPr/>
          <p:nvPr/>
        </p:nvSpPr>
        <p:spPr>
          <a:xfrm>
            <a:off x="557212" y="3043878"/>
            <a:ext cx="838200" cy="48"/>
          </a:xfrm>
          <a:custGeom>
            <a:avLst/>
            <a:gdLst/>
            <a:ahLst/>
            <a:cxnLst/>
            <a:rect l="0" t="0" r="r" b="b"/>
            <a:pathLst>
              <a:path w="838200" h="1" fill="none">
                <a:moveTo>
                  <a:pt x="0" y="0"/>
                </a:moveTo>
                <a:lnTo>
                  <a:pt x="83820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45" name="Text 145"/>
          <p:cNvSpPr txBox="1"/>
          <p:nvPr/>
        </p:nvSpPr>
        <p:spPr>
          <a:xfrm>
            <a:off x="614362" y="2718896"/>
            <a:ext cx="771525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Rust</a:t>
            </a:r>
            <a:endParaRPr lang="ru-RU" sz="828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46" name="Line 146"/>
          <p:cNvSpPr/>
          <p:nvPr/>
        </p:nvSpPr>
        <p:spPr>
          <a:xfrm>
            <a:off x="1395412" y="3043878"/>
            <a:ext cx="1571625" cy="48"/>
          </a:xfrm>
          <a:custGeom>
            <a:avLst/>
            <a:gdLst/>
            <a:ahLst/>
            <a:cxnLst/>
            <a:rect l="0" t="0" r="r" b="b"/>
            <a:pathLst>
              <a:path w="1571625" h="1" fill="none">
                <a:moveTo>
                  <a:pt x="0" y="0"/>
                </a:moveTo>
                <a:lnTo>
                  <a:pt x="157162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47" name="Text 147"/>
          <p:cNvSpPr txBox="1"/>
          <p:nvPr/>
        </p:nvSpPr>
        <p:spPr>
          <a:xfrm>
            <a:off x="1452562" y="2718896"/>
            <a:ext cx="1504950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HashSet&lt;u64&gt;</a:t>
            </a:r>
            <a:endParaRPr lang="ru-RU" sz="82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48" name="Line 148"/>
          <p:cNvSpPr/>
          <p:nvPr/>
        </p:nvSpPr>
        <p:spPr>
          <a:xfrm>
            <a:off x="2967038" y="3043878"/>
            <a:ext cx="2400300" cy="48"/>
          </a:xfrm>
          <a:custGeom>
            <a:avLst/>
            <a:gdLst/>
            <a:ahLst/>
            <a:cxnLst/>
            <a:rect l="0" t="0" r="r" b="b"/>
            <a:pathLst>
              <a:path w="2400300" h="1" fill="none">
                <a:moveTo>
                  <a:pt x="0" y="0"/>
                </a:moveTo>
                <a:lnTo>
                  <a:pt x="240030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49" name="Text 149"/>
          <p:cNvSpPr txBox="1"/>
          <p:nvPr/>
        </p:nvSpPr>
        <p:spPr>
          <a:xfrm>
            <a:off x="3024188" y="2718896"/>
            <a:ext cx="2333625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плоская</a:t>
            </a: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: hashbrown (Swiss); группа 16 на x86, 8 на ARM</a:t>
            </a:r>
            <a:endParaRPr lang="ru-RU" sz="82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0" name="Line 150"/>
          <p:cNvSpPr/>
          <p:nvPr/>
        </p:nvSpPr>
        <p:spPr>
          <a:xfrm>
            <a:off x="5367338" y="3043878"/>
            <a:ext cx="1590675" cy="48"/>
          </a:xfrm>
          <a:custGeom>
            <a:avLst/>
            <a:gdLst/>
            <a:ahLst/>
            <a:cxnLst/>
            <a:rect l="0" t="0" r="r" b="b"/>
            <a:pathLst>
              <a:path w="1590675" h="1" fill="none">
                <a:moveTo>
                  <a:pt x="0" y="0"/>
                </a:moveTo>
                <a:lnTo>
                  <a:pt x="159067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51" name="Text 151"/>
          <p:cNvSpPr txBox="1"/>
          <p:nvPr/>
        </p:nvSpPr>
        <p:spPr>
          <a:xfrm>
            <a:off x="5424488" y="2718896"/>
            <a:ext cx="1524000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SipHash-1-3, случайный сид</a:t>
            </a:r>
            <a:endParaRPr lang="ru-RU" sz="82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2" name="Line 152"/>
          <p:cNvSpPr/>
          <p:nvPr/>
        </p:nvSpPr>
        <p:spPr>
          <a:xfrm>
            <a:off x="6958012" y="3043878"/>
            <a:ext cx="1524000" cy="48"/>
          </a:xfrm>
          <a:custGeom>
            <a:avLst/>
            <a:gdLst/>
            <a:ahLst/>
            <a:cxnLst/>
            <a:rect l="0" t="0" r="r" b="b"/>
            <a:pathLst>
              <a:path w="1524000" h="1" fill="none">
                <a:moveTo>
                  <a:pt x="0" y="0"/>
                </a:moveTo>
                <a:lnTo>
                  <a:pt x="152400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53" name="Text 153"/>
          <p:cNvSpPr txBox="1"/>
          <p:nvPr/>
        </p:nvSpPr>
        <p:spPr>
          <a:xfrm>
            <a:off x="7015162" y="2718896"/>
            <a:ext cx="1457325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sort_unstable() + dedup()</a:t>
            </a:r>
            <a:endParaRPr lang="ru-RU" sz="82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4" name="Line 154"/>
          <p:cNvSpPr/>
          <p:nvPr/>
        </p:nvSpPr>
        <p:spPr>
          <a:xfrm>
            <a:off x="557212" y="3398089"/>
            <a:ext cx="838200" cy="48"/>
          </a:xfrm>
          <a:custGeom>
            <a:avLst/>
            <a:gdLst/>
            <a:ahLst/>
            <a:cxnLst/>
            <a:rect l="0" t="0" r="r" b="b"/>
            <a:pathLst>
              <a:path w="838200" h="1" fill="none">
                <a:moveTo>
                  <a:pt x="0" y="0"/>
                </a:moveTo>
                <a:lnTo>
                  <a:pt x="83820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55" name="Text 155"/>
          <p:cNvSpPr txBox="1"/>
          <p:nvPr/>
        </p:nvSpPr>
        <p:spPr>
          <a:xfrm>
            <a:off x="614362" y="3073107"/>
            <a:ext cx="771525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Java / Kotlin</a:t>
            </a:r>
            <a:endParaRPr lang="ru-RU" sz="828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56" name="Line 156"/>
          <p:cNvSpPr/>
          <p:nvPr/>
        </p:nvSpPr>
        <p:spPr>
          <a:xfrm>
            <a:off x="1395412" y="3398089"/>
            <a:ext cx="1571625" cy="48"/>
          </a:xfrm>
          <a:custGeom>
            <a:avLst/>
            <a:gdLst/>
            <a:ahLst/>
            <a:cxnLst/>
            <a:rect l="0" t="0" r="r" b="b"/>
            <a:pathLst>
              <a:path w="1571625" h="1" fill="none">
                <a:moveTo>
                  <a:pt x="0" y="0"/>
                </a:moveTo>
                <a:lnTo>
                  <a:pt x="157162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57" name="Text 157"/>
          <p:cNvSpPr txBox="1"/>
          <p:nvPr/>
        </p:nvSpPr>
        <p:spPr>
          <a:xfrm>
            <a:off x="1452562" y="3073107"/>
            <a:ext cx="1504950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HashSet&lt;Long&gt;, distinct()</a:t>
            </a:r>
            <a:endParaRPr lang="ru-RU" sz="82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8" name="Line 158"/>
          <p:cNvSpPr/>
          <p:nvPr/>
        </p:nvSpPr>
        <p:spPr>
          <a:xfrm>
            <a:off x="2967038" y="3398089"/>
            <a:ext cx="2400300" cy="48"/>
          </a:xfrm>
          <a:custGeom>
            <a:avLst/>
            <a:gdLst/>
            <a:ahLst/>
            <a:cxnLst/>
            <a:rect l="0" t="0" r="r" b="b"/>
            <a:pathLst>
              <a:path w="2400300" h="1" fill="none">
                <a:moveTo>
                  <a:pt x="0" y="0"/>
                </a:moveTo>
                <a:lnTo>
                  <a:pt x="240030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59" name="Text 159"/>
          <p:cNvSpPr txBox="1"/>
          <p:nvPr/>
        </p:nvSpPr>
        <p:spPr>
          <a:xfrm>
            <a:off x="3024188" y="3073107"/>
            <a:ext cx="2333625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E2489B"/>
                </a:solidFill>
                <a:latin typeface="Montserrat"/>
                <a:ea typeface="Montserrat"/>
                <a:cs typeface="Montserrat"/>
                <a:sym typeface="Montserrat"/>
              </a:rPr>
              <a:t>узловая</a:t>
            </a: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+ боксинг: два объекта на id</a:t>
            </a:r>
            <a:endParaRPr lang="ru-RU" sz="82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60" name="Line 160"/>
          <p:cNvSpPr/>
          <p:nvPr/>
        </p:nvSpPr>
        <p:spPr>
          <a:xfrm>
            <a:off x="5367338" y="3398089"/>
            <a:ext cx="1590675" cy="48"/>
          </a:xfrm>
          <a:custGeom>
            <a:avLst/>
            <a:gdLst/>
            <a:ahLst/>
            <a:cxnLst/>
            <a:rect l="0" t="0" r="r" b="b"/>
            <a:pathLst>
              <a:path w="1590675" h="1" fill="none">
                <a:moveTo>
                  <a:pt x="0" y="0"/>
                </a:moveTo>
                <a:lnTo>
                  <a:pt x="159067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61" name="Text 161"/>
          <p:cNvSpPr txBox="1"/>
          <p:nvPr/>
        </p:nvSpPr>
        <p:spPr>
          <a:xfrm>
            <a:off x="5424488" y="3073107"/>
            <a:ext cx="1524000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(int)(v ^ v&gt;&gt;&gt;32), без сида</a:t>
            </a:r>
            <a:endParaRPr lang="ru-RU" sz="82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62" name="Line 162"/>
          <p:cNvSpPr/>
          <p:nvPr/>
        </p:nvSpPr>
        <p:spPr>
          <a:xfrm>
            <a:off x="6958012" y="3398089"/>
            <a:ext cx="1524000" cy="48"/>
          </a:xfrm>
          <a:custGeom>
            <a:avLst/>
            <a:gdLst/>
            <a:ahLst/>
            <a:cxnLst/>
            <a:rect l="0" t="0" r="r" b="b"/>
            <a:pathLst>
              <a:path w="1524000" h="1" fill="none">
                <a:moveTo>
                  <a:pt x="0" y="0"/>
                </a:moveTo>
                <a:lnTo>
                  <a:pt x="152400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63" name="Text 163"/>
          <p:cNvSpPr txBox="1"/>
          <p:nvPr/>
        </p:nvSpPr>
        <p:spPr>
          <a:xfrm>
            <a:off x="7015162" y="3073107"/>
            <a:ext cx="1457325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Arrays.sort(long[]) + проход</a:t>
            </a:r>
            <a:endParaRPr lang="ru-RU" sz="82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64" name="Line 164"/>
          <p:cNvSpPr/>
          <p:nvPr/>
        </p:nvSpPr>
        <p:spPr>
          <a:xfrm>
            <a:off x="557212" y="3615675"/>
            <a:ext cx="838200" cy="48"/>
          </a:xfrm>
          <a:custGeom>
            <a:avLst/>
            <a:gdLst/>
            <a:ahLst/>
            <a:cxnLst/>
            <a:rect l="0" t="0" r="r" b="b"/>
            <a:pathLst>
              <a:path w="838200" h="1" fill="none">
                <a:moveTo>
                  <a:pt x="0" y="0"/>
                </a:moveTo>
                <a:lnTo>
                  <a:pt x="83820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65" name="Text 165"/>
          <p:cNvSpPr txBox="1"/>
          <p:nvPr/>
        </p:nvSpPr>
        <p:spPr>
          <a:xfrm>
            <a:off x="614362" y="3427318"/>
            <a:ext cx="771525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Python</a:t>
            </a:r>
            <a:endParaRPr lang="ru-RU" sz="828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66" name="Line 166"/>
          <p:cNvSpPr/>
          <p:nvPr/>
        </p:nvSpPr>
        <p:spPr>
          <a:xfrm>
            <a:off x="1395412" y="3615675"/>
            <a:ext cx="1571625" cy="48"/>
          </a:xfrm>
          <a:custGeom>
            <a:avLst/>
            <a:gdLst/>
            <a:ahLst/>
            <a:cxnLst/>
            <a:rect l="0" t="0" r="r" b="b"/>
            <a:pathLst>
              <a:path w="1571625" h="1" fill="none">
                <a:moveTo>
                  <a:pt x="0" y="0"/>
                </a:moveTo>
                <a:lnTo>
                  <a:pt x="157162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67" name="Text 167"/>
          <p:cNvSpPr txBox="1"/>
          <p:nvPr/>
        </p:nvSpPr>
        <p:spPr>
          <a:xfrm>
            <a:off x="1452562" y="3427318"/>
            <a:ext cx="1504950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set</a:t>
            </a:r>
            <a:endParaRPr lang="ru-RU" sz="82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68" name="Line 168"/>
          <p:cNvSpPr/>
          <p:nvPr/>
        </p:nvSpPr>
        <p:spPr>
          <a:xfrm>
            <a:off x="2967038" y="3615675"/>
            <a:ext cx="2400300" cy="48"/>
          </a:xfrm>
          <a:custGeom>
            <a:avLst/>
            <a:gdLst/>
            <a:ahLst/>
            <a:cxnLst/>
            <a:rect l="0" t="0" r="r" b="b"/>
            <a:pathLst>
              <a:path w="2400300" h="1" fill="none">
                <a:moveTo>
                  <a:pt x="0" y="0"/>
                </a:moveTo>
                <a:lnTo>
                  <a:pt x="240030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69" name="Text 169"/>
          <p:cNvSpPr txBox="1"/>
          <p:nvPr/>
        </p:nvSpPr>
        <p:spPr>
          <a:xfrm>
            <a:off x="3024188" y="3427318"/>
            <a:ext cx="2333625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плоская</a:t>
            </a: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, но каждый int — объект в куче</a:t>
            </a:r>
            <a:endParaRPr lang="ru-RU" sz="82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70" name="Line 170"/>
          <p:cNvSpPr/>
          <p:nvPr/>
        </p:nvSpPr>
        <p:spPr>
          <a:xfrm>
            <a:off x="5367338" y="3615675"/>
            <a:ext cx="1590675" cy="48"/>
          </a:xfrm>
          <a:custGeom>
            <a:avLst/>
            <a:gdLst/>
            <a:ahLst/>
            <a:cxnLst/>
            <a:rect l="0" t="0" r="r" b="b"/>
            <a:pathLst>
              <a:path w="1590675" h="1" fill="none">
                <a:moveTo>
                  <a:pt x="0" y="0"/>
                </a:moveTo>
                <a:lnTo>
                  <a:pt x="159067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71" name="Text 171"/>
          <p:cNvSpPr txBox="1"/>
          <p:nvPr/>
        </p:nvSpPr>
        <p:spPr>
          <a:xfrm>
            <a:off x="5424488" y="3427318"/>
            <a:ext cx="1524000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hash(int), без сида</a:t>
            </a:r>
            <a:endParaRPr lang="ru-RU" sz="82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72" name="Line 172"/>
          <p:cNvSpPr/>
          <p:nvPr/>
        </p:nvSpPr>
        <p:spPr>
          <a:xfrm>
            <a:off x="6958012" y="3615675"/>
            <a:ext cx="1524000" cy="48"/>
          </a:xfrm>
          <a:custGeom>
            <a:avLst/>
            <a:gdLst/>
            <a:ahLst/>
            <a:cxnLst/>
            <a:rect l="0" t="0" r="r" b="b"/>
            <a:pathLst>
              <a:path w="1524000" h="1" fill="none">
                <a:moveTo>
                  <a:pt x="0" y="0"/>
                </a:moveTo>
                <a:lnTo>
                  <a:pt x="152400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73" name="Text 173"/>
          <p:cNvSpPr txBox="1"/>
          <p:nvPr/>
        </p:nvSpPr>
        <p:spPr>
          <a:xfrm>
            <a:off x="7015162" y="3427318"/>
            <a:ext cx="1457325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sorted() + проход</a:t>
            </a:r>
            <a:endParaRPr lang="ru-RU" sz="82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74" name="Line 174"/>
          <p:cNvSpPr/>
          <p:nvPr/>
        </p:nvSpPr>
        <p:spPr>
          <a:xfrm>
            <a:off x="557212" y="3969886"/>
            <a:ext cx="838200" cy="48"/>
          </a:xfrm>
          <a:custGeom>
            <a:avLst/>
            <a:gdLst/>
            <a:ahLst/>
            <a:cxnLst/>
            <a:rect l="0" t="0" r="r" b="b"/>
            <a:pathLst>
              <a:path w="838200" h="1" fill="none">
                <a:moveTo>
                  <a:pt x="0" y="0"/>
                </a:moveTo>
                <a:lnTo>
                  <a:pt x="83820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75" name="Text 175"/>
          <p:cNvSpPr txBox="1"/>
          <p:nvPr/>
        </p:nvSpPr>
        <p:spPr>
          <a:xfrm>
            <a:off x="614362" y="3644905"/>
            <a:ext cx="771525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C#</a:t>
            </a:r>
            <a:endParaRPr lang="ru-RU" sz="828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76" name="Line 176"/>
          <p:cNvSpPr/>
          <p:nvPr/>
        </p:nvSpPr>
        <p:spPr>
          <a:xfrm>
            <a:off x="1395412" y="3969886"/>
            <a:ext cx="1571625" cy="48"/>
          </a:xfrm>
          <a:custGeom>
            <a:avLst/>
            <a:gdLst/>
            <a:ahLst/>
            <a:cxnLst/>
            <a:rect l="0" t="0" r="r" b="b"/>
            <a:pathLst>
              <a:path w="1571625" h="1" fill="none">
                <a:moveTo>
                  <a:pt x="0" y="0"/>
                </a:moveTo>
                <a:lnTo>
                  <a:pt x="157162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77" name="Text 177"/>
          <p:cNvSpPr txBox="1"/>
          <p:nvPr/>
        </p:nvSpPr>
        <p:spPr>
          <a:xfrm>
            <a:off x="1452562" y="3644905"/>
            <a:ext cx="1504950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HashSet&lt;long&gt;</a:t>
            </a:r>
            <a:endParaRPr lang="ru-RU" sz="82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78" name="Line 178"/>
          <p:cNvSpPr/>
          <p:nvPr/>
        </p:nvSpPr>
        <p:spPr>
          <a:xfrm>
            <a:off x="2967038" y="3969886"/>
            <a:ext cx="2400300" cy="48"/>
          </a:xfrm>
          <a:custGeom>
            <a:avLst/>
            <a:gdLst/>
            <a:ahLst/>
            <a:cxnLst/>
            <a:rect l="0" t="0" r="r" b="b"/>
            <a:pathLst>
              <a:path w="2400300" h="1" fill="none">
                <a:moveTo>
                  <a:pt x="0" y="0"/>
                </a:moveTo>
                <a:lnTo>
                  <a:pt x="240030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79" name="Text 179"/>
          <p:cNvSpPr txBox="1"/>
          <p:nvPr/>
        </p:nvSpPr>
        <p:spPr>
          <a:xfrm>
            <a:off x="3024188" y="3644905"/>
            <a:ext cx="2333625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цепочки в массивах: без new на элемент, без боксинга</a:t>
            </a:r>
            <a:endParaRPr lang="ru-RU" sz="82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80" name="Line 180"/>
          <p:cNvSpPr/>
          <p:nvPr/>
        </p:nvSpPr>
        <p:spPr>
          <a:xfrm>
            <a:off x="5367338" y="3969886"/>
            <a:ext cx="1590675" cy="48"/>
          </a:xfrm>
          <a:custGeom>
            <a:avLst/>
            <a:gdLst/>
            <a:ahLst/>
            <a:cxnLst/>
            <a:rect l="0" t="0" r="r" b="b"/>
            <a:pathLst>
              <a:path w="1590675" h="1" fill="none">
                <a:moveTo>
                  <a:pt x="0" y="0"/>
                </a:moveTo>
                <a:lnTo>
                  <a:pt x="159067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81" name="Text 181"/>
          <p:cNvSpPr txBox="1"/>
          <p:nvPr/>
        </p:nvSpPr>
        <p:spPr>
          <a:xfrm>
            <a:off x="5424488" y="3644905"/>
            <a:ext cx="1524000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(int)v ^ (int)(v &gt;&gt; 32), без сида</a:t>
            </a:r>
            <a:endParaRPr lang="ru-RU" sz="82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82" name="Line 182"/>
          <p:cNvSpPr/>
          <p:nvPr/>
        </p:nvSpPr>
        <p:spPr>
          <a:xfrm>
            <a:off x="6958012" y="3969886"/>
            <a:ext cx="1524000" cy="48"/>
          </a:xfrm>
          <a:custGeom>
            <a:avLst/>
            <a:gdLst/>
            <a:ahLst/>
            <a:cxnLst/>
            <a:rect l="0" t="0" r="r" b="b"/>
            <a:pathLst>
              <a:path w="1524000" h="1" fill="none">
                <a:moveTo>
                  <a:pt x="0" y="0"/>
                </a:moveTo>
                <a:lnTo>
                  <a:pt x="152400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83" name="Text 183"/>
          <p:cNvSpPr txBox="1"/>
          <p:nvPr/>
        </p:nvSpPr>
        <p:spPr>
          <a:xfrm>
            <a:off x="7015162" y="3644905"/>
            <a:ext cx="1457325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Array.Sort + проход</a:t>
            </a:r>
            <a:endParaRPr lang="ru-RU" sz="828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84" name="Text 184"/>
          <p:cNvSpPr txBox="1"/>
          <p:nvPr/>
        </p:nvSpPr>
        <p:spPr>
          <a:xfrm>
            <a:off x="557212" y="4554200"/>
            <a:ext cx="7936039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Плоские замены: C++ — absl::flat_hash_set, boost::unordered_flat_set; JVM — fastutil LongOpenHashSet, androidx MutableLongSet · по исходникам: Swift, Go 1.24, Rust std, JDK 21, .NET, CPython · замеров вне C++ нет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85" name="Picture 18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85" name="Slide Number 185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БЕНЧМАРК ВРАЛ: ПРИЧИНА НА x86 И НА M2 РАЗНАЯ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336789"/>
            <a:ext cx="8191119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sort + unique</a:t>
            </a: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 · 1024 id, U = 512 · нс на элемент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4" name="Line 104"/>
          <p:cNvSpPr/>
          <p:nvPr/>
        </p:nvSpPr>
        <p:spPr>
          <a:xfrm>
            <a:off x="557212" y="1779359"/>
            <a:ext cx="2952750" cy="48"/>
          </a:xfrm>
          <a:custGeom>
            <a:avLst/>
            <a:gdLst/>
            <a:ahLst/>
            <a:cxnLst/>
            <a:rect l="0" t="0" r="r" b="b"/>
            <a:pathLst>
              <a:path w="2952750" h="1" fill="none">
                <a:moveTo>
                  <a:pt x="0" y="0"/>
                </a:moveTo>
                <a:lnTo>
                  <a:pt x="2952750" y="0"/>
                </a:lnTo>
              </a:path>
            </a:pathLst>
          </a:custGeom>
          <a:noFill/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633412" y="1579096"/>
            <a:ext cx="2867025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система · библиотека</a:t>
            </a:r>
            <a:endParaRPr lang="ru-RU" sz="828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6" name="Line 106"/>
          <p:cNvSpPr/>
          <p:nvPr/>
        </p:nvSpPr>
        <p:spPr>
          <a:xfrm>
            <a:off x="3509962" y="1779359"/>
            <a:ext cx="1657350" cy="48"/>
          </a:xfrm>
          <a:custGeom>
            <a:avLst/>
            <a:gdLst/>
            <a:ahLst/>
            <a:cxnLst/>
            <a:rect l="0" t="0" r="r" b="b"/>
            <a:pathLst>
              <a:path w="1657350" h="1" fill="none">
                <a:moveTo>
                  <a:pt x="0" y="0"/>
                </a:moveTo>
                <a:lnTo>
                  <a:pt x="1657350" y="0"/>
                </a:lnTo>
              </a:path>
            </a:pathLst>
          </a:custGeom>
          <a:noFill/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3549301" y="1579096"/>
            <a:ext cx="1578674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один массив в цикле</a:t>
            </a:r>
            <a:endParaRPr lang="ru-RU" sz="828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Line 108"/>
          <p:cNvSpPr/>
          <p:nvPr/>
        </p:nvSpPr>
        <p:spPr>
          <a:xfrm>
            <a:off x="5167312" y="1779359"/>
            <a:ext cx="1657350" cy="48"/>
          </a:xfrm>
          <a:custGeom>
            <a:avLst/>
            <a:gdLst/>
            <a:ahLst/>
            <a:cxnLst/>
            <a:rect l="0" t="0" r="r" b="b"/>
            <a:pathLst>
              <a:path w="1657350" h="1" fill="none">
                <a:moveTo>
                  <a:pt x="0" y="0"/>
                </a:moveTo>
                <a:lnTo>
                  <a:pt x="1657350" y="0"/>
                </a:lnTo>
              </a:path>
            </a:pathLst>
          </a:custGeom>
          <a:noFill/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5206651" y="1579096"/>
            <a:ext cx="1578674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64 одинаковые копии</a:t>
            </a:r>
            <a:endParaRPr lang="ru-RU" sz="828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0" name="Line 110"/>
          <p:cNvSpPr/>
          <p:nvPr/>
        </p:nvSpPr>
        <p:spPr>
          <a:xfrm>
            <a:off x="6824662" y="1779359"/>
            <a:ext cx="1657350" cy="48"/>
          </a:xfrm>
          <a:custGeom>
            <a:avLst/>
            <a:gdLst/>
            <a:ahLst/>
            <a:cxnLst/>
            <a:rect l="0" t="0" r="r" b="b"/>
            <a:pathLst>
              <a:path w="1657350" h="1" fill="none">
                <a:moveTo>
                  <a:pt x="0" y="0"/>
                </a:moveTo>
                <a:lnTo>
                  <a:pt x="1657350" y="0"/>
                </a:lnTo>
              </a:path>
            </a:pathLst>
          </a:custGeom>
          <a:noFill/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6864001" y="1579096"/>
            <a:ext cx="1578674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64 разных массива</a:t>
            </a:r>
            <a:endParaRPr lang="ru-RU" sz="828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2" name="Line 112"/>
          <p:cNvSpPr/>
          <p:nvPr/>
        </p:nvSpPr>
        <p:spPr>
          <a:xfrm>
            <a:off x="557212" y="2063993"/>
            <a:ext cx="2952750" cy="48"/>
          </a:xfrm>
          <a:custGeom>
            <a:avLst/>
            <a:gdLst/>
            <a:ahLst/>
            <a:cxnLst/>
            <a:rect l="0" t="0" r="r" b="b"/>
            <a:pathLst>
              <a:path w="2952750" h="1" fill="none">
                <a:moveTo>
                  <a:pt x="0" y="0"/>
                </a:moveTo>
                <a:lnTo>
                  <a:pt x="295275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633412" y="1821507"/>
            <a:ext cx="2867025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x86 Xeon · libstdc++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4" name="Line 114"/>
          <p:cNvSpPr/>
          <p:nvPr/>
        </p:nvSpPr>
        <p:spPr>
          <a:xfrm>
            <a:off x="3509962" y="2063993"/>
            <a:ext cx="1657350" cy="48"/>
          </a:xfrm>
          <a:custGeom>
            <a:avLst/>
            <a:gdLst/>
            <a:ahLst/>
            <a:cxnLst/>
            <a:rect l="0" t="0" r="r" b="b"/>
            <a:pathLst>
              <a:path w="1657350" h="1" fill="none">
                <a:moveTo>
                  <a:pt x="0" y="0"/>
                </a:moveTo>
                <a:lnTo>
                  <a:pt x="165735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3549301" y="1821507"/>
            <a:ext cx="1578674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6,3</a:t>
            </a:r>
            <a:endParaRPr lang="ru-RU" sz="1104" b="0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6" name="Line 116"/>
          <p:cNvSpPr/>
          <p:nvPr/>
        </p:nvSpPr>
        <p:spPr>
          <a:xfrm>
            <a:off x="5167312" y="2063993"/>
            <a:ext cx="1657350" cy="48"/>
          </a:xfrm>
          <a:custGeom>
            <a:avLst/>
            <a:gdLst/>
            <a:ahLst/>
            <a:cxnLst/>
            <a:rect l="0" t="0" r="r" b="b"/>
            <a:pathLst>
              <a:path w="1657350" h="1" fill="none">
                <a:moveTo>
                  <a:pt x="0" y="0"/>
                </a:moveTo>
                <a:lnTo>
                  <a:pt x="165735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5206651" y="1821507"/>
            <a:ext cx="1578674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5,7</a:t>
            </a:r>
            <a:endParaRPr lang="ru-RU" sz="1104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8" name="Line 118"/>
          <p:cNvSpPr/>
          <p:nvPr/>
        </p:nvSpPr>
        <p:spPr>
          <a:xfrm>
            <a:off x="6824662" y="2063993"/>
            <a:ext cx="1657350" cy="48"/>
          </a:xfrm>
          <a:custGeom>
            <a:avLst/>
            <a:gdLst/>
            <a:ahLst/>
            <a:cxnLst/>
            <a:rect l="0" t="0" r="r" b="b"/>
            <a:pathLst>
              <a:path w="1657350" h="1" fill="none">
                <a:moveTo>
                  <a:pt x="0" y="0"/>
                </a:moveTo>
                <a:lnTo>
                  <a:pt x="165735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19" name="Text 119"/>
          <p:cNvSpPr txBox="1"/>
          <p:nvPr/>
        </p:nvSpPr>
        <p:spPr>
          <a:xfrm>
            <a:off x="6864001" y="1821507"/>
            <a:ext cx="1578674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27,1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0" name="Line 120"/>
          <p:cNvSpPr/>
          <p:nvPr/>
        </p:nvSpPr>
        <p:spPr>
          <a:xfrm>
            <a:off x="557212" y="2346246"/>
            <a:ext cx="2952750" cy="48"/>
          </a:xfrm>
          <a:custGeom>
            <a:avLst/>
            <a:gdLst/>
            <a:ahLst/>
            <a:cxnLst/>
            <a:rect l="0" t="0" r="r" b="b"/>
            <a:pathLst>
              <a:path w="2952750" h="1" fill="none">
                <a:moveTo>
                  <a:pt x="0" y="0"/>
                </a:moveTo>
                <a:lnTo>
                  <a:pt x="295275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21" name="Text 121"/>
          <p:cNvSpPr txBox="1"/>
          <p:nvPr/>
        </p:nvSpPr>
        <p:spPr>
          <a:xfrm>
            <a:off x="633412" y="2103760"/>
            <a:ext cx="2867025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M2 Pro · Linux VM · libstdc++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2" name="Line 122"/>
          <p:cNvSpPr/>
          <p:nvPr/>
        </p:nvSpPr>
        <p:spPr>
          <a:xfrm>
            <a:off x="3509962" y="2346246"/>
            <a:ext cx="1657350" cy="48"/>
          </a:xfrm>
          <a:custGeom>
            <a:avLst/>
            <a:gdLst/>
            <a:ahLst/>
            <a:cxnLst/>
            <a:rect l="0" t="0" r="r" b="b"/>
            <a:pathLst>
              <a:path w="1657350" h="1" fill="none">
                <a:moveTo>
                  <a:pt x="0" y="0"/>
                </a:moveTo>
                <a:lnTo>
                  <a:pt x="165735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23" name="Text 123"/>
          <p:cNvSpPr txBox="1"/>
          <p:nvPr/>
        </p:nvSpPr>
        <p:spPr>
          <a:xfrm>
            <a:off x="3549301" y="2103760"/>
            <a:ext cx="1578674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4,8</a:t>
            </a:r>
            <a:endParaRPr lang="ru-RU" sz="1104" b="0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4" name="Line 124"/>
          <p:cNvSpPr/>
          <p:nvPr/>
        </p:nvSpPr>
        <p:spPr>
          <a:xfrm>
            <a:off x="5167312" y="2346246"/>
            <a:ext cx="1657350" cy="48"/>
          </a:xfrm>
          <a:custGeom>
            <a:avLst/>
            <a:gdLst/>
            <a:ahLst/>
            <a:cxnLst/>
            <a:rect l="0" t="0" r="r" b="b"/>
            <a:pathLst>
              <a:path w="1657350" h="1" fill="none">
                <a:moveTo>
                  <a:pt x="0" y="0"/>
                </a:moveTo>
                <a:lnTo>
                  <a:pt x="165735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25" name="Text 125"/>
          <p:cNvSpPr txBox="1"/>
          <p:nvPr/>
        </p:nvSpPr>
        <p:spPr>
          <a:xfrm>
            <a:off x="5206651" y="2103760"/>
            <a:ext cx="1578674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15,4</a:t>
            </a:r>
            <a:endParaRPr lang="ru-RU" sz="1104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6" name="Line 126"/>
          <p:cNvSpPr/>
          <p:nvPr/>
        </p:nvSpPr>
        <p:spPr>
          <a:xfrm>
            <a:off x="6824662" y="2346246"/>
            <a:ext cx="1657350" cy="48"/>
          </a:xfrm>
          <a:custGeom>
            <a:avLst/>
            <a:gdLst/>
            <a:ahLst/>
            <a:cxnLst/>
            <a:rect l="0" t="0" r="r" b="b"/>
            <a:pathLst>
              <a:path w="1657350" h="1" fill="none">
                <a:moveTo>
                  <a:pt x="0" y="0"/>
                </a:moveTo>
                <a:lnTo>
                  <a:pt x="165735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27" name="Text 127"/>
          <p:cNvSpPr txBox="1"/>
          <p:nvPr/>
        </p:nvSpPr>
        <p:spPr>
          <a:xfrm>
            <a:off x="6864001" y="2103760"/>
            <a:ext cx="1578674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14,6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8" name="Line 128"/>
          <p:cNvSpPr/>
          <p:nvPr/>
        </p:nvSpPr>
        <p:spPr>
          <a:xfrm>
            <a:off x="557212" y="2628498"/>
            <a:ext cx="2952750" cy="48"/>
          </a:xfrm>
          <a:custGeom>
            <a:avLst/>
            <a:gdLst/>
            <a:ahLst/>
            <a:cxnLst/>
            <a:rect l="0" t="0" r="r" b="b"/>
            <a:pathLst>
              <a:path w="2952750" h="1" fill="none">
                <a:moveTo>
                  <a:pt x="0" y="0"/>
                </a:moveTo>
                <a:lnTo>
                  <a:pt x="295275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29" name="Text 129"/>
          <p:cNvSpPr txBox="1"/>
          <p:nvPr/>
        </p:nvSpPr>
        <p:spPr>
          <a:xfrm>
            <a:off x="633412" y="2386012"/>
            <a:ext cx="2867025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M2 Pro · macOS · libc++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0" name="Line 130"/>
          <p:cNvSpPr/>
          <p:nvPr/>
        </p:nvSpPr>
        <p:spPr>
          <a:xfrm>
            <a:off x="3509962" y="2628498"/>
            <a:ext cx="1657350" cy="48"/>
          </a:xfrm>
          <a:custGeom>
            <a:avLst/>
            <a:gdLst/>
            <a:ahLst/>
            <a:cxnLst/>
            <a:rect l="0" t="0" r="r" b="b"/>
            <a:pathLst>
              <a:path w="1657350" h="1" fill="none">
                <a:moveTo>
                  <a:pt x="0" y="0"/>
                </a:moveTo>
                <a:lnTo>
                  <a:pt x="165735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31" name="Text 131"/>
          <p:cNvSpPr txBox="1"/>
          <p:nvPr/>
        </p:nvSpPr>
        <p:spPr>
          <a:xfrm>
            <a:off x="3549301" y="2386012"/>
            <a:ext cx="1578674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6,8</a:t>
            </a:r>
            <a:endParaRPr lang="ru-RU" sz="1104" b="0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2" name="Line 132"/>
          <p:cNvSpPr/>
          <p:nvPr/>
        </p:nvSpPr>
        <p:spPr>
          <a:xfrm>
            <a:off x="5167312" y="2628498"/>
            <a:ext cx="1657350" cy="48"/>
          </a:xfrm>
          <a:custGeom>
            <a:avLst/>
            <a:gdLst/>
            <a:ahLst/>
            <a:cxnLst/>
            <a:rect l="0" t="0" r="r" b="b"/>
            <a:pathLst>
              <a:path w="1657350" h="1" fill="none">
                <a:moveTo>
                  <a:pt x="0" y="0"/>
                </a:moveTo>
                <a:lnTo>
                  <a:pt x="165735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33" name="Text 133"/>
          <p:cNvSpPr txBox="1"/>
          <p:nvPr/>
        </p:nvSpPr>
        <p:spPr>
          <a:xfrm>
            <a:off x="5206651" y="2386012"/>
            <a:ext cx="1578674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—</a:t>
            </a:r>
            <a:endParaRPr lang="ru-RU" sz="1104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4" name="Line 134"/>
          <p:cNvSpPr/>
          <p:nvPr/>
        </p:nvSpPr>
        <p:spPr>
          <a:xfrm>
            <a:off x="6824662" y="2628498"/>
            <a:ext cx="1657350" cy="48"/>
          </a:xfrm>
          <a:custGeom>
            <a:avLst/>
            <a:gdLst/>
            <a:ahLst/>
            <a:cxnLst/>
            <a:rect l="0" t="0" r="r" b="b"/>
            <a:pathLst>
              <a:path w="1657350" h="1" fill="none">
                <a:moveTo>
                  <a:pt x="0" y="0"/>
                </a:moveTo>
                <a:lnTo>
                  <a:pt x="165735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35" name="Text 135"/>
          <p:cNvSpPr txBox="1"/>
          <p:nvPr/>
        </p:nvSpPr>
        <p:spPr>
          <a:xfrm>
            <a:off x="6864001" y="2386012"/>
            <a:ext cx="1578674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14,4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6" name="Text 136"/>
          <p:cNvSpPr txBox="1"/>
          <p:nvPr/>
        </p:nvSpPr>
        <p:spPr>
          <a:xfrm>
            <a:off x="557212" y="2657728"/>
            <a:ext cx="8191119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янтарём</a:t>
            </a: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 — «подозрительно быстро»: как один массив в цикле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7" name="Box 137"/>
          <p:cNvSpPr/>
          <p:nvPr/>
        </p:nvSpPr>
        <p:spPr>
          <a:xfrm>
            <a:off x="560784" y="2923476"/>
            <a:ext cx="3879056" cy="1256333"/>
          </a:xfrm>
          <a:prstGeom prst="roundRect">
            <a:avLst>
              <a:gd name="adj" fmla="val 6030"/>
            </a:avLst>
          </a:prstGeom>
          <a:solidFill>
            <a:srgbClr val="000000"/>
          </a:solidFill>
          <a:ln w="7144">
            <a:solidFill>
              <a:srgbClr val="FFFFFF"/>
            </a:solidFill>
          </a:ln>
        </p:spPr>
      </p:sp>
      <p:sp xmlns:p14="http://schemas.microsoft.com/office/powerpoint/2010/main">
        <p:nvSpPr>
          <p:cNvPr id="138" name="Text 138"/>
          <p:cNvSpPr txBox="1"/>
          <p:nvPr/>
        </p:nvSpPr>
        <p:spPr>
          <a:xfrm>
            <a:off x="695325" y="3028726"/>
            <a:ext cx="3700462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x86 Xeon: копии быстрые</a:t>
            </a:r>
            <a:endParaRPr lang="ru-RU" sz="1104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39" name="Text 139"/>
          <p:cNvSpPr txBox="1"/>
          <p:nvPr/>
        </p:nvSpPr>
        <p:spPr>
          <a:xfrm>
            <a:off x="695325" y="3250942"/>
            <a:ext cx="3700462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5,7 ≈ один массив 6,3 → предсказатель ветвлений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40" name="Text 140"/>
          <p:cNvSpPr txBox="1"/>
          <p:nvPr/>
        </p:nvSpPr>
        <p:spPr>
          <a:xfrm>
            <a:off x="695325" y="3445624"/>
            <a:ext cx="3700462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Повтор (E5): 9,7 / 9,6 / 46,9; 64 разных массива через один буфер 8 КБ — 46,8: рабочий набор ни при чём</a:t>
            </a:r>
            <a:endParaRPr lang="ru-RU" sz="828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41" name="Box 141"/>
          <p:cNvSpPr/>
          <p:nvPr/>
        </p:nvSpPr>
        <p:spPr>
          <a:xfrm>
            <a:off x="4599384" y="2923476"/>
            <a:ext cx="3879056" cy="1256333"/>
          </a:xfrm>
          <a:prstGeom prst="roundRect">
            <a:avLst>
              <a:gd name="adj" fmla="val 6030"/>
            </a:avLst>
          </a:prstGeom>
          <a:solidFill>
            <a:srgbClr val="000000"/>
          </a:solidFill>
          <a:ln w="7144">
            <a:solidFill>
              <a:srgbClr val="FFFFFF"/>
            </a:solidFill>
          </a:ln>
        </p:spPr>
      </p:sp>
      <p:sp xmlns:p14="http://schemas.microsoft.com/office/powerpoint/2010/main">
        <p:nvSpPr>
          <p:cNvPr id="142" name="Text 142"/>
          <p:cNvSpPr txBox="1"/>
          <p:nvPr/>
        </p:nvSpPr>
        <p:spPr>
          <a:xfrm>
            <a:off x="4733925" y="3028726"/>
            <a:ext cx="3700462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M2 Pro: копии медленные</a:t>
            </a:r>
            <a:endParaRPr lang="ru-RU" sz="1104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43" name="Text 143"/>
          <p:cNvSpPr txBox="1"/>
          <p:nvPr/>
        </p:nvSpPr>
        <p:spPr>
          <a:xfrm>
            <a:off x="4733925" y="3250942"/>
            <a:ext cx="3700462" cy="33802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15,4 ≈ разные массивы 14,6 → не история ветвлений, а что-то адресное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44" name="Text 144"/>
          <p:cNvSpPr txBox="1"/>
          <p:nvPr/>
        </p:nvSpPr>
        <p:spPr>
          <a:xfrm>
            <a:off x="4733925" y="3605093"/>
            <a:ext cx="3700462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Гипотеза — 512 КБ &gt; L1; счётчики — следующий шаг</a:t>
            </a:r>
            <a:endParaRPr lang="ru-RU" sz="828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45" name="Text 145"/>
          <p:cNvSpPr txBox="1"/>
          <p:nvPr/>
        </p:nvSpPr>
        <p:spPr>
          <a:xfrm>
            <a:off x="4733925" y="3779817"/>
            <a:ext cx="3700462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Контроль с копиями на M2 — Linux VM: тип ядра под vCPU не контролировался</a:t>
            </a:r>
            <a:endParaRPr lang="ru-RU" sz="828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46" name="Text 146"/>
          <p:cNvSpPr txBox="1"/>
          <p:nvPr/>
        </p:nvSpPr>
        <p:spPr>
          <a:xfrm>
            <a:off x="557212" y="4554200"/>
            <a:ext cx="7936039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U = 512, случайный порядок · вход восстанавливается перед каждым вызовом · медиана 4 блоков · заголовочные 6,8 и 14,4 сняты на macOS нативно · все серии доклада — на пуле разных массивов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47" name="Picture 14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47" name="Slide Number 147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В background СОРТИРОВКА ВПЕРЕДИ И НА Mac (×1,9), И НА iPhone (×1,3)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437590"/>
            <a:ext cx="8191119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N = 512K, U = N/2 · нс на элемент: </a:t>
            </a:r>
            <a:r>
              <a:rPr lang="ru-RU" sz="828" b="0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sort</a:t>
            </a: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 = sort + unique, </a:t>
            </a:r>
            <a:r>
              <a:rPr lang="ru-RU" sz="828" b="0" i="0" dirty="0">
                <a:solidFill>
                  <a:srgbClr val="E2489B"/>
                </a:solidFill>
                <a:latin typeface="Montserrat"/>
                <a:ea typeface="Montserrat"/>
                <a:cs typeface="Montserrat"/>
                <a:sym typeface="Montserrat"/>
              </a:rPr>
              <a:t>хеш</a:t>
            </a: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 = unordered_set · «≈» — ничья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4" name="Line 104"/>
          <p:cNvSpPr/>
          <p:nvPr/>
        </p:nvSpPr>
        <p:spPr>
          <a:xfrm>
            <a:off x="557212" y="1838771"/>
            <a:ext cx="1409700" cy="48"/>
          </a:xfrm>
          <a:custGeom>
            <a:avLst/>
            <a:gdLst/>
            <a:ahLst/>
            <a:cxnLst/>
            <a:rect l="0" t="0" r="r" b="b"/>
            <a:pathLst>
              <a:path w="1409700" h="1" fill="none">
                <a:moveTo>
                  <a:pt x="0" y="0"/>
                </a:moveTo>
                <a:lnTo>
                  <a:pt x="140970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623888" y="1650414"/>
            <a:ext cx="1333500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 = 512K</a:t>
            </a:r>
            <a:endParaRPr lang="ru-RU" sz="828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6" name="Line 106"/>
          <p:cNvSpPr/>
          <p:nvPr/>
        </p:nvSpPr>
        <p:spPr>
          <a:xfrm>
            <a:off x="1966912" y="1838771"/>
            <a:ext cx="3209925" cy="48"/>
          </a:xfrm>
          <a:custGeom>
            <a:avLst/>
            <a:gdLst/>
            <a:ahLst/>
            <a:cxnLst/>
            <a:rect l="0" t="0" r="r" b="b"/>
            <a:pathLst>
              <a:path w="3209925" h="1" fill="none">
                <a:moveTo>
                  <a:pt x="0" y="0"/>
                </a:moveTo>
                <a:lnTo>
                  <a:pt x="320992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1976438" y="1650414"/>
            <a:ext cx="3190875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Mac · M2 Pro</a:t>
            </a:r>
            <a:endParaRPr lang="ru-RU" sz="828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8" name="Line 108"/>
          <p:cNvSpPr/>
          <p:nvPr/>
        </p:nvSpPr>
        <p:spPr>
          <a:xfrm>
            <a:off x="5176838" y="1838771"/>
            <a:ext cx="3305175" cy="48"/>
          </a:xfrm>
          <a:custGeom>
            <a:avLst/>
            <a:gdLst/>
            <a:ahLst/>
            <a:cxnLst/>
            <a:rect l="0" t="0" r="r" b="b"/>
            <a:pathLst>
              <a:path w="3305175" h="1" fill="none">
                <a:moveTo>
                  <a:pt x="0" y="0"/>
                </a:moveTo>
                <a:lnTo>
                  <a:pt x="330517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5186362" y="1650414"/>
            <a:ext cx="3286125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iPhone </a:t>
            </a:r>
            <a:r>
              <a:rPr lang="ru-RU" sz="828" b="0" i="0" dirty="0">
                <a:solidFill>
                  <a:srgbClr val="F2C14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[модель iPhone]</a:t>
            </a:r>
            <a:endParaRPr lang="ru-RU" sz="828" b="0" i="0" dirty="0">
              <a:solidFill>
                <a:srgbClr val="F2C14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0" name="Line 110"/>
          <p:cNvSpPr/>
          <p:nvPr/>
        </p:nvSpPr>
        <p:spPr>
          <a:xfrm>
            <a:off x="557212" y="2058739"/>
            <a:ext cx="1409700" cy="48"/>
          </a:xfrm>
          <a:custGeom>
            <a:avLst/>
            <a:gdLst/>
            <a:ahLst/>
            <a:cxnLst/>
            <a:rect l="0" t="0" r="r" b="b"/>
            <a:pathLst>
              <a:path w="1409700" h="1" fill="none">
                <a:moveTo>
                  <a:pt x="0" y="0"/>
                </a:moveTo>
                <a:lnTo>
                  <a:pt x="1409700" y="0"/>
                </a:lnTo>
              </a:path>
            </a:pathLst>
          </a:custGeom>
          <a:noFill/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623888" y="1868001"/>
            <a:ext cx="1333500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QoS</a:t>
            </a:r>
            <a:endParaRPr lang="ru-RU" sz="828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2" name="Line 112"/>
          <p:cNvSpPr/>
          <p:nvPr/>
        </p:nvSpPr>
        <p:spPr>
          <a:xfrm>
            <a:off x="1966912" y="2058739"/>
            <a:ext cx="1000125" cy="48"/>
          </a:xfrm>
          <a:custGeom>
            <a:avLst/>
            <a:gdLst/>
            <a:ahLst/>
            <a:cxnLst/>
            <a:rect l="0" t="0" r="r" b="b"/>
            <a:pathLst>
              <a:path w="1000125" h="1" fill="none">
                <a:moveTo>
                  <a:pt x="0" y="0"/>
                </a:moveTo>
                <a:lnTo>
                  <a:pt x="1000125" y="0"/>
                </a:lnTo>
              </a:path>
            </a:pathLst>
          </a:custGeom>
          <a:noFill/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2006298" y="1868001"/>
            <a:ext cx="921353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</a:t>
            </a:r>
            <a:endParaRPr lang="ru-RU" sz="828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4" name="Line 114"/>
          <p:cNvSpPr/>
          <p:nvPr/>
        </p:nvSpPr>
        <p:spPr>
          <a:xfrm>
            <a:off x="2967038" y="2058739"/>
            <a:ext cx="1000125" cy="48"/>
          </a:xfrm>
          <a:custGeom>
            <a:avLst/>
            <a:gdLst/>
            <a:ahLst/>
            <a:cxnLst/>
            <a:rect l="0" t="0" r="r" b="b"/>
            <a:pathLst>
              <a:path w="1000125" h="1" fill="none">
                <a:moveTo>
                  <a:pt x="0" y="0"/>
                </a:moveTo>
                <a:lnTo>
                  <a:pt x="1000125" y="0"/>
                </a:lnTo>
              </a:path>
            </a:pathLst>
          </a:custGeom>
          <a:noFill/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3006423" y="1868001"/>
            <a:ext cx="921353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хеш</a:t>
            </a:r>
            <a:endParaRPr lang="ru-RU" sz="828" b="0" i="0" dirty="0">
              <a:solidFill>
                <a:srgbClr val="E2489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6" name="Line 116"/>
          <p:cNvSpPr/>
          <p:nvPr/>
        </p:nvSpPr>
        <p:spPr>
          <a:xfrm>
            <a:off x="3967162" y="2058739"/>
            <a:ext cx="1209675" cy="48"/>
          </a:xfrm>
          <a:custGeom>
            <a:avLst/>
            <a:gdLst/>
            <a:ahLst/>
            <a:cxnLst/>
            <a:rect l="0" t="0" r="r" b="b"/>
            <a:pathLst>
              <a:path w="1209675" h="1" fill="none">
                <a:moveTo>
                  <a:pt x="0" y="0"/>
                </a:moveTo>
                <a:lnTo>
                  <a:pt x="1209675" y="0"/>
                </a:lnTo>
              </a:path>
            </a:pathLst>
          </a:custGeom>
          <a:noFill/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4003405" y="1868001"/>
            <a:ext cx="1137190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итог</a:t>
            </a:r>
            <a:endParaRPr lang="ru-RU" sz="828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8" name="Line 118"/>
          <p:cNvSpPr/>
          <p:nvPr/>
        </p:nvSpPr>
        <p:spPr>
          <a:xfrm>
            <a:off x="5176838" y="2058739"/>
            <a:ext cx="1000125" cy="48"/>
          </a:xfrm>
          <a:custGeom>
            <a:avLst/>
            <a:gdLst/>
            <a:ahLst/>
            <a:cxnLst/>
            <a:rect l="0" t="0" r="r" b="b"/>
            <a:pathLst>
              <a:path w="1000125" h="1" fill="none">
                <a:moveTo>
                  <a:pt x="0" y="0"/>
                </a:moveTo>
                <a:lnTo>
                  <a:pt x="1000125" y="0"/>
                </a:lnTo>
              </a:path>
            </a:pathLst>
          </a:custGeom>
          <a:noFill/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19" name="Text 119"/>
          <p:cNvSpPr txBox="1"/>
          <p:nvPr/>
        </p:nvSpPr>
        <p:spPr>
          <a:xfrm>
            <a:off x="5216223" y="1868001"/>
            <a:ext cx="921353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</a:t>
            </a:r>
            <a:endParaRPr lang="ru-RU" sz="828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0" name="Line 120"/>
          <p:cNvSpPr/>
          <p:nvPr/>
        </p:nvSpPr>
        <p:spPr>
          <a:xfrm>
            <a:off x="6176962" y="2058739"/>
            <a:ext cx="1000125" cy="48"/>
          </a:xfrm>
          <a:custGeom>
            <a:avLst/>
            <a:gdLst/>
            <a:ahLst/>
            <a:cxnLst/>
            <a:rect l="0" t="0" r="r" b="b"/>
            <a:pathLst>
              <a:path w="1000125" h="1" fill="none">
                <a:moveTo>
                  <a:pt x="0" y="0"/>
                </a:moveTo>
                <a:lnTo>
                  <a:pt x="1000125" y="0"/>
                </a:lnTo>
              </a:path>
            </a:pathLst>
          </a:custGeom>
          <a:noFill/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21" name="Text 121"/>
          <p:cNvSpPr txBox="1"/>
          <p:nvPr/>
        </p:nvSpPr>
        <p:spPr>
          <a:xfrm>
            <a:off x="6216348" y="1868001"/>
            <a:ext cx="921353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хеш</a:t>
            </a:r>
            <a:endParaRPr lang="ru-RU" sz="828" b="0" i="0" dirty="0">
              <a:solidFill>
                <a:srgbClr val="E2489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2" name="Line 122"/>
          <p:cNvSpPr/>
          <p:nvPr/>
        </p:nvSpPr>
        <p:spPr>
          <a:xfrm>
            <a:off x="7177088" y="2058739"/>
            <a:ext cx="1304925" cy="48"/>
          </a:xfrm>
          <a:custGeom>
            <a:avLst/>
            <a:gdLst/>
            <a:ahLst/>
            <a:cxnLst/>
            <a:rect l="0" t="0" r="r" b="b"/>
            <a:pathLst>
              <a:path w="1304925" h="1" fill="none">
                <a:moveTo>
                  <a:pt x="0" y="0"/>
                </a:moveTo>
                <a:lnTo>
                  <a:pt x="1304925" y="0"/>
                </a:lnTo>
              </a:path>
            </a:pathLst>
          </a:custGeom>
          <a:noFill/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23" name="Text 123"/>
          <p:cNvSpPr txBox="1"/>
          <p:nvPr/>
        </p:nvSpPr>
        <p:spPr>
          <a:xfrm>
            <a:off x="7211901" y="1868001"/>
            <a:ext cx="1235297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итог</a:t>
            </a:r>
            <a:endParaRPr lang="ru-RU" sz="828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4" name="Line 124"/>
          <p:cNvSpPr/>
          <p:nvPr/>
        </p:nvSpPr>
        <p:spPr>
          <a:xfrm>
            <a:off x="557212" y="2301553"/>
            <a:ext cx="1409700" cy="48"/>
          </a:xfrm>
          <a:custGeom>
            <a:avLst/>
            <a:gdLst/>
            <a:ahLst/>
            <a:cxnLst/>
            <a:rect l="0" t="0" r="r" b="b"/>
            <a:pathLst>
              <a:path w="1409700" h="1" fill="none">
                <a:moveTo>
                  <a:pt x="0" y="0"/>
                </a:moveTo>
                <a:lnTo>
                  <a:pt x="140970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25" name="Text 125"/>
          <p:cNvSpPr txBox="1"/>
          <p:nvPr/>
        </p:nvSpPr>
        <p:spPr>
          <a:xfrm>
            <a:off x="623888" y="2093237"/>
            <a:ext cx="1333500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userInitiated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6" name="Line 126"/>
          <p:cNvSpPr/>
          <p:nvPr/>
        </p:nvSpPr>
        <p:spPr>
          <a:xfrm>
            <a:off x="1966912" y="2301553"/>
            <a:ext cx="1000125" cy="48"/>
          </a:xfrm>
          <a:custGeom>
            <a:avLst/>
            <a:gdLst/>
            <a:ahLst/>
            <a:cxnLst/>
            <a:rect l="0" t="0" r="r" b="b"/>
            <a:pathLst>
              <a:path w="1000125" h="1" fill="none">
                <a:moveTo>
                  <a:pt x="0" y="0"/>
                </a:moveTo>
                <a:lnTo>
                  <a:pt x="100012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27" name="Text 127"/>
          <p:cNvSpPr txBox="1"/>
          <p:nvPr/>
        </p:nvSpPr>
        <p:spPr>
          <a:xfrm>
            <a:off x="2006298" y="2093237"/>
            <a:ext cx="921353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19,6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8" name="Line 128"/>
          <p:cNvSpPr/>
          <p:nvPr/>
        </p:nvSpPr>
        <p:spPr>
          <a:xfrm>
            <a:off x="2967038" y="2301553"/>
            <a:ext cx="1000125" cy="48"/>
          </a:xfrm>
          <a:custGeom>
            <a:avLst/>
            <a:gdLst/>
            <a:ahLst/>
            <a:cxnLst/>
            <a:rect l="0" t="0" r="r" b="b"/>
            <a:pathLst>
              <a:path w="1000125" h="1" fill="none">
                <a:moveTo>
                  <a:pt x="0" y="0"/>
                </a:moveTo>
                <a:lnTo>
                  <a:pt x="100012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29" name="Text 129"/>
          <p:cNvSpPr txBox="1"/>
          <p:nvPr/>
        </p:nvSpPr>
        <p:spPr>
          <a:xfrm>
            <a:off x="3006423" y="2093237"/>
            <a:ext cx="921353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18,7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0" name="Line 130"/>
          <p:cNvSpPr/>
          <p:nvPr/>
        </p:nvSpPr>
        <p:spPr>
          <a:xfrm>
            <a:off x="3967162" y="2301553"/>
            <a:ext cx="1209675" cy="48"/>
          </a:xfrm>
          <a:custGeom>
            <a:avLst/>
            <a:gdLst/>
            <a:ahLst/>
            <a:cxnLst/>
            <a:rect l="0" t="0" r="r" b="b"/>
            <a:pathLst>
              <a:path w="1209675" h="1" fill="none">
                <a:moveTo>
                  <a:pt x="0" y="0"/>
                </a:moveTo>
                <a:lnTo>
                  <a:pt x="120967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31" name="Text 131"/>
          <p:cNvSpPr txBox="1"/>
          <p:nvPr/>
        </p:nvSpPr>
        <p:spPr>
          <a:xfrm>
            <a:off x="4003405" y="2093237"/>
            <a:ext cx="1137190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≈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2" name="Line 132"/>
          <p:cNvSpPr/>
          <p:nvPr/>
        </p:nvSpPr>
        <p:spPr>
          <a:xfrm>
            <a:off x="5176838" y="2301553"/>
            <a:ext cx="1000125" cy="48"/>
          </a:xfrm>
          <a:custGeom>
            <a:avLst/>
            <a:gdLst/>
            <a:ahLst/>
            <a:cxnLst/>
            <a:rect l="0" t="0" r="r" b="b"/>
            <a:pathLst>
              <a:path w="1000125" h="1" fill="none">
                <a:moveTo>
                  <a:pt x="0" y="0"/>
                </a:moveTo>
                <a:lnTo>
                  <a:pt x="100012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33" name="Text 133"/>
          <p:cNvSpPr txBox="1"/>
          <p:nvPr/>
        </p:nvSpPr>
        <p:spPr>
          <a:xfrm>
            <a:off x="5216223" y="2093237"/>
            <a:ext cx="921353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19,6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4" name="Line 134"/>
          <p:cNvSpPr/>
          <p:nvPr/>
        </p:nvSpPr>
        <p:spPr>
          <a:xfrm>
            <a:off x="6176962" y="2301553"/>
            <a:ext cx="1000125" cy="48"/>
          </a:xfrm>
          <a:custGeom>
            <a:avLst/>
            <a:gdLst/>
            <a:ahLst/>
            <a:cxnLst/>
            <a:rect l="0" t="0" r="r" b="b"/>
            <a:pathLst>
              <a:path w="1000125" h="1" fill="none">
                <a:moveTo>
                  <a:pt x="0" y="0"/>
                </a:moveTo>
                <a:lnTo>
                  <a:pt x="100012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35" name="Text 135"/>
          <p:cNvSpPr txBox="1"/>
          <p:nvPr/>
        </p:nvSpPr>
        <p:spPr>
          <a:xfrm>
            <a:off x="6216348" y="2093237"/>
            <a:ext cx="921353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18,2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6" name="Line 136"/>
          <p:cNvSpPr/>
          <p:nvPr/>
        </p:nvSpPr>
        <p:spPr>
          <a:xfrm>
            <a:off x="7177088" y="2301553"/>
            <a:ext cx="1304925" cy="48"/>
          </a:xfrm>
          <a:custGeom>
            <a:avLst/>
            <a:gdLst/>
            <a:ahLst/>
            <a:cxnLst/>
            <a:rect l="0" t="0" r="r" b="b"/>
            <a:pathLst>
              <a:path w="1304925" h="1" fill="none">
                <a:moveTo>
                  <a:pt x="0" y="0"/>
                </a:moveTo>
                <a:lnTo>
                  <a:pt x="130492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37" name="Text 137"/>
          <p:cNvSpPr txBox="1"/>
          <p:nvPr/>
        </p:nvSpPr>
        <p:spPr>
          <a:xfrm>
            <a:off x="7211901" y="2093237"/>
            <a:ext cx="1235297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≈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8" name="Line 138"/>
          <p:cNvSpPr/>
          <p:nvPr/>
        </p:nvSpPr>
        <p:spPr>
          <a:xfrm>
            <a:off x="557212" y="2541984"/>
            <a:ext cx="1409700" cy="48"/>
          </a:xfrm>
          <a:custGeom>
            <a:avLst/>
            <a:gdLst/>
            <a:ahLst/>
            <a:cxnLst/>
            <a:rect l="0" t="0" r="r" b="b"/>
            <a:pathLst>
              <a:path w="1409700" h="1" fill="none">
                <a:moveTo>
                  <a:pt x="0" y="0"/>
                </a:moveTo>
                <a:lnTo>
                  <a:pt x="140970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39" name="Text 139"/>
          <p:cNvSpPr txBox="1"/>
          <p:nvPr/>
        </p:nvSpPr>
        <p:spPr>
          <a:xfrm>
            <a:off x="623888" y="2333669"/>
            <a:ext cx="1333500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utility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40" name="Line 140"/>
          <p:cNvSpPr/>
          <p:nvPr/>
        </p:nvSpPr>
        <p:spPr>
          <a:xfrm>
            <a:off x="1966912" y="2541984"/>
            <a:ext cx="1000125" cy="48"/>
          </a:xfrm>
          <a:custGeom>
            <a:avLst/>
            <a:gdLst/>
            <a:ahLst/>
            <a:cxnLst/>
            <a:rect l="0" t="0" r="r" b="b"/>
            <a:pathLst>
              <a:path w="1000125" h="1" fill="none">
                <a:moveTo>
                  <a:pt x="0" y="0"/>
                </a:moveTo>
                <a:lnTo>
                  <a:pt x="100012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41" name="Text 141"/>
          <p:cNvSpPr txBox="1"/>
          <p:nvPr/>
        </p:nvSpPr>
        <p:spPr>
          <a:xfrm>
            <a:off x="2006298" y="2333669"/>
            <a:ext cx="921353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20,1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42" name="Line 142"/>
          <p:cNvSpPr/>
          <p:nvPr/>
        </p:nvSpPr>
        <p:spPr>
          <a:xfrm>
            <a:off x="2967038" y="2541984"/>
            <a:ext cx="1000125" cy="48"/>
          </a:xfrm>
          <a:custGeom>
            <a:avLst/>
            <a:gdLst/>
            <a:ahLst/>
            <a:cxnLst/>
            <a:rect l="0" t="0" r="r" b="b"/>
            <a:pathLst>
              <a:path w="1000125" h="1" fill="none">
                <a:moveTo>
                  <a:pt x="0" y="0"/>
                </a:moveTo>
                <a:lnTo>
                  <a:pt x="100012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43" name="Text 143"/>
          <p:cNvSpPr txBox="1"/>
          <p:nvPr/>
        </p:nvSpPr>
        <p:spPr>
          <a:xfrm>
            <a:off x="3006423" y="2333669"/>
            <a:ext cx="921353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21,0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44" name="Line 144"/>
          <p:cNvSpPr/>
          <p:nvPr/>
        </p:nvSpPr>
        <p:spPr>
          <a:xfrm>
            <a:off x="3967162" y="2541984"/>
            <a:ext cx="1209675" cy="48"/>
          </a:xfrm>
          <a:custGeom>
            <a:avLst/>
            <a:gdLst/>
            <a:ahLst/>
            <a:cxnLst/>
            <a:rect l="0" t="0" r="r" b="b"/>
            <a:pathLst>
              <a:path w="1209675" h="1" fill="none">
                <a:moveTo>
                  <a:pt x="0" y="0"/>
                </a:moveTo>
                <a:lnTo>
                  <a:pt x="120967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45" name="Text 145"/>
          <p:cNvSpPr txBox="1"/>
          <p:nvPr/>
        </p:nvSpPr>
        <p:spPr>
          <a:xfrm>
            <a:off x="4003405" y="2333669"/>
            <a:ext cx="1137190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≈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46" name="Line 146"/>
          <p:cNvSpPr/>
          <p:nvPr/>
        </p:nvSpPr>
        <p:spPr>
          <a:xfrm>
            <a:off x="5176838" y="2541984"/>
            <a:ext cx="1000125" cy="48"/>
          </a:xfrm>
          <a:custGeom>
            <a:avLst/>
            <a:gdLst/>
            <a:ahLst/>
            <a:cxnLst/>
            <a:rect l="0" t="0" r="r" b="b"/>
            <a:pathLst>
              <a:path w="1000125" h="1" fill="none">
                <a:moveTo>
                  <a:pt x="0" y="0"/>
                </a:moveTo>
                <a:lnTo>
                  <a:pt x="100012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47" name="Text 147"/>
          <p:cNvSpPr txBox="1"/>
          <p:nvPr/>
        </p:nvSpPr>
        <p:spPr>
          <a:xfrm>
            <a:off x="5216223" y="2333669"/>
            <a:ext cx="921353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55,3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48" name="Line 148"/>
          <p:cNvSpPr/>
          <p:nvPr/>
        </p:nvSpPr>
        <p:spPr>
          <a:xfrm>
            <a:off x="6176962" y="2541984"/>
            <a:ext cx="1000125" cy="48"/>
          </a:xfrm>
          <a:custGeom>
            <a:avLst/>
            <a:gdLst/>
            <a:ahLst/>
            <a:cxnLst/>
            <a:rect l="0" t="0" r="r" b="b"/>
            <a:pathLst>
              <a:path w="1000125" h="1" fill="none">
                <a:moveTo>
                  <a:pt x="0" y="0"/>
                </a:moveTo>
                <a:lnTo>
                  <a:pt x="100012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49" name="Text 149"/>
          <p:cNvSpPr txBox="1"/>
          <p:nvPr/>
        </p:nvSpPr>
        <p:spPr>
          <a:xfrm>
            <a:off x="6216348" y="2333669"/>
            <a:ext cx="921353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105,3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0" name="Fill 150"/>
          <p:cNvSpPr/>
          <p:nvPr/>
        </p:nvSpPr>
        <p:spPr>
          <a:xfrm>
            <a:off x="7177088" y="2303934"/>
            <a:ext cx="1304925" cy="240432"/>
          </a:xfrm>
          <a:prstGeom prst="rect">
            <a:avLst/>
          </a:prstGeom>
          <a:solidFill>
            <a:srgbClr val="174F45"/>
          </a:solidFill>
          <a:ln>
            <a:noFill/>
          </a:ln>
        </p:spPr>
      </p:sp>
      <p:sp xmlns:p14="http://schemas.microsoft.com/office/powerpoint/2010/main">
        <p:nvSpPr>
          <p:cNvPr id="151" name="Line 151"/>
          <p:cNvSpPr/>
          <p:nvPr/>
        </p:nvSpPr>
        <p:spPr>
          <a:xfrm>
            <a:off x="7177088" y="2541984"/>
            <a:ext cx="1304925" cy="48"/>
          </a:xfrm>
          <a:custGeom>
            <a:avLst/>
            <a:gdLst/>
            <a:ahLst/>
            <a:cxnLst/>
            <a:rect l="0" t="0" r="r" b="b"/>
            <a:pathLst>
              <a:path w="1304925" h="1" fill="none">
                <a:moveTo>
                  <a:pt x="0" y="0"/>
                </a:moveTo>
                <a:lnTo>
                  <a:pt x="130492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52" name="Text 152"/>
          <p:cNvSpPr txBox="1"/>
          <p:nvPr/>
        </p:nvSpPr>
        <p:spPr>
          <a:xfrm>
            <a:off x="7211901" y="2333669"/>
            <a:ext cx="1235297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sort ×1,9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3" name="Line 153"/>
          <p:cNvSpPr/>
          <p:nvPr/>
        </p:nvSpPr>
        <p:spPr>
          <a:xfrm>
            <a:off x="557212" y="2784797"/>
            <a:ext cx="1409700" cy="48"/>
          </a:xfrm>
          <a:custGeom>
            <a:avLst/>
            <a:gdLst/>
            <a:ahLst/>
            <a:cxnLst/>
            <a:rect l="0" t="0" r="r" b="b"/>
            <a:pathLst>
              <a:path w="1409700" h="1" fill="none">
                <a:moveTo>
                  <a:pt x="0" y="0"/>
                </a:moveTo>
                <a:lnTo>
                  <a:pt x="1409700" y="0"/>
                </a:lnTo>
              </a:path>
            </a:pathLst>
          </a:custGeom>
          <a:noFill/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54" name="Text 154"/>
          <p:cNvSpPr txBox="1"/>
          <p:nvPr/>
        </p:nvSpPr>
        <p:spPr>
          <a:xfrm>
            <a:off x="623888" y="2574101"/>
            <a:ext cx="1333500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background</a:t>
            </a:r>
            <a:endParaRPr lang="ru-RU" sz="966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55" name="Line 155"/>
          <p:cNvSpPr/>
          <p:nvPr/>
        </p:nvSpPr>
        <p:spPr>
          <a:xfrm>
            <a:off x="1966912" y="2784797"/>
            <a:ext cx="1000125" cy="48"/>
          </a:xfrm>
          <a:custGeom>
            <a:avLst/>
            <a:gdLst/>
            <a:ahLst/>
            <a:cxnLst/>
            <a:rect l="0" t="0" r="r" b="b"/>
            <a:pathLst>
              <a:path w="1000125" h="1" fill="none">
                <a:moveTo>
                  <a:pt x="0" y="0"/>
                </a:moveTo>
                <a:lnTo>
                  <a:pt x="1000125" y="0"/>
                </a:lnTo>
              </a:path>
            </a:pathLst>
          </a:custGeom>
          <a:noFill/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56" name="Text 156"/>
          <p:cNvSpPr txBox="1"/>
          <p:nvPr/>
        </p:nvSpPr>
        <p:spPr>
          <a:xfrm>
            <a:off x="2006298" y="2574101"/>
            <a:ext cx="921353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92,6</a:t>
            </a:r>
            <a:endParaRPr lang="ru-RU" sz="966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57" name="Line 157"/>
          <p:cNvSpPr/>
          <p:nvPr/>
        </p:nvSpPr>
        <p:spPr>
          <a:xfrm>
            <a:off x="2967038" y="2784797"/>
            <a:ext cx="1000125" cy="48"/>
          </a:xfrm>
          <a:custGeom>
            <a:avLst/>
            <a:gdLst/>
            <a:ahLst/>
            <a:cxnLst/>
            <a:rect l="0" t="0" r="r" b="b"/>
            <a:pathLst>
              <a:path w="1000125" h="1" fill="none">
                <a:moveTo>
                  <a:pt x="0" y="0"/>
                </a:moveTo>
                <a:lnTo>
                  <a:pt x="1000125" y="0"/>
                </a:lnTo>
              </a:path>
            </a:pathLst>
          </a:custGeom>
          <a:noFill/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58" name="Text 158"/>
          <p:cNvSpPr txBox="1"/>
          <p:nvPr/>
        </p:nvSpPr>
        <p:spPr>
          <a:xfrm>
            <a:off x="3006423" y="2574101"/>
            <a:ext cx="921353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178,4</a:t>
            </a:r>
            <a:endParaRPr lang="ru-RU" sz="966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59" name="Fill 159"/>
          <p:cNvSpPr/>
          <p:nvPr/>
        </p:nvSpPr>
        <p:spPr>
          <a:xfrm>
            <a:off x="3967162" y="2544366"/>
            <a:ext cx="1209675" cy="245194"/>
          </a:xfrm>
          <a:prstGeom prst="rect">
            <a:avLst/>
          </a:prstGeom>
          <a:solidFill>
            <a:srgbClr val="174F45"/>
          </a:solidFill>
          <a:ln>
            <a:noFill/>
          </a:ln>
        </p:spPr>
      </p:sp>
      <p:sp xmlns:p14="http://schemas.microsoft.com/office/powerpoint/2010/main">
        <p:nvSpPr>
          <p:cNvPr id="160" name="Line 160"/>
          <p:cNvSpPr/>
          <p:nvPr/>
        </p:nvSpPr>
        <p:spPr>
          <a:xfrm>
            <a:off x="3967162" y="2784797"/>
            <a:ext cx="1209675" cy="48"/>
          </a:xfrm>
          <a:custGeom>
            <a:avLst/>
            <a:gdLst/>
            <a:ahLst/>
            <a:cxnLst/>
            <a:rect l="0" t="0" r="r" b="b"/>
            <a:pathLst>
              <a:path w="1209675" h="1" fill="none">
                <a:moveTo>
                  <a:pt x="0" y="0"/>
                </a:moveTo>
                <a:lnTo>
                  <a:pt x="1209675" y="0"/>
                </a:lnTo>
              </a:path>
            </a:pathLst>
          </a:custGeom>
          <a:noFill/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61" name="Text 161"/>
          <p:cNvSpPr txBox="1"/>
          <p:nvPr/>
        </p:nvSpPr>
        <p:spPr>
          <a:xfrm>
            <a:off x="4003405" y="2574101"/>
            <a:ext cx="1137190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sort ×1,9</a:t>
            </a:r>
            <a:endParaRPr lang="ru-RU" sz="966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62" name="Line 162"/>
          <p:cNvSpPr/>
          <p:nvPr/>
        </p:nvSpPr>
        <p:spPr>
          <a:xfrm>
            <a:off x="5176838" y="2784797"/>
            <a:ext cx="1000125" cy="48"/>
          </a:xfrm>
          <a:custGeom>
            <a:avLst/>
            <a:gdLst/>
            <a:ahLst/>
            <a:cxnLst/>
            <a:rect l="0" t="0" r="r" b="b"/>
            <a:pathLst>
              <a:path w="1000125" h="1" fill="none">
                <a:moveTo>
                  <a:pt x="0" y="0"/>
                </a:moveTo>
                <a:lnTo>
                  <a:pt x="1000125" y="0"/>
                </a:lnTo>
              </a:path>
            </a:pathLst>
          </a:custGeom>
          <a:noFill/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63" name="Text 163"/>
          <p:cNvSpPr txBox="1"/>
          <p:nvPr/>
        </p:nvSpPr>
        <p:spPr>
          <a:xfrm>
            <a:off x="5216223" y="2574101"/>
            <a:ext cx="921353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145,6</a:t>
            </a:r>
            <a:endParaRPr lang="ru-RU" sz="966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64" name="Line 164"/>
          <p:cNvSpPr/>
          <p:nvPr/>
        </p:nvSpPr>
        <p:spPr>
          <a:xfrm>
            <a:off x="6176962" y="2784797"/>
            <a:ext cx="1000125" cy="48"/>
          </a:xfrm>
          <a:custGeom>
            <a:avLst/>
            <a:gdLst/>
            <a:ahLst/>
            <a:cxnLst/>
            <a:rect l="0" t="0" r="r" b="b"/>
            <a:pathLst>
              <a:path w="1000125" h="1" fill="none">
                <a:moveTo>
                  <a:pt x="0" y="0"/>
                </a:moveTo>
                <a:lnTo>
                  <a:pt x="1000125" y="0"/>
                </a:lnTo>
              </a:path>
            </a:pathLst>
          </a:custGeom>
          <a:noFill/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65" name="Text 165"/>
          <p:cNvSpPr txBox="1"/>
          <p:nvPr/>
        </p:nvSpPr>
        <p:spPr>
          <a:xfrm>
            <a:off x="6216348" y="2574101"/>
            <a:ext cx="921353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195,2</a:t>
            </a:r>
            <a:endParaRPr lang="ru-RU" sz="966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66" name="Fill 166"/>
          <p:cNvSpPr/>
          <p:nvPr/>
        </p:nvSpPr>
        <p:spPr>
          <a:xfrm>
            <a:off x="7177088" y="2544366"/>
            <a:ext cx="1304925" cy="245194"/>
          </a:xfrm>
          <a:prstGeom prst="rect">
            <a:avLst/>
          </a:prstGeom>
          <a:solidFill>
            <a:srgbClr val="174F45"/>
          </a:solidFill>
          <a:ln>
            <a:noFill/>
          </a:ln>
        </p:spPr>
      </p:sp>
      <p:sp xmlns:p14="http://schemas.microsoft.com/office/powerpoint/2010/main">
        <p:nvSpPr>
          <p:cNvPr id="167" name="Line 167"/>
          <p:cNvSpPr/>
          <p:nvPr/>
        </p:nvSpPr>
        <p:spPr>
          <a:xfrm>
            <a:off x="7177088" y="2784797"/>
            <a:ext cx="1304925" cy="48"/>
          </a:xfrm>
          <a:custGeom>
            <a:avLst/>
            <a:gdLst/>
            <a:ahLst/>
            <a:cxnLst/>
            <a:rect l="0" t="0" r="r" b="b"/>
            <a:pathLst>
              <a:path w="1304925" h="1" fill="none">
                <a:moveTo>
                  <a:pt x="0" y="0"/>
                </a:moveTo>
                <a:lnTo>
                  <a:pt x="1304925" y="0"/>
                </a:lnTo>
              </a:path>
            </a:pathLst>
          </a:custGeom>
          <a:noFill/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68" name="Text 168"/>
          <p:cNvSpPr txBox="1"/>
          <p:nvPr/>
        </p:nvSpPr>
        <p:spPr>
          <a:xfrm>
            <a:off x="7211901" y="2574101"/>
            <a:ext cx="1235297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sort ×1,3</a:t>
            </a:r>
            <a:endParaRPr lang="ru-RU" sz="966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69" name="Line 169"/>
          <p:cNvSpPr/>
          <p:nvPr/>
        </p:nvSpPr>
        <p:spPr>
          <a:xfrm>
            <a:off x="557212" y="3027611"/>
            <a:ext cx="1409700" cy="48"/>
          </a:xfrm>
          <a:custGeom>
            <a:avLst/>
            <a:gdLst/>
            <a:ahLst/>
            <a:cxnLst/>
            <a:rect l="0" t="0" r="r" b="b"/>
            <a:pathLst>
              <a:path w="1409700" h="1" fill="none">
                <a:moveTo>
                  <a:pt x="0" y="0"/>
                </a:moveTo>
                <a:lnTo>
                  <a:pt x="1409700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70" name="Text 170"/>
          <p:cNvSpPr txBox="1"/>
          <p:nvPr/>
        </p:nvSpPr>
        <p:spPr>
          <a:xfrm>
            <a:off x="623888" y="2819295"/>
            <a:ext cx="1333500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utility, N = 1M</a:t>
            </a:r>
            <a:endParaRPr lang="ru-RU" sz="966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71" name="Line 171"/>
          <p:cNvSpPr/>
          <p:nvPr/>
        </p:nvSpPr>
        <p:spPr>
          <a:xfrm>
            <a:off x="1966912" y="3027611"/>
            <a:ext cx="1000125" cy="48"/>
          </a:xfrm>
          <a:custGeom>
            <a:avLst/>
            <a:gdLst/>
            <a:ahLst/>
            <a:cxnLst/>
            <a:rect l="0" t="0" r="r" b="b"/>
            <a:pathLst>
              <a:path w="1000125" h="1" fill="none">
                <a:moveTo>
                  <a:pt x="0" y="0"/>
                </a:moveTo>
                <a:lnTo>
                  <a:pt x="100012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72" name="Text 172"/>
          <p:cNvSpPr txBox="1"/>
          <p:nvPr/>
        </p:nvSpPr>
        <p:spPr>
          <a:xfrm>
            <a:off x="2006298" y="2819295"/>
            <a:ext cx="921353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20,7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73" name="Line 173"/>
          <p:cNvSpPr/>
          <p:nvPr/>
        </p:nvSpPr>
        <p:spPr>
          <a:xfrm>
            <a:off x="2967038" y="3027611"/>
            <a:ext cx="1000125" cy="48"/>
          </a:xfrm>
          <a:custGeom>
            <a:avLst/>
            <a:gdLst/>
            <a:ahLst/>
            <a:cxnLst/>
            <a:rect l="0" t="0" r="r" b="b"/>
            <a:pathLst>
              <a:path w="1000125" h="1" fill="none">
                <a:moveTo>
                  <a:pt x="0" y="0"/>
                </a:moveTo>
                <a:lnTo>
                  <a:pt x="100012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74" name="Text 174"/>
          <p:cNvSpPr txBox="1"/>
          <p:nvPr/>
        </p:nvSpPr>
        <p:spPr>
          <a:xfrm>
            <a:off x="3006423" y="2819295"/>
            <a:ext cx="921353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37,6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75" name="Fill 175"/>
          <p:cNvSpPr/>
          <p:nvPr/>
        </p:nvSpPr>
        <p:spPr>
          <a:xfrm>
            <a:off x="3967162" y="2789560"/>
            <a:ext cx="1209675" cy="240432"/>
          </a:xfrm>
          <a:prstGeom prst="rect">
            <a:avLst/>
          </a:prstGeom>
          <a:solidFill>
            <a:srgbClr val="174F45"/>
          </a:solidFill>
          <a:ln>
            <a:noFill/>
          </a:ln>
        </p:spPr>
      </p:sp>
      <p:sp xmlns:p14="http://schemas.microsoft.com/office/powerpoint/2010/main">
        <p:nvSpPr>
          <p:cNvPr id="176" name="Line 176"/>
          <p:cNvSpPr/>
          <p:nvPr/>
        </p:nvSpPr>
        <p:spPr>
          <a:xfrm>
            <a:off x="3967162" y="3027611"/>
            <a:ext cx="1209675" cy="48"/>
          </a:xfrm>
          <a:custGeom>
            <a:avLst/>
            <a:gdLst/>
            <a:ahLst/>
            <a:cxnLst/>
            <a:rect l="0" t="0" r="r" b="b"/>
            <a:pathLst>
              <a:path w="1209675" h="1" fill="none">
                <a:moveTo>
                  <a:pt x="0" y="0"/>
                </a:moveTo>
                <a:lnTo>
                  <a:pt x="120967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77" name="Text 177"/>
          <p:cNvSpPr txBox="1"/>
          <p:nvPr/>
        </p:nvSpPr>
        <p:spPr>
          <a:xfrm>
            <a:off x="4003405" y="2819295"/>
            <a:ext cx="1137190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sort ×1,8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78" name="Line 178"/>
          <p:cNvSpPr/>
          <p:nvPr/>
        </p:nvSpPr>
        <p:spPr>
          <a:xfrm>
            <a:off x="5176838" y="3027611"/>
            <a:ext cx="1000125" cy="48"/>
          </a:xfrm>
          <a:custGeom>
            <a:avLst/>
            <a:gdLst/>
            <a:ahLst/>
            <a:cxnLst/>
            <a:rect l="0" t="0" r="r" b="b"/>
            <a:pathLst>
              <a:path w="1000125" h="1" fill="none">
                <a:moveTo>
                  <a:pt x="0" y="0"/>
                </a:moveTo>
                <a:lnTo>
                  <a:pt x="100012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79" name="Text 179"/>
          <p:cNvSpPr txBox="1"/>
          <p:nvPr/>
        </p:nvSpPr>
        <p:spPr>
          <a:xfrm>
            <a:off x="5216223" y="2819295"/>
            <a:ext cx="921353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57,4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80" name="Line 180"/>
          <p:cNvSpPr/>
          <p:nvPr/>
        </p:nvSpPr>
        <p:spPr>
          <a:xfrm>
            <a:off x="6176962" y="3027611"/>
            <a:ext cx="1000125" cy="48"/>
          </a:xfrm>
          <a:custGeom>
            <a:avLst/>
            <a:gdLst/>
            <a:ahLst/>
            <a:cxnLst/>
            <a:rect l="0" t="0" r="r" b="b"/>
            <a:pathLst>
              <a:path w="1000125" h="1" fill="none">
                <a:moveTo>
                  <a:pt x="0" y="0"/>
                </a:moveTo>
                <a:lnTo>
                  <a:pt x="100012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81" name="Text 181"/>
          <p:cNvSpPr txBox="1"/>
          <p:nvPr/>
        </p:nvSpPr>
        <p:spPr>
          <a:xfrm>
            <a:off x="6216348" y="2819295"/>
            <a:ext cx="921353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187,7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82" name="Fill 182"/>
          <p:cNvSpPr/>
          <p:nvPr/>
        </p:nvSpPr>
        <p:spPr>
          <a:xfrm>
            <a:off x="7177088" y="2789560"/>
            <a:ext cx="1304925" cy="240432"/>
          </a:xfrm>
          <a:prstGeom prst="rect">
            <a:avLst/>
          </a:prstGeom>
          <a:solidFill>
            <a:srgbClr val="174F45"/>
          </a:solidFill>
          <a:ln>
            <a:noFill/>
          </a:ln>
        </p:spPr>
      </p:sp>
      <p:sp xmlns:p14="http://schemas.microsoft.com/office/powerpoint/2010/main">
        <p:nvSpPr>
          <p:cNvPr id="183" name="Line 183"/>
          <p:cNvSpPr/>
          <p:nvPr/>
        </p:nvSpPr>
        <p:spPr>
          <a:xfrm>
            <a:off x="7177088" y="3027611"/>
            <a:ext cx="1304925" cy="48"/>
          </a:xfrm>
          <a:custGeom>
            <a:avLst/>
            <a:gdLst/>
            <a:ahLst/>
            <a:cxnLst/>
            <a:rect l="0" t="0" r="r" b="b"/>
            <a:pathLst>
              <a:path w="1304925" h="1" fill="none">
                <a:moveTo>
                  <a:pt x="0" y="0"/>
                </a:moveTo>
                <a:lnTo>
                  <a:pt x="1304925" y="0"/>
                </a:lnTo>
              </a:path>
            </a:pathLst>
          </a:custGeom>
          <a:noFill/>
          <a:ln w="4762">
            <a:solidFill>
              <a:srgbClr val="333333"/>
            </a:solidFill>
          </a:ln>
        </p:spPr>
      </p:sp>
      <p:sp xmlns:p14="http://schemas.microsoft.com/office/powerpoint/2010/main">
        <p:nvSpPr>
          <p:cNvPr id="184" name="Text 184"/>
          <p:cNvSpPr txBox="1"/>
          <p:nvPr/>
        </p:nvSpPr>
        <p:spPr>
          <a:xfrm>
            <a:off x="7211901" y="2819295"/>
            <a:ext cx="1235297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sort ×3,3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85" name="Box 185"/>
          <p:cNvSpPr/>
          <p:nvPr/>
        </p:nvSpPr>
        <p:spPr>
          <a:xfrm>
            <a:off x="560784" y="3147864"/>
            <a:ext cx="7917656" cy="834703"/>
          </a:xfrm>
          <a:prstGeom prst="roundRect">
            <a:avLst>
              <a:gd name="adj" fmla="val 9051"/>
            </a:avLst>
          </a:prstGeom>
          <a:solidFill>
            <a:srgbClr val="000000"/>
          </a:solidFill>
          <a:ln w="7144">
            <a:solidFill>
              <a:srgbClr val="FFFFFF"/>
            </a:solidFill>
          </a:ln>
        </p:spPr>
      </p:sp>
      <p:sp xmlns:p14="http://schemas.microsoft.com/office/powerpoint/2010/main">
        <p:nvSpPr>
          <p:cNvPr id="186" name="Text 186"/>
          <p:cNvSpPr txBox="1"/>
          <p:nvPr/>
        </p:nvSpPr>
        <p:spPr>
          <a:xfrm>
            <a:off x="695325" y="3235940"/>
            <a:ext cx="7739062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Почему в докладе utility, а не background?</a:t>
            </a:r>
            <a:endParaRPr lang="ru-RU" sz="966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87" name="Text 187"/>
          <p:cNvSpPr txBox="1"/>
          <p:nvPr/>
        </p:nvSpPr>
        <p:spPr>
          <a:xfrm>
            <a:off x="695325" y="3434447"/>
            <a:ext cx="7739062" cy="4633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Apple в Energy Efficiency Guide относит синхронизацию к background: «such as indexing, synchronizing, and backups». Utility — «не срочно, но результат нужен»: им в проектах часто помечают синхронизацию. В background ещё дороже, и сортировка впереди на обоих устройствах.</a:t>
            </a:r>
            <a:endParaRPr lang="ru-RU" sz="897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88" name="Text 188"/>
          <p:cNvSpPr txBox="1"/>
          <p:nvPr/>
        </p:nvSpPr>
        <p:spPr>
          <a:xfrm>
            <a:off x="557212" y="4554200"/>
            <a:ext cx="7936039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id случайные 64-битные · одинаковые входы · QoS через pthread_set_qos_class_self_np · Mac: macOS 27, libc++ · iPhone: </a:t>
            </a:r>
            <a:r>
              <a:rPr lang="ru-RU" sz="828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[модель iPhone, чип, iOS]</a:t>
            </a: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 · thermalState nominal · медианы · BGAppRefreshTask не мерил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89" name="Picture 188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89" name="Slide Number 189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ТОЧКА ПЕРЕХОДА НА КАЖДОЙ СИСТЕМЕ СВОЯ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Box 103"/>
          <p:cNvSpPr/>
          <p:nvPr/>
        </p:nvSpPr>
        <p:spPr>
          <a:xfrm>
            <a:off x="560784" y="1353488"/>
            <a:ext cx="1888331" cy="2212181"/>
          </a:xfrm>
          <a:prstGeom prst="roundRect">
            <a:avLst>
              <a:gd name="adj" fmla="val 4020"/>
            </a:avLst>
          </a:prstGeom>
          <a:solidFill>
            <a:srgbClr val="000000"/>
          </a:solidFill>
          <a:ln w="7144">
            <a:solidFill>
              <a:srgbClr val="FFFFFF"/>
            </a:solidFill>
          </a:ln>
        </p:spPr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695325" y="1482346"/>
            <a:ext cx="1696402" cy="1767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42"/>
              </a:lnSpc>
              <a:spcBef>
                <a:spcPts val="0"/>
              </a:spcBef>
              <a:buNone/>
            </a:pPr>
            <a:r>
              <a:rPr lang="ru-RU" sz="1035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x86-64 · Linux</a:t>
            </a:r>
            <a:endParaRPr lang="ru-RU" sz="1035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695325" y="1854530"/>
            <a:ext cx="1696402" cy="1846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04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Xeon 2,1 ГГц · GCC 13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695325" y="2470836"/>
            <a:ext cx="1696402" cy="2994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08"/>
              </a:lnSpc>
              <a:spcBef>
                <a:spcPts val="0"/>
              </a:spcBef>
              <a:buNone/>
            </a:pPr>
            <a:r>
              <a:rPr lang="ru-RU" sz="2208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× 2,07</a:t>
            </a:r>
            <a:endParaRPr lang="ru-RU" sz="2208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695325" y="2754047"/>
            <a:ext cx="1696402" cy="6815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04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При U = N/2 сортировка впереди при N = 16 и с 2M; от 64 до 1M — хеш или ничья (повтор)</a:t>
            </a:r>
            <a:endParaRPr lang="ru-RU" sz="966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8" name="Box 108"/>
          <p:cNvSpPr/>
          <p:nvPr/>
        </p:nvSpPr>
        <p:spPr>
          <a:xfrm>
            <a:off x="2570559" y="1353488"/>
            <a:ext cx="1888331" cy="2212181"/>
          </a:xfrm>
          <a:prstGeom prst="roundRect">
            <a:avLst>
              <a:gd name="adj" fmla="val 4020"/>
            </a:avLst>
          </a:prstGeom>
          <a:solidFill>
            <a:srgbClr val="000000"/>
          </a:solidFill>
          <a:ln w="7144">
            <a:solidFill>
              <a:srgbClr val="FFFFFF"/>
            </a:solidFill>
          </a:ln>
        </p:spPr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2705100" y="1482346"/>
            <a:ext cx="1696402" cy="1767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42"/>
              </a:lnSpc>
              <a:spcBef>
                <a:spcPts val="0"/>
              </a:spcBef>
              <a:buNone/>
            </a:pPr>
            <a:r>
              <a:rPr lang="ru-RU" sz="1035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M2 Pro · Linux</a:t>
            </a:r>
            <a:endParaRPr lang="ru-RU" sz="1035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2705100" y="1854530"/>
            <a:ext cx="1696402" cy="515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04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VM, 4 vCPU · GCC 11 · тип ядра под vCPU выбирает хост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2705100" y="2470836"/>
            <a:ext cx="1696402" cy="2994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08"/>
              </a:lnSpc>
              <a:spcBef>
                <a:spcPts val="0"/>
              </a:spcBef>
              <a:buNone/>
            </a:pPr>
            <a:r>
              <a:rPr lang="ru-RU" sz="2208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× 2,67</a:t>
            </a:r>
            <a:endParaRPr lang="ru-RU" sz="2208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2705100" y="2754047"/>
            <a:ext cx="1696402" cy="515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04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При U = N/2 сортировка впереди при N ≤ 128 и с 2M</a:t>
            </a:r>
            <a:endParaRPr lang="ru-RU" sz="966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3" name="Box 113"/>
          <p:cNvSpPr/>
          <p:nvPr/>
        </p:nvSpPr>
        <p:spPr>
          <a:xfrm>
            <a:off x="4580334" y="1353488"/>
            <a:ext cx="1888331" cy="2212181"/>
          </a:xfrm>
          <a:prstGeom prst="roundRect">
            <a:avLst>
              <a:gd name="adj" fmla="val 4020"/>
            </a:avLst>
          </a:prstGeom>
          <a:solidFill>
            <a:srgbClr val="000000"/>
          </a:solidFill>
          <a:ln w="7144">
            <a:solidFill>
              <a:srgbClr val="FFFFFF"/>
            </a:solidFill>
          </a:ln>
        </p:spPr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4714875" y="1482346"/>
            <a:ext cx="1696402" cy="1767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42"/>
              </a:lnSpc>
              <a:spcBef>
                <a:spcPts val="0"/>
              </a:spcBef>
              <a:buNone/>
            </a:pPr>
            <a:r>
              <a:rPr lang="ru-RU" sz="1035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M2 Pro · macOS</a:t>
            </a:r>
            <a:endParaRPr lang="ru-RU" sz="1035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4714875" y="1854530"/>
            <a:ext cx="1696402" cy="1846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04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Apple clang 21 · libc++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4714875" y="2470836"/>
            <a:ext cx="1696402" cy="2994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08"/>
              </a:lnSpc>
              <a:spcBef>
                <a:spcPts val="0"/>
              </a:spcBef>
              <a:buNone/>
            </a:pPr>
            <a:r>
              <a:rPr lang="ru-RU" sz="2208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× 2,59</a:t>
            </a:r>
            <a:endParaRPr lang="ru-RU" sz="2208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4714875" y="2754047"/>
            <a:ext cx="1696402" cy="6815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04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При U = N/2 сортировка впереди при N ≤ 256 и с 1M; от 512 до 512K — близко</a:t>
            </a:r>
            <a:endParaRPr lang="ru-RU" sz="966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8" name="Box 118"/>
          <p:cNvSpPr/>
          <p:nvPr/>
        </p:nvSpPr>
        <p:spPr>
          <a:xfrm>
            <a:off x="6590109" y="1353488"/>
            <a:ext cx="1888331" cy="2212181"/>
          </a:xfrm>
          <a:prstGeom prst="roundRect">
            <a:avLst>
              <a:gd name="adj" fmla="val 4020"/>
            </a:avLst>
          </a:prstGeom>
          <a:solidFill>
            <a:srgbClr val="000000"/>
          </a:solidFill>
          <a:ln w="7144">
            <a:solidFill>
              <a:srgbClr val="FFFFFF"/>
            </a:solidFill>
          </a:ln>
        </p:spPr>
      </p:sp>
      <p:sp xmlns:p14="http://schemas.microsoft.com/office/powerpoint/2010/main">
        <p:nvSpPr>
          <p:cNvPr id="119" name="Text 119"/>
          <p:cNvSpPr txBox="1"/>
          <p:nvPr/>
        </p:nvSpPr>
        <p:spPr>
          <a:xfrm>
            <a:off x="6724650" y="1482366"/>
            <a:ext cx="1696402" cy="1733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15"/>
              </a:lnSpc>
              <a:spcBef>
                <a:spcPts val="0"/>
              </a:spcBef>
              <a:buNone/>
            </a:pPr>
            <a:r>
              <a:rPr lang="ru-RU" sz="1012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iPhone </a:t>
            </a:r>
            <a:r>
              <a:rPr lang="ru-RU" sz="1012" b="0" i="0" dirty="0">
                <a:solidFill>
                  <a:srgbClr val="F2C14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[модель iPhone]</a:t>
            </a:r>
            <a:endParaRPr lang="ru-RU" sz="1012" b="0" i="0" dirty="0">
              <a:solidFill>
                <a:srgbClr val="F2C14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6724650" y="1854530"/>
            <a:ext cx="1696402" cy="3502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04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iOS </a:t>
            </a:r>
            <a:r>
              <a:rPr lang="ru-RU" sz="966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[27.0.x]</a:t>
            </a: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 · libc++ · QoS userInitiated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1" name="Text 121"/>
          <p:cNvSpPr txBox="1"/>
          <p:nvPr/>
        </p:nvSpPr>
        <p:spPr>
          <a:xfrm>
            <a:off x="6724650" y="2470836"/>
            <a:ext cx="1696402" cy="2994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08"/>
              </a:lnSpc>
              <a:spcBef>
                <a:spcPts val="0"/>
              </a:spcBef>
              <a:buNone/>
            </a:pPr>
            <a:r>
              <a:rPr lang="ru-RU" sz="2208" b="1" i="0" dirty="0">
                <a:solidFill>
                  <a:srgbClr val="46CDAE"/>
                </a:solidFill>
                <a:latin typeface="Montserrat"/>
                <a:ea typeface="Montserrat"/>
                <a:cs typeface="Montserrat"/>
                <a:sym typeface="Montserrat"/>
              </a:rPr>
              <a:t>× 2,53</a:t>
            </a:r>
            <a:endParaRPr lang="ru-RU" sz="2208" b="1" i="0" dirty="0">
              <a:solidFill>
                <a:srgbClr val="46CDA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6724650" y="2754047"/>
            <a:ext cx="1696402" cy="515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04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При U = N/2 сортировка впереди при N ≤ 256 и с 1M</a:t>
            </a:r>
            <a:endParaRPr lang="ru-RU" sz="966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3" name="Text 123"/>
          <p:cNvSpPr txBox="1"/>
          <p:nvPr/>
        </p:nvSpPr>
        <p:spPr>
          <a:xfrm>
            <a:off x="557212" y="3669042"/>
            <a:ext cx="8191119" cy="3502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04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Крупное число — во сколько раз сортировка быстрее unordered_set при N = U = 2^20. Мелкая строка — где сортировка впереди при U = N/2. Это сравнение систем целиком: вместе меняются железо, ОС, компилятор и библиотека.</a:t>
            </a:r>
            <a:endParaRPr lang="ru-RU" sz="966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4" name="Text 124"/>
          <p:cNvSpPr txBox="1"/>
          <p:nvPr/>
        </p:nvSpPr>
        <p:spPr>
          <a:xfrm>
            <a:off x="557212" y="4554200"/>
            <a:ext cx="7936039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Отношение = T(unordered_set) / T(sort + unique), по неокруглённым медианам · один код, одинаковые входы · id — случайные 64-битные · медиана 4 блоков · 27 сентября 2026 · x86 при U = N/2 — независимый повтор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5" name="Picture 12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25" name="Slide Number 125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60073"/>
            <a:ext cx="6781800" cy="8819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40"/>
              </a:lnSpc>
              <a:spcBef>
                <a:spcPts val="0"/>
              </a:spcBef>
              <a:buNone/>
            </a:pPr>
            <a:r>
              <a:rPr lang="ru-RU" sz="20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ДВЕ МИНУТЫ ПОД НАГРУЗКОЙ: ВРЕМЯ ВЫРОСЛО НА 10–14%, ПОРЯДОК НЕ ИЗМЕНИЛСЯ</a:t>
            </a:r>
            <a:endParaRPr lang="ru-RU" sz="20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566732"/>
            <a:ext cx="8191119" cy="201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35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iPhone </a:t>
            </a:r>
            <a:r>
              <a:rPr lang="ru-RU" sz="1104" b="0" i="0" dirty="0">
                <a:solidFill>
                  <a:srgbClr val="F2C14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[модель iPhone]</a:t>
            </a:r>
            <a:r>
              <a:rPr lang="ru-RU" sz="1104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, N = 256K, U = N/2 · нс на элемент</a:t>
            </a:r>
            <a:endParaRPr lang="ru-RU" sz="1104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509642" y="1869726"/>
            <a:ext cx="2314020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Окно нагрузки</a:t>
            </a:r>
            <a:endParaRPr lang="ru-RU" sz="1104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2704723" y="1869726"/>
            <a:ext cx="1497811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0–15 с</a:t>
            </a:r>
            <a:endParaRPr lang="ru-RU" sz="1104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4131166" y="1869726"/>
            <a:ext cx="1497811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45–60 с</a:t>
            </a:r>
            <a:endParaRPr lang="ru-RU" sz="1104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5557609" y="1869726"/>
            <a:ext cx="1497811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90–105 с</a:t>
            </a:r>
            <a:endParaRPr lang="ru-RU" sz="1104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6984048" y="1869726"/>
            <a:ext cx="1497965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105–120 с</a:t>
            </a:r>
            <a:endParaRPr lang="ru-RU" sz="1104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557212" y="2036414"/>
            <a:ext cx="2314020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sort + unique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2704723" y="2036414"/>
            <a:ext cx="1497811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19,0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4131166" y="2036414"/>
            <a:ext cx="1497811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19,0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5557609" y="2036414"/>
            <a:ext cx="1497811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20,5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6984048" y="2036414"/>
            <a:ext cx="1497965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20,9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557212" y="2203101"/>
            <a:ext cx="2314020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unordered_set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2704723" y="2203101"/>
            <a:ext cx="1497811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17,8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4131166" y="2203101"/>
            <a:ext cx="1497811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18,9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5557609" y="2203101"/>
            <a:ext cx="1497811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19,5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6984048" y="2203101"/>
            <a:ext cx="1497965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20,3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9" name="Text 119"/>
          <p:cNvSpPr txBox="1"/>
          <p:nvPr/>
        </p:nvSpPr>
        <p:spPr>
          <a:xfrm>
            <a:off x="557212" y="2473139"/>
            <a:ext cx="8191119" cy="6079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46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Хеш начал дорожать с первой минуты, сортировка — со второй. thermalState всё время nominal — причина дрейфа не установлена. Короткий запуск и длительная нагрузка — разные режимы; пятиминутная серия — следующий опыт.</a:t>
            </a:r>
            <a:endParaRPr lang="ru-RU" sz="1104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557212" y="4554200"/>
            <a:ext cx="7936039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iPhone </a:t>
            </a:r>
            <a:r>
              <a:rPr lang="ru-RU" sz="828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[модель iPhone, чип, iOS]</a:t>
            </a: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 · медиана по 15-секундным окнам · алгоритмы чередуются · 120 с непрерывной нагрузки · QoS userInitiated · id — случайные 64-битные · заряд 40–80%, без кабеля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1" name="Picture 12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21" name="Slide Number 121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60073"/>
            <a:ext cx="6781800" cy="597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40"/>
              </a:lnSpc>
              <a:spcBef>
                <a:spcPts val="0"/>
              </a:spcBef>
              <a:buNone/>
            </a:pPr>
            <a:r>
              <a:rPr lang="ru-RU" sz="20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ТА ЖЕ МАШИНА, ДРУГАЯ БИБЛИОТЕКА: sort НА РАВНЫХ КЛЮЧАХ — 7,8 ПРОТИВ 1,2 НС/ЭЛ</a:t>
            </a:r>
            <a:endParaRPr lang="ru-RU" sz="20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488244" y="1445056"/>
            <a:ext cx="3783333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Что сравниваем</a:t>
            </a:r>
            <a:endParaRPr lang="ru-RU" sz="1104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4109845" y="1445056"/>
            <a:ext cx="2232391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libstdc++ (GCC)</a:t>
            </a:r>
            <a:endParaRPr lang="ru-RU" sz="1104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6249468" y="1445056"/>
            <a:ext cx="2232545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libc++ (Clang)</a:t>
            </a:r>
            <a:endParaRPr lang="ru-RU" sz="1104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557212" y="1611744"/>
            <a:ext cx="3783333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sort, все ключи равны, нс/эл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4109845" y="1611744"/>
            <a:ext cx="2232391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7,8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6249468" y="1611744"/>
            <a:ext cx="2232545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1,2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557212" y="1778431"/>
            <a:ext cx="3783333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unordered_set, 1M уникальных, нс/эл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4109845" y="1778431"/>
            <a:ext cx="2232391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146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6249468" y="1778431"/>
            <a:ext cx="2232545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139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557212" y="1945119"/>
            <a:ext cx="3783333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Узел unordered_set&lt;uint64_t&gt;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4109845" y="1945119"/>
            <a:ext cx="2232391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16 Б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6249468" y="1945119"/>
            <a:ext cx="2232545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24 Б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557212" y="2111806"/>
            <a:ext cx="3783333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std::sort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4109845" y="2111806"/>
            <a:ext cx="2232391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introsort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6249468" y="2111806"/>
            <a:ext cx="2232545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+ идеи pdqsort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557212" y="2377712"/>
            <a:ext cx="8191119" cy="4030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12"/>
              </a:lnSpc>
              <a:spcBef>
                <a:spcPts val="0"/>
              </a:spcBef>
              <a:buNone/>
            </a:pPr>
            <a:r>
              <a:rPr lang="ru-RU" sz="1080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macOS, iOS и Android NDK используют libc++; GCC на Linux — libstdc++. Но версии, флаги и аллокатор тоже часть связки, а на Apple std::sort для целых исполняется из системной libc++: алгоритм выбирает версия ОС.</a:t>
            </a:r>
            <a:endParaRPr lang="ru-RU" sz="1080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9" name="Text 119"/>
          <p:cNvSpPr txBox="1"/>
          <p:nvPr/>
        </p:nvSpPr>
        <p:spPr>
          <a:xfrm>
            <a:off x="557212" y="4690824"/>
            <a:ext cx="7936039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Пилот · один x86, одинаковые входы · GCC 13 / libstdc++ против Clang 18 / libc++ · N = 2^20 · id для unordered_set — случайные 64-битные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0" name="Picture 119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20" name="Slide Number 120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60073"/>
            <a:ext cx="6781800" cy="597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240"/>
              </a:lnSpc>
              <a:spcBef>
                <a:spcPts val="0"/>
              </a:spcBef>
              <a:buNone/>
            </a:pPr>
            <a:r>
              <a:rPr lang="ru-RU" sz="20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МЕЖДУ 512K И 1M unordered_set ДОРОЖАЕТ В 1,4 РАЗА, СОРТИРОВКА — НА 3%</a:t>
            </a:r>
            <a:endParaRPr lang="ru-RU" sz="20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19608" y="1445056"/>
            <a:ext cx="1629643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N (U = N/2)</a:t>
            </a:r>
            <a:endParaRPr lang="ru-RU" sz="1104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2037810" y="1445056"/>
            <a:ext cx="1582582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sort + unique</a:t>
            </a:r>
            <a:endParaRPr lang="ru-RU" sz="1104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3546553" y="1445056"/>
            <a:ext cx="1582659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unordered_set</a:t>
            </a:r>
            <a:endParaRPr lang="ru-RU" sz="1104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557212" y="1611744"/>
            <a:ext cx="1629643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1K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2037810" y="1611744"/>
            <a:ext cx="1582582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14,4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3546553" y="1611744"/>
            <a:ext cx="1582659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13,3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557212" y="1778431"/>
            <a:ext cx="1629643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64K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2037810" y="1778431"/>
            <a:ext cx="1582582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17,8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3546553" y="1778431"/>
            <a:ext cx="1582659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17,5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557212" y="1945119"/>
            <a:ext cx="1629643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512K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2037810" y="1945119"/>
            <a:ext cx="1582582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19,6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3546553" y="1945119"/>
            <a:ext cx="1582659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18,7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557212" y="2111806"/>
            <a:ext cx="1629643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1M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2037810" y="2111806"/>
            <a:ext cx="1582582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20,1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3546553" y="2111806"/>
            <a:ext cx="1582659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26,3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557212" y="2278494"/>
            <a:ext cx="1629643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4M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9" name="Text 119"/>
          <p:cNvSpPr txBox="1"/>
          <p:nvPr/>
        </p:nvSpPr>
        <p:spPr>
          <a:xfrm>
            <a:off x="2037810" y="2278494"/>
            <a:ext cx="1582582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21,5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3546553" y="2278494"/>
            <a:ext cx="1582659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55,7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1" name="Text 121"/>
          <p:cNvSpPr txBox="1"/>
          <p:nvPr/>
        </p:nvSpPr>
        <p:spPr>
          <a:xfrm>
            <a:off x="5434012" y="1432972"/>
            <a:ext cx="3168015" cy="362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2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Сортировка дорожает плавно: +1 уровень log N на каждое удвоение.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5434012" y="1852667"/>
            <a:ext cx="3168015" cy="7060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2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Рабочий набор ≈ 32·U + 8·N: узел libc++ 24 Б, malloc округляет до 32 Б (квант 16 Б, без заголовка), плюс 8 Б на ячейку, а ячеек после reserve(N) — N.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3" name="Text 123"/>
          <p:cNvSpPr txBox="1"/>
          <p:nvPr/>
        </p:nvSpPr>
        <p:spPr>
          <a:xfrm>
            <a:off x="5434012" y="2615858"/>
            <a:ext cx="3168015" cy="5343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2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512K (U = 256K) → ≈12 МиБ — помещается в L2 P-кластера (16 МиБ по sysctl). 1M → ≈24 МиБ — уже нет. Ступенька — между этими точками.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4" name="Text 124"/>
          <p:cNvSpPr txBox="1"/>
          <p:nvPr/>
        </p:nvSpPr>
        <p:spPr>
          <a:xfrm>
            <a:off x="557212" y="3245401"/>
            <a:ext cx="8191119" cy="362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2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Это арифметика, а не счётчики промахов: причина не измерена напрямую, счётчики — следующий шаг. Альтернативы: TLB, аллокатор.</a:t>
            </a:r>
            <a:endParaRPr lang="ru-RU" sz="966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5" name="Text 125"/>
          <p:cNvSpPr txBox="1"/>
          <p:nvPr/>
        </p:nvSpPr>
        <p:spPr>
          <a:xfrm>
            <a:off x="557212" y="4554200"/>
            <a:ext cx="7936039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нс на элемент · U = N/2 · M2 Pro, macOS, libc++, userInitiated · id — случайные 64-битные · медиана 4 блоков · сессия А </a:t>
            </a:r>
            <a:r>
              <a:rPr lang="ru-RU" sz="828" b="0" i="0" dirty="0">
                <a:solidFill>
                  <a:srgbClr val="F2C14E"/>
                </a:solidFill>
                <a:latin typeface="Montserrat"/>
                <a:ea typeface="Montserrat"/>
                <a:cs typeface="Montserrat"/>
                <a:sym typeface="Montserrat"/>
              </a:rPr>
              <a:t>[дата сессии А]</a:t>
            </a: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 · unordered_set на 1M между сессиями: 22,6–26,3 нс/эл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6" name="Picture 12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26" name="Slide Number 126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СОРТИРОВКА: ОДИН ПЛОТНЫЙ БУФЕР И НИ ОДНОЙ АЛЛОКАЦИИ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Box 103"/>
          <p:cNvSpPr/>
          <p:nvPr/>
        </p:nvSpPr>
        <p:spPr>
          <a:xfrm>
            <a:off x="561975" y="1719262"/>
            <a:ext cx="447675" cy="371475"/>
          </a:xfrm>
          <a:prstGeom prst="roundRect">
            <a:avLst>
              <a:gd name="adj" fmla="val 12500"/>
            </a:avLst>
          </a:prstGeom>
          <a:solidFill>
            <a:srgbClr val="174F45"/>
          </a:solidFill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742950" y="1822609"/>
            <a:ext cx="116872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125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8</a:t>
            </a:r>
            <a:endParaRPr lang="ru-RU" sz="1125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5" name="Box 105"/>
          <p:cNvSpPr/>
          <p:nvPr/>
        </p:nvSpPr>
        <p:spPr>
          <a:xfrm>
            <a:off x="1085850" y="1719262"/>
            <a:ext cx="447675" cy="371475"/>
          </a:xfrm>
          <a:prstGeom prst="roundRect">
            <a:avLst>
              <a:gd name="adj" fmla="val 12500"/>
            </a:avLst>
          </a:prstGeom>
          <a:solidFill>
            <a:srgbClr val="174F45"/>
          </a:solidFill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1266825" y="1822609"/>
            <a:ext cx="116872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125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3</a:t>
            </a:r>
            <a:endParaRPr lang="ru-RU" sz="1125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7" name="Box 107"/>
          <p:cNvSpPr/>
          <p:nvPr/>
        </p:nvSpPr>
        <p:spPr>
          <a:xfrm>
            <a:off x="1609725" y="1719262"/>
            <a:ext cx="447675" cy="371475"/>
          </a:xfrm>
          <a:prstGeom prst="roundRect">
            <a:avLst>
              <a:gd name="adj" fmla="val 12500"/>
            </a:avLst>
          </a:prstGeom>
          <a:solidFill>
            <a:srgbClr val="174F45"/>
          </a:solidFill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1790700" y="1822609"/>
            <a:ext cx="116872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125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8</a:t>
            </a:r>
            <a:endParaRPr lang="ru-RU" sz="1125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9" name="Box 109"/>
          <p:cNvSpPr/>
          <p:nvPr/>
        </p:nvSpPr>
        <p:spPr>
          <a:xfrm>
            <a:off x="2133600" y="1719262"/>
            <a:ext cx="447675" cy="371475"/>
          </a:xfrm>
          <a:prstGeom prst="roundRect">
            <a:avLst>
              <a:gd name="adj" fmla="val 12500"/>
            </a:avLst>
          </a:prstGeom>
          <a:solidFill>
            <a:srgbClr val="174F45"/>
          </a:solidFill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2314575" y="1822609"/>
            <a:ext cx="116872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125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</a:t>
            </a:r>
            <a:endParaRPr lang="ru-RU" sz="1125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11" name="Box 111"/>
          <p:cNvSpPr/>
          <p:nvPr/>
        </p:nvSpPr>
        <p:spPr>
          <a:xfrm>
            <a:off x="2657475" y="1719262"/>
            <a:ext cx="447675" cy="371475"/>
          </a:xfrm>
          <a:prstGeom prst="roundRect">
            <a:avLst>
              <a:gd name="adj" fmla="val 12500"/>
            </a:avLst>
          </a:prstGeom>
          <a:solidFill>
            <a:srgbClr val="174F45"/>
          </a:solidFill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2838450" y="1822609"/>
            <a:ext cx="116872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125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5</a:t>
            </a:r>
            <a:endParaRPr lang="ru-RU" sz="1125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13" name="Box 113"/>
          <p:cNvSpPr/>
          <p:nvPr/>
        </p:nvSpPr>
        <p:spPr>
          <a:xfrm>
            <a:off x="3181350" y="1719262"/>
            <a:ext cx="447675" cy="371475"/>
          </a:xfrm>
          <a:prstGeom prst="roundRect">
            <a:avLst>
              <a:gd name="adj" fmla="val 12500"/>
            </a:avLst>
          </a:prstGeom>
          <a:solidFill>
            <a:srgbClr val="174F45"/>
          </a:solidFill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3362325" y="1822609"/>
            <a:ext cx="116872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125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3</a:t>
            </a:r>
            <a:endParaRPr lang="ru-RU" sz="1125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15" name="Box 115"/>
          <p:cNvSpPr/>
          <p:nvPr/>
        </p:nvSpPr>
        <p:spPr>
          <a:xfrm>
            <a:off x="3705225" y="1719262"/>
            <a:ext cx="447675" cy="371475"/>
          </a:xfrm>
          <a:prstGeom prst="roundRect">
            <a:avLst>
              <a:gd name="adj" fmla="val 12500"/>
            </a:avLst>
          </a:prstGeom>
          <a:solidFill>
            <a:srgbClr val="174F45"/>
          </a:solidFill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3886200" y="1822609"/>
            <a:ext cx="116872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125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8</a:t>
            </a:r>
            <a:endParaRPr lang="ru-RU" sz="1125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17" name="Box 117"/>
          <p:cNvSpPr/>
          <p:nvPr/>
        </p:nvSpPr>
        <p:spPr>
          <a:xfrm>
            <a:off x="4229100" y="1719262"/>
            <a:ext cx="447675" cy="371475"/>
          </a:xfrm>
          <a:prstGeom prst="roundRect">
            <a:avLst>
              <a:gd name="adj" fmla="val 12500"/>
            </a:avLst>
          </a:prstGeom>
          <a:solidFill>
            <a:srgbClr val="174F45"/>
          </a:solidFill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4410075" y="1822609"/>
            <a:ext cx="116872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125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</a:t>
            </a:r>
            <a:endParaRPr lang="ru-RU" sz="1125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19" name="Text 119"/>
          <p:cNvSpPr txBox="1"/>
          <p:nvPr/>
        </p:nvSpPr>
        <p:spPr>
          <a:xfrm>
            <a:off x="480060" y="2155830"/>
            <a:ext cx="4345305" cy="1908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352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вход: 8 чисел, из них 4 разных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0" name="Line 120"/>
          <p:cNvSpPr/>
          <p:nvPr/>
        </p:nvSpPr>
        <p:spPr>
          <a:xfrm>
            <a:off x="4786312" y="1905000"/>
            <a:ext cx="476250" cy="48"/>
          </a:xfrm>
          <a:custGeom>
            <a:avLst/>
            <a:gdLst/>
            <a:ahLst/>
            <a:cxnLst/>
            <a:rect l="0" t="0" r="r" b="b"/>
            <a:pathLst>
              <a:path w="476250" h="1" fill="none">
                <a:moveTo>
                  <a:pt x="0" y="0"/>
                </a:moveTo>
                <a:lnTo>
                  <a:pt x="476250" y="0"/>
                </a:lnTo>
              </a:path>
            </a:pathLst>
          </a:custGeom>
          <a:noFill/>
          <a:ln w="14288">
            <a:solidFill>
              <a:srgbClr val="FFFFFF"/>
            </a:solidFill>
            <a:round/>
            <a:tailEnd type="triangle" w="med" len="med"/>
          </a:ln>
        </p:spPr>
      </p:sp>
      <p:sp xmlns:p14="http://schemas.microsoft.com/office/powerpoint/2010/main">
        <p:nvSpPr>
          <p:cNvPr id="121" name="Box 121"/>
          <p:cNvSpPr/>
          <p:nvPr/>
        </p:nvSpPr>
        <p:spPr>
          <a:xfrm>
            <a:off x="5429250" y="1719262"/>
            <a:ext cx="285750" cy="371475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5532090" y="1827481"/>
            <a:ext cx="111047" cy="1790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buNone/>
            </a:pPr>
            <a:r>
              <a:rPr lang="ru-RU" sz="10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</a:t>
            </a:r>
            <a:endParaRPr lang="ru-RU" sz="10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23" name="Box 123"/>
          <p:cNvSpPr/>
          <p:nvPr/>
        </p:nvSpPr>
        <p:spPr>
          <a:xfrm>
            <a:off x="5772150" y="1719262"/>
            <a:ext cx="285750" cy="371475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24" name="Text 124"/>
          <p:cNvSpPr txBox="1"/>
          <p:nvPr/>
        </p:nvSpPr>
        <p:spPr>
          <a:xfrm>
            <a:off x="5874990" y="1827481"/>
            <a:ext cx="111047" cy="1790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buNone/>
            </a:pPr>
            <a:r>
              <a:rPr lang="ru-RU" sz="10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</a:t>
            </a:r>
            <a:endParaRPr lang="ru-RU" sz="10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25" name="Box 125"/>
          <p:cNvSpPr/>
          <p:nvPr/>
        </p:nvSpPr>
        <p:spPr>
          <a:xfrm>
            <a:off x="6115050" y="1719262"/>
            <a:ext cx="285750" cy="371475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26" name="Text 126"/>
          <p:cNvSpPr txBox="1"/>
          <p:nvPr/>
        </p:nvSpPr>
        <p:spPr>
          <a:xfrm>
            <a:off x="6217890" y="1827481"/>
            <a:ext cx="111047" cy="1790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buNone/>
            </a:pPr>
            <a:r>
              <a:rPr lang="ru-RU" sz="10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3</a:t>
            </a:r>
            <a:endParaRPr lang="ru-RU" sz="10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27" name="Box 127"/>
          <p:cNvSpPr/>
          <p:nvPr/>
        </p:nvSpPr>
        <p:spPr>
          <a:xfrm>
            <a:off x="6457950" y="1719262"/>
            <a:ext cx="285750" cy="371475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28" name="Text 128"/>
          <p:cNvSpPr txBox="1"/>
          <p:nvPr/>
        </p:nvSpPr>
        <p:spPr>
          <a:xfrm>
            <a:off x="6560790" y="1827481"/>
            <a:ext cx="111047" cy="1790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buNone/>
            </a:pPr>
            <a:r>
              <a:rPr lang="ru-RU" sz="10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3</a:t>
            </a:r>
            <a:endParaRPr lang="ru-RU" sz="10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29" name="Box 129"/>
          <p:cNvSpPr/>
          <p:nvPr/>
        </p:nvSpPr>
        <p:spPr>
          <a:xfrm>
            <a:off x="6800850" y="1719262"/>
            <a:ext cx="285750" cy="371475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30" name="Text 130"/>
          <p:cNvSpPr txBox="1"/>
          <p:nvPr/>
        </p:nvSpPr>
        <p:spPr>
          <a:xfrm>
            <a:off x="6903690" y="1827481"/>
            <a:ext cx="111047" cy="1790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buNone/>
            </a:pPr>
            <a:r>
              <a:rPr lang="ru-RU" sz="10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5</a:t>
            </a:r>
            <a:endParaRPr lang="ru-RU" sz="10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31" name="Box 131"/>
          <p:cNvSpPr/>
          <p:nvPr/>
        </p:nvSpPr>
        <p:spPr>
          <a:xfrm>
            <a:off x="7143750" y="1719262"/>
            <a:ext cx="285750" cy="371475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32" name="Text 132"/>
          <p:cNvSpPr txBox="1"/>
          <p:nvPr/>
        </p:nvSpPr>
        <p:spPr>
          <a:xfrm>
            <a:off x="7246590" y="1827481"/>
            <a:ext cx="111047" cy="1790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buNone/>
            </a:pPr>
            <a:r>
              <a:rPr lang="ru-RU" sz="10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8</a:t>
            </a:r>
            <a:endParaRPr lang="ru-RU" sz="10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33" name="Box 133"/>
          <p:cNvSpPr/>
          <p:nvPr/>
        </p:nvSpPr>
        <p:spPr>
          <a:xfrm>
            <a:off x="7486650" y="1719262"/>
            <a:ext cx="285750" cy="371475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34" name="Text 134"/>
          <p:cNvSpPr txBox="1"/>
          <p:nvPr/>
        </p:nvSpPr>
        <p:spPr>
          <a:xfrm>
            <a:off x="7589490" y="1827481"/>
            <a:ext cx="111047" cy="1790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buNone/>
            </a:pPr>
            <a:r>
              <a:rPr lang="ru-RU" sz="10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8</a:t>
            </a:r>
            <a:endParaRPr lang="ru-RU" sz="10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35" name="Box 135"/>
          <p:cNvSpPr/>
          <p:nvPr/>
        </p:nvSpPr>
        <p:spPr>
          <a:xfrm>
            <a:off x="7829550" y="1719262"/>
            <a:ext cx="285750" cy="371475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36" name="Text 136"/>
          <p:cNvSpPr txBox="1"/>
          <p:nvPr/>
        </p:nvSpPr>
        <p:spPr>
          <a:xfrm>
            <a:off x="7932390" y="1827481"/>
            <a:ext cx="111047" cy="1790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buNone/>
            </a:pPr>
            <a:r>
              <a:rPr lang="ru-RU" sz="10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8</a:t>
            </a:r>
            <a:endParaRPr lang="ru-RU" sz="10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37" name="Text 137"/>
          <p:cNvSpPr txBox="1"/>
          <p:nvPr/>
        </p:nvSpPr>
        <p:spPr>
          <a:xfrm>
            <a:off x="5364337" y="2155830"/>
            <a:ext cx="3177826" cy="1908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352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std::sort — одинаковые встали рядом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8" name="Box 138"/>
          <p:cNvSpPr/>
          <p:nvPr/>
        </p:nvSpPr>
        <p:spPr>
          <a:xfrm>
            <a:off x="5429250" y="2528888"/>
            <a:ext cx="285750" cy="371475"/>
          </a:xfrm>
          <a:prstGeom prst="roundRect">
            <a:avLst>
              <a:gd name="adj" fmla="val 16129"/>
            </a:avLst>
          </a:prstGeom>
          <a:solidFill>
            <a:srgbClr val="46CDAE"/>
          </a:solidFill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39" name="Text 139"/>
          <p:cNvSpPr txBox="1"/>
          <p:nvPr/>
        </p:nvSpPr>
        <p:spPr>
          <a:xfrm>
            <a:off x="5532090" y="2637106"/>
            <a:ext cx="111047" cy="1790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buNone/>
            </a:pPr>
            <a:r>
              <a:rPr lang="ru-RU" sz="1050" b="1" i="0" dirty="0">
                <a:solidFill>
                  <a:srgbClr val="000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</a:t>
            </a:r>
            <a:endParaRPr lang="ru-RU" sz="1050" b="1" i="0" dirty="0">
              <a:solidFill>
                <a:srgbClr val="00000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0" name="Box 140"/>
          <p:cNvSpPr/>
          <p:nvPr/>
        </p:nvSpPr>
        <p:spPr>
          <a:xfrm>
            <a:off x="5772150" y="2528888"/>
            <a:ext cx="285750" cy="371475"/>
          </a:xfrm>
          <a:prstGeom prst="roundRect">
            <a:avLst>
              <a:gd name="adj" fmla="val 16129"/>
            </a:avLst>
          </a:prstGeom>
          <a:solidFill>
            <a:srgbClr val="46CDAE"/>
          </a:solidFill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41" name="Text 141"/>
          <p:cNvSpPr txBox="1"/>
          <p:nvPr/>
        </p:nvSpPr>
        <p:spPr>
          <a:xfrm>
            <a:off x="5874990" y="2637106"/>
            <a:ext cx="111047" cy="1790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buNone/>
            </a:pPr>
            <a:r>
              <a:rPr lang="ru-RU" sz="1050" b="1" i="0" dirty="0">
                <a:solidFill>
                  <a:srgbClr val="000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3</a:t>
            </a:r>
            <a:endParaRPr lang="ru-RU" sz="1050" b="1" i="0" dirty="0">
              <a:solidFill>
                <a:srgbClr val="00000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2" name="Box 142"/>
          <p:cNvSpPr/>
          <p:nvPr/>
        </p:nvSpPr>
        <p:spPr>
          <a:xfrm>
            <a:off x="6115050" y="2528888"/>
            <a:ext cx="285750" cy="371475"/>
          </a:xfrm>
          <a:prstGeom prst="roundRect">
            <a:avLst>
              <a:gd name="adj" fmla="val 16129"/>
            </a:avLst>
          </a:prstGeom>
          <a:solidFill>
            <a:srgbClr val="46CDAE"/>
          </a:solidFill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43" name="Text 143"/>
          <p:cNvSpPr txBox="1"/>
          <p:nvPr/>
        </p:nvSpPr>
        <p:spPr>
          <a:xfrm>
            <a:off x="6217890" y="2637106"/>
            <a:ext cx="111047" cy="1790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buNone/>
            </a:pPr>
            <a:r>
              <a:rPr lang="ru-RU" sz="1050" b="1" i="0" dirty="0">
                <a:solidFill>
                  <a:srgbClr val="000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5</a:t>
            </a:r>
            <a:endParaRPr lang="ru-RU" sz="1050" b="1" i="0" dirty="0">
              <a:solidFill>
                <a:srgbClr val="00000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4" name="Box 144"/>
          <p:cNvSpPr/>
          <p:nvPr/>
        </p:nvSpPr>
        <p:spPr>
          <a:xfrm>
            <a:off x="6457950" y="2528888"/>
            <a:ext cx="285750" cy="371475"/>
          </a:xfrm>
          <a:prstGeom prst="roundRect">
            <a:avLst>
              <a:gd name="adj" fmla="val 16129"/>
            </a:avLst>
          </a:prstGeom>
          <a:solidFill>
            <a:srgbClr val="46CDAE"/>
          </a:solidFill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45" name="Text 145"/>
          <p:cNvSpPr txBox="1"/>
          <p:nvPr/>
        </p:nvSpPr>
        <p:spPr>
          <a:xfrm>
            <a:off x="6560790" y="2637106"/>
            <a:ext cx="111047" cy="1790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buNone/>
            </a:pPr>
            <a:r>
              <a:rPr lang="ru-RU" sz="1050" b="1" i="0" dirty="0">
                <a:solidFill>
                  <a:srgbClr val="000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8</a:t>
            </a:r>
            <a:endParaRPr lang="ru-RU" sz="1050" b="1" i="0" dirty="0">
              <a:solidFill>
                <a:srgbClr val="000000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6" name="Box 146"/>
          <p:cNvSpPr/>
          <p:nvPr/>
        </p:nvSpPr>
        <p:spPr>
          <a:xfrm>
            <a:off x="6800850" y="2528888"/>
            <a:ext cx="285750" cy="371475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 w="9525">
            <a:solidFill>
              <a:srgbClr val="333333"/>
            </a:solidFill>
          </a:ln>
        </p:spPr>
      </p:sp>
      <p:sp xmlns:p14="http://schemas.microsoft.com/office/powerpoint/2010/main">
        <p:nvSpPr>
          <p:cNvPr id="147" name="Text 147"/>
          <p:cNvSpPr txBox="1"/>
          <p:nvPr/>
        </p:nvSpPr>
        <p:spPr>
          <a:xfrm>
            <a:off x="6903690" y="2637106"/>
            <a:ext cx="111047" cy="1790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buNone/>
            </a:pPr>
            <a:r>
              <a:rPr lang="ru-RU" sz="10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·</a:t>
            </a:r>
            <a:endParaRPr lang="ru-RU" sz="10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8" name="Box 148"/>
          <p:cNvSpPr/>
          <p:nvPr/>
        </p:nvSpPr>
        <p:spPr>
          <a:xfrm>
            <a:off x="7143750" y="2528888"/>
            <a:ext cx="285750" cy="371475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 w="9525">
            <a:solidFill>
              <a:srgbClr val="333333"/>
            </a:solidFill>
          </a:ln>
        </p:spPr>
      </p:sp>
      <p:sp xmlns:p14="http://schemas.microsoft.com/office/powerpoint/2010/main">
        <p:nvSpPr>
          <p:cNvPr id="149" name="Text 149"/>
          <p:cNvSpPr txBox="1"/>
          <p:nvPr/>
        </p:nvSpPr>
        <p:spPr>
          <a:xfrm>
            <a:off x="7246590" y="2637106"/>
            <a:ext cx="111047" cy="1790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buNone/>
            </a:pPr>
            <a:r>
              <a:rPr lang="ru-RU" sz="10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·</a:t>
            </a:r>
            <a:endParaRPr lang="ru-RU" sz="10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50" name="Box 150"/>
          <p:cNvSpPr/>
          <p:nvPr/>
        </p:nvSpPr>
        <p:spPr>
          <a:xfrm>
            <a:off x="7486650" y="2528888"/>
            <a:ext cx="285750" cy="371475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 w="9525">
            <a:solidFill>
              <a:srgbClr val="333333"/>
            </a:solidFill>
          </a:ln>
        </p:spPr>
      </p:sp>
      <p:sp xmlns:p14="http://schemas.microsoft.com/office/powerpoint/2010/main">
        <p:nvSpPr>
          <p:cNvPr id="151" name="Text 151"/>
          <p:cNvSpPr txBox="1"/>
          <p:nvPr/>
        </p:nvSpPr>
        <p:spPr>
          <a:xfrm>
            <a:off x="7589490" y="2637106"/>
            <a:ext cx="111047" cy="1790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buNone/>
            </a:pPr>
            <a:r>
              <a:rPr lang="ru-RU" sz="10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·</a:t>
            </a:r>
            <a:endParaRPr lang="ru-RU" sz="10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52" name="Box 152"/>
          <p:cNvSpPr/>
          <p:nvPr/>
        </p:nvSpPr>
        <p:spPr>
          <a:xfrm>
            <a:off x="7829550" y="2528888"/>
            <a:ext cx="285750" cy="371475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 w="9525">
            <a:solidFill>
              <a:srgbClr val="333333"/>
            </a:solidFill>
          </a:ln>
        </p:spPr>
      </p:sp>
      <p:sp xmlns:p14="http://schemas.microsoft.com/office/powerpoint/2010/main">
        <p:nvSpPr>
          <p:cNvPr id="153" name="Text 153"/>
          <p:cNvSpPr txBox="1"/>
          <p:nvPr/>
        </p:nvSpPr>
        <p:spPr>
          <a:xfrm>
            <a:off x="7932390" y="2637106"/>
            <a:ext cx="111047" cy="1790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buNone/>
            </a:pPr>
            <a:r>
              <a:rPr lang="ru-RU" sz="10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·</a:t>
            </a:r>
            <a:endParaRPr lang="ru-RU" sz="10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54" name="Text 154"/>
          <p:cNvSpPr txBox="1"/>
          <p:nvPr/>
        </p:nvSpPr>
        <p:spPr>
          <a:xfrm>
            <a:off x="5364337" y="2965455"/>
            <a:ext cx="3177826" cy="362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352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std::unique сдвигает уникальные влево, erase отрезает хвост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5" name="Text 155"/>
          <p:cNvSpPr txBox="1"/>
          <p:nvPr/>
        </p:nvSpPr>
        <p:spPr>
          <a:xfrm>
            <a:off x="557212" y="2365380"/>
            <a:ext cx="4443412" cy="5343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2"/>
              </a:lnSpc>
              <a:spcBef>
                <a:spcPts val="0"/>
              </a:spcBef>
              <a:buNone/>
            </a:pPr>
            <a:r>
              <a:rPr lang="ru-RU" sz="966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Сортировка</a:t>
            </a: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— introsort (в libc++ — с идеями pdqsort): опорный элемент, раскладка «меньше / больше», повтор в половинах. ~log₂N уровней, на каждом проход по всем N.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6" name="Text 156"/>
          <p:cNvSpPr txBox="1"/>
          <p:nvPr/>
        </p:nvSpPr>
        <p:spPr>
          <a:xfrm>
            <a:off x="557212" y="2947298"/>
            <a:ext cx="4443412" cy="362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2"/>
              </a:lnSpc>
              <a:spcBef>
                <a:spcPts val="0"/>
              </a:spcBef>
              <a:buNone/>
            </a:pPr>
            <a:r>
              <a:rPr lang="ru-RU" sz="966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unique</a:t>
            </a: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— один проход: сравниваем соседей, повтор пропускаем. На месте, без новой памяти.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7" name="Text 157"/>
          <p:cNvSpPr txBox="1"/>
          <p:nvPr/>
        </p:nvSpPr>
        <p:spPr>
          <a:xfrm>
            <a:off x="557212" y="3357468"/>
            <a:ext cx="4443412" cy="1908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2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Один плотный буфер, который читается </a:t>
            </a:r>
            <a:r>
              <a:rPr lang="ru-RU" sz="966" b="1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подряд</a:t>
            </a: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  <a:endParaRPr lang="ru-RU" sz="966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58" name="Picture 15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58" name="Slide Number 158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УЗЛОВАЯ ХЕШ-ТАБЛИЦА: КАЖДЫЙ КЛЮЧ — СВОЙ new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Box 103"/>
          <p:cNvSpPr/>
          <p:nvPr/>
        </p:nvSpPr>
        <p:spPr>
          <a:xfrm>
            <a:off x="561975" y="1433512"/>
            <a:ext cx="1038225" cy="447675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</p:spPr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989633" y="1565324"/>
            <a:ext cx="216972" cy="2019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440"/>
              </a:lnSpc>
              <a:spcBef>
                <a:spcPts val="0"/>
              </a:spcBef>
              <a:buNone/>
            </a:pPr>
            <a:r>
              <a:rPr lang="ru-RU" sz="120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42</a:t>
            </a:r>
            <a:endParaRPr lang="ru-RU" sz="120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527209" y="1936755"/>
            <a:ext cx="1107758" cy="1908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352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ключ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6" name="Box 106"/>
          <p:cNvSpPr/>
          <p:nvPr/>
        </p:nvSpPr>
        <p:spPr>
          <a:xfrm>
            <a:off x="2143125" y="1433512"/>
            <a:ext cx="1704975" cy="447675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2515493" y="1579831"/>
            <a:ext cx="1017545" cy="1790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buNone/>
            </a:pPr>
            <a:r>
              <a:rPr lang="ru-RU" sz="10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hash(42) % 8</a:t>
            </a:r>
            <a:endParaRPr lang="ru-RU" sz="10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2098358" y="1936755"/>
            <a:ext cx="1794510" cy="362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352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хеш-функция → номер ячейки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9" name="Box 109"/>
          <p:cNvSpPr/>
          <p:nvPr/>
        </p:nvSpPr>
        <p:spPr>
          <a:xfrm>
            <a:off x="4381500" y="1433512"/>
            <a:ext cx="456009" cy="447675"/>
          </a:xfrm>
          <a:prstGeom prst="rect">
            <a:avLst/>
          </a:prstGeom>
          <a:solidFill>
            <a:srgbClr val="5E1C42"/>
          </a:solidFill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10" name="Fill 110"/>
          <p:cNvSpPr/>
          <p:nvPr/>
        </p:nvSpPr>
        <p:spPr>
          <a:xfrm>
            <a:off x="4842272" y="1428750"/>
            <a:ext cx="456009" cy="457200"/>
          </a:xfrm>
          <a:prstGeom prst="rect">
            <a:avLst/>
          </a:prstGeom>
          <a:solidFill>
            <a:srgbClr val="5E1C42"/>
          </a:solidFill>
          <a:ln>
            <a:noFill/>
          </a:ln>
        </p:spPr>
      </p:sp>
      <p:sp xmlns:p14="http://schemas.microsoft.com/office/powerpoint/2010/main">
        <p:nvSpPr>
          <p:cNvPr id="111" name="Line 111"/>
          <p:cNvSpPr/>
          <p:nvPr/>
        </p:nvSpPr>
        <p:spPr>
          <a:xfrm>
            <a:off x="4842272" y="1433512"/>
            <a:ext cx="456009" cy="48"/>
          </a:xfrm>
          <a:custGeom>
            <a:avLst/>
            <a:gdLst/>
            <a:ahLst/>
            <a:cxnLst/>
            <a:rect l="0" t="0" r="r" b="b"/>
            <a:pathLst>
              <a:path w="456009" h="1" fill="none">
                <a:moveTo>
                  <a:pt x="0" y="0"/>
                </a:moveTo>
                <a:lnTo>
                  <a:pt x="456009" y="0"/>
                </a:lnTo>
              </a:path>
            </a:pathLst>
          </a:custGeom>
          <a:noFill/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12" name="Line 112"/>
          <p:cNvSpPr/>
          <p:nvPr/>
        </p:nvSpPr>
        <p:spPr>
          <a:xfrm>
            <a:off x="5293519" y="1428750"/>
            <a:ext cx="48" cy="457200"/>
          </a:xfrm>
          <a:custGeom>
            <a:avLst/>
            <a:gdLst/>
            <a:ahLst/>
            <a:cxnLst/>
            <a:rect l="0" t="0" r="r" b="b"/>
            <a:pathLst>
              <a:path w="1" h="457200" fill="none">
                <a:moveTo>
                  <a:pt x="0" y="0"/>
                </a:moveTo>
                <a:lnTo>
                  <a:pt x="0" y="457200"/>
                </a:lnTo>
              </a:path>
            </a:pathLst>
          </a:custGeom>
          <a:noFill/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13" name="Line 113"/>
          <p:cNvSpPr/>
          <p:nvPr/>
        </p:nvSpPr>
        <p:spPr>
          <a:xfrm>
            <a:off x="4842272" y="1881188"/>
            <a:ext cx="456009" cy="48"/>
          </a:xfrm>
          <a:custGeom>
            <a:avLst/>
            <a:gdLst/>
            <a:ahLst/>
            <a:cxnLst/>
            <a:rect l="0" t="0" r="r" b="b"/>
            <a:pathLst>
              <a:path w="456009" h="1" fill="none">
                <a:moveTo>
                  <a:pt x="0" y="0"/>
                </a:moveTo>
                <a:lnTo>
                  <a:pt x="456009" y="0"/>
                </a:lnTo>
              </a:path>
            </a:pathLst>
          </a:custGeom>
          <a:noFill/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14" name="Fill 114"/>
          <p:cNvSpPr/>
          <p:nvPr/>
        </p:nvSpPr>
        <p:spPr>
          <a:xfrm>
            <a:off x="5298281" y="1428750"/>
            <a:ext cx="456009" cy="457200"/>
          </a:xfrm>
          <a:prstGeom prst="rect">
            <a:avLst/>
          </a:prstGeom>
          <a:solidFill>
            <a:srgbClr val="E2489B"/>
          </a:solidFill>
          <a:ln>
            <a:noFill/>
          </a:ln>
        </p:spPr>
      </p:sp>
      <p:sp xmlns:p14="http://schemas.microsoft.com/office/powerpoint/2010/main">
        <p:nvSpPr>
          <p:cNvPr id="115" name="Line 115"/>
          <p:cNvSpPr/>
          <p:nvPr/>
        </p:nvSpPr>
        <p:spPr>
          <a:xfrm>
            <a:off x="5298281" y="1433512"/>
            <a:ext cx="456009" cy="48"/>
          </a:xfrm>
          <a:custGeom>
            <a:avLst/>
            <a:gdLst/>
            <a:ahLst/>
            <a:cxnLst/>
            <a:rect l="0" t="0" r="r" b="b"/>
            <a:pathLst>
              <a:path w="456009" h="1" fill="none">
                <a:moveTo>
                  <a:pt x="0" y="0"/>
                </a:moveTo>
                <a:lnTo>
                  <a:pt x="456009" y="0"/>
                </a:lnTo>
              </a:path>
            </a:pathLst>
          </a:custGeom>
          <a:noFill/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16" name="Line 116"/>
          <p:cNvSpPr/>
          <p:nvPr/>
        </p:nvSpPr>
        <p:spPr>
          <a:xfrm>
            <a:off x="5749528" y="1428750"/>
            <a:ext cx="48" cy="457200"/>
          </a:xfrm>
          <a:custGeom>
            <a:avLst/>
            <a:gdLst/>
            <a:ahLst/>
            <a:cxnLst/>
            <a:rect l="0" t="0" r="r" b="b"/>
            <a:pathLst>
              <a:path w="1" h="457200" fill="none">
                <a:moveTo>
                  <a:pt x="0" y="0"/>
                </a:moveTo>
                <a:lnTo>
                  <a:pt x="0" y="457200"/>
                </a:lnTo>
              </a:path>
            </a:pathLst>
          </a:custGeom>
          <a:noFill/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17" name="Line 117"/>
          <p:cNvSpPr/>
          <p:nvPr/>
        </p:nvSpPr>
        <p:spPr>
          <a:xfrm>
            <a:off x="5298281" y="1881188"/>
            <a:ext cx="456009" cy="48"/>
          </a:xfrm>
          <a:custGeom>
            <a:avLst/>
            <a:gdLst/>
            <a:ahLst/>
            <a:cxnLst/>
            <a:rect l="0" t="0" r="r" b="b"/>
            <a:pathLst>
              <a:path w="456009" h="1" fill="none">
                <a:moveTo>
                  <a:pt x="0" y="0"/>
                </a:moveTo>
                <a:lnTo>
                  <a:pt x="456009" y="0"/>
                </a:lnTo>
              </a:path>
            </a:pathLst>
          </a:custGeom>
          <a:noFill/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18" name="Fill 118"/>
          <p:cNvSpPr/>
          <p:nvPr/>
        </p:nvSpPr>
        <p:spPr>
          <a:xfrm>
            <a:off x="5754291" y="1428750"/>
            <a:ext cx="456009" cy="457200"/>
          </a:xfrm>
          <a:prstGeom prst="rect">
            <a:avLst/>
          </a:prstGeom>
          <a:solidFill>
            <a:srgbClr val="5E1C42"/>
          </a:solidFill>
          <a:ln>
            <a:noFill/>
          </a:ln>
        </p:spPr>
      </p:sp>
      <p:sp xmlns:p14="http://schemas.microsoft.com/office/powerpoint/2010/main">
        <p:nvSpPr>
          <p:cNvPr id="119" name="Line 119"/>
          <p:cNvSpPr/>
          <p:nvPr/>
        </p:nvSpPr>
        <p:spPr>
          <a:xfrm>
            <a:off x="5754291" y="1433512"/>
            <a:ext cx="456009" cy="48"/>
          </a:xfrm>
          <a:custGeom>
            <a:avLst/>
            <a:gdLst/>
            <a:ahLst/>
            <a:cxnLst/>
            <a:rect l="0" t="0" r="r" b="b"/>
            <a:pathLst>
              <a:path w="456009" h="1" fill="none">
                <a:moveTo>
                  <a:pt x="0" y="0"/>
                </a:moveTo>
                <a:lnTo>
                  <a:pt x="456009" y="0"/>
                </a:lnTo>
              </a:path>
            </a:pathLst>
          </a:custGeom>
          <a:noFill/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20" name="Line 120"/>
          <p:cNvSpPr/>
          <p:nvPr/>
        </p:nvSpPr>
        <p:spPr>
          <a:xfrm>
            <a:off x="6205538" y="1428750"/>
            <a:ext cx="48" cy="457200"/>
          </a:xfrm>
          <a:custGeom>
            <a:avLst/>
            <a:gdLst/>
            <a:ahLst/>
            <a:cxnLst/>
            <a:rect l="0" t="0" r="r" b="b"/>
            <a:pathLst>
              <a:path w="1" h="457200" fill="none">
                <a:moveTo>
                  <a:pt x="0" y="0"/>
                </a:moveTo>
                <a:lnTo>
                  <a:pt x="0" y="457200"/>
                </a:lnTo>
              </a:path>
            </a:pathLst>
          </a:custGeom>
          <a:noFill/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21" name="Line 121"/>
          <p:cNvSpPr/>
          <p:nvPr/>
        </p:nvSpPr>
        <p:spPr>
          <a:xfrm>
            <a:off x="5754291" y="1881188"/>
            <a:ext cx="456009" cy="48"/>
          </a:xfrm>
          <a:custGeom>
            <a:avLst/>
            <a:gdLst/>
            <a:ahLst/>
            <a:cxnLst/>
            <a:rect l="0" t="0" r="r" b="b"/>
            <a:pathLst>
              <a:path w="456009" h="1" fill="none">
                <a:moveTo>
                  <a:pt x="0" y="0"/>
                </a:moveTo>
                <a:lnTo>
                  <a:pt x="456009" y="0"/>
                </a:lnTo>
              </a:path>
            </a:pathLst>
          </a:custGeom>
          <a:noFill/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22" name="Fill 122"/>
          <p:cNvSpPr/>
          <p:nvPr/>
        </p:nvSpPr>
        <p:spPr>
          <a:xfrm>
            <a:off x="6210300" y="1428750"/>
            <a:ext cx="456009" cy="457200"/>
          </a:xfrm>
          <a:prstGeom prst="rect">
            <a:avLst/>
          </a:prstGeom>
          <a:solidFill>
            <a:srgbClr val="5E1C42"/>
          </a:solidFill>
          <a:ln>
            <a:noFill/>
          </a:ln>
        </p:spPr>
      </p:sp>
      <p:sp xmlns:p14="http://schemas.microsoft.com/office/powerpoint/2010/main">
        <p:nvSpPr>
          <p:cNvPr id="123" name="Line 123"/>
          <p:cNvSpPr/>
          <p:nvPr/>
        </p:nvSpPr>
        <p:spPr>
          <a:xfrm>
            <a:off x="6210300" y="1433512"/>
            <a:ext cx="456009" cy="48"/>
          </a:xfrm>
          <a:custGeom>
            <a:avLst/>
            <a:gdLst/>
            <a:ahLst/>
            <a:cxnLst/>
            <a:rect l="0" t="0" r="r" b="b"/>
            <a:pathLst>
              <a:path w="456009" h="1" fill="none">
                <a:moveTo>
                  <a:pt x="0" y="0"/>
                </a:moveTo>
                <a:lnTo>
                  <a:pt x="456009" y="0"/>
                </a:lnTo>
              </a:path>
            </a:pathLst>
          </a:custGeom>
          <a:noFill/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24" name="Line 124"/>
          <p:cNvSpPr/>
          <p:nvPr/>
        </p:nvSpPr>
        <p:spPr>
          <a:xfrm>
            <a:off x="6661547" y="1428750"/>
            <a:ext cx="48" cy="457200"/>
          </a:xfrm>
          <a:custGeom>
            <a:avLst/>
            <a:gdLst/>
            <a:ahLst/>
            <a:cxnLst/>
            <a:rect l="0" t="0" r="r" b="b"/>
            <a:pathLst>
              <a:path w="1" h="457200" fill="none">
                <a:moveTo>
                  <a:pt x="0" y="0"/>
                </a:moveTo>
                <a:lnTo>
                  <a:pt x="0" y="457200"/>
                </a:lnTo>
              </a:path>
            </a:pathLst>
          </a:custGeom>
          <a:noFill/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25" name="Line 125"/>
          <p:cNvSpPr/>
          <p:nvPr/>
        </p:nvSpPr>
        <p:spPr>
          <a:xfrm>
            <a:off x="6210300" y="1881188"/>
            <a:ext cx="456009" cy="48"/>
          </a:xfrm>
          <a:custGeom>
            <a:avLst/>
            <a:gdLst/>
            <a:ahLst/>
            <a:cxnLst/>
            <a:rect l="0" t="0" r="r" b="b"/>
            <a:pathLst>
              <a:path w="456009" h="1" fill="none">
                <a:moveTo>
                  <a:pt x="0" y="0"/>
                </a:moveTo>
                <a:lnTo>
                  <a:pt x="456009" y="0"/>
                </a:lnTo>
              </a:path>
            </a:pathLst>
          </a:custGeom>
          <a:noFill/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26" name="Fill 126"/>
          <p:cNvSpPr/>
          <p:nvPr/>
        </p:nvSpPr>
        <p:spPr>
          <a:xfrm>
            <a:off x="6666309" y="1428750"/>
            <a:ext cx="456009" cy="457200"/>
          </a:xfrm>
          <a:prstGeom prst="rect">
            <a:avLst/>
          </a:prstGeom>
          <a:solidFill>
            <a:srgbClr val="5E1C42"/>
          </a:solidFill>
          <a:ln>
            <a:noFill/>
          </a:ln>
        </p:spPr>
      </p:sp>
      <p:sp xmlns:p14="http://schemas.microsoft.com/office/powerpoint/2010/main">
        <p:nvSpPr>
          <p:cNvPr id="127" name="Line 127"/>
          <p:cNvSpPr/>
          <p:nvPr/>
        </p:nvSpPr>
        <p:spPr>
          <a:xfrm>
            <a:off x="6666309" y="1433512"/>
            <a:ext cx="456009" cy="48"/>
          </a:xfrm>
          <a:custGeom>
            <a:avLst/>
            <a:gdLst/>
            <a:ahLst/>
            <a:cxnLst/>
            <a:rect l="0" t="0" r="r" b="b"/>
            <a:pathLst>
              <a:path w="456009" h="1" fill="none">
                <a:moveTo>
                  <a:pt x="0" y="0"/>
                </a:moveTo>
                <a:lnTo>
                  <a:pt x="456009" y="0"/>
                </a:lnTo>
              </a:path>
            </a:pathLst>
          </a:custGeom>
          <a:noFill/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28" name="Line 128"/>
          <p:cNvSpPr/>
          <p:nvPr/>
        </p:nvSpPr>
        <p:spPr>
          <a:xfrm>
            <a:off x="7117556" y="1428750"/>
            <a:ext cx="48" cy="457200"/>
          </a:xfrm>
          <a:custGeom>
            <a:avLst/>
            <a:gdLst/>
            <a:ahLst/>
            <a:cxnLst/>
            <a:rect l="0" t="0" r="r" b="b"/>
            <a:pathLst>
              <a:path w="1" h="457200" fill="none">
                <a:moveTo>
                  <a:pt x="0" y="0"/>
                </a:moveTo>
                <a:lnTo>
                  <a:pt x="0" y="457200"/>
                </a:lnTo>
              </a:path>
            </a:pathLst>
          </a:custGeom>
          <a:noFill/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29" name="Line 129"/>
          <p:cNvSpPr/>
          <p:nvPr/>
        </p:nvSpPr>
        <p:spPr>
          <a:xfrm>
            <a:off x="6666309" y="1881188"/>
            <a:ext cx="456009" cy="48"/>
          </a:xfrm>
          <a:custGeom>
            <a:avLst/>
            <a:gdLst/>
            <a:ahLst/>
            <a:cxnLst/>
            <a:rect l="0" t="0" r="r" b="b"/>
            <a:pathLst>
              <a:path w="456009" h="1" fill="none">
                <a:moveTo>
                  <a:pt x="0" y="0"/>
                </a:moveTo>
                <a:lnTo>
                  <a:pt x="456009" y="0"/>
                </a:lnTo>
              </a:path>
            </a:pathLst>
          </a:custGeom>
          <a:noFill/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30" name="Fill 130"/>
          <p:cNvSpPr/>
          <p:nvPr/>
        </p:nvSpPr>
        <p:spPr>
          <a:xfrm>
            <a:off x="7122319" y="1428750"/>
            <a:ext cx="456009" cy="457200"/>
          </a:xfrm>
          <a:prstGeom prst="rect">
            <a:avLst/>
          </a:prstGeom>
          <a:solidFill>
            <a:srgbClr val="5E1C42"/>
          </a:solidFill>
          <a:ln>
            <a:noFill/>
          </a:ln>
        </p:spPr>
      </p:sp>
      <p:sp xmlns:p14="http://schemas.microsoft.com/office/powerpoint/2010/main">
        <p:nvSpPr>
          <p:cNvPr id="131" name="Line 131"/>
          <p:cNvSpPr/>
          <p:nvPr/>
        </p:nvSpPr>
        <p:spPr>
          <a:xfrm>
            <a:off x="7122319" y="1433512"/>
            <a:ext cx="456009" cy="48"/>
          </a:xfrm>
          <a:custGeom>
            <a:avLst/>
            <a:gdLst/>
            <a:ahLst/>
            <a:cxnLst/>
            <a:rect l="0" t="0" r="r" b="b"/>
            <a:pathLst>
              <a:path w="456009" h="1" fill="none">
                <a:moveTo>
                  <a:pt x="0" y="0"/>
                </a:moveTo>
                <a:lnTo>
                  <a:pt x="456009" y="0"/>
                </a:lnTo>
              </a:path>
            </a:pathLst>
          </a:custGeom>
          <a:noFill/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32" name="Line 132"/>
          <p:cNvSpPr/>
          <p:nvPr/>
        </p:nvSpPr>
        <p:spPr>
          <a:xfrm>
            <a:off x="7573566" y="1428750"/>
            <a:ext cx="48" cy="457200"/>
          </a:xfrm>
          <a:custGeom>
            <a:avLst/>
            <a:gdLst/>
            <a:ahLst/>
            <a:cxnLst/>
            <a:rect l="0" t="0" r="r" b="b"/>
            <a:pathLst>
              <a:path w="1" h="457200" fill="none">
                <a:moveTo>
                  <a:pt x="0" y="0"/>
                </a:moveTo>
                <a:lnTo>
                  <a:pt x="0" y="457200"/>
                </a:lnTo>
              </a:path>
            </a:pathLst>
          </a:custGeom>
          <a:noFill/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33" name="Line 133"/>
          <p:cNvSpPr/>
          <p:nvPr/>
        </p:nvSpPr>
        <p:spPr>
          <a:xfrm>
            <a:off x="7122319" y="1881188"/>
            <a:ext cx="456009" cy="48"/>
          </a:xfrm>
          <a:custGeom>
            <a:avLst/>
            <a:gdLst/>
            <a:ahLst/>
            <a:cxnLst/>
            <a:rect l="0" t="0" r="r" b="b"/>
            <a:pathLst>
              <a:path w="456009" h="1" fill="none">
                <a:moveTo>
                  <a:pt x="0" y="0"/>
                </a:moveTo>
                <a:lnTo>
                  <a:pt x="456009" y="0"/>
                </a:lnTo>
              </a:path>
            </a:pathLst>
          </a:custGeom>
          <a:noFill/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34" name="Fill 134"/>
          <p:cNvSpPr/>
          <p:nvPr/>
        </p:nvSpPr>
        <p:spPr>
          <a:xfrm>
            <a:off x="7578328" y="1428750"/>
            <a:ext cx="456009" cy="457200"/>
          </a:xfrm>
          <a:prstGeom prst="rect">
            <a:avLst/>
          </a:prstGeom>
          <a:solidFill>
            <a:srgbClr val="5E1C42"/>
          </a:solidFill>
          <a:ln>
            <a:noFill/>
          </a:ln>
        </p:spPr>
      </p:sp>
      <p:sp xmlns:p14="http://schemas.microsoft.com/office/powerpoint/2010/main">
        <p:nvSpPr>
          <p:cNvPr id="135" name="Line 135"/>
          <p:cNvSpPr/>
          <p:nvPr/>
        </p:nvSpPr>
        <p:spPr>
          <a:xfrm>
            <a:off x="7578328" y="1433512"/>
            <a:ext cx="456009" cy="48"/>
          </a:xfrm>
          <a:custGeom>
            <a:avLst/>
            <a:gdLst/>
            <a:ahLst/>
            <a:cxnLst/>
            <a:rect l="0" t="0" r="r" b="b"/>
            <a:pathLst>
              <a:path w="456009" h="1" fill="none">
                <a:moveTo>
                  <a:pt x="0" y="0"/>
                </a:moveTo>
                <a:lnTo>
                  <a:pt x="456009" y="0"/>
                </a:lnTo>
              </a:path>
            </a:pathLst>
          </a:custGeom>
          <a:noFill/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36" name="Line 136"/>
          <p:cNvSpPr/>
          <p:nvPr/>
        </p:nvSpPr>
        <p:spPr>
          <a:xfrm>
            <a:off x="8029575" y="1428750"/>
            <a:ext cx="48" cy="457200"/>
          </a:xfrm>
          <a:custGeom>
            <a:avLst/>
            <a:gdLst/>
            <a:ahLst/>
            <a:cxnLst/>
            <a:rect l="0" t="0" r="r" b="b"/>
            <a:pathLst>
              <a:path w="1" h="457200" fill="none">
                <a:moveTo>
                  <a:pt x="0" y="0"/>
                </a:moveTo>
                <a:lnTo>
                  <a:pt x="0" y="457200"/>
                </a:lnTo>
              </a:path>
            </a:pathLst>
          </a:custGeom>
          <a:noFill/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37" name="Line 137"/>
          <p:cNvSpPr/>
          <p:nvPr/>
        </p:nvSpPr>
        <p:spPr>
          <a:xfrm>
            <a:off x="7578328" y="1881188"/>
            <a:ext cx="456009" cy="48"/>
          </a:xfrm>
          <a:custGeom>
            <a:avLst/>
            <a:gdLst/>
            <a:ahLst/>
            <a:cxnLst/>
            <a:rect l="0" t="0" r="r" b="b"/>
            <a:pathLst>
              <a:path w="456009" h="1" fill="none">
                <a:moveTo>
                  <a:pt x="0" y="0"/>
                </a:moveTo>
                <a:lnTo>
                  <a:pt x="456009" y="0"/>
                </a:lnTo>
              </a:path>
            </a:pathLst>
          </a:custGeom>
          <a:noFill/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38" name="Text 138"/>
          <p:cNvSpPr txBox="1"/>
          <p:nvPr/>
        </p:nvSpPr>
        <p:spPr>
          <a:xfrm>
            <a:off x="5662612" y="1936755"/>
            <a:ext cx="2932557" cy="1908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2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ячейки (бакеты) — массив указателей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9" name="Line 139"/>
          <p:cNvSpPr/>
          <p:nvPr/>
        </p:nvSpPr>
        <p:spPr>
          <a:xfrm>
            <a:off x="1604962" y="1657350"/>
            <a:ext cx="533400" cy="48"/>
          </a:xfrm>
          <a:custGeom>
            <a:avLst/>
            <a:gdLst/>
            <a:ahLst/>
            <a:cxnLst/>
            <a:rect l="0" t="0" r="r" b="b"/>
            <a:pathLst>
              <a:path w="533400" h="1" fill="none">
                <a:moveTo>
                  <a:pt x="0" y="0"/>
                </a:moveTo>
                <a:lnTo>
                  <a:pt x="533400" y="0"/>
                </a:lnTo>
              </a:path>
            </a:pathLst>
          </a:custGeom>
          <a:noFill/>
          <a:ln w="14288">
            <a:solidFill>
              <a:srgbClr val="FFFFFF"/>
            </a:solidFill>
            <a:round/>
            <a:tailEnd type="triangle" w="med" len="med"/>
          </a:ln>
        </p:spPr>
      </p:sp>
      <p:sp xmlns:p14="http://schemas.microsoft.com/office/powerpoint/2010/main">
        <p:nvSpPr>
          <p:cNvPr id="140" name="Line 140"/>
          <p:cNvSpPr/>
          <p:nvPr/>
        </p:nvSpPr>
        <p:spPr>
          <a:xfrm>
            <a:off x="3852862" y="1657350"/>
            <a:ext cx="523875" cy="48"/>
          </a:xfrm>
          <a:custGeom>
            <a:avLst/>
            <a:gdLst/>
            <a:ahLst/>
            <a:cxnLst/>
            <a:rect l="0" t="0" r="r" b="b"/>
            <a:pathLst>
              <a:path w="523875" h="1" fill="none">
                <a:moveTo>
                  <a:pt x="0" y="0"/>
                </a:moveTo>
                <a:lnTo>
                  <a:pt x="523875" y="0"/>
                </a:lnTo>
              </a:path>
            </a:pathLst>
          </a:custGeom>
          <a:noFill/>
          <a:ln w="14288">
            <a:solidFill>
              <a:srgbClr val="FFFFFF"/>
            </a:solidFill>
            <a:round/>
            <a:tailEnd type="triangle" w="med" len="med"/>
          </a:ln>
        </p:spPr>
      </p:sp>
      <p:sp xmlns:p14="http://schemas.microsoft.com/office/powerpoint/2010/main">
        <p:nvSpPr>
          <p:cNvPr id="141" name="Box 141"/>
          <p:cNvSpPr/>
          <p:nvPr/>
        </p:nvSpPr>
        <p:spPr>
          <a:xfrm>
            <a:off x="5143500" y="2481262"/>
            <a:ext cx="942975" cy="371475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42" name="Text 142"/>
          <p:cNvSpPr txBox="1"/>
          <p:nvPr/>
        </p:nvSpPr>
        <p:spPr>
          <a:xfrm>
            <a:off x="5254898" y="2589481"/>
            <a:ext cx="770283" cy="1790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buNone/>
            </a:pPr>
            <a:r>
              <a:rPr lang="ru-RU" sz="105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42 · next</a:t>
            </a:r>
            <a:endParaRPr lang="ru-RU" sz="1050" b="0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3" name="Box 143"/>
          <p:cNvSpPr/>
          <p:nvPr/>
        </p:nvSpPr>
        <p:spPr>
          <a:xfrm>
            <a:off x="6619875" y="3052762"/>
            <a:ext cx="942975" cy="371475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44" name="Text 144"/>
          <p:cNvSpPr txBox="1"/>
          <p:nvPr/>
        </p:nvSpPr>
        <p:spPr>
          <a:xfrm>
            <a:off x="6731273" y="3160981"/>
            <a:ext cx="770283" cy="1790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buNone/>
            </a:pPr>
            <a:r>
              <a:rPr lang="ru-RU" sz="105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50 · next</a:t>
            </a:r>
            <a:endParaRPr lang="ru-RU" sz="1050" b="0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5" name="Line 145"/>
          <p:cNvSpPr/>
          <p:nvPr/>
        </p:nvSpPr>
        <p:spPr>
          <a:xfrm>
            <a:off x="5519738" y="1885950"/>
            <a:ext cx="48" cy="590550"/>
          </a:xfrm>
          <a:custGeom>
            <a:avLst/>
            <a:gdLst/>
            <a:ahLst/>
            <a:cxnLst/>
            <a:rect l="0" t="0" r="r" b="b"/>
            <a:pathLst>
              <a:path w="1" h="590550" fill="none">
                <a:moveTo>
                  <a:pt x="0" y="0"/>
                </a:moveTo>
                <a:lnTo>
                  <a:pt x="0" y="590550"/>
                </a:lnTo>
              </a:path>
            </a:pathLst>
          </a:custGeom>
          <a:noFill/>
          <a:ln w="14288">
            <a:solidFill>
              <a:srgbClr val="E2489B"/>
            </a:solidFill>
            <a:round/>
            <a:tailEnd type="triangle" w="med" len="med"/>
          </a:ln>
        </p:spPr>
      </p:sp>
      <p:sp xmlns:p14="http://schemas.microsoft.com/office/powerpoint/2010/main">
        <p:nvSpPr>
          <p:cNvPr id="146" name="Line 146"/>
          <p:cNvSpPr/>
          <p:nvPr/>
        </p:nvSpPr>
        <p:spPr>
          <a:xfrm>
            <a:off x="6091238" y="2667000"/>
            <a:ext cx="523875" cy="571500"/>
          </a:xfrm>
          <a:custGeom>
            <a:avLst/>
            <a:gdLst/>
            <a:ahLst/>
            <a:cxnLst/>
            <a:rect l="0" t="0" r="r" b="b"/>
            <a:pathLst>
              <a:path w="523875" h="571500" fill="none">
                <a:moveTo>
                  <a:pt x="0" y="0"/>
                </a:moveTo>
                <a:lnTo>
                  <a:pt x="523875" y="571500"/>
                </a:lnTo>
              </a:path>
            </a:pathLst>
          </a:custGeom>
          <a:noFill/>
          <a:ln w="14288">
            <a:solidFill>
              <a:srgbClr val="E2489B"/>
            </a:solidFill>
            <a:round/>
            <a:tailEnd type="triangle" w="med" len="med"/>
          </a:ln>
        </p:spPr>
      </p:sp>
      <p:sp xmlns:p14="http://schemas.microsoft.com/office/powerpoint/2010/main">
        <p:nvSpPr>
          <p:cNvPr id="147" name="Text 147"/>
          <p:cNvSpPr txBox="1"/>
          <p:nvPr/>
        </p:nvSpPr>
        <p:spPr>
          <a:xfrm>
            <a:off x="5138738" y="3508380"/>
            <a:ext cx="3168015" cy="5343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2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Коллизия: 42 и 50 попали в одну ячейку — висят цепочкой. Каждый узел — отдельный кусок памяти, свой вызов new.</a:t>
            </a:r>
            <a:endParaRPr lang="ru-RU" sz="966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48" name="Text 148"/>
          <p:cNvSpPr txBox="1"/>
          <p:nvPr/>
        </p:nvSpPr>
        <p:spPr>
          <a:xfrm>
            <a:off x="557212" y="2460630"/>
            <a:ext cx="4443412" cy="362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2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Вставка: посчитать хеш → прийти в ячейку → пройти цепочку → если ключа нет, создать узел.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49" name="Text 149"/>
          <p:cNvSpPr txBox="1"/>
          <p:nvPr/>
        </p:nvSpPr>
        <p:spPr>
          <a:xfrm>
            <a:off x="557212" y="2880325"/>
            <a:ext cx="4443412" cy="362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2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В среднем цепочка короткая, поэтому «O(1) на операцию». Но каждый шаг цепочки — переход по указателю.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0" name="Text 150"/>
          <p:cNvSpPr txBox="1"/>
          <p:nvPr/>
        </p:nvSpPr>
        <p:spPr>
          <a:xfrm>
            <a:off x="557212" y="3300020"/>
            <a:ext cx="4443412" cy="5343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2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Номер ячейки: в libstdc++ число ячеек простое — остаток от деления; в libc++ тоже простое, но после reserve(2^k) — степень двойки и маска по младшим битам.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51" name="Text 151"/>
          <p:cNvSpPr txBox="1"/>
          <p:nvPr/>
        </p:nvSpPr>
        <p:spPr>
          <a:xfrm>
            <a:off x="557212" y="4554200"/>
            <a:ext cx="7936039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Упрощённая схема узловых реализаций (libstdc++, libc++) · учебный hash и 8 ячеек · max_load_factor 1.0, std::hash для целых — тождество · стандарт требует, чтобы ссылки на элементы переживали rehash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52" name="Picture 15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52" name="Slide Number 152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3415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Radix sort: СОРТИРОВКА БЕЗ СРАВНЕНИЙ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170652"/>
            <a:ext cx="8191119" cy="33802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64-битный ключ — это 8 байт. Раскладываем числа по «корзинам» младшего байта, сохраняя порядок внутри корзины, потом следующего… 8 проходов, и всё отсортировано.</a:t>
            </a:r>
            <a:endParaRPr lang="ru-RU" sz="966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557212" y="1606634"/>
            <a:ext cx="1922050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вход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2890838" y="1606634"/>
            <a:ext cx="2814828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9B87F5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проход 1 · младший полубайт</a:t>
            </a:r>
            <a:endParaRPr lang="ru-RU" sz="966" b="0" i="0" dirty="0">
              <a:solidFill>
                <a:srgbClr val="9B87F5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6091238" y="1606634"/>
            <a:ext cx="2491073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после 1-го прохода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7" name="Box 107"/>
          <p:cNvSpPr/>
          <p:nvPr/>
        </p:nvSpPr>
        <p:spPr>
          <a:xfrm>
            <a:off x="561975" y="1807518"/>
            <a:ext cx="428625" cy="238125"/>
          </a:xfrm>
          <a:prstGeom prst="roundRect">
            <a:avLst>
              <a:gd name="adj" fmla="val 19230"/>
            </a:avLst>
          </a:prstGeom>
          <a:solidFill>
            <a:srgbClr val="3A3270"/>
          </a:solidFill>
          <a:ln w="9525">
            <a:solidFill>
              <a:srgbClr val="9B87F5"/>
            </a:solidFill>
          </a:ln>
        </p:spPr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616223" y="1849061"/>
            <a:ext cx="331515" cy="1790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buNone/>
            </a:pPr>
            <a:r>
              <a:rPr lang="ru-RU" sz="10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0x1A</a:t>
            </a:r>
            <a:endParaRPr lang="ru-RU" sz="10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9" name="Box 109"/>
          <p:cNvSpPr/>
          <p:nvPr/>
        </p:nvSpPr>
        <p:spPr>
          <a:xfrm>
            <a:off x="1028700" y="1807518"/>
            <a:ext cx="428625" cy="238125"/>
          </a:xfrm>
          <a:prstGeom prst="roundRect">
            <a:avLst>
              <a:gd name="adj" fmla="val 19230"/>
            </a:avLst>
          </a:prstGeom>
          <a:solidFill>
            <a:srgbClr val="3A3270"/>
          </a:solidFill>
          <a:ln w="9525">
            <a:solidFill>
              <a:srgbClr val="9B87F5"/>
            </a:solidFill>
          </a:ln>
        </p:spPr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1082948" y="1849061"/>
            <a:ext cx="331515" cy="1790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buNone/>
            </a:pPr>
            <a:r>
              <a:rPr lang="ru-RU" sz="10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0x03</a:t>
            </a:r>
            <a:endParaRPr lang="ru-RU" sz="10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11" name="Box 111"/>
          <p:cNvSpPr/>
          <p:nvPr/>
        </p:nvSpPr>
        <p:spPr>
          <a:xfrm>
            <a:off x="1495425" y="1807518"/>
            <a:ext cx="428625" cy="238125"/>
          </a:xfrm>
          <a:prstGeom prst="roundRect">
            <a:avLst>
              <a:gd name="adj" fmla="val 19230"/>
            </a:avLst>
          </a:prstGeom>
          <a:solidFill>
            <a:srgbClr val="3A3270"/>
          </a:solidFill>
          <a:ln w="9525">
            <a:solidFill>
              <a:srgbClr val="9B87F5"/>
            </a:solidFill>
          </a:ln>
        </p:spPr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1549673" y="1849061"/>
            <a:ext cx="331515" cy="1790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buNone/>
            </a:pPr>
            <a:r>
              <a:rPr lang="ru-RU" sz="10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0x2A</a:t>
            </a:r>
            <a:endParaRPr lang="ru-RU" sz="10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13" name="Box 113"/>
          <p:cNvSpPr/>
          <p:nvPr/>
        </p:nvSpPr>
        <p:spPr>
          <a:xfrm>
            <a:off x="1962150" y="1807518"/>
            <a:ext cx="428625" cy="238125"/>
          </a:xfrm>
          <a:prstGeom prst="roundRect">
            <a:avLst>
              <a:gd name="adj" fmla="val 19230"/>
            </a:avLst>
          </a:prstGeom>
          <a:solidFill>
            <a:srgbClr val="3A3270"/>
          </a:solidFill>
          <a:ln w="9525">
            <a:solidFill>
              <a:srgbClr val="9B87F5"/>
            </a:solidFill>
          </a:ln>
        </p:spPr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2016398" y="1849061"/>
            <a:ext cx="331515" cy="1790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buNone/>
            </a:pPr>
            <a:r>
              <a:rPr lang="ru-RU" sz="10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0x11</a:t>
            </a:r>
            <a:endParaRPr lang="ru-RU" sz="10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15" name="Box 115"/>
          <p:cNvSpPr/>
          <p:nvPr/>
        </p:nvSpPr>
        <p:spPr>
          <a:xfrm>
            <a:off x="2895600" y="1807518"/>
            <a:ext cx="704850" cy="238125"/>
          </a:xfrm>
          <a:prstGeom prst="roundRect">
            <a:avLst>
              <a:gd name="adj" fmla="val 19230"/>
            </a:avLst>
          </a:prstGeom>
          <a:solidFill>
            <a:srgbClr val="3A3270"/>
          </a:solidFill>
          <a:ln w="9525">
            <a:solidFill>
              <a:srgbClr val="9B87F5"/>
            </a:solidFill>
            <a:prstDash val="dash"/>
          </a:ln>
        </p:spPr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2924175" y="1853934"/>
            <a:ext cx="200025" cy="167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buNone/>
            </a:pPr>
            <a:r>
              <a:rPr lang="ru-RU" sz="975" b="1" i="0" dirty="0">
                <a:solidFill>
                  <a:srgbClr val="9B87F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·1</a:t>
            </a:r>
            <a:endParaRPr lang="ru-RU" sz="975" b="1" i="0" dirty="0">
              <a:solidFill>
                <a:srgbClr val="9B87F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17" name="Box 117"/>
          <p:cNvSpPr/>
          <p:nvPr/>
        </p:nvSpPr>
        <p:spPr>
          <a:xfrm>
            <a:off x="3152775" y="1836093"/>
            <a:ext cx="409575" cy="180975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 w="9525">
            <a:solidFill>
              <a:srgbClr val="9B87F5"/>
            </a:solidFill>
          </a:ln>
        </p:spPr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3208958" y="1853934"/>
            <a:ext cx="310530" cy="167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buNone/>
            </a:pPr>
            <a:r>
              <a:rPr lang="ru-RU" sz="975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0x11</a:t>
            </a:r>
            <a:endParaRPr lang="ru-RU" sz="975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19" name="Box 119"/>
          <p:cNvSpPr/>
          <p:nvPr/>
        </p:nvSpPr>
        <p:spPr>
          <a:xfrm>
            <a:off x="3667125" y="1807518"/>
            <a:ext cx="704850" cy="238125"/>
          </a:xfrm>
          <a:prstGeom prst="roundRect">
            <a:avLst>
              <a:gd name="adj" fmla="val 19230"/>
            </a:avLst>
          </a:prstGeom>
          <a:solidFill>
            <a:srgbClr val="3A3270"/>
          </a:solidFill>
          <a:ln w="9525">
            <a:solidFill>
              <a:srgbClr val="9B87F5"/>
            </a:solidFill>
            <a:prstDash val="dash"/>
          </a:ln>
        </p:spPr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3695700" y="1853934"/>
            <a:ext cx="200025" cy="167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buNone/>
            </a:pPr>
            <a:r>
              <a:rPr lang="ru-RU" sz="975" b="1" i="0" dirty="0">
                <a:solidFill>
                  <a:srgbClr val="9B87F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·3</a:t>
            </a:r>
            <a:endParaRPr lang="ru-RU" sz="975" b="1" i="0" dirty="0">
              <a:solidFill>
                <a:srgbClr val="9B87F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21" name="Box 121"/>
          <p:cNvSpPr/>
          <p:nvPr/>
        </p:nvSpPr>
        <p:spPr>
          <a:xfrm>
            <a:off x="3924300" y="1836093"/>
            <a:ext cx="409575" cy="180975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 w="9525">
            <a:solidFill>
              <a:srgbClr val="9B87F5"/>
            </a:solidFill>
          </a:ln>
        </p:spPr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3980483" y="1853934"/>
            <a:ext cx="310530" cy="167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buNone/>
            </a:pPr>
            <a:r>
              <a:rPr lang="ru-RU" sz="975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0x03</a:t>
            </a:r>
            <a:endParaRPr lang="ru-RU" sz="975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23" name="Box 123"/>
          <p:cNvSpPr/>
          <p:nvPr/>
        </p:nvSpPr>
        <p:spPr>
          <a:xfrm>
            <a:off x="4438650" y="1807518"/>
            <a:ext cx="1152525" cy="238125"/>
          </a:xfrm>
          <a:prstGeom prst="roundRect">
            <a:avLst>
              <a:gd name="adj" fmla="val 19230"/>
            </a:avLst>
          </a:prstGeom>
          <a:solidFill>
            <a:srgbClr val="3A3270"/>
          </a:solidFill>
          <a:ln w="9525">
            <a:solidFill>
              <a:srgbClr val="9B87F5"/>
            </a:solidFill>
            <a:prstDash val="dash"/>
          </a:ln>
        </p:spPr>
      </p:sp>
      <p:sp xmlns:p14="http://schemas.microsoft.com/office/powerpoint/2010/main">
        <p:nvSpPr>
          <p:cNvPr id="124" name="Text 124"/>
          <p:cNvSpPr txBox="1"/>
          <p:nvPr/>
        </p:nvSpPr>
        <p:spPr>
          <a:xfrm>
            <a:off x="4467225" y="1853934"/>
            <a:ext cx="200025" cy="167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buNone/>
            </a:pPr>
            <a:r>
              <a:rPr lang="ru-RU" sz="975" b="1" i="0" dirty="0">
                <a:solidFill>
                  <a:srgbClr val="9B87F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·A</a:t>
            </a:r>
            <a:endParaRPr lang="ru-RU" sz="975" b="1" i="0" dirty="0">
              <a:solidFill>
                <a:srgbClr val="9B87F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25" name="Box 125"/>
          <p:cNvSpPr/>
          <p:nvPr/>
        </p:nvSpPr>
        <p:spPr>
          <a:xfrm>
            <a:off x="4695825" y="1836093"/>
            <a:ext cx="409575" cy="180975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 w="9525">
            <a:solidFill>
              <a:srgbClr val="9B87F5"/>
            </a:solidFill>
          </a:ln>
        </p:spPr>
      </p:sp>
      <p:sp xmlns:p14="http://schemas.microsoft.com/office/powerpoint/2010/main">
        <p:nvSpPr>
          <p:cNvPr id="126" name="Text 126"/>
          <p:cNvSpPr txBox="1"/>
          <p:nvPr/>
        </p:nvSpPr>
        <p:spPr>
          <a:xfrm>
            <a:off x="4752008" y="1853934"/>
            <a:ext cx="310530" cy="167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buNone/>
            </a:pPr>
            <a:r>
              <a:rPr lang="ru-RU" sz="975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0x1A</a:t>
            </a:r>
            <a:endParaRPr lang="ru-RU" sz="975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27" name="Box 127"/>
          <p:cNvSpPr/>
          <p:nvPr/>
        </p:nvSpPr>
        <p:spPr>
          <a:xfrm>
            <a:off x="5143500" y="1836093"/>
            <a:ext cx="409575" cy="180975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 w="9525">
            <a:solidFill>
              <a:srgbClr val="9B87F5"/>
            </a:solidFill>
          </a:ln>
        </p:spPr>
      </p:sp>
      <p:sp xmlns:p14="http://schemas.microsoft.com/office/powerpoint/2010/main">
        <p:nvSpPr>
          <p:cNvPr id="128" name="Text 128"/>
          <p:cNvSpPr txBox="1"/>
          <p:nvPr/>
        </p:nvSpPr>
        <p:spPr>
          <a:xfrm>
            <a:off x="5199683" y="1853934"/>
            <a:ext cx="310530" cy="167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buNone/>
            </a:pPr>
            <a:r>
              <a:rPr lang="ru-RU" sz="975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0x2A</a:t>
            </a:r>
            <a:endParaRPr lang="ru-RU" sz="975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29" name="Box 129"/>
          <p:cNvSpPr/>
          <p:nvPr/>
        </p:nvSpPr>
        <p:spPr>
          <a:xfrm>
            <a:off x="6096000" y="1807518"/>
            <a:ext cx="428625" cy="238125"/>
          </a:xfrm>
          <a:prstGeom prst="roundRect">
            <a:avLst>
              <a:gd name="adj" fmla="val 19230"/>
            </a:avLst>
          </a:prstGeom>
          <a:solidFill>
            <a:srgbClr val="000000"/>
          </a:solidFill>
          <a:ln w="9525">
            <a:solidFill>
              <a:srgbClr val="9B87F5"/>
            </a:solidFill>
          </a:ln>
        </p:spPr>
      </p:sp>
      <p:sp xmlns:p14="http://schemas.microsoft.com/office/powerpoint/2010/main">
        <p:nvSpPr>
          <p:cNvPr id="130" name="Text 130"/>
          <p:cNvSpPr txBox="1"/>
          <p:nvPr/>
        </p:nvSpPr>
        <p:spPr>
          <a:xfrm>
            <a:off x="6150248" y="1849061"/>
            <a:ext cx="331515" cy="1790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buNone/>
            </a:pPr>
            <a:r>
              <a:rPr lang="ru-RU" sz="10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0x11</a:t>
            </a:r>
            <a:endParaRPr lang="ru-RU" sz="10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31" name="Box 131"/>
          <p:cNvSpPr/>
          <p:nvPr/>
        </p:nvSpPr>
        <p:spPr>
          <a:xfrm>
            <a:off x="6562725" y="1807518"/>
            <a:ext cx="428625" cy="238125"/>
          </a:xfrm>
          <a:prstGeom prst="roundRect">
            <a:avLst>
              <a:gd name="adj" fmla="val 19230"/>
            </a:avLst>
          </a:prstGeom>
          <a:solidFill>
            <a:srgbClr val="000000"/>
          </a:solidFill>
          <a:ln w="9525">
            <a:solidFill>
              <a:srgbClr val="9B87F5"/>
            </a:solidFill>
          </a:ln>
        </p:spPr>
      </p:sp>
      <p:sp xmlns:p14="http://schemas.microsoft.com/office/powerpoint/2010/main">
        <p:nvSpPr>
          <p:cNvPr id="132" name="Text 132"/>
          <p:cNvSpPr txBox="1"/>
          <p:nvPr/>
        </p:nvSpPr>
        <p:spPr>
          <a:xfrm>
            <a:off x="6616973" y="1849061"/>
            <a:ext cx="331515" cy="1790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buNone/>
            </a:pPr>
            <a:r>
              <a:rPr lang="ru-RU" sz="10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0x03</a:t>
            </a:r>
            <a:endParaRPr lang="ru-RU" sz="10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33" name="Box 133"/>
          <p:cNvSpPr/>
          <p:nvPr/>
        </p:nvSpPr>
        <p:spPr>
          <a:xfrm>
            <a:off x="7029450" y="1807518"/>
            <a:ext cx="428625" cy="238125"/>
          </a:xfrm>
          <a:prstGeom prst="roundRect">
            <a:avLst>
              <a:gd name="adj" fmla="val 19230"/>
            </a:avLst>
          </a:prstGeom>
          <a:solidFill>
            <a:srgbClr val="000000"/>
          </a:solidFill>
          <a:ln w="9525">
            <a:solidFill>
              <a:srgbClr val="9B87F5"/>
            </a:solidFill>
          </a:ln>
        </p:spPr>
      </p:sp>
      <p:sp xmlns:p14="http://schemas.microsoft.com/office/powerpoint/2010/main">
        <p:nvSpPr>
          <p:cNvPr id="134" name="Text 134"/>
          <p:cNvSpPr txBox="1"/>
          <p:nvPr/>
        </p:nvSpPr>
        <p:spPr>
          <a:xfrm>
            <a:off x="7083698" y="1849061"/>
            <a:ext cx="331515" cy="1790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buNone/>
            </a:pPr>
            <a:r>
              <a:rPr lang="ru-RU" sz="10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0x1A</a:t>
            </a:r>
            <a:endParaRPr lang="ru-RU" sz="10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35" name="Box 135"/>
          <p:cNvSpPr/>
          <p:nvPr/>
        </p:nvSpPr>
        <p:spPr>
          <a:xfrm>
            <a:off x="7496175" y="1807518"/>
            <a:ext cx="428625" cy="238125"/>
          </a:xfrm>
          <a:prstGeom prst="roundRect">
            <a:avLst>
              <a:gd name="adj" fmla="val 19230"/>
            </a:avLst>
          </a:prstGeom>
          <a:solidFill>
            <a:srgbClr val="000000"/>
          </a:solidFill>
          <a:ln w="9525">
            <a:solidFill>
              <a:srgbClr val="9B87F5"/>
            </a:solidFill>
          </a:ln>
        </p:spPr>
      </p:sp>
      <p:sp xmlns:p14="http://schemas.microsoft.com/office/powerpoint/2010/main">
        <p:nvSpPr>
          <p:cNvPr id="136" name="Text 136"/>
          <p:cNvSpPr txBox="1"/>
          <p:nvPr/>
        </p:nvSpPr>
        <p:spPr>
          <a:xfrm>
            <a:off x="7550423" y="1849061"/>
            <a:ext cx="331515" cy="1790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buNone/>
            </a:pPr>
            <a:r>
              <a:rPr lang="ru-RU" sz="10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0x2A</a:t>
            </a:r>
            <a:endParaRPr lang="ru-RU" sz="10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37" name="Line 137"/>
          <p:cNvSpPr/>
          <p:nvPr/>
        </p:nvSpPr>
        <p:spPr>
          <a:xfrm>
            <a:off x="2471738" y="1926580"/>
            <a:ext cx="342900" cy="48"/>
          </a:xfrm>
          <a:custGeom>
            <a:avLst/>
            <a:gdLst/>
            <a:ahLst/>
            <a:cxnLst/>
            <a:rect l="0" t="0" r="r" b="b"/>
            <a:pathLst>
              <a:path w="342900" h="1" fill="none">
                <a:moveTo>
                  <a:pt x="0" y="0"/>
                </a:moveTo>
                <a:lnTo>
                  <a:pt x="342900" y="0"/>
                </a:lnTo>
              </a:path>
            </a:pathLst>
          </a:custGeom>
          <a:noFill/>
          <a:ln w="14288">
            <a:solidFill>
              <a:srgbClr val="9B87F5"/>
            </a:solidFill>
            <a:round/>
            <a:tailEnd type="triangle" w="med" len="med"/>
          </a:ln>
        </p:spPr>
      </p:sp>
      <p:sp xmlns:p14="http://schemas.microsoft.com/office/powerpoint/2010/main">
        <p:nvSpPr>
          <p:cNvPr id="138" name="Line 138"/>
          <p:cNvSpPr/>
          <p:nvPr/>
        </p:nvSpPr>
        <p:spPr>
          <a:xfrm>
            <a:off x="5672138" y="1926580"/>
            <a:ext cx="342900" cy="48"/>
          </a:xfrm>
          <a:custGeom>
            <a:avLst/>
            <a:gdLst/>
            <a:ahLst/>
            <a:cxnLst/>
            <a:rect l="0" t="0" r="r" b="b"/>
            <a:pathLst>
              <a:path w="342900" h="1" fill="none">
                <a:moveTo>
                  <a:pt x="0" y="0"/>
                </a:moveTo>
                <a:lnTo>
                  <a:pt x="342900" y="0"/>
                </a:lnTo>
              </a:path>
            </a:pathLst>
          </a:custGeom>
          <a:noFill/>
          <a:ln w="14288">
            <a:solidFill>
              <a:srgbClr val="9B87F5"/>
            </a:solidFill>
            <a:round/>
            <a:tailEnd type="triangle" w="med" len="med"/>
          </a:ln>
        </p:spPr>
      </p:sp>
      <p:sp xmlns:p14="http://schemas.microsoft.com/office/powerpoint/2010/main">
        <p:nvSpPr>
          <p:cNvPr id="139" name="Text 139"/>
          <p:cNvSpPr txBox="1"/>
          <p:nvPr/>
        </p:nvSpPr>
        <p:spPr>
          <a:xfrm>
            <a:off x="557212" y="2159084"/>
            <a:ext cx="1922050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после 1-го прохода</a:t>
            </a:r>
            <a:endParaRPr lang="ru-RU" sz="966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40" name="Text 140"/>
          <p:cNvSpPr txBox="1"/>
          <p:nvPr/>
        </p:nvSpPr>
        <p:spPr>
          <a:xfrm>
            <a:off x="2890838" y="2159084"/>
            <a:ext cx="2814828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9B87F5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проход 2 · старший полубайт</a:t>
            </a:r>
            <a:endParaRPr lang="ru-RU" sz="966" b="0" i="0" dirty="0">
              <a:solidFill>
                <a:srgbClr val="9B87F5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41" name="Text 141"/>
          <p:cNvSpPr txBox="1"/>
          <p:nvPr/>
        </p:nvSpPr>
        <p:spPr>
          <a:xfrm>
            <a:off x="6091238" y="2159084"/>
            <a:ext cx="2491073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после 2-го — отсортировано</a:t>
            </a:r>
            <a:endParaRPr lang="ru-RU" sz="966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42" name="Box 142"/>
          <p:cNvSpPr/>
          <p:nvPr/>
        </p:nvSpPr>
        <p:spPr>
          <a:xfrm>
            <a:off x="561975" y="2359968"/>
            <a:ext cx="428625" cy="238125"/>
          </a:xfrm>
          <a:prstGeom prst="roundRect">
            <a:avLst>
              <a:gd name="adj" fmla="val 19230"/>
            </a:avLst>
          </a:prstGeom>
          <a:solidFill>
            <a:srgbClr val="000000"/>
          </a:solidFill>
          <a:ln w="9525">
            <a:solidFill>
              <a:srgbClr val="9B87F5"/>
            </a:solidFill>
          </a:ln>
        </p:spPr>
      </p:sp>
      <p:sp xmlns:p14="http://schemas.microsoft.com/office/powerpoint/2010/main">
        <p:nvSpPr>
          <p:cNvPr id="143" name="Text 143"/>
          <p:cNvSpPr txBox="1"/>
          <p:nvPr/>
        </p:nvSpPr>
        <p:spPr>
          <a:xfrm>
            <a:off x="616223" y="2401511"/>
            <a:ext cx="331515" cy="1790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buNone/>
            </a:pPr>
            <a:r>
              <a:rPr lang="ru-RU" sz="10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0x11</a:t>
            </a:r>
            <a:endParaRPr lang="ru-RU" sz="10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4" name="Box 144"/>
          <p:cNvSpPr/>
          <p:nvPr/>
        </p:nvSpPr>
        <p:spPr>
          <a:xfrm>
            <a:off x="1028700" y="2359968"/>
            <a:ext cx="428625" cy="238125"/>
          </a:xfrm>
          <a:prstGeom prst="roundRect">
            <a:avLst>
              <a:gd name="adj" fmla="val 19230"/>
            </a:avLst>
          </a:prstGeom>
          <a:solidFill>
            <a:srgbClr val="000000"/>
          </a:solidFill>
          <a:ln w="9525">
            <a:solidFill>
              <a:srgbClr val="9B87F5"/>
            </a:solidFill>
          </a:ln>
        </p:spPr>
      </p:sp>
      <p:sp xmlns:p14="http://schemas.microsoft.com/office/powerpoint/2010/main">
        <p:nvSpPr>
          <p:cNvPr id="145" name="Text 145"/>
          <p:cNvSpPr txBox="1"/>
          <p:nvPr/>
        </p:nvSpPr>
        <p:spPr>
          <a:xfrm>
            <a:off x="1082948" y="2401511"/>
            <a:ext cx="331515" cy="1790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buNone/>
            </a:pPr>
            <a:r>
              <a:rPr lang="ru-RU" sz="10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0x03</a:t>
            </a:r>
            <a:endParaRPr lang="ru-RU" sz="10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6" name="Box 146"/>
          <p:cNvSpPr/>
          <p:nvPr/>
        </p:nvSpPr>
        <p:spPr>
          <a:xfrm>
            <a:off x="1495425" y="2359968"/>
            <a:ext cx="428625" cy="238125"/>
          </a:xfrm>
          <a:prstGeom prst="roundRect">
            <a:avLst>
              <a:gd name="adj" fmla="val 19230"/>
            </a:avLst>
          </a:prstGeom>
          <a:solidFill>
            <a:srgbClr val="000000"/>
          </a:solidFill>
          <a:ln w="9525">
            <a:solidFill>
              <a:srgbClr val="9B87F5"/>
            </a:solidFill>
          </a:ln>
        </p:spPr>
      </p:sp>
      <p:sp xmlns:p14="http://schemas.microsoft.com/office/powerpoint/2010/main">
        <p:nvSpPr>
          <p:cNvPr id="147" name="Text 147"/>
          <p:cNvSpPr txBox="1"/>
          <p:nvPr/>
        </p:nvSpPr>
        <p:spPr>
          <a:xfrm>
            <a:off x="1549673" y="2401511"/>
            <a:ext cx="331515" cy="1790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buNone/>
            </a:pPr>
            <a:r>
              <a:rPr lang="ru-RU" sz="10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0x1A</a:t>
            </a:r>
            <a:endParaRPr lang="ru-RU" sz="10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48" name="Box 148"/>
          <p:cNvSpPr/>
          <p:nvPr/>
        </p:nvSpPr>
        <p:spPr>
          <a:xfrm>
            <a:off x="1962150" y="2359968"/>
            <a:ext cx="428625" cy="238125"/>
          </a:xfrm>
          <a:prstGeom prst="roundRect">
            <a:avLst>
              <a:gd name="adj" fmla="val 19230"/>
            </a:avLst>
          </a:prstGeom>
          <a:solidFill>
            <a:srgbClr val="000000"/>
          </a:solidFill>
          <a:ln w="9525">
            <a:solidFill>
              <a:srgbClr val="9B87F5"/>
            </a:solidFill>
          </a:ln>
        </p:spPr>
      </p:sp>
      <p:sp xmlns:p14="http://schemas.microsoft.com/office/powerpoint/2010/main">
        <p:nvSpPr>
          <p:cNvPr id="149" name="Text 149"/>
          <p:cNvSpPr txBox="1"/>
          <p:nvPr/>
        </p:nvSpPr>
        <p:spPr>
          <a:xfrm>
            <a:off x="2016398" y="2401511"/>
            <a:ext cx="331515" cy="1790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buNone/>
            </a:pPr>
            <a:r>
              <a:rPr lang="ru-RU" sz="10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0x2A</a:t>
            </a:r>
            <a:endParaRPr lang="ru-RU" sz="10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50" name="Box 150"/>
          <p:cNvSpPr/>
          <p:nvPr/>
        </p:nvSpPr>
        <p:spPr>
          <a:xfrm>
            <a:off x="2895600" y="2359968"/>
            <a:ext cx="704850" cy="238125"/>
          </a:xfrm>
          <a:prstGeom prst="roundRect">
            <a:avLst>
              <a:gd name="adj" fmla="val 19230"/>
            </a:avLst>
          </a:prstGeom>
          <a:solidFill>
            <a:srgbClr val="3A3270"/>
          </a:solidFill>
          <a:ln w="9525">
            <a:solidFill>
              <a:srgbClr val="9B87F5"/>
            </a:solidFill>
            <a:prstDash val="dash"/>
          </a:ln>
        </p:spPr>
      </p:sp>
      <p:sp xmlns:p14="http://schemas.microsoft.com/office/powerpoint/2010/main">
        <p:nvSpPr>
          <p:cNvPr id="151" name="Text 151"/>
          <p:cNvSpPr txBox="1"/>
          <p:nvPr/>
        </p:nvSpPr>
        <p:spPr>
          <a:xfrm>
            <a:off x="2924175" y="2406384"/>
            <a:ext cx="200025" cy="167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buNone/>
            </a:pPr>
            <a:r>
              <a:rPr lang="ru-RU" sz="975" b="1" i="0" dirty="0">
                <a:solidFill>
                  <a:srgbClr val="9B87F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0·</a:t>
            </a:r>
            <a:endParaRPr lang="ru-RU" sz="975" b="1" i="0" dirty="0">
              <a:solidFill>
                <a:srgbClr val="9B87F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52" name="Box 152"/>
          <p:cNvSpPr/>
          <p:nvPr/>
        </p:nvSpPr>
        <p:spPr>
          <a:xfrm>
            <a:off x="3152775" y="2388543"/>
            <a:ext cx="409575" cy="180975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 w="9525">
            <a:solidFill>
              <a:srgbClr val="9B87F5"/>
            </a:solidFill>
          </a:ln>
        </p:spPr>
      </p:sp>
      <p:sp xmlns:p14="http://schemas.microsoft.com/office/powerpoint/2010/main">
        <p:nvSpPr>
          <p:cNvPr id="153" name="Text 153"/>
          <p:cNvSpPr txBox="1"/>
          <p:nvPr/>
        </p:nvSpPr>
        <p:spPr>
          <a:xfrm>
            <a:off x="3208958" y="2406384"/>
            <a:ext cx="310530" cy="167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buNone/>
            </a:pPr>
            <a:r>
              <a:rPr lang="ru-RU" sz="975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0x03</a:t>
            </a:r>
            <a:endParaRPr lang="ru-RU" sz="975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54" name="Box 154"/>
          <p:cNvSpPr/>
          <p:nvPr/>
        </p:nvSpPr>
        <p:spPr>
          <a:xfrm>
            <a:off x="3667125" y="2359968"/>
            <a:ext cx="1152525" cy="238125"/>
          </a:xfrm>
          <a:prstGeom prst="roundRect">
            <a:avLst>
              <a:gd name="adj" fmla="val 19230"/>
            </a:avLst>
          </a:prstGeom>
          <a:solidFill>
            <a:srgbClr val="3A3270"/>
          </a:solidFill>
          <a:ln w="9525">
            <a:solidFill>
              <a:srgbClr val="9B87F5"/>
            </a:solidFill>
            <a:prstDash val="dash"/>
          </a:ln>
        </p:spPr>
      </p:sp>
      <p:sp xmlns:p14="http://schemas.microsoft.com/office/powerpoint/2010/main">
        <p:nvSpPr>
          <p:cNvPr id="155" name="Text 155"/>
          <p:cNvSpPr txBox="1"/>
          <p:nvPr/>
        </p:nvSpPr>
        <p:spPr>
          <a:xfrm>
            <a:off x="3695700" y="2406384"/>
            <a:ext cx="200025" cy="167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buNone/>
            </a:pPr>
            <a:r>
              <a:rPr lang="ru-RU" sz="975" b="1" i="0" dirty="0">
                <a:solidFill>
                  <a:srgbClr val="9B87F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1·</a:t>
            </a:r>
            <a:endParaRPr lang="ru-RU" sz="975" b="1" i="0" dirty="0">
              <a:solidFill>
                <a:srgbClr val="9B87F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56" name="Box 156"/>
          <p:cNvSpPr/>
          <p:nvPr/>
        </p:nvSpPr>
        <p:spPr>
          <a:xfrm>
            <a:off x="3924300" y="2388543"/>
            <a:ext cx="409575" cy="180975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 w="9525">
            <a:solidFill>
              <a:srgbClr val="9B87F5"/>
            </a:solidFill>
          </a:ln>
        </p:spPr>
      </p:sp>
      <p:sp xmlns:p14="http://schemas.microsoft.com/office/powerpoint/2010/main">
        <p:nvSpPr>
          <p:cNvPr id="157" name="Text 157"/>
          <p:cNvSpPr txBox="1"/>
          <p:nvPr/>
        </p:nvSpPr>
        <p:spPr>
          <a:xfrm>
            <a:off x="3980483" y="2406384"/>
            <a:ext cx="310530" cy="167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buNone/>
            </a:pPr>
            <a:r>
              <a:rPr lang="ru-RU" sz="975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0x11</a:t>
            </a:r>
            <a:endParaRPr lang="ru-RU" sz="975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58" name="Box 158"/>
          <p:cNvSpPr/>
          <p:nvPr/>
        </p:nvSpPr>
        <p:spPr>
          <a:xfrm>
            <a:off x="4371975" y="2388543"/>
            <a:ext cx="409575" cy="180975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 w="9525">
            <a:solidFill>
              <a:srgbClr val="9B87F5"/>
            </a:solidFill>
          </a:ln>
        </p:spPr>
      </p:sp>
      <p:sp xmlns:p14="http://schemas.microsoft.com/office/powerpoint/2010/main">
        <p:nvSpPr>
          <p:cNvPr id="159" name="Text 159"/>
          <p:cNvSpPr txBox="1"/>
          <p:nvPr/>
        </p:nvSpPr>
        <p:spPr>
          <a:xfrm>
            <a:off x="4428158" y="2406384"/>
            <a:ext cx="310530" cy="167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buNone/>
            </a:pPr>
            <a:r>
              <a:rPr lang="ru-RU" sz="975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0x1A</a:t>
            </a:r>
            <a:endParaRPr lang="ru-RU" sz="975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60" name="Box 160"/>
          <p:cNvSpPr/>
          <p:nvPr/>
        </p:nvSpPr>
        <p:spPr>
          <a:xfrm>
            <a:off x="4886325" y="2359968"/>
            <a:ext cx="704850" cy="238125"/>
          </a:xfrm>
          <a:prstGeom prst="roundRect">
            <a:avLst>
              <a:gd name="adj" fmla="val 19230"/>
            </a:avLst>
          </a:prstGeom>
          <a:solidFill>
            <a:srgbClr val="3A3270"/>
          </a:solidFill>
          <a:ln w="9525">
            <a:solidFill>
              <a:srgbClr val="9B87F5"/>
            </a:solidFill>
            <a:prstDash val="dash"/>
          </a:ln>
        </p:spPr>
      </p:sp>
      <p:sp xmlns:p14="http://schemas.microsoft.com/office/powerpoint/2010/main">
        <p:nvSpPr>
          <p:cNvPr id="161" name="Text 161"/>
          <p:cNvSpPr txBox="1"/>
          <p:nvPr/>
        </p:nvSpPr>
        <p:spPr>
          <a:xfrm>
            <a:off x="4914900" y="2406384"/>
            <a:ext cx="200025" cy="167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buNone/>
            </a:pPr>
            <a:r>
              <a:rPr lang="ru-RU" sz="975" b="1" i="0" dirty="0">
                <a:solidFill>
                  <a:srgbClr val="9B87F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2·</a:t>
            </a:r>
            <a:endParaRPr lang="ru-RU" sz="975" b="1" i="0" dirty="0">
              <a:solidFill>
                <a:srgbClr val="9B87F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62" name="Box 162"/>
          <p:cNvSpPr/>
          <p:nvPr/>
        </p:nvSpPr>
        <p:spPr>
          <a:xfrm>
            <a:off x="5143500" y="2388543"/>
            <a:ext cx="409575" cy="180975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 w="9525">
            <a:solidFill>
              <a:srgbClr val="9B87F5"/>
            </a:solidFill>
          </a:ln>
        </p:spPr>
      </p:sp>
      <p:sp xmlns:p14="http://schemas.microsoft.com/office/powerpoint/2010/main">
        <p:nvSpPr>
          <p:cNvPr id="163" name="Text 163"/>
          <p:cNvSpPr txBox="1"/>
          <p:nvPr/>
        </p:nvSpPr>
        <p:spPr>
          <a:xfrm>
            <a:off x="5199683" y="2406384"/>
            <a:ext cx="310530" cy="167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buNone/>
            </a:pPr>
            <a:r>
              <a:rPr lang="ru-RU" sz="975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0x2A</a:t>
            </a:r>
            <a:endParaRPr lang="ru-RU" sz="975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64" name="Box 164"/>
          <p:cNvSpPr/>
          <p:nvPr/>
        </p:nvSpPr>
        <p:spPr>
          <a:xfrm>
            <a:off x="6096000" y="2359968"/>
            <a:ext cx="428625" cy="238125"/>
          </a:xfrm>
          <a:prstGeom prst="roundRect">
            <a:avLst>
              <a:gd name="adj" fmla="val 19230"/>
            </a:avLst>
          </a:prstGeom>
          <a:solidFill>
            <a:srgbClr val="9B87F5"/>
          </a:solidFill>
          <a:ln w="9525">
            <a:solidFill>
              <a:srgbClr val="9B87F5"/>
            </a:solidFill>
          </a:ln>
        </p:spPr>
      </p:sp>
      <p:sp xmlns:p14="http://schemas.microsoft.com/office/powerpoint/2010/main">
        <p:nvSpPr>
          <p:cNvPr id="165" name="Text 165"/>
          <p:cNvSpPr txBox="1"/>
          <p:nvPr/>
        </p:nvSpPr>
        <p:spPr>
          <a:xfrm>
            <a:off x="6150248" y="2401511"/>
            <a:ext cx="331515" cy="1790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buNone/>
            </a:pPr>
            <a:r>
              <a:rPr lang="ru-RU" sz="10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0x03</a:t>
            </a:r>
            <a:endParaRPr lang="ru-RU" sz="10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66" name="Box 166"/>
          <p:cNvSpPr/>
          <p:nvPr/>
        </p:nvSpPr>
        <p:spPr>
          <a:xfrm>
            <a:off x="6562725" y="2359968"/>
            <a:ext cx="428625" cy="238125"/>
          </a:xfrm>
          <a:prstGeom prst="roundRect">
            <a:avLst>
              <a:gd name="adj" fmla="val 19230"/>
            </a:avLst>
          </a:prstGeom>
          <a:solidFill>
            <a:srgbClr val="9B87F5"/>
          </a:solidFill>
          <a:ln w="9525">
            <a:solidFill>
              <a:srgbClr val="9B87F5"/>
            </a:solidFill>
          </a:ln>
        </p:spPr>
      </p:sp>
      <p:sp xmlns:p14="http://schemas.microsoft.com/office/powerpoint/2010/main">
        <p:nvSpPr>
          <p:cNvPr id="167" name="Text 167"/>
          <p:cNvSpPr txBox="1"/>
          <p:nvPr/>
        </p:nvSpPr>
        <p:spPr>
          <a:xfrm>
            <a:off x="6616973" y="2401511"/>
            <a:ext cx="331515" cy="1790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buNone/>
            </a:pPr>
            <a:r>
              <a:rPr lang="ru-RU" sz="10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0x11</a:t>
            </a:r>
            <a:endParaRPr lang="ru-RU" sz="10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68" name="Box 168"/>
          <p:cNvSpPr/>
          <p:nvPr/>
        </p:nvSpPr>
        <p:spPr>
          <a:xfrm>
            <a:off x="7029450" y="2359968"/>
            <a:ext cx="428625" cy="238125"/>
          </a:xfrm>
          <a:prstGeom prst="roundRect">
            <a:avLst>
              <a:gd name="adj" fmla="val 19230"/>
            </a:avLst>
          </a:prstGeom>
          <a:solidFill>
            <a:srgbClr val="9B87F5"/>
          </a:solidFill>
          <a:ln w="9525">
            <a:solidFill>
              <a:srgbClr val="9B87F5"/>
            </a:solidFill>
          </a:ln>
        </p:spPr>
      </p:sp>
      <p:sp xmlns:p14="http://schemas.microsoft.com/office/powerpoint/2010/main">
        <p:nvSpPr>
          <p:cNvPr id="169" name="Text 169"/>
          <p:cNvSpPr txBox="1"/>
          <p:nvPr/>
        </p:nvSpPr>
        <p:spPr>
          <a:xfrm>
            <a:off x="7083698" y="2401511"/>
            <a:ext cx="331515" cy="1790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buNone/>
            </a:pPr>
            <a:r>
              <a:rPr lang="ru-RU" sz="10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0x1A</a:t>
            </a:r>
            <a:endParaRPr lang="ru-RU" sz="10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70" name="Box 170"/>
          <p:cNvSpPr/>
          <p:nvPr/>
        </p:nvSpPr>
        <p:spPr>
          <a:xfrm>
            <a:off x="7496175" y="2359968"/>
            <a:ext cx="428625" cy="238125"/>
          </a:xfrm>
          <a:prstGeom prst="roundRect">
            <a:avLst>
              <a:gd name="adj" fmla="val 19230"/>
            </a:avLst>
          </a:prstGeom>
          <a:solidFill>
            <a:srgbClr val="9B87F5"/>
          </a:solidFill>
          <a:ln w="9525">
            <a:solidFill>
              <a:srgbClr val="9B87F5"/>
            </a:solidFill>
          </a:ln>
        </p:spPr>
      </p:sp>
      <p:sp xmlns:p14="http://schemas.microsoft.com/office/powerpoint/2010/main">
        <p:nvSpPr>
          <p:cNvPr id="171" name="Text 171"/>
          <p:cNvSpPr txBox="1"/>
          <p:nvPr/>
        </p:nvSpPr>
        <p:spPr>
          <a:xfrm>
            <a:off x="7550423" y="2401511"/>
            <a:ext cx="331515" cy="1790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buNone/>
            </a:pPr>
            <a:r>
              <a:rPr lang="ru-RU" sz="1050" b="1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0x2A</a:t>
            </a:r>
            <a:endParaRPr lang="ru-RU" sz="1050" b="1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72" name="Line 172"/>
          <p:cNvSpPr/>
          <p:nvPr/>
        </p:nvSpPr>
        <p:spPr>
          <a:xfrm>
            <a:off x="2471738" y="2479030"/>
            <a:ext cx="342900" cy="48"/>
          </a:xfrm>
          <a:custGeom>
            <a:avLst/>
            <a:gdLst/>
            <a:ahLst/>
            <a:cxnLst/>
            <a:rect l="0" t="0" r="r" b="b"/>
            <a:pathLst>
              <a:path w="342900" h="1" fill="none">
                <a:moveTo>
                  <a:pt x="0" y="0"/>
                </a:moveTo>
                <a:lnTo>
                  <a:pt x="342900" y="0"/>
                </a:lnTo>
              </a:path>
            </a:pathLst>
          </a:custGeom>
          <a:noFill/>
          <a:ln w="14288">
            <a:solidFill>
              <a:srgbClr val="9B87F5"/>
            </a:solidFill>
            <a:round/>
            <a:tailEnd type="triangle" w="med" len="med"/>
          </a:ln>
        </p:spPr>
      </p:sp>
      <p:sp xmlns:p14="http://schemas.microsoft.com/office/powerpoint/2010/main">
        <p:nvSpPr>
          <p:cNvPr id="173" name="Line 173"/>
          <p:cNvSpPr/>
          <p:nvPr/>
        </p:nvSpPr>
        <p:spPr>
          <a:xfrm>
            <a:off x="5672138" y="2479030"/>
            <a:ext cx="342900" cy="48"/>
          </a:xfrm>
          <a:custGeom>
            <a:avLst/>
            <a:gdLst/>
            <a:ahLst/>
            <a:cxnLst/>
            <a:rect l="0" t="0" r="r" b="b"/>
            <a:pathLst>
              <a:path w="342900" h="1" fill="none">
                <a:moveTo>
                  <a:pt x="0" y="0"/>
                </a:moveTo>
                <a:lnTo>
                  <a:pt x="342900" y="0"/>
                </a:lnTo>
              </a:path>
            </a:pathLst>
          </a:custGeom>
          <a:noFill/>
          <a:ln w="14288">
            <a:solidFill>
              <a:srgbClr val="9B87F5"/>
            </a:solidFill>
            <a:round/>
            <a:tailEnd type="triangle" w="med" len="med"/>
          </a:ln>
        </p:spPr>
      </p:sp>
      <p:sp xmlns:p14="http://schemas.microsoft.com/office/powerpoint/2010/main">
        <p:nvSpPr>
          <p:cNvPr id="174" name="Text 174"/>
          <p:cNvSpPr txBox="1"/>
          <p:nvPr/>
        </p:nvSpPr>
        <p:spPr>
          <a:xfrm>
            <a:off x="557212" y="2709728"/>
            <a:ext cx="8191119" cy="3152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На схеме для наглядности 8-битные ключи и полубайт: 2 прохода по 16 корзин, показаны непустые. Внутри корзины порядок прихода сохраняется — поэтому после последнего прохода всё отсортировано.</a:t>
            </a:r>
            <a:endParaRPr lang="ru-RU" sz="897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75" name="Box 175"/>
          <p:cNvSpPr/>
          <p:nvPr/>
        </p:nvSpPr>
        <p:spPr>
          <a:xfrm>
            <a:off x="560784" y="3131195"/>
            <a:ext cx="2482081" cy="951458"/>
          </a:xfrm>
          <a:prstGeom prst="roundRect">
            <a:avLst>
              <a:gd name="adj" fmla="val 7949"/>
            </a:avLst>
          </a:prstGeom>
          <a:solidFill>
            <a:srgbClr val="000000"/>
          </a:solidFill>
          <a:ln w="7144">
            <a:solidFill>
              <a:srgbClr val="FFFFFF"/>
            </a:solidFill>
          </a:ln>
        </p:spPr>
      </p:sp>
      <p:sp xmlns:p14="http://schemas.microsoft.com/office/powerpoint/2010/main">
        <p:nvSpPr>
          <p:cNvPr id="176" name="Text 176"/>
          <p:cNvSpPr txBox="1"/>
          <p:nvPr/>
        </p:nvSpPr>
        <p:spPr>
          <a:xfrm>
            <a:off x="657225" y="3222014"/>
            <a:ext cx="2341587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9B87F5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Линейно, но с константой</a:t>
            </a:r>
            <a:endParaRPr lang="ru-RU" sz="966" b="0" i="0" dirty="0">
              <a:solidFill>
                <a:srgbClr val="9B87F5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77" name="Text 177"/>
          <p:cNvSpPr txBox="1"/>
          <p:nvPr/>
        </p:nvSpPr>
        <p:spPr>
          <a:xfrm>
            <a:off x="657225" y="3386450"/>
            <a:ext cx="2341587" cy="4633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O(N · число байт): проход подсчёта и 8 проходов раскладки — без единого сравнения.</a:t>
            </a:r>
            <a:endParaRPr lang="ru-RU" sz="897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78" name="Box 178"/>
          <p:cNvSpPr/>
          <p:nvPr/>
        </p:nvSpPr>
        <p:spPr>
          <a:xfrm>
            <a:off x="3278609" y="3131195"/>
            <a:ext cx="2482081" cy="951458"/>
          </a:xfrm>
          <a:prstGeom prst="roundRect">
            <a:avLst>
              <a:gd name="adj" fmla="val 7949"/>
            </a:avLst>
          </a:prstGeom>
          <a:solidFill>
            <a:srgbClr val="000000"/>
          </a:solidFill>
          <a:ln w="7144">
            <a:solidFill>
              <a:srgbClr val="FFFFFF"/>
            </a:solidFill>
          </a:ln>
        </p:spPr>
      </p:sp>
      <p:sp xmlns:p14="http://schemas.microsoft.com/office/powerpoint/2010/main">
        <p:nvSpPr>
          <p:cNvPr id="179" name="Text 179"/>
          <p:cNvSpPr txBox="1"/>
          <p:nvPr/>
        </p:nvSpPr>
        <p:spPr>
          <a:xfrm>
            <a:off x="3375050" y="3222014"/>
            <a:ext cx="2341587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9B87F5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Нужен буфер на N</a:t>
            </a:r>
            <a:endParaRPr lang="ru-RU" sz="966" b="0" i="0" dirty="0">
              <a:solidFill>
                <a:srgbClr val="9B87F5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80" name="Text 180"/>
          <p:cNvSpPr txBox="1"/>
          <p:nvPr/>
        </p:nvSpPr>
        <p:spPr>
          <a:xfrm>
            <a:off x="3375050" y="3386450"/>
            <a:ext cx="2341587" cy="61142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Раскладывать «на месте» нельзя — второй массив того же размера. Одна аллокация, дальше два плотных буфера.</a:t>
            </a:r>
            <a:endParaRPr lang="ru-RU" sz="897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81" name="Box 181"/>
          <p:cNvSpPr/>
          <p:nvPr/>
        </p:nvSpPr>
        <p:spPr>
          <a:xfrm>
            <a:off x="5996434" y="3131195"/>
            <a:ext cx="2482081" cy="951458"/>
          </a:xfrm>
          <a:prstGeom prst="roundRect">
            <a:avLst>
              <a:gd name="adj" fmla="val 7949"/>
            </a:avLst>
          </a:prstGeom>
          <a:solidFill>
            <a:srgbClr val="000000"/>
          </a:solidFill>
          <a:ln w="7144">
            <a:solidFill>
              <a:srgbClr val="FFFFFF"/>
            </a:solidFill>
          </a:ln>
        </p:spPr>
      </p:sp>
      <p:sp xmlns:p14="http://schemas.microsoft.com/office/powerpoint/2010/main">
        <p:nvSpPr>
          <p:cNvPr id="182" name="Text 182"/>
          <p:cNvSpPr txBox="1"/>
          <p:nvPr/>
        </p:nvSpPr>
        <p:spPr>
          <a:xfrm>
            <a:off x="6092875" y="3222014"/>
            <a:ext cx="2341587" cy="1662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59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9B87F5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Только «цифровые» ключи</a:t>
            </a:r>
            <a:endParaRPr lang="ru-RU" sz="966" b="0" i="0" dirty="0">
              <a:solidFill>
                <a:srgbClr val="9B87F5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83" name="Text 183"/>
          <p:cNvSpPr txBox="1"/>
          <p:nvPr/>
        </p:nvSpPr>
        <p:spPr>
          <a:xfrm>
            <a:off x="6092875" y="3386450"/>
            <a:ext cx="2341587" cy="4633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16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Целые, фиксированной длины. Для строк и объектов с компаратором — не подходит. Дальше тот же unique.</a:t>
            </a:r>
            <a:endParaRPr lang="ru-RU" sz="897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84" name="Text 184"/>
          <p:cNvSpPr txBox="1"/>
          <p:nvPr/>
        </p:nvSpPr>
        <p:spPr>
          <a:xfrm>
            <a:off x="557212" y="4554200"/>
            <a:ext cx="7936039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LSD radix из бенчмарка: 8 проходов по байту (256 корзин), счётчики 8×256 за один предварительный проход, проход пропускается, если все ключи в одной корзине, буфер на N · после — тот же unique + erase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85" name="Picture 18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85" name="Slide Number 185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reserve(N) — ТОЖЕ РЕШЕНИЕ, И ОНО СТОИТ ПАМЯТИ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Box 103"/>
          <p:cNvSpPr/>
          <p:nvPr/>
        </p:nvSpPr>
        <p:spPr>
          <a:xfrm>
            <a:off x="560784" y="1353488"/>
            <a:ext cx="3879056" cy="1425029"/>
          </a:xfrm>
          <a:prstGeom prst="roundRect">
            <a:avLst>
              <a:gd name="adj" fmla="val 5320"/>
            </a:avLst>
          </a:prstGeom>
          <a:solidFill>
            <a:srgbClr val="000000"/>
          </a:solidFill>
          <a:ln w="7144">
            <a:solidFill>
              <a:srgbClr val="FFFFFF"/>
            </a:solidFill>
          </a:ln>
        </p:spPr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790575" y="1568543"/>
            <a:ext cx="3550634" cy="21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46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С reserve(N)</a:t>
            </a:r>
            <a:endParaRPr lang="ru-RU" sz="1104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790575" y="1889264"/>
            <a:ext cx="3550634" cy="439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312"/>
              </a:lnSpc>
              <a:spcBef>
                <a:spcPts val="0"/>
              </a:spcBef>
              <a:buNone/>
            </a:pPr>
            <a:r>
              <a:rPr lang="ru-RU" sz="3312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3,6 нс</a:t>
            </a:r>
            <a:endParaRPr lang="ru-RU" sz="3312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790575" y="2337761"/>
            <a:ext cx="3550634" cy="21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46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18,9 МБ таблицы</a:t>
            </a:r>
            <a:endParaRPr lang="ru-RU" sz="1104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7" name="Box 107"/>
          <p:cNvSpPr/>
          <p:nvPr/>
        </p:nvSpPr>
        <p:spPr>
          <a:xfrm>
            <a:off x="4599384" y="1353488"/>
            <a:ext cx="3879056" cy="1425029"/>
          </a:xfrm>
          <a:prstGeom prst="roundRect">
            <a:avLst>
              <a:gd name="adj" fmla="val 5320"/>
            </a:avLst>
          </a:prstGeom>
          <a:solidFill>
            <a:srgbClr val="000000"/>
          </a:solidFill>
          <a:ln w="7144">
            <a:solidFill>
              <a:srgbClr val="FFFFFF"/>
            </a:solidFill>
          </a:ln>
        </p:spPr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4829175" y="1568543"/>
            <a:ext cx="3550634" cy="21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46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Без reserve</a:t>
            </a:r>
            <a:endParaRPr lang="ru-RU" sz="1104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4829175" y="1889264"/>
            <a:ext cx="3550634" cy="439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3312"/>
              </a:lnSpc>
              <a:spcBef>
                <a:spcPts val="0"/>
              </a:spcBef>
              <a:buNone/>
            </a:pPr>
            <a:r>
              <a:rPr lang="ru-RU" sz="3312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2,9 нс</a:t>
            </a:r>
            <a:endParaRPr lang="ru-RU" sz="3312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4829175" y="2337761"/>
            <a:ext cx="3550634" cy="21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46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0,3 МБ таблицы</a:t>
            </a:r>
            <a:endParaRPr lang="ru-RU" sz="1104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557212" y="2881653"/>
            <a:ext cx="8191119" cy="411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46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N мы знаем, U — нет. Резерв под N при 1% уникальных сильно превышает число ключей: в 64 раза больше памяти (по точным байтам) и медленнее.</a:t>
            </a:r>
            <a:endParaRPr lang="ru-RU" sz="1104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557212" y="4554200"/>
            <a:ext cx="7936039" cy="292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flat_hash_set · N = 2^20, U/N = 1% · M2 Pro, macOS · нс на элемент · память — сумма запрошенных байт за операцию, МБ = 10^6 байт · id — случайные 64-битные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3" name="Picture 11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13" name="Slide Number 113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ЧЕСТНЫЙ ЗАМЕР — ВОСЕМЬ ПРОВЕРОК ДО ВЫВОДА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557212" y="1326335"/>
            <a:ext cx="3952875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897" b="0" i="0" cap="all" spc="38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Одинаковая задача</a:t>
            </a:r>
            <a:endParaRPr lang="ru-RU" sz="897" b="0" i="0" cap="all" spc="38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557212" y="1542275"/>
            <a:ext cx="3952875" cy="21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46"/>
              </a:lnSpc>
              <a:spcBef>
                <a:spcPts val="0"/>
              </a:spcBef>
              <a:buNone/>
            </a:pPr>
            <a:r>
              <a:rPr lang="ru-RU" sz="1104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1.</a:t>
            </a: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Контракт записан до запуска таймера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557212" y="1795655"/>
            <a:ext cx="3952875" cy="21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46"/>
              </a:lnSpc>
              <a:spcBef>
                <a:spcPts val="0"/>
              </a:spcBef>
              <a:buNone/>
            </a:pPr>
            <a:r>
              <a:rPr lang="ru-RU" sz="1104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2.</a:t>
            </a: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Все участники проходят проверку корректности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557212" y="2183064"/>
            <a:ext cx="3952875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897" b="0" i="0" cap="all" spc="38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Проверенные код и входы</a:t>
            </a:r>
            <a:endParaRPr lang="ru-RU" sz="897" b="0" i="0" cap="all" spc="38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557212" y="2399004"/>
            <a:ext cx="3952875" cy="21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46"/>
              </a:lnSpc>
              <a:spcBef>
                <a:spcPts val="0"/>
              </a:spcBef>
              <a:buNone/>
            </a:pPr>
            <a:r>
              <a:rPr lang="ru-RU" sz="1104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3.</a:t>
            </a: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Разные входы, а не один повторённый массив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557212" y="2652384"/>
            <a:ext cx="3952875" cy="21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46"/>
              </a:lnSpc>
              <a:spcBef>
                <a:spcPts val="0"/>
              </a:spcBef>
              <a:buNone/>
            </a:pPr>
            <a:r>
              <a:rPr lang="ru-RU" sz="1104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4.</a:t>
            </a: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Свои N и доля уникальных, а не «случайные int»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4672012" y="1326335"/>
            <a:ext cx="3952875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897" b="0" i="0" cap="all" spc="38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Повторения и условия</a:t>
            </a:r>
            <a:endParaRPr lang="ru-RU" sz="897" b="0" i="0" cap="all" spc="38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4672012" y="1542275"/>
            <a:ext cx="3952875" cy="411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46"/>
              </a:lnSpc>
              <a:spcBef>
                <a:spcPts val="0"/>
              </a:spcBef>
              <a:buNone/>
            </a:pPr>
            <a:r>
              <a:rPr lang="ru-RU" sz="1104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5.</a:t>
            </a: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Повторы, чередование, медиана и разброс, две сессии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4672012" y="1991884"/>
            <a:ext cx="3952875" cy="21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46"/>
              </a:lnSpc>
              <a:spcBef>
                <a:spcPts val="0"/>
              </a:spcBef>
              <a:buNone/>
            </a:pPr>
            <a:r>
              <a:rPr lang="ru-RU" sz="1104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6.</a:t>
            </a: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Версия компилятора, библиотеки и ОС в логе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4672012" y="2245264"/>
            <a:ext cx="3952875" cy="411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46"/>
              </a:lnSpc>
              <a:spcBef>
                <a:spcPts val="0"/>
              </a:spcBef>
              <a:buNone/>
            </a:pPr>
            <a:r>
              <a:rPr lang="ru-RU" sz="1104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7.</a:t>
            </a: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Целевое устройство и его состояние: модель, QoS, Low Power Mode, заряд, нагрев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4672012" y="2828903"/>
            <a:ext cx="3952875" cy="178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56"/>
              </a:lnSpc>
              <a:spcBef>
                <a:spcPts val="0"/>
              </a:spcBef>
              <a:buNone/>
            </a:pPr>
            <a:r>
              <a:rPr lang="ru-RU" sz="897" b="0" i="0" cap="all" spc="38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Выводы в пределах данных</a:t>
            </a:r>
            <a:endParaRPr lang="ru-RU" sz="897" b="0" i="0" cap="all" spc="38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4672012" y="3044843"/>
            <a:ext cx="3952875" cy="21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46"/>
              </a:lnSpc>
              <a:spcBef>
                <a:spcPts val="0"/>
              </a:spcBef>
              <a:buNone/>
            </a:pPr>
            <a:r>
              <a:rPr lang="ru-RU" sz="1104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8.</a:t>
            </a: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Факт отдельно от гипотезы о причине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5" name="Picture 11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15" name="Slide Number 115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Kicker 101"/>
          <p:cNvSpPr txBox="1"/>
          <p:nvPr/>
        </p:nvSpPr>
        <p:spPr>
          <a:xfrm>
            <a:off x="557212" y="361950"/>
            <a:ext cx="666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buNone/>
            </a:pPr>
            <a:r>
              <a:rPr lang="ru-RU" sz="1099" b="0" i="0" spc="94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BACKUP · ДЛЯ ВОПРОСОВ</a:t>
            </a:r>
            <a:endParaRPr lang="ru-RU" sz="1099" b="0" i="0" spc="94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2" name="Title 102"/>
          <p:cNvSpPr txBox="1"/>
          <p:nvPr/>
        </p:nvSpPr>
        <p:spPr>
          <a:xfrm>
            <a:off x="557212" y="55511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ШАГОВ У ХЕША МЕНЬШЕ, НО КАЖДЫЙ — АЛЛОКАЦИЯ ИЛИ ПРЫЖОК ПО УЗЛУ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3" name="Line 103"/>
          <p:cNvSpPr/>
          <p:nvPr/>
        </p:nvSpPr>
        <p:spPr>
          <a:xfrm>
            <a:off x="557212" y="1467892"/>
            <a:ext cx="3848100" cy="48"/>
          </a:xfrm>
          <a:custGeom>
            <a:avLst/>
            <a:gdLst/>
            <a:ahLst/>
            <a:cxnLst/>
            <a:rect l="0" t="0" r="r" b="b"/>
            <a:pathLst>
              <a:path w="3848100" h="1" fill="none">
                <a:moveTo>
                  <a:pt x="0" y="0"/>
                </a:moveTo>
                <a:lnTo>
                  <a:pt x="3848100" y="0"/>
                </a:lnTo>
              </a:path>
            </a:pathLst>
          </a:custGeom>
          <a:noFill/>
          <a:ln w="38100">
            <a:solidFill>
              <a:srgbClr val="46CDAE"/>
            </a:solidFill>
          </a:ln>
        </p:spPr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557212" y="1633352"/>
            <a:ext cx="3857625" cy="2293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6"/>
              </a:lnSpc>
              <a:spcBef>
                <a:spcPts val="0"/>
              </a:spcBef>
              <a:buNone/>
            </a:pPr>
            <a:r>
              <a:rPr lang="ru-RU" sz="1380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sort + unique</a:t>
            </a:r>
            <a:endParaRPr lang="ru-RU" sz="1380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592191" y="1920892"/>
            <a:ext cx="3822647" cy="2293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33198" indent="-133198" algn="l">
              <a:lnSpc>
                <a:spcPts val="1656"/>
              </a:lnSpc>
              <a:spcBef>
                <a:spcPts val="0"/>
              </a:spcBef>
              <a:buClr>
                <a:srgbClr val="FFFFFF"/>
              </a:buClr>
              <a:buFont typeface="Arial"/>
              <a:buChar char="•"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~N · log₂N сравнений и перестановок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592191" y="2131186"/>
            <a:ext cx="3822647" cy="2293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33198" indent="-133198" algn="l">
              <a:lnSpc>
                <a:spcPts val="1656"/>
              </a:lnSpc>
              <a:spcBef>
                <a:spcPts val="0"/>
              </a:spcBef>
              <a:buClr>
                <a:srgbClr val="FFFFFF"/>
              </a:buClr>
              <a:buFont typeface="Arial"/>
              <a:buChar char="•"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один плотный буфер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592191" y="2341480"/>
            <a:ext cx="3822647" cy="2293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33198" indent="-133198" algn="l">
              <a:lnSpc>
                <a:spcPts val="1656"/>
              </a:lnSpc>
              <a:spcBef>
                <a:spcPts val="0"/>
              </a:spcBef>
              <a:buClr>
                <a:srgbClr val="FFFFFF"/>
              </a:buClr>
              <a:buFont typeface="Arial"/>
              <a:buChar char="•"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0 аллокаций в этой реализации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8" name="Line 108"/>
          <p:cNvSpPr/>
          <p:nvPr/>
        </p:nvSpPr>
        <p:spPr>
          <a:xfrm>
            <a:off x="4633912" y="1467892"/>
            <a:ext cx="3848100" cy="48"/>
          </a:xfrm>
          <a:custGeom>
            <a:avLst/>
            <a:gdLst/>
            <a:ahLst/>
            <a:cxnLst/>
            <a:rect l="0" t="0" r="r" b="b"/>
            <a:pathLst>
              <a:path w="3848100" h="1" fill="none">
                <a:moveTo>
                  <a:pt x="0" y="0"/>
                </a:moveTo>
                <a:lnTo>
                  <a:pt x="3848100" y="0"/>
                </a:lnTo>
              </a:path>
            </a:pathLst>
          </a:custGeom>
          <a:noFill/>
          <a:ln w="38100">
            <a:solidFill>
              <a:srgbClr val="E2489B"/>
            </a:solidFill>
          </a:ln>
        </p:spPr>
      </p:sp>
      <p:sp xmlns:p14="http://schemas.microsoft.com/office/powerpoint/2010/main">
        <p:nvSpPr>
          <p:cNvPr id="109" name="Text 109"/>
          <p:cNvSpPr txBox="1"/>
          <p:nvPr/>
        </p:nvSpPr>
        <p:spPr>
          <a:xfrm>
            <a:off x="4633912" y="1633352"/>
            <a:ext cx="3857625" cy="2293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656"/>
              </a:lnSpc>
              <a:spcBef>
                <a:spcPts val="0"/>
              </a:spcBef>
              <a:buNone/>
            </a:pPr>
            <a:r>
              <a:rPr lang="ru-RU" sz="1380" b="0" i="0" dirty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unordered_set</a:t>
            </a:r>
            <a:endParaRPr lang="ru-RU" sz="1380" b="0" i="0" dirty="0">
              <a:solidFill>
                <a:srgbClr val="E2489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4668891" y="1920892"/>
            <a:ext cx="3822647" cy="439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33198" indent="-133198" algn="l">
              <a:lnSpc>
                <a:spcPts val="1656"/>
              </a:lnSpc>
              <a:spcBef>
                <a:spcPts val="0"/>
              </a:spcBef>
              <a:buClr>
                <a:srgbClr val="FFFFFF"/>
              </a:buClr>
              <a:buFont typeface="Arial"/>
              <a:buChar char="•"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хеширование, обращения к ячейкам и узлам, проверки равенства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1" name="Text 111"/>
          <p:cNvSpPr txBox="1"/>
          <p:nvPr/>
        </p:nvSpPr>
        <p:spPr>
          <a:xfrm>
            <a:off x="4668891" y="2341480"/>
            <a:ext cx="3822647" cy="2293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33198" indent="-133198" algn="l">
              <a:lnSpc>
                <a:spcPts val="1656"/>
              </a:lnSpc>
              <a:spcBef>
                <a:spcPts val="0"/>
              </a:spcBef>
              <a:buClr>
                <a:srgbClr val="FFFFFF"/>
              </a:buClr>
              <a:buFont typeface="Arial"/>
              <a:buChar char="•"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U аллокаций узлов и U освобождений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4668891" y="2551775"/>
            <a:ext cx="3822647" cy="2293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33198" indent="-133198" algn="l">
              <a:lnSpc>
                <a:spcPts val="1656"/>
              </a:lnSpc>
              <a:spcBef>
                <a:spcPts val="0"/>
              </a:spcBef>
              <a:buClr>
                <a:srgbClr val="FFFFFF"/>
              </a:buClr>
              <a:buFont typeface="Arial"/>
              <a:buChar char="•"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обход таблицы при выгрузке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557212" y="2885627"/>
            <a:ext cx="8191119" cy="411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46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N — сколько элементов на входе, U — сколько среди них уникальных. log₂(1 000 000) ≈ 20: вопрос не в числе шагов, а в том, сколько стоит каждый.</a:t>
            </a:r>
            <a:endParaRPr lang="ru-RU" sz="1104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4" name="Picture 11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14" name="Slide Number 114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Title 101"/>
          <p:cNvSpPr txBox="1"/>
          <p:nvPr/>
        </p:nvSpPr>
        <p:spPr>
          <a:xfrm>
            <a:off x="557212" y="497964"/>
            <a:ext cx="6781800" cy="3415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УДАЛИТЕ ДУБЛИКАТЫ. ДВА СПОСОБА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2" name="Box 102"/>
          <p:cNvSpPr/>
          <p:nvPr/>
        </p:nvSpPr>
        <p:spPr>
          <a:xfrm>
            <a:off x="561975" y="1189434"/>
            <a:ext cx="3838575" cy="1601093"/>
          </a:xfrm>
          <a:prstGeom prst="roundRect">
            <a:avLst>
              <a:gd name="adj" fmla="val 4731"/>
            </a:avLst>
          </a:prstGeom>
          <a:solidFill>
            <a:srgbClr val="000000"/>
          </a:solidFill>
          <a:ln w="9525">
            <a:solidFill>
              <a:srgbClr val="46CDAE"/>
            </a:solidFill>
          </a:ln>
        </p:spPr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795338" y="1419011"/>
            <a:ext cx="3501580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Сортировка · O(n log n)</a:t>
            </a:r>
            <a:endParaRPr lang="ru-RU" sz="1104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795338" y="1676733"/>
            <a:ext cx="3756660" cy="65913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buNone/>
            </a:pPr>
            <a:r>
              <a:rPr lang="ru-RU" sz="105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std::sort(v.begin(), v.end());</a:t>
            </a:r>
            <a:br>
              <a:rPr lang="ru-RU" sz="105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ru-RU" sz="105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v.erase(std::unique(v.begin(), v.end()),</a:t>
            </a:r>
            <a:br>
              <a:rPr lang="ru-RU" sz="105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ru-RU" sz="105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        v.end());</a:t>
            </a:r>
            <a:endParaRPr lang="ru-RU" sz="1050" b="0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5" name="Box 105"/>
          <p:cNvSpPr/>
          <p:nvPr/>
        </p:nvSpPr>
        <p:spPr>
          <a:xfrm>
            <a:off x="4638675" y="1189434"/>
            <a:ext cx="3838575" cy="1601093"/>
          </a:xfrm>
          <a:prstGeom prst="roundRect">
            <a:avLst>
              <a:gd name="adj" fmla="val 4731"/>
            </a:avLst>
          </a:prstGeom>
          <a:solidFill>
            <a:srgbClr val="000000"/>
          </a:solidFill>
          <a:ln w="9525">
            <a:solidFill>
              <a:srgbClr val="E2489B"/>
            </a:solidFill>
          </a:ln>
        </p:spPr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4872038" y="1419011"/>
            <a:ext cx="3501580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Хеш-таблица · ожидаемо O(n)</a:t>
            </a:r>
            <a:endParaRPr lang="ru-RU" sz="1104" b="0" i="0" dirty="0">
              <a:solidFill>
                <a:srgbClr val="E2489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4872038" y="1676733"/>
            <a:ext cx="3756660" cy="8724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buNone/>
            </a:pPr>
            <a:r>
              <a:rPr lang="ru-RU" sz="105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std::unordered_set&lt;uint64_t&gt; s;</a:t>
            </a:r>
            <a:br>
              <a:rPr lang="ru-RU" sz="105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ru-RU" sz="105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s.reserve(v.size());</a:t>
            </a:r>
            <a:br>
              <a:rPr lang="ru-RU" sz="105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ru-RU" sz="105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for (auto x : v) s.insert(x);</a:t>
            </a:r>
            <a:br>
              <a:rPr lang="ru-RU" sz="105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ru-RU" sz="1050" b="0" i="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v.assign(s.begin(), s.end());</a:t>
            </a:r>
            <a:endParaRPr lang="ru-RU" sz="1050" b="0" i="0" dirty="0">
              <a:solidFill>
                <a:srgbClr val="FFFFFF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557212" y="3058204"/>
            <a:ext cx="8191119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Логарифм миллиона — около 20. Кажется, выбор очевиден.</a:t>
            </a:r>
            <a:endParaRPr lang="ru-RU" sz="1104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9" name="Picture 108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09" name="Slide Number 109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Title 101"/>
          <p:cNvSpPr txBox="1"/>
          <p:nvPr/>
        </p:nvSpPr>
        <p:spPr>
          <a:xfrm>
            <a:off x="557212" y="497964"/>
            <a:ext cx="6781800" cy="3415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Big-O СЧИТАЕТ ШАГИ, А НЕ ИХ ЦЕНУ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2" name="Text 102"/>
          <p:cNvSpPr txBox="1"/>
          <p:nvPr/>
        </p:nvSpPr>
        <p:spPr>
          <a:xfrm>
            <a:off x="557212" y="1138741"/>
            <a:ext cx="8191119" cy="2114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15"/>
              </a:lnSpc>
              <a:spcBef>
                <a:spcPts val="0"/>
              </a:spcBef>
              <a:buNone/>
            </a:pPr>
            <a:r>
              <a:rPr lang="ru-RU" sz="1242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Что говорит O</a:t>
            </a:r>
            <a:endParaRPr lang="ru-RU" sz="1242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grpSp xmlns:p14="http://schemas.microsoft.com/office/powerpoint/2010/main">
        <p:nvGrpSpPr>
          <p:cNvPr id="111" name="Chart 111"/>
          <p:cNvGrpSpPr/>
          <p:nvPr/>
        </p:nvGrpSpPr>
        <p:grpSpPr>
          <a:xfrm>
            <a:off x="890588" y="1543050"/>
            <a:ext cx="3381375" cy="1352598"/>
            <a:chOff x="890588" y="1543050"/>
            <a:chExt cx="3381375" cy="1352598"/>
          </a:xfrm>
        </p:grpSpPr>
        <p:sp>
          <p:nvSpPr>
            <p:cNvPr id="103" name="Line 103"/>
            <p:cNvSpPr/>
            <p:nvPr/>
          </p:nvSpPr>
          <p:spPr>
            <a:xfrm>
              <a:off x="890588" y="2895600"/>
              <a:ext cx="3381375" cy="48"/>
            </a:xfrm>
            <a:custGeom>
              <a:avLst/>
              <a:gdLst/>
              <a:ahLst/>
              <a:cxnLst/>
              <a:rect l="0" t="0" r="r" b="b"/>
              <a:pathLst>
                <a:path w="3381375" h="1" fill="none">
                  <a:moveTo>
                    <a:pt x="0" y="0"/>
                  </a:moveTo>
                  <a:lnTo>
                    <a:pt x="3381375" y="0"/>
                  </a:lnTo>
                </a:path>
              </a:pathLst>
            </a:custGeom>
            <a:noFill/>
            <a:ln w="9525">
              <a:solidFill>
                <a:srgbClr val="8F8F8F"/>
              </a:solidFill>
            </a:ln>
          </p:spPr>
        </p:sp>
        <p:sp>
          <p:nvSpPr>
            <p:cNvPr id="104" name="Line 104"/>
            <p:cNvSpPr/>
            <p:nvPr/>
          </p:nvSpPr>
          <p:spPr>
            <a:xfrm>
              <a:off x="890588" y="1543050"/>
              <a:ext cx="48" cy="1352550"/>
            </a:xfrm>
            <a:custGeom>
              <a:avLst/>
              <a:gdLst/>
              <a:ahLst/>
              <a:cxnLst/>
              <a:rect l="0" t="0" r="r" b="b"/>
              <a:pathLst>
                <a:path w="1" h="1352550" fill="none">
                  <a:moveTo>
                    <a:pt x="0" y="1352550"/>
                  </a:moveTo>
                  <a:lnTo>
                    <a:pt x="0" y="0"/>
                  </a:lnTo>
                </a:path>
              </a:pathLst>
            </a:custGeom>
            <a:noFill/>
            <a:ln w="9525">
              <a:solidFill>
                <a:srgbClr val="8F8F8F"/>
              </a:solidFill>
            </a:ln>
          </p:spPr>
        </p:sp>
        <p:sp>
          <p:nvSpPr>
            <p:cNvPr id="105" name="Line 105"/>
            <p:cNvSpPr/>
            <p:nvPr/>
          </p:nvSpPr>
          <p:spPr>
            <a:xfrm>
              <a:off x="890588" y="2443162"/>
              <a:ext cx="3381375" cy="48"/>
            </a:xfrm>
            <a:custGeom>
              <a:avLst/>
              <a:gdLst/>
              <a:ahLst/>
              <a:cxnLst/>
              <a:rect l="0" t="0" r="r" b="b"/>
              <a:pathLst>
                <a:path w="3381375" h="1" fill="none">
                  <a:moveTo>
                    <a:pt x="0" y="0"/>
                  </a:moveTo>
                  <a:lnTo>
                    <a:pt x="3381375" y="0"/>
                  </a:lnTo>
                </a:path>
              </a:pathLst>
            </a:custGeom>
            <a:noFill/>
            <a:ln w="4762">
              <a:solidFill>
                <a:srgbClr val="333333"/>
              </a:solidFill>
            </a:ln>
          </p:spPr>
        </p:sp>
        <p:sp>
          <p:nvSpPr>
            <p:cNvPr id="106" name="Line 106"/>
            <p:cNvSpPr/>
            <p:nvPr/>
          </p:nvSpPr>
          <p:spPr>
            <a:xfrm>
              <a:off x="890588" y="1995488"/>
              <a:ext cx="3381375" cy="48"/>
            </a:xfrm>
            <a:custGeom>
              <a:avLst/>
              <a:gdLst/>
              <a:ahLst/>
              <a:cxnLst/>
              <a:rect l="0" t="0" r="r" b="b"/>
              <a:pathLst>
                <a:path w="3381375" h="1" fill="none">
                  <a:moveTo>
                    <a:pt x="0" y="0"/>
                  </a:moveTo>
                  <a:lnTo>
                    <a:pt x="3381375" y="0"/>
                  </a:lnTo>
                </a:path>
              </a:pathLst>
            </a:custGeom>
            <a:noFill/>
            <a:ln w="4762">
              <a:solidFill>
                <a:srgbClr val="333333"/>
              </a:solidFill>
            </a:ln>
          </p:spPr>
        </p:sp>
        <p:sp>
          <p:nvSpPr>
            <p:cNvPr id="107" name="Line 107"/>
            <p:cNvSpPr/>
            <p:nvPr/>
          </p:nvSpPr>
          <p:spPr>
            <a:xfrm>
              <a:off x="890588" y="1543050"/>
              <a:ext cx="3381375" cy="48"/>
            </a:xfrm>
            <a:custGeom>
              <a:avLst/>
              <a:gdLst/>
              <a:ahLst/>
              <a:cxnLst/>
              <a:rect l="0" t="0" r="r" b="b"/>
              <a:pathLst>
                <a:path w="3381375" h="1" fill="none">
                  <a:moveTo>
                    <a:pt x="0" y="0"/>
                  </a:moveTo>
                  <a:lnTo>
                    <a:pt x="3381375" y="0"/>
                  </a:lnTo>
                </a:path>
              </a:pathLst>
            </a:custGeom>
            <a:noFill/>
            <a:ln w="4762">
              <a:solidFill>
                <a:srgbClr val="333333"/>
              </a:solidFill>
            </a:ln>
          </p:spPr>
        </p:sp>
        <p:sp>
          <p:nvSpPr>
            <p:cNvPr id="108" name="Line 108"/>
            <p:cNvSpPr/>
            <p:nvPr/>
          </p:nvSpPr>
          <p:spPr>
            <a:xfrm>
              <a:off x="895350" y="2786062"/>
              <a:ext cx="3348038" cy="109538"/>
            </a:xfrm>
            <a:custGeom>
              <a:avLst/>
              <a:gdLst/>
              <a:ahLst/>
              <a:cxnLst/>
              <a:rect l="0" t="0" r="r" b="b"/>
              <a:pathLst>
                <a:path w="3348038" h="109538" fill="none">
                  <a:moveTo>
                    <a:pt x="0" y="109538"/>
                  </a:moveTo>
                  <a:lnTo>
                    <a:pt x="33338" y="109538"/>
                  </a:lnTo>
                  <a:lnTo>
                    <a:pt x="66675" y="109538"/>
                  </a:lnTo>
                  <a:lnTo>
                    <a:pt x="100012" y="104775"/>
                  </a:lnTo>
                  <a:lnTo>
                    <a:pt x="133350" y="104775"/>
                  </a:lnTo>
                  <a:lnTo>
                    <a:pt x="166688" y="104775"/>
                  </a:lnTo>
                  <a:lnTo>
                    <a:pt x="200025" y="104775"/>
                  </a:lnTo>
                  <a:lnTo>
                    <a:pt x="233362" y="100012"/>
                  </a:lnTo>
                  <a:lnTo>
                    <a:pt x="271462" y="100012"/>
                  </a:lnTo>
                  <a:lnTo>
                    <a:pt x="304800" y="100012"/>
                  </a:lnTo>
                  <a:lnTo>
                    <a:pt x="338138" y="100012"/>
                  </a:lnTo>
                  <a:lnTo>
                    <a:pt x="371475" y="95250"/>
                  </a:lnTo>
                  <a:lnTo>
                    <a:pt x="404812" y="95250"/>
                  </a:lnTo>
                  <a:lnTo>
                    <a:pt x="438150" y="95250"/>
                  </a:lnTo>
                  <a:lnTo>
                    <a:pt x="471488" y="95250"/>
                  </a:lnTo>
                  <a:lnTo>
                    <a:pt x="504825" y="90488"/>
                  </a:lnTo>
                  <a:lnTo>
                    <a:pt x="538162" y="90488"/>
                  </a:lnTo>
                  <a:lnTo>
                    <a:pt x="571500" y="90488"/>
                  </a:lnTo>
                  <a:lnTo>
                    <a:pt x="609600" y="90488"/>
                  </a:lnTo>
                  <a:lnTo>
                    <a:pt x="642938" y="85725"/>
                  </a:lnTo>
                  <a:lnTo>
                    <a:pt x="676275" y="85725"/>
                  </a:lnTo>
                  <a:lnTo>
                    <a:pt x="709612" y="85725"/>
                  </a:lnTo>
                  <a:lnTo>
                    <a:pt x="742950" y="85725"/>
                  </a:lnTo>
                  <a:lnTo>
                    <a:pt x="776288" y="85725"/>
                  </a:lnTo>
                  <a:lnTo>
                    <a:pt x="809625" y="80962"/>
                  </a:lnTo>
                  <a:lnTo>
                    <a:pt x="842962" y="80962"/>
                  </a:lnTo>
                  <a:lnTo>
                    <a:pt x="876300" y="80962"/>
                  </a:lnTo>
                  <a:lnTo>
                    <a:pt x="909638" y="80962"/>
                  </a:lnTo>
                  <a:lnTo>
                    <a:pt x="947738" y="76200"/>
                  </a:lnTo>
                  <a:lnTo>
                    <a:pt x="981075" y="76200"/>
                  </a:lnTo>
                  <a:lnTo>
                    <a:pt x="1014412" y="76200"/>
                  </a:lnTo>
                  <a:lnTo>
                    <a:pt x="1047750" y="76200"/>
                  </a:lnTo>
                  <a:lnTo>
                    <a:pt x="1081088" y="71438"/>
                  </a:lnTo>
                  <a:lnTo>
                    <a:pt x="1114425" y="71438"/>
                  </a:lnTo>
                  <a:lnTo>
                    <a:pt x="1147762" y="71438"/>
                  </a:lnTo>
                  <a:lnTo>
                    <a:pt x="1181100" y="71438"/>
                  </a:lnTo>
                  <a:lnTo>
                    <a:pt x="1214438" y="66675"/>
                  </a:lnTo>
                  <a:lnTo>
                    <a:pt x="1247775" y="66675"/>
                  </a:lnTo>
                  <a:lnTo>
                    <a:pt x="1285875" y="66675"/>
                  </a:lnTo>
                  <a:lnTo>
                    <a:pt x="1319212" y="66675"/>
                  </a:lnTo>
                  <a:lnTo>
                    <a:pt x="1352550" y="66675"/>
                  </a:lnTo>
                  <a:lnTo>
                    <a:pt x="1385888" y="61912"/>
                  </a:lnTo>
                  <a:lnTo>
                    <a:pt x="1419225" y="61912"/>
                  </a:lnTo>
                  <a:lnTo>
                    <a:pt x="1452562" y="61912"/>
                  </a:lnTo>
                  <a:lnTo>
                    <a:pt x="1485900" y="61912"/>
                  </a:lnTo>
                  <a:lnTo>
                    <a:pt x="1519238" y="57150"/>
                  </a:lnTo>
                  <a:lnTo>
                    <a:pt x="1552575" y="57150"/>
                  </a:lnTo>
                  <a:lnTo>
                    <a:pt x="1585912" y="57150"/>
                  </a:lnTo>
                  <a:lnTo>
                    <a:pt x="1624012" y="57150"/>
                  </a:lnTo>
                  <a:lnTo>
                    <a:pt x="1657350" y="52388"/>
                  </a:lnTo>
                  <a:lnTo>
                    <a:pt x="1690688" y="52388"/>
                  </a:lnTo>
                  <a:lnTo>
                    <a:pt x="1724025" y="52388"/>
                  </a:lnTo>
                  <a:lnTo>
                    <a:pt x="1757362" y="52388"/>
                  </a:lnTo>
                  <a:lnTo>
                    <a:pt x="1790700" y="47625"/>
                  </a:lnTo>
                  <a:lnTo>
                    <a:pt x="1824038" y="47625"/>
                  </a:lnTo>
                  <a:lnTo>
                    <a:pt x="1857375" y="47625"/>
                  </a:lnTo>
                  <a:lnTo>
                    <a:pt x="1890712" y="47625"/>
                  </a:lnTo>
                  <a:lnTo>
                    <a:pt x="1924050" y="42862"/>
                  </a:lnTo>
                  <a:lnTo>
                    <a:pt x="1962150" y="42862"/>
                  </a:lnTo>
                  <a:lnTo>
                    <a:pt x="1995488" y="42862"/>
                  </a:lnTo>
                  <a:lnTo>
                    <a:pt x="2028825" y="42862"/>
                  </a:lnTo>
                  <a:lnTo>
                    <a:pt x="2062162" y="42862"/>
                  </a:lnTo>
                  <a:lnTo>
                    <a:pt x="2095500" y="38100"/>
                  </a:lnTo>
                  <a:lnTo>
                    <a:pt x="2128838" y="38100"/>
                  </a:lnTo>
                  <a:lnTo>
                    <a:pt x="2162175" y="38100"/>
                  </a:lnTo>
                  <a:lnTo>
                    <a:pt x="2195512" y="38100"/>
                  </a:lnTo>
                  <a:lnTo>
                    <a:pt x="2228850" y="33338"/>
                  </a:lnTo>
                  <a:lnTo>
                    <a:pt x="2262188" y="33338"/>
                  </a:lnTo>
                  <a:lnTo>
                    <a:pt x="2300288" y="33338"/>
                  </a:lnTo>
                  <a:lnTo>
                    <a:pt x="2333625" y="33338"/>
                  </a:lnTo>
                  <a:lnTo>
                    <a:pt x="2366962" y="28575"/>
                  </a:lnTo>
                  <a:lnTo>
                    <a:pt x="2400300" y="28575"/>
                  </a:lnTo>
                  <a:lnTo>
                    <a:pt x="2433638" y="28575"/>
                  </a:lnTo>
                  <a:lnTo>
                    <a:pt x="2466975" y="28575"/>
                  </a:lnTo>
                  <a:lnTo>
                    <a:pt x="2500312" y="23812"/>
                  </a:lnTo>
                  <a:lnTo>
                    <a:pt x="2533650" y="23812"/>
                  </a:lnTo>
                  <a:lnTo>
                    <a:pt x="2566988" y="23812"/>
                  </a:lnTo>
                  <a:lnTo>
                    <a:pt x="2600325" y="23812"/>
                  </a:lnTo>
                  <a:lnTo>
                    <a:pt x="2638425" y="23812"/>
                  </a:lnTo>
                  <a:lnTo>
                    <a:pt x="2671762" y="19050"/>
                  </a:lnTo>
                  <a:lnTo>
                    <a:pt x="2705100" y="19050"/>
                  </a:lnTo>
                  <a:lnTo>
                    <a:pt x="2738438" y="19050"/>
                  </a:lnTo>
                  <a:lnTo>
                    <a:pt x="2771775" y="19050"/>
                  </a:lnTo>
                  <a:lnTo>
                    <a:pt x="2805112" y="14288"/>
                  </a:lnTo>
                  <a:lnTo>
                    <a:pt x="2838450" y="14288"/>
                  </a:lnTo>
                  <a:lnTo>
                    <a:pt x="2871788" y="14288"/>
                  </a:lnTo>
                  <a:lnTo>
                    <a:pt x="2905125" y="14288"/>
                  </a:lnTo>
                  <a:lnTo>
                    <a:pt x="2938462" y="9525"/>
                  </a:lnTo>
                  <a:lnTo>
                    <a:pt x="2976562" y="9525"/>
                  </a:lnTo>
                  <a:lnTo>
                    <a:pt x="3009900" y="9525"/>
                  </a:lnTo>
                  <a:lnTo>
                    <a:pt x="3043238" y="9525"/>
                  </a:lnTo>
                  <a:lnTo>
                    <a:pt x="3076575" y="4762"/>
                  </a:lnTo>
                  <a:lnTo>
                    <a:pt x="3109912" y="4762"/>
                  </a:lnTo>
                  <a:lnTo>
                    <a:pt x="3143250" y="4762"/>
                  </a:lnTo>
                  <a:lnTo>
                    <a:pt x="3176588" y="4762"/>
                  </a:lnTo>
                  <a:lnTo>
                    <a:pt x="3209925" y="0"/>
                  </a:lnTo>
                  <a:lnTo>
                    <a:pt x="3243262" y="0"/>
                  </a:lnTo>
                  <a:lnTo>
                    <a:pt x="3276600" y="0"/>
                  </a:lnTo>
                  <a:lnTo>
                    <a:pt x="3314700" y="0"/>
                  </a:lnTo>
                  <a:lnTo>
                    <a:pt x="3348038" y="0"/>
                  </a:lnTo>
                </a:path>
              </a:pathLst>
            </a:custGeom>
            <a:noFill/>
            <a:ln w="28575">
              <a:solidFill>
                <a:srgbClr val="46CDAE"/>
              </a:solidFill>
              <a:round/>
            </a:ln>
          </p:spPr>
        </p:sp>
        <p:sp>
          <p:nvSpPr>
            <p:cNvPr id="109" name="Line 109"/>
            <p:cNvSpPr/>
            <p:nvPr/>
          </p:nvSpPr>
          <p:spPr>
            <a:xfrm>
              <a:off x="895350" y="1785938"/>
              <a:ext cx="3348038" cy="1109662"/>
            </a:xfrm>
            <a:custGeom>
              <a:avLst/>
              <a:gdLst/>
              <a:ahLst/>
              <a:cxnLst/>
              <a:rect l="0" t="0" r="r" b="b"/>
              <a:pathLst>
                <a:path w="3348038" h="1109662" fill="none">
                  <a:moveTo>
                    <a:pt x="0" y="1109662"/>
                  </a:moveTo>
                  <a:lnTo>
                    <a:pt x="33338" y="1104900"/>
                  </a:lnTo>
                  <a:lnTo>
                    <a:pt x="66675" y="1100138"/>
                  </a:lnTo>
                  <a:lnTo>
                    <a:pt x="100012" y="1090612"/>
                  </a:lnTo>
                  <a:lnTo>
                    <a:pt x="133350" y="1085850"/>
                  </a:lnTo>
                  <a:lnTo>
                    <a:pt x="166688" y="1076325"/>
                  </a:lnTo>
                  <a:lnTo>
                    <a:pt x="200025" y="1066800"/>
                  </a:lnTo>
                  <a:lnTo>
                    <a:pt x="233362" y="1062038"/>
                  </a:lnTo>
                  <a:lnTo>
                    <a:pt x="271462" y="1052512"/>
                  </a:lnTo>
                  <a:lnTo>
                    <a:pt x="304800" y="1042988"/>
                  </a:lnTo>
                  <a:lnTo>
                    <a:pt x="338138" y="1033462"/>
                  </a:lnTo>
                  <a:lnTo>
                    <a:pt x="371475" y="1023938"/>
                  </a:lnTo>
                  <a:lnTo>
                    <a:pt x="404812" y="1014412"/>
                  </a:lnTo>
                  <a:lnTo>
                    <a:pt x="438150" y="1004888"/>
                  </a:lnTo>
                  <a:lnTo>
                    <a:pt x="471488" y="995362"/>
                  </a:lnTo>
                  <a:lnTo>
                    <a:pt x="504825" y="985838"/>
                  </a:lnTo>
                  <a:lnTo>
                    <a:pt x="538162" y="976312"/>
                  </a:lnTo>
                  <a:lnTo>
                    <a:pt x="571500" y="966788"/>
                  </a:lnTo>
                  <a:lnTo>
                    <a:pt x="609600" y="957262"/>
                  </a:lnTo>
                  <a:lnTo>
                    <a:pt x="642938" y="947738"/>
                  </a:lnTo>
                  <a:lnTo>
                    <a:pt x="676275" y="938212"/>
                  </a:lnTo>
                  <a:lnTo>
                    <a:pt x="709612" y="923925"/>
                  </a:lnTo>
                  <a:lnTo>
                    <a:pt x="742950" y="914400"/>
                  </a:lnTo>
                  <a:lnTo>
                    <a:pt x="776288" y="904875"/>
                  </a:lnTo>
                  <a:lnTo>
                    <a:pt x="809625" y="895350"/>
                  </a:lnTo>
                  <a:lnTo>
                    <a:pt x="842962" y="885825"/>
                  </a:lnTo>
                  <a:lnTo>
                    <a:pt x="876300" y="871538"/>
                  </a:lnTo>
                  <a:lnTo>
                    <a:pt x="909638" y="862012"/>
                  </a:lnTo>
                  <a:lnTo>
                    <a:pt x="947738" y="852488"/>
                  </a:lnTo>
                  <a:lnTo>
                    <a:pt x="981075" y="842962"/>
                  </a:lnTo>
                  <a:lnTo>
                    <a:pt x="1014412" y="828675"/>
                  </a:lnTo>
                  <a:lnTo>
                    <a:pt x="1047750" y="819150"/>
                  </a:lnTo>
                  <a:lnTo>
                    <a:pt x="1081088" y="809625"/>
                  </a:lnTo>
                  <a:lnTo>
                    <a:pt x="1114425" y="795338"/>
                  </a:lnTo>
                  <a:lnTo>
                    <a:pt x="1147762" y="785812"/>
                  </a:lnTo>
                  <a:lnTo>
                    <a:pt x="1181100" y="776288"/>
                  </a:lnTo>
                  <a:lnTo>
                    <a:pt x="1214438" y="762000"/>
                  </a:lnTo>
                  <a:lnTo>
                    <a:pt x="1247775" y="752475"/>
                  </a:lnTo>
                  <a:lnTo>
                    <a:pt x="1285875" y="742950"/>
                  </a:lnTo>
                  <a:lnTo>
                    <a:pt x="1319212" y="728662"/>
                  </a:lnTo>
                  <a:lnTo>
                    <a:pt x="1352550" y="719138"/>
                  </a:lnTo>
                  <a:lnTo>
                    <a:pt x="1385888" y="709612"/>
                  </a:lnTo>
                  <a:lnTo>
                    <a:pt x="1419225" y="695325"/>
                  </a:lnTo>
                  <a:lnTo>
                    <a:pt x="1452562" y="685800"/>
                  </a:lnTo>
                  <a:lnTo>
                    <a:pt x="1485900" y="671512"/>
                  </a:lnTo>
                  <a:lnTo>
                    <a:pt x="1519238" y="661988"/>
                  </a:lnTo>
                  <a:lnTo>
                    <a:pt x="1552575" y="647700"/>
                  </a:lnTo>
                  <a:lnTo>
                    <a:pt x="1585912" y="638175"/>
                  </a:lnTo>
                  <a:lnTo>
                    <a:pt x="1624012" y="628650"/>
                  </a:lnTo>
                  <a:lnTo>
                    <a:pt x="1657350" y="614362"/>
                  </a:lnTo>
                  <a:lnTo>
                    <a:pt x="1690688" y="604838"/>
                  </a:lnTo>
                  <a:lnTo>
                    <a:pt x="1724025" y="590550"/>
                  </a:lnTo>
                  <a:lnTo>
                    <a:pt x="1757362" y="581025"/>
                  </a:lnTo>
                  <a:lnTo>
                    <a:pt x="1790700" y="566738"/>
                  </a:lnTo>
                  <a:lnTo>
                    <a:pt x="1824038" y="557212"/>
                  </a:lnTo>
                  <a:lnTo>
                    <a:pt x="1857375" y="542925"/>
                  </a:lnTo>
                  <a:lnTo>
                    <a:pt x="1890712" y="533400"/>
                  </a:lnTo>
                  <a:lnTo>
                    <a:pt x="1924050" y="519112"/>
                  </a:lnTo>
                  <a:lnTo>
                    <a:pt x="1962150" y="509588"/>
                  </a:lnTo>
                  <a:lnTo>
                    <a:pt x="1995488" y="495300"/>
                  </a:lnTo>
                  <a:lnTo>
                    <a:pt x="2028825" y="485775"/>
                  </a:lnTo>
                  <a:lnTo>
                    <a:pt x="2062162" y="471488"/>
                  </a:lnTo>
                  <a:lnTo>
                    <a:pt x="2095500" y="461962"/>
                  </a:lnTo>
                  <a:lnTo>
                    <a:pt x="2128838" y="447675"/>
                  </a:lnTo>
                  <a:lnTo>
                    <a:pt x="2162175" y="438150"/>
                  </a:lnTo>
                  <a:lnTo>
                    <a:pt x="2195512" y="423862"/>
                  </a:lnTo>
                  <a:lnTo>
                    <a:pt x="2228850" y="409575"/>
                  </a:lnTo>
                  <a:lnTo>
                    <a:pt x="2262188" y="400050"/>
                  </a:lnTo>
                  <a:lnTo>
                    <a:pt x="2300288" y="385762"/>
                  </a:lnTo>
                  <a:lnTo>
                    <a:pt x="2333625" y="376238"/>
                  </a:lnTo>
                  <a:lnTo>
                    <a:pt x="2366962" y="361950"/>
                  </a:lnTo>
                  <a:lnTo>
                    <a:pt x="2400300" y="352425"/>
                  </a:lnTo>
                  <a:lnTo>
                    <a:pt x="2433638" y="338138"/>
                  </a:lnTo>
                  <a:lnTo>
                    <a:pt x="2466975" y="323850"/>
                  </a:lnTo>
                  <a:lnTo>
                    <a:pt x="2500312" y="314325"/>
                  </a:lnTo>
                  <a:lnTo>
                    <a:pt x="2533650" y="300038"/>
                  </a:lnTo>
                  <a:lnTo>
                    <a:pt x="2566988" y="290512"/>
                  </a:lnTo>
                  <a:lnTo>
                    <a:pt x="2600325" y="276225"/>
                  </a:lnTo>
                  <a:lnTo>
                    <a:pt x="2638425" y="261938"/>
                  </a:lnTo>
                  <a:lnTo>
                    <a:pt x="2671762" y="252412"/>
                  </a:lnTo>
                  <a:lnTo>
                    <a:pt x="2705100" y="238125"/>
                  </a:lnTo>
                  <a:lnTo>
                    <a:pt x="2738438" y="228600"/>
                  </a:lnTo>
                  <a:lnTo>
                    <a:pt x="2771775" y="214312"/>
                  </a:lnTo>
                  <a:lnTo>
                    <a:pt x="2805112" y="200025"/>
                  </a:lnTo>
                  <a:lnTo>
                    <a:pt x="2838450" y="190500"/>
                  </a:lnTo>
                  <a:lnTo>
                    <a:pt x="2871788" y="176212"/>
                  </a:lnTo>
                  <a:lnTo>
                    <a:pt x="2905125" y="161925"/>
                  </a:lnTo>
                  <a:lnTo>
                    <a:pt x="2938462" y="152400"/>
                  </a:lnTo>
                  <a:lnTo>
                    <a:pt x="2976562" y="138112"/>
                  </a:lnTo>
                  <a:lnTo>
                    <a:pt x="3009900" y="123825"/>
                  </a:lnTo>
                  <a:lnTo>
                    <a:pt x="3043238" y="114300"/>
                  </a:lnTo>
                  <a:lnTo>
                    <a:pt x="3076575" y="100012"/>
                  </a:lnTo>
                  <a:lnTo>
                    <a:pt x="3109912" y="85725"/>
                  </a:lnTo>
                  <a:lnTo>
                    <a:pt x="3143250" y="76200"/>
                  </a:lnTo>
                  <a:lnTo>
                    <a:pt x="3176588" y="61912"/>
                  </a:lnTo>
                  <a:lnTo>
                    <a:pt x="3209925" y="47625"/>
                  </a:lnTo>
                  <a:lnTo>
                    <a:pt x="3243262" y="38100"/>
                  </a:lnTo>
                  <a:lnTo>
                    <a:pt x="3276600" y="23812"/>
                  </a:lnTo>
                  <a:lnTo>
                    <a:pt x="3314700" y="9525"/>
                  </a:lnTo>
                  <a:lnTo>
                    <a:pt x="3348038" y="0"/>
                  </a:lnTo>
                </a:path>
              </a:pathLst>
            </a:custGeom>
            <a:noFill/>
            <a:ln w="28575">
              <a:solidFill>
                <a:srgbClr val="E2489B"/>
              </a:solidFill>
              <a:round/>
            </a:ln>
          </p:spPr>
        </p:sp>
        <p:sp>
          <p:nvSpPr>
            <p:cNvPr id="110" name="Line 110"/>
            <p:cNvSpPr/>
            <p:nvPr/>
          </p:nvSpPr>
          <p:spPr>
            <a:xfrm>
              <a:off x="895350" y="1547812"/>
              <a:ext cx="2333625" cy="1347788"/>
            </a:xfrm>
            <a:custGeom>
              <a:avLst/>
              <a:gdLst/>
              <a:ahLst/>
              <a:cxnLst/>
              <a:rect l="0" t="0" r="r" b="b"/>
              <a:pathLst>
                <a:path w="2333625" h="1347788" fill="none">
                  <a:moveTo>
                    <a:pt x="0" y="1347788"/>
                  </a:moveTo>
                  <a:lnTo>
                    <a:pt x="33338" y="1347788"/>
                  </a:lnTo>
                  <a:lnTo>
                    <a:pt x="66675" y="1347788"/>
                  </a:lnTo>
                  <a:lnTo>
                    <a:pt x="100012" y="1343025"/>
                  </a:lnTo>
                  <a:lnTo>
                    <a:pt x="133350" y="1343025"/>
                  </a:lnTo>
                  <a:lnTo>
                    <a:pt x="166688" y="1338262"/>
                  </a:lnTo>
                  <a:lnTo>
                    <a:pt x="200025" y="1338262"/>
                  </a:lnTo>
                  <a:lnTo>
                    <a:pt x="233362" y="1333500"/>
                  </a:lnTo>
                  <a:lnTo>
                    <a:pt x="271462" y="1328738"/>
                  </a:lnTo>
                  <a:lnTo>
                    <a:pt x="304800" y="1323975"/>
                  </a:lnTo>
                  <a:lnTo>
                    <a:pt x="338138" y="1319212"/>
                  </a:lnTo>
                  <a:lnTo>
                    <a:pt x="371475" y="1314450"/>
                  </a:lnTo>
                  <a:lnTo>
                    <a:pt x="404812" y="1304925"/>
                  </a:lnTo>
                  <a:lnTo>
                    <a:pt x="438150" y="1300162"/>
                  </a:lnTo>
                  <a:lnTo>
                    <a:pt x="471488" y="1290638"/>
                  </a:lnTo>
                  <a:lnTo>
                    <a:pt x="504825" y="1285875"/>
                  </a:lnTo>
                  <a:lnTo>
                    <a:pt x="538162" y="1276350"/>
                  </a:lnTo>
                  <a:lnTo>
                    <a:pt x="571500" y="1266825"/>
                  </a:lnTo>
                  <a:lnTo>
                    <a:pt x="609600" y="1257300"/>
                  </a:lnTo>
                  <a:lnTo>
                    <a:pt x="642938" y="1243012"/>
                  </a:lnTo>
                  <a:lnTo>
                    <a:pt x="676275" y="1233488"/>
                  </a:lnTo>
                  <a:lnTo>
                    <a:pt x="709612" y="1223962"/>
                  </a:lnTo>
                  <a:lnTo>
                    <a:pt x="742950" y="1209675"/>
                  </a:lnTo>
                  <a:lnTo>
                    <a:pt x="776288" y="1195388"/>
                  </a:lnTo>
                  <a:lnTo>
                    <a:pt x="809625" y="1185862"/>
                  </a:lnTo>
                  <a:lnTo>
                    <a:pt x="842962" y="1171575"/>
                  </a:lnTo>
                  <a:lnTo>
                    <a:pt x="876300" y="1157288"/>
                  </a:lnTo>
                  <a:lnTo>
                    <a:pt x="909638" y="1143000"/>
                  </a:lnTo>
                  <a:lnTo>
                    <a:pt x="947738" y="1123950"/>
                  </a:lnTo>
                  <a:lnTo>
                    <a:pt x="981075" y="1109662"/>
                  </a:lnTo>
                  <a:lnTo>
                    <a:pt x="1014412" y="1090612"/>
                  </a:lnTo>
                  <a:lnTo>
                    <a:pt x="1047750" y="1076325"/>
                  </a:lnTo>
                  <a:lnTo>
                    <a:pt x="1081088" y="1057275"/>
                  </a:lnTo>
                  <a:lnTo>
                    <a:pt x="1114425" y="1038225"/>
                  </a:lnTo>
                  <a:lnTo>
                    <a:pt x="1147762" y="1019175"/>
                  </a:lnTo>
                  <a:lnTo>
                    <a:pt x="1181100" y="1000125"/>
                  </a:lnTo>
                  <a:lnTo>
                    <a:pt x="1214438" y="981075"/>
                  </a:lnTo>
                  <a:lnTo>
                    <a:pt x="1247775" y="962025"/>
                  </a:lnTo>
                  <a:lnTo>
                    <a:pt x="1285875" y="938212"/>
                  </a:lnTo>
                  <a:lnTo>
                    <a:pt x="1319212" y="919162"/>
                  </a:lnTo>
                  <a:lnTo>
                    <a:pt x="1352550" y="895350"/>
                  </a:lnTo>
                  <a:lnTo>
                    <a:pt x="1385888" y="871538"/>
                  </a:lnTo>
                  <a:lnTo>
                    <a:pt x="1419225" y="847725"/>
                  </a:lnTo>
                  <a:lnTo>
                    <a:pt x="1452562" y="823912"/>
                  </a:lnTo>
                  <a:lnTo>
                    <a:pt x="1485900" y="800100"/>
                  </a:lnTo>
                  <a:lnTo>
                    <a:pt x="1519238" y="776288"/>
                  </a:lnTo>
                  <a:lnTo>
                    <a:pt x="1552575" y="747712"/>
                  </a:lnTo>
                  <a:lnTo>
                    <a:pt x="1585912" y="723900"/>
                  </a:lnTo>
                  <a:lnTo>
                    <a:pt x="1624012" y="695325"/>
                  </a:lnTo>
                  <a:lnTo>
                    <a:pt x="1657350" y="666750"/>
                  </a:lnTo>
                  <a:lnTo>
                    <a:pt x="1690688" y="638175"/>
                  </a:lnTo>
                  <a:lnTo>
                    <a:pt x="1724025" y="614362"/>
                  </a:lnTo>
                  <a:lnTo>
                    <a:pt x="1757362" y="581025"/>
                  </a:lnTo>
                  <a:lnTo>
                    <a:pt x="1790700" y="552450"/>
                  </a:lnTo>
                  <a:lnTo>
                    <a:pt x="1824038" y="523875"/>
                  </a:lnTo>
                  <a:lnTo>
                    <a:pt x="1857375" y="490538"/>
                  </a:lnTo>
                  <a:lnTo>
                    <a:pt x="1890712" y="461962"/>
                  </a:lnTo>
                  <a:lnTo>
                    <a:pt x="1924050" y="428625"/>
                  </a:lnTo>
                  <a:lnTo>
                    <a:pt x="1962150" y="395288"/>
                  </a:lnTo>
                  <a:lnTo>
                    <a:pt x="1995488" y="361950"/>
                  </a:lnTo>
                  <a:lnTo>
                    <a:pt x="2028825" y="328612"/>
                  </a:lnTo>
                  <a:lnTo>
                    <a:pt x="2062162" y="295275"/>
                  </a:lnTo>
                  <a:lnTo>
                    <a:pt x="2095500" y="261938"/>
                  </a:lnTo>
                  <a:lnTo>
                    <a:pt x="2128838" y="223838"/>
                  </a:lnTo>
                  <a:lnTo>
                    <a:pt x="2162175" y="190500"/>
                  </a:lnTo>
                  <a:lnTo>
                    <a:pt x="2195512" y="152400"/>
                  </a:lnTo>
                  <a:lnTo>
                    <a:pt x="2228850" y="114300"/>
                  </a:lnTo>
                  <a:lnTo>
                    <a:pt x="2262188" y="80962"/>
                  </a:lnTo>
                  <a:lnTo>
                    <a:pt x="2300288" y="42862"/>
                  </a:lnTo>
                  <a:lnTo>
                    <a:pt x="2333625" y="0"/>
                  </a:lnTo>
                </a:path>
              </a:pathLst>
            </a:custGeom>
            <a:noFill/>
            <a:ln w="28575">
              <a:solidFill>
                <a:srgbClr val="8F8F8F"/>
              </a:solidFill>
              <a:custDash>
                <a:ds d="233333" sp="166666"/>
              </a:custDash>
              <a:round/>
            </a:ln>
          </p:spPr>
        </p:sp>
      </p:grpSp>
      <p:sp xmlns:p14="http://schemas.microsoft.com/office/powerpoint/2010/main">
        <p:nvSpPr>
          <p:cNvPr id="112" name="Text 112"/>
          <p:cNvSpPr txBox="1"/>
          <p:nvPr/>
        </p:nvSpPr>
        <p:spPr>
          <a:xfrm>
            <a:off x="520351" y="1470876"/>
            <a:ext cx="313087" cy="1452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994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12K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3" name="Text 113"/>
          <p:cNvSpPr txBox="1"/>
          <p:nvPr/>
        </p:nvSpPr>
        <p:spPr>
          <a:xfrm>
            <a:off x="520351" y="1921677"/>
            <a:ext cx="313087" cy="1452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994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8K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4" name="Text 114"/>
          <p:cNvSpPr txBox="1"/>
          <p:nvPr/>
        </p:nvSpPr>
        <p:spPr>
          <a:xfrm>
            <a:off x="520351" y="2372552"/>
            <a:ext cx="313087" cy="1452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994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4K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5" name="Text 115"/>
          <p:cNvSpPr txBox="1"/>
          <p:nvPr/>
        </p:nvSpPr>
        <p:spPr>
          <a:xfrm>
            <a:off x="547688" y="2823426"/>
            <a:ext cx="285750" cy="1452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994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0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6" name="Text 116"/>
          <p:cNvSpPr txBox="1"/>
          <p:nvPr/>
        </p:nvSpPr>
        <p:spPr>
          <a:xfrm>
            <a:off x="842962" y="2928201"/>
            <a:ext cx="715328" cy="1452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994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0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7" name="Text 117"/>
          <p:cNvSpPr txBox="1"/>
          <p:nvPr/>
        </p:nvSpPr>
        <p:spPr>
          <a:xfrm>
            <a:off x="2419826" y="2928201"/>
            <a:ext cx="322898" cy="1452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994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500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8" name="Text 118"/>
          <p:cNvSpPr txBox="1"/>
          <p:nvPr/>
        </p:nvSpPr>
        <p:spPr>
          <a:xfrm>
            <a:off x="3703796" y="2928201"/>
            <a:ext cx="568166" cy="1452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994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N = 1000</a:t>
            </a:r>
            <a:endParaRPr lang="ru-RU" sz="828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19" name="Text 119"/>
          <p:cNvSpPr txBox="1"/>
          <p:nvPr/>
        </p:nvSpPr>
        <p:spPr>
          <a:xfrm>
            <a:off x="3656171" y="2605853"/>
            <a:ext cx="568166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46CDA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O(N)</a:t>
            </a:r>
            <a:endParaRPr lang="ru-RU" sz="897" b="0" i="0" dirty="0">
              <a:solidFill>
                <a:srgbClr val="46CDA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0" name="Text 120"/>
          <p:cNvSpPr txBox="1"/>
          <p:nvPr/>
        </p:nvSpPr>
        <p:spPr>
          <a:xfrm>
            <a:off x="2646045" y="1734315"/>
            <a:ext cx="911542" cy="1557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076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E2489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O(N log N)</a:t>
            </a:r>
            <a:endParaRPr lang="ru-RU" sz="897" b="0" i="0" dirty="0">
              <a:solidFill>
                <a:srgbClr val="E2489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1" name="Text 121"/>
          <p:cNvSpPr txBox="1"/>
          <p:nvPr/>
        </p:nvSpPr>
        <p:spPr>
          <a:xfrm>
            <a:off x="3149918" y="1528026"/>
            <a:ext cx="1107758" cy="1452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994"/>
              </a:lnSpc>
              <a:spcBef>
                <a:spcPts val="0"/>
              </a:spcBef>
              <a:buNone/>
            </a:pPr>
            <a:r>
              <a:rPr lang="ru-RU" sz="828" b="0" i="0" dirty="0">
                <a:solidFill>
                  <a:srgbClr val="8F8F8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O(N²) — за край</a:t>
            </a:r>
            <a:endParaRPr lang="ru-RU" sz="828" b="0" i="0" dirty="0">
              <a:solidFill>
                <a:srgbClr val="8F8F8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22" name="Text 122"/>
          <p:cNvSpPr txBox="1"/>
          <p:nvPr/>
        </p:nvSpPr>
        <p:spPr>
          <a:xfrm>
            <a:off x="4672012" y="1501164"/>
            <a:ext cx="1362837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Вход N</a:t>
            </a:r>
            <a:endParaRPr lang="ru-RU" sz="1104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3" name="Text 123"/>
          <p:cNvSpPr txBox="1"/>
          <p:nvPr/>
        </p:nvSpPr>
        <p:spPr>
          <a:xfrm>
            <a:off x="5901118" y="1501164"/>
            <a:ext cx="1323594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O(N) шагов</a:t>
            </a:r>
            <a:endParaRPr lang="ru-RU" sz="1104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4" name="Text 124"/>
          <p:cNvSpPr txBox="1"/>
          <p:nvPr/>
        </p:nvSpPr>
        <p:spPr>
          <a:xfrm>
            <a:off x="7158418" y="1501164"/>
            <a:ext cx="1323594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1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O(N log N)</a:t>
            </a:r>
            <a:endParaRPr lang="ru-RU" sz="1104" b="1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5" name="Text 125"/>
          <p:cNvSpPr txBox="1"/>
          <p:nvPr/>
        </p:nvSpPr>
        <p:spPr>
          <a:xfrm>
            <a:off x="4672012" y="1667852"/>
            <a:ext cx="1362837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1 000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6" name="Text 126"/>
          <p:cNvSpPr txBox="1"/>
          <p:nvPr/>
        </p:nvSpPr>
        <p:spPr>
          <a:xfrm>
            <a:off x="5901118" y="1667852"/>
            <a:ext cx="1323594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1 000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7" name="Text 127"/>
          <p:cNvSpPr txBox="1"/>
          <p:nvPr/>
        </p:nvSpPr>
        <p:spPr>
          <a:xfrm>
            <a:off x="7158418" y="1667852"/>
            <a:ext cx="1323594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10 000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8" name="Text 128"/>
          <p:cNvSpPr txBox="1"/>
          <p:nvPr/>
        </p:nvSpPr>
        <p:spPr>
          <a:xfrm>
            <a:off x="4672012" y="1834539"/>
            <a:ext cx="1362837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1 000 000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29" name="Text 129"/>
          <p:cNvSpPr txBox="1"/>
          <p:nvPr/>
        </p:nvSpPr>
        <p:spPr>
          <a:xfrm>
            <a:off x="5901118" y="1834539"/>
            <a:ext cx="1323594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1 000 000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0" name="Text 130"/>
          <p:cNvSpPr txBox="1"/>
          <p:nvPr/>
        </p:nvSpPr>
        <p:spPr>
          <a:xfrm>
            <a:off x="7158418" y="1834539"/>
            <a:ext cx="1323594" cy="190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ts val="1347"/>
              </a:lnSpc>
              <a:spcBef>
                <a:spcPts val="0"/>
              </a:spcBef>
              <a:buNone/>
            </a:pPr>
            <a:r>
              <a:rPr lang="ru-RU" sz="1104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20 000 000</a:t>
            </a:r>
            <a:endParaRPr lang="ru-RU" sz="1104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1" name="Text 131"/>
          <p:cNvSpPr txBox="1"/>
          <p:nvPr/>
        </p:nvSpPr>
        <p:spPr>
          <a:xfrm>
            <a:off x="4672012" y="2084392"/>
            <a:ext cx="3952875" cy="5343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352"/>
              </a:lnSpc>
              <a:spcBef>
                <a:spcPts val="0"/>
              </a:spcBef>
              <a:buNone/>
            </a:pPr>
            <a:r>
              <a:rPr lang="ru-RU" sz="966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Верхняя оценка роста работы: N log N растёт чуть быстрее линии, N² — за край задолго до конца. Между O(N) и O(N log N) на миллионе — множитель около 20.</a:t>
            </a:r>
            <a:endParaRPr lang="ru-RU" sz="966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32" name="Fill 132"/>
          <p:cNvSpPr/>
          <p:nvPr/>
        </p:nvSpPr>
        <p:spPr>
          <a:xfrm>
            <a:off x="557212" y="3409950"/>
            <a:ext cx="7924800" cy="670768"/>
          </a:xfrm>
          <a:prstGeom prst="roundRect">
            <a:avLst>
              <a:gd name="adj" fmla="val 11360"/>
            </a:avLst>
          </a:prstGeom>
          <a:solidFill>
            <a:srgbClr val="141414"/>
          </a:solidFill>
          <a:ln>
            <a:noFill/>
          </a:ln>
        </p:spPr>
      </p:sp>
      <p:sp xmlns:p14="http://schemas.microsoft.com/office/powerpoint/2010/main">
        <p:nvSpPr>
          <p:cNvPr id="133" name="Text 133"/>
          <p:cNvSpPr txBox="1"/>
          <p:nvPr/>
        </p:nvSpPr>
        <p:spPr>
          <a:xfrm>
            <a:off x="728662" y="3638445"/>
            <a:ext cx="2870397" cy="2221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599"/>
              </a:lnSpc>
              <a:spcBef>
                <a:spcPts val="0"/>
              </a:spcBef>
              <a:buNone/>
            </a:pPr>
            <a:r>
              <a:rPr lang="ru-RU" sz="1311" b="0" i="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Время ≈ N × шагов × цена шага</a:t>
            </a:r>
            <a:endParaRPr lang="ru-RU" sz="1311" b="0" i="0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 xmlns:p14="http://schemas.microsoft.com/office/powerpoint/2010/main">
        <p:nvSpPr>
          <p:cNvPr id="134" name="Text 134"/>
          <p:cNvSpPr txBox="1"/>
          <p:nvPr/>
        </p:nvSpPr>
        <p:spPr>
          <a:xfrm>
            <a:off x="3678213" y="3501602"/>
            <a:ext cx="4756175" cy="4804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11"/>
              </a:lnSpc>
              <a:spcBef>
                <a:spcPts val="0"/>
              </a:spcBef>
              <a:buNone/>
            </a:pPr>
            <a:r>
              <a:rPr lang="ru-RU" sz="897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Big-O знает только средний множитель. Цена шага — от 1 до 100 нс, два порядка; log₂(10⁶) — множитель 20. Память может перевесить логарифм в пять раз.</a:t>
            </a:r>
            <a:endParaRPr lang="ru-RU" sz="897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35" name="Picture 13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35" name="Slide Number 135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 xmlns:p14="http://schemas.microsoft.com/office/powerpoint/2010/main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 xmlns:p14="http://schemas.microsoft.com/office/powerpoint/2010/main">
        <p:nvSpPr>
          <p:cNvPr id="101" name="Title 101"/>
          <p:cNvSpPr txBox="1"/>
          <p:nvPr/>
        </p:nvSpPr>
        <p:spPr>
          <a:xfrm>
            <a:off x="557212" y="497964"/>
            <a:ext cx="6781800" cy="6544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2464"/>
              </a:lnSpc>
              <a:spcBef>
                <a:spcPts val="0"/>
              </a:spcBef>
              <a:buNone/>
            </a:pPr>
            <a:r>
              <a:rPr lang="ru-RU" sz="2200" b="1" i="0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ПРЕЖДЕ ЧЕМ ВЫБИРАТЬ КОНТЕЙНЕР — ШЕСТЬ ВОПРОСОВ</a:t>
            </a:r>
            <a:endParaRPr lang="ru-RU" sz="2200" b="1" i="0" dirty="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 xmlns:p14="http://schemas.microsoft.com/office/powerpoint/2010/main">
        <p:nvSpPr>
          <p:cNvPr id="102" name="Text 102"/>
          <p:cNvSpPr txBox="1"/>
          <p:nvPr/>
        </p:nvSpPr>
        <p:spPr>
          <a:xfrm>
            <a:off x="632983" y="1238587"/>
            <a:ext cx="7798539" cy="2535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44172" indent="-144172" algn="l">
              <a:lnSpc>
                <a:spcPts val="1852"/>
              </a:lnSpc>
              <a:spcBef>
                <a:spcPts val="0"/>
              </a:spcBef>
              <a:buClr>
                <a:srgbClr val="FFFFFF"/>
              </a:buClr>
              <a:buFont typeface="+mj-lt"/>
              <a:buAutoNum type="arabicPeriod" startAt="1"/>
            </a:pPr>
            <a:r>
              <a:rPr lang="ru-RU" sz="119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Что нужно на выходе: порядок, сортировка, исходник?</a:t>
            </a:r>
            <a:endParaRPr lang="ru-RU" sz="1195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3" name="Text 103"/>
          <p:cNvSpPr txBox="1"/>
          <p:nvPr/>
        </p:nvSpPr>
        <p:spPr>
          <a:xfrm>
            <a:off x="632983" y="1473851"/>
            <a:ext cx="7798539" cy="2535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44172" indent="-144172" algn="l">
              <a:lnSpc>
                <a:spcPts val="1852"/>
              </a:lnSpc>
              <a:spcBef>
                <a:spcPts val="0"/>
              </a:spcBef>
              <a:buClr>
                <a:srgbClr val="FFFFFF"/>
              </a:buClr>
              <a:buFont typeface="+mj-lt"/>
              <a:buAutoNum type="arabicPeriod" startAt="2"/>
            </a:pPr>
            <a:r>
              <a:rPr lang="ru-RU" sz="119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Какие у вас N и доля уникальных?</a:t>
            </a:r>
            <a:endParaRPr lang="ru-RU" sz="1195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4" name="Text 104"/>
          <p:cNvSpPr txBox="1"/>
          <p:nvPr/>
        </p:nvSpPr>
        <p:spPr>
          <a:xfrm>
            <a:off x="632983" y="1709115"/>
            <a:ext cx="7798539" cy="2535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44172" indent="-144172" algn="l">
              <a:lnSpc>
                <a:spcPts val="1852"/>
              </a:lnSpc>
              <a:spcBef>
                <a:spcPts val="0"/>
              </a:spcBef>
              <a:buClr>
                <a:srgbClr val="FFFFFF"/>
              </a:buClr>
              <a:buFont typeface="+mj-lt"/>
              <a:buAutoNum type="arabicPeriod" startAt="3"/>
            </a:pPr>
            <a:r>
              <a:rPr lang="ru-RU" sz="119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Какой именно контейнер, а не «хеш вообще»?</a:t>
            </a:r>
            <a:endParaRPr lang="ru-RU" sz="1195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5" name="Text 105"/>
          <p:cNvSpPr txBox="1"/>
          <p:nvPr/>
        </p:nvSpPr>
        <p:spPr>
          <a:xfrm>
            <a:off x="632983" y="1944380"/>
            <a:ext cx="7798539" cy="2535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44172" indent="-144172" algn="l">
              <a:lnSpc>
                <a:spcPts val="1852"/>
              </a:lnSpc>
              <a:spcBef>
                <a:spcPts val="0"/>
              </a:spcBef>
              <a:buClr>
                <a:srgbClr val="FFFFFF"/>
              </a:buClr>
              <a:buFont typeface="+mj-lt"/>
              <a:buAutoNum type="arabicPeriod" startAt="4"/>
            </a:pPr>
            <a:r>
              <a:rPr lang="ru-RU" sz="119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Какая система и связка компилятора с библиотекой?</a:t>
            </a:r>
            <a:endParaRPr lang="ru-RU" sz="1195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6" name="Text 106"/>
          <p:cNvSpPr txBox="1"/>
          <p:nvPr/>
        </p:nvSpPr>
        <p:spPr>
          <a:xfrm>
            <a:off x="632983" y="2179644"/>
            <a:ext cx="7798539" cy="2535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44172" indent="-144172" algn="l">
              <a:lnSpc>
                <a:spcPts val="1852"/>
              </a:lnSpc>
              <a:spcBef>
                <a:spcPts val="0"/>
              </a:spcBef>
              <a:buClr>
                <a:srgbClr val="FFFFFF"/>
              </a:buClr>
              <a:buFont typeface="+mj-lt"/>
              <a:buAutoNum type="arabicPeriod" startAt="5"/>
            </a:pPr>
            <a:r>
              <a:rPr lang="ru-RU" sz="119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Первый запрос или длительная нагрузка, какой приоритет?</a:t>
            </a:r>
            <a:endParaRPr lang="ru-RU" sz="1195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7" name="Text 107"/>
          <p:cNvSpPr txBox="1"/>
          <p:nvPr/>
        </p:nvSpPr>
        <p:spPr>
          <a:xfrm>
            <a:off x="632983" y="2414908"/>
            <a:ext cx="7798539" cy="2535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44172" indent="-144172" algn="l">
              <a:lnSpc>
                <a:spcPts val="1852"/>
              </a:lnSpc>
              <a:spcBef>
                <a:spcPts val="0"/>
              </a:spcBef>
              <a:buClr>
                <a:srgbClr val="FFFFFF"/>
              </a:buClr>
              <a:buFont typeface="+mj-lt"/>
              <a:buAutoNum type="arabicPeriod" startAt="6"/>
            </a:pPr>
            <a:r>
              <a:rPr lang="ru-RU" sz="1195" b="0" i="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Какую долю всего этапа занимает эта операция?</a:t>
            </a:r>
            <a:endParaRPr lang="ru-RU" sz="1195" b="0" i="0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8" name="Text 108"/>
          <p:cNvSpPr txBox="1"/>
          <p:nvPr/>
        </p:nvSpPr>
        <p:spPr>
          <a:xfrm>
            <a:off x="557212" y="4247608"/>
            <a:ext cx="6653548" cy="347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ts val="1296"/>
              </a:lnSpc>
              <a:spcBef>
                <a:spcPts val="0"/>
              </a:spcBef>
              <a:buNone/>
            </a:pPr>
            <a:r>
              <a:rPr lang="ru-RU" sz="1062" b="0" i="0" dirty="0">
                <a:solidFill>
                  <a:srgbClr val="C8C8C8"/>
                </a:solidFill>
                <a:latin typeface="Montserrat"/>
                <a:ea typeface="Montserrat"/>
                <a:cs typeface="Montserrat"/>
                <a:sym typeface="Montserrat"/>
              </a:rPr>
              <a:t>Никита Нагорнов · код, сырые данные и условия замеров — в репозитории · Спасибо! Вопросы?</a:t>
            </a:r>
            <a:endParaRPr lang="ru-RU" sz="1062" b="0" i="0" dirty="0">
              <a:solidFill>
                <a:srgbClr val="C8C8C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p14="http://schemas.microsoft.com/office/powerpoint/2010/main">
        <p:nvSpPr>
          <p:cNvPr id="109" name="Box 109"/>
          <p:cNvSpPr/>
          <p:nvPr/>
        </p:nvSpPr>
        <p:spPr>
          <a:xfrm>
            <a:off x="7206178" y="3568512"/>
            <a:ext cx="971126" cy="998906"/>
          </a:xfrm>
          <a:prstGeom prst="roundRect">
            <a:avLst>
              <a:gd name="adj" fmla="val 7478"/>
            </a:avLst>
          </a:prstGeom>
          <a:solidFill>
            <a:srgbClr val="000000"/>
          </a:solidFill>
          <a:ln w="9164">
            <a:solidFill>
              <a:srgbClr val="8F8F8F"/>
            </a:solidFill>
            <a:prstDash val="dash"/>
          </a:ln>
        </p:spPr>
      </p:sp>
      <p:sp xmlns:p14="http://schemas.microsoft.com/office/powerpoint/2010/main">
        <p:nvSpPr>
          <p:cNvPr id="110" name="Text 110"/>
          <p:cNvSpPr txBox="1"/>
          <p:nvPr/>
        </p:nvSpPr>
        <p:spPr>
          <a:xfrm>
            <a:off x="7253231" y="3941516"/>
            <a:ext cx="877021" cy="2651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ts val="972"/>
              </a:lnSpc>
              <a:spcBef>
                <a:spcPts val="0"/>
              </a:spcBef>
              <a:buNone/>
            </a:pPr>
            <a:r>
              <a:rPr lang="ru-RU" sz="797" b="0" i="0" dirty="0">
                <a:solidFill>
                  <a:srgbClr val="8F8F8F"/>
                </a:solidFill>
                <a:latin typeface="Montserrat"/>
                <a:ea typeface="Montserrat"/>
                <a:cs typeface="Montserrat"/>
                <a:sym typeface="Montserrat"/>
              </a:rPr>
              <a:t>QR на репозиторий</a:t>
            </a:r>
            <a:endParaRPr lang="ru-RU" sz="797" b="0" i="0" dirty="0">
              <a:solidFill>
                <a:srgbClr val="8F8F8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1" name="Picture 11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325" y="685800"/>
            <a:ext cx="1095375" cy="376238"/>
          </a:xfrm>
          <a:prstGeom prst="rect">
            <a:avLst/>
          </a:prstGeom>
        </p:spPr>
      </p:pic>
      <p:sp xmlns:p14="http://schemas.microsoft.com/office/powerpoint/2010/main">
        <p:nvSpPr>
          <p:cNvPr id="111" name="Slide Number 111"/>
          <p:cNvSpPr txBox="1"/>
          <p:nvPr>
            <p:ph idx="12" type="sldNum"/>
          </p:nvPr>
        </p:nvSpPr>
        <p:spPr>
          <a:xfrm>
            <a:off x="8384301" y="4448489"/>
            <a:ext cx="510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ru">
                <a:solidFill>
                  <a:srgbClr val="EFEFE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solidFill>
                <a:srgbClr val="EFEFE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Никита Нагорнов</dc:creator>
  <dc:title>O(n) проиграл O(n log n) — HardFest 2026</dc:title>
</cp:coreProperties>
</file>