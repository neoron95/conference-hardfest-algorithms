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Default Extension="mp4" ContentType="video/mp4"/>
  <Default Extension="fntdata" ContentType="application/x-fontdata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3544325f1b4efc" /><Relationship Type="http://schemas.openxmlformats.org/officeDocument/2006/relationships/extended-properties" Target="/docProps/app.xml" Id="R6ecd65eda3d7467f" /><Relationship Type="http://schemas.openxmlformats.org/officeDocument/2006/relationships/officeDocument" Target="/ppt/presentation.xml" Id="R7eebc78efb734dc0" 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23460539f8f9433d"/>
  </p:sldMasterIdLst>
  <p:notesMasterIdLst>
    <p:notesMasterId xmlns:r="http://schemas.openxmlformats.org/officeDocument/2006/relationships" r:id="Re41d514cd4884ba7"/>
  </p:notesMasterIdLst>
  <p:sldIdLst>
    <p:sldId xmlns:r="http://schemas.openxmlformats.org/officeDocument/2006/relationships" id="256" r:id="R57d84c4e81d144cb"/>
    <p:sldId xmlns:r="http://schemas.openxmlformats.org/officeDocument/2006/relationships" id="257" r:id="R70c19fe469c942c9"/>
    <p:sldId xmlns:r="http://schemas.openxmlformats.org/officeDocument/2006/relationships" id="258" r:id="R4d9eb2076aef4b6b"/>
    <p:sldId xmlns:r="http://schemas.openxmlformats.org/officeDocument/2006/relationships" id="259" r:id="R50a10894a508460e"/>
    <p:sldId xmlns:r="http://schemas.openxmlformats.org/officeDocument/2006/relationships" id="260" r:id="R917bbfe327274ea6"/>
    <p:sldId xmlns:r="http://schemas.openxmlformats.org/officeDocument/2006/relationships" id="261" r:id="R2e0246e9d1bb4376"/>
    <p:sldId xmlns:r="http://schemas.openxmlformats.org/officeDocument/2006/relationships" id="262" r:id="R54e1e5135a2446a0"/>
    <p:sldId xmlns:r="http://schemas.openxmlformats.org/officeDocument/2006/relationships" id="263" r:id="R35e5ab03e5364ad0"/>
    <p:sldId xmlns:r="http://schemas.openxmlformats.org/officeDocument/2006/relationships" id="264" r:id="Rfa21c13410bc4312"/>
    <p:sldId xmlns:r="http://schemas.openxmlformats.org/officeDocument/2006/relationships" id="265" r:id="R6855108b03f94097"/>
    <p:sldId xmlns:r="http://schemas.openxmlformats.org/officeDocument/2006/relationships" id="266" r:id="R5af4af541fd34271"/>
    <p:sldId xmlns:r="http://schemas.openxmlformats.org/officeDocument/2006/relationships" id="267" r:id="R1c7fd2860a1849d8"/>
    <p:sldId xmlns:r="http://schemas.openxmlformats.org/officeDocument/2006/relationships" id="268" r:id="R1c8bffce7cfc46d4"/>
    <p:sldId xmlns:r="http://schemas.openxmlformats.org/officeDocument/2006/relationships" id="269" r:id="R11da622128284891"/>
    <p:sldId xmlns:r="http://schemas.openxmlformats.org/officeDocument/2006/relationships" id="270" r:id="R2d8dbf219e00416a"/>
    <p:sldId xmlns:r="http://schemas.openxmlformats.org/officeDocument/2006/relationships" id="271" r:id="R8b9d460fae244560"/>
    <p:sldId xmlns:r="http://schemas.openxmlformats.org/officeDocument/2006/relationships" id="272" r:id="Racf8c32927574a93"/>
    <p:sldId xmlns:r="http://schemas.openxmlformats.org/officeDocument/2006/relationships" id="273" r:id="Rbf83a8ed6bcd43f1"/>
    <p:sldId xmlns:r="http://schemas.openxmlformats.org/officeDocument/2006/relationships" id="274" r:id="R988cb9f3721a4a71"/>
    <p:sldId xmlns:r="http://schemas.openxmlformats.org/officeDocument/2006/relationships" id="275" r:id="R51c3653b10e34572"/>
    <p:sldId xmlns:r="http://schemas.openxmlformats.org/officeDocument/2006/relationships" id="276" r:id="R808b836afa8f4e3c"/>
    <p:sldId xmlns:r="http://schemas.openxmlformats.org/officeDocument/2006/relationships" id="277" r:id="R2d4efbffe5994d55"/>
    <p:sldId xmlns:r="http://schemas.openxmlformats.org/officeDocument/2006/relationships" id="278" r:id="R876e3b7d60804b2c"/>
    <p:sldId xmlns:r="http://schemas.openxmlformats.org/officeDocument/2006/relationships" id="279" r:id="R560faf40ab754628"/>
    <p:sldId xmlns:r="http://schemas.openxmlformats.org/officeDocument/2006/relationships" id="280" r:id="R49b22077ae7b48ad"/>
    <p:sldId xmlns:r="http://schemas.openxmlformats.org/officeDocument/2006/relationships" id="281" r:id="Rc67dd9e745c7450c"/>
    <p:sldId xmlns:r="http://schemas.openxmlformats.org/officeDocument/2006/relationships" id="282" r:id="Ra0b7c3fad77d4b8e"/>
    <p:sldId xmlns:r="http://schemas.openxmlformats.org/officeDocument/2006/relationships" id="283" r:id="Rdfac0c78d9d34830"/>
    <p:sldId xmlns:r="http://schemas.openxmlformats.org/officeDocument/2006/relationships" id="284" r:id="R27b295ab632f4c54"/>
    <p:sldId xmlns:r="http://schemas.openxmlformats.org/officeDocument/2006/relationships" id="285" r:id="R5d3fc5a786df4ade"/>
    <p:sldId xmlns:r="http://schemas.openxmlformats.org/officeDocument/2006/relationships" id="286" r:id="Rb1e18615359747e9"/>
    <p:sldId xmlns:r="http://schemas.openxmlformats.org/officeDocument/2006/relationships" id="287" r:id="Rcc1db65c1bfc461a"/>
    <p:sldId xmlns:r="http://schemas.openxmlformats.org/officeDocument/2006/relationships" id="288" r:id="Re4289db241604b60"/>
    <p:sldId xmlns:r="http://schemas.openxmlformats.org/officeDocument/2006/relationships" id="289" r:id="Rf9391905d7e74187"/>
    <p:sldId xmlns:r="http://schemas.openxmlformats.org/officeDocument/2006/relationships" id="290" r:id="Re92f5b7764694549"/>
    <p:sldId xmlns:r="http://schemas.openxmlformats.org/officeDocument/2006/relationships" id="291" r:id="Rd71b872860d34105"/>
    <p:sldId xmlns:r="http://schemas.openxmlformats.org/officeDocument/2006/relationships" id="292" r:id="R5b4405fc7eea45d0"/>
    <p:sldId xmlns:r="http://schemas.openxmlformats.org/officeDocument/2006/relationships" id="293" r:id="R7cd1142be669459b"/>
    <p:sldId xmlns:r="http://schemas.openxmlformats.org/officeDocument/2006/relationships" id="294" r:id="Rec09674d4e954eca"/>
    <p:sldId xmlns:r="http://schemas.openxmlformats.org/officeDocument/2006/relationships" id="295" r:id="Rb101d21a882a41e1"/>
    <p:sldId xmlns:r="http://schemas.openxmlformats.org/officeDocument/2006/relationships" id="296" r:id="Rdc54c8f5e9c6463a"/>
    <p:sldId xmlns:r="http://schemas.openxmlformats.org/officeDocument/2006/relationships" id="297" r:id="R403f6650b3474b6c"/>
    <p:sldId xmlns:r="http://schemas.openxmlformats.org/officeDocument/2006/relationships" id="298" r:id="R31fb95f94f394daa"/>
    <p:sldId xmlns:r="http://schemas.openxmlformats.org/officeDocument/2006/relationships" id="299" r:id="R54cfed08e86045b8"/>
    <p:sldId xmlns:r="http://schemas.openxmlformats.org/officeDocument/2006/relationships" id="300" r:id="Rf12fa9b784ae457b"/>
    <p:sldId xmlns:r="http://schemas.openxmlformats.org/officeDocument/2006/relationships" id="301" r:id="R22918fa270f94ea3"/>
    <p:sldId xmlns:r="http://schemas.openxmlformats.org/officeDocument/2006/relationships" id="302" r:id="R592768abc85d4ab1"/>
    <p:sldId xmlns:r="http://schemas.openxmlformats.org/officeDocument/2006/relationships" id="303" r:id="Rb66adfadbfea4f0e"/>
    <p:sldId xmlns:r="http://schemas.openxmlformats.org/officeDocument/2006/relationships" id="304" r:id="R82471a13676c46d4"/>
    <p:sldId xmlns:r="http://schemas.openxmlformats.org/officeDocument/2006/relationships" id="305" r:id="Rcb011d3ae5ba45c9"/>
  </p:sldIdLst>
  <p:sldSz cx="9144000" cy="5143500"/>
  <p:notesSz cx="6858000" cy="9144000"/>
  <p:embeddedFontLst xmlns:r="http://schemas.openxmlformats.org/officeDocument/2006/relationships">
    <p:embeddedFont>
      <p:font typeface="Montserrat SemiBold"/>
      <p:regular r:id="rIdHFfont56"/>
      <p:bold r:id="rIdHFfont57"/>
      <p:italic r:id="rIdHFfont58"/>
      <p:boldItalic r:id="rIdHFfont59"/>
    </p:embeddedFont>
    <p:embeddedFont>
      <p:font typeface="Montserrat"/>
      <p:regular r:id="rIdHFfont60"/>
      <p:bold r:id="rIdHFfont61"/>
      <p:italic r:id="rIdHFfont62"/>
      <p:boldItalic r:id="rIdHFfont63"/>
    </p:embeddedFont>
    <p:embeddedFont>
      <p:font typeface="Geologica Light"/>
      <p:regular r:id="rIdHFfont64"/>
      <p:bold r:id="rIdHFfont65"/>
    </p:embeddedFont>
    <p:embeddedFont>
      <p:font typeface="Montserrat ExtraBold"/>
      <p:bold r:id="rIdHFfont66"/>
      <p:boldItalic r:id="rIdHFfont67"/>
    </p:embeddedFont>
  </p:embeddedFontLst>
  <p:extLst>
    <p:ext uri="{521415D9-36F7-43E2-AB2F-B90AF26B5E84}">
      <ns0:sectionLst xmlns:ns0="http://schemas.microsoft.com/office/powerpoint/2010/main">
        <ns0:section name="Расследование: диф, задача, первая ставка" id="{DAA9EDA5-C71F-5C56-996D-29B6D53F7318}">
          <ns0:sldIdLst>
            <ns0:sldId id="256"/>
            <ns0:sldId id="257"/>
            <ns0:sldId id="258"/>
            <ns0:sldId id="259"/>
            <ns0:sldId id="260"/>
            <ns0:sldId id="261"/>
          </ns0:sldIdLst>
        </ns0:section>
        <ns0:section name="Стоимость операций: размер, память, реализация" id="{6DAA842E-197B-59EF-A1EF-762DE104CEEB}">
          <ns0:sldIdLst>
            <ns0:sldId id="262"/>
            <ns0:sldId id="263"/>
            <ns0:sldId id="264"/>
            <ns0:sldId id="265"/>
            <ns0:sldId id="266"/>
          </ns0:sldIdLst>
        </ns0:section>
        <ns0:section name="Условия задачи: повторы, контракт, порядок входа" id="{5538C895-191E-5418-933C-0B44E38FBF41}">
          <ns0:sldIdLst>
            <ns0:sldId id="267"/>
            <ns0:sldId id="268"/>
            <ns0:sldId id="269"/>
            <ns0:sldId id="270"/>
          </ns0:sldIdLst>
        </ns0:section>
        <ns0:section name="Проверка собственного бенчмарка" id="{462ADCA8-8898-599B-B4C8-AB4D7987F6C8}">
          <ns0:sldIdLst>
            <ns0:sldId id="271"/>
          </ns0:sldIdLst>
        </ns0:section>
        <ns0:section name="Среда исполнения: QoS, ядра и CI" id="{EB86BAFE-056F-563E-ACA7-959934106C69}">
          <ns0:sldIdLst>
            <ns0:sldId id="272"/>
            <ns0:sldId id="273"/>
            <ns0:sldId id="274"/>
            <ns0:sldId id="275"/>
            <ns0:sldId id="276"/>
          </ns0:sldIdLst>
        </ns0:section>
        <ns0:section name="Развязка: решение, применение, ревью" id="{4DAB199E-5A5F-5B51-9A2C-BB17FED83ABE}">
          <ns0:sldIdLst>
            <ns0:sldId id="277"/>
            <ns0:sldId id="278"/>
            <ns0:sldId id="279"/>
            <ns0:sldId id="280"/>
            <ns0:sldId id="281"/>
          </ns0:sldIdLst>
        </ns0:section>
        <ns0:section name="Дополнительные модули и ответы на вопросы" id="{099A4C7A-571A-5C7C-BC5B-3749402F9598}">
          <ns0:sldIdLst>
            <ns0:sldId id="282"/>
            <ns0:sldId id="283"/>
            <ns0:sldId id="284"/>
            <ns0:sldId id="285"/>
            <ns0:sldId id="286"/>
            <ns0:sldId id="287"/>
            <ns0:sldId id="288"/>
            <ns0:sldId id="289"/>
            <ns0:sldId id="290"/>
            <ns0:sldId id="291"/>
            <ns0:sldId id="292"/>
            <ns0:sldId id="293"/>
            <ns0:sldId id="294"/>
            <ns0:sldId id="295"/>
            <ns0:sldId id="296"/>
            <ns0:sldId id="297"/>
            <ns0:sldId id="298"/>
            <ns0:sldId id="299"/>
            <ns0:sldId id="300"/>
            <ns0:sldId id="301"/>
            <ns0:sldId id="302"/>
          </ns0:sldIdLst>
        </ns0:section>
        <ns0:section name="Архив, скрыт при показе" id="{9D54CDA7-9659-5CB0-AD33-42CACDFCF710}">
          <ns0:sldIdLst>
            <ns0:sldId id="303"/>
            <ns0:sldId id="304"/>
            <ns0:sldId id="305"/>
          </ns0:sldIdLst>
        </ns0:section>
      </ns0:sectionLst>
    </p:ext>
  </p:ex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c1788db622344baa"/><Relationship Type="http://schemas.openxmlformats.org/officeDocument/2006/relationships/slideMaster" Target="/ppt/slideMasters/slideMaster1.xml" Id="R23460539f8f9433d"/><Relationship Type="http://schemas.openxmlformats.org/officeDocument/2006/relationships/notesMaster" Target="/ppt/notesMasters/notesMaster1.xml" Id="Re41d514cd4884ba7"/><Relationship Type="http://schemas.openxmlformats.org/officeDocument/2006/relationships/presProps" Target="/ppt/presProps.xml" Id="Rbd954547bea9485f"/><Relationship Type="http://schemas.openxmlformats.org/officeDocument/2006/relationships/tableStyles" Target="/ppt/tableStyles.xml" Id="R223b65c89a004537"/><Relationship Type="http://schemas.openxmlformats.org/officeDocument/2006/relationships/slide" Target="/ppt/slides/slide1.xml" Id="R57d84c4e81d144cb"/><Relationship Type="http://schemas.openxmlformats.org/officeDocument/2006/relationships/slide" Target="/ppt/slides/slide2.xml" Id="R70c19fe469c942c9"/><Relationship Type="http://schemas.openxmlformats.org/officeDocument/2006/relationships/slide" Target="/ppt/slides/slide3.xml" Id="R4d9eb2076aef4b6b"/><Relationship Type="http://schemas.openxmlformats.org/officeDocument/2006/relationships/slide" Target="/ppt/slides/slide4.xml" Id="R50a10894a508460e"/><Relationship Type="http://schemas.openxmlformats.org/officeDocument/2006/relationships/slide" Target="/ppt/slides/slide5.xml" Id="R917bbfe327274ea6"/><Relationship Type="http://schemas.openxmlformats.org/officeDocument/2006/relationships/slide" Target="/ppt/slides/slide6.xml" Id="R2e0246e9d1bb4376"/><Relationship Type="http://schemas.openxmlformats.org/officeDocument/2006/relationships/slide" Target="/ppt/slides/slide7.xml" Id="R54e1e5135a2446a0"/><Relationship Type="http://schemas.openxmlformats.org/officeDocument/2006/relationships/slide" Target="/ppt/slides/slide8.xml" Id="R35e5ab03e5364ad0"/><Relationship Type="http://schemas.openxmlformats.org/officeDocument/2006/relationships/slide" Target="/ppt/slides/slide9.xml" Id="Rfa21c13410bc4312"/><Relationship Type="http://schemas.openxmlformats.org/officeDocument/2006/relationships/slide" Target="/ppt/slides/slide10.xml" Id="R6855108b03f94097"/><Relationship Type="http://schemas.openxmlformats.org/officeDocument/2006/relationships/slide" Target="/ppt/slides/slide11.xml" Id="R5af4af541fd34271"/><Relationship Type="http://schemas.openxmlformats.org/officeDocument/2006/relationships/slide" Target="/ppt/slides/slide12.xml" Id="R1c7fd2860a1849d8"/><Relationship Type="http://schemas.openxmlformats.org/officeDocument/2006/relationships/slide" Target="/ppt/slides/slide13.xml" Id="R1c8bffce7cfc46d4"/><Relationship Type="http://schemas.openxmlformats.org/officeDocument/2006/relationships/slide" Target="/ppt/slides/slide14.xml" Id="R11da622128284891"/><Relationship Type="http://schemas.openxmlformats.org/officeDocument/2006/relationships/slide" Target="/ppt/slides/slide15.xml" Id="R2d8dbf219e00416a"/><Relationship Type="http://schemas.openxmlformats.org/officeDocument/2006/relationships/slide" Target="/ppt/slides/slide16.xml" Id="R8b9d460fae244560"/><Relationship Type="http://schemas.openxmlformats.org/officeDocument/2006/relationships/slide" Target="/ppt/slides/slide17.xml" Id="Racf8c32927574a93"/><Relationship Type="http://schemas.openxmlformats.org/officeDocument/2006/relationships/slide" Target="/ppt/slides/slide18.xml" Id="Rbf83a8ed6bcd43f1"/><Relationship Type="http://schemas.openxmlformats.org/officeDocument/2006/relationships/slide" Target="/ppt/slides/slide19.xml" Id="R988cb9f3721a4a71"/><Relationship Type="http://schemas.openxmlformats.org/officeDocument/2006/relationships/slide" Target="/ppt/slides/slide20.xml" Id="R51c3653b10e34572"/><Relationship Type="http://schemas.openxmlformats.org/officeDocument/2006/relationships/slide" Target="/ppt/slides/slide21.xml" Id="R808b836afa8f4e3c"/><Relationship Type="http://schemas.openxmlformats.org/officeDocument/2006/relationships/slide" Target="/ppt/slides/slide22.xml" Id="R2d4efbffe5994d55"/><Relationship Type="http://schemas.openxmlformats.org/officeDocument/2006/relationships/slide" Target="/ppt/slides/slide23.xml" Id="R876e3b7d60804b2c"/><Relationship Type="http://schemas.openxmlformats.org/officeDocument/2006/relationships/slide" Target="/ppt/slides/slide24.xml" Id="R560faf40ab754628"/><Relationship Type="http://schemas.openxmlformats.org/officeDocument/2006/relationships/slide" Target="/ppt/slides/slide25.xml" Id="R49b22077ae7b48ad"/><Relationship Type="http://schemas.openxmlformats.org/officeDocument/2006/relationships/slide" Target="/ppt/slides/slide26.xml" Id="Rc67dd9e745c7450c"/><Relationship Type="http://schemas.openxmlformats.org/officeDocument/2006/relationships/slide" Target="/ppt/slides/slide27.xml" Id="Ra0b7c3fad77d4b8e"/><Relationship Type="http://schemas.openxmlformats.org/officeDocument/2006/relationships/slide" Target="/ppt/slides/slide28.xml" Id="Rdfac0c78d9d34830"/><Relationship Type="http://schemas.openxmlformats.org/officeDocument/2006/relationships/slide" Target="/ppt/slides/slide29.xml" Id="R27b295ab632f4c54"/><Relationship Type="http://schemas.openxmlformats.org/officeDocument/2006/relationships/slide" Target="/ppt/slides/slide30.xml" Id="R5d3fc5a786df4ade"/><Relationship Type="http://schemas.openxmlformats.org/officeDocument/2006/relationships/slide" Target="/ppt/slides/slide31.xml" Id="Rb1e18615359747e9"/><Relationship Type="http://schemas.openxmlformats.org/officeDocument/2006/relationships/slide" Target="/ppt/slides/slide32.xml" Id="Rcc1db65c1bfc461a"/><Relationship Type="http://schemas.openxmlformats.org/officeDocument/2006/relationships/slide" Target="/ppt/slides/slide33.xml" Id="Re4289db241604b60"/><Relationship Type="http://schemas.openxmlformats.org/officeDocument/2006/relationships/slide" Target="/ppt/slides/slide34.xml" Id="Rf9391905d7e74187"/><Relationship Type="http://schemas.openxmlformats.org/officeDocument/2006/relationships/slide" Target="/ppt/slides/slide35.xml" Id="Re92f5b7764694549"/><Relationship Type="http://schemas.openxmlformats.org/officeDocument/2006/relationships/slide" Target="/ppt/slides/slide36.xml" Id="Rd71b872860d34105"/><Relationship Type="http://schemas.openxmlformats.org/officeDocument/2006/relationships/slide" Target="/ppt/slides/slide37.xml" Id="R5b4405fc7eea45d0"/><Relationship Type="http://schemas.openxmlformats.org/officeDocument/2006/relationships/slide" Target="/ppt/slides/slide38.xml" Id="R7cd1142be669459b"/><Relationship Type="http://schemas.openxmlformats.org/officeDocument/2006/relationships/slide" Target="/ppt/slides/slide39.xml" Id="Rec09674d4e954eca"/><Relationship Type="http://schemas.openxmlformats.org/officeDocument/2006/relationships/slide" Target="/ppt/slides/slide40.xml" Id="Rb101d21a882a41e1"/><Relationship Type="http://schemas.openxmlformats.org/officeDocument/2006/relationships/slide" Target="/ppt/slides/slide41.xml" Id="Rdc54c8f5e9c6463a"/><Relationship Type="http://schemas.openxmlformats.org/officeDocument/2006/relationships/slide" Target="/ppt/slides/slide42.xml" Id="R403f6650b3474b6c"/><Relationship Type="http://schemas.openxmlformats.org/officeDocument/2006/relationships/slide" Target="/ppt/slides/slide43.xml" Id="R31fb95f94f394daa"/><Relationship Type="http://schemas.openxmlformats.org/officeDocument/2006/relationships/slide" Target="/ppt/slides/slide44.xml" Id="R54cfed08e86045b8"/><Relationship Type="http://schemas.openxmlformats.org/officeDocument/2006/relationships/slide" Target="/ppt/slides/slide45.xml" Id="Rf12fa9b784ae457b"/><Relationship Type="http://schemas.openxmlformats.org/officeDocument/2006/relationships/slide" Target="/ppt/slides/slide46.xml" Id="R22918fa270f94ea3"/><Relationship Type="http://schemas.openxmlformats.org/officeDocument/2006/relationships/slide" Target="/ppt/slides/slide47.xml" Id="R592768abc85d4ab1"/><Relationship Type="http://schemas.openxmlformats.org/officeDocument/2006/relationships/slide" Target="/ppt/slides/slide48.xml" Id="Rb66adfadbfea4f0e"/><Relationship Type="http://schemas.openxmlformats.org/officeDocument/2006/relationships/slide" Target="/ppt/slides/slide49.xml" Id="R82471a13676c46d4"/><Relationship Type="http://schemas.openxmlformats.org/officeDocument/2006/relationships/slide" Target="/ppt/slides/slide50.xml" Id="Rcb011d3ae5ba45c9"/><Relationship Id="rIdHFfont56" Type="http://schemas.openxmlformats.org/officeDocument/2006/relationships/font" Target="fonts/MontserratSemiBold-regular.fntdata"/><Relationship Id="rIdHFfont57" Type="http://schemas.openxmlformats.org/officeDocument/2006/relationships/font" Target="fonts/MontserratSemiBold-bold.fntdata"/><Relationship Id="rIdHFfont58" Type="http://schemas.openxmlformats.org/officeDocument/2006/relationships/font" Target="fonts/MontserratSemiBold-italic.fntdata"/><Relationship Id="rIdHFfont59" Type="http://schemas.openxmlformats.org/officeDocument/2006/relationships/font" Target="fonts/MontserratSemiBold-boldItalic.fntdata"/><Relationship Id="rIdHFfont60" Type="http://schemas.openxmlformats.org/officeDocument/2006/relationships/font" Target="fonts/Montserrat-regular.fntdata"/><Relationship Id="rIdHFfont61" Type="http://schemas.openxmlformats.org/officeDocument/2006/relationships/font" Target="fonts/Montserrat-bold.fntdata"/><Relationship Id="rIdHFfont62" Type="http://schemas.openxmlformats.org/officeDocument/2006/relationships/font" Target="fonts/Montserrat-italic.fntdata"/><Relationship Id="rIdHFfont63" Type="http://schemas.openxmlformats.org/officeDocument/2006/relationships/font" Target="fonts/Montserrat-boldItalic.fntdata"/><Relationship Id="rIdHFfont64" Type="http://schemas.openxmlformats.org/officeDocument/2006/relationships/font" Target="fonts/GeologicaLight-regular.fntdata"/><Relationship Id="rIdHFfont65" Type="http://schemas.openxmlformats.org/officeDocument/2006/relationships/font" Target="fonts/GeologicaLight-bold.fntdata"/><Relationship Id="rIdHFfont66" Type="http://schemas.openxmlformats.org/officeDocument/2006/relationships/font" Target="fonts/MontserratExtraBold-bold.fntdata"/><Relationship Id="rIdHFfont67" Type="http://schemas.openxmlformats.org/officeDocument/2006/relationships/font" Target="fonts/MontserratExtraBold-boldItalic.fntdata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f788826fe14c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ba464d92cf48e3" /><Relationship Type="http://schemas.openxmlformats.org/officeDocument/2006/relationships/notesMaster" Target="/ppt/notesMasters/notesMaster1.xml" Id="Reb50bb0afc0f47c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9ad3d651a54108" /><Relationship Type="http://schemas.openxmlformats.org/officeDocument/2006/relationships/notesMaster" Target="/ppt/notesMasters/notesMaster1.xml" Id="R461a23164b5841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c79660264142f0" /><Relationship Type="http://schemas.openxmlformats.org/officeDocument/2006/relationships/notesMaster" Target="/ppt/notesMasters/notesMaster1.xml" Id="Rff8c1ab077c140a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8026f606ed4e83" /><Relationship Type="http://schemas.openxmlformats.org/officeDocument/2006/relationships/notesMaster" Target="/ppt/notesMasters/notesMaster1.xml" Id="R8f97cef6e70b41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97b6cf26314419" /><Relationship Type="http://schemas.openxmlformats.org/officeDocument/2006/relationships/notesMaster" Target="/ppt/notesMasters/notesMaster1.xml" Id="Rcf4d5590fc0247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064e4071224f75" /><Relationship Type="http://schemas.openxmlformats.org/officeDocument/2006/relationships/notesMaster" Target="/ppt/notesMasters/notesMaster1.xml" Id="R6104c6a7b2ec4d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8ce6cc0ef245c7" /><Relationship Type="http://schemas.openxmlformats.org/officeDocument/2006/relationships/notesMaster" Target="/ppt/notesMasters/notesMaster1.xml" Id="R39386f1a492546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46dced2e0c47a3" /><Relationship Type="http://schemas.openxmlformats.org/officeDocument/2006/relationships/notesMaster" Target="/ppt/notesMasters/notesMaster1.xml" Id="Rf2e272bc7aad4cb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8ba85983321457f" /><Relationship Type="http://schemas.openxmlformats.org/officeDocument/2006/relationships/notesMaster" Target="/ppt/notesMasters/notesMaster1.xml" Id="Rf7caeea5617149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b39b5053534426b" /><Relationship Type="http://schemas.openxmlformats.org/officeDocument/2006/relationships/notesMaster" Target="/ppt/notesMasters/notesMaster1.xml" Id="R6242d5d224664e2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ebeae0aefaf4dbe" /><Relationship Type="http://schemas.openxmlformats.org/officeDocument/2006/relationships/notesMaster" Target="/ppt/notesMasters/notesMaster1.xml" Id="R61c93ff35a924d7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07eeacb77e5458f" /><Relationship Type="http://schemas.openxmlformats.org/officeDocument/2006/relationships/notesMaster" Target="/ppt/notesMasters/notesMaster1.xml" Id="R73db7a5a27a8442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97156644b9b406d" /><Relationship Type="http://schemas.openxmlformats.org/officeDocument/2006/relationships/notesMaster" Target="/ppt/notesMasters/notesMaster1.xml" Id="R62cfbe45ed5c4f8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8975400eece4275" /><Relationship Type="http://schemas.openxmlformats.org/officeDocument/2006/relationships/notesMaster" Target="/ppt/notesMasters/notesMaster1.xml" Id="R938bbae2c7dd460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42eccd68994442f" /><Relationship Type="http://schemas.openxmlformats.org/officeDocument/2006/relationships/notesMaster" Target="/ppt/notesMasters/notesMaster1.xml" Id="R344a95a94dc949b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b09e04eef55409c" /><Relationship Type="http://schemas.openxmlformats.org/officeDocument/2006/relationships/notesMaster" Target="/ppt/notesMasters/notesMaster1.xml" Id="R1151a32090034f2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e15142ab9d348c4" /><Relationship Type="http://schemas.openxmlformats.org/officeDocument/2006/relationships/notesMaster" Target="/ppt/notesMasters/notesMaster1.xml" Id="R26d0bc80d2e6441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a20d540ac8a4e0e" /><Relationship Type="http://schemas.openxmlformats.org/officeDocument/2006/relationships/notesMaster" Target="/ppt/notesMasters/notesMaster1.xml" Id="R6846495c458d417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9f73c6e70394a04" /><Relationship Type="http://schemas.openxmlformats.org/officeDocument/2006/relationships/notesMaster" Target="/ppt/notesMasters/notesMaster1.xml" Id="R4510ce55f95845a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cbc87994be84f50" /><Relationship Type="http://schemas.openxmlformats.org/officeDocument/2006/relationships/notesMaster" Target="/ppt/notesMasters/notesMaster1.xml" Id="R8a6306827b6d450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1690a0542c749ce" /><Relationship Type="http://schemas.openxmlformats.org/officeDocument/2006/relationships/notesMaster" Target="/ppt/notesMasters/notesMaster1.xml" Id="Rec627eac3292447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fecd2d043934399" /><Relationship Type="http://schemas.openxmlformats.org/officeDocument/2006/relationships/notesMaster" Target="/ppt/notesMasters/notesMaster1.xml" Id="Rb7eeaf5a6e1d46c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5e628284e0743cf" /><Relationship Type="http://schemas.openxmlformats.org/officeDocument/2006/relationships/notesMaster" Target="/ppt/notesMasters/notesMaster1.xml" Id="Rbe704254dba14c9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2a936f8de244bbc" /><Relationship Type="http://schemas.openxmlformats.org/officeDocument/2006/relationships/notesMaster" Target="/ppt/notesMasters/notesMaster1.xml" Id="Rfeb6d87133c746f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8c06d88636d4642" /><Relationship Type="http://schemas.openxmlformats.org/officeDocument/2006/relationships/notesMaster" Target="/ppt/notesMasters/notesMaster1.xml" Id="Rc081b6740d5440d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15b0c754122487c" /><Relationship Type="http://schemas.openxmlformats.org/officeDocument/2006/relationships/notesMaster" Target="/ppt/notesMasters/notesMaster1.xml" Id="R04b2a1f2016b406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4653e3126214206" /><Relationship Type="http://schemas.openxmlformats.org/officeDocument/2006/relationships/notesMaster" Target="/ppt/notesMasters/notesMaster1.xml" Id="R342730491577406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7eb99ae5737432e" /><Relationship Type="http://schemas.openxmlformats.org/officeDocument/2006/relationships/notesMaster" Target="/ppt/notesMasters/notesMaster1.xml" Id="R0b4bd202463746d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0760ea1a1f7427a" /><Relationship Type="http://schemas.openxmlformats.org/officeDocument/2006/relationships/notesMaster" Target="/ppt/notesMasters/notesMaster1.xml" Id="R736ab3b93c7a4da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11e181e2ba6468e" /><Relationship Type="http://schemas.openxmlformats.org/officeDocument/2006/relationships/notesMaster" Target="/ppt/notesMasters/notesMaster1.xml" Id="R9816b9dc2bc24a2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71c14093cef4129" /><Relationship Type="http://schemas.openxmlformats.org/officeDocument/2006/relationships/notesMaster" Target="/ppt/notesMasters/notesMaster1.xml" Id="R8796713d84c24e1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d0adcef8ac44f40" /><Relationship Type="http://schemas.openxmlformats.org/officeDocument/2006/relationships/notesMaster" Target="/ppt/notesMasters/notesMaster1.xml" Id="Re4ff04fb2aed420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98d6b0fd2f942e1" /><Relationship Type="http://schemas.openxmlformats.org/officeDocument/2006/relationships/notesMaster" Target="/ppt/notesMasters/notesMaster1.xml" Id="R5d3e989ea8dd4f6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edf5328b69643c0" /><Relationship Type="http://schemas.openxmlformats.org/officeDocument/2006/relationships/notesMaster" Target="/ppt/notesMasters/notesMaster1.xml" Id="R42e111fbf0e64dde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3f0f2d9391e4c5d" /><Relationship Type="http://schemas.openxmlformats.org/officeDocument/2006/relationships/notesMaster" Target="/ppt/notesMasters/notesMaster1.xml" Id="R74acea2b2a7f42f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40385c82d9f64917" /><Relationship Type="http://schemas.openxmlformats.org/officeDocument/2006/relationships/notesMaster" Target="/ppt/notesMasters/notesMaster1.xml" Id="R28f4146f0979438a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5b66e78c54e48b9" /><Relationship Type="http://schemas.openxmlformats.org/officeDocument/2006/relationships/notesMaster" Target="/ppt/notesMasters/notesMaster1.xml" Id="R4f8a383fdd8a43d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27d471fc8064745" /><Relationship Type="http://schemas.openxmlformats.org/officeDocument/2006/relationships/notesMaster" Target="/ppt/notesMasters/notesMaster1.xml" Id="R8296d7f3be4b44a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683575ef031433a" /><Relationship Type="http://schemas.openxmlformats.org/officeDocument/2006/relationships/notesMaster" Target="/ppt/notesMasters/notesMaster1.xml" Id="Rcc7c22f31abb4bab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0651e4f432b5464f" /><Relationship Type="http://schemas.openxmlformats.org/officeDocument/2006/relationships/notesMaster" Target="/ppt/notesMasters/notesMaster1.xml" Id="R483879f816074f7b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e5e1529d5ff4f77" /><Relationship Type="http://schemas.openxmlformats.org/officeDocument/2006/relationships/notesMaster" Target="/ppt/notesMasters/notesMaster1.xml" Id="R97aa37d8298f4ef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2ab94f6378f4851" /><Relationship Type="http://schemas.openxmlformats.org/officeDocument/2006/relationships/notesMaster" Target="/ppt/notesMasters/notesMaster1.xml" Id="R79f0a1cd610a45ac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432f500dade94ee0" /><Relationship Type="http://schemas.openxmlformats.org/officeDocument/2006/relationships/notesMaster" Target="/ppt/notesMasters/notesMaster1.xml" Id="R66072bc93aad41dd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53592b4da7594ef2" /><Relationship Type="http://schemas.openxmlformats.org/officeDocument/2006/relationships/notesMaster" Target="/ppt/notesMasters/notesMaster1.xml" Id="R3ff4ee8a92074575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77bb40065ec248ee" /><Relationship Type="http://schemas.openxmlformats.org/officeDocument/2006/relationships/notesMaster" Target="/ppt/notesMasters/notesMaster1.xml" Id="R5f4e30b7f64643e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b72bc6c4534942dd" /><Relationship Type="http://schemas.openxmlformats.org/officeDocument/2006/relationships/notesMaster" Target="/ppt/notesMasters/notesMaster1.xml" Id="Rfdc748846d1949c2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9d15cfb99835415c" /><Relationship Type="http://schemas.openxmlformats.org/officeDocument/2006/relationships/notesMaster" Target="/ppt/notesMasters/notesMaster1.xml" Id="Rffcc72abf6d94928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6e6ccd7d93a24d41" /><Relationship Type="http://schemas.openxmlformats.org/officeDocument/2006/relationships/notesMaster" Target="/ppt/notesMasters/notesMaster1.xml" Id="Rb7784711b7964217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dcbadcd431434225" /><Relationship Type="http://schemas.openxmlformats.org/officeDocument/2006/relationships/notesMaster" Target="/ppt/notesMasters/notesMaster1.xml" Id="Rb881d84300f5498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506805ec44c44e69" /><Relationship Type="http://schemas.openxmlformats.org/officeDocument/2006/relationships/notesMaster" Target="/ppt/notesMasters/notesMaster1.xml" Id="R9ed973dd8cc443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1: cover</a:t>
            </a:r>
          </a:p>
          <a:p xmlns:a="http://schemas.openxmlformats.org/drawingml/2006/main">
            <a:r>
              <a:t>*0:15 · к концу 0:15 · 0 билдов*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Название, имя, компания, короткий адрес материалов. Все элементы видны при открытии.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[пауза 2 с, смотрю в зал]</a:t>
            </a:r>
          </a:p>
          <a:p xmlns:a="http://schemas.openxmlformats.org/drawingml/2006/main">
            <a:r>
              <a:t>Я Никита. История основана на реальной задаче; детали упрощены, замеры на тестовых данных. Через один кейс посмотрим на алгоритмы, память и процессор.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(−5 с). После представления модератором: «Спасибо. История упрощена, замеры на тестовых данных». Сразу к дифу.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Не рассказывать защищённую продуктовую историю. Компания «Исходный код» — место работы, не название трека. Модель iPhone: 14 Pro, A16; версию iOS здесь не утверждать.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Материалы доклада: https://github.com/Neoron95/conference-hardfest-algorithms . Кейс обезличен, детали упрощены; эксперименты на тестовых данных.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2: diff</a:t>
            </a:r>
          </a:p>
          <a:p xmlns:a="http://schemas.openxmlformats.org/drawingml/2006/main">
            <a:r>
              <a:t>*0:45 · к концу 1:00 · 2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Диф виден сразу. Билд 1: подпись «Линейно вместо n log n». Билд 2: «Approve». Выходной контракт заранее не раскрывается.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Вторник, семнадцать сорок. На ревью маленький диф. Было: отсортировать массив и убрать повторы. Стало: сложить в хеш-таблицу и выгрузить обратно.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Подпись: «Линейно вместо n log n». Кто потянулся бы к approve? [поднимаю руку, пауза 4 с] Я бы потянулся. [щелчок]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Но такой выбор может дать разные ответы у разработчика, в CI и на телефоне. Разберёмся почему — и вернёмся к этому ревью уже с другими вопросами.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(−15 с). «Сортировку заменили хеш-таблицей: линейно вместо n log n. Кто потянулся бы к approve? Я бы потянулся. Но у разработчика, в CI и на телефоне ответ может отличаться». Обе подписи раскрыть, паузу для руки сохранить.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Публичный разбор упрощён. В дифе нет reserve; в измеряемом варианте он есть. Эта разница проговаривается на contract, без обещания измеренного ускорения варианта без reserve. Ошибка контракта раскрывается на outcontract.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Публичный пример кода. В эксперименте reserve добавлен; производственный результат не заявляется.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3: case</a:t>
            </a:r>
          </a:p>
          <a:p xmlns:a="http://schemas.openxmlformats.org/drawingml/2006/main">
            <a:r>
              <a:t>*0:50 · к концу 1:50 · 3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Локальные id плюс дельта с сервера → уникальные id. Билды: 1 — локальная часть отсортирована и уникальна; 2 — ключ uint64_t; 3 — несрочная работа, .utility как иллюстрация приоритета.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На устройстве есть локальные id записей. С сервера пришла дельта с повторами: ретраи, перекрытия страниц. Нужен массив уникальных id.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Три свойства публичного примера. [щелчок] Локальная часть уже отсортирована и уникальна. [щелчок] Ключ — шестидесятичетырёхбитное число. [щелчок] Работа несрочная, в режиме utility.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Эти детали пока выглядят фоном. Каждая вернётся и изменит решение. В тестовых сериях id случайные; для последовательных чисел расклад может отличаться. Сначала сравним два привычных способа убрать повторы.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(−15 с). «Объединяем локальные id и дельту без повторов. Локальные sorted unique, ключ числовой, работа utility. В сериях случайные id». Три свойства раскрывать по очереди.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Не отождествлять серверные id с SQLite rowid. Условие «локальная часть sorted unique» относится к публичному примеру и обеспечивает корректность будущего set_union. Пример фоновой работы не выдавать за измерение Swift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Самостоятельная упрощённая задача: L sorted unique; D может содержать повторы; числовые id. Отдельные тестовые серии фиксируют другие свойства входа.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4: vote</a:t>
            </a:r>
          </a:p>
          <a:p xmlns:a="http://schemas.openxmlformats.org/drawingml/2006/main">
            <a:r>
              <a:t>*1:10 · к концу 3:00 · 2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Карточки A — sort + unique, B — unordered_set и их оценки сложности видны сразу. Билд 1: log₂10⁶≈20. Билд 2: C — сначала уточнить условия, тестовые условия и вопрос. Никакого вывода о двадцатикратном количестве реальных шагов.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A: sort плюс unique. B: стандартная хеш-таблица. У первого n log n, у второго в среднем n. [щелчок] Логарифм миллиона — примерно двадцать. Но сравнение и вставка — разные действия с разной ценой.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Условия: миллион числовых id, все разные, один поток, порядок результата не важен. Какую реализацию первой отправили бы на замер?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Кто с сортировки? [поднимаю руку, пауза 3 с]</a:t>
            </a:r>
          </a:p>
          <a:p xmlns:a="http://schemas.openxmlformats.org/drawingml/2006/main">
            <a:r>
              <a:t>Кто с хеша? [поднимаю руку, пауза 3 с]</a:t>
            </a:r>
          </a:p>
          <a:p xmlns:a="http://schemas.openxmlformats.org/drawingml/2006/main">
            <a:r>
              <a:t>Кто сначала уточнил бы условие? [поднимаю руку, пауза 3 с]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[если есть рука C: один ответ, не дольше 8 с] Запомните свою букву и вопрос. В конце к ним вернёмся.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(−15 с). Убрать объяснение логарифма и свободный ответ C. Три варианта и паузы для выбора оставить.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Вопрос про первый замер, не экзамен на правильный алгоритм. Не назначать C тем, кто не поднял руку. На карточке у ноутбука отметить преобладающий вариант и один вопрос из зала, если он прозвучал.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Базовая серия: N=U=2^20, случайные uint64_t, порядок результата не важен. O(n) — средняя оценка unordered_set.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5: result</a:t>
            </a:r>
          </a:p>
          <a:p xmlns:a="http://schemas.openxmlformats.org/drawingml/2006/main">
            <a:r>
              <a:t>*1:00 · к концу 4:00 · 3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Нейтральный заголовок «Первый результат». Билд 1: sort + unique — 19,9 нс/элемент. Билд 2: unordered_set — 51,3. Билд 3: крупно ×2,6 и карта четырёх раундов. Коэффициент и карта заранее скрыты.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Условия те же, MacBook на M2 Pro. Полоски — время на элемент, короче лучше.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Сортировка — около двадцати наносекунд. [щелчок] Узловая таблица — около пятидесяти одной. [пауза 2 с] [щелчок] Сортировка быстрее в два и шесть десятых раза. [пауза 2 с]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Линейная оценка осталась. Дороже оказался коэффициент.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Это известный эффект: похожий опыт был у Даниэля Лемира в две тысячи семнадцатом, причины объяснял Чендлер Каррут на CppCon. Я повторил его, чтобы дойти до телефона в фоне.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Дальше четыре раунда: память, реализация, данные и процессор. В последнем код алгоритма останется прежним, а ответ поменяется. Сначала договоримся, что входит в замер.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(−15 с). Не перечислять карту подробно: «Память, реализация, данные и процессор». Атрибуцию и паузу на ×2,6 сохранить.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Это M2 Pro, 1M уникальных случайных uint64_t, полная операция. Другие коэффициенты не обещать другим языкам. «Четыре раунда» — структура истории, не утверждение, что во всех сериях меняется строго одна экспериментальная переменная.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prep/research/apple.md; prep/research/bench.md. Mac M2 Pro, libc++; N=U=2^20. Полная операция. Атрибуция: https://lemire.me/blog/2017/05/23/counting-exactly-the-number-of-distinct-elements-sorted-arrays-vs-hash-sets/ ; Chandler Carruth, CppCon 2014, Efficiency with Algorithms, Performance with Data Structures.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6: contract</a:t>
            </a:r>
          </a:p>
          <a:p xmlns:a="http://schemas.openxmlformats.org/drawingml/2006/main">
            <a:r>
              <a:t>*0:40 · к концу 4:40 · 0 билдов*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Полная операция внутри таймера; свежий вход вне таймера; проверка результата. Все элементы видны сразу.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Сравниваем задачу целиком: получили вход, вернули уникальные id. У таблицы в таймер входят reserve, вставки, выгрузка и уничтожение. Деструктор тоже работает, хотя спрятан за закрывающей скобкой.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Свежая копия входа готовится до таймера. Результат сверяется с эталоном: ни потерянных, ни лишних id. В базовой серии порядок не важен.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Reserve добавлен намеренно: таблице заранее сообщаем размер. Измеряем нормальную реализацию, а не специально неудачный вариант короткого дифа. Дальше условия всегда называем открыто.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(−15 с). «В таймере вся операция, включая выгрузку и деструктор. Копия входа — снаружи. Результат сверяется с эталоном. Reserve добавлен». Без остальных пояснений.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Свежая копия не означает холодный кэш. Полный протокол и проверка — в материалах репозитория. Время варианта из дифа без reserve отдельно не заявлять.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Раунд 1 — размер и память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bench/dedup_bench.cpp и bench/results/summary.md. Копирование входа вне таймера; reserve, insert, output и деструктор внутри; проверка результата вне таймера.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7: curve</a:t>
            </a:r>
          </a:p>
          <a:p xmlns:a="http://schemas.openxmlformats.org/drawingml/2006/main">
            <a:r>
              <a:t>*1:30 · к концу 6:10 · 3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Билд 1: оси и сортировка. Билд 2: узловая таблица. Билд 3: область перегиба и оценки памяти таблицы 12/24 МиБ плюс вход 4/8 МиБ. N от 16 до 4M, половина id уникальны.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Раунд первый: размер и память. Теперь половина id — повторы. Меняем размер от крошечного массива до четырёх миллионов элементов.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По горизонтали число элементов, по вертикали время на один элемент. Ниже — лучше. Линия сортировки растёт плавно: за увеличение входа приходится платить дополнительными сравнениями.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Добавим узловую хеш-таблицу. На средних размерах она держится рядом. А после полумиллиона резко дорожает. Асимптотика не поменялась: таблица по-прежнему в среднем линейная. Откуда тогда ступенька? [пауза 2 с]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Посмотрим на объём данных. При полумиллионе входных id таблица занимает примерно двенадцать мебибайт, при миллионе — двадцать четыре. Плюс сам вход: четыре и восемь. Общий кэш второго уровня у производительных ядер M2 Pro — шестнадцать. Это уже сопоставимый масштаб; таблица конкурирует за него с входом и остальной работой.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Такое объяснение согласуется с кривой; точный вклад промахов здесь не раскладываем. Для решения уже полезно другое: размер входа способен поменять цену одной вставки. Чтобы понять почему, посмотрим, что таблица вообще хранит.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(−20 с). «Таблица и вход уже сопоставимы с ёмкостью кэша; это возможное объяснение перегиба». Не утверждать полное размещение в L2. Оставить условия, обе линии и переход к устройству таблицы.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Рабочий набор — оценка, не RSS. В него входит U узлов, а не N. Входной вектор и другие участники тоже занимают кэш; «ровно помещается» не говорить. Причина перегиба — гипотеза, а сам перегиб наблюдается в серии.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prep/research/apple.md; исходная серия curve, M2 Pro, U/N=0,5. Рабочий набор: таблица примерно12/24 МиБ плюс вход4/8 МиБ на 512K/1M. L2 16 МиБ общий для кластера P. Излом — косвенное свидетельство; резидентность и вклад промахов кэша не измерены напрямую.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8: nodes</a:t>
            </a:r>
          </a:p>
          <a:p xmlns:a="http://schemas.openxmlformats.org/drawingml/2006/main">
            <a:r>
              <a:t>*1:10 · к концу 7:20 · 2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Вектор виден сразу. Билд 1: массив ячеек, узлы и стрелки. Билд 2: отдельная аллокация на ключ, память и уничтожение. Контраст — компактный массив против узловой таблицы.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Слева вектор: ключи рядом, по восемь байт. Sort и unique работают на этом буфере, отдельный узел им не нужен.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Справа стандартная узловая таблица. Массив ячеек хранит указатели. По указателю находим узел: ключ, следующий указатель, служебные данные. Если случилась коллизия, узнаём следующий адрес только после чтения текущего узла.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Каждый новый уникальный ключ требует отдельного выделения памяти. На миллионе разных ключей это примерно миллион вызовов new. Потом — примерно миллион delete. Поэтому «одна вставка» на бумаге скрывает и аллокатор, и служебные байты, и порядок обхода памяти.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Узлы существуют по причине: стандартная таблица сохраняет ссылки на элементы при росте. Это полезная гарантия. Но если мы только собираем временное множество и сразу его выбрасываем, за гарантию всё равно платим. Следующий вопрос — сколько стоит добраться до этих байтов.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(−20 с). Убрать описание полей узла и гарантий стандарта. «Вектор — рядом. Таблица — узлы, new на уникальный ключ, delete в конце, зависимые адреса».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Конкретный размер узла зависит от библиотеки и аллокатора. Ссылки могут пережить rehash, итераторы — нет. Узлы не обязательно физически разбросаны аллокатором; важен порядок обращений и связь адресов. Детальные счётчики аллокаций — backup allocs.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bench/results/summary.md, E6; prep/research/cpp.md. N=U=2^20; счётчики аллокаций и суммы запросов аллокатору отличаются от RSS. Размер узла зависит от стандартной библиотеки.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9: memory</a:t>
            </a:r>
          </a:p>
          <a:p xmlns:a="http://schemas.openxmlformats.org/drawingml/2006/main">
            <a:r>
              <a:t>*1:20 · к концу 8:40 · 2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Формула времени видна сразу. Билд 1: увеличенная анимация двух дорог — независимые и зависимые обращения. Билд 2: вывод «Независимые чтения перекрываются. Зависимые ждут друг друга». Чисел L1/RAM и лестницы на этом слайде нет.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Время зависит и от количества действий, и от цены каждого. Прикинуть его можно как число элементов, действия на элемент и стоимость действия. Big-O описывает рост, машинные коэффициенты остаются за кадром.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Сравним два пути до памяти. Слева адреса известны заранее. Процессор отправляет несколько запросов и занимается другой работой, пока данные приходят. Компактный массив помогает: строка кэша приносит сразу несколько соседних ключей.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Справа адрес следующего узла записан внутри текущего. Дождись чтения, узнай следующий адрес, отправь новый запрос. Представьте маршрут, следующая остановка которого написана только на предыдущей: заранее заказать поездку не получится.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Независимые чтения перекрываются, зависимые ждут друг друга. Два обхода с одинаковым числом промахов могут стоить по-разному: один позволяет перекрыть ожидания, второй заставляет их сложить. Вот почему количество обращений ещё не определяет время. Запомните этот механизм: в последнем раунде посмотрим, что с ожиданиями делает смена процессора.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(−20 с). Убрать аналогию с маршрутом и разбор формулы. Сохранить две дороги, зависимость адресов и возвращение к процессору.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Это механизм, не вычисление коэффициента ×2,6 через деление задержек. Сортировка не состоит исключительно из последовательных чтений. Компактность и предвыборка помогают, но точный вклад каждого фактора здесь не измерен. Кэш-линии Apple и x86 различаются; вывод не требует одинакового размера линии.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Раунд 2 — реализация таблицы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prep/research/apple.md; Ulrich Drepper, What Every Programmer Should Know About Memory, §3.3.2: https://people.freebsd.org/~lstewart/articles/cpumemory.pdf . Иллюстрация зависимости адресов, не измеренная декомпозиция ускорения сортировки.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10: flatmin</a:t>
            </a:r>
          </a:p>
          <a:p xmlns:a="http://schemas.openxmlformats.org/drawingml/2006/main">
            <a:r>
              <a:t>*1:10 · к концу 9:50 · 3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Билд 1: узловая схема. Билд 2: плоский массив ключей и меток, одна аллокация, ссылки не переживают рост. Билд 3: тот же принцип у map в Go ≥ 1.24 и HashMap в Rust.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Раунд второй. Если проблема в узлах, попробуем другую организацию данных.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Слева знакомая таблица: ячейка, указатель, отдельный узел. [щелчок] Справа Swiss Table. Ключи живут в массиве слотов. Рядом короткие метки: пусто или кусочек хеша. По группе меток можно быстро найти кандидатов, не читая каждый полный ключ.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Вся таблица размещается одним выделением памяти. Цена — элементы переезжают при росте, стабильность ссылок исчезает. Для временного множества это может быть хороший обмен. Такая организация известна по докладу Мэтта Кулукундиса на CppCon; здесь используется Abseil.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Это уже привычный принцип для современного map в Go и HashMap в Rust.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Средняя сложность остаётся линейной. Меняется устройство данных, скрытое за интерфейсом. Теперь проверим, что дал этот обмен на нашем входе.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(−20 с). Убрать рассказ о метках. Оставить расположение ключей, одну аллокацию, цену нестабильных ссылок и атрибуцию.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Не обещать одну конкретную ширину SIMD-группы всем архитектурам. Реализация и версия библиотеки имеют значение. На platforms обсуждается перенос метода, здесь только короткий мост Go/Rust.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prep/research/cpp.md §5; Abseil Swiss Tables design: https://abseil.io/about/design/swisstables ; Matt Kulukundis, CppCon 2017. Диаграмма организации таблицы; SIMD-группы зависят от архитектуры.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11: flat</a:t>
            </a:r>
          </a:p>
          <a:p xmlns:a="http://schemas.openxmlformats.org/drawingml/2006/main">
            <a:r>
              <a:t>*1:10 · к концу 11:00 · 3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Нейтральный заголовок «Три реализации, один вход». Билд 1: sort 19,9 и unordered_set 51,3. Билд 2: flat 11,7. Билд 3: крупно ×1,7 для flat против sort и дополнительная строка radix 6,9. Коэффициент до последнего клика скрыт.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Вернёмся к исходным тестовым условиям: миллион уникальных числовых id, M2 Pro. [щелчок] Это знакомые столбцы: сортировка и стандартная узловая таблица.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А вот плоская — около двенадцати наносекунд на элемент. [пауза 1 с] [щелчок] Плоская таблица быстрее сортировки в один и семь десятых раза. [пауза 2 с] Так что у сторонников хеша есть вполне убедительный реванш.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Рядом ещё один кандидат, поразрядная сортировка, radix: около семи. Целый ключ можно обрабатывать по байтам, без сравнений целых ключей между собой. Это второе свойство нашей задачи; за него получаем дополнительный выбор, а платим отдельным буфером.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Слово «хеш-таблица» не предсказывает производительность. Контейнеры с одинаковой средней сложностью дали противоположные ответы на одном входе.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Но у нас в задаче были повторы. Мы только что проверили искусственно чистый случай, где все ключи разные. Теперь вернём это свойство — и ещё раз сделаем ставку.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(−25 с). Radix показать без подробностей: «Числовой ключ допускает ещё и поразрядную сортировку». Не убирать паузу на ×1,7 и переход к повторам.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×1,7 относится к flat против sort на M2 Pro, не ко всем плоским таблицам. Radix на строках требует отдельного разбора. Выключаемый модуль radixmin из modules.md можно вставить после этого слайда, сохранив сюжетный переход к данным.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Раунд 3 — данные и контракт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prep/research/apple.md; Mac M2 Pro, libc++; N=U=2^20:19,9/51,3/11,7/6,9нс/элемент. ×1,7 — flat против sort. Radix — отдельная реализация для uint64_t.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12: share-q</a:t>
            </a:r>
          </a:p>
          <a:p xmlns:a="http://schemas.openxmlformats.org/drawingml/2006/main">
            <a:r>
              <a:t>*0:35 · к концу 11:35 · 2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Билд 1: исходная ставка с уникальными id. Билд 2: тот же миллион, уникальных 1%; два варианта выбора. Ответ не виден.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Раунд третий: данные. [щелчок] В первой ставке все id разные.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Теперь в том же миллионе уникальных один процент. Кто впереди: сортировка или узловая таблица?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Кто за сортировку? [поднимаю руку, пауза 3 с]</a:t>
            </a:r>
          </a:p>
          <a:p xmlns:a="http://schemas.openxmlformats.org/drawingml/2006/main">
            <a:r>
              <a:t>Кто за хеш? [поднимаю руку, пауза 3 с]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Мы поменяли число создаваемых узлов. Посмотрим, как это влияет на результат.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(−5 с). Убрать последний абзац. Условия и паузы голосования оставить.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Голосование сравнивает sort и узловую таблицу. Доля уникальных U/N, не доля повторов. 1% уникальных — 99% повторных элементов.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Доля уникальных относится к тестовым входам; свойства реальных пользователей не заявляются.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13: share</a:t>
            </a:r>
          </a:p>
          <a:p xmlns:a="http://schemas.openxmlformats.org/drawingml/2006/main">
            <a:r>
              <a:t>*1:30 · к концу 13:05 · 2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Билд 1: 1% уникальных, sort 12,0 / хеш 3,2 нс/элемент, хеш ×3,7. Билд 2: 100% уникальных, sort 19,8 / хеш 51,6, sort ×2,6. Два состояния одного размера, без чтения промежуточной кривой.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[щелчок] Хеш. Быстрее сортировки в три и семь десятых раза. [пауза 2 с] Новых узлов теперь десять тысяч, а не миллион. Таблица гораздо меньше, и одни и те же ключи снова попадают в неё.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А здесь у того же миллиона все id разные. Сортировка снова быстрее — примерно в два с половиной раза. Размер входа не поменялся, число создаваемых узлов выросло в сто раз.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Сортировке в любом случае нужно обработать весь миллион. Она тоже чувствительна к повторам, но в этих двух состояниях цена меняется умеренно. А узловая таблица заново выделяет память для каждого уникального значения. При большой доле повторов эта работа почти исчезает; при уникальном входе возвращается полностью.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Никакого парадокса нет: мы поменяли объём реально создаваемой структуры. Вход всё ещё миллион, однако миллион вставок не означает миллион новых узлов.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Поэтому в ревью полезно спросить не только «какое N», но и «сколько разных значений». Следующее условие лежит уже в самом требовании к результату.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(−20 с). «Миллион на входе, десять тысяч узлов; при уникальном входе узлов миллион и преимущество исчезает». Показать оба состояния, сохранить коэффициент и связь с ревью.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Не говорить, что сортировке полностью безразличны дубли. Точный график показывает изменение её стоимости. Коэффициенты принадлежат этой серии, не являются универсальной границей выбора.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Исходная серия доли уникальных, Mac M2 Pro, N=2^20. U/N=1%:sort12,0,unordered3,2;100%:sort19,8,unordered51,6нс/элемент. Reserve(N) фиксирован: при малом U массив бакетов остаётся большим. Полная серия в share-full.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14: outcontract</a:t>
            </a:r>
          </a:p>
          <a:p xmlns:a="http://schemas.openxmlformats.org/drawingml/2006/main">
            <a:r>
              <a:t>*1:40 · к концу 14:45 · 3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Билды: 1 — любой порядок; 2 — отсортированный результат; 3 — порядок первого появления. У каждой строки собственные полные реализации и отношение их времени.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До сих пор мы обещали только множество значений: порядок любой. Но «массив без повторов» может скрывать разные задачи.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Первый контракт: любой порядок. В этой серии подходы близки. [щелчок] Второй: результат отсортирован. Таблица должна дополнительно отсортировать уникальные значения и начинает отставать. Именно здесь вернётся наш диф: прежний код возвращал отсортированный массив, новый молча изменил это свойство.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Третий контракт: сохранить порядок первого появления. Здесь хеш впереди больше чем втрое. Таблица только отвечает, встречался ли id; результат записывается по порядку входа. Сортировке приходится отдельно восстанавливать исходные позиции.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Условие «без повторов» у всех трёх вариантов одинаковое. Но требования к порядку меняют работу, которую надо выполнить, чтобы вернуть обещанный результат.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Это не косметика. Если сравнить первый вариант таблицы с третьим вариантом сортировки, можно получить прекрасный график и неправильный вывод.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 ещё: «любой порядок» должен действительно означать любой. Если следующий этап или снапшот-тест тайком ждёт стабильной последовательности, требование просто живёт в другом месте. Быстрый контейнер не исправит неявный контракт. Сначала договоримся о результате, потом измерим скорость.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(−20 с). Убрать абзац про снапшот-тест. Сохранить три контракта и раскрытие ошибки исходного дифа.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Условия и конкретные реализации — на слайде и в bench.md. Для порядка первого появления не обещать стабильный порядок обхода самой таблицы: выход формируется по входу. На M2 вариант сортировки использует сортировку позиций; битовая маска относится к отдельному x86-опыту.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prep/research/apple.md и cpp.md §9. Mac M2 Pro,N=2^20,U/N=0,5. Первое появление: дляsort пары(ключ,индекс) и вторая сортировка; это конкретный вариант, не нижняя граница дляsort. Порядок обходаset не часть контракта.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15: inputorder</a:t>
            </a:r>
          </a:p>
          <a:p xmlns:a="http://schemas.openxmlformats.org/drawingml/2006/main">
            <a:r>
              <a:t>*1:15 · к концу 16:00 · 3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Билд 1: случайный порядок и серии одинаковых id. Билд 2: отсортированный вход и выигрыш libc++ sort около ×8. Билд 3: libstdc++ так не делает. Ответ на вопрос про отсортированный вход до билда 2 скрыт.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Есть ещё одна форма данных: последовательность тех же самых ключей.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Случайный порядок — знакомая картина. Серии одинаковых значений помогают хешу. Размер и число уникальных прежние, но порядок обращений изменился.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А теперь первое свойство нашего кейса: локальная часть уже отсортирована. Что произойдёт, если на вход сортировке дать полностью отсортированный массив? [пауза 3 с] [щелчок] В этой реализации sort плюс unique обгоняет хеш примерно в восемь раз.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Libc++ умеет замечать благоприятное разбиение и быстро завершать сортировку вставками. [щелчок] Libstdc++ так не делает. Поэтому «вызвали sort» тоже не полное описание опыта: важна реализация этого вызова.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Мы собираем всё более точный вопрос: какие данные, какой результат, какая реализация. И видим работу, которую уже сделали до нас. Чуть позже используем её в решении исходной задачи. Но сначала нужно убедиться, что наши красивые числа вообще заслуживают доверия.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(−20 с). Убрать механизм libc++ и промежуточные случаи описать одной фразой. Отсортированный вход, паузу и переход оставить.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×8 — полностью отсортированный вход в конкретной libc++-серии. Локальная часть публичной задачи — лишь часть объединённого входа; её свойство будет использовано в merge. Не переносить ×8 на libstdc++.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prep/research/apple.md; bench/results/summary.md,E4. Mac M2 Pro,libc++;N=2^20,U/N=0,5. Перестановки одинаковых ключей и кратностей. Эвристика std::sort зависит от библиотеки; коэффициент не универсален.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16: learned</a:t>
            </a:r>
          </a:p>
          <a:p xmlns:a="http://schemas.openxmlformats.org/drawingml/2006/main">
            <a:r>
              <a:t>*2:00 · к концу 18:00 · 2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Билд 1: macOS/M2 Pro, sort, 1024 id — один вход 6,8 против 64 разных 14,4 нс/элемент. Билд 2: x86-контроль одинаковых копий и вывод. M2 Linux VM обсуждается устно; его качественный контроль виден только в модуле learned-table. Окружения явно разделены.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Здесь я сам наступил на грабли. Первая версия бенчмарка проходила проверку результата и показывала повторяемые цифры. Повторяемые — ещё не значит пригодные для нашего вопроса.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На macOS маленькая сортировка одного и того же массива давала примерно семь наносекунд на элемент. С шестьюдесятью четырьмя разными входами — четырнадцать. Вдвое дороже. Вход перед запуском восстанавливался: это не случай, когда второй раз сортируют уже отсортированное. Здесь меняется повторяемость исходных значений между запусками. Код сортировки не поменялся; поменялось то, что она получала между повторами.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Возникла гипотеза: процессор успевает привыкнуть к последовательности ветвлений. Как отличить её от эффекта ближайшего кэша? Если важна история ветвлений, одинаковое содержимое по разным адресам должно сохранить быстрый результат. Если важны адреса и размещение, копии могут оказаться дороже. Эти две причины внешне выглядят одинаково: повторяемый вход очень быстрый.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Для контроля взяли одинаковые копии: содержимое повторяется, адреса различаются. На x86 быстрый результат сохранился — история входов действительно влияет.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Контроль на M2 выполнялся уже в Linux-виртуалке и повёл себя иначе. Там адресная раскладка и кэш остаются рабочими гипотезами. Эти окружения нельзя склеить в одно доказательство механизма.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Для практики вывод простой: проверяйте, какой вопрос задаёт ваш цикл повторов. Одни и те же горячие данные — полноценный сценарий, если так живёт продукт. Но его нельзя молча выдать за множество разных входов. Теперь секундомер проверен; перейдём к переменной, которой в алгоритме нет.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(−40 с). Оставить наблюдение 6,8 → 14,4 и вывод о повторяемых входах. Билд контроля показать молча, объяснить одной фразой: «Механизм зависит и от окружения; подробный контроль в материалах».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Числа 6,8/14,4 относятся к macOS. Не объявлять причиной именно предсказатель на всех машинах. Полная таблица окружений — learned-table; модуль в modules.md. Не выдумывать число потерянных дней.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Раунд 4 — среда исполнения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bench/results/summary.md,E5; prep/research/apple.md. M2 native macOS6,8/14,4 — наблюдение; контроль с одинаковыми копиями на M2 выполнен в Linux VM. Нельзя считать его контролем нативной macOS. На x86 контрольE5 дополнен одним буфером 8 КиБ. Гипотезы не приписываются чипу как установленная причина.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17: qos</a:t>
            </a:r>
          </a:p>
          <a:p xmlns:a="http://schemas.openxmlformats.org/drawingml/2006/main">
            <a:r>
              <a:t>*1:50 · к концу 19:50 · 3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API pthread_set_qos_class_self_np и условия 512K, U=N/2 видны сразу. Билд 1: Mac/iPhone userInitiated и Mac utility — близкие результаты. Билд 2: iPhone utility, sort 55,3 / хеш 105,3, около ×1,9. Билд 3: Mac 1M, преимущество sort выросло ×1,3 → ×1,8.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Раунд четвёртый. До сих пор мы выбирали данные и реализацию. Теперь код алгоритма и входы остаются прежними.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Возвращается третье свойство: несрочная работа. В бенчмарке я выставляю QoS самому потоку — вот этот API. Для несрочной работы используется utility. А конкретное исполнение по-прежнему выбирает планировщик.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Возьмём полмиллиона id, половина — уникальные. [щелчок] На Mac при высоком приоритете близко. На iPhone при высоком приоритете тоже близко: хеш немного впереди. На Mac в utility опять близко.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А вот iPhone в utility: сортировка около пятидесяти пяти наносекунд, хеш — около ста пяти. [пауза 2 с] Лидер поменялся. Сортировка теперь быстрее почти вдвое.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Мы не заменяли контейнер, не перемешивали вход, не добавляли потоки. Поменяли режим исполнения. И он повлиял на два алгоритма по-разному.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На большом входе сдвиг заметен и у Mac: преимущество сортировки тоже выросло. Вся история не сводится к одному правилу для utility. Но на телефоне эффект особенно нагляден. Посмотрим на следующий размер, а затем разберём, что могло произойти с процессором.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(−20 с). Не читать три близкие клетки по отдельности. «Три близких результата — и вот iPhone в utility». Условия, измеренный QoS и смену лидера на 512K сохранить.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512K iPhone userInitiated: sort 19,6, хеш 18,2; utility: 55,3 и 105,3. Здесь действительно меняется лидер. API: pthread_set_qos_class_self_np; не утверждать измеренный путь Swift Task. SE-0304: приоритет — предпочтение; ожидание результата может повысить приоритет. Mac на 1M: изменение разрыва ×1,3 → ×1,8 не доказывает смену типа ядра.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prep/research/apple.md §5–6. API pthread_set_qos_class_self_np; N=2^19,U/N=0,5. iPhone 14 Pro,A16 Bionic. ВысокийQoS19,6/18,2;utility55,3/105,3нс/элемент: смена лидера на 512K. Mac M2 Pro при 1M: изменения разрыва×1,3/×1,8. SwiftTask не измерялся. SE-0304: https://github.com/swiftlang/swift-evolution/blob/main/proposals/0304-structured-concurrency.md . Task может наследовать actor isolation; await может повысить приоритет.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18: x33</a:t>
            </a:r>
          </a:p>
          <a:p xmlns:a="http://schemas.openxmlformats.org/drawingml/2006/main">
            <a:r>
              <a:t>*0:50 · к концу 20:40 · 2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Статичный результат iPhone 14 Pro, A16, utility, N=1M, U=N/2. Билд 1: sort 57,4 и unordered_set 187,7 нс/элемент. Билд 2: ×3,3. Без видеоплейсхолдера и имитации живого прогона.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Тот же iPhone четырнадцать Pro, теперь миллион id. Это готовая тестовая серия в utility. [щелчок] Сортировка — около пятидесяти семи наносекунд на элемент. Узловая таблица — около ста восьмидесяти восьми.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Разница в три и три десятых раза. [пауза 3 с, смотрю в зал]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Смена лидера была показана на предыдущем размере. Здесь другой вывод: на большом входе цена выбранной реализации разошлась ещё сильнее.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Одна и та же средняя сложность таблицы ничего не сообщила об этом разрыве. Нужно понять, какое железо фактически получило нашу работу. На современном телефоне ответ может оказаться менее очевидным, чем название чипа.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(−10 с). Не читать абсолютные значения вслух. Оставить готовую серию, условия, коэффициент и переход к устройству процессора.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57,4/187,7 нс/элемент, N=2^20. Нет готового видео и парной 1M-серии переднего плана в этой сцене. Не говорить «переключаю», «сейчас запущу», «на миллионе сменился победитель». Смена лидера установлена на qos, 512K.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Исходная серия iPhone 14 Pro,A16 Bionic,pthreadQoS utility,N=2^20,U/N=0,5. sort57,4/uset187,7нс/элемент;187,7/57,4=3,27≈3,3. Парная серия другогоQoS на 1M здесь не заявлена. Модель: https://support.apple.com/en-my/111849 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19: core-model</a:t>
            </a:r>
          </a:p>
          <a:p xmlns:a="http://schemas.openxmlformats.org/drawingml/2006/main">
            <a:r>
              <a:t>*1:00 · к концу 21:40 · 2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Билд 1: P — производительные и E — энергоэффективные ядра, свой кэш и своя частота. Билд 2: частота влияет на высоту кривой, размер кэша — на положение излома. Это концептуальная схема, не новые измерения.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Когда мы говорим «мой процессор», легко представить одинаковые ядра, которым просто выставляют разную частоту. [щелчок] У Apple Silicon есть производительные P-ядра и энергоэффективные E-ядра. У них разные ресурсы и размеры кэшей. Это два способа выполнить одну инструкцию внутри одного устройства.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Какой работе достанется какое ядро, решает планировщик. Приоритет сообщает намерение, но не закрепляет работу за 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Различие можно искать в задержках памяти. Частота влияет на время чтения — высоту линии. Размер кэша влияет на объём, после которого появится излом. Это разные признаки. Алгоритмы чувствительны к ним по-разному; одного слова «utility» ещё мало для объяснения.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Теперь задача расследования: как проверить предположение про ядра, если мы не можем просто приколоть поток к выбранному ядру?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(−15 с). «P и E — разные ядра, с разными ресурсами и кэшами. Приоритет сообщает намерение планировщику. Проверим предположение по памяти». Без остального пояснения.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Не называть E «медленным P». Не распространять конкретное назначение utility на все устройства. Схема объясняет модель; новые результаты здесь не заявляются.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Объясняющая схема. Размеркэша может сдвигать границу; частота особенно влияет на высоту внутриL1/L2, дляDRAM простая пропорция неприменима. P/E-модельiPhone 14 Pro: https://support.apple.com/en-my/111849 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20: cores</a:t>
            </a:r>
          </a:p>
          <a:p xmlns:a="http://schemas.openxmlformats.org/drawingml/2006/main">
            <a:r>
              <a:t>*2:40 · к концу 24:20 · 3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Билд 1: крупная панель iPhone 14 Pro/A16, userInitiated и background. Билд 2: utility и вывод о косвенном признаке. Билд 3: меньшая панель Mac M2 Pro, userInitiated/background. Без неподтверждённых размеров кэша A16.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Можно спросить у памяти. Есть простой отдельный опыт: каждое чтение сообщает адрес следующего. Обращения вынуждены ждать друг друга, а объём памяти, по которому ходим, постепенно увеличивается.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Это лестница задержек памяти; метод описывал Ульрих Дреппер. Сначала iPhone. По горизонтали объём памяти, по которому идёт цепочка. По вертикали время одного зависимого чтения.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Пока набор небольшой, большинство обращений обслуживается ближайшим кэшем. Увеличиваем набор: в какой-то момент этой ёмкости не хватает, чтения становятся дороже. Ступеньки показывают масштаб памяти, доступной именно этой нагрузке. При высоком QoS userInitiated границы одни, при background — другие. Они согласуются с разными размерами кэшей P- и E-ядер.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Важно отличить размер кэша от частоты. Если ядро замедлить, чтение станет дороже, линия поднимется. Но граница, на которой данные перестали помещаться в кэш, от одной частоты не переедет.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Добавим utility. Смотрим не только на высоту линии, а на положение изломов. Utility ведёт себя ближе к background, чем к высокому QoS. Это косвенный признак другого типа ядра в данном опыте. [пауза 2 с]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Справа контрольная картина на Mac: у высокого и фонового QoS тоже разные изломы. Это отдельная нагрузка на память, не трасса самого дедупа. Причина его коэффициента остаётся объяснением, которое согласуется с наблюдениями.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Однако картина понятна: обе реализации замедлились, а узловая таблица потеряла больше. Ей особенно важно, помещается ли рабочий набор и сколько стоят зависимые ожидания. Называть устройство недостаточно; нужно назвать ещё режим, в котором достался процессор. Теперь соберём ответы трёх машин.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(−35 с). Убрать подробный метод и Mac рассказать одним предложением. Сохранить отличие высоты от границы, iPhone и статус косвенного наблюдения.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Pointer-chasing — отдельная нагрузка, не трассировка дедупа. Модель телефона известна; iOS и размеры кэшей по самому устройству не подставлять по памяти. На Mac нет utility-лестницы в текущих данных; не обещать её. Utility-линия содержит измеренные особенности, не дорисовывать совпадение с background.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prep/research/apple.md §1–2; методDrepper. Отдельный pointer-chasing тест. Изломы — косвенный признак типа ядра, не CPU-трасса дедупа. userInitiated не равно foreground приложения. Версия iOS и размеры кэшей телефона не подставлены. iPhone utility содержит фактические особенности исходной линии.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21: flip</a:t>
            </a:r>
          </a:p>
          <a:p xmlns:a="http://schemas.openxmlformats.org/drawingml/2006/main">
            <a:r>
              <a:t>*1:40 · к концу 26:00 · 3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Билд 1: x86 и iPhone utility на 256K/1M. Билд 2: промежуточные 64K/512K. Билд 3: Mac разработчика и вывод про CI. Победитель и коэффициенты относятся к собственным строкам, без единой мнимой шкалы скорости машин.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Вот почему исходный диф может получить три ответа. Один бенчмарк, одинаковые тестовые входы, разные окружения.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Сначала два размера: двести пятьдесят шесть тысяч и миллион. На x86 с Linux узловая таблица впереди на меньшем, на миллионе близко. А на iPhone в utility в обоих случаях впереди сортировка; на миллионе разрыв уже видели.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Промежуточные размеры подтверждают, что рейтинг зависит от среды. На x86 таблица сохраняет преимущество, на iPhone сортировка получает его с ростом входа.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А здесь Mac разработчика: на средних размерах близко, большой вход помогает сортировке. Одного универсального ответа у этой таблицы нет.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Ни одна машина не обязана подтвердить ответ другой. Отличаются кэши, стандартная библиотека, планировщик, режим выполнения. Перф-тест в CI полезен: он ловит изменения в контролируемом окружении. Но автоматически переносить его рейтинг алгоритмов на пользователя нельзя.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CI не врёт. Он честно отвечает про свою машину. [пауза 2 с]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Это относится и к серверу: разработчик, раннер и прод могут получить разное железо. А теперь вернёмся к нашей публичной задаче. Что с этим знанием действительно стоит выбирать?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(−20 с). Показать три колонки без чтения размеров. «x86 за хеш на средних N; Mac близко; iPhone utility за sort. CI отвечает про себя».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x86 — среда «как CI», не утверждение о конкретном настоящем CI-раннере. Для 1M не выдавать первоначальные проценты за устойчивый выигрыш, повтор дал близкие времена. Виртуальные hosted-раннеры не заменяют физический iPhone и его планировщик; конкретные ограничения зависят от конфигурации.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 Практическая развязка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bench/results/summary.md,E2 и E2b; prep/research/apple.md. x86/Linux/libstdc++: повтор1,64/1,29/1,12/≈1,02(sort/uset) на 64K/256K/512K/1M. M2, libc++ и iPhone utility — исходные серии. Таблица рейтингов внутри машин, не общей скорости платформ.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22: merge</a:t>
            </a:r>
          </a:p>
          <a:p xmlns:a="http://schemas.openxmlformats.org/drawingml/2006/main">
            <a:r>
              <a:t>*1:20 · к концу 27:20 · 2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Локальная часть sorted unique. Билд 1: sort дельты → unique дельты → set_union. Билд 2: x86 ×3,5–6,6 относительно sort всего входа плюс unique; iPhone не измерялся.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Все раунды уточняли выбор между готовыми реализациями. Но у задачи есть свойство, которое важнее этого турнира: локальные id уже отсортированы и уникальны.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Их можно вообще не пересортировывать. Отсортировать только дельту, убрать в ней повторы, затем пройти двумя указателями по двум отсортированным последовательностям и собрать объединение. Каждый раз выбираем меньший id, равные выдаём один раз.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Шаг unique по дельте нужен обязательно: set_union сам по себе не превращает каждую входную последовательность в множество. В публичном примере локальная часть уже уникальна, дельту приводим к тому же условию.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На x86 такой подход в наших конфигурациях быстрее полной сортировки минимум в три с половиной раза; диапазон на экране связан с библиотекой и вариантом реализации. На iPhone эту серию не снимали.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Для публичной задачи я начал бы именно с этого решения: оно использует известную структуру входа и не требует новой контейнерной библиотеки. Хеш и radix останутся кандидатами для других условий. Мы перестали искать один универсальный победитель и нашли способ не выполнять лишнюю работу.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(−20 с). Код показать молча, рецепт прочитать одной фразой. Сохранить unique по дельте, исходный контракт и платформу коэффициента.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Рецепт: sort(D), D.erase(unique(D), D.end()), set_union(L,D,out); L sorted unique. Если L содержит повторы, это отдельный контракт и потребуется дедуп L. Коэффициенты x86 3,5–6,6 не переносить на iPhone.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bench/results/summary.md,E8; bench/dedup_bench.cpp. L=2^20sorted unique,D=2^16,U/N delta=0,5. Δ sort+unique перед set_union. ×3,5–6,6 — разные библиотечные связки x86, не серия наiPhone.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23: prod</a:t>
            </a:r>
          </a:p>
          <a:p xmlns:a="http://schemas.openxmlformats.org/drawingml/2006/main">
            <a:r>
              <a:t>*1:00 · к концу 28:20 · 2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Нейтральная лабораторная рамка. Билд 1: 512K, iPhone utility — примерно 29/55 мс, разница +26 мс и около +12 МиБ дополнительной памяти таблицы. Билд 2: следующий шаг публичной задачи — слияние; этап не вся синхронизация.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Переведём наносекунды в стоимость этапа. [щелчок] На полумиллионе id сортировка на этом iPhone в utility занимает около двадцати девяти миллисекунд, узловая таблица — пятьдесят пять.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Разница — двадцать шесть миллисекунд на один дедуп. Плюс примерно двенадцать мебибайт дополнительной памяти таблицы. Это лабораторная цена этапа на конкретном входе.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Для публичной задачи следующий шаг — слияние локальной части с подготовленной дельтой. Сначала используем знание о данных, затем сравниваем кандидатов в целевом режиме.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Получилось два результата: увидели, когда дорожает таблица, и нашли подходящее решение нашей задачи. Теперь заберём этот маршрут в свой стек.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(−20 с). «На 512K лабораторная разница +26 мс и около +12 МиБ. Для публичной задачи начал бы со слияния. Это цена дедупа, не всей синхронизации». Без остальных примеров.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Мс считаются из нс/элемент и N=2^19. Память — оценка дополнительной структуры, не измеренный RSS всего процесса. Время не равно энергии. Никакого реального выката или прод-процентов здесь не заявляется.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Лабораторная оценка из qos/x33:55,3×2^19≈29мс;105,3×2^19≈55мс;57,4×2^20≈60мс;187,7×2^20≈197мс. +12 МиБ — оценка структуры таблицы, не измеренный RSS. Не вся синхронизация и не продуктовый выкат.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24: platforms</a:t>
            </a:r>
          </a:p>
          <a:p xmlns:a="http://schemas.openxmlformats.org/drawingml/2006/main">
            <a:r>
              <a:t>*0:55 · к концу 29:15 · 2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Билд 1: бэкенд — целевые CPU/библиотека; мобильное — реальный executor/QoS. Билд 2: конкретная реализация контейнера в своём языке. Без чужих числовых коэффициентов.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Если вы не пишете на C++, маршрут расследования тот же.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На сервере это x86 в CI и ARM в проде, другая библиотека или соседняя нагрузка. На телефоне — разные режимы и исполнители. Назовите среду, где действительно живёт этап.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Затем реализацию контейнера. В Java HashSet с числами добавляет объекты и аллокации. Современный map в Go и HashMap в Rust устроены плоско. У Swift и Python своя цена ключа и хеширования.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Множители не переносятся автоматически. Переносятся вопросы: данные, результат, реализация, окружение. Вернёмся к дифу и применим их.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(−20 с). Не перечислять языки вслух. «Контейнеры и хешеры разные, множители не переносятся. Переносятся четыре вопроса». К ревью.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Go Swiss tables — с 1.24; Rust HashMap через hashbrown. Конкретный хешер и библиотека влияют на числа. Swift Set и Python set — открытая адресация, их нельзя назвать узловыми аналогами unordered_set. Детали — модуль nb-lang в modules.md.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Применение метода, без новых измерений. prep/research/beyond.md; SE-0304. Контейнеры, actor isolation, executor и QoS различаются. CPU в CI не обязан повторять целевую платформу.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25: review</a:t>
            </a:r>
          </a:p>
          <a:p xmlns:a="http://schemas.openxmlformats.org/drawingml/2006/main">
            <a:r>
              <a:t>*1:45 · к концу 31:00 · 4 билда*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Диф виден сразу. Билд 1: Changes requested. Билды 2–4: контракт, данные, среда исполнения. Никакого автоматического счёта победителей голосования.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Снова вторник, семнадцать сорок. Тот же диф. Посмотрите на него ещё раз и за пять секунд сформулируйте один комментарий, который оставили бы коллеге. [пауза 5 с, смотрю в зал]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Я бы сначала попросил уточнения. Фраза «стало линейно» ещё не отвечает на вопрос задачи.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Первое: контракт. Выход раньше был отсортирован. Теперь это порядок обхода таблицы. Кто использует прежнее свойство и что ему на самом деле нужно?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Второе: данные. Какие размеры и повторы? Локальные уже отсортированы — можем ли мы отсортировать только дельту и слить?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Третье: где исполняется. На каком железе и в каком режиме получили замер? Соответствует ли он месту, где будет жить этот этап?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Вспомните свою первую букву. У сортировки появились конкретные условия, у хеша — тоже. А вопрос из варианта C получил содержание: эти три уточнения. Эти ответы можно приложить к перф-изменению в описании PR. Следующий человек сможет повторить замер и понять, к каким входам и среде относился вывод. Хорошее ревью не обязано сразу угадать победителя. Оно помогает поставить опыт, из которого действительно получится решение.</a:t>
            </a:r>
          </a:p>
          <a:p xmlns:a="http://schemas.openxmlformats.org/drawingml/2006/main">
            <a:r>
              <a:t>[→ следующий слайд]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(−20 с). После пяти секунд сразу три вопроса, без вступительного комментария и возвращения к буквам. Паузу на самостоятельное применение сохранить.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Можно коротко вернуть конкретный вопрос из первого голосования, если он действительно прозвучал. Не выдумывать большинство или реакцию зала. Если обратный диалог затянулся раньше, здесь не брать новый открытый ответ.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Возврат к исходному публичному дифу. Пауза 5 секунд на собственный комментарий. Выводы привязаны к контракту, данным и окружению.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26: final</a:t>
            </a:r>
          </a:p>
          <a:p xmlns:a="http://schemas.openxmlformats.org/drawingml/2006/main">
            <a:r>
              <a:t>*1:00 · к концу 32:00 · 1 билд*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</a:t>
            </a:r>
          </a:p>
          <a:p xmlns:a="http://schemas.openxmlformats.org/drawingml/2006/main">
            <a:r>
              <a:t>Материалы и QR видны сразу. Билд 1: «Ваш алгоритм не выбирал процессор. Проверьте, какой ему достался». Без счёта и перечня четырёх коэффициентов.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Бенчмарк, код и данные доступны по QR.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После конференции откройте один свой перф-тест. Посмотрите, какой вход он повторяет и где бежит. На телефоне — тот ли режим? На сервере — то ли окружение? Если ответ отличается от реальной задачи, вы уже знаете, что проверить первым.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[щелчок] [пауза 2 с]</a:t>
            </a:r>
          </a:p>
          <a:p xmlns:a="http://schemas.openxmlformats.org/drawingml/2006/main">
            <a:r>
              <a:t>Ваш алгоритм не выбирал процессор. Проверьте, какой ему достался. [пауза 2 с] Спасибо!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отстаю (−10 с). «Материалы по QR. Откройте свой перф-тест и проверьте его вход и окружение». Финальная фраза и паузы остаются.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</a:t>
            </a:r>
          </a:p>
          <a:p xmlns:a="http://schemas.openxmlformats.org/drawingml/2006/main">
            <a:r>
              <a:t>Финальный кадр остаётся на экране на время вопросов. Не открывать отдельный «Вопросы?» и не пролистывать автоматически в backup. QR ведёт к публичному репозиторию и материалам.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условия.</a:t>
            </a:r>
          </a:p>
          <a:p xmlns:a="http://schemas.openxmlformats.org/drawingml/2006/main">
            <a:r>
              <a:t>QR: https://github.com/Neoron95/conference-hardfest-algorithms 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 · без шагов. Слайды после этого — запас для вопросов, в основной хронометраж не входят. Номер на экране → слайд → вопросы из qa.md:</a:t>
            </a:r>
          </a:p>
          <a:p xmlns:a="http://schemas.openxmlformats.org/drawingml/2006/main">
            <a:r>
              <a:t>1 nb-where — «Какой iPhone? Где мерили? У нас CI на Mac-раннерах» (M1, M10, V7, P8) · 2 nb-kernel — «В XNU написано обратное» (I1, I9, H16) · 3 nb-dense — «rowid плотные, а мерили случайные» (M5, C8) · 4 nb-merge — «Почему не слить дельту?» (X1, C5, C10) · 5 nb-lang — «А в Java, Go, Rust, Swift, Python?» (B1–B3, B9, S1, X12) · 6 learned-table — «Почему на M2 не предсказатель?» (H15, H17) · 7 qos-bg — «Почему utility, а не background?» (I4, H13) · 8 systems — точка перехода на четырёх системах · 9 drift — две минуты под нагрузкой · 10 stdlib — libstdc++ против libc++ · 11 cachecost — рабочий набор против L2 · 12 sortmin, 13 hashtable, 14 radixmin — устройство алгоритмов за минуту · 15 reserve — «Почему reserve(N), а не под U?» (C12) · 16 checklist — восемь проверок честного замера · 17 sums — из чего складывается работа.</a:t>
            </a:r>
          </a:p>
          <a:p xmlns:a="http://schemas.openxmlformats.org/drawingml/2006/main">
            <a:r>
              <a:t>Схема любого ответа: сразу признать верное → точная формулировка → вывод держится → мостик: «на каком железе и в каком приоритете мерили».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нет, всё на экране сразу.</a:t>
            </a:r>
          </a:p>
          <a:p xmlns:a="http://schemas.openxmlformats.org/drawingml/2006/main">
            <a:r>
              <a:t>Условия и источники (были в подвале слайда): Сырые данные, харнесс и условия замеров — github.com/Neoron95/conference-hardfest-algorithms · архив (скрыт): twoways, bigo, questions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Модуль radixmin</a:t>
            </a:r>
          </a:p>
          <a:p xmlns:a="http://schemas.openxmlformats.org/drawingml/2006/main">
            <a:r>
              <a:t>Длительность: 1:10. Место: после flat, перед share-q; либо ответ на «Почему не radix?».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Вход. «Перед следующей ставкой разберём кандидата, которого разрешило устройство нашего ключа».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 Существующая схема radix: короткие шестнадцатеричные числа и проходы по полубайтам.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Поразрядная сортировка раскладывает элементы по одной части ключа. Здесь младший полубайт, затем старший. Важное условие: внутри группы сохраняется порядок предыдущего прохода. Уже разобранные младшие части остаются упорядочены, когда переходим к старшим.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 измеренной реализации шестидесятичетырёхбитный ключ обрабатывается восемью проходами по байтам. Вместо дерева сравнений получаем фиксированные проходы, счётчики и копирование. Цена — дополнительный буфер размером со вход.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Числовой ключ дал нам эту возможность. Но короткий массив, ограничение памяти или другой тип ключа могут изменить выбор. Одного названия radix тоже недостаточно.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Выход. «Вернёмся к дельте. Следующая ставка — как на знакомый выбор влияют повторы».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пропускаю. Переход flat → share-q из основного сценария самодостаточен.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 На схеме учебные полубайты, в бенчмарке байты. «Без сравнений ключей» не означает отсутствие вычислений. Варианты radix для строк здесь не разбираются.</a:t>
            </a:r>
          </a:p>
          <a:p xmlns:a="http://schemas.openxmlformats.org/drawingml/2006/main">
            <a:r>
              <a:t>Источники: prep/research/bench.md; cpp.md; apple.md; beyond.md; bench/results/summary.md.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Модуль learned-table</a:t>
            </a:r>
          </a:p>
          <a:p xmlns:a="http://schemas.openxmlformats.org/drawingml/2006/main">
            <a:r>
              <a:t>Длительность: 1:15. Место: после learned, перед qos; либо ответ о повторяемости бенчмарка.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Вход. «Вот два отдельных опыта, которые помогают сузить объяснение».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 Слева x86/Linux: один восстановленный вход 9,7; 64 одинаковые копии 9,6; 64 разных массива 46,9; разные входы через один буфер 8 КиБ — 46,8 нс/элемент. Справа отдельно: macOS/M2 — 6,8/14,4; качественный контроль M2/Linux VM — одинаковые копии тоже медленнее одного восстановленного массива.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Слева x86. Один восстановленный вход и одинаковые копии — около десяти наносекунд. Разные входы — около сорока семи.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Но могло ли дело быть в адресах? В четвёртой строке разные значения проходят через один буфер. Адреса одинаковые, результат всё равно дорогой. Повторяемость содержимого здесь влияет сильнее, чем смена буфера.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Справа другой процессор. Нативная macOS показывает знакомое удорожание на разных входах. Отдельный контроль в Linux-виртуалке: одинаковые копии тоже медленнее одного восстановленного массива. Причина для M2 остаётся гипотезой.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Эти опыты помогают разделить возможные объяснения. При этом мы сохраняем границу между окружениями и не склеиваем их в одно доказательство.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Выход. «Теперь входы фиксируем. Следующая переменная — режим исполнения самого потока».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пропускаю. Последний абзац learned уже переводит к qos.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 Четыре x86-строки — данные текущей контрольной серии. Числа macOS — отдельное наблюдение; VM-контроль качественный. Не сравнивать абсолютные времена разных библиотек как чистый эффект ОС. Аппаратная причина для M2 не установлена этой таблицей.</a:t>
            </a:r>
          </a:p>
          <a:p xmlns:a="http://schemas.openxmlformats.org/drawingml/2006/main">
            <a:r>
              <a:t>Источники: prep/research/bench.md; cpp.md; apple.md; beyond.md; bench/results/summary.md.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Модуль nb-lang</a:t>
            </a:r>
          </a:p>
          <a:p xmlns:a="http://schemas.openxmlformats.org/drawingml/2006/main">
            <a:r>
              <a:t>Длительность: 1:10. Место: после platforms, перед review; либо ответ о конкретном языке.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Вход. «Вот несколько разных способов хранить одно множество».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 экране. Существующая классификация контейнеров: узлы, открытая адресация, цепочки в массивах. Это устройство реализаций, не сравнительный бенчмарк языков.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Говорю.</a:t>
            </a:r>
          </a:p>
          <a:p xmlns:a="http://schemas.openxmlformats.org/drawingml/2006/main">
            <a:r>
              <a:t>У C++ unordered_set и Java HashSet есть отдельные узлы. В Java числовой ключ Long может добавить объект. Go с версии один двадцать четыре и Rust HashMap используют плоскую организацию.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У Swift и Python открытая адресация, но свои хешеры и представление значений. Число в Python обычно является объектом. В C# цепочки хранятся в массивах: слово «цепочка» ещё не означает отдельную аллокацию на ключ.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Это даёт кандидатов для проверки, а не готовые коэффициенты. Сначала узнаём устройство своего контейнера. Затем ставим вопрос к своим данным и среде. Название set — лишь начало разговора.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Выход. «Представьте тот же диф в вашем языке. Какой комментарий оставили бы коллеге?»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пропускаю. Переход platforms → review остаётся из основного сценария.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 рукой. Конкретные типы, версии и оптимизации влияют на боксинг и аллокации. Не говорить «два объекта всегда». Swift/Python не считать узловыми таблицами. Здесь нет измеренных коэффициентов GC или иных хешеров.</a:t>
            </a:r>
          </a:p>
          <a:p xmlns:a="http://schemas.openxmlformats.org/drawingml/2006/main">
            <a:r>
              <a:t>Источники: prep/research/bench.md; cpp.md; apple.md; beyond.md; bench/results/summary.md.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Последний счёт раунда: вызовы new. Вопрос вам, про себя: сколько раз unordered_set позовёт аллокатор на миллионе ключей? Ноль, тысячу или миллион? [пауза 3 с]</a:t>
            </a:r>
          </a:p>
          <a:p xmlns:a="http://schemas.openxmlformats.org/drawingml/2006/main">
            <a:r>
              <a:t>[щелчок] Сортировка: ноль, работает на месте.</a:t>
            </a:r>
          </a:p>
          <a:p xmlns:a="http://schemas.openxmlformats.org/drawingml/2006/main">
            <a:r>
              <a:t>[щелчок] Хеш-таблица: миллион. Узел на каждый ключ, плюс массив ячеек. С округлением это около сорока мегабайт. Расширению уведомлений на iPhone дают около двадцати четырёх, дальше его убивают — как OOM-killer на сервере. И платят за узлы дважды: миллион delete прячется за закрывающей фигурной скобкой.</a:t>
            </a:r>
          </a:p>
          <a:p xmlns:a="http://schemas.openxmlformats.org/drawingml/2006/main">
            <a:r>
              <a:t>[щелчок] Плоская таблица, о ней через минуту: один new на всё.</a:t>
            </a:r>
          </a:p>
          <a:p xmlns:a="http://schemas.openxmlformats.org/drawingml/2006/main">
            <a:r>
              <a:t>[пауза] Итог раунда: шагов у хеша меньше, но каждый — аллокация и прыжок по куче. Значит, уберём узлы.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Тайминг: 0:50, к концу 9:00.</a:t>
            </a:r>
          </a:p>
          <a:p xmlns:a="http://schemas.openxmlformats.org/drawingml/2006/main">
            <a:r>
              <a:t>Щелчки: 1 — sort + unique, 0, работает на месте; 2 — unordered_set, ≈1 млн, ≈42 МБ памяти+ миллион delete; 3 — flat_hash_set, 1, одна таблица на всё.</a:t>
            </a:r>
          </a:p>
          <a:p xmlns:a="http://schemas.openxmlformats.org/drawingml/2006/main">
            <a:r>
              <a:t>Если отстаю (−20 с): Вопрос риторический, без паузы; выбросить расширение уведомлений и x86. Оставить: ноль / миллион / один и «миллион delete за закрывающей скобкой».</a:t>
            </a:r>
          </a:p>
          <a:p xmlns:a="http://schemas.openxmlformats.org/drawingml/2006/main">
            <a:r>
              <a:t>Под рукой:</a:t>
            </a:r>
          </a:p>
          <a:p xmlns:a="http://schemas.openxmlformats.org/drawingml/2006/main">
            <a:r>
              <a:t>— 1 048 577 вызовов = 2^20 узлов + массив ячеек; 33 554 432 Б запрошено (cpp.md §2.3). У Apple 24 → 32 Б, заголовка нет (apple.md §3.1, §3.4). Разбросаны не адреса — аллокатор раздаёт их почти подряд, — а порядок обхода.</a:t>
            </a:r>
          </a:p>
          <a:p xmlns:a="http://schemas.openxmlformats.org/drawingml/2006/main">
            <a:r>
              <a:t>— Фазы на x86 (bench.md E11, U = N, обе библиотеки): reserve и вставки ≈43%, выгрузка ≈26%, деструктор 28–30%. На M2 по фазам не раскладывал. «Сорок мегабайт здесь, двадцать четыре на prod?» — разные U: здесь все id разные, там половина — повторы.</a:t>
            </a:r>
          </a:p>
          <a:p xmlns:a="http://schemas.openxmlformats.org/drawingml/2006/main">
            <a:r>
              <a:t>— «Пул-аллокатор или pmr?» (qa C9): не мерил. monotonic_buffer_resource уберёт malloc и free, но не прыжки по узлам; ожидаю ближе к сортировке, не к flat — гипотеза. Share extension (~120 МБ) в пример не брать (errata P1-7).</a:t>
            </a:r>
          </a:p>
          <a:p xmlns:a="http://schemas.openxmlformats.org/drawingml/2006/main">
            <a:r>
              <a:t>— «Почему 18,9 МБ, если ключей на 8 МБ?» (errata P2-11): 2^20 — неудачная точка для Swiss Table: ёмкость 2^20 − 1 вмещает только 917 504 ключа при загрузке 7/8, поэтому reserve берёт 2^21 − 1 слотов — по 8 байт ключа и байту метаданных, 18,9 МБ, заполнение 50%.</a:t>
            </a:r>
          </a:p>
          <a:p xmlns:a="http://schemas.openxmlformats.org/drawingml/2006/main">
            <a:r>
              <a:t>Условия и источники (были в подвале слайда): N = U = 2²⁰, все id разные — как в голосовании · libc++ · вызовы посчитаны подменой operator new</a:t>
            </a:r>
          </a:p>
          <a:p xmlns:a="http://schemas.openxmlformats.org/drawingml/2006/main">
            <a:r>
              <a:t>С экрана убрано: unordered_set: запрошено 33,6 МБ, с округлением malloc ≈42 МБ; Notification Service Extension ~24 МБ, виджет ~30 МБ — наблюдаемые лимиты jetsam; x86: деструктор ≈30% времени; МБ = 10⁶ байт; N = U = 2²⁰, вызовы посчитаны подменой operator new (libc++)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Правило вместо нотации.</a:t>
            </a:r>
          </a:p>
          <a:p xmlns:a="http://schemas.openxmlformats.org/drawingml/2006/main">
            <a:r>
              <a:t>[щелчок] Первое. Уникальных мало или нужен порядок первого появления — хеш-таблица, лучше плоская.</a:t>
            </a:r>
          </a:p>
          <a:p xmlns:a="http://schemas.openxmlformats.org/drawingml/2006/main">
            <a:r>
              <a:t>[щелчок] Второе. Часть входа уже отсортирована — не трогайте её: остальное отсортируйте, схлопните и слейте.</a:t>
            </a:r>
          </a:p>
          <a:p xmlns:a="http://schemas.openxmlformats.org/drawingml/2006/main">
            <a:r>
              <a:t>[щелчок] Третье. Целые ключи, почти все разные, данных больше кэша — radix или плоская таблица. Узловая — последней.</a:t>
            </a:r>
          </a:p>
          <a:p xmlns:a="http://schemas.openxmlformats.org/drawingml/2006/main">
            <a:r>
              <a:t>[щелчок] Четвёртое, для всех. Код живёт не там, где мерили, — значит, цена шага другая. На телефоне в фоне — другое ядро. На бэкенде — ARM вместо x86 или контейнер, у которого кэш делят соседи.</a:t>
            </a:r>
          </a:p>
          <a:p xmlns:a="http://schemas.openxmlformats.org/drawingml/2006/main">
            <a:r>
              <a:t>[щелчок] И пятое, самое короткое: сомневаетесь — меряйте.</a:t>
            </a:r>
          </a:p>
          <a:p xmlns:a="http://schemas.openxmlformats.org/drawingml/2006/main">
            <a:r>
              <a:t>[пауза] Big-O нужен: он спасает от квадратичных катастроф. Но между двумя разумными алгоритмами он не выбирает: он считает шаги, а не их цену. [пауза] Вернёмся во вторник.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Тайминг: 1:00, к концу 23:40.</a:t>
            </a:r>
          </a:p>
          <a:p xmlns:a="http://schemas.openxmlformats.org/drawingml/2006/main">
            <a:r>
              <a:t>Щелчки: 1 — 1, Мало уникальных или нужен порядок появления→ хеш-таблица, лучше плоска; 2 — 2, Часть входа уже отсортирована→ отсортировать остальное, убрать повторы; 3 — 3, Целые ключи, почти все разные, больше кэша→ radix или плоская; узловая; 4 — 4, Код живёт не там, где мерили→ цена шага другая; 5 — 5, Сомневаетесь→ меряйте.</a:t>
            </a:r>
          </a:p>
          <a:p xmlns:a="http://schemas.openxmlformats.org/drawingml/2006/main">
            <a:r>
              <a:t>Если отстаю (−25 с): Правила 1–3 не читать: «Первые три — про данные и контракт, они на слайде». Четвёртое целиком, пятое и «Big-O считает шаги, а не их цену».</a:t>
            </a:r>
          </a:p>
          <a:p xmlns:a="http://schemas.openxmlformats.org/drawingml/2006/main">
            <a:r>
              <a:t>Под рукой:</a:t>
            </a:r>
          </a:p>
          <a:p xmlns:a="http://schemas.openxmlformats.org/drawingml/2006/main">
            <a:r>
              <a:t>• Финальное состояние (все пять правил и строка про Big-O) держать 5 секунд: его фотографируют.</a:t>
            </a:r>
          </a:p>
          <a:p xmlns:a="http://schemas.openxmlformats.org/drawingml/2006/main">
            <a:r>
              <a:t>• Правило 4, числа со слайда cores (iPhone, отношение к userInitiated): utility ≈1,3× в L1 и на 64 МБ, до ≈5× на 8–16 МБ; background — до ≈15× на 4–32 МБ (errata P1-14; с графика ±10%, сверить с сырыми данными). CPU-лимит, то есть квота CFS, сам по себе тормозит оба алгоритма одинаково; цену шага меняют соседи по L3 — гипотеза, я мерил без соседей (qa B10). Не говорить «Graviton — это как E-ядро».</a:t>
            </a:r>
          </a:p>
          <a:p xmlns:a="http://schemas.openxmlformats.org/drawingml/2006/main">
            <a:r>
              <a:t>• Правило 1: при 1% уникальных flat с reserve(N) медленнее узловой таблицы (3,6 против 3,2 нс/эл) и берёт в 64 раза больше памяти (errata P2-19, backup reserve). Правило 3: radix и flat мерились на M2 Pro в userInitiated (6,9 и 11,7 против 19,9) и на x86 (bench.md E1: radix ≈40, flat ≈43, sort ≈84, unordered_set ≈260 нс/эл); на iPhone в .utility — не мерил (qa P7). Правило 2 — слайд merge: на x86 в 3,5–6,6 раза быстрее sort + unique; unique по дельте обязателен.</a:t>
            </a:r>
          </a:p>
          <a:p xmlns:a="http://schemas.openxmlformats.org/drawingml/2006/main">
            <a:r>
              <a:t>• «Postgres сам выбирает между HashAggregate и Sort» (qa B7): да, по оценке числа различных значений и work_mem — по данным и памяти, ровно по этому правилу; про ядро он тоже не знает. «Кнут: преждевременная оптимизация»: правило не про то, чтобы оптимизировать дедуп, а про то, чтобы не выбирать контейнер по нотации.</a:t>
            </a:r>
          </a:p>
          <a:p xmlns:a="http://schemas.openxmlformats.org/drawingml/2006/main">
            <a:r>
              <a:t>Условия и источники (были в подвале слайда): Никита Нагорнов · github.com/Neoron95/conference-hardfest-algorithms · слайд 24</a:t>
            </a:r>
          </a:p>
          <a:p xmlns:a="http://schemas.openxmlformats.org/drawingml/2006/main">
            <a:r>
              <a:t>С экрана убрано: Четвёртое подробнее: iPhone в .utility — чтение памяти до 5× дороже · ARM-инстанс вместо x86 · контейнер, где L3 делят соседи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[щелчок] Хеш. И сразу в три и семь десятых раза: уникальных всего десять тысяч, их узлы помещаются в кэш. [пауза 1 с] [одной фразой: угадало ли большинство]</a:t>
            </a:r>
          </a:p>
          <a:p xmlns:a="http://schemas.openxmlformats.org/drawingml/2006/main">
            <a:r>
              <a:t>Теперь вся сетка: слева все id одинаковые, справа все разные. Шкала по вертикали логарифмическая, ниже — лучше.</a:t>
            </a:r>
          </a:p>
          <a:p xmlns:a="http://schemas.openxmlformats.org/drawingml/2006/main">
            <a:r>
              <a:t>Синяя сортировка почти горизонтальна: от двенадцати до двадцати при стократной разнице в числе уникальных. Она в любом случае переставляет весь миллион.</a:t>
            </a:r>
          </a:p>
          <a:p xmlns:a="http://schemas.openxmlformats.org/drawingml/2006/main">
            <a:r>
              <a:t>[щелчок] Оранжевая хеш-таблица её пересекает. При половине повторов — почти ничья, двадцать против двадцати трёх. А когда все разные, хеш позади в два с половиной раза.</a:t>
            </a:r>
          </a:p>
          <a:p xmlns:a="http://schemas.openxmlformats.org/drawingml/2006/main">
            <a:r>
              <a:t>[щелчок] Зелёная плоская внизу почти везде.</a:t>
            </a:r>
          </a:p>
          <a:p xmlns:a="http://schemas.openxmlformats.org/drawingml/2006/main">
            <a:r>
              <a:t>[смотрю в зал] Так что и сортировка, и хеш правы — каждый в своей клетке. Победителя назначают данные.</a:t>
            </a:r>
          </a:p>
          <a:p xmlns:a="http://schemas.openxmlformats.org/drawingml/2006/main">
            <a:r>
              <a:t>Второе условие прячется не в данных, а в тикете.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Тайминг: 1:00, к концу 12:30.</a:t>
            </a:r>
          </a:p>
          <a:p xmlns:a="http://schemas.openxmlformats.org/drawingml/2006/main">
            <a:r>
              <a:t>Щелчки: 1 — [график], unordered_set, sort + unique, хеш ×3,7; 2 — [график], почти ничья20 против 23, sort ×2,6; 3 — [график], flat_hash_set, radix + unique.</a:t>
            </a:r>
          </a:p>
          <a:p xmlns:a="http://schemas.openxmlformats.org/drawingml/2006/main">
            <a:r>
              <a:t>Если отстаю (−20 с): Оси одной фразой: «слева все одинаковые, справа все разные». Выбросить «от двенадцати до двадцати…» и «Она в любом случае переставляет весь миллион». Оставить: «хеш, в три и семь десятых раза», почти ничья на половине, позади на всех разных, «победителя назначают данные».</a:t>
            </a:r>
          </a:p>
          <a:p xmlns:a="http://schemas.openxmlformats.org/drawingml/2006/main">
            <a:r>
              <a:t>Под рукой:</a:t>
            </a:r>
          </a:p>
          <a:p xmlns:a="http://schemas.openxmlformats.org/drawingml/2006/main">
            <a:r>
              <a:t>— Точки (M2 Pro, сессия Б, с графика ±2%): все равны — sort 1,2 · uset 2,0 · flat 2,9; 1% — 12,0 · 3,2 · 3,6; 50% — 20,3 · 23,0; 100% — 19,8 · 51,6 (errata §4.1). При 1% узловая быстрее flat: flat с reserve(N) платит за таблицу в 18,9 МБ на десять тысяч ключей (backup reserve) — поэтому «почти везде». Десять тысяч узлов по 32 Б — около 320 КБ.</a:t>
            </a:r>
          </a:p>
          <a:p xmlns:a="http://schemas.openxmlformats.org/drawingml/2006/main">
            <a:r>
              <a:t>— x86, повтор (bench.md E3): при 1% хеш быстрее сортировки в 6–8 раз, при 100% сортировка быстрее в 3,0–3,2 раза — направление то же, размах больше. Radix на x86 вровень с flat.</a:t>
            </a:r>
          </a:p>
          <a:p xmlns:a="http://schemas.openxmlformats.org/drawingml/2006/main">
            <a:r>
              <a:t>— «20 против 23, а на кривой было 26?» (qa M3): разные сессии; хеш на этой точке гуляет 22,6–26,3, сортировка — на полпроцента. Поэтому 50% подписано «почти ничья».</a:t>
            </a:r>
          </a:p>
          <a:p xmlns:a="http://schemas.openxmlformats.org/drawingml/2006/main">
            <a:r>
              <a:t>Условия и источники (были в подвале слайда): N = 2²⁰ · M2 Pro, macOS, libc++, userInitiated · id — случайные 64-битные · сессия Б  · flat и radix — только M2 Pro, userInitiated · «все равны» = U = 1 · ось X — категории, не шкала</a:t>
            </a:r>
          </a:p>
          <a:p xmlns:a="http://schemas.openxmlformats.org/drawingml/2006/main">
            <a:r>
              <a:t>С экрана убрано: N = 2²⁰ · M2 Pro, macOS, libc++, userInitiated · id — случайные 64-битные · сессия Б  · flat и radix — только M2 Pro, userInitiated · «все равны» = U = 1 · ось X — категории, не шкала; значения: 1% — хеш ×3,7; 50% — 20,3 против 23,0 (почти ничья); 100% — sort ×2,6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 · без шагов. Вопросы про модель телефона, ОС, инструменты, физическое или виртуальное ядро.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нет.</a:t>
            </a:r>
          </a:p>
          <a:p xmlns:a="http://schemas.openxmlformats.org/drawingml/2006/main">
            <a:r>
              <a:t>Под рукой:</a:t>
            </a:r>
          </a:p>
          <a:p xmlns:a="http://schemas.openxmlformats.org/drawingml/2006/main">
            <a:r>
              <a:t>• iPhone 14 Pro, A16 Bionic. Версия iOS и мобильные сырые данные не сохранены в доступных материалах исходной серии; размеры кэшей iPhone не подставлять из модели. Время — медианы, числа перенесены из существующей колоды. Версия iOS, полный номер сборки DedupBench и его флаги не сохранены в доступных материалах исходной серии. Не заполнять эти поля выдуманными значениями и не обещать, что полный мобильный паспорт лежит в репозитории.</a:t>
            </a:r>
          </a:p>
          <a:p xmlns:a="http://schemas.openxmlformats.org/drawingml/2006/main">
            <a:r>
              <a:t>• Mac — M2 Pro, macOS 27, исходная подпись Xcode 27.0/Apple clang 21.0.0, libc++, -O3. Конфигурация числа P/E ядер не сохранена; не выбирать 6P/8P по модели. Сохранённый sysctl: P L1D 128 КиБ/L2 16 МиБ; E L1D 64 КиБ/L2 4 МиБ; hw.cachelinesize 128 Б.</a:t>
            </a:r>
          </a:p>
          <a:p xmlns:a="http://schemas.openxmlformats.org/drawingml/2006/main">
            <a:r>
              <a:t>• Исходная x86-серия — Xeon в VM, GCC 13. Независимый повтор bench/results/env.txt: GCC 13.3/libstdc++, Clang 18.1/libc++, базовый x86-64 -O3, taskset -c 2; PMU недоступен. Объявленный L3 VM не доказывает фактически доступный кэш.</a:t>
            </a:r>
          </a:p>
          <a:p xmlns:a="http://schemas.openxmlformats.org/drawingml/2006/main">
            <a:r>
              <a:t>• Hosted macOS-раннеры обсуждались как отдельный пример VM: конфигурация раннера меняется во времени, точный CPU/perflevel проверить у конкретного запуска. Один виртуальный perflevel не гарантирует постоянного физического P-ядра и не исключает влияние QoS через хост.</a:t>
            </a:r>
          </a:p>
          <a:p xmlns:a="http://schemas.openxmlformats.org/drawingml/2006/main">
            <a:r>
              <a:t>• Swift Task: priority не задаёт executor. Task наследует actor isolation; созданный из MainActor Task с синхронным C++ вызовом может остаться на MainActor. Ожидание через await task.value может повысить приоритет. Замер через Swift Task не выполнялся. Первоисточник: SE-0304, разделы Task priorities, Priority Escalation, Context inheritance: https://github.com/swiftlang/swift-evolution/blob/main/proposals/0304-structured-concurrency.md . Не рекомендовать Task.detached автоматически: сначала определить реальный executor.</a:t>
            </a:r>
          </a:p>
          <a:p xmlns:a="http://schemas.openxmlformats.org/drawingml/2006/main">
            <a:r>
              <a:t>• UserInitiated — приоритет, не состояние приложения. Utility и реальный background процесса различаются. BGAppRefreshTask не измерялся; соответствие лаборатории продукту не утверждать.</a:t>
            </a:r>
          </a:p>
          <a:p xmlns:a="http://schemas.openxmlformats.org/drawingml/2006/main">
            <a:r>
              <a:t>Источники: prep/research/apple.md §2, §6–7; bench/README.md; bench/results/env.txt; SE-0304.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 · без шагов. Вопросы про XNU, гарантии QoS и соответствие Swift Task.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нет.</a:t>
            </a:r>
          </a:p>
          <a:p xmlns:a="http://schemas.openxmlformats.org/drawingml/2006/main">
            <a:r>
              <a:t>Под рукой:</a:t>
            </a:r>
          </a:p>
          <a:p xmlns:a="http://schemas.openxmlformats.org/drawingml/2006/main">
            <a:r>
              <a:t>• Apple формулирует влияние QoS на размещение: https://developer.apple.com/news/?id=vk3m204o (22.06.2020). Контроллер производительности задаёт рекомендации, исходники Edge допускают utility на всех CPU. Это описание модели планирования, не гарантия ядра для отдельного запуска.</a:t>
            </a:r>
          </a:p>
          <a:p xmlns:a="http://schemas.openxmlformats.org/drawingml/2006/main">
            <a:r>
              <a:t>• XNU xnu-12377.121.6, osfmk/kern/sched_clutch.c, стр. 6604–6612: https://github.com/apple-oss-distributions/xnu/blob/xnu-12377.121.6/osfmk/kern/sched_clutch.c#L6604-L6612 . Ограничение BG/Maintenance: performance controller would never recommend execution on the P-cores. На слайде пересказ, не универсальный закон будущих чипов и версий iOS.</a:t>
            </a:r>
          </a:p>
          <a:p xmlns:a="http://schemas.openxmlformats.org/drawingml/2006/main">
            <a:r>
              <a:t>• Цитата старого AMP «utility и bg только на E» относится к коду под !CONFIG_SCHED_EDGE. Не выдавать её за действующее правило текущего Edge. Нельзя подтвердить активный планировщик iPhone без сохранённого паспорта той версии iOS.</a:t>
            </a:r>
          </a:p>
          <a:p xmlns:a="http://schemas.openxmlformats.org/drawingml/2006/main">
            <a:r>
              <a:t>• iPhone 14 Pro, A16 Bionic. Версия iOS и мобильные сырые данные не сохранены в доступных материалах исходной серии; размеры кэшей iPhone не подставлять из модели. Время — медианы, числа перенесены из существующей колоды.</a:t>
            </a:r>
          </a:p>
          <a:p xmlns:a="http://schemas.openxmlformats.org/drawingml/2006/main">
            <a:r>
              <a:t>• Кривые отдельного memory probe дают косвенное свидетельство: utility на iPhone по изломам ближе к background. Сам дедуп не трассировали; размещение его потока не измерено. Линии Mac utility в материалах нет, поэтому «Mac utility — P» не является сохранённым результатом этого probe.</a:t>
            </a:r>
          </a:p>
          <a:p xmlns:a="http://schemas.openxmlformats.org/drawingml/2006/main">
            <a:r>
              <a:t>• Swift Task: priority не задаёт executor. Task наследует actor isolation; созданный из MainActor Task с синхронным C++ вызовом может остаться на MainActor. Ожидание через await task.value может повысить приоритет. Замер через Swift Task не выполнялся. Первоисточник: SE-0304, разделы Task priorities, Priority Escalation, Context inheritance: https://github.com/swiftlang/swift-evolution/blob/main/proposals/0304-structured-concurrency.md . Не рекомендовать Task.detached автоматически: сначала определить реальный executor.</a:t>
            </a:r>
          </a:p>
          <a:p xmlns:a="http://schemas.openxmlformats.org/drawingml/2006/main">
            <a:r>
              <a:t>• Приоритет потока, тип ядра и роль процесса — разные условия. Не переносить данные utility в BGAppRefreshTask автоматически. Thread affinity на Apple silicon не поддерживается: https://developer.apple.com/forums/thread/703361 .</a:t>
            </a:r>
          </a:p>
          <a:p xmlns:a="http://schemas.openxmlformats.org/drawingml/2006/main">
            <a:r>
              <a:t>Источники: prep/research/apple.md §1, §5; исходный cores; SE-0304.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 · без шагов. Вопрос: «В кейсе rowid из SQLite — плотные, а мерили вы случайные 64-битные» (qa M5, Б2), «std::hash для целых — тождество» (C8).</a:t>
            </a:r>
          </a:p>
          <a:p xmlns:a="http://schemas.openxmlformats.org/drawingml/2006/main">
            <a:r>
              <a:t>Ответ: Справедливо. Случайные id выбраны намеренно, чтобы раскладка не зависела от удачи. На плотных id узловой таблице везёт: std::hash — тождество, коллизий ноль. На x86-повторе при половине дублей unordered_set на плотных в 1,65 раза быстрее, чем на случайных, и обгоняет сортировку в 1,7 раза; при всех уникальных — 320 против 68 нс/эл, в 4,7 раза. Radix делает 3 прохода вместо 8. Sort и flat от раскладки не зависят. Значит, на rowid победитель может смениться — это ровно тезис раунда 3. Серия на iPhone — серия на телефоне не выполнялась; не снял — так и сказать.</a:t>
            </a:r>
          </a:p>
          <a:p xmlns:a="http://schemas.openxmlformats.org/drawingml/2006/main">
            <a:r>
              <a:t>Обратный край: id с общими нулевыми младшими битами (снежинки с нулевым счётчиком, кратные 1024) в libc++ после reserve(2^k) сваливаются в одну цепочку: шаг 1024 — 64 ячейки из 65 536, вставка ×70; шаг 2^20 — ×1 500. libstdc++ простой модуль это скрывает, Abseil и boost перемешивают хеш. Проверьте гистограмму цепочек на своих id.</a:t>
            </a:r>
          </a:p>
          <a:p xmlns:a="http://schemas.openxmlformats.org/drawingml/2006/main">
            <a:r>
              <a:t>Мостик: для rowid лучший кандидат вообще не хеш и не sort, а слияние отсортированной дельты (следующий слайд) или битовая карта.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нет, всё на экране сразу.</a:t>
            </a:r>
          </a:p>
          <a:p xmlns:a="http://schemas.openxmlformats.org/drawingml/2006/main">
            <a:r>
              <a:t>Условия и источники (были в подвале слайда): x86-повтор на отдельной VM: Xeon 2,1 ГГц; GCC 13 / libstdc++ и Clang 18 / libc++; медиана сессий · ловушка — тест cluster.cpp, x86, reserve(N) · все серии доклада сняты на случайных 64-битных id</a:t>
            </a:r>
          </a:p>
          <a:p xmlns:a="http://schemas.openxmlformats.org/drawingml/2006/main">
            <a:r>
              <a:t>С экрана убрано: x86-повтор, серия E7, плотные id — перемешаны. radix + unique: случайные 38,0 / 40,3, плотные 21,6 / 22,1; flat_hash_set: случайные 34,7 / 36,9, плотные 35,5 / 36,9 (нс/эл, libstdc++ / libc++). Ловушка libc++: id с шагом 2^k, std::hash — тождество: ячейка = младшие k бит id. 65 536 id: плотные 1..N — занято 65 536 ячеек, 40 нс на вставку (libstdc++: 39); шаг 1024 — 64 ячейки, 2 762 нс · ×70 (libstdc++: 41); шаг 2^20 — 1 ячейка, 60 540 нс · ×1 500 (libstdc++: 38). iPhone · userInitiated и .utility · 512K и 1M · случайные и плотные id: серия на телефоне не выполнялась. Для rowid победитель может смениться. Лучший кандидат — не хеш и не sort, а слияние дельты или битовая карта.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 · без шагов. Вопросы: «Почему не отсортировать только дельту и слить?» (qa X1), «set_union не убирает дубли дельты» (C5), «std::flat_set — это flat_hash_set?» (C10).</a:t>
            </a:r>
          </a:p>
          <a:p xmlns:a="http://schemas.openxmlformats.org/drawingml/2006/main">
            <a:r>
              <a:t>Ответ: Для нашей задачи это правильный ответ, он же на слайде merge. Сортируем дельту, схлопываем в ней повторы и сливаем с отсортированными локальными id через set_union или inplace_merge + unique. Без unique по дельте set_union оставит её дубли: из второго диапазона он берёт max(n − m, 0) копий — на 1,06 млн осталось 32 966 дублей. На x86 это в 3,5–6,6 раза быстрее sort + unique и в 4–6 раз быстрее flat_hash_set. libc++ в sort + unique быстрее libstdc++ (31 против 42): вход уже на 94% отсортирован. iPhone: Серия на телефоне не снималась; не домерил — «на телефоне ещё не мерил, цифры появятся в репозитории», не «будет так же».</a:t>
            </a:r>
          </a:p>
          <a:p xmlns:a="http://schemas.openxmlformats.org/drawingml/2006/main">
            <a:r>
              <a:t>std::flat_set — не хеш-таблица, а отсортированный вектор; его insert(range) в libc++ — ровно этот рецепт: отсортировать хвост, inplace_merge, unique.</a:t>
            </a:r>
          </a:p>
          <a:p xmlns:a="http://schemas.openxmlformats.org/drawingml/2006/main">
            <a:r>
              <a:t>INSERT OR IGNORE в SQLite (X10) — B-дерево и журнал, ожидаю медленнее, не мерил. Битовая карта для плотных rowid (X5): 1M id — 125 КБ, не мерил.</a:t>
            </a:r>
          </a:p>
          <a:p xmlns:a="http://schemas.openxmlformats.org/drawingml/2006/main">
            <a:r>
              <a:t>Мостик: лучший алгоритм использует то, что о данных уже известно, — здесь «SQLite уже отсортировала».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нет, всё на экране сразу.</a:t>
            </a:r>
          </a:p>
          <a:p xmlns:a="http://schemas.openxmlformats.org/drawingml/2006/main">
            <a:r>
              <a:t>Условия и источники (были в подвале слайда): L — 2^20 локальных id (отсортированы, уникальны) + дельта D — 2^16, половина — повторы · x86-повтор на отдельной VM (Xeon 2,1 ГГц; GCC 13, Clang 18), медиана сессий · так вставляет диапазон std::flat_set в libc++</a:t>
            </a:r>
          </a:p>
          <a:p xmlns:a="http://schemas.openxmlformats.org/drawingml/2006/main">
            <a:r>
              <a:t>С экрана убрано: Исходный заголовок: «Сортируем только дельту и сливаем: на x86 в 3,5–6,6 раза быстрее sort + unique». Код: std::sort(D.begin(), D.end()); D.erase(std::unique(D.begin(), D.end()), D.end()); — без этого шага set_union оставит дубли дельты; std::set_union(L.begin(), L.end(), D.begin(), D.end(), std::back_inserter(out)). radix + unique: 41,4 / 39,8 нс/эл, быстрее sort + unique в 1,0 / 0,8 раза. sort(Δ) + unique(Δ) + inplace_merge + unique: 6,7 / 8,6 нс/эл, быстрее в 6,3 / 3,6 раза.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 · без шагов. Вопрос: «Почему utility? Apple для синхронизации советует background» (qa I4, errata P1-9).</a:t>
            </a:r>
          </a:p>
          <a:p xmlns:a="http://schemas.openxmlformats.org/drawingml/2006/main">
            <a:r>
              <a:t>Ответ: Да, в Energy Efficiency Guide синхронизация отнесена к background («such as indexing, synchronizing, and backups»). Utility — «не срочно, но результат нужен», им в проектах часто помечают синхронизацию. В background ещё дороже: на iPhone на 512K сортировка 145,6 нс/эл против 195,2 у хеша (×1,3), на Mac — 92,6 против 178,4 (×1,9). Вывод тот же: фон — это другое ядро и другая цена шага.</a:t>
            </a:r>
          </a:p>
          <a:p xmlns:a="http://schemas.openxmlformats.org/drawingml/2006/main">
            <a:r>
              <a:t>«Почему на iPhone в background разрыв меньше, чем в utility?» (H13): причину не мерил. Гипотеза: в background частота E-кластера ещё ниже; сортировка упирается в вычисления и теряет пропорционально больше, а хеш и так ждёт память, задержка которой от частоты ядра почти не зависит. Проверка — счётчики или запись частоты.</a:t>
            </a:r>
          </a:p>
          <a:p xmlns:a="http://schemas.openxmlformats.org/drawingml/2006/main">
            <a:r>
              <a:t>«Поставьте userInitiated» (I3): Apple просит, чтобы без действий пользователя приложение 90% времени работало в utility или ниже; в фоне потолок QoS к тому же режется ролью процесса. «А в настоящем фоне, в BGAppRefreshTask?» (I7): не мерил, ожидаю не лучше utility — гипотеза.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нет, всё на экране сразу.</a:t>
            </a:r>
          </a:p>
          <a:p xmlns:a="http://schemas.openxmlformats.org/drawingml/2006/main">
            <a:r>
              <a:t>Условия и источники (были в подвале слайда): id случайные 64-битные · одинаковые входы · QoS через pthread_set_qos_class_self_np · Mac: macOS 27, libc++ · iPhone: 14 Pro, A16 Bionic; версия iOS не указана · thermalState nominal · медианы · BGAppRefreshTask не мерил</a:t>
            </a:r>
          </a:p>
          <a:p xmlns:a="http://schemas.openxmlformats.org/drawingml/2006/main">
            <a:r>
              <a:t>С экрана убрано: Исходный заголовок: «В background сортировка впереди и на Mac (×1,9), и на iPhone (×1,3)». Строка utility, N = 1M: Mac — sort 20,7, хеш 37,6 (sort ×1,8); iPhone — 57,4 и 187,7 (sort ×3,3). sort = sort + unique, хеш = unordered_set; «≈» — ничья. Почему в докладе utility, а не background? Apple в Energy Efficiency Guide относит синхронизацию к background: «such as indexing, synchronizing, and backups». Utility — «не срочно, но результат нужен»: им в проектах часто помечают синхронизацию. В background ещё дороже, и сортировка впереди на обоих устройствах.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 · без шагов. Вопросы про другие системы и точку перехода.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нет.</a:t>
            </a:r>
          </a:p>
          <a:p xmlns:a="http://schemas.openxmlformats.org/drawingml/2006/main">
            <a:r>
              <a:t>Под рукой:</a:t>
            </a:r>
          </a:p>
          <a:p xmlns:a="http://schemas.openxmlformats.org/drawingml/2006/main">
            <a:r>
              <a:t>• Крупные отношения — исходные результаты колоды при N = U = 2^20. x86 ×2,07 — пилот, исходные абсолютные 70 и 146 нс/эл округлены. Независимый повтор bench E1: ×3,1 с libstdc++, ×2,9 с libc++, вывод по направлению тот же. Не выдавать пилот за повтор.</a:t>
            </a:r>
          </a:p>
          <a:p xmlns:a="http://schemas.openxmlformats.org/drawingml/2006/main">
            <a:r>
              <a:t>• Строка x86 при U = N/2 — независимый повтор E2: sort впереди при N = 16 и от 2M; 1M близко, от 64 до 512K хеш или близко. При N = 16 увеличение пула снимает часть обучения: выигрыш sort ×1,75, не ×4 (E2b). Поэтому числа малого N — свойство конкретного харнесса.</a:t>
            </a:r>
          </a:p>
          <a:p xmlns:a="http://schemas.openxmlformats.org/drawingml/2006/main">
            <a:r>
              <a:t>• M2 Pro/Linux — VM 4 vCPU; физическое ядро под vCPU выбирает хост. Порог и отношение взяты из исходного systems; не объяснять VM как отдельный тип P/E.</a:t>
            </a:r>
          </a:p>
          <a:p xmlns:a="http://schemas.openxmlformats.org/drawingml/2006/main">
            <a:r>
              <a:t>• Mac/macOS — исходные userInitiated данные. На 1M возможен диапазон ×1,1–1,3 между сессиями. iPhone — исходная системная серия userInitiated; не смешивать её с utility из x33.</a:t>
            </a:r>
          </a:p>
          <a:p xmlns:a="http://schemas.openxmlformats.org/drawingml/2006/main">
            <a:r>
              <a:t>• iPhone 14 Pro, A16 Bionic. Версия iOS и мобильные сырые данные не сохранены в доступных материалах исходной серии; размеры кэшей iPhone не подставлять из модели. Время — медианы, числа перенесены из существующей колоды. Соответствие устройства между старыми системными сериями не подтверждается сырыми мобильными файлами; число ×2,53 сохраняется как опубликованный результат колоды.</a:t>
            </a:r>
          </a:p>
          <a:p xmlns:a="http://schemas.openxmlformats.org/drawingml/2006/main">
            <a:r>
              <a:t>• Сравниваются системы целиком, одновременно меняются CPU, ОС, компилятор, библиотека и режим. Эти числа не отделяют влияние CPU от остального.</a:t>
            </a:r>
          </a:p>
          <a:p xmlns:a="http://schemas.openxmlformats.org/drawingml/2006/main">
            <a:r>
              <a:t>• Swift Task: priority не задаёт executor. Task наследует actor isolation; созданный из MainActor Task с синхронным C++ вызовом может остаться на MainActor. Ожидание через await task.value может повысить приоритет. Замер через Swift Task не выполнялся. Первоисточник: SE-0304, разделы Task priorities, Priority Escalation, Context inheritance: https://github.com/swiftlang/swift-evolution/blob/main/proposals/0304-structured-concurrency.md . Не рекомендовать Task.detached автоматически: сначала определить реальный executor.</a:t>
            </a:r>
          </a:p>
          <a:p xmlns:a="http://schemas.openxmlformats.org/drawingml/2006/main">
            <a:r>
              <a:t>Источники: исходный systems; bench/results/summary.md E1/E2/E2b; prep/research/bench.md; apple.md.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Backup, вне тайминга.</a:t>
            </a:r>
          </a:p>
          <a:p xmlns:a="http://schemas.openxmlformats.org/drawingml/2006/main">
            <a:r>
              <a:t>Q&amp;A: «А троттлинг? А под длительной нагрузкой?»</a:t>
            </a:r>
          </a:p>
          <a:p xmlns:a="http://schemas.openxmlformats.org/drawingml/2006/main">
            <a:r>
              <a:t>Ответ: две минуты непрерывно, алгоритмы чередуются. Время выросло на 10–14%, хеш начал дорожать раньше, порядок не изменился. thermalState всю серию nominal, поэтому причину дрейфа не называю: nominal не доказывает отсутствие ограничений. Пятая минута — следующий опыт.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нет, всё на экране сразу.</a:t>
            </a:r>
          </a:p>
          <a:p xmlns:a="http://schemas.openxmlformats.org/drawingml/2006/main">
            <a:r>
              <a:t>Под рукой:</a:t>
            </a:r>
          </a:p>
          <a:p xmlns:a="http://schemas.openxmlformats.org/drawingml/2006/main">
            <a:r>
              <a:t>— Первое окно: сортировка 19,0, хеш 17,8 нс/эл; последнее: 20,9 и 20,3. Рост: 20,9 / 19,0 = +10%, 20,3 / 17,8 = +14%. Хеш впереди во всех четырёх окнах.</a:t>
            </a:r>
          </a:p>
          <a:p xmlns:a="http://schemas.openxmlformats.org/drawingml/2006/main">
            <a:r>
              <a:t>— Хеш дорожает с первой минуты (17,8 → 18,9), сортировка — со второй (19,0 → 19,0 → 20,5).</a:t>
            </a:r>
          </a:p>
          <a:p xmlns:a="http://schemas.openxmlformats.org/drawingml/2006/main">
            <a:r>
              <a:t>— Это 256K при половине дублей и userInitiated: там на переднем плане хеш и так чуть впереди. Короткий запуск и длительная нагрузка — разные режимы; решение принимается для того режима, в котором реально живёт ваш код.</a:t>
            </a:r>
          </a:p>
          <a:p xmlns:a="http://schemas.openxmlformats.org/drawingml/2006/main">
            <a:r>
              <a:t>— Устройство: модель и версия iOS в этой серии не зафиксированы — та же строка, что во всех подписях с iPhone.</a:t>
            </a:r>
          </a:p>
          <a:p xmlns:a="http://schemas.openxmlformats.org/drawingml/2006/main">
            <a:r>
              <a:t>Условия и источники (были в подвале слайда): iPhone модель и версия iOS в этой серии не зафиксированы · медиана по 15-секундным окнам · алгоритмы чередуются · 120 с непрерывной нагрузки · QoS userInitiated · id — случайные 64-битные · заряд 40–80%, без кабеля</a:t>
            </a:r>
          </a:p>
          <a:p xmlns:a="http://schemas.openxmlformats.org/drawingml/2006/main">
            <a:r>
              <a:t>С экрана убрано: Исходный заголовок: «Две минуты под нагрузкой: время выросло на 10–14%, порядок не изменился». Таблица, нс/эл, окна нагрузки 0–15 с / 45–60 с / 90–105 с / 105–120 с: sort + unique 19,0 / 19,0 / 20,5 / 20,9; unordered_set 17,8 / 18,9 / 19,5 / 20,3 (на графике точки — середины окон). Хеш начал дорожать с первой минуты, сортировка — со второй. Короткий запуск и длительная нагрузка — разные режимы; пятиминутная серия — следующий опыт.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Backup, вне тайминга.</a:t>
            </a:r>
          </a:p>
          <a:p xmlns:a="http://schemas.openxmlformats.org/drawingml/2006/main">
            <a:r>
              <a:t>Q&amp;A: «Это же разница Linux против Apple?»</a:t>
            </a:r>
          </a:p>
          <a:p xmlns:a="http://schemas.openxmlformats.org/drawingml/2006/main">
            <a:r>
              <a:t>Ответ: одна машина x86, одинаковые входы, две стандартные библиотеки. Сортировка одинаковых чисел: libstdc++ — восемь наносекунд на элемент, libc++ — одна. Идеи pdqsort пришли в libc++ в LLVM 16, а одинаковые ключи она проходила за линейное время и раньше. Узел unordered_set: 16 байт против 24 — libc++ хранит в узле хеш. macOS, iOS и Android NDK — на libc++; отличается GCC на Linux. Алгоритм выбрали вы, библиотеку — тулчейн.</a:t>
            </a:r>
          </a:p>
          <a:p xmlns:a="http://schemas.openxmlformats.org/drawingml/2006/main">
            <a:r>
              <a:t>И на Apple этот std::sort живёт в системной библиотеке: какой алгоритм исполнится, решает версия ОС, а не Xcode.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нет, всё на экране сразу.</a:t>
            </a:r>
          </a:p>
          <a:p xmlns:a="http://schemas.openxmlformats.org/drawingml/2006/main">
            <a:r>
              <a:t>Под рукой:</a:t>
            </a:r>
          </a:p>
          <a:p xmlns:a="http://schemas.openxmlformats.org/drawingml/2006/main">
            <a:r>
              <a:t>— Числа воспроизведены при проверке: 8,19 против 0,94 нс/эл (на слайде 7,8 и 1,2 — пилот). unordered_set на 1M уникальных — 146 против 139, разница 5%: в хеше библиотека почти ничего не решает, решают узлы.</a:t>
            </a:r>
          </a:p>
          <a:p xmlns:a="http://schemas.openxmlformats.org/drawingml/2006/main">
            <a:r>
              <a:t>— «libstdc++ экономнее: 16 байт против 24?» (qa C7): по запрошенным байтам да, 25 МБ против 34; по куче нет — glibc кладёт оба узла в чанк 32 Б, у Apple 24 Б тоже округляются до 32.</a:t>
            </a:r>
          </a:p>
          <a:p xmlns:a="http://schemas.openxmlformats.org/drawingml/2006/main">
            <a:r>
              <a:t>— «Какая libc++ сортирует на телефоне — та, что в Xcode?» (qa C4): нет, std::sort для uint64_t со стандартным компаратором вызывает уже инстанцированный __sort из libc++.dylib, а она — часть iOS.</a:t>
            </a:r>
          </a:p>
          <a:p xmlns:a="http://schemas.openxmlformats.org/drawingml/2006/main">
            <a:r>
              <a:t>— Версию, «с которой libc++ распознаёт паттерны», не называть: эвристика «разбиение без обменов → досортировать вставками» есть ещё до LLVM 14, BlockQuickSort и идеи pdqsort — LLVM 16 (errata P0-11).</a:t>
            </a:r>
          </a:p>
          <a:p xmlns:a="http://schemas.openxmlformats.org/drawingml/2006/main">
            <a:r>
              <a:t>Условия и источники (были в подвале слайда): Пилот · один x86, одинаковые входы · GCC 13 / libstdc++ против Clang 18 / libc++ · N = 2^20 · id для unordered_set — случайные 64-битные</a:t>
            </a:r>
          </a:p>
          <a:p xmlns:a="http://schemas.openxmlformats.org/drawingml/2006/main">
            <a:r>
              <a:t>С экрана убрано: Пилот · один x86, одинаковые входы · GCC 13 / libstdc++ против Clang 18 / libc++ · N = 2^20 · id для unordered_set — случайные 64-битные; sort на равных ключах — 7,8 против 1,2 нс/эл; unordered_set — 1M уникальных; узел unordered_set&lt;uint64_t&gt;: 16 Б против 24 Б; macOS, iOS и Android NDK используют libc++; GCC на Linux — libstdc++; версии, флаги и аллокатор тоже часть связки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Backup, вне тайминга. Таблица за графиком curve.</a:t>
            </a:r>
          </a:p>
          <a:p xmlns:a="http://schemas.openxmlformats.org/drawingml/2006/main">
            <a:r>
              <a:t>Q&amp;A: «Почему ступенька именно там? Откуда двенадцать и двадцать четыре мегабайта?»</a:t>
            </a:r>
          </a:p>
          <a:p xmlns:a="http://schemas.openxmlformats.org/drawingml/2006/main">
            <a:r>
              <a:t>Ответ: сортировка дорожает плавно — плюс один уровень логарифма на каждое удвоение. Хеш-таблица почти не дорожает до полумиллиона, а между 512K и миллионом — ступенька: 18,7 → 26,3, на четырёх миллионах 55,7. Посчитаем рабочий набор. Узел в libc++ — 24 байта, аллокатор Apple округляет его до 32; заголовка перед блоком нет. Плюс по 8 байт на ячейку, а ячеек после reserve(N) — N, вдвое больше, чем ключей. На полумиллионе входа это около 12 мегабайт — влезает в 16 мегабайт L2. На миллионе — около 24, уже нет. Это арифметика, а не измерение причины: чтобы сказать «промахи», нужны счётчики, и это следующий шаг. Но сортировке этот порог безразличен — её буфер читается подряд.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нет, всё на экране сразу.</a:t>
            </a:r>
          </a:p>
          <a:p xmlns:a="http://schemas.openxmlformats.org/drawingml/2006/main">
            <a:r>
              <a:t>Под рукой:</a:t>
            </a:r>
          </a:p>
          <a:p xmlns:a="http://schemas.openxmlformats.org/drawingml/2006/main">
            <a:r>
              <a:t>— 32·U + 8·N (apple.md §3.3, cpp.md §2.4, errata P0-5): 512K (U = 256K): 8 + 4 = 12 МиБ (12,6 МБ); 1M: 16 + 8 = 24 МиБ (25,2 МБ). «А вход?» — ещё 8·N, на 512K это 4 МиБ. Его читают один раз подряд, префетчер ведёт поток, поэтому считаю таблицу. Но 12 + 4 = 16 — впритык, ещё одна причина говорить «гипотеза».</a:t>
            </a:r>
          </a:p>
          <a:p xmlns:a="http://schemas.openxmlformats.org/drawingml/2006/main">
            <a:r>
              <a:t>— «Почему нет счётчиков?» (qa H1): «Согласен, это гипотеза. Следующий шаг — Instruments → CPU Counters, L1D Cache Miss Sampling».</a:t>
            </a:r>
          </a:p>
          <a:p xmlns:a="http://schemas.openxmlformats.org/drawingml/2006/main">
            <a:r>
              <a:t>— «А TLB?» (qa H2): не исключал; 24 МиБ — около 1 500 страниц по 16 КБ. SLC 24 МБ не называть: sysctl его не отдаёт.</a:t>
            </a:r>
          </a:p>
          <a:p xmlns:a="http://schemas.openxmlformats.org/drawingml/2006/main">
            <a:r>
              <a:t>— «22,6 или 26,3?» (qa M3): разные сессии; хеш на этой точке гуляет на 16%, сортировка — на полпроцента. Здесь сессия А, как на curve.</a:t>
            </a:r>
          </a:p>
          <a:p xmlns:a="http://schemas.openxmlformats.org/drawingml/2006/main">
            <a:r>
              <a:t>— 1,4 раза: 26,3 / 18,7 = 1,41; сортировка 20,1 / 19,6 = +2,6%. На 4M сортировка быстрее в 2,6 раза (55,7 / 21,5).</a:t>
            </a:r>
          </a:p>
          <a:p xmlns:a="http://schemas.openxmlformats.org/drawingml/2006/main">
            <a:r>
              <a:t>Условия и источники (были в подвале слайда): нс на элемент · U = N/2 · M2 Pro, macOS, libc++, userInitiated · id — случайные 64-битные · медиана 4 блоков · сессия А  · unordered_set на 1M между сессиями: 22,6–26,3 нс/эл</a:t>
            </a:r>
          </a:p>
          <a:p xmlns:a="http://schemas.openxmlformats.org/drawingml/2006/main">
            <a:r>
              <a:t>С экрана убрано: сортировка дорожает плавно: +1 уровень log N на каждое удвоение. Рабочий набор ≈ 32·U + 8·N: узел libc++ 24 Б, malloc округляет до 32 Б (квант 16 Б, без заголовка), плюс 8 Б на ячейку, а ячеек после reserve(N) — N. 512K (U = 256K) → ≈12 МиБ — помещается в L2 P-кластера (16 МиБ по sysctl); 1M → ≈24 МиБ — уже нет; ступенька — между этими точками. Это арифметика, а не счётчики промахов: причина не измерена напрямую, счётчики — следующий шаг. Альтернативы: TLB, аллокатор.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Backup, вне тайминга. В основном потоке его заменил nodes.</a:t>
            </a:r>
          </a:p>
          <a:p xmlns:a="http://schemas.openxmlformats.org/drawingml/2006/main">
            <a:r>
              <a:t>Q&amp;A: «А как именно работает sort + unique? Почему без аллокаций?»</a:t>
            </a:r>
          </a:p>
          <a:p xmlns:a="http://schemas.openxmlformats.org/drawingml/2006/main">
            <a:r>
              <a:t>Ответ: восемь чисел, четыре разных. std::sort — introsort, в libc++ с идеями pdqsort: раскладывает всё на «меньше» и «больше» опорного и повторяет в половинах — логарифм N уровней, на каждом проход по всем N. После сортировки одинаковые стоят рядом — std::unique одним проходом сдвигает уникальные влево, erase отрезает хвост. Ни одной аллокации, один буфер, который читается подряд — как книги на одной полке. Слово «подряд» и есть ответ на весь раунд 1.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нет, всё на экране сразу.</a:t>
            </a:r>
          </a:p>
          <a:p xmlns:a="http://schemas.openxmlformats.org/drawingml/2006/main">
            <a:r>
              <a:t>Под рукой:</a:t>
            </a:r>
          </a:p>
          <a:p xmlns:a="http://schemas.openxmlformats.org/drawingml/2006/main">
            <a:r>
              <a:t>— Идеи pdqsort и BlockQuickSort пришли в libc++ в LLVM 16; introsort — с LLVM 14. На Apple std::sort для целых исполняется из системной libc++, так что алгоритм выбирает версия ОС (cpp.md §4.1, §4.4). libstdc++ — introsort с медианой трёх.</a:t>
            </a:r>
          </a:p>
          <a:p xmlns:a="http://schemas.openxmlformats.org/drawingml/2006/main">
            <a:r>
              <a:t>— Сравнений на случайных 64-битных при N = 2^20: libc++ — 22,2 на элемент, libstdc++ — 25,6; нижняя граница для сортировки сравнениями — 18,56 (cpp.md §7).</a:t>
            </a:r>
          </a:p>
          <a:p xmlns:a="http://schemas.openxmlformats.org/drawingml/2006/main">
            <a:r>
              <a:t>— «0 аллокаций» — в этой реализации: сортируем свежую копию на месте, unique и erase память не просят.</a:t>
            </a:r>
          </a:p>
          <a:p xmlns:a="http://schemas.openxmlformats.org/drawingml/2006/main">
            <a:r>
              <a:t>С экрана убрано: вход: 8 чисел, из них 4 разных. Сортировка — introsort (в libc++ — с идеями pdqsort): опорный элемент, раскладка «меньше / больше», повтор в половинах; ~log₂N уровней, на каждом проход по всем N. std::sort — одинаковые встали рядом. unique — один проход: сравниваем соседей, повтор пропускаем; на месте, без новой памяти. std::unique сдвигает уникальные влево, erase отрезает хвост. Один плотный буфер, который читается подряд.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Backup, вне тайминга. В основном потоке его заменил nodes.</a:t>
            </a:r>
          </a:p>
          <a:p xmlns:a="http://schemas.openxmlformats.org/drawingml/2006/main">
            <a:r>
              <a:t>Q&amp;A: «Как устроена узловая хеш-таблица?» или «Деление в libc++ дорогое на ARM — может, хеш проиграл из-за него?»</a:t>
            </a:r>
          </a:p>
          <a:p xmlns:a="http://schemas.openxmlformats.org/drawingml/2006/main">
            <a:r>
              <a:t>Ответ: хеш-функция превращает ключ в номер ячейки — как библиотечный каталог превращает название в номер шкафа. Ключ 42, посчитали хеш, взяли остаток от деления на число ячеек — вот шкаф; на слайде учебный пример с восемью. Деталь для знатоков: «остаток от деления» в реальных библиотеках разный. libstdc++ держит простое число ячеек и честно делит. libc++ после reserve под степень двойки берёт маску — младшие биты ключа. В моих замерах деления нет: дорого не оно, а узлы. Коэффициент заполнения по умолчанию 1.0 — reserve(N) выделяет N ячеек; без reserve таблица растёт и перевешивает все узлы. Два разных ключа в одном шкафу — коллизия; узловая реализация решает её цепочкой: в шкафу записка, где лежит первая книга, а в книге — где следующая. Цепочки в среднем короткие, отсюда «O(1)». Для целых std::hash — тождество. В libc++ после reserve под степень двойки номер ячейки — это просто младшие биты id. Для моих случайных id это идеально. Для плотных rowid ещё лучше — коллизий нет вовсе. А id с нулями в младших битах соберутся в одну цепочку. Проверьте гистограмму цепочек. У flat_hash_set из второго раунда свой перемешивающий хешер, absl::Hash, — ему тождество не грозит. Самое важное: каждый узел — отдельный кусок памяти, отдельный вызов new. Стандарт требует, чтобы ссылки на элементы переживали рост таблицы, и узлы — привычный способ это выполнить.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нет, всё на экране сразу.</a:t>
            </a:r>
          </a:p>
          <a:p xmlns:a="http://schemas.openxmlformats.org/drawingml/2006/main">
            <a:r>
              <a:t>Под рукой:</a:t>
            </a:r>
          </a:p>
          <a:p xmlns:a="http://schemas.openxmlformats.org/drawingml/2006/main">
            <a:r>
              <a:t>— Деление в libc++ появляется только при росте без reserve (как в дифе) или при N, не равном степени двойки; reserve(1048576) даёт ровно 1 048 576 ячеек и маску h &amp; (N−1) (cpp.md §2.2). libstdc++ делит всегда, даже на каждом шаге цепочки: хеш в узле не хранится (cpp.md §3).</a:t>
            </a:r>
          </a:p>
          <a:p xmlns:a="http://schemas.openxmlformats.org/drawingml/2006/main">
            <a:r>
              <a:t>— Id, кратные 1024, в libc++ после reserve(2^k) заняли 64 ячейки из 65 536, вставка медленнее в 70 раз; кратные 2^20 — в 1 500 раз (cpp.md §6, qa C8).</a:t>
            </a:r>
          </a:p>
          <a:p xmlns:a="http://schemas.openxmlformats.org/drawingml/2006/main">
            <a:r>
              <a:t>— Плотные rowid на x86 при U = N: вся операция в 4,7 раза быстрее случайных id (320 → 68 нс/эл). Готовый ответ: «Серии специально на случайных id, чтобы убрать удачу раскладки. Бенчмарк в репозитории — запустите на своих id».</a:t>
            </a:r>
          </a:p>
          <a:p xmlns:a="http://schemas.openxmlformats.org/drawingml/2006/main">
            <a:r>
              <a:t>Условия и источники (были в подвале слайда): Упрощённая схема узловых реализаций (libstdc++, libc++) · учебный hash и 8 ячеек · max_load_factor 1.0, std::hash для целых — тождество · стандарт требует, чтобы ссылки на элементы переживали rehash</a:t>
            </a:r>
          </a:p>
          <a:p xmlns:a="http://schemas.openxmlformats.org/drawingml/2006/main">
            <a:r>
              <a:t>С экрана убрано: Вставка: посчитать хеш → прийти в ячейку → пройти цепочку → если ключа нет, создать узел. В среднем цепочка короткая, поэтому «O(1) на операцию». Но каждый шаг цепочки — переход по указателю. Номер ячейки: в libstdc++ число ячеек простое — остаток от деления; в libc++ тоже простое, но после reserve(2^k) — степень двойки и маска по младшим битам. Коллизия: 42 и 50 попали в одну ячейку — висят цепочкой (узлы «42 · next», «50 · next»). Каждый узел — отдельный кусок памяти, свой вызов new. Ячейки (бакеты) — массив указателей.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Backup, вне тайминга.</a:t>
            </a:r>
          </a:p>
          <a:p xmlns:a="http://schemas.openxmlformats.org/drawingml/2006/main">
            <a:r>
              <a:t>Q&amp;A: «Почему reserve(N), а не под U? Вы искусственно раздули flat».</a:t>
            </a:r>
          </a:p>
          <a:p xmlns:a="http://schemas.openxmlformats.org/drawingml/2006/main">
            <a:r>
              <a:t>Ответ: я резервировал под N, потому что N известен, а число уникальных — нет. При одном проценте уникальных это в 64 раза больше памяти и медленнее: 3,6 наносекунды на элемент против 2,9 — больше ёмкость, больше инициализации и обхода. Reserve — тоже решение, не бесплатная галочка, и зависит оно от доли уникальных. Оценить U по выборке — отдельный приём.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нет, всё на экране сразу.</a:t>
            </a:r>
          </a:p>
          <a:p xmlns:a="http://schemas.openxmlformats.org/drawingml/2006/main">
            <a:r>
              <a:t>Под рукой:</a:t>
            </a:r>
          </a:p>
          <a:p xmlns:a="http://schemas.openxmlformats.org/drawingml/2006/main">
            <a:r>
              <a:t>— 18 874 344 / 294 912 ≈ 64,0 по точным байтам; 3,6 / 2,9 = 1,24 — на 24% медленнее.</a:t>
            </a:r>
          </a:p>
          <a:p xmlns:a="http://schemas.openxmlformats.org/drawingml/2006/main">
            <a:r>
              <a:t>— «Почему 18,9 МБ, если ключей на 8 МБ?» (errata P2-11): 2^20 — неудачная точка для Swiss Table: ёмкость 2^20 − 1 вмещает только 917 504 ключа при загрузке 7/8, поэтому reserve берёт 2^21 − 1 слотов — по 8 байт ключа и байту метаданных, 18,9 МБ, заполнение 50%.</a:t>
            </a:r>
          </a:p>
          <a:p xmlns:a="http://schemas.openxmlformats.org/drawingml/2006/main">
            <a:r>
              <a:t>— Отсюда правило на decision: «мало уникальных → плоская хеш-таблица, без reserve под весь вход». При 1% уникальных узловая таблица (3,2 нс/эл) даже быстрее flat с reserve(N) (3,6).</a:t>
            </a:r>
          </a:p>
          <a:p xmlns:a="http://schemas.openxmlformats.org/drawingml/2006/main">
            <a:r>
              <a:t>Условия и источники (были в подвале слайда): flat_hash_set · N = 2^20, U/N = 1% · M2 Pro, macOS · нс на элемент · память — сумма запрошенных байт за операцию, МБ = 10^6 байт · id — случайные 64-битные</a:t>
            </a:r>
          </a:p>
          <a:p xmlns:a="http://schemas.openxmlformats.org/drawingml/2006/main">
            <a:r>
              <a:t>С экрана убрано: резерв под N при 1% уникальных сильно превышает число ключей: в 64 раза больше памяти (по точным байтам) и медленнее.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Backup, вне тайминга. На review сказано: «полный чек-лист — в backup и в репозитории».</a:t>
            </a:r>
          </a:p>
          <a:p xmlns:a="http://schemas.openxmlformats.org/drawingml/2006/main">
            <a:r>
              <a:t>Q&amp;A: «Как вы проверяли, что замер честный?» или «Где полный чек-лист?»</a:t>
            </a:r>
          </a:p>
          <a:p xmlns:a="http://schemas.openxmlformats.org/drawingml/2006/main">
            <a:r>
              <a:t>Ответ: чек-лист — четыре группы, каждая сегодня уже сработала. Одинаковая задача: контракт до таймера, все участники проходят проверку корректности. Проверенные код и входы: разные массивы, а не один повторённый; свои N и доля уникальных. Повторения и условия: чередование, медиана, разброс, вторая сессия — мы видели, что между сессиями одна и та же точка гуляет на шестнадцать процентов: 22,6 против 26,3. Версия компилятора, библиотеки и ОС в логе — на Apple std::sort для целых живёт в системной libc++. Устройство и режим — модель, QoS, Low Power Mode, заряд, нагрев. И выводы в пределах данных: факт отдельно от гипотезы о причине — «узлы не влезли в L2» до счётчиков остаётся гипотезой.</a:t>
            </a:r>
          </a:p>
          <a:p xmlns:a="http://schemas.openxmlformats.org/drawingml/2006/main">
            <a:r>
              <a:t>Сфотографируйте — повторять не буду. [5 секунд]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нет, всё на экране сразу.</a:t>
            </a:r>
          </a:p>
          <a:p xmlns:a="http://schemas.openxmlformats.org/drawingml/2006/main">
            <a:r>
              <a:t>Под рукой:</a:t>
            </a:r>
          </a:p>
          <a:p xmlns:a="http://schemas.openxmlformats.org/drawingml/2006/main">
            <a:r>
              <a:t>— Пункт 3 — урок learned: один массив в цикле давал сортировке тысячи id 6,8 нс/эл против 14,4 на 64 разных; на x86 виноват предсказатель, на M2 — что-то адресное, до счётчиков не дошёл.</a:t>
            </a:r>
          </a:p>
          <a:p xmlns:a="http://schemas.openxmlformats.org/drawingml/2006/main">
            <a:r>
              <a:t>— Пункт 5: 26,3 / 22,6 = 1,16 — unordered_set на 1M при U = N/2, сессии А и Б; сортировка между сессиями стабильна (20,1 против 20,2).</a:t>
            </a:r>
          </a:p>
          <a:p xmlns:a="http://schemas.openxmlformats.org/drawingml/2006/main">
            <a:r>
              <a:t>— Пункт 7: модель iPhone — конкретная модель, чип и версия iOS; пока её нет на слайдах, доклад нарушает свой же пункт 7 (qa M1).</a:t>
            </a:r>
          </a:p>
          <a:p xmlns:a="http://schemas.openxmlformats.org/drawingml/2006/main">
            <a:r>
              <a:t>С экрана убрано: полные формулировки пунктов: 1. Контракт записан до запуска таймера. 2. Все участники проходят проверку корректности. 3. Разные входы, а не один повторённый массив. 4. Свои N и доля уникальных, а не «случайные int». 5. Повторы, чередование, медиана и разброс, две сессии. 6. Версия компилятора, библиотеки и ОС в логе. 7. Целевое устройство и его состояние: модель, QoS, Low Power Mode, заряд, нагрев. 8. Факт отдельно от гипотезы о причине.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Backup, вне тайминга. В основном потоке эту мысль несёт формула на memory.</a:t>
            </a:r>
          </a:p>
          <a:p xmlns:a="http://schemas.openxmlformats.org/drawingml/2006/main">
            <a:r>
              <a:t>Q&amp;A: «Из чего складывается работа каждого?»</a:t>
            </a:r>
          </a:p>
          <a:p xmlns:a="http://schemas.openxmlformats.org/drawingml/2006/main">
            <a:r>
              <a:t>Ответ: N — сколько чисел на входе, U — сколько разных. Сортировка — около N·log N сравнений и перестановок в одном плотном буфере, без единой аллокации. Хеш — хеши, обращения к ячейкам и узлам, проверки равенства, U аллокаций и U освобождений, обход при выгрузке. Шагов меньше — но какие это шаги.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нет, всё на экране сразу.</a:t>
            </a:r>
          </a:p>
          <a:p xmlns:a="http://schemas.openxmlformats.org/drawingml/2006/main">
            <a:r>
              <a:t>Под рукой:</a:t>
            </a:r>
          </a:p>
          <a:p xmlns:a="http://schemas.openxmlformats.org/drawingml/2006/main">
            <a:r>
              <a:t>— Точное число действий хеша зависит от коллизий и дублей.</a:t>
            </a:r>
          </a:p>
          <a:p xmlns:a="http://schemas.openxmlformats.org/drawingml/2006/main">
            <a:r>
              <a:t>— Счётчик аллокаций (allocs): при N = U = 2^20 — 1 048 577 вызовов new, запрошено 33,6 МБ в libc++ и 25,2 МБ в libstdc++; с округлением malloc ≈ 42 МБ. Плюс миллион delete в деструкторе.</a:t>
            </a:r>
          </a:p>
          <a:p xmlns:a="http://schemas.openxmlformats.org/drawingml/2006/main">
            <a:r>
              <a:t>— Фазы на x86 (bench.md E11, U = N): reserve и вставки ≈43%, выгрузка ≈26%, деструктор 28–30%.</a:t>
            </a:r>
          </a:p>
          <a:p xmlns:a="http://schemas.openxmlformats.org/drawingml/2006/main">
            <a:r>
              <a:t>С экрана убрано: хеширование, обращения к ячейкам и узлам, проверки равенства (на экране — «хеш, ячейки, узлы, сравнения»); 0 аллокаций — в этой реализации; log₂(1 000 000) ≈ 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2:00–2:45. Дедупликация — это те самые три строчки из ревью. Два классических способа. Первый — отсортировать: после сортировки одинаковые id стоят рядом, и один проход их схлопывает. Это O(n log n). Второй — хеш-таблица: складываем id в множество, оно само отбрасывает повторы, потом выгружаем обратно. Это в среднем O(n) — линейно. Логарифм миллиона — около двадцати. На бумаге второй способ делает в двадцать раз меньше шагов. Я тоже сначала выбрал бы хеш-таблицу и закрыл тикет. Давайте проверим интуицию — вашу и мою.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нет, всё на экране сразу.</a:t>
            </a:r>
          </a:p>
          <a:p xmlns:a="http://schemas.openxmlformats.org/drawingml/2006/main">
            <a:r>
              <a:t>С экрана убрано: Логарифм миллиона — около 20 (на экране: log₂ 10⁶ ≈ 20). Кажется, выбор очевиден.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7:15–8:15. Big-O отвечает на один вопрос: как растёт число шагов, когда растёт вход. Вдвое больше данных — примерно вдвое больше работы для линейной модели, чуть больше для N log N. Это по-настоящему полезно: Big-O спасает от катастрофы, когда данных станет в тысячу раз больше. Но время — это N, умноженное на число шагов, умноженное на цену шага. Big-O знает только средний множитель. Цена шага — от одной наносекунды за сложение в регистре до ста за поход в оперативную память: два порядка. А логарифм миллиона — двадцать. То есть память может перевесить логарифм в пять раз. Весь доклад — про этот последний множитель. → Переход: «Значит, надо посмотреть, из каких шагов состоит каждый соперник. Начнём с сортировки».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нет, всё на экране сразу.</a:t>
            </a:r>
          </a:p>
          <a:p xmlns:a="http://schemas.openxmlformats.org/drawingml/2006/main">
            <a:r>
              <a:t>С экрана убрано: Что говорит O. Верхняя оценка роста работы: N log N растёт чуть быстрее линии, N² — за край задолго до конца. Между O(N) и O(N log N) на миллионе — множитель около 20. Big-O знает только средний множитель. Цена шага — от 1 до 100 нс, два порядка; log₂(10⁶) — множитель 20. Память может перевесить логарифм в пять раз.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28:30–29:15. Вернёмся к вашей руке. Кто начал бы с сортировки — на телефоне в фоне она быстрее этого unordered_set. Кто с хеша — flat_hash_set и данные с повторами на его стороне. А кто попросил условие — был прав с первой минуты. Вот эти условия: какой выход нужен, какие N и доля уникальных, какой именно контейнер, какая система и связка инструментов, первый запуск или длительная нагрузка и с каким приоритетом, и какую долю этапа занимает операция. Мне хотелось бы, чтобы после сегодняшнего фраза «так должно быть быстрее» чаще превращалась в «давайте проверим». → Переход: «И одно действие на понедельник».</a:t>
            </a:r>
          </a:p>
          <a:p xmlns:a="http://schemas.openxmlformats.org/drawingml/2006/main">
            <a:r>
              <a:t>━━━━━━━━━━━━━━━━━━━━━━━━</a:t>
            </a:r>
          </a:p>
          <a:p xmlns:a="http://schemas.openxmlformats.org/drawingml/2006/main">
            <a:r>
              <a:t>Щелчки: нет, всё на экране сразу.</a:t>
            </a:r>
          </a:p>
          <a:p xmlns:a="http://schemas.openxmlformats.org/drawingml/2006/main">
            <a:r>
              <a:t>С экрана убрано: Никита Нагорнов · код, сырые данные и условия замеров — в репозитории · Спасибо! Вопросы? (подпись и QR на репозиторий убраны со слайда).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606e4ccbab4be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a52d7c3b8c4f8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329c804aec4cf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8e173d83b1490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8584bf4e044c4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2912dddf9b462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5477710-ED0B-4F91-B234-754C1F40D4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1943100"/>
            <a:ext cx="731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C862F3C-0486-431D-993F-6C81F4547DA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2828925"/>
            <a:ext cx="6400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E8E158A-D218-431C-8312-8CCAC97F21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2143125"/>
            <a:ext cx="731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A2C2DB-81BA-44B8-BAA2-2755A93B25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CC8A7AF-7B8C-41E7-BE85-69D2435658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81153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DC18D73-D1BE-4DA1-8819-0F743F9E8A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D2E7150-50D5-4C8C-B418-AFB0DA0B9D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966EAFC-DDC8-41A8-A544-BCC496EDBD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577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49D1C5-E0F5-42C1-8650-56C0640E7F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085539C-7C74-45B3-BEE3-471876EC4F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87c270729c4eb9" /><Relationship Type="http://schemas.openxmlformats.org/officeDocument/2006/relationships/slideLayout" Target="/ppt/slideLayouts/slideLayout1.xml" Id="Rcaba49a48d8748e3" /><Relationship Type="http://schemas.openxmlformats.org/officeDocument/2006/relationships/slideLayout" Target="/ppt/slideLayouts/slideLayout2.xml" Id="R4047878093be4e5f" /><Relationship Type="http://schemas.openxmlformats.org/officeDocument/2006/relationships/slideLayout" Target="/ppt/slideLayouts/slideLayout3.xml" Id="R2b559f0b13e34e64" /><Relationship Type="http://schemas.openxmlformats.org/officeDocument/2006/relationships/slideLayout" Target="/ppt/slideLayouts/slideLayout4.xml" Id="R56ed99a3c00b4bd6" /><Relationship Type="http://schemas.openxmlformats.org/officeDocument/2006/relationships/slideLayout" Target="/ppt/slideLayouts/slideLayout5.xml" Id="R56a33359919640b1" /><Relationship Type="http://schemas.openxmlformats.org/officeDocument/2006/relationships/slideLayout" Target="/ppt/slideLayouts/slideLayout6.xml" Id="R150d433ee28c45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ba49a48d8748e3"/>
    <p:sldLayoutId xmlns:r="http://schemas.openxmlformats.org/officeDocument/2006/relationships" id="2147483650" r:id="R4047878093be4e5f"/>
    <p:sldLayoutId xmlns:r="http://schemas.openxmlformats.org/officeDocument/2006/relationships" id="2147483651" r:id="R2b559f0b13e34e64"/>
    <p:sldLayoutId xmlns:r="http://schemas.openxmlformats.org/officeDocument/2006/relationships" id="2147483652" r:id="R56ed99a3c00b4bd6"/>
    <p:sldLayoutId xmlns:r="http://schemas.openxmlformats.org/officeDocument/2006/relationships" id="2147483653" r:id="R56a33359919640b1"/>
    <p:sldLayoutId xmlns:r="http://schemas.openxmlformats.org/officeDocument/2006/relationships" id="2147483654" r:id="R150d433ee28c45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b769bf350874de5"/><Relationship Type="http://schemas.openxmlformats.org/officeDocument/2006/relationships/image" Target="/ppt/media/image.png" Id="R21109a82e74d4fbf"/><Relationship Type="http://schemas.openxmlformats.org/officeDocument/2006/relationships/image" Target="/ppt/media/image2.png" Id="R6d71482a554d4335"/><Relationship Type="http://schemas.openxmlformats.org/officeDocument/2006/relationships/notesSlide" Target="/ppt/notesSlides/notesSlide1.xml" Id="R69939d7b49d8473f"/><Relationship Id="rIdHFvideo1" Type="http://schemas.openxmlformats.org/officeDocument/2006/relationships/video" Target="../media/hf-animation-1.mp4"/><Relationship Id="rIdHFmedia1" Type="http://schemas.microsoft.com/office/2007/relationships/media" Target="../media/hf-animation-1.mp4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f96aba3d7784edc"/><Relationship Type="http://schemas.openxmlformats.org/officeDocument/2006/relationships/image" Target="/ppt/media/image3.png" Id="R1e5652d90ecc487d"/><Relationship Type="http://schemas.openxmlformats.org/officeDocument/2006/relationships/notesSlide" Target="/ppt/notesSlides/notesSlide2.xml" Id="Re0be340bc1854677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2b1960627374623"/><Relationship Type="http://schemas.openxmlformats.org/officeDocument/2006/relationships/image" Target="/ppt/media/image4.png" Id="R82097ad435e74baa"/><Relationship Type="http://schemas.openxmlformats.org/officeDocument/2006/relationships/image" Target="/ppt/media/image5.png" Id="Rb44f73837a01458a"/><Relationship Type="http://schemas.openxmlformats.org/officeDocument/2006/relationships/notesSlide" Target="/ppt/notesSlides/notesSlide3.xml" Id="Rac55237c1a7849d4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3ad8906ec5c427f"/><Relationship Type="http://schemas.openxmlformats.org/officeDocument/2006/relationships/image" Target="/ppt/media/image6.png" Id="Rb8c41eb1f5ca4e6c"/><Relationship Type="http://schemas.openxmlformats.org/officeDocument/2006/relationships/notesSlide" Target="/ppt/notesSlides/notesSlide4.xml" Id="Racef79de0bf84fc8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198eba217b5943e7"/><Relationship Type="http://schemas.openxmlformats.org/officeDocument/2006/relationships/image" Target="/ppt/media/image7.png" Id="R75edb5d7a78b42dd"/><Relationship Type="http://schemas.openxmlformats.org/officeDocument/2006/relationships/notesSlide" Target="/ppt/notesSlides/notesSlide5.xml" Id="R39250e1214ad4cc6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f902ca98fa144ef"/><Relationship Type="http://schemas.openxmlformats.org/officeDocument/2006/relationships/image" Target="/ppt/media/image8.png" Id="R02169272e0d3431c"/><Relationship Type="http://schemas.openxmlformats.org/officeDocument/2006/relationships/notesSlide" Target="/ppt/notesSlides/notesSlide6.xml" Id="R97dfdffbeaed49cf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0f7c61009f84eb9"/><Relationship Type="http://schemas.openxmlformats.org/officeDocument/2006/relationships/image" Target="/ppt/media/image9.png" Id="R7d787ab3212d4a17"/><Relationship Type="http://schemas.openxmlformats.org/officeDocument/2006/relationships/notesSlide" Target="/ppt/notesSlides/notesSlide7.xml" Id="R22d2c4c09a47481b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2cfa750e551412c"/><Relationship Type="http://schemas.openxmlformats.org/officeDocument/2006/relationships/image" Target="/ppt/media/image10.png" Id="R8ce6185a046f4fc1"/><Relationship Type="http://schemas.openxmlformats.org/officeDocument/2006/relationships/image" Target="/ppt/media/image11.png" Id="R58ed1577750a4cd8"/><Relationship Type="http://schemas.openxmlformats.org/officeDocument/2006/relationships/notesSlide" Target="/ppt/notesSlides/notesSlide8.xml" Id="R79a9d61075fa4f1b"/><Relationship Id="rIdHFvideo2" Type="http://schemas.openxmlformats.org/officeDocument/2006/relationships/video" Target="../media/hf-animation-2.mp4"/><Relationship Id="rIdHFmedia2" Type="http://schemas.microsoft.com/office/2007/relationships/media" Target="../media/hf-animation-2.mp4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7a47919adb74510"/><Relationship Type="http://schemas.openxmlformats.org/officeDocument/2006/relationships/image" Target="/ppt/media/image12.png" Id="R37936f00d25e4495"/><Relationship Type="http://schemas.openxmlformats.org/officeDocument/2006/relationships/image" Target="/ppt/media/image13.png" Id="Rb943cc75720442ad"/><Relationship Type="http://schemas.openxmlformats.org/officeDocument/2006/relationships/notesSlide" Target="/ppt/notesSlides/notesSlide9.xml" Id="Rcd50a7f14eea437b"/><Relationship Id="rIdHFvideo3" Type="http://schemas.openxmlformats.org/officeDocument/2006/relationships/video" Target="../media/hf-animation-3.mp4"/><Relationship Id="rIdHFmedia3" Type="http://schemas.microsoft.com/office/2007/relationships/media" Target="../media/hf-animation-3.mp4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e9b40856647404c"/><Relationship Type="http://schemas.openxmlformats.org/officeDocument/2006/relationships/image" Target="/ppt/media/image14.png" Id="Rbc971f5d2baa4b7c"/><Relationship Type="http://schemas.openxmlformats.org/officeDocument/2006/relationships/image" Target="/ppt/media/image15.png" Id="Rd1bf9697a6004c79"/><Relationship Type="http://schemas.openxmlformats.org/officeDocument/2006/relationships/image" Target="/ppt/media/image16.png" Id="R6741df8cb2884ca2"/><Relationship Type="http://schemas.openxmlformats.org/officeDocument/2006/relationships/image" Target="/ppt/media/image17.png" Id="Ra69fe477af934379"/><Relationship Type="http://schemas.openxmlformats.org/officeDocument/2006/relationships/notesSlide" Target="/ppt/notesSlides/notesSlide10.xml" Id="R009ecc81feeb422b"/><Relationship Id="rIdHFvideo4" Type="http://schemas.openxmlformats.org/officeDocument/2006/relationships/video" Target="../media/hf-animation-4.mp4"/><Relationship Id="rIdHFmedia4" Type="http://schemas.microsoft.com/office/2007/relationships/media" Target="../media/hf-animation-4.mp4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bb041c8db23482e"/><Relationship Type="http://schemas.openxmlformats.org/officeDocument/2006/relationships/image" Target="/ppt/media/image18.png" Id="R9b6b7804b2da4d9a"/><Relationship Type="http://schemas.openxmlformats.org/officeDocument/2006/relationships/notesSlide" Target="/ppt/notesSlides/notesSlide11.xml" Id="R5d5458ee41194dc4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85e53255c1843fb"/><Relationship Type="http://schemas.openxmlformats.org/officeDocument/2006/relationships/image" Target="/ppt/media/image19.png" Id="Re8cca5255f1942f3"/><Relationship Type="http://schemas.openxmlformats.org/officeDocument/2006/relationships/notesSlide" Target="/ppt/notesSlides/notesSlide12.xml" Id="Ra4f304c4424f4fba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411ba6c4da945ee"/><Relationship Type="http://schemas.openxmlformats.org/officeDocument/2006/relationships/image" Target="/ppt/media/image20.png" Id="R4a72e01d8ac84802"/><Relationship Type="http://schemas.openxmlformats.org/officeDocument/2006/relationships/notesSlide" Target="/ppt/notesSlides/notesSlide13.xml" Id="Re592e860be7b413d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e1350f1d0a749f2"/><Relationship Type="http://schemas.openxmlformats.org/officeDocument/2006/relationships/image" Target="/ppt/media/image21.png" Id="R9a0ed018fd78416f"/><Relationship Type="http://schemas.openxmlformats.org/officeDocument/2006/relationships/notesSlide" Target="/ppt/notesSlides/notesSlide14.xml" Id="R61f0b62b77b0418a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680039237e64eb3"/><Relationship Type="http://schemas.openxmlformats.org/officeDocument/2006/relationships/image" Target="/ppt/media/image22.png" Id="R660c7be11be84142"/><Relationship Type="http://schemas.openxmlformats.org/officeDocument/2006/relationships/notesSlide" Target="/ppt/notesSlides/notesSlide15.xml" Id="R377962f77bb142ae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cf89241c2744ec1"/><Relationship Type="http://schemas.openxmlformats.org/officeDocument/2006/relationships/image" Target="/ppt/media/image23.png" Id="Rac515c554a624a46"/><Relationship Type="http://schemas.openxmlformats.org/officeDocument/2006/relationships/notesSlide" Target="/ppt/notesSlides/notesSlide16.xml" Id="Radf639f1b3af4108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7ce541027e54897"/><Relationship Type="http://schemas.openxmlformats.org/officeDocument/2006/relationships/image" Target="/ppt/media/image24.png" Id="R89d1ba3626f247b7"/><Relationship Type="http://schemas.openxmlformats.org/officeDocument/2006/relationships/notesSlide" Target="/ppt/notesSlides/notesSlide17.xml" Id="R966cab03d9b14ba0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ecd6720a1e84592"/><Relationship Type="http://schemas.openxmlformats.org/officeDocument/2006/relationships/image" Target="/ppt/media/image25.png" Id="R9d391d2128f34cb7"/><Relationship Type="http://schemas.openxmlformats.org/officeDocument/2006/relationships/notesSlide" Target="/ppt/notesSlides/notesSlide18.xml" Id="R4e4627c9e6f248a7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5381c237cb14d87"/><Relationship Type="http://schemas.openxmlformats.org/officeDocument/2006/relationships/image" Target="/ppt/media/image26.png" Id="Rf202ee1e741a4b52"/><Relationship Type="http://schemas.openxmlformats.org/officeDocument/2006/relationships/notesSlide" Target="/ppt/notesSlides/notesSlide19.xml" Id="R0ac082f182014755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a9b02a47b3e4b1c"/><Relationship Type="http://schemas.openxmlformats.org/officeDocument/2006/relationships/image" Target="/ppt/media/image27.png" Id="Rd39010eac574430f"/><Relationship Type="http://schemas.openxmlformats.org/officeDocument/2006/relationships/notesSlide" Target="/ppt/notesSlides/notesSlide20.xml" Id="R9e9140ff64a6458f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4f2f44daf134ea8"/><Relationship Type="http://schemas.openxmlformats.org/officeDocument/2006/relationships/image" Target="/ppt/media/image28.png" Id="Rc7f809d2d7bd497c"/><Relationship Type="http://schemas.openxmlformats.org/officeDocument/2006/relationships/notesSlide" Target="/ppt/notesSlides/notesSlide21.xml" Id="R3252cf0842ef4d17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898653632134591"/><Relationship Type="http://schemas.openxmlformats.org/officeDocument/2006/relationships/image" Target="/ppt/media/image29.png" Id="Rc3cac27242d04eee"/><Relationship Type="http://schemas.openxmlformats.org/officeDocument/2006/relationships/notesSlide" Target="/ppt/notesSlides/notesSlide22.xml" Id="R7105ef0026834cd7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18b12042ba241d7"/><Relationship Type="http://schemas.openxmlformats.org/officeDocument/2006/relationships/image" Target="/ppt/media/image30.png" Id="R18fdf105c2974f90"/><Relationship Type="http://schemas.openxmlformats.org/officeDocument/2006/relationships/notesSlide" Target="/ppt/notesSlides/notesSlide23.xml" Id="R861e6dd78e4c4569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3c844106625405f"/><Relationship Type="http://schemas.openxmlformats.org/officeDocument/2006/relationships/image" Target="/ppt/media/image31.png" Id="R8671285efba14694"/><Relationship Type="http://schemas.openxmlformats.org/officeDocument/2006/relationships/notesSlide" Target="/ppt/notesSlides/notesSlide24.xml" Id="R7b80b47cd02249fa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1ca27331e2e4b76"/><Relationship Type="http://schemas.openxmlformats.org/officeDocument/2006/relationships/image" Target="/ppt/media/image32.png" Id="Ra378fae44cee4058"/><Relationship Type="http://schemas.openxmlformats.org/officeDocument/2006/relationships/notesSlide" Target="/ppt/notesSlides/notesSlide25.xml" Id="R2b9f429736724e1d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213c6af7ff44ebb"/><Relationship Type="http://schemas.openxmlformats.org/officeDocument/2006/relationships/image" Target="/ppt/media/image33.png" Id="R6ff82cb44e5248d5"/><Relationship Type="http://schemas.openxmlformats.org/officeDocument/2006/relationships/image" Target="/ppt/media/image34.png" Id="R0f4055bb4d3d4222"/><Relationship Type="http://schemas.openxmlformats.org/officeDocument/2006/relationships/notesSlide" Target="/ppt/notesSlides/notesSlide26.xml" Id="Rae10c7ba101044f9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fdad15d9a6f4b70"/><Relationship Type="http://schemas.openxmlformats.org/officeDocument/2006/relationships/image" Target="/ppt/media/image35.png" Id="Rd295b639176c4446"/><Relationship Type="http://schemas.openxmlformats.org/officeDocument/2006/relationships/image" Target="/ppt/media/image36.png" Id="R7dbab513ea374362"/><Relationship Type="http://schemas.openxmlformats.org/officeDocument/2006/relationships/notesSlide" Target="/ppt/notesSlides/notesSlide27.xml" Id="R407aa753a98c4f13"/></Relationships>
</file>

<file path=ppt/slides/_rels/slide2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0e53a097c584eb4"/><Relationship Type="http://schemas.openxmlformats.org/officeDocument/2006/relationships/image" Target="/ppt/media/image37.png" Id="Rb10a06b4d55344c5"/><Relationship Type="http://schemas.openxmlformats.org/officeDocument/2006/relationships/notesSlide" Target="/ppt/notesSlides/notesSlide28.xml" Id="R41d1db55da454bd4"/></Relationships>
</file>

<file path=ppt/slides/_rels/slide2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606e8acfef64bb2"/><Relationship Type="http://schemas.openxmlformats.org/officeDocument/2006/relationships/image" Target="/ppt/media/image38.png" Id="R204eb4e3eb9b4555"/><Relationship Type="http://schemas.openxmlformats.org/officeDocument/2006/relationships/notesSlide" Target="/ppt/notesSlides/notesSlide29.xml" Id="R684bac0b109349ff"/></Relationships>
</file>

<file path=ppt/slides/_rels/slide3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aa617cfa60341dd"/><Relationship Type="http://schemas.openxmlformats.org/officeDocument/2006/relationships/image" Target="/ppt/media/image39.png" Id="Rb26bb1083d564eef"/><Relationship Type="http://schemas.openxmlformats.org/officeDocument/2006/relationships/notesSlide" Target="/ppt/notesSlides/notesSlide30.xml" Id="R7e51b3dec4a54179"/></Relationships>
</file>

<file path=ppt/slides/_rels/slide3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0c5a048f0b3445c"/><Relationship Type="http://schemas.openxmlformats.org/officeDocument/2006/relationships/image" Target="/ppt/media/image40.png" Id="Re0198361795a4ac1"/><Relationship Type="http://schemas.openxmlformats.org/officeDocument/2006/relationships/notesSlide" Target="/ppt/notesSlides/notesSlide31.xml" Id="Rfcc86d2d0a5147a8"/></Relationships>
</file>

<file path=ppt/slides/_rels/slide3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16d796fb7e904a47"/><Relationship Type="http://schemas.openxmlformats.org/officeDocument/2006/relationships/image" Target="/ppt/media/image41.png" Id="Rd3603fe6c64a4314"/><Relationship Type="http://schemas.openxmlformats.org/officeDocument/2006/relationships/notesSlide" Target="/ppt/notesSlides/notesSlide32.xml" Id="Re997a9b0102e4a06"/></Relationships>
</file>

<file path=ppt/slides/_rels/slide3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ae11411479d4569"/><Relationship Type="http://schemas.openxmlformats.org/officeDocument/2006/relationships/image" Target="/ppt/media/image42.png" Id="Ref4aa0f97c1943d8"/><Relationship Type="http://schemas.openxmlformats.org/officeDocument/2006/relationships/notesSlide" Target="/ppt/notesSlides/notesSlide33.xml" Id="R5efebfa6daa54153"/></Relationships>
</file>

<file path=ppt/slides/_rels/slide3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367e434d0ec45d8"/><Relationship Type="http://schemas.openxmlformats.org/officeDocument/2006/relationships/image" Target="/ppt/media/image43.png" Id="R3fa2d53b36114ef7"/><Relationship Type="http://schemas.openxmlformats.org/officeDocument/2006/relationships/notesSlide" Target="/ppt/notesSlides/notesSlide34.xml" Id="Reb7a962768754321"/></Relationships>
</file>

<file path=ppt/slides/_rels/slide3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fcd40445d154f7e"/><Relationship Type="http://schemas.openxmlformats.org/officeDocument/2006/relationships/image" Target="/ppt/media/image44.png" Id="Re431d2d7c5254f2d"/><Relationship Type="http://schemas.openxmlformats.org/officeDocument/2006/relationships/notesSlide" Target="/ppt/notesSlides/notesSlide35.xml" Id="Re8125e59d9e446b5"/></Relationships>
</file>

<file path=ppt/slides/_rels/slide3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354c1eb42304729"/><Relationship Type="http://schemas.openxmlformats.org/officeDocument/2006/relationships/image" Target="/ppt/media/image45.png" Id="R348895e069494a7f"/><Relationship Type="http://schemas.openxmlformats.org/officeDocument/2006/relationships/notesSlide" Target="/ppt/notesSlides/notesSlide36.xml" Id="R070c738f462442f2"/></Relationships>
</file>

<file path=ppt/slides/_rels/slide3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4b618c145504b51"/><Relationship Type="http://schemas.openxmlformats.org/officeDocument/2006/relationships/image" Target="/ppt/media/image46.png" Id="R2672bb9e6bc047cd"/><Relationship Type="http://schemas.openxmlformats.org/officeDocument/2006/relationships/notesSlide" Target="/ppt/notesSlides/notesSlide37.xml" Id="R0ba9b29ff54044f3"/></Relationships>
</file>

<file path=ppt/slides/_rels/slide3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b322dd7770948c3"/><Relationship Type="http://schemas.openxmlformats.org/officeDocument/2006/relationships/image" Target="/ppt/media/image47.png" Id="Rbd3eaea7d07d4823"/><Relationship Type="http://schemas.openxmlformats.org/officeDocument/2006/relationships/notesSlide" Target="/ppt/notesSlides/notesSlide38.xml" Id="R47aaed0460ef4d96"/></Relationships>
</file>

<file path=ppt/slides/_rels/slide3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be78ec9765c4c27"/><Relationship Type="http://schemas.openxmlformats.org/officeDocument/2006/relationships/image" Target="/ppt/media/image48.png" Id="Raf1e02efb1ab44f4"/><Relationship Type="http://schemas.openxmlformats.org/officeDocument/2006/relationships/notesSlide" Target="/ppt/notesSlides/notesSlide39.xml" Id="Re3f7da9bba494e22"/></Relationships>
</file>

<file path=ppt/slides/_rels/slide4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4b6e57516934f90"/><Relationship Type="http://schemas.openxmlformats.org/officeDocument/2006/relationships/image" Target="/ppt/media/image49.png" Id="R484ec1191fea4e93"/><Relationship Type="http://schemas.openxmlformats.org/officeDocument/2006/relationships/notesSlide" Target="/ppt/notesSlides/notesSlide40.xml" Id="R713366fb34184074"/></Relationships>
</file>

<file path=ppt/slides/_rels/slide4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ad7f4c32a6f4390"/><Relationship Type="http://schemas.openxmlformats.org/officeDocument/2006/relationships/image" Target="/ppt/media/image50.png" Id="R91441ecda54b4ca2"/><Relationship Type="http://schemas.openxmlformats.org/officeDocument/2006/relationships/notesSlide" Target="/ppt/notesSlides/notesSlide41.xml" Id="R7c8c3ba1da7547da"/></Relationships>
</file>

<file path=ppt/slides/_rels/slide4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eba37e0d93b4e06"/><Relationship Type="http://schemas.openxmlformats.org/officeDocument/2006/relationships/image" Target="/ppt/media/image51.png" Id="R2a816275168647e9"/><Relationship Type="http://schemas.openxmlformats.org/officeDocument/2006/relationships/notesSlide" Target="/ppt/notesSlides/notesSlide42.xml" Id="R254557898d6a4c8b"/></Relationships>
</file>

<file path=ppt/slides/_rels/slide4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ff6372828224ff9"/><Relationship Type="http://schemas.openxmlformats.org/officeDocument/2006/relationships/image" Target="/ppt/media/image52.png" Id="Rcd6a8056a8cb4ad9"/><Relationship Type="http://schemas.openxmlformats.org/officeDocument/2006/relationships/notesSlide" Target="/ppt/notesSlides/notesSlide43.xml" Id="R68911a8702f142b8"/></Relationships>
</file>

<file path=ppt/slides/_rels/slide4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f1038e3587a49cf"/><Relationship Type="http://schemas.openxmlformats.org/officeDocument/2006/relationships/image" Target="/ppt/media/image53.png" Id="R5c2eadef7b894464"/><Relationship Type="http://schemas.openxmlformats.org/officeDocument/2006/relationships/notesSlide" Target="/ppt/notesSlides/notesSlide44.xml" Id="Re3a789d7ab4f43ab"/></Relationships>
</file>

<file path=ppt/slides/_rels/slide4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2f253fd02a14cde"/><Relationship Type="http://schemas.openxmlformats.org/officeDocument/2006/relationships/image" Target="/ppt/media/image54.png" Id="Rdfb9c4bee34a4475"/><Relationship Type="http://schemas.openxmlformats.org/officeDocument/2006/relationships/notesSlide" Target="/ppt/notesSlides/notesSlide45.xml" Id="R31caf45e29fe4c69"/></Relationships>
</file>

<file path=ppt/slides/_rels/slide4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02b46853d2e446b"/><Relationship Type="http://schemas.openxmlformats.org/officeDocument/2006/relationships/image" Target="/ppt/media/image55.png" Id="R2bea5ec4a33143bd"/><Relationship Type="http://schemas.openxmlformats.org/officeDocument/2006/relationships/notesSlide" Target="/ppt/notesSlides/notesSlide46.xml" Id="Rbcbd26e1d0b34c37"/></Relationships>
</file>

<file path=ppt/slides/_rels/slide4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d54e596a64047de"/><Relationship Type="http://schemas.openxmlformats.org/officeDocument/2006/relationships/image" Target="/ppt/media/image56.png" Id="R8669f728fee14265"/><Relationship Type="http://schemas.openxmlformats.org/officeDocument/2006/relationships/notesSlide" Target="/ppt/notesSlides/notesSlide47.xml" Id="Rb953b9ea743a4a2b"/></Relationships>
</file>

<file path=ppt/slides/_rels/slide4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f772b94298d4f3a"/><Relationship Type="http://schemas.openxmlformats.org/officeDocument/2006/relationships/image" Target="/ppt/media/image57.png" Id="R77d71027a9514941"/><Relationship Type="http://schemas.openxmlformats.org/officeDocument/2006/relationships/notesSlide" Target="/ppt/notesSlides/notesSlide48.xml" Id="Rc6dafa81cf7240c4"/></Relationships>
</file>

<file path=ppt/slides/_rels/slide4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a02ed1d72844457"/><Relationship Type="http://schemas.openxmlformats.org/officeDocument/2006/relationships/image" Target="/ppt/media/image58.png" Id="Rec017615d4f1494a"/><Relationship Type="http://schemas.openxmlformats.org/officeDocument/2006/relationships/notesSlide" Target="/ppt/notesSlides/notesSlide49.xml" Id="R11ea41ab25704377"/></Relationships>
</file>

<file path=ppt/slides/_rels/slide5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442be2c9e59450f"/><Relationship Type="http://schemas.openxmlformats.org/officeDocument/2006/relationships/image" Target="/ppt/media/image59.png" Id="Re06cc5c7d9694772"/><Relationship Type="http://schemas.openxmlformats.org/officeDocument/2006/relationships/notesSlide" Target="/ppt/notesSlides/notesSlide50.xml" Id="R55aecd04929a46e6"/></Relationships>
</file>

<file path=ppt/slides/slide1.xml><?xml version="1.0" encoding="utf-8"?>
<p:sld xmlns:p="http://schemas.openxmlformats.org/presentationml/2006/main">
  <p:cSld name="cover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1">
            <a:extLst xmlns:a="http://schemas.openxmlformats.org/drawingml/2006/main">
              <a:ext uri="{FF2B5EF4-FFF2-40B4-BE49-F238E27FC236}">
                <a16:creationId xmlns:a16="http://schemas.microsoft.com/office/drawing/2014/main" id="{AD2FEBC2-14B7-47CA-8E12-9909D5CB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59564"/>
            <a:ext cx="3294162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399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HardFest 2026 · трек «Разработка»</a:t>
            </a:r>
          </a:p>
        </p:txBody>
      </p:sp>
      <p:sp>
        <p:nvSpPr>
          <p:cNvPr id="3" name="hf-2">
            <a:extLst xmlns:a="http://schemas.openxmlformats.org/drawingml/2006/main">
              <a:ext uri="{FF2B5EF4-FFF2-40B4-BE49-F238E27FC236}">
                <a16:creationId xmlns:a16="http://schemas.microsoft.com/office/drawing/2014/main" id="{BF570C9B-D815-408E-8780-049A6F117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520666"/>
            <a:ext cx="4195018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275"/>
              </a:lnSpc>
              <a:buNone/>
            </a:pPr>
            <a:r>
              <a:rPr sz="375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O(n) ПРОИГРАЛ</a:t>
            </a:r>
          </a:p>
        </p:txBody>
      </p:sp>
      <p:sp>
        <p:nvSpPr>
          <p:cNvPr id="4" name="hf-3">
            <a:extLst xmlns:a="http://schemas.openxmlformats.org/drawingml/2006/main">
              <a:ext uri="{FF2B5EF4-FFF2-40B4-BE49-F238E27FC236}">
                <a16:creationId xmlns:a16="http://schemas.microsoft.com/office/drawing/2014/main" id="{333E81F7-BB5B-408D-A5F8-4014FB30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063591"/>
            <a:ext cx="2554188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275"/>
              </a:lnSpc>
              <a:buNone/>
            </a:pPr>
            <a:r>
              <a:rPr sz="37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O(n log n)</a:t>
            </a:r>
          </a:p>
        </p:txBody>
      </p:sp>
      <p:sp>
        <p:nvSpPr>
          <p:cNvPr id="5" name="hf-4">
            <a:extLst xmlns:a="http://schemas.openxmlformats.org/drawingml/2006/main">
              <a:ext uri="{FF2B5EF4-FFF2-40B4-BE49-F238E27FC236}">
                <a16:creationId xmlns:a16="http://schemas.microsoft.com/office/drawing/2014/main" id="{0CFFC503-804F-4AFE-AAF4-65B16608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796845"/>
            <a:ext cx="323790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325"/>
              </a:lnSpc>
              <a:buNone/>
            </a:pPr>
            <a:r>
              <a:rPr sz="1800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Ваш алгоритм не выбирал</a:t>
            </a:r>
          </a:p>
        </p:txBody>
      </p:sp>
      <p:sp>
        <p:nvSpPr>
          <p:cNvPr id="6" name="hf-5">
            <a:extLst xmlns:a="http://schemas.openxmlformats.org/drawingml/2006/main">
              <a:ext uri="{FF2B5EF4-FFF2-40B4-BE49-F238E27FC236}">
                <a16:creationId xmlns:a16="http://schemas.microsoft.com/office/drawing/2014/main" id="{73A605DB-5BFC-4792-8EFD-35C8CDDC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092120"/>
            <a:ext cx="3946178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325"/>
              </a:lnSpc>
              <a:buNone/>
            </a:pPr>
            <a:r>
              <a:rPr sz="1800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процессор, на котором работает</a:t>
            </a:r>
          </a:p>
        </p:txBody>
      </p:sp>
      <p:sp>
        <p:nvSpPr>
          <p:cNvPr id="7" name="hf-6">
            <a:extLst xmlns:a="http://schemas.openxmlformats.org/drawingml/2006/main">
              <a:ext uri="{FF2B5EF4-FFF2-40B4-BE49-F238E27FC236}">
                <a16:creationId xmlns:a16="http://schemas.microsoft.com/office/drawing/2014/main" id="{2E8A5738-0A29-47B6-98F5-635F5EC7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975354"/>
            <a:ext cx="187315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Никита Нагорнов</a:t>
            </a:r>
          </a:p>
        </p:txBody>
      </p:sp>
      <p:sp>
        <p:nvSpPr>
          <p:cNvPr id="8" name="hf-7">
            <a:extLst xmlns:a="http://schemas.openxmlformats.org/drawingml/2006/main">
              <a:ext uri="{FF2B5EF4-FFF2-40B4-BE49-F238E27FC236}">
                <a16:creationId xmlns:a16="http://schemas.microsoft.com/office/drawing/2014/main" id="{938FB40D-22A2-4A94-8438-796BBCBE3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223004"/>
            <a:ext cx="311876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iOS, компания «Исходный код»</a:t>
            </a:r>
          </a:p>
        </p:txBody>
      </p:sp>
      <p:pic>
        <p:nvPicPr>
          <p:cNvPr id="11" name="hf-8-poster">
            <a:extLst xmlns:a="http://schemas.openxmlformats.org/drawingml/2006/main">
              <a:ext uri="{FF2B5EF4-FFF2-40B4-BE49-F238E27FC236}">
                <a16:creationId xmlns:a16="http://schemas.microsoft.com/office/drawing/2014/main" id="{103ADE51-24EC-47F3-9B9B-F9D30A44FF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109a82e74d4fb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5049371" y="1524000"/>
            <a:ext cx="3541059" cy="3009900"/>
          </a:xfrm>
          <a:prstGeom xmlns:a="http://schemas.openxmlformats.org/drawingml/2006/main" prst="rect">
            <a:avLst/>
          </a:prstGeom>
        </p:spPr>
      </p:pic>
      <p:pic>
        <p:nvPicPr>
          <p:cNvPr id="9" name="hf-8">
            <a:extLst xmlns:a="http://schemas.openxmlformats.org/drawingml/2006/main">
              <a:ext uri="{FF2B5EF4-FFF2-40B4-BE49-F238E27FC236}">
                <a16:creationId xmlns:a16="http://schemas.microsoft.com/office/drawing/2014/main" id="{103ADE51-24EC-47F3-9B9B-F9D30A44FF5B}"/>
              </a:ext>
            </a:extLst>
            <ns0:hlinkClick xmlns:ns0="http://schemas.openxmlformats.org/drawingml/2006/main" action="ppaction://media"/>
          </p:cNvPr>
          <p:cNvPicPr>
            <a:picLocks xmlns:a="http://schemas.openxmlformats.org/drawingml/2006/main" noChangeAspect="1"/>
          </p:cNvPicPr>
          <p:nvPr>
            <ns1:videoFile xmlns:ns1="http://schemas.openxmlformats.org/drawingml/2006/main" xmlns:ns2="http://schemas.openxmlformats.org/officeDocument/2006/relationships" ns2:link="rIdHFvideo1"/>
            <p:extLst>
              <p:ext uri="{DAA4B4D4-6D71-4841-9C94-3DE7FCFB1B01}">
                <ns3:media xmlns:ns3="http://schemas.microsoft.com/office/powerpoint/2010/main" xmlns:ns4="http://schemas.openxmlformats.org/officeDocument/2006/relationships" ns4:embed="rIdHFmedia1"/>
              </p:ext>
            </p:extLst>
          </p:nvPr>
        </p:nvPicPr>
        <p:blipFill>
          <a:blip xmlns:r="http://schemas.openxmlformats.org/officeDocument/2006/relationships" xmlns:a="http://schemas.openxmlformats.org/drawingml/2006/main" r:embed="R21109a82e74d4fb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5049371" y="1524000"/>
            <a:ext cx="3541059" cy="3009900"/>
          </a:xfrm>
          <a:prstGeom xmlns:a="http://schemas.openxmlformats.org/drawingml/2006/main" prst="rect">
            <a:avLst/>
          </a:prstGeom>
        </p:spPr>
      </p:pic>
      <p:pic>
        <p:nvPicPr>
          <p:cNvPr id="10" name="hf-9">
            <a:extLst xmlns:a="http://schemas.openxmlformats.org/drawingml/2006/main">
              <a:ext uri="{FF2B5EF4-FFF2-40B4-BE49-F238E27FC236}">
                <a16:creationId xmlns:a16="http://schemas.microsoft.com/office/drawing/2014/main" id="{89B15BC5-B1FD-4F28-BCBF-D583157C93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71482a554d433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38950" y="606893"/>
            <a:ext cx="1809750" cy="61977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611683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.xml><?xml version="1.0" encoding="utf-8"?>
<p:sld xmlns:p="http://schemas.openxmlformats.org/presentationml/2006/main">
  <p:cSld name="diff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10">
            <a:extLst xmlns:a="http://schemas.openxmlformats.org/drawingml/2006/main">
              <a:ext uri="{FF2B5EF4-FFF2-40B4-BE49-F238E27FC236}">
                <a16:creationId xmlns:a16="http://schemas.microsoft.com/office/drawing/2014/main" id="{2396966C-42E6-4A19-8D3C-D4DB9C68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91885"/>
            <a:ext cx="449483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КОД-РЕВЬЮ, ВТОРНИК, 17:40</a:t>
            </a:r>
          </a:p>
        </p:txBody>
      </p:sp>
      <p:sp>
        <p:nvSpPr>
          <p:cNvPr id="3" name="hf-11">
            <a:extLst xmlns:a="http://schemas.openxmlformats.org/drawingml/2006/main">
              <a:ext uri="{FF2B5EF4-FFF2-40B4-BE49-F238E27FC236}">
                <a16:creationId xmlns:a16="http://schemas.microsoft.com/office/drawing/2014/main" id="{C6AF46D8-C72A-4B94-9BB5-51848187E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190625"/>
            <a:ext cx="8029575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</p:sp>
      <p:sp>
        <p:nvSpPr>
          <p:cNvPr id="4" name="hf-12">
            <a:extLst xmlns:a="http://schemas.openxmlformats.org/drawingml/2006/main">
              <a:ext uri="{FF2B5EF4-FFF2-40B4-BE49-F238E27FC236}">
                <a16:creationId xmlns:a16="http://schemas.microsoft.com/office/drawing/2014/main" id="{574C2EF2-34EE-4A55-97FD-F4463B68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1364933"/>
            <a:ext cx="3612579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0" i="0">
                <a:solidFill>
                  <a:srgbClr val="BDBDBD"/>
                </a:solidFill>
                <a:latin typeface="Menlo"/>
                <a:ea typeface="Menlo"/>
                <a:cs typeface="Menlo"/>
              </a:rPr>
              <a:t>// dedup ids after offline sync</a:t>
            </a:r>
          </a:p>
        </p:txBody>
      </p:sp>
      <p:sp>
        <p:nvSpPr>
          <p:cNvPr id="5" name="hf-13">
            <a:extLst xmlns:a="http://schemas.openxmlformats.org/drawingml/2006/main">
              <a:ext uri="{FF2B5EF4-FFF2-40B4-BE49-F238E27FC236}">
                <a16:creationId xmlns:a16="http://schemas.microsoft.com/office/drawing/2014/main" id="{1406B1D8-A04A-4AD5-B0E6-06A5AAA2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1669733"/>
            <a:ext cx="4186014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0" i="0">
                <a:solidFill>
                  <a:srgbClr val="F08A7A"/>
                </a:solidFill>
                <a:latin typeface="Menlo"/>
                <a:ea typeface="Menlo"/>
                <a:cs typeface="Menlo"/>
              </a:rPr>
              <a:t>- std::sort(ids.begin(), ids.end());</a:t>
            </a:r>
          </a:p>
        </p:txBody>
      </p:sp>
      <p:sp>
        <p:nvSpPr>
          <p:cNvPr id="6" name="hf-14">
            <a:extLst xmlns:a="http://schemas.openxmlformats.org/drawingml/2006/main">
              <a:ext uri="{FF2B5EF4-FFF2-40B4-BE49-F238E27FC236}">
                <a16:creationId xmlns:a16="http://schemas.microsoft.com/office/drawing/2014/main" id="{FE06E4DE-5C6D-42C3-BB6A-44041103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1974533"/>
            <a:ext cx="693859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0" i="0">
                <a:solidFill>
                  <a:srgbClr val="F08A7A"/>
                </a:solidFill>
                <a:latin typeface="Menlo"/>
                <a:ea typeface="Menlo"/>
                <a:cs typeface="Menlo"/>
              </a:rPr>
              <a:t>- ids.erase(std::unique(ids.begin(), ids.end()), ids.end());</a:t>
            </a:r>
          </a:p>
        </p:txBody>
      </p:sp>
      <p:sp>
        <p:nvSpPr>
          <p:cNvPr id="7" name="hf-15">
            <a:extLst xmlns:a="http://schemas.openxmlformats.org/drawingml/2006/main">
              <a:ext uri="{FF2B5EF4-FFF2-40B4-BE49-F238E27FC236}">
                <a16:creationId xmlns:a16="http://schemas.microsoft.com/office/drawing/2014/main" id="{295E19E8-42CF-443C-A549-36A3FF7E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2279333"/>
            <a:ext cx="6594574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0" i="0">
                <a:solidFill>
                  <a:srgbClr val="7BD88F"/>
                </a:solidFill>
                <a:latin typeface="Menlo"/>
                <a:ea typeface="Menlo"/>
                <a:cs typeface="Menlo"/>
              </a:rPr>
              <a:t>+ std::unordered_set&lt;uint64_t&gt; s(ids.begin(), ids.end());</a:t>
            </a:r>
          </a:p>
        </p:txBody>
      </p:sp>
      <p:sp>
        <p:nvSpPr>
          <p:cNvPr id="8" name="hf-16">
            <a:extLst xmlns:a="http://schemas.openxmlformats.org/drawingml/2006/main">
              <a:ext uri="{FF2B5EF4-FFF2-40B4-BE49-F238E27FC236}">
                <a16:creationId xmlns:a16="http://schemas.microsoft.com/office/drawing/2014/main" id="{A9109382-F36A-420A-BA68-08D7E8D6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2584132"/>
            <a:ext cx="384199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0" i="0">
                <a:solidFill>
                  <a:srgbClr val="7BD88F"/>
                </a:solidFill>
                <a:latin typeface="Menlo"/>
                <a:ea typeface="Menlo"/>
                <a:cs typeface="Menlo"/>
              </a:rPr>
              <a:t>+ ids.assign(s.begin(), s.end());</a:t>
            </a:r>
          </a:p>
        </p:txBody>
      </p:sp>
      <p:sp>
        <p:nvSpPr>
          <p:cNvPr id="9" name="hf-17">
            <a:extLst xmlns:a="http://schemas.openxmlformats.org/drawingml/2006/main">
              <a:ext uri="{FF2B5EF4-FFF2-40B4-BE49-F238E27FC236}">
                <a16:creationId xmlns:a16="http://schemas.microsoft.com/office/drawing/2014/main" id="{396BBDD6-650E-41E9-8DC6-93E5FD67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547148"/>
            <a:ext cx="5067374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2100" b="0" i="0">
                <a:solidFill>
                  <a:srgbClr val="BDBDBD"/>
                </a:solidFill>
                <a:latin typeface="Montserrat"/>
                <a:ea typeface="Montserrat"/>
                <a:cs typeface="Montserrat"/>
              </a:rPr>
              <a:t>Коллега:</a:t>
            </a:r>
            <a:r>
              <a:rPr sz="21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«Линейно вместо n log n»</a:t>
            </a:r>
          </a:p>
        </p:txBody>
      </p:sp>
      <p:sp>
        <p:nvSpPr>
          <p:cNvPr id="10" name="hf-18">
            <a:extLst xmlns:a="http://schemas.openxmlformats.org/drawingml/2006/main">
              <a:ext uri="{FF2B5EF4-FFF2-40B4-BE49-F238E27FC236}">
                <a16:creationId xmlns:a16="http://schemas.microsoft.com/office/drawing/2014/main" id="{F15AB28C-4E4A-4F1E-BAF7-740AD127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6038" y="3438525"/>
            <a:ext cx="2190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0">
            <a:noFill/>
          </a:ln>
        </p:spPr>
      </p:sp>
      <p:sp>
        <p:nvSpPr>
          <p:cNvPr id="11" name="hf-19">
            <a:extLst xmlns:a="http://schemas.openxmlformats.org/drawingml/2006/main">
              <a:ext uri="{FF2B5EF4-FFF2-40B4-BE49-F238E27FC236}">
                <a16:creationId xmlns:a16="http://schemas.microsoft.com/office/drawing/2014/main" id="{164F80E6-ABF1-4638-B4CD-6A13285C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149" y="3326987"/>
            <a:ext cx="1647676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350"/>
              </a:lnSpc>
              <a:buNone/>
            </a:pPr>
            <a:r>
              <a:rPr sz="225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Approve ✓</a:t>
            </a:r>
          </a:p>
        </p:txBody>
      </p:sp>
      <p:pic>
        <p:nvPicPr>
          <p:cNvPr id="12" name="hf-20">
            <a:extLst xmlns:a="http://schemas.openxmlformats.org/drawingml/2006/main">
              <a:ext uri="{FF2B5EF4-FFF2-40B4-BE49-F238E27FC236}">
                <a16:creationId xmlns:a16="http://schemas.microsoft.com/office/drawing/2014/main" id="{2C077485-81EE-4876-907C-AEB0934794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5652d90ecc487d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13" name="hf-21">
            <a:extLst xmlns:a="http://schemas.openxmlformats.org/drawingml/2006/main">
              <a:ext uri="{FF2B5EF4-FFF2-40B4-BE49-F238E27FC236}">
                <a16:creationId xmlns:a16="http://schemas.microsoft.com/office/drawing/2014/main" id="{90EA32C7-1D28-49CC-8855-2820864A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18287378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.xml><?xml version="1.0" encoding="utf-8"?>
<p:sld xmlns:p="http://schemas.openxmlformats.org/presentationml/2006/main">
  <p:cSld name="case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22">
            <a:extLst xmlns:a="http://schemas.openxmlformats.org/drawingml/2006/main">
              <a:ext uri="{FF2B5EF4-FFF2-40B4-BE49-F238E27FC236}">
                <a16:creationId xmlns:a16="http://schemas.microsoft.com/office/drawing/2014/main" id="{5CDC7CD0-E62D-498F-A4B9-9B142B4C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03626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С ЧЕГО ВСЁ НАЧАЛОСЬ</a:t>
            </a:r>
          </a:p>
        </p:txBody>
      </p:sp>
      <p:sp>
        <p:nvSpPr>
          <p:cNvPr id="3" name="hf-23">
            <a:extLst xmlns:a="http://schemas.openxmlformats.org/drawingml/2006/main">
              <a:ext uri="{FF2B5EF4-FFF2-40B4-BE49-F238E27FC236}">
                <a16:creationId xmlns:a16="http://schemas.microsoft.com/office/drawing/2014/main" id="{F33DA92E-6A49-4C9B-BA64-F3A5D7B2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75399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ЗАДАЧА: СКЛЕИТЬ ЛОКАЛЬНЫЕ id И</a:t>
            </a:r>
          </a:p>
        </p:txBody>
      </p:sp>
      <p:sp>
        <p:nvSpPr>
          <p:cNvPr id="4" name="hf-24">
            <a:extLst xmlns:a="http://schemas.openxmlformats.org/drawingml/2006/main">
              <a:ext uri="{FF2B5EF4-FFF2-40B4-BE49-F238E27FC236}">
                <a16:creationId xmlns:a16="http://schemas.microsoft.com/office/drawing/2014/main" id="{A15124F8-9BCF-49EF-A6AA-75D695F1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552978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ДЕЛЬТУ С СЕРВЕРА БЕЗ ПОВТОРОВ</a:t>
            </a:r>
          </a:p>
        </p:txBody>
      </p:sp>
      <p:pic>
        <p:nvPicPr>
          <p:cNvPr id="5" name="hf-25">
            <a:extLst xmlns:a="http://schemas.openxmlformats.org/drawingml/2006/main">
              <a:ext uri="{FF2B5EF4-FFF2-40B4-BE49-F238E27FC236}">
                <a16:creationId xmlns:a16="http://schemas.microsoft.com/office/drawing/2014/main" id="{19874989-9DE0-4BC0-8A4B-B7F4E65499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097ad435e74ba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557213" y="1524000"/>
            <a:ext cx="4095750" cy="2667000"/>
          </a:xfrm>
          <a:prstGeom xmlns:a="http://schemas.openxmlformats.org/drawingml/2006/main" prst="rect">
            <a:avLst/>
          </a:prstGeom>
        </p:spPr>
      </p:pic>
      <p:sp>
        <p:nvSpPr>
          <p:cNvPr id="6" name="hf-26">
            <a:extLst xmlns:a="http://schemas.openxmlformats.org/drawingml/2006/main">
              <a:ext uri="{FF2B5EF4-FFF2-40B4-BE49-F238E27FC236}">
                <a16:creationId xmlns:a16="http://schemas.microsoft.com/office/drawing/2014/main" id="{AE5BB252-EF17-4946-844D-31E500D19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49921"/>
            <a:ext cx="211336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7" name="hf-27">
            <a:extLst xmlns:a="http://schemas.openxmlformats.org/drawingml/2006/main">
              <a:ext uri="{FF2B5EF4-FFF2-40B4-BE49-F238E27FC236}">
                <a16:creationId xmlns:a16="http://schemas.microsoft.com/office/drawing/2014/main" id="{C460B836-D8DC-4F34-8E1F-3E8399AC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603629"/>
            <a:ext cx="2985939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Локальные id отсортированы</a:t>
            </a:r>
          </a:p>
        </p:txBody>
      </p:sp>
      <p:sp>
        <p:nvSpPr>
          <p:cNvPr id="8" name="hf-28">
            <a:extLst xmlns:a="http://schemas.openxmlformats.org/drawingml/2006/main">
              <a:ext uri="{FF2B5EF4-FFF2-40B4-BE49-F238E27FC236}">
                <a16:creationId xmlns:a16="http://schemas.microsoft.com/office/drawing/2014/main" id="{D2A462B7-DA91-43FA-975D-C42DFF65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851279"/>
            <a:ext cx="1329482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и уникальны</a:t>
            </a:r>
          </a:p>
        </p:txBody>
      </p:sp>
      <p:sp>
        <p:nvSpPr>
          <p:cNvPr id="9" name="hf-29">
            <a:extLst xmlns:a="http://schemas.openxmlformats.org/drawingml/2006/main">
              <a:ext uri="{FF2B5EF4-FFF2-40B4-BE49-F238E27FC236}">
                <a16:creationId xmlns:a16="http://schemas.microsoft.com/office/drawing/2014/main" id="{B073A812-3D4D-4E53-844B-4D8D0087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02421"/>
            <a:ext cx="28530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0" name="hf-30">
            <a:extLst xmlns:a="http://schemas.openxmlformats.org/drawingml/2006/main">
              <a:ext uri="{FF2B5EF4-FFF2-40B4-BE49-F238E27FC236}">
                <a16:creationId xmlns:a16="http://schemas.microsoft.com/office/drawing/2014/main" id="{4B9AEA4D-606A-409A-BFC5-A3D432FA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13279"/>
            <a:ext cx="17954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Ключ — </a:t>
            </a:r>
            <a:r>
              <a:rPr sz="1500" b="0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uint64_t</a:t>
            </a:r>
          </a:p>
        </p:txBody>
      </p:sp>
      <p:sp>
        <p:nvSpPr>
          <p:cNvPr id="11" name="hf-31">
            <a:extLst xmlns:a="http://schemas.openxmlformats.org/drawingml/2006/main">
              <a:ext uri="{FF2B5EF4-FFF2-40B4-BE49-F238E27FC236}">
                <a16:creationId xmlns:a16="http://schemas.microsoft.com/office/drawing/2014/main" id="{1B0C3E56-D28C-4A44-8A1F-886B799FB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459671"/>
            <a:ext cx="286717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2" name="hf-32">
            <a:extLst xmlns:a="http://schemas.openxmlformats.org/drawingml/2006/main">
              <a:ext uri="{FF2B5EF4-FFF2-40B4-BE49-F238E27FC236}">
                <a16:creationId xmlns:a16="http://schemas.microsoft.com/office/drawing/2014/main" id="{27DED5F3-E06C-4410-8EEE-C5B12252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50907"/>
            <a:ext cx="131876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46CDAE"/>
                </a:solidFill>
                <a:latin typeface="Menlo"/>
                <a:ea typeface="Menlo"/>
                <a:cs typeface="Menlo"/>
              </a:rPr>
              <a:t>QoS utility</a:t>
            </a:r>
          </a:p>
        </p:txBody>
      </p:sp>
      <p:sp>
        <p:nvSpPr>
          <p:cNvPr id="13" name="hf-33">
            <a:extLst xmlns:a="http://schemas.openxmlformats.org/drawingml/2006/main">
              <a:ext uri="{FF2B5EF4-FFF2-40B4-BE49-F238E27FC236}">
                <a16:creationId xmlns:a16="http://schemas.microsoft.com/office/drawing/2014/main" id="{B141D1EC-E93D-40C1-A82B-EC7AED1F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972763"/>
            <a:ext cx="10542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«не срочно»</a:t>
            </a:r>
          </a:p>
        </p:txBody>
      </p:sp>
      <p:pic>
        <p:nvPicPr>
          <p:cNvPr id="14" name="hf-34">
            <a:extLst xmlns:a="http://schemas.openxmlformats.org/drawingml/2006/main">
              <a:ext uri="{FF2B5EF4-FFF2-40B4-BE49-F238E27FC236}">
                <a16:creationId xmlns:a16="http://schemas.microsoft.com/office/drawing/2014/main" id="{B7AF0043-5305-4744-8EE0-083AD72676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4f73837a01458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15" name="hf-35">
            <a:extLst xmlns:a="http://schemas.openxmlformats.org/drawingml/2006/main">
              <a:ext uri="{FF2B5EF4-FFF2-40B4-BE49-F238E27FC236}">
                <a16:creationId xmlns:a16="http://schemas.microsoft.com/office/drawing/2014/main" id="{4D02380A-3E3E-4027-A5B7-40E2DF3B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03577378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p="http://schemas.openxmlformats.org/presentationml/2006/main">
  <p:cSld name="vote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36">
            <a:extLst xmlns:a="http://schemas.openxmlformats.org/drawingml/2006/main">
              <a:ext uri="{FF2B5EF4-FFF2-40B4-BE49-F238E27FC236}">
                <a16:creationId xmlns:a16="http://schemas.microsoft.com/office/drawing/2014/main" id="{BE47EDEE-8E74-442F-A926-83F099C7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129733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ВАША СТАВКА</a:t>
            </a:r>
          </a:p>
        </p:txBody>
      </p:sp>
      <p:sp>
        <p:nvSpPr>
          <p:cNvPr id="3" name="hf-37">
            <a:extLst xmlns:a="http://schemas.openxmlformats.org/drawingml/2006/main">
              <a:ext uri="{FF2B5EF4-FFF2-40B4-BE49-F238E27FC236}">
                <a16:creationId xmlns:a16="http://schemas.microsoft.com/office/drawing/2014/main" id="{9D475D90-8483-40EF-AA39-8C5A838B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10629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n log n ПРОТИВ ОЖИДАЕМОГО n</a:t>
            </a:r>
          </a:p>
        </p:txBody>
      </p:sp>
      <p:sp>
        <p:nvSpPr>
          <p:cNvPr id="4" name="hf-38">
            <a:extLst xmlns:a="http://schemas.openxmlformats.org/drawingml/2006/main">
              <a:ext uri="{FF2B5EF4-FFF2-40B4-BE49-F238E27FC236}">
                <a16:creationId xmlns:a16="http://schemas.microsoft.com/office/drawing/2014/main" id="{93711441-CA44-42AC-9AEA-AB418E5F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28750"/>
            <a:ext cx="2552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46CDAE"/>
            </a:solidFill>
          </a:ln>
        </p:spPr>
      </p:sp>
      <p:sp>
        <p:nvSpPr>
          <p:cNvPr id="5" name="hf-39">
            <a:extLst xmlns:a="http://schemas.openxmlformats.org/drawingml/2006/main">
              <a:ext uri="{FF2B5EF4-FFF2-40B4-BE49-F238E27FC236}">
                <a16:creationId xmlns:a16="http://schemas.microsoft.com/office/drawing/2014/main" id="{CF8C7DEF-6472-46FB-BEC1-D1B9D2B14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1603667"/>
            <a:ext cx="411584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A</a:t>
            </a:r>
          </a:p>
        </p:txBody>
      </p:sp>
      <p:sp>
        <p:nvSpPr>
          <p:cNvPr id="6" name="hf-40">
            <a:extLst xmlns:a="http://schemas.openxmlformats.org/drawingml/2006/main">
              <a:ext uri="{FF2B5EF4-FFF2-40B4-BE49-F238E27FC236}">
                <a16:creationId xmlns:a16="http://schemas.microsoft.com/office/drawing/2014/main" id="{7F555302-7E4C-4FBF-AF18-AE9DCAB3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2134857"/>
            <a:ext cx="1613297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sort + unique</a:t>
            </a:r>
          </a:p>
        </p:txBody>
      </p:sp>
      <p:sp>
        <p:nvSpPr>
          <p:cNvPr id="7" name="hf-41">
            <a:extLst xmlns:a="http://schemas.openxmlformats.org/drawingml/2006/main">
              <a:ext uri="{FF2B5EF4-FFF2-40B4-BE49-F238E27FC236}">
                <a16:creationId xmlns:a16="http://schemas.microsoft.com/office/drawing/2014/main" id="{73004B0A-C981-4898-B7A2-8B14416D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2498407"/>
            <a:ext cx="1204094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0" i="0">
                <a:solidFill>
                  <a:srgbClr val="BDBDBD"/>
                </a:solidFill>
                <a:latin typeface="Menlo"/>
                <a:ea typeface="Menlo"/>
                <a:cs typeface="Menlo"/>
              </a:rPr>
              <a:t>O(n log n)</a:t>
            </a:r>
          </a:p>
        </p:txBody>
      </p:sp>
      <p:sp>
        <p:nvSpPr>
          <p:cNvPr id="8" name="hf-42">
            <a:extLst xmlns:a="http://schemas.openxmlformats.org/drawingml/2006/main">
              <a:ext uri="{FF2B5EF4-FFF2-40B4-BE49-F238E27FC236}">
                <a16:creationId xmlns:a16="http://schemas.microsoft.com/office/drawing/2014/main" id="{A9BED136-0D8E-4488-A368-C558D721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28750"/>
            <a:ext cx="2552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E2489B"/>
            </a:solidFill>
          </a:ln>
        </p:spPr>
      </p:sp>
      <p:sp>
        <p:nvSpPr>
          <p:cNvPr id="9" name="hf-43">
            <a:extLst xmlns:a="http://schemas.openxmlformats.org/drawingml/2006/main">
              <a:ext uri="{FF2B5EF4-FFF2-40B4-BE49-F238E27FC236}">
                <a16:creationId xmlns:a16="http://schemas.microsoft.com/office/drawing/2014/main" id="{B7222B2D-82CC-4738-9E1C-FED397ED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03667"/>
            <a:ext cx="403845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</a:rPr>
              <a:t>B</a:t>
            </a:r>
          </a:p>
        </p:txBody>
      </p:sp>
      <p:sp>
        <p:nvSpPr>
          <p:cNvPr id="10" name="hf-44">
            <a:extLst xmlns:a="http://schemas.openxmlformats.org/drawingml/2006/main">
              <a:ext uri="{FF2B5EF4-FFF2-40B4-BE49-F238E27FC236}">
                <a16:creationId xmlns:a16="http://schemas.microsoft.com/office/drawing/2014/main" id="{A536D62A-9FCC-4F0D-92D8-7BC78FE8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34857"/>
            <a:ext cx="1776561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unordered_set</a:t>
            </a:r>
          </a:p>
        </p:txBody>
      </p:sp>
      <p:sp>
        <p:nvSpPr>
          <p:cNvPr id="11" name="hf-45">
            <a:extLst xmlns:a="http://schemas.openxmlformats.org/drawingml/2006/main">
              <a:ext uri="{FF2B5EF4-FFF2-40B4-BE49-F238E27FC236}">
                <a16:creationId xmlns:a16="http://schemas.microsoft.com/office/drawing/2014/main" id="{87CD2614-BF6E-4B16-A670-747832C2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98407"/>
            <a:ext cx="1662857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0" i="0">
                <a:solidFill>
                  <a:srgbClr val="BDBDBD"/>
                </a:solidFill>
                <a:latin typeface="Menlo"/>
                <a:ea typeface="Menlo"/>
                <a:cs typeface="Menlo"/>
              </a:rPr>
              <a:t>O(n) в среднем</a:t>
            </a:r>
          </a:p>
        </p:txBody>
      </p:sp>
      <p:sp>
        <p:nvSpPr>
          <p:cNvPr id="12" name="hf-46">
            <a:extLst xmlns:a="http://schemas.openxmlformats.org/drawingml/2006/main">
              <a:ext uri="{FF2B5EF4-FFF2-40B4-BE49-F238E27FC236}">
                <a16:creationId xmlns:a16="http://schemas.microsoft.com/office/drawing/2014/main" id="{BCA3DEE5-FD64-47F2-B7B0-8FF411A9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088" y="1428750"/>
            <a:ext cx="2552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3" name="hf-47">
            <a:extLst xmlns:a="http://schemas.openxmlformats.org/drawingml/2006/main">
              <a:ext uri="{FF2B5EF4-FFF2-40B4-BE49-F238E27FC236}">
                <a16:creationId xmlns:a16="http://schemas.microsoft.com/office/drawing/2014/main" id="{A5EA55B0-2056-4A15-9652-C1150613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588" y="1603667"/>
            <a:ext cx="386283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C</a:t>
            </a:r>
          </a:p>
        </p:txBody>
      </p:sp>
      <p:sp>
        <p:nvSpPr>
          <p:cNvPr id="14" name="hf-48">
            <a:extLst xmlns:a="http://schemas.openxmlformats.org/drawingml/2006/main">
              <a:ext uri="{FF2B5EF4-FFF2-40B4-BE49-F238E27FC236}">
                <a16:creationId xmlns:a16="http://schemas.microsoft.com/office/drawing/2014/main" id="{908A4F4F-4F44-47A6-B04F-1CCFD310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588" y="2070354"/>
            <a:ext cx="2136502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сначала спросил бы</a:t>
            </a:r>
          </a:p>
        </p:txBody>
      </p:sp>
      <p:sp>
        <p:nvSpPr>
          <p:cNvPr id="15" name="hf-49">
            <a:extLst xmlns:a="http://schemas.openxmlformats.org/drawingml/2006/main">
              <a:ext uri="{FF2B5EF4-FFF2-40B4-BE49-F238E27FC236}">
                <a16:creationId xmlns:a16="http://schemas.microsoft.com/office/drawing/2014/main" id="{459B8B9E-9CCC-491E-9173-89CDD2243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588" y="2298954"/>
            <a:ext cx="89557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условие</a:t>
            </a:r>
          </a:p>
        </p:txBody>
      </p:sp>
      <p:sp>
        <p:nvSpPr>
          <p:cNvPr id="16" name="hf-50">
            <a:extLst xmlns:a="http://schemas.openxmlformats.org/drawingml/2006/main">
              <a:ext uri="{FF2B5EF4-FFF2-40B4-BE49-F238E27FC236}">
                <a16:creationId xmlns:a16="http://schemas.microsoft.com/office/drawing/2014/main" id="{A3B60F11-3F4B-44E0-AFA5-FE6AA8361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145517"/>
            <a:ext cx="389565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950"/>
              </a:lnSpc>
              <a:buNone/>
            </a:pPr>
            <a:r>
              <a:rPr sz="495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log₂ 10⁶ ≈ 20</a:t>
            </a:r>
          </a:p>
        </p:txBody>
      </p:sp>
      <p:sp>
        <p:nvSpPr>
          <p:cNvPr id="17" name="hf-51">
            <a:extLst xmlns:a="http://schemas.openxmlformats.org/drawingml/2006/main">
              <a:ext uri="{FF2B5EF4-FFF2-40B4-BE49-F238E27FC236}">
                <a16:creationId xmlns:a16="http://schemas.microsoft.com/office/drawing/2014/main" id="{E62D09A3-1931-4C8E-B46E-A2F93E61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088" y="3138240"/>
            <a:ext cx="197643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35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1M 64-битных id · все</a:t>
            </a:r>
          </a:p>
        </p:txBody>
      </p:sp>
      <p:sp>
        <p:nvSpPr>
          <p:cNvPr id="18" name="hf-52">
            <a:extLst xmlns:a="http://schemas.openxmlformats.org/drawingml/2006/main">
              <a:ext uri="{FF2B5EF4-FFF2-40B4-BE49-F238E27FC236}">
                <a16:creationId xmlns:a16="http://schemas.microsoft.com/office/drawing/2014/main" id="{98FB4499-62E0-4C78-B2BB-C9D181FB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088" y="3347790"/>
            <a:ext cx="201773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35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разные · один поток ·</a:t>
            </a:r>
          </a:p>
        </p:txBody>
      </p:sp>
      <p:sp>
        <p:nvSpPr>
          <p:cNvPr id="19" name="hf-53">
            <a:extLst xmlns:a="http://schemas.openxmlformats.org/drawingml/2006/main">
              <a:ext uri="{FF2B5EF4-FFF2-40B4-BE49-F238E27FC236}">
                <a16:creationId xmlns:a16="http://schemas.microsoft.com/office/drawing/2014/main" id="{E939B382-DE65-4929-B513-3BC534E6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088" y="3557340"/>
            <a:ext cx="174560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35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порядок не важен</a:t>
            </a:r>
          </a:p>
        </p:txBody>
      </p:sp>
      <p:sp>
        <p:nvSpPr>
          <p:cNvPr id="20" name="hf-54">
            <a:extLst xmlns:a="http://schemas.openxmlformats.org/drawingml/2006/main">
              <a:ext uri="{FF2B5EF4-FFF2-40B4-BE49-F238E27FC236}">
                <a16:creationId xmlns:a16="http://schemas.microsoft.com/office/drawing/2014/main" id="{F44EC78A-CF71-4448-B4BD-3C0AB447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077957"/>
            <a:ext cx="407320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Что первым отправим на замер?</a:t>
            </a:r>
          </a:p>
        </p:txBody>
      </p:sp>
      <p:pic>
        <p:nvPicPr>
          <p:cNvPr id="21" name="hf-55">
            <a:extLst xmlns:a="http://schemas.openxmlformats.org/drawingml/2006/main">
              <a:ext uri="{FF2B5EF4-FFF2-40B4-BE49-F238E27FC236}">
                <a16:creationId xmlns:a16="http://schemas.microsoft.com/office/drawing/2014/main" id="{A28F9C67-0B84-4E1D-BA1C-32D4B3DCEA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c41eb1f5ca4e6c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2" name="hf-56">
            <a:extLst xmlns:a="http://schemas.openxmlformats.org/drawingml/2006/main">
              <a:ext uri="{FF2B5EF4-FFF2-40B4-BE49-F238E27FC236}">
                <a16:creationId xmlns:a16="http://schemas.microsoft.com/office/drawing/2014/main" id="{44D2C500-64AA-413B-8AF1-33951FDE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813254430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p="http://schemas.openxmlformats.org/presentationml/2006/main">
  <p:cSld name="result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57">
            <a:extLst xmlns:a="http://schemas.openxmlformats.org/drawingml/2006/main">
              <a:ext uri="{FF2B5EF4-FFF2-40B4-BE49-F238E27FC236}">
                <a16:creationId xmlns:a16="http://schemas.microsoft.com/office/drawing/2014/main" id="{6DFEE018-2D14-405D-806A-D18ACDFB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3627909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СТАВКА №1 · ЧТО ПОКАЗАЛ СЕКУНДОМЕР</a:t>
            </a:r>
          </a:p>
        </p:txBody>
      </p:sp>
      <p:sp>
        <p:nvSpPr>
          <p:cNvPr id="3" name="hf-58">
            <a:extLst xmlns:a="http://schemas.openxmlformats.org/drawingml/2006/main">
              <a:ext uri="{FF2B5EF4-FFF2-40B4-BE49-F238E27FC236}">
                <a16:creationId xmlns:a16="http://schemas.microsoft.com/office/drawing/2014/main" id="{A3E71536-0034-43E6-8425-28108A06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256118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ПЕРВЫЙ ЗАМЕР</a:t>
            </a:r>
          </a:p>
        </p:txBody>
      </p:sp>
      <p:sp>
        <p:nvSpPr>
          <p:cNvPr id="4" name="hf-59">
            <a:extLst xmlns:a="http://schemas.openxmlformats.org/drawingml/2006/main">
              <a:ext uri="{FF2B5EF4-FFF2-40B4-BE49-F238E27FC236}">
                <a16:creationId xmlns:a16="http://schemas.microsoft.com/office/drawing/2014/main" id="{18D90C74-4F2F-485A-ABE6-3406A254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370267"/>
            <a:ext cx="6688262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нс на элемент · 1M уникальных id · Mac M2 Pro · меньше — лучше</a:t>
            </a:r>
          </a:p>
        </p:txBody>
      </p:sp>
      <p:sp>
        <p:nvSpPr>
          <p:cNvPr id="5" name="hf-60">
            <a:extLst xmlns:a="http://schemas.openxmlformats.org/drawingml/2006/main">
              <a:ext uri="{FF2B5EF4-FFF2-40B4-BE49-F238E27FC236}">
                <a16:creationId xmlns:a16="http://schemas.microsoft.com/office/drawing/2014/main" id="{3C75CD79-8760-4051-B160-8CC1224F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763382"/>
            <a:ext cx="1613297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+ unique</a:t>
            </a:r>
          </a:p>
        </p:txBody>
      </p:sp>
      <p:sp>
        <p:nvSpPr>
          <p:cNvPr id="6" name="hf-61">
            <a:extLst xmlns:a="http://schemas.openxmlformats.org/drawingml/2006/main">
              <a:ext uri="{FF2B5EF4-FFF2-40B4-BE49-F238E27FC236}">
                <a16:creationId xmlns:a16="http://schemas.microsoft.com/office/drawing/2014/main" id="{BDE7C758-624A-43CA-AA44-E19F6B8D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095500"/>
            <a:ext cx="2024063" cy="4572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0">
            <a:noFill/>
          </a:ln>
        </p:spPr>
      </p:sp>
      <p:sp>
        <p:nvSpPr>
          <p:cNvPr id="7" name="hf-62">
            <a:extLst xmlns:a="http://schemas.openxmlformats.org/drawingml/2006/main">
              <a:ext uri="{FF2B5EF4-FFF2-40B4-BE49-F238E27FC236}">
                <a16:creationId xmlns:a16="http://schemas.microsoft.com/office/drawing/2014/main" id="{8C3F7931-BCD3-4938-AD7F-F0105F93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132419"/>
            <a:ext cx="641226" cy="369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60"/>
              </a:lnSpc>
              <a:buNone/>
            </a:pPr>
            <a:r>
              <a:rPr sz="24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19,9</a:t>
            </a:r>
          </a:p>
        </p:txBody>
      </p:sp>
      <p:sp>
        <p:nvSpPr>
          <p:cNvPr id="8" name="hf-63">
            <a:extLst xmlns:a="http://schemas.openxmlformats.org/drawingml/2006/main">
              <a:ext uri="{FF2B5EF4-FFF2-40B4-BE49-F238E27FC236}">
                <a16:creationId xmlns:a16="http://schemas.microsoft.com/office/drawing/2014/main" id="{144843FC-41CB-4C44-99A2-78D1FF4A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715882"/>
            <a:ext cx="1776561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unordered_set</a:t>
            </a:r>
          </a:p>
        </p:txBody>
      </p:sp>
      <p:sp>
        <p:nvSpPr>
          <p:cNvPr id="9" name="hf-64">
            <a:extLst xmlns:a="http://schemas.openxmlformats.org/drawingml/2006/main">
              <a:ext uri="{FF2B5EF4-FFF2-40B4-BE49-F238E27FC236}">
                <a16:creationId xmlns:a16="http://schemas.microsoft.com/office/drawing/2014/main" id="{3712FC98-668A-4E3D-9AD3-13A35517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048000"/>
            <a:ext cx="5219700" cy="4572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E2489B"/>
          </a:solidFill>
          <a:ln xmlns:a="http://schemas.openxmlformats.org/drawingml/2006/main" w="0">
            <a:noFill/>
          </a:ln>
        </p:spPr>
      </p:sp>
      <p:sp>
        <p:nvSpPr>
          <p:cNvPr id="10" name="hf-65">
            <a:extLst xmlns:a="http://schemas.openxmlformats.org/drawingml/2006/main">
              <a:ext uri="{FF2B5EF4-FFF2-40B4-BE49-F238E27FC236}">
                <a16:creationId xmlns:a16="http://schemas.microsoft.com/office/drawing/2014/main" id="{6CAE9D81-1CC0-415E-8099-45684F2C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0263" y="3084919"/>
            <a:ext cx="621357" cy="369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60"/>
              </a:lnSpc>
              <a:buNone/>
            </a:pPr>
            <a:r>
              <a:rPr sz="24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51,3</a:t>
            </a:r>
          </a:p>
        </p:txBody>
      </p:sp>
      <p:sp>
        <p:nvSpPr>
          <p:cNvPr id="11" name="hf-66">
            <a:extLst xmlns:a="http://schemas.openxmlformats.org/drawingml/2006/main">
              <a:ext uri="{FF2B5EF4-FFF2-40B4-BE49-F238E27FC236}">
                <a16:creationId xmlns:a16="http://schemas.microsoft.com/office/drawing/2014/main" id="{20EFA2A6-3B2E-421A-8A70-981A0B3B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696" y="1668399"/>
            <a:ext cx="2421954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9000"/>
              </a:lnSpc>
              <a:buNone/>
            </a:pPr>
            <a:r>
              <a:rPr sz="90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×2,6</a:t>
            </a:r>
          </a:p>
        </p:txBody>
      </p:sp>
      <p:sp>
        <p:nvSpPr>
          <p:cNvPr id="12" name="hf-67">
            <a:extLst xmlns:a="http://schemas.openxmlformats.org/drawingml/2006/main">
              <a:ext uri="{FF2B5EF4-FFF2-40B4-BE49-F238E27FC236}">
                <a16:creationId xmlns:a16="http://schemas.microsoft.com/office/drawing/2014/main" id="{BAC43C27-856F-4EC0-BCC8-52C807D8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867150"/>
            <a:ext cx="2047875" cy="571500"/>
          </a:xfrm>
          <a:custGeom xmlns:a="http://schemas.openxmlformats.org/drawingml/2006/main">
            <a:pathLst>
              <a:path w="2047875" h="571500">
                <a:moveTo>
                  <a:pt x="0" y="0"/>
                </a:moveTo>
                <a:lnTo>
                  <a:pt x="1838325" y="0"/>
                </a:lnTo>
                <a:lnTo>
                  <a:pt x="2047875" y="285750"/>
                </a:lnTo>
                <a:lnTo>
                  <a:pt x="1838325" y="571500"/>
                </a:lnTo>
                <a:lnTo>
                  <a:pt x="0" y="571500"/>
                </a:lnTo>
                <a:close/>
              </a:path>
            </a:pathLst>
          </a:custGeom>
          <a:solidFill xmlns:a="http://schemas.openxmlformats.org/drawingml/2006/main">
            <a:srgbClr val="46CDAE"/>
          </a:solidFill>
          <a:ln xmlns:a="http://schemas.openxmlformats.org/drawingml/2006/main" w="4763">
            <a:noFill/>
          </a:ln>
        </p:spPr>
      </p:sp>
      <p:sp>
        <p:nvSpPr>
          <p:cNvPr id="13" name="hf-68">
            <a:extLst xmlns:a="http://schemas.openxmlformats.org/drawingml/2006/main">
              <a:ext uri="{FF2B5EF4-FFF2-40B4-BE49-F238E27FC236}">
                <a16:creationId xmlns:a16="http://schemas.microsoft.com/office/drawing/2014/main" id="{25BFDB88-EB85-4673-B9BA-133A5E22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7938" y="3867150"/>
            <a:ext cx="2047875" cy="571500"/>
          </a:xfrm>
          <a:custGeom xmlns:a="http://schemas.openxmlformats.org/drawingml/2006/main">
            <a:pathLst>
              <a:path w="2047875" h="571500">
                <a:moveTo>
                  <a:pt x="0" y="0"/>
                </a:moveTo>
                <a:lnTo>
                  <a:pt x="1838325" y="0"/>
                </a:lnTo>
                <a:lnTo>
                  <a:pt x="2047875" y="285750"/>
                </a:lnTo>
                <a:lnTo>
                  <a:pt x="1838325" y="571500"/>
                </a:lnTo>
                <a:lnTo>
                  <a:pt x="0" y="571500"/>
                </a:lnTo>
                <a:lnTo>
                  <a:pt x="209550" y="285750"/>
                </a:lnTo>
                <a:close/>
              </a:path>
            </a:pathLst>
          </a:custGeom>
          <a:solidFill xmlns:a="http://schemas.openxmlformats.org/drawingml/2006/main">
            <a:srgbClr val="46CDAE"/>
          </a:solidFill>
          <a:ln xmlns:a="http://schemas.openxmlformats.org/drawingml/2006/main" w="4763">
            <a:noFill/>
          </a:ln>
        </p:spPr>
      </p:sp>
      <p:sp>
        <p:nvSpPr>
          <p:cNvPr id="14" name="hf-69">
            <a:extLst xmlns:a="http://schemas.openxmlformats.org/drawingml/2006/main">
              <a:ext uri="{FF2B5EF4-FFF2-40B4-BE49-F238E27FC236}">
                <a16:creationId xmlns:a16="http://schemas.microsoft.com/office/drawing/2014/main" id="{89B6AD7C-4C2E-4B41-BB5C-CD2A5D99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867150"/>
            <a:ext cx="2047875" cy="571500"/>
          </a:xfrm>
          <a:custGeom xmlns:a="http://schemas.openxmlformats.org/drawingml/2006/main">
            <a:pathLst>
              <a:path w="2047875" h="571500">
                <a:moveTo>
                  <a:pt x="0" y="0"/>
                </a:moveTo>
                <a:lnTo>
                  <a:pt x="1838325" y="0"/>
                </a:lnTo>
                <a:lnTo>
                  <a:pt x="2047875" y="285750"/>
                </a:lnTo>
                <a:lnTo>
                  <a:pt x="1838325" y="571500"/>
                </a:lnTo>
                <a:lnTo>
                  <a:pt x="0" y="571500"/>
                </a:lnTo>
                <a:lnTo>
                  <a:pt x="209550" y="285750"/>
                </a:lnTo>
                <a:close/>
              </a:path>
            </a:pathLst>
          </a:custGeom>
          <a:solidFill xmlns:a="http://schemas.openxmlformats.org/drawingml/2006/main">
            <a:srgbClr val="46CDAE"/>
          </a:solidFill>
          <a:ln xmlns:a="http://schemas.openxmlformats.org/drawingml/2006/main" w="4763">
            <a:noFill/>
          </a:ln>
        </p:spPr>
      </p:sp>
      <p:sp>
        <p:nvSpPr>
          <p:cNvPr id="15" name="hf-70">
            <a:extLst xmlns:a="http://schemas.openxmlformats.org/drawingml/2006/main">
              <a:ext uri="{FF2B5EF4-FFF2-40B4-BE49-F238E27FC236}">
                <a16:creationId xmlns:a16="http://schemas.microsoft.com/office/drawing/2014/main" id="{731B8AED-5F73-41EC-A6A7-7D69FEBB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9388" y="3867150"/>
            <a:ext cx="2047875" cy="571500"/>
          </a:xfrm>
          <a:custGeom xmlns:a="http://schemas.openxmlformats.org/drawingml/2006/main">
            <a:pathLst>
              <a:path w="2047875" h="571500">
                <a:moveTo>
                  <a:pt x="0" y="0"/>
                </a:moveTo>
                <a:lnTo>
                  <a:pt x="1838325" y="0"/>
                </a:lnTo>
                <a:lnTo>
                  <a:pt x="2047875" y="285750"/>
                </a:lnTo>
                <a:lnTo>
                  <a:pt x="1838325" y="571500"/>
                </a:lnTo>
                <a:lnTo>
                  <a:pt x="0" y="571500"/>
                </a:lnTo>
                <a:lnTo>
                  <a:pt x="209550" y="2857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4763">
            <a:noFill/>
          </a:ln>
        </p:spPr>
      </p:sp>
      <p:sp>
        <p:nvSpPr>
          <p:cNvPr id="16" name="hf-71">
            <a:extLst xmlns:a="http://schemas.openxmlformats.org/drawingml/2006/main">
              <a:ext uri="{FF2B5EF4-FFF2-40B4-BE49-F238E27FC236}">
                <a16:creationId xmlns:a16="http://schemas.microsoft.com/office/drawing/2014/main" id="{550441EB-A418-432F-912E-BCD2989E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42029"/>
            <a:ext cx="950044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  <a:r>
              <a:rPr sz="1500" b="1" i="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 Память</a:t>
            </a:r>
          </a:p>
        </p:txBody>
      </p:sp>
      <p:sp>
        <p:nvSpPr>
          <p:cNvPr id="17" name="hf-72">
            <a:extLst xmlns:a="http://schemas.openxmlformats.org/drawingml/2006/main">
              <a:ext uri="{FF2B5EF4-FFF2-40B4-BE49-F238E27FC236}">
                <a16:creationId xmlns:a16="http://schemas.microsoft.com/office/drawing/2014/main" id="{E04BA4CF-F01F-41FF-A0C0-D1CAA4A9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042029"/>
            <a:ext cx="1469008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  <a:r>
              <a:rPr sz="1500" b="1" i="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 Реализация</a:t>
            </a:r>
          </a:p>
        </p:txBody>
      </p:sp>
      <p:sp>
        <p:nvSpPr>
          <p:cNvPr id="18" name="hf-73">
            <a:extLst xmlns:a="http://schemas.openxmlformats.org/drawingml/2006/main">
              <a:ext uri="{FF2B5EF4-FFF2-40B4-BE49-F238E27FC236}">
                <a16:creationId xmlns:a16="http://schemas.microsoft.com/office/drawing/2014/main" id="{81C7AA9E-7C38-49BA-B33E-A0FFC5BF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042029"/>
            <a:ext cx="1049908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  <a:r>
              <a:rPr sz="1500" b="1" i="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 Данные</a:t>
            </a:r>
          </a:p>
        </p:txBody>
      </p:sp>
      <p:sp>
        <p:nvSpPr>
          <p:cNvPr id="19" name="hf-74">
            <a:extLst xmlns:a="http://schemas.openxmlformats.org/drawingml/2006/main">
              <a:ext uri="{FF2B5EF4-FFF2-40B4-BE49-F238E27FC236}">
                <a16:creationId xmlns:a16="http://schemas.microsoft.com/office/drawing/2014/main" id="{5A502A6A-C1AC-4251-9DC6-42525738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042029"/>
            <a:ext cx="1392287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  <a:r>
              <a:rPr sz="1500" b="1" i="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 Процессор</a:t>
            </a:r>
          </a:p>
        </p:txBody>
      </p:sp>
      <p:pic>
        <p:nvPicPr>
          <p:cNvPr id="20" name="hf-75">
            <a:extLst xmlns:a="http://schemas.openxmlformats.org/drawingml/2006/main">
              <a:ext uri="{FF2B5EF4-FFF2-40B4-BE49-F238E27FC236}">
                <a16:creationId xmlns:a16="http://schemas.microsoft.com/office/drawing/2014/main" id="{CD251F93-84DB-4457-BF6B-A9C100E2CA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edb5d7a78b42dd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1" name="hf-76">
            <a:extLst xmlns:a="http://schemas.openxmlformats.org/drawingml/2006/main">
              <a:ext uri="{FF2B5EF4-FFF2-40B4-BE49-F238E27FC236}">
                <a16:creationId xmlns:a16="http://schemas.microsoft.com/office/drawing/2014/main" id="{B7D5D37A-8C5E-4382-A6D8-EC1757F9C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54430500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  <p:bldP spid="11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p="http://schemas.openxmlformats.org/presentationml/2006/main">
  <p:cSld name="contract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77">
            <a:extLst xmlns:a="http://schemas.openxmlformats.org/drawingml/2006/main">
              <a:ext uri="{FF2B5EF4-FFF2-40B4-BE49-F238E27FC236}">
                <a16:creationId xmlns:a16="http://schemas.microsoft.com/office/drawing/2014/main" id="{82F6D5DE-DB4A-4253-9384-810AECFD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65494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ПЕРЕД ЧЕТЫРЬМЯ РАУНДАМИ</a:t>
            </a:r>
          </a:p>
        </p:txBody>
      </p:sp>
      <p:sp>
        <p:nvSpPr>
          <p:cNvPr id="3" name="hf-78">
            <a:extLst xmlns:a="http://schemas.openxmlformats.org/drawingml/2006/main">
              <a:ext uri="{FF2B5EF4-FFF2-40B4-BE49-F238E27FC236}">
                <a16:creationId xmlns:a16="http://schemas.microsoft.com/office/drawing/2014/main" id="{24BE2F60-EC5B-4B39-8961-629FEC28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043315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ПРАВИЛО: В ТАЙМЕРЕ ВСЯ ОПЕРАЦИЯ</a:t>
            </a:r>
          </a:p>
        </p:txBody>
      </p:sp>
      <p:sp>
        <p:nvSpPr>
          <p:cNvPr id="4" name="hf-79">
            <a:extLst xmlns:a="http://schemas.openxmlformats.org/drawingml/2006/main">
              <a:ext uri="{FF2B5EF4-FFF2-40B4-BE49-F238E27FC236}">
                <a16:creationId xmlns:a16="http://schemas.microsoft.com/office/drawing/2014/main" id="{EE3BA0DF-6B7E-4AE4-86DA-C6B6BC36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28750"/>
            <a:ext cx="8029575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</p:sp>
      <p:sp>
        <p:nvSpPr>
          <p:cNvPr id="5" name="hf-80">
            <a:extLst xmlns:a="http://schemas.openxmlformats.org/drawingml/2006/main">
              <a:ext uri="{FF2B5EF4-FFF2-40B4-BE49-F238E27FC236}">
                <a16:creationId xmlns:a16="http://schemas.microsoft.com/office/drawing/2014/main" id="{7E2C9456-7500-4118-B93F-009AA5E5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1584008"/>
            <a:ext cx="5218286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auto v = input;                </a:t>
            </a:r>
            <a:r>
              <a:rPr sz="1500" b="0" i="0">
                <a:solidFill>
                  <a:srgbClr val="BDBDBD"/>
                </a:solidFill>
                <a:latin typeface="Menlo"/>
                <a:ea typeface="Menlo"/>
                <a:cs typeface="Menlo"/>
              </a:rPr>
              <a:t>// вне таймера</a:t>
            </a:r>
          </a:p>
        </p:txBody>
      </p:sp>
      <p:sp>
        <p:nvSpPr>
          <p:cNvPr id="6" name="hf-81">
            <a:extLst xmlns:a="http://schemas.openxmlformats.org/drawingml/2006/main">
              <a:ext uri="{FF2B5EF4-FFF2-40B4-BE49-F238E27FC236}">
                <a16:creationId xmlns:a16="http://schemas.microsoft.com/office/drawing/2014/main" id="{F93CA40E-2881-4D46-AEEE-A02160D8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1926908"/>
            <a:ext cx="4186163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500" b="0" i="0">
                <a:solidFill>
                  <a:srgbClr val="46CDAE"/>
                </a:solidFill>
                <a:latin typeface="Menlo"/>
                <a:ea typeface="Menlo"/>
                <a:cs typeface="Menlo"/>
              </a:rPr>
              <a:t>timer.start();</a:t>
            </a:r>
            <a:r>
              <a:rPr sz="1500" b="0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alg(v); </a:t>
            </a:r>
            <a:r>
              <a:rPr sz="1500" b="0" i="0">
                <a:solidFill>
                  <a:srgbClr val="46CDAE"/>
                </a:solidFill>
                <a:latin typeface="Menlo"/>
                <a:ea typeface="Menlo"/>
                <a:cs typeface="Menlo"/>
              </a:rPr>
              <a:t>timer.stop();</a:t>
            </a:r>
          </a:p>
        </p:txBody>
      </p:sp>
      <p:sp>
        <p:nvSpPr>
          <p:cNvPr id="7" name="hf-82">
            <a:extLst xmlns:a="http://schemas.openxmlformats.org/drawingml/2006/main">
              <a:ext uri="{FF2B5EF4-FFF2-40B4-BE49-F238E27FC236}">
                <a16:creationId xmlns:a16="http://schemas.microsoft.com/office/drawing/2014/main" id="{4F67D779-A7EF-4A5B-81BE-7CE803E8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2269808"/>
            <a:ext cx="5218286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if (sorted(v) != ref) abort();  </a:t>
            </a:r>
            <a:r>
              <a:rPr sz="1500" b="0" i="0">
                <a:solidFill>
                  <a:srgbClr val="BDBDBD"/>
                </a:solidFill>
                <a:latin typeface="Menlo"/>
                <a:ea typeface="Menlo"/>
                <a:cs typeface="Menlo"/>
              </a:rPr>
              <a:t>// и в релизе</a:t>
            </a:r>
          </a:p>
        </p:txBody>
      </p:sp>
      <p:sp>
        <p:nvSpPr>
          <p:cNvPr id="8" name="hf-83">
            <a:extLst xmlns:a="http://schemas.openxmlformats.org/drawingml/2006/main">
              <a:ext uri="{FF2B5EF4-FFF2-40B4-BE49-F238E27FC236}">
                <a16:creationId xmlns:a16="http://schemas.microsoft.com/office/drawing/2014/main" id="{4CCAC1C6-5B2E-4327-9F78-10E7F22D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039313"/>
            <a:ext cx="92928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в таймере:</a:t>
            </a:r>
          </a:p>
        </p:txBody>
      </p:sp>
      <p:sp>
        <p:nvSpPr>
          <p:cNvPr id="9" name="hf-84">
            <a:extLst xmlns:a="http://schemas.openxmlformats.org/drawingml/2006/main">
              <a:ext uri="{FF2B5EF4-FFF2-40B4-BE49-F238E27FC236}">
                <a16:creationId xmlns:a16="http://schemas.microsoft.com/office/drawing/2014/main" id="{26BA8612-29C0-4FB9-9506-3E8280FC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067050"/>
            <a:ext cx="1285875" cy="361950"/>
          </a:xfrm>
          <a:prstGeom xmlns:a="http://schemas.openxmlformats.org/drawingml/2006/main" prst="roundRect">
            <a:avLst>
              <a:gd name="adj" fmla="val 21053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10" name="hf-85">
            <a:extLst xmlns:a="http://schemas.openxmlformats.org/drawingml/2006/main">
              <a:ext uri="{FF2B5EF4-FFF2-40B4-BE49-F238E27FC236}">
                <a16:creationId xmlns:a16="http://schemas.microsoft.com/office/drawing/2014/main" id="{424DBAAE-FE4B-47E3-A3C3-3F40EA9C0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3120" y="3014415"/>
            <a:ext cx="70671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625"/>
              </a:lnSpc>
              <a:buNone/>
            </a:pPr>
            <a:r>
              <a:rPr sz="13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reserve</a:t>
            </a:r>
          </a:p>
        </p:txBody>
      </p:sp>
      <p:sp>
        <p:nvSpPr>
          <p:cNvPr id="11" name="hf-86">
            <a:extLst xmlns:a="http://schemas.openxmlformats.org/drawingml/2006/main">
              <a:ext uri="{FF2B5EF4-FFF2-40B4-BE49-F238E27FC236}">
                <a16:creationId xmlns:a16="http://schemas.microsoft.com/office/drawing/2014/main" id="{91C35526-0850-4DA6-844F-531CF7A1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67050"/>
            <a:ext cx="1285875" cy="361950"/>
          </a:xfrm>
          <a:prstGeom xmlns:a="http://schemas.openxmlformats.org/drawingml/2006/main" prst="roundRect">
            <a:avLst>
              <a:gd name="adj" fmla="val 21053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12" name="hf-87">
            <a:extLst xmlns:a="http://schemas.openxmlformats.org/drawingml/2006/main">
              <a:ext uri="{FF2B5EF4-FFF2-40B4-BE49-F238E27FC236}">
                <a16:creationId xmlns:a16="http://schemas.microsoft.com/office/drawing/2014/main" id="{DAC18114-76DD-4A6B-8B03-54653A04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2654" y="3014415"/>
            <a:ext cx="785143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625"/>
              </a:lnSpc>
              <a:buNone/>
            </a:pPr>
            <a:r>
              <a:rPr sz="13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вставки</a:t>
            </a:r>
          </a:p>
        </p:txBody>
      </p:sp>
      <p:sp>
        <p:nvSpPr>
          <p:cNvPr id="13" name="hf-88">
            <a:extLst xmlns:a="http://schemas.openxmlformats.org/drawingml/2006/main">
              <a:ext uri="{FF2B5EF4-FFF2-40B4-BE49-F238E27FC236}">
                <a16:creationId xmlns:a16="http://schemas.microsoft.com/office/drawing/2014/main" id="{1E311D77-E6B3-463A-A32D-E2939C9DF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14" name="hf-89">
            <a:extLst xmlns:a="http://schemas.openxmlformats.org/drawingml/2006/main">
              <a:ext uri="{FF2B5EF4-FFF2-40B4-BE49-F238E27FC236}">
                <a16:creationId xmlns:a16="http://schemas.microsoft.com/office/drawing/2014/main" id="{9918CE8A-E355-4AA8-BCA4-D028EB89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0185" y="3014415"/>
            <a:ext cx="91053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625"/>
              </a:lnSpc>
              <a:buNone/>
            </a:pPr>
            <a:r>
              <a:rPr sz="13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выгрузка</a:t>
            </a:r>
          </a:p>
        </p:txBody>
      </p:sp>
      <p:sp>
        <p:nvSpPr>
          <p:cNvPr id="15" name="hf-90">
            <a:extLst xmlns:a="http://schemas.openxmlformats.org/drawingml/2006/main">
              <a:ext uri="{FF2B5EF4-FFF2-40B4-BE49-F238E27FC236}">
                <a16:creationId xmlns:a16="http://schemas.microsoft.com/office/drawing/2014/main" id="{9ABD8292-39DB-4184-9435-C362BF6F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67050"/>
            <a:ext cx="1571625" cy="361950"/>
          </a:xfrm>
          <a:prstGeom xmlns:a="http://schemas.openxmlformats.org/drawingml/2006/main" prst="roundRect">
            <a:avLst>
              <a:gd name="adj" fmla="val 21053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16" name="hf-91">
            <a:extLst xmlns:a="http://schemas.openxmlformats.org/drawingml/2006/main">
              <a:ext uri="{FF2B5EF4-FFF2-40B4-BE49-F238E27FC236}">
                <a16:creationId xmlns:a16="http://schemas.microsoft.com/office/drawing/2014/main" id="{F8E79CFE-F379-4547-BC49-4A3A2D3B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5690" y="3014415"/>
            <a:ext cx="110557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625"/>
              </a:lnSpc>
              <a:buNone/>
            </a:pPr>
            <a:r>
              <a:rPr sz="13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деструктор</a:t>
            </a:r>
          </a:p>
        </p:txBody>
      </p:sp>
      <p:sp>
        <p:nvSpPr>
          <p:cNvPr id="17" name="hf-92">
            <a:extLst xmlns:a="http://schemas.openxmlformats.org/drawingml/2006/main">
              <a:ext uri="{FF2B5EF4-FFF2-40B4-BE49-F238E27FC236}">
                <a16:creationId xmlns:a16="http://schemas.microsoft.com/office/drawing/2014/main" id="{0806EAC3-7D18-4FFD-877A-FBE4EEDD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8" y="3714750"/>
            <a:ext cx="133350" cy="714375"/>
          </a:xfrm>
          <a:custGeom xmlns:a="http://schemas.openxmlformats.org/drawingml/2006/main">
            <a:pathLst>
              <a:path w="133350" h="714375">
                <a:moveTo>
                  <a:pt x="0" y="0"/>
                </a:moveTo>
                <a:lnTo>
                  <a:pt x="0" y="228600"/>
                </a:lnTo>
                <a:lnTo>
                  <a:pt x="133350" y="357188"/>
                </a:lnTo>
                <a:lnTo>
                  <a:pt x="0" y="485775"/>
                </a:ln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46CDAE"/>
            </a:solidFill>
          </a:ln>
        </p:spPr>
      </p:sp>
      <p:sp>
        <p:nvSpPr>
          <p:cNvPr id="18" name="hf-93">
            <a:extLst xmlns:a="http://schemas.openxmlformats.org/drawingml/2006/main">
              <a:ext uri="{FF2B5EF4-FFF2-40B4-BE49-F238E27FC236}">
                <a16:creationId xmlns:a16="http://schemas.microsoft.com/office/drawing/2014/main" id="{6FCAB7EE-41AB-4AB7-813F-246FDCAC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56698"/>
            <a:ext cx="5410944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550"/>
              </a:lnSpc>
              <a:buNone/>
            </a:pPr>
            <a:r>
              <a:rPr sz="21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Быстрое, но неправильное решение</a:t>
            </a:r>
          </a:p>
        </p:txBody>
      </p:sp>
      <p:sp>
        <p:nvSpPr>
          <p:cNvPr id="19" name="hf-94">
            <a:extLst xmlns:a="http://schemas.openxmlformats.org/drawingml/2006/main">
              <a:ext uri="{FF2B5EF4-FFF2-40B4-BE49-F238E27FC236}">
                <a16:creationId xmlns:a16="http://schemas.microsoft.com/office/drawing/2014/main" id="{CBD30F95-1AD0-4006-A82B-8CA04192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80548"/>
            <a:ext cx="3459138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550"/>
              </a:lnSpc>
              <a:buNone/>
            </a:pPr>
            <a:r>
              <a:rPr sz="21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в турнире не участвует</a:t>
            </a:r>
          </a:p>
        </p:txBody>
      </p:sp>
      <p:pic>
        <p:nvPicPr>
          <p:cNvPr id="20" name="hf-95">
            <a:extLst xmlns:a="http://schemas.openxmlformats.org/drawingml/2006/main">
              <a:ext uri="{FF2B5EF4-FFF2-40B4-BE49-F238E27FC236}">
                <a16:creationId xmlns:a16="http://schemas.microsoft.com/office/drawing/2014/main" id="{C52C292C-4BA2-4181-A9D4-67AA4C72D5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69272e0d3431c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1" name="hf-96">
            <a:extLst xmlns:a="http://schemas.openxmlformats.org/drawingml/2006/main">
              <a:ext uri="{FF2B5EF4-FFF2-40B4-BE49-F238E27FC236}">
                <a16:creationId xmlns:a16="http://schemas.microsoft.com/office/drawing/2014/main" id="{F0E3B395-64BC-4EFB-9794-90386B9D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80020489"/>
      </p:ext>
    </p:extLst>
  </p:cSld>
</p:sld>
</file>

<file path=ppt/slides/slide7.xml><?xml version="1.0" encoding="utf-8"?>
<p:sld xmlns:p="http://schemas.openxmlformats.org/presentationml/2006/main">
  <p:cSld name="curve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97">
            <a:extLst xmlns:a="http://schemas.openxmlformats.org/drawingml/2006/main">
              <a:ext uri="{FF2B5EF4-FFF2-40B4-BE49-F238E27FC236}">
                <a16:creationId xmlns:a16="http://schemas.microsoft.com/office/drawing/2014/main" id="{153526C5-D36C-477F-A5B6-1C1D784E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974479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РАУНД </a:t>
            </a: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ИЗ 4 · РАЗМЕР И ПАМЯТЬ</a:t>
            </a:r>
          </a:p>
        </p:txBody>
      </p:sp>
      <p:sp>
        <p:nvSpPr>
          <p:cNvPr id="3" name="hf-98">
            <a:extLst xmlns:a="http://schemas.openxmlformats.org/drawingml/2006/main">
              <a:ext uri="{FF2B5EF4-FFF2-40B4-BE49-F238E27FC236}">
                <a16:creationId xmlns:a16="http://schemas.microsoft.com/office/drawing/2014/main" id="{1A3C91B1-9A68-41C4-AF97-F1208230A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453866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ХЕШ ДОРОЖАЕТ ПОСЛЕ 512K</a:t>
            </a:r>
          </a:p>
        </p:txBody>
      </p:sp>
      <p:sp>
        <p:nvSpPr>
          <p:cNvPr id="4" name="hf-99">
            <a:extLst xmlns:a="http://schemas.openxmlformats.org/drawingml/2006/main">
              <a:ext uri="{FF2B5EF4-FFF2-40B4-BE49-F238E27FC236}">
                <a16:creationId xmlns:a16="http://schemas.microsoft.com/office/drawing/2014/main" id="{5F7D4BA7-BF8C-4056-B115-44E0C393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275017"/>
            <a:ext cx="3170858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 SemiBold"/>
                <a:ea typeface="Montserrat SemiBold"/>
                <a:cs typeface="Montserrat SemiBold"/>
              </a:rPr>
              <a:t>нс на элемент · ниже — лучше</a:t>
            </a:r>
          </a:p>
        </p:txBody>
      </p:sp>
      <p:sp>
        <p:nvSpPr>
          <p:cNvPr id="5" name="hf-100">
            <a:extLst xmlns:a="http://schemas.openxmlformats.org/drawingml/2006/main">
              <a:ext uri="{FF2B5EF4-FFF2-40B4-BE49-F238E27FC236}">
                <a16:creationId xmlns:a16="http://schemas.microsoft.com/office/drawing/2014/main" id="{78A39E44-8698-40F6-A910-C156E27C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119" y="1705570"/>
            <a:ext cx="5697141" cy="953"/>
          </a:xfrm>
          <a:custGeom xmlns:a="http://schemas.openxmlformats.org/drawingml/2006/main">
            <a:pathLst>
              <a:path w="5697141" h="476">
                <a:moveTo>
                  <a:pt x="0" y="0"/>
                </a:moveTo>
                <a:lnTo>
                  <a:pt x="5697141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30">
            <a:solidFill>
              <a:srgbClr val="333333"/>
            </a:solidFill>
          </a:ln>
        </p:spPr>
      </p:sp>
      <p:sp>
        <p:nvSpPr>
          <p:cNvPr id="6" name="hf-101">
            <a:extLst xmlns:a="http://schemas.openxmlformats.org/drawingml/2006/main">
              <a:ext uri="{FF2B5EF4-FFF2-40B4-BE49-F238E27FC236}">
                <a16:creationId xmlns:a16="http://schemas.microsoft.com/office/drawing/2014/main" id="{C163FD5D-59EB-4E3C-A8E5-C75E8A1A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119" y="2375297"/>
            <a:ext cx="5697141" cy="953"/>
          </a:xfrm>
          <a:custGeom xmlns:a="http://schemas.openxmlformats.org/drawingml/2006/main">
            <a:pathLst>
              <a:path w="5697141" h="476">
                <a:moveTo>
                  <a:pt x="0" y="0"/>
                </a:moveTo>
                <a:lnTo>
                  <a:pt x="5697141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30">
            <a:solidFill>
              <a:srgbClr val="333333"/>
            </a:solidFill>
          </a:ln>
        </p:spPr>
      </p:sp>
      <p:sp>
        <p:nvSpPr>
          <p:cNvPr id="7" name="hf-102">
            <a:extLst xmlns:a="http://schemas.openxmlformats.org/drawingml/2006/main">
              <a:ext uri="{FF2B5EF4-FFF2-40B4-BE49-F238E27FC236}">
                <a16:creationId xmlns:a16="http://schemas.microsoft.com/office/drawing/2014/main" id="{E6B4EB3E-2D05-4D6C-9CF9-05D464DF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119" y="3045023"/>
            <a:ext cx="5697141" cy="953"/>
          </a:xfrm>
          <a:custGeom xmlns:a="http://schemas.openxmlformats.org/drawingml/2006/main">
            <a:pathLst>
              <a:path w="5697141" h="476">
                <a:moveTo>
                  <a:pt x="0" y="0"/>
                </a:moveTo>
                <a:lnTo>
                  <a:pt x="5697141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30">
            <a:solidFill>
              <a:srgbClr val="333333"/>
            </a:solidFill>
          </a:ln>
        </p:spPr>
      </p:sp>
      <p:sp>
        <p:nvSpPr>
          <p:cNvPr id="8" name="hf-103">
            <a:extLst xmlns:a="http://schemas.openxmlformats.org/drawingml/2006/main">
              <a:ext uri="{FF2B5EF4-FFF2-40B4-BE49-F238E27FC236}">
                <a16:creationId xmlns:a16="http://schemas.microsoft.com/office/drawing/2014/main" id="{6001BE5B-F4C6-4B83-9FAB-B21A07FF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119" y="3714750"/>
            <a:ext cx="5697141" cy="953"/>
          </a:xfrm>
          <a:custGeom xmlns:a="http://schemas.openxmlformats.org/drawingml/2006/main">
            <a:pathLst>
              <a:path w="5697141" h="476">
                <a:moveTo>
                  <a:pt x="0" y="0"/>
                </a:moveTo>
                <a:lnTo>
                  <a:pt x="569714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95">
            <a:solidFill>
              <a:srgbClr val="8F8F8F"/>
            </a:solidFill>
          </a:ln>
        </p:spPr>
      </p:sp>
      <p:sp>
        <p:nvSpPr>
          <p:cNvPr id="9" name="hf-104">
            <a:extLst xmlns:a="http://schemas.openxmlformats.org/drawingml/2006/main">
              <a:ext uri="{FF2B5EF4-FFF2-40B4-BE49-F238E27FC236}">
                <a16:creationId xmlns:a16="http://schemas.microsoft.com/office/drawing/2014/main" id="{9C549FDB-A3E7-4DAD-86F1-62C58CAA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8867"/>
            <a:ext cx="304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 SemiBold"/>
                <a:ea typeface="Montserrat SemiBold"/>
                <a:cs typeface="Montserrat SemiBold"/>
              </a:rPr>
              <a:t>60</a:t>
            </a:r>
          </a:p>
        </p:txBody>
      </p:sp>
      <p:sp>
        <p:nvSpPr>
          <p:cNvPr id="10" name="hf-105">
            <a:extLst xmlns:a="http://schemas.openxmlformats.org/drawingml/2006/main">
              <a:ext uri="{FF2B5EF4-FFF2-40B4-BE49-F238E27FC236}">
                <a16:creationId xmlns:a16="http://schemas.microsoft.com/office/drawing/2014/main" id="{512B0522-87EB-4232-992D-430FF796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03" y="2270379"/>
            <a:ext cx="314697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 SemiBold"/>
                <a:ea typeface="Montserrat SemiBold"/>
                <a:cs typeface="Montserrat SemiBold"/>
              </a:rPr>
              <a:t>40</a:t>
            </a:r>
          </a:p>
        </p:txBody>
      </p:sp>
      <p:sp>
        <p:nvSpPr>
          <p:cNvPr id="11" name="hf-106">
            <a:extLst xmlns:a="http://schemas.openxmlformats.org/drawingml/2006/main">
              <a:ext uri="{FF2B5EF4-FFF2-40B4-BE49-F238E27FC236}">
                <a16:creationId xmlns:a16="http://schemas.microsoft.com/office/drawing/2014/main" id="{C3114DC0-9586-4927-8942-03315AD8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58" y="2937129"/>
            <a:ext cx="296242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 SemiBold"/>
                <a:ea typeface="Montserrat SemiBold"/>
                <a:cs typeface="Montserrat SemiBold"/>
              </a:rPr>
              <a:t>20</a:t>
            </a:r>
          </a:p>
        </p:txBody>
      </p:sp>
      <p:sp>
        <p:nvSpPr>
          <p:cNvPr id="12" name="hf-107">
            <a:extLst xmlns:a="http://schemas.openxmlformats.org/drawingml/2006/main">
              <a:ext uri="{FF2B5EF4-FFF2-40B4-BE49-F238E27FC236}">
                <a16:creationId xmlns:a16="http://schemas.microsoft.com/office/drawing/2014/main" id="{3795508B-069B-4D93-A9FC-9CB0FCC8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35" y="3608642"/>
            <a:ext cx="18536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 SemiBold"/>
                <a:ea typeface="Montserrat SemiBold"/>
                <a:cs typeface="Montserrat SemiBold"/>
              </a:rPr>
              <a:t>0</a:t>
            </a:r>
          </a:p>
        </p:txBody>
      </p:sp>
      <p:sp>
        <p:nvSpPr>
          <p:cNvPr id="13" name="hf-108">
            <a:extLst xmlns:a="http://schemas.openxmlformats.org/drawingml/2006/main">
              <a:ext uri="{FF2B5EF4-FFF2-40B4-BE49-F238E27FC236}">
                <a16:creationId xmlns:a16="http://schemas.microsoft.com/office/drawing/2014/main" id="{ED5A396F-34F3-4958-AC26-9F7A4560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843" y="3799142"/>
            <a:ext cx="249138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 SemiBold"/>
                <a:ea typeface="Montserrat SemiBold"/>
                <a:cs typeface="Montserrat SemiBold"/>
              </a:rPr>
              <a:t>16</a:t>
            </a:r>
          </a:p>
        </p:txBody>
      </p:sp>
      <p:sp>
        <p:nvSpPr>
          <p:cNvPr id="14" name="hf-109">
            <a:extLst xmlns:a="http://schemas.openxmlformats.org/drawingml/2006/main">
              <a:ext uri="{FF2B5EF4-FFF2-40B4-BE49-F238E27FC236}">
                <a16:creationId xmlns:a16="http://schemas.microsoft.com/office/drawing/2014/main" id="{6BAA5686-F6AD-4D6E-A0C6-9BBAE02C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6520" y="3799142"/>
            <a:ext cx="26863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 SemiBold"/>
                <a:ea typeface="Montserrat SemiBold"/>
                <a:cs typeface="Montserrat SemiBold"/>
              </a:rPr>
              <a:t>1K</a:t>
            </a:r>
          </a:p>
        </p:txBody>
      </p:sp>
      <p:sp>
        <p:nvSpPr>
          <p:cNvPr id="15" name="hf-110">
            <a:extLst xmlns:a="http://schemas.openxmlformats.org/drawingml/2006/main">
              <a:ext uri="{FF2B5EF4-FFF2-40B4-BE49-F238E27FC236}">
                <a16:creationId xmlns:a16="http://schemas.microsoft.com/office/drawing/2014/main" id="{F8F070B0-1967-466E-A7CA-3F24036A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764" y="3799142"/>
            <a:ext cx="444922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 SemiBold"/>
                <a:ea typeface="Montserrat SemiBold"/>
                <a:cs typeface="Montserrat SemiBold"/>
              </a:rPr>
              <a:t>64K</a:t>
            </a:r>
          </a:p>
        </p:txBody>
      </p:sp>
      <p:sp>
        <p:nvSpPr>
          <p:cNvPr id="16" name="hf-111">
            <a:extLst xmlns:a="http://schemas.openxmlformats.org/drawingml/2006/main">
              <a:ext uri="{FF2B5EF4-FFF2-40B4-BE49-F238E27FC236}">
                <a16:creationId xmlns:a16="http://schemas.microsoft.com/office/drawing/2014/main" id="{557EB0B3-5C4E-416D-8247-7BA1AA9D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5295" y="3799142"/>
            <a:ext cx="490761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 SemiBold"/>
                <a:ea typeface="Montserrat SemiBold"/>
                <a:cs typeface="Montserrat SemiBold"/>
              </a:rPr>
              <a:t>512K</a:t>
            </a:r>
          </a:p>
        </p:txBody>
      </p:sp>
      <p:sp>
        <p:nvSpPr>
          <p:cNvPr id="17" name="hf-112">
            <a:extLst xmlns:a="http://schemas.openxmlformats.org/drawingml/2006/main">
              <a:ext uri="{FF2B5EF4-FFF2-40B4-BE49-F238E27FC236}">
                <a16:creationId xmlns:a16="http://schemas.microsoft.com/office/drawing/2014/main" id="{6BA9308B-7787-4564-ABCB-A7E19216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4676" y="3799142"/>
            <a:ext cx="368424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 SemiBold"/>
                <a:ea typeface="Montserrat SemiBold"/>
                <a:cs typeface="Montserrat SemiBold"/>
              </a:rPr>
              <a:t>4M</a:t>
            </a:r>
          </a:p>
        </p:txBody>
      </p:sp>
      <p:sp>
        <p:nvSpPr>
          <p:cNvPr id="18" name="hf-113">
            <a:extLst xmlns:a="http://schemas.openxmlformats.org/drawingml/2006/main">
              <a:ext uri="{FF2B5EF4-FFF2-40B4-BE49-F238E27FC236}">
                <a16:creationId xmlns:a16="http://schemas.microsoft.com/office/drawing/2014/main" id="{ED812E55-862D-493C-AB45-2D27A53A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2931" y="4037267"/>
            <a:ext cx="1392287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 SemiBold"/>
                <a:ea typeface="Montserrat SemiBold"/>
                <a:cs typeface="Montserrat SemiBold"/>
              </a:rPr>
              <a:t>N, лог. шкала</a:t>
            </a:r>
          </a:p>
        </p:txBody>
      </p:sp>
      <p:sp>
        <p:nvSpPr>
          <p:cNvPr id="19" name="hf-114">
            <a:extLst xmlns:a="http://schemas.openxmlformats.org/drawingml/2006/main">
              <a:ext uri="{FF2B5EF4-FFF2-40B4-BE49-F238E27FC236}">
                <a16:creationId xmlns:a16="http://schemas.microsoft.com/office/drawing/2014/main" id="{ECA3F05E-6B2E-4642-8EF8-C5AB547B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8" y="2995017"/>
            <a:ext cx="5625703" cy="615256"/>
          </a:xfrm>
          <a:custGeom xmlns:a="http://schemas.openxmlformats.org/drawingml/2006/main">
            <a:pathLst>
              <a:path w="5625703" h="615256">
                <a:moveTo>
                  <a:pt x="0" y="615256"/>
                </a:moveTo>
                <a:lnTo>
                  <a:pt x="312539" y="594271"/>
                </a:lnTo>
                <a:lnTo>
                  <a:pt x="625078" y="531316"/>
                </a:lnTo>
                <a:lnTo>
                  <a:pt x="937617" y="409873"/>
                </a:lnTo>
                <a:lnTo>
                  <a:pt x="1250156" y="309414"/>
                </a:lnTo>
                <a:lnTo>
                  <a:pt x="1562695" y="263426"/>
                </a:lnTo>
                <a:lnTo>
                  <a:pt x="1875234" y="238423"/>
                </a:lnTo>
                <a:lnTo>
                  <a:pt x="2187773" y="208955"/>
                </a:lnTo>
                <a:lnTo>
                  <a:pt x="2500313" y="183952"/>
                </a:lnTo>
                <a:lnTo>
                  <a:pt x="2812852" y="179933"/>
                </a:lnTo>
                <a:lnTo>
                  <a:pt x="3125391" y="162967"/>
                </a:lnTo>
                <a:lnTo>
                  <a:pt x="3437930" y="141982"/>
                </a:lnTo>
                <a:lnTo>
                  <a:pt x="3750469" y="125462"/>
                </a:lnTo>
                <a:lnTo>
                  <a:pt x="4063008" y="100013"/>
                </a:lnTo>
                <a:lnTo>
                  <a:pt x="4375547" y="83493"/>
                </a:lnTo>
                <a:lnTo>
                  <a:pt x="4688086" y="62508"/>
                </a:lnTo>
                <a:lnTo>
                  <a:pt x="5000625" y="45988"/>
                </a:lnTo>
                <a:lnTo>
                  <a:pt x="5313164" y="20538"/>
                </a:lnTo>
                <a:lnTo>
                  <a:pt x="56257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40184">
            <a:solidFill>
              <a:srgbClr val="46CDAE"/>
            </a:solidFill>
          </a:ln>
        </p:spPr>
      </p:sp>
      <p:sp>
        <p:nvSpPr>
          <p:cNvPr id="20" name="hf-115">
            <a:extLst xmlns:a="http://schemas.openxmlformats.org/drawingml/2006/main">
              <a:ext uri="{FF2B5EF4-FFF2-40B4-BE49-F238E27FC236}">
                <a16:creationId xmlns:a16="http://schemas.microsoft.com/office/drawing/2014/main" id="{F8B507D7-0B1B-4790-86A3-7302F4F8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46642"/>
            <a:ext cx="1353964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+ unique</a:t>
            </a:r>
          </a:p>
        </p:txBody>
      </p:sp>
      <p:sp>
        <p:nvSpPr>
          <p:cNvPr id="21" name="hf-116">
            <a:extLst xmlns:a="http://schemas.openxmlformats.org/drawingml/2006/main">
              <a:ext uri="{FF2B5EF4-FFF2-40B4-BE49-F238E27FC236}">
                <a16:creationId xmlns:a16="http://schemas.microsoft.com/office/drawing/2014/main" id="{F55B5220-2BAA-4189-9383-098D32B0D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8" y="1847999"/>
            <a:ext cx="5625703" cy="1464915"/>
          </a:xfrm>
          <a:custGeom xmlns:a="http://schemas.openxmlformats.org/drawingml/2006/main">
            <a:pathLst>
              <a:path w="5625703" h="1464915">
                <a:moveTo>
                  <a:pt x="0" y="1422946"/>
                </a:moveTo>
                <a:lnTo>
                  <a:pt x="312539" y="1464915"/>
                </a:lnTo>
                <a:lnTo>
                  <a:pt x="625078" y="1464915"/>
                </a:lnTo>
                <a:lnTo>
                  <a:pt x="937617" y="1439912"/>
                </a:lnTo>
                <a:lnTo>
                  <a:pt x="1250156" y="1427411"/>
                </a:lnTo>
                <a:lnTo>
                  <a:pt x="1562695" y="1427411"/>
                </a:lnTo>
                <a:lnTo>
                  <a:pt x="1875234" y="1418927"/>
                </a:lnTo>
                <a:lnTo>
                  <a:pt x="2187773" y="1380976"/>
                </a:lnTo>
                <a:lnTo>
                  <a:pt x="2500313" y="1368475"/>
                </a:lnTo>
                <a:lnTo>
                  <a:pt x="2812852" y="1343471"/>
                </a:lnTo>
                <a:lnTo>
                  <a:pt x="3125391" y="1314004"/>
                </a:lnTo>
                <a:lnTo>
                  <a:pt x="3437930" y="1289000"/>
                </a:lnTo>
                <a:lnTo>
                  <a:pt x="3750469" y="1280964"/>
                </a:lnTo>
                <a:lnTo>
                  <a:pt x="4063008" y="1280964"/>
                </a:lnTo>
                <a:lnTo>
                  <a:pt x="4375547" y="1272480"/>
                </a:lnTo>
                <a:lnTo>
                  <a:pt x="4688086" y="1243012"/>
                </a:lnTo>
                <a:lnTo>
                  <a:pt x="5000625" y="987623"/>
                </a:lnTo>
                <a:lnTo>
                  <a:pt x="5313164" y="523280"/>
                </a:lnTo>
                <a:lnTo>
                  <a:pt x="56257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40184">
            <a:solidFill>
              <a:srgbClr val="E2489B"/>
            </a:solidFill>
          </a:ln>
        </p:spPr>
      </p:sp>
      <p:sp>
        <p:nvSpPr>
          <p:cNvPr id="22" name="hf-117">
            <a:extLst xmlns:a="http://schemas.openxmlformats.org/drawingml/2006/main">
              <a:ext uri="{FF2B5EF4-FFF2-40B4-BE49-F238E27FC236}">
                <a16:creationId xmlns:a16="http://schemas.microsoft.com/office/drawing/2014/main" id="{01B7BB7F-ADA9-4038-BF70-202EED26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9767" y="1857375"/>
            <a:ext cx="53578" cy="1129605"/>
          </a:xfrm>
          <a:custGeom xmlns:a="http://schemas.openxmlformats.org/drawingml/2006/main">
            <a:pathLst>
              <a:path w="53578" h="1129605">
                <a:moveTo>
                  <a:pt x="0" y="0"/>
                </a:moveTo>
                <a:lnTo>
                  <a:pt x="19324" y="0"/>
                </a:lnTo>
                <a:lnTo>
                  <a:pt x="38649" y="0"/>
                </a:lnTo>
                <a:lnTo>
                  <a:pt x="53578" y="4395"/>
                </a:lnTo>
                <a:lnTo>
                  <a:pt x="53578" y="23719"/>
                </a:lnTo>
                <a:lnTo>
                  <a:pt x="53578" y="43044"/>
                </a:lnTo>
                <a:lnTo>
                  <a:pt x="53578" y="62368"/>
                </a:lnTo>
                <a:lnTo>
                  <a:pt x="53578" y="81693"/>
                </a:lnTo>
                <a:lnTo>
                  <a:pt x="53578" y="101017"/>
                </a:lnTo>
                <a:lnTo>
                  <a:pt x="53578" y="120341"/>
                </a:lnTo>
                <a:lnTo>
                  <a:pt x="53578" y="139666"/>
                </a:lnTo>
                <a:lnTo>
                  <a:pt x="53578" y="158990"/>
                </a:lnTo>
                <a:lnTo>
                  <a:pt x="53578" y="178315"/>
                </a:lnTo>
                <a:lnTo>
                  <a:pt x="53578" y="197639"/>
                </a:lnTo>
                <a:lnTo>
                  <a:pt x="53578" y="216964"/>
                </a:lnTo>
                <a:lnTo>
                  <a:pt x="53578" y="236288"/>
                </a:lnTo>
                <a:lnTo>
                  <a:pt x="53578" y="255612"/>
                </a:lnTo>
                <a:lnTo>
                  <a:pt x="53578" y="274937"/>
                </a:lnTo>
                <a:lnTo>
                  <a:pt x="53578" y="294261"/>
                </a:lnTo>
                <a:lnTo>
                  <a:pt x="53578" y="313586"/>
                </a:lnTo>
                <a:lnTo>
                  <a:pt x="53578" y="332910"/>
                </a:lnTo>
                <a:lnTo>
                  <a:pt x="53578" y="352234"/>
                </a:lnTo>
                <a:lnTo>
                  <a:pt x="53578" y="371559"/>
                </a:lnTo>
                <a:lnTo>
                  <a:pt x="53578" y="390883"/>
                </a:lnTo>
                <a:lnTo>
                  <a:pt x="53578" y="410208"/>
                </a:lnTo>
                <a:lnTo>
                  <a:pt x="53578" y="429532"/>
                </a:lnTo>
                <a:lnTo>
                  <a:pt x="53578" y="448856"/>
                </a:lnTo>
                <a:lnTo>
                  <a:pt x="53578" y="468181"/>
                </a:lnTo>
                <a:lnTo>
                  <a:pt x="53578" y="487505"/>
                </a:lnTo>
                <a:lnTo>
                  <a:pt x="53578" y="506830"/>
                </a:lnTo>
                <a:lnTo>
                  <a:pt x="53578" y="526154"/>
                </a:lnTo>
                <a:lnTo>
                  <a:pt x="53578" y="545478"/>
                </a:lnTo>
                <a:lnTo>
                  <a:pt x="53578" y="564803"/>
                </a:lnTo>
                <a:lnTo>
                  <a:pt x="53578" y="584127"/>
                </a:lnTo>
                <a:lnTo>
                  <a:pt x="53578" y="603452"/>
                </a:lnTo>
                <a:lnTo>
                  <a:pt x="53578" y="622776"/>
                </a:lnTo>
                <a:lnTo>
                  <a:pt x="53578" y="642100"/>
                </a:lnTo>
                <a:lnTo>
                  <a:pt x="53578" y="661425"/>
                </a:lnTo>
                <a:lnTo>
                  <a:pt x="53578" y="680749"/>
                </a:lnTo>
                <a:lnTo>
                  <a:pt x="53578" y="700074"/>
                </a:lnTo>
                <a:lnTo>
                  <a:pt x="53578" y="719398"/>
                </a:lnTo>
                <a:lnTo>
                  <a:pt x="53578" y="738722"/>
                </a:lnTo>
                <a:lnTo>
                  <a:pt x="53578" y="758047"/>
                </a:lnTo>
                <a:lnTo>
                  <a:pt x="53578" y="777371"/>
                </a:lnTo>
                <a:lnTo>
                  <a:pt x="53578" y="796696"/>
                </a:lnTo>
                <a:lnTo>
                  <a:pt x="53578" y="816020"/>
                </a:lnTo>
                <a:lnTo>
                  <a:pt x="53578" y="835344"/>
                </a:lnTo>
                <a:lnTo>
                  <a:pt x="53578" y="854669"/>
                </a:lnTo>
                <a:lnTo>
                  <a:pt x="53578" y="873993"/>
                </a:lnTo>
                <a:lnTo>
                  <a:pt x="53578" y="893318"/>
                </a:lnTo>
                <a:lnTo>
                  <a:pt x="53578" y="912642"/>
                </a:lnTo>
                <a:lnTo>
                  <a:pt x="53578" y="931966"/>
                </a:lnTo>
                <a:lnTo>
                  <a:pt x="53578" y="951291"/>
                </a:lnTo>
                <a:lnTo>
                  <a:pt x="53578" y="970615"/>
                </a:lnTo>
                <a:lnTo>
                  <a:pt x="53578" y="989940"/>
                </a:lnTo>
                <a:lnTo>
                  <a:pt x="53578" y="1009264"/>
                </a:lnTo>
                <a:lnTo>
                  <a:pt x="53578" y="1028588"/>
                </a:lnTo>
                <a:lnTo>
                  <a:pt x="53578" y="1047913"/>
                </a:lnTo>
                <a:lnTo>
                  <a:pt x="53578" y="1067237"/>
                </a:lnTo>
                <a:lnTo>
                  <a:pt x="53578" y="1086562"/>
                </a:lnTo>
                <a:lnTo>
                  <a:pt x="53578" y="1105886"/>
                </a:lnTo>
                <a:lnTo>
                  <a:pt x="53578" y="1125210"/>
                </a:lnTo>
                <a:lnTo>
                  <a:pt x="38649" y="1129605"/>
                </a:lnTo>
                <a:lnTo>
                  <a:pt x="19324" y="1129605"/>
                </a:lnTo>
                <a:lnTo>
                  <a:pt x="0" y="1129605"/>
                </a:lnTo>
              </a:path>
            </a:pathLst>
          </a:custGeom>
          <a:noFill xmlns:a="http://schemas.openxmlformats.org/drawingml/2006/main"/>
          <a:ln xmlns:a="http://schemas.openxmlformats.org/drawingml/2006/main" w="13395">
            <a:solidFill>
              <a:srgbClr val="8F8F8F"/>
            </a:solidFill>
          </a:ln>
        </p:spPr>
      </p:sp>
      <p:sp>
        <p:nvSpPr>
          <p:cNvPr id="23" name="hf-118">
            <a:extLst xmlns:a="http://schemas.openxmlformats.org/drawingml/2006/main">
              <a:ext uri="{FF2B5EF4-FFF2-40B4-BE49-F238E27FC236}">
                <a16:creationId xmlns:a16="http://schemas.microsoft.com/office/drawing/2014/main" id="{D060FEC8-82B3-4F54-9B3A-D421FC66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13167"/>
            <a:ext cx="1489993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unordered_set</a:t>
            </a:r>
          </a:p>
        </p:txBody>
      </p:sp>
      <p:sp>
        <p:nvSpPr>
          <p:cNvPr id="24" name="hf-119">
            <a:extLst xmlns:a="http://schemas.openxmlformats.org/drawingml/2006/main">
              <a:ext uri="{FF2B5EF4-FFF2-40B4-BE49-F238E27FC236}">
                <a16:creationId xmlns:a16="http://schemas.microsoft.com/office/drawing/2014/main" id="{AED09F42-967A-478A-8878-F7BF9D29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161680"/>
            <a:ext cx="78945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27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×2,6</a:t>
            </a:r>
          </a:p>
        </p:txBody>
      </p:sp>
      <p:sp>
        <p:nvSpPr>
          <p:cNvPr id="25" name="hf-120">
            <a:extLst xmlns:a="http://schemas.openxmlformats.org/drawingml/2006/main">
              <a:ext uri="{FF2B5EF4-FFF2-40B4-BE49-F238E27FC236}">
                <a16:creationId xmlns:a16="http://schemas.microsoft.com/office/drawing/2014/main" id="{D5AA3D4C-CB60-44C3-9797-E9E82B11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7838" y="2687836"/>
            <a:ext cx="553641" cy="535781"/>
          </a:xfrm>
          <a:prstGeom xmlns:a="http://schemas.openxmlformats.org/drawingml/2006/main" prst="roundRect">
            <a:avLst>
              <a:gd name="adj" fmla="val 21333"/>
            </a:avLst>
          </a:prstGeom>
          <a:noFill xmlns:a="http://schemas.openxmlformats.org/drawingml/2006/main"/>
          <a:ln xmlns:a="http://schemas.openxmlformats.org/drawingml/2006/main" w="22324">
            <a:solidFill>
              <a:srgbClr val="46CDAE"/>
            </a:solidFill>
          </a:ln>
        </p:spPr>
      </p:sp>
      <p:sp>
        <p:nvSpPr>
          <p:cNvPr id="26" name="hf-121">
            <a:extLst xmlns:a="http://schemas.openxmlformats.org/drawingml/2006/main">
              <a:ext uri="{FF2B5EF4-FFF2-40B4-BE49-F238E27FC236}">
                <a16:creationId xmlns:a16="http://schemas.microsoft.com/office/drawing/2014/main" id="{675D0A09-0B87-44DB-AE21-A18BF8F6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571625"/>
            <a:ext cx="4286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27" name="hf-122">
            <a:extLst xmlns:a="http://schemas.openxmlformats.org/drawingml/2006/main">
              <a:ext uri="{FF2B5EF4-FFF2-40B4-BE49-F238E27FC236}">
                <a16:creationId xmlns:a16="http://schemas.microsoft.com/office/drawing/2014/main" id="{C022CC9F-55D1-4586-AADF-692409D4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3" y="1656017"/>
            <a:ext cx="3051274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L2 P-кластера M2 Pro: 16 МиБ</a:t>
            </a:r>
          </a:p>
        </p:txBody>
      </p:sp>
      <p:sp>
        <p:nvSpPr>
          <p:cNvPr id="28" name="hf-123">
            <a:extLst xmlns:a="http://schemas.openxmlformats.org/drawingml/2006/main">
              <a:ext uri="{FF2B5EF4-FFF2-40B4-BE49-F238E27FC236}">
                <a16:creationId xmlns:a16="http://schemas.microsoft.com/office/drawing/2014/main" id="{744CCC4B-91D8-4A10-B013-7343C9EE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3" y="1956054"/>
            <a:ext cx="21208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N</a:t>
            </a:r>
          </a:p>
        </p:txBody>
      </p:sp>
      <p:sp>
        <p:nvSpPr>
          <p:cNvPr id="29" name="hf-124">
            <a:extLst xmlns:a="http://schemas.openxmlformats.org/drawingml/2006/main">
              <a:ext uri="{FF2B5EF4-FFF2-40B4-BE49-F238E27FC236}">
                <a16:creationId xmlns:a16="http://schemas.microsoft.com/office/drawing/2014/main" id="{ED362A7A-6F68-467B-9B9A-0533F86D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813" y="1956054"/>
            <a:ext cx="8922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Таблица</a:t>
            </a:r>
          </a:p>
        </p:txBody>
      </p:sp>
      <p:sp>
        <p:nvSpPr>
          <p:cNvPr id="30" name="hf-125">
            <a:extLst xmlns:a="http://schemas.openxmlformats.org/drawingml/2006/main">
              <a:ext uri="{FF2B5EF4-FFF2-40B4-BE49-F238E27FC236}">
                <a16:creationId xmlns:a16="http://schemas.microsoft.com/office/drawing/2014/main" id="{4BAE6749-9F4E-4DA2-9552-5DDEAFFD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438" y="1956054"/>
            <a:ext cx="541362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Вход</a:t>
            </a:r>
          </a:p>
        </p:txBody>
      </p:sp>
      <p:sp>
        <p:nvSpPr>
          <p:cNvPr id="31" name="hf-126">
            <a:extLst xmlns:a="http://schemas.openxmlformats.org/drawingml/2006/main">
              <a:ext uri="{FF2B5EF4-FFF2-40B4-BE49-F238E27FC236}">
                <a16:creationId xmlns:a16="http://schemas.microsoft.com/office/drawing/2014/main" id="{597B6930-F6D3-4064-BE82-41BEA805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3" y="2237042"/>
            <a:ext cx="498574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512K</a:t>
            </a:r>
          </a:p>
        </p:txBody>
      </p:sp>
      <p:sp>
        <p:nvSpPr>
          <p:cNvPr id="32" name="hf-127">
            <a:extLst xmlns:a="http://schemas.openxmlformats.org/drawingml/2006/main">
              <a:ext uri="{FF2B5EF4-FFF2-40B4-BE49-F238E27FC236}">
                <a16:creationId xmlns:a16="http://schemas.microsoft.com/office/drawing/2014/main" id="{B424E0AB-43F9-49E1-95D9-6DDB1AF6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813" y="2237042"/>
            <a:ext cx="871612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1" i="0">
                <a:solidFill>
                  <a:srgbClr val="E2489B"/>
                </a:solidFill>
                <a:latin typeface="Montserrat"/>
                <a:ea typeface="Montserrat"/>
                <a:cs typeface="Montserrat"/>
              </a:rPr>
              <a:t>≈12 МиБ</a:t>
            </a:r>
          </a:p>
        </p:txBody>
      </p:sp>
      <p:sp>
        <p:nvSpPr>
          <p:cNvPr id="33" name="hf-128">
            <a:extLst xmlns:a="http://schemas.openxmlformats.org/drawingml/2006/main">
              <a:ext uri="{FF2B5EF4-FFF2-40B4-BE49-F238E27FC236}">
                <a16:creationId xmlns:a16="http://schemas.microsoft.com/office/drawing/2014/main" id="{E7BEACB5-FF2B-4ADC-960A-9A20A0D4B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438" y="2237042"/>
            <a:ext cx="816471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+4 МиБ</a:t>
            </a:r>
          </a:p>
        </p:txBody>
      </p:sp>
      <p:sp>
        <p:nvSpPr>
          <p:cNvPr id="34" name="hf-129">
            <a:extLst xmlns:a="http://schemas.openxmlformats.org/drawingml/2006/main">
              <a:ext uri="{FF2B5EF4-FFF2-40B4-BE49-F238E27FC236}">
                <a16:creationId xmlns:a16="http://schemas.microsoft.com/office/drawing/2014/main" id="{A6BFF1FE-BB7C-478F-9E0A-0769DE2E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3" y="2513267"/>
            <a:ext cx="31373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1M</a:t>
            </a:r>
          </a:p>
        </p:txBody>
      </p:sp>
      <p:sp>
        <p:nvSpPr>
          <p:cNvPr id="35" name="hf-130">
            <a:extLst xmlns:a="http://schemas.openxmlformats.org/drawingml/2006/main">
              <a:ext uri="{FF2B5EF4-FFF2-40B4-BE49-F238E27FC236}">
                <a16:creationId xmlns:a16="http://schemas.microsoft.com/office/drawing/2014/main" id="{65DD7A53-0A2A-4773-9E95-7BA098D1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813" y="2513267"/>
            <a:ext cx="926232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1" i="0">
                <a:solidFill>
                  <a:srgbClr val="E2489B"/>
                </a:solidFill>
                <a:latin typeface="Montserrat"/>
                <a:ea typeface="Montserrat"/>
                <a:cs typeface="Montserrat"/>
              </a:rPr>
              <a:t>≈24 МиБ</a:t>
            </a:r>
          </a:p>
        </p:txBody>
      </p:sp>
      <p:sp>
        <p:nvSpPr>
          <p:cNvPr id="36" name="hf-131">
            <a:extLst xmlns:a="http://schemas.openxmlformats.org/drawingml/2006/main">
              <a:ext uri="{FF2B5EF4-FFF2-40B4-BE49-F238E27FC236}">
                <a16:creationId xmlns:a16="http://schemas.microsoft.com/office/drawing/2014/main" id="{1366FED5-688A-45AE-97DE-7CE0D848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438" y="2513267"/>
            <a:ext cx="81029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+8 МиБ</a:t>
            </a:r>
          </a:p>
        </p:txBody>
      </p:sp>
      <p:sp>
        <p:nvSpPr>
          <p:cNvPr id="37" name="hf-132">
            <a:extLst xmlns:a="http://schemas.openxmlformats.org/drawingml/2006/main">
              <a:ext uri="{FF2B5EF4-FFF2-40B4-BE49-F238E27FC236}">
                <a16:creationId xmlns:a16="http://schemas.microsoft.com/office/drawing/2014/main" id="{F36C6ED2-8DC2-40D4-80C0-9D3D6B5C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3" y="2799017"/>
            <a:ext cx="4037261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Гипотеза о кэше. Промахи не измерены</a:t>
            </a:r>
          </a:p>
        </p:txBody>
      </p:sp>
      <p:pic>
        <p:nvPicPr>
          <p:cNvPr id="38" name="hf-133">
            <a:extLst xmlns:a="http://schemas.openxmlformats.org/drawingml/2006/main">
              <a:ext uri="{FF2B5EF4-FFF2-40B4-BE49-F238E27FC236}">
                <a16:creationId xmlns:a16="http://schemas.microsoft.com/office/drawing/2014/main" id="{C8C7EC66-1071-4D7A-AAC4-96860C7893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787ab3212d4a1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39" name="hf-134">
            <a:extLst xmlns:a="http://schemas.openxmlformats.org/drawingml/2006/main">
              <a:ext uri="{FF2B5EF4-FFF2-40B4-BE49-F238E27FC236}">
                <a16:creationId xmlns:a16="http://schemas.microsoft.com/office/drawing/2014/main" id="{D6D40537-395E-4BDE-9C53-3FE4850B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45734606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3" grpId="0" animBg="1"/>
      <p:bldP spid="24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8.xml><?xml version="1.0" encoding="utf-8"?>
<p:sld xmlns:p="http://schemas.openxmlformats.org/presentationml/2006/main">
  <p:cSld name="nodes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135">
            <a:extLst xmlns:a="http://schemas.openxmlformats.org/drawingml/2006/main">
              <a:ext uri="{FF2B5EF4-FFF2-40B4-BE49-F238E27FC236}">
                <a16:creationId xmlns:a16="http://schemas.microsoft.com/office/drawing/2014/main" id="{335D6E13-0567-4F0F-AE45-59EDCC30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974479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РАУНД </a:t>
            </a: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ИЗ 4 · РАЗМЕР И ПАМЯТЬ</a:t>
            </a:r>
          </a:p>
        </p:txBody>
      </p:sp>
      <p:sp>
        <p:nvSpPr>
          <p:cNvPr id="3" name="hf-136">
            <a:extLst xmlns:a="http://schemas.openxmlformats.org/drawingml/2006/main">
              <a:ext uri="{FF2B5EF4-FFF2-40B4-BE49-F238E27FC236}">
                <a16:creationId xmlns:a16="http://schemas.microsoft.com/office/drawing/2014/main" id="{FAB08169-5832-4CA7-9664-40483965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21878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УЗЛЫ СТОЯТ АЛЛОКАЦИЙ И ПРЫЖКОВ</a:t>
            </a:r>
          </a:p>
        </p:txBody>
      </p:sp>
      <p:sp>
        <p:nvSpPr>
          <p:cNvPr id="4" name="hf-137">
            <a:extLst xmlns:a="http://schemas.openxmlformats.org/drawingml/2006/main">
              <a:ext uri="{FF2B5EF4-FFF2-40B4-BE49-F238E27FC236}">
                <a16:creationId xmlns:a16="http://schemas.microsoft.com/office/drawing/2014/main" id="{0D7D048B-12AE-40B4-9E4E-80E4FFA5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273931"/>
            <a:ext cx="1507034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65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sort + unique</a:t>
            </a:r>
          </a:p>
        </p:txBody>
      </p:sp>
      <p:sp>
        <p:nvSpPr>
          <p:cNvPr id="5" name="hf-138">
            <a:extLst xmlns:a="http://schemas.openxmlformats.org/drawingml/2006/main">
              <a:ext uri="{FF2B5EF4-FFF2-40B4-BE49-F238E27FC236}">
                <a16:creationId xmlns:a16="http://schemas.microsoft.com/office/drawing/2014/main" id="{C44E5152-D732-4B48-8D79-7894A11F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532192"/>
            <a:ext cx="1666056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vector&lt;uint64_t&gt;</a:t>
            </a:r>
          </a:p>
        </p:txBody>
      </p:sp>
      <p:sp>
        <p:nvSpPr>
          <p:cNvPr id="6" name="hf-139">
            <a:extLst xmlns:a="http://schemas.openxmlformats.org/drawingml/2006/main">
              <a:ext uri="{FF2B5EF4-FFF2-40B4-BE49-F238E27FC236}">
                <a16:creationId xmlns:a16="http://schemas.microsoft.com/office/drawing/2014/main" id="{2B310E9C-D426-4B70-B0F3-3C761762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8" y="1866900"/>
            <a:ext cx="3067050" cy="381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4F45"/>
          </a:solidFill>
          <a:ln xmlns:a="http://schemas.openxmlformats.org/drawingml/2006/main" w="19050">
            <a:solidFill>
              <a:srgbClr val="46CDAE"/>
            </a:solidFill>
          </a:ln>
        </p:spPr>
      </p:sp>
      <p:sp>
        <p:nvSpPr>
          <p:cNvPr id="7" name="hf-140">
            <a:extLst xmlns:a="http://schemas.openxmlformats.org/drawingml/2006/main">
              <a:ext uri="{FF2B5EF4-FFF2-40B4-BE49-F238E27FC236}">
                <a16:creationId xmlns:a16="http://schemas.microsoft.com/office/drawing/2014/main" id="{F4910A65-E5FC-44E1-B4AA-1E345EEF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119" y="1866900"/>
            <a:ext cx="953" cy="381000"/>
          </a:xfrm>
          <a:custGeom xmlns:a="http://schemas.openxmlformats.org/drawingml/2006/main">
            <a:pathLst>
              <a:path w="476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46CDAE"/>
            </a:solidFill>
          </a:ln>
        </p:spPr>
      </p:sp>
      <p:sp>
        <p:nvSpPr>
          <p:cNvPr id="8" name="hf-141">
            <a:extLst xmlns:a="http://schemas.openxmlformats.org/drawingml/2006/main">
              <a:ext uri="{FF2B5EF4-FFF2-40B4-BE49-F238E27FC236}">
                <a16:creationId xmlns:a16="http://schemas.microsoft.com/office/drawing/2014/main" id="{755C0B1F-747E-4216-9993-C9E60337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66900"/>
            <a:ext cx="953" cy="381000"/>
          </a:xfrm>
          <a:custGeom xmlns:a="http://schemas.openxmlformats.org/drawingml/2006/main">
            <a:pathLst>
              <a:path w="476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46CDAE"/>
            </a:solidFill>
          </a:ln>
        </p:spPr>
      </p:sp>
      <p:sp>
        <p:nvSpPr>
          <p:cNvPr id="9" name="hf-142">
            <a:extLst xmlns:a="http://schemas.openxmlformats.org/drawingml/2006/main">
              <a:ext uri="{FF2B5EF4-FFF2-40B4-BE49-F238E27FC236}">
                <a16:creationId xmlns:a16="http://schemas.microsoft.com/office/drawing/2014/main" id="{807FB199-835A-42EB-8A32-2B59B8ED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881" y="1866900"/>
            <a:ext cx="953" cy="381000"/>
          </a:xfrm>
          <a:custGeom xmlns:a="http://schemas.openxmlformats.org/drawingml/2006/main">
            <a:pathLst>
              <a:path w="476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46CDAE"/>
            </a:solidFill>
          </a:ln>
        </p:spPr>
      </p:sp>
      <p:sp>
        <p:nvSpPr>
          <p:cNvPr id="10" name="hf-143">
            <a:extLst xmlns:a="http://schemas.openxmlformats.org/drawingml/2006/main">
              <a:ext uri="{FF2B5EF4-FFF2-40B4-BE49-F238E27FC236}">
                <a16:creationId xmlns:a16="http://schemas.microsoft.com/office/drawing/2014/main" id="{603D7C6A-7A61-4EF8-A142-05F3348C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0263" y="1866900"/>
            <a:ext cx="953" cy="381000"/>
          </a:xfrm>
          <a:custGeom xmlns:a="http://schemas.openxmlformats.org/drawingml/2006/main">
            <a:pathLst>
              <a:path w="476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46CDAE"/>
            </a:solidFill>
          </a:ln>
        </p:spPr>
      </p:sp>
      <p:sp>
        <p:nvSpPr>
          <p:cNvPr id="11" name="hf-144">
            <a:extLst xmlns:a="http://schemas.openxmlformats.org/drawingml/2006/main">
              <a:ext uri="{FF2B5EF4-FFF2-40B4-BE49-F238E27FC236}">
                <a16:creationId xmlns:a16="http://schemas.microsoft.com/office/drawing/2014/main" id="{E1FE48A2-4EC1-49EC-A06A-1BAEF71A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3644" y="1866900"/>
            <a:ext cx="953" cy="381000"/>
          </a:xfrm>
          <a:custGeom xmlns:a="http://schemas.openxmlformats.org/drawingml/2006/main">
            <a:pathLst>
              <a:path w="476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46CDAE"/>
            </a:solidFill>
          </a:ln>
        </p:spPr>
      </p:sp>
      <p:sp>
        <p:nvSpPr>
          <p:cNvPr id="12" name="hf-145">
            <a:extLst xmlns:a="http://schemas.openxmlformats.org/drawingml/2006/main">
              <a:ext uri="{FF2B5EF4-FFF2-40B4-BE49-F238E27FC236}">
                <a16:creationId xmlns:a16="http://schemas.microsoft.com/office/drawing/2014/main" id="{96D4535B-B829-41FA-89ED-7018A5EF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866900"/>
            <a:ext cx="953" cy="381000"/>
          </a:xfrm>
          <a:custGeom xmlns:a="http://schemas.openxmlformats.org/drawingml/2006/main">
            <a:pathLst>
              <a:path w="476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46CDAE"/>
            </a:solidFill>
          </a:ln>
        </p:spPr>
      </p:sp>
      <p:sp>
        <p:nvSpPr>
          <p:cNvPr id="13" name="hf-146">
            <a:extLst xmlns:a="http://schemas.openxmlformats.org/drawingml/2006/main">
              <a:ext uri="{FF2B5EF4-FFF2-40B4-BE49-F238E27FC236}">
                <a16:creationId xmlns:a16="http://schemas.microsoft.com/office/drawing/2014/main" id="{631DDC19-5889-4D31-AA6B-AEABA193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0406" y="1866900"/>
            <a:ext cx="953" cy="381000"/>
          </a:xfrm>
          <a:custGeom xmlns:a="http://schemas.openxmlformats.org/drawingml/2006/main">
            <a:pathLst>
              <a:path w="476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46CDAE"/>
            </a:solidFill>
          </a:ln>
        </p:spPr>
      </p:sp>
      <p:sp>
        <p:nvSpPr>
          <p:cNvPr id="14" name="hf-147">
            <a:extLst xmlns:a="http://schemas.openxmlformats.org/drawingml/2006/main">
              <a:ext uri="{FF2B5EF4-FFF2-40B4-BE49-F238E27FC236}">
                <a16:creationId xmlns:a16="http://schemas.microsoft.com/office/drawing/2014/main" id="{CED4ED08-51A3-440E-A05A-DCAB82D4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269293"/>
            <a:ext cx="22458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75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8 Б на ключ, подряд</a:t>
            </a:r>
          </a:p>
        </p:txBody>
      </p:sp>
      <p:pic>
        <p:nvPicPr>
          <p:cNvPr id="25" name="hf-148-poster">
            <a:extLst xmlns:a="http://schemas.openxmlformats.org/drawingml/2006/main">
              <a:ext uri="{FF2B5EF4-FFF2-40B4-BE49-F238E27FC236}">
                <a16:creationId xmlns:a16="http://schemas.microsoft.com/office/drawing/2014/main" id="{BDFFE1C0-7426-4496-8D6F-F4581DA090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e6185a046f4fc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382416" y="1428750"/>
            <a:ext cx="4046293" cy="2238375"/>
          </a:xfrm>
          <a:prstGeom xmlns:a="http://schemas.openxmlformats.org/drawingml/2006/main" prst="rect">
            <a:avLst/>
          </a:prstGeom>
        </p:spPr>
      </p:pic>
      <p:pic>
        <p:nvPicPr>
          <p:cNvPr id="15" name="hf-148">
            <a:extLst xmlns:a="http://schemas.openxmlformats.org/drawingml/2006/main">
              <a:ext uri="{FF2B5EF4-FFF2-40B4-BE49-F238E27FC236}">
                <a16:creationId xmlns:a16="http://schemas.microsoft.com/office/drawing/2014/main" id="{BDFFE1C0-7426-4496-8D6F-F4581DA0905C}"/>
              </a:ext>
            </a:extLst>
            <ns0:hlinkClick xmlns:ns0="http://schemas.openxmlformats.org/drawingml/2006/main" action="ppaction://media"/>
          </p:cNvPr>
          <p:cNvPicPr>
            <a:picLocks xmlns:a="http://schemas.openxmlformats.org/drawingml/2006/main" noChangeAspect="1"/>
          </p:cNvPicPr>
          <p:nvPr>
            <ns1:videoFile xmlns:ns1="http://schemas.openxmlformats.org/drawingml/2006/main" xmlns:ns2="http://schemas.openxmlformats.org/officeDocument/2006/relationships" ns2:link="rIdHFvideo2"/>
            <p:extLst>
              <p:ext uri="{DAA4B4D4-6D71-4841-9C94-3DE7FCFB1B01}">
                <ns3:media xmlns:ns3="http://schemas.microsoft.com/office/powerpoint/2010/main" xmlns:ns4="http://schemas.openxmlformats.org/officeDocument/2006/relationships" ns4:embed="rIdHFmedia2"/>
              </p:ext>
            </p:extLst>
          </p:nvPr>
        </p:nvPicPr>
        <p:blipFill>
          <a:blip xmlns:r="http://schemas.openxmlformats.org/officeDocument/2006/relationships" xmlns:a="http://schemas.openxmlformats.org/drawingml/2006/main" r:embed="R8ce6185a046f4fc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382416" y="1428750"/>
            <a:ext cx="4046293" cy="2238375"/>
          </a:xfrm>
          <a:prstGeom xmlns:a="http://schemas.openxmlformats.org/drawingml/2006/main" prst="rect">
            <a:avLst/>
          </a:prstGeom>
        </p:spPr>
      </p:pic>
      <p:sp>
        <p:nvSpPr>
          <p:cNvPr id="16" name="hf-149">
            <a:extLst xmlns:a="http://schemas.openxmlformats.org/drawingml/2006/main">
              <a:ext uri="{FF2B5EF4-FFF2-40B4-BE49-F238E27FC236}">
                <a16:creationId xmlns:a16="http://schemas.microsoft.com/office/drawing/2014/main" id="{A19BC149-0459-4E88-ACC9-67BE6B488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273931"/>
            <a:ext cx="1657276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650" b="1" i="0">
                <a:solidFill>
                  <a:srgbClr val="E2489B"/>
                </a:solidFill>
                <a:latin typeface="Montserrat"/>
                <a:ea typeface="Montserrat"/>
                <a:cs typeface="Montserrat"/>
              </a:rPr>
              <a:t>unordered_set</a:t>
            </a:r>
          </a:p>
        </p:txBody>
      </p:sp>
      <p:sp>
        <p:nvSpPr>
          <p:cNvPr id="17" name="hf-150">
            <a:extLst xmlns:a="http://schemas.openxmlformats.org/drawingml/2006/main">
              <a:ext uri="{FF2B5EF4-FFF2-40B4-BE49-F238E27FC236}">
                <a16:creationId xmlns:a16="http://schemas.microsoft.com/office/drawing/2014/main" id="{0002077D-BCE2-4F23-8047-5931AB76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840793"/>
            <a:ext cx="2772742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75"/>
              </a:lnSpc>
              <a:buNone/>
            </a:pPr>
            <a:r>
              <a:rPr sz="165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Узлы: адрес следующего</a:t>
            </a:r>
          </a:p>
        </p:txBody>
      </p:sp>
      <p:sp>
        <p:nvSpPr>
          <p:cNvPr id="18" name="hf-151">
            <a:extLst xmlns:a="http://schemas.openxmlformats.org/drawingml/2006/main">
              <a:ext uri="{FF2B5EF4-FFF2-40B4-BE49-F238E27FC236}">
                <a16:creationId xmlns:a16="http://schemas.microsoft.com/office/drawing/2014/main" id="{8D724A43-46AF-4969-97D2-CFDFC9890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117018"/>
            <a:ext cx="3431828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75"/>
              </a:lnSpc>
              <a:buNone/>
            </a:pPr>
            <a:r>
              <a:rPr sz="165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узнаём после чтения текущего</a:t>
            </a:r>
          </a:p>
        </p:txBody>
      </p:sp>
      <p:sp>
        <p:nvSpPr>
          <p:cNvPr id="19" name="hf-152">
            <a:extLst xmlns:a="http://schemas.openxmlformats.org/drawingml/2006/main">
              <a:ext uri="{FF2B5EF4-FFF2-40B4-BE49-F238E27FC236}">
                <a16:creationId xmlns:a16="http://schemas.microsoft.com/office/drawing/2014/main" id="{4B5FDA4B-EAC5-4A71-8475-33AD5C75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801904"/>
            <a:ext cx="1613371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125"/>
              </a:lnSpc>
              <a:buNone/>
            </a:pPr>
            <a:r>
              <a:rPr sz="37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0 new</a:t>
            </a:r>
          </a:p>
        </p:txBody>
      </p:sp>
      <p:sp>
        <p:nvSpPr>
          <p:cNvPr id="20" name="hf-153">
            <a:extLst xmlns:a="http://schemas.openxmlformats.org/drawingml/2006/main">
              <a:ext uri="{FF2B5EF4-FFF2-40B4-BE49-F238E27FC236}">
                <a16:creationId xmlns:a16="http://schemas.microsoft.com/office/drawing/2014/main" id="{333B780B-D4B2-406A-ABE2-BDF4E469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01904"/>
            <a:ext cx="2959894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125"/>
              </a:lnSpc>
              <a:buNone/>
            </a:pPr>
            <a:r>
              <a:rPr sz="3750" b="1" i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</a:rPr>
              <a:t>≈1 млн new</a:t>
            </a:r>
          </a:p>
        </p:txBody>
      </p:sp>
      <p:sp>
        <p:nvSpPr>
          <p:cNvPr id="21" name="hf-154">
            <a:extLst xmlns:a="http://schemas.openxmlformats.org/drawingml/2006/main">
              <a:ext uri="{FF2B5EF4-FFF2-40B4-BE49-F238E27FC236}">
                <a16:creationId xmlns:a16="http://schemas.microsoft.com/office/drawing/2014/main" id="{94109839-C49E-44A6-868C-F2F7C9A10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332542"/>
            <a:ext cx="2851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Вход готов. N = U = 2²⁰, libc++</a:t>
            </a:r>
          </a:p>
        </p:txBody>
      </p:sp>
      <p:sp>
        <p:nvSpPr>
          <p:cNvPr id="22" name="hf-155">
            <a:extLst xmlns:a="http://schemas.openxmlformats.org/drawingml/2006/main">
              <a:ext uri="{FF2B5EF4-FFF2-40B4-BE49-F238E27FC236}">
                <a16:creationId xmlns:a16="http://schemas.microsoft.com/office/drawing/2014/main" id="{C9B57F8A-B173-4CC6-9DF4-4704741B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32542"/>
            <a:ext cx="298958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≈42 МБ с округлением malloc</a:t>
            </a:r>
          </a:p>
        </p:txBody>
      </p:sp>
      <p:pic>
        <p:nvPicPr>
          <p:cNvPr id="23" name="hf-156">
            <a:extLst xmlns:a="http://schemas.openxmlformats.org/drawingml/2006/main">
              <a:ext uri="{FF2B5EF4-FFF2-40B4-BE49-F238E27FC236}">
                <a16:creationId xmlns:a16="http://schemas.microsoft.com/office/drawing/2014/main" id="{4395D94A-9FEA-4442-90E4-5C02F811D4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ed1577750a4cd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4" name="hf-157">
            <a:extLst xmlns:a="http://schemas.openxmlformats.org/drawingml/2006/main">
              <a:ext uri="{FF2B5EF4-FFF2-40B4-BE49-F238E27FC236}">
                <a16:creationId xmlns:a16="http://schemas.microsoft.com/office/drawing/2014/main" id="{5B6AD267-82A4-4BAE-84F3-579B2B4F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3572948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9" dur="7000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6" repeatCount="indefinite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9.xml><?xml version="1.0" encoding="utf-8"?>
<p:sld xmlns:p="http://schemas.openxmlformats.org/presentationml/2006/main">
  <p:cSld name="memory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158">
            <a:extLst xmlns:a="http://schemas.openxmlformats.org/drawingml/2006/main">
              <a:ext uri="{FF2B5EF4-FFF2-40B4-BE49-F238E27FC236}">
                <a16:creationId xmlns:a16="http://schemas.microsoft.com/office/drawing/2014/main" id="{93739BF1-CC27-49E5-A0AA-6999559E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974479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РАУНД </a:t>
            </a: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ИЗ 4 · РАЗМЕР И ПАМЯТЬ</a:t>
            </a:r>
          </a:p>
        </p:txBody>
      </p:sp>
      <p:sp>
        <p:nvSpPr>
          <p:cNvPr id="3" name="hf-159">
            <a:extLst xmlns:a="http://schemas.openxmlformats.org/drawingml/2006/main">
              <a:ext uri="{FF2B5EF4-FFF2-40B4-BE49-F238E27FC236}">
                <a16:creationId xmlns:a16="http://schemas.microsoft.com/office/drawing/2014/main" id="{CE3A4900-2160-44EA-810E-643F7DA0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822281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ПРОЦЕССОР МОЖЕТ ЖДАТЬ КАЖДЫЙ ШАГ</a:t>
            </a:r>
          </a:p>
        </p:txBody>
      </p:sp>
      <p:pic>
        <p:nvPicPr>
          <p:cNvPr id="10" name="hf-160-poster">
            <a:extLst xmlns:a="http://schemas.openxmlformats.org/drawingml/2006/main">
              <a:ext uri="{FF2B5EF4-FFF2-40B4-BE49-F238E27FC236}">
                <a16:creationId xmlns:a16="http://schemas.microsoft.com/office/drawing/2014/main" id="{9572A6DB-4CCC-4428-9A06-9A105FEC41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936f00d25e449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476375" y="1548089"/>
            <a:ext cx="6191250" cy="3023634"/>
          </a:xfrm>
          <a:prstGeom xmlns:a="http://schemas.openxmlformats.org/drawingml/2006/main" prst="rect">
            <a:avLst/>
          </a:prstGeom>
        </p:spPr>
      </p:pic>
      <p:pic>
        <p:nvPicPr>
          <p:cNvPr id="4" name="hf-160">
            <a:extLst xmlns:a="http://schemas.openxmlformats.org/drawingml/2006/main">
              <a:ext uri="{FF2B5EF4-FFF2-40B4-BE49-F238E27FC236}">
                <a16:creationId xmlns:a16="http://schemas.microsoft.com/office/drawing/2014/main" id="{9572A6DB-4CCC-4428-9A06-9A105FEC41B1}"/>
              </a:ext>
            </a:extLst>
            <ns0:hlinkClick xmlns:ns0="http://schemas.openxmlformats.org/drawingml/2006/main" action="ppaction://media"/>
          </p:cNvPr>
          <p:cNvPicPr>
            <a:picLocks xmlns:a="http://schemas.openxmlformats.org/drawingml/2006/main" noChangeAspect="1"/>
          </p:cNvPicPr>
          <p:nvPr>
            <ns1:videoFile xmlns:ns1="http://schemas.openxmlformats.org/drawingml/2006/main" xmlns:ns2="http://schemas.openxmlformats.org/officeDocument/2006/relationships" ns2:link="rIdHFvideo3"/>
            <p:extLst>
              <p:ext uri="{DAA4B4D4-6D71-4841-9C94-3DE7FCFB1B01}">
                <ns3:media xmlns:ns3="http://schemas.microsoft.com/office/powerpoint/2010/main" xmlns:ns4="http://schemas.openxmlformats.org/officeDocument/2006/relationships" ns4:embed="rIdHFmedia3"/>
              </p:ext>
            </p:extLst>
          </p:nvPr>
        </p:nvPicPr>
        <p:blipFill>
          <a:blip xmlns:r="http://schemas.openxmlformats.org/officeDocument/2006/relationships" xmlns:a="http://schemas.openxmlformats.org/drawingml/2006/main" r:embed="R37936f00d25e449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476375" y="1548089"/>
            <a:ext cx="6191250" cy="3023634"/>
          </a:xfrm>
          <a:prstGeom xmlns:a="http://schemas.openxmlformats.org/drawingml/2006/main" prst="rect">
            <a:avLst/>
          </a:prstGeom>
        </p:spPr>
      </p:pic>
      <p:sp>
        <p:nvSpPr>
          <p:cNvPr id="5" name="hf-161">
            <a:extLst xmlns:a="http://schemas.openxmlformats.org/drawingml/2006/main">
              <a:ext uri="{FF2B5EF4-FFF2-40B4-BE49-F238E27FC236}">
                <a16:creationId xmlns:a16="http://schemas.microsoft.com/office/drawing/2014/main" id="{370F1EE8-5947-4C95-8D3F-68AA4A902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110920"/>
            <a:ext cx="5369272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8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Время ≈ N × шагов на элемент × </a:t>
            </a:r>
            <a:r>
              <a:rPr sz="18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цена шага</a:t>
            </a:r>
          </a:p>
        </p:txBody>
      </p:sp>
      <p:sp>
        <p:nvSpPr>
          <p:cNvPr id="6" name="hf-162">
            <a:extLst xmlns:a="http://schemas.openxmlformats.org/drawingml/2006/main">
              <a:ext uri="{FF2B5EF4-FFF2-40B4-BE49-F238E27FC236}">
                <a16:creationId xmlns:a16="http://schemas.microsoft.com/office/drawing/2014/main" id="{B82044A3-2579-4EE6-BB4C-0C2C4F4D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46467"/>
            <a:ext cx="725529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Упрощённая модель: число шагов растёт, цена шага зависит от машины</a:t>
            </a:r>
          </a:p>
        </p:txBody>
      </p:sp>
      <p:sp>
        <p:nvSpPr>
          <p:cNvPr id="7" name="hf-163">
            <a:extLst xmlns:a="http://schemas.openxmlformats.org/drawingml/2006/main">
              <a:ext uri="{FF2B5EF4-FFF2-40B4-BE49-F238E27FC236}">
                <a16:creationId xmlns:a16="http://schemas.microsoft.com/office/drawing/2014/main" id="{A9D3A8EB-DC53-4292-A2A1-2F67B615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270629"/>
            <a:ext cx="690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Независимые чтения перекрываются. Зависимые ждут друг друга</a:t>
            </a:r>
          </a:p>
        </p:txBody>
      </p:sp>
      <p:pic>
        <p:nvPicPr>
          <p:cNvPr id="8" name="hf-164">
            <a:extLst xmlns:a="http://schemas.openxmlformats.org/drawingml/2006/main">
              <a:ext uri="{FF2B5EF4-FFF2-40B4-BE49-F238E27FC236}">
                <a16:creationId xmlns:a16="http://schemas.microsoft.com/office/drawing/2014/main" id="{073B33CB-CBCF-4EDB-A751-60ECBED2DF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43cc75720442ad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9" name="hf-165">
            <a:extLst xmlns:a="http://schemas.openxmlformats.org/drawingml/2006/main">
              <a:ext uri="{FF2B5EF4-FFF2-40B4-BE49-F238E27FC236}">
                <a16:creationId xmlns:a16="http://schemas.microsoft.com/office/drawing/2014/main" id="{69B93E94-C30B-4BE6-B1D7-D8E1D516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03032100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6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8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7" grpId="0" animBg="1"/>
    </p:bldLst>
  </p:timing>
</p:sld>
</file>

<file path=ppt/slides/slide10.xml><?xml version="1.0" encoding="utf-8"?>
<p:sld xmlns:p="http://schemas.openxmlformats.org/presentationml/2006/main">
  <p:cSld name="flatmin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166">
            <a:extLst xmlns:a="http://schemas.openxmlformats.org/drawingml/2006/main">
              <a:ext uri="{FF2B5EF4-FFF2-40B4-BE49-F238E27FC236}">
                <a16:creationId xmlns:a16="http://schemas.microsoft.com/office/drawing/2014/main" id="{95E8740B-049D-4593-8E5C-6287743F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309056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РАУНД </a:t>
            </a: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ИЗ 4 · РЕАЛИЗАЦИЯ ХЕША</a:t>
            </a:r>
          </a:p>
        </p:txBody>
      </p:sp>
      <p:sp>
        <p:nvSpPr>
          <p:cNvPr id="3" name="hf-167">
            <a:extLst xmlns:a="http://schemas.openxmlformats.org/drawingml/2006/main">
              <a:ext uri="{FF2B5EF4-FFF2-40B4-BE49-F238E27FC236}">
                <a16:creationId xmlns:a16="http://schemas.microsoft.com/office/drawing/2014/main" id="{CC8509BD-34D5-4F85-B40D-8D97F635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418287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ПЛОСКАЯ ТАБЛИЦА: КЛЮЧИ В МАССИВЕ</a:t>
            </a:r>
          </a:p>
        </p:txBody>
      </p:sp>
      <p:sp>
        <p:nvSpPr>
          <p:cNvPr id="4" name="hf-168">
            <a:extLst xmlns:a="http://schemas.openxmlformats.org/drawingml/2006/main">
              <a:ext uri="{FF2B5EF4-FFF2-40B4-BE49-F238E27FC236}">
                <a16:creationId xmlns:a16="http://schemas.microsoft.com/office/drawing/2014/main" id="{3DC35144-2198-4918-8368-71E55DA9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16806"/>
            <a:ext cx="1657276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650" b="1" i="0">
                <a:solidFill>
                  <a:srgbClr val="E2489B"/>
                </a:solidFill>
                <a:latin typeface="Montserrat"/>
                <a:ea typeface="Montserrat"/>
                <a:cs typeface="Montserrat"/>
              </a:rPr>
              <a:t>unordered_set</a:t>
            </a:r>
          </a:p>
        </p:txBody>
      </p:sp>
      <p:sp>
        <p:nvSpPr>
          <p:cNvPr id="5" name="hf-169">
            <a:extLst xmlns:a="http://schemas.openxmlformats.org/drawingml/2006/main">
              <a:ext uri="{FF2B5EF4-FFF2-40B4-BE49-F238E27FC236}">
                <a16:creationId xmlns:a16="http://schemas.microsoft.com/office/drawing/2014/main" id="{BD5D8006-3144-4FB6-B44D-E6F84844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448" y="1914213"/>
            <a:ext cx="2201915" cy="313243"/>
          </a:xfrm>
          <a:prstGeom xmlns:a="http://schemas.openxmlformats.org/drawingml/2006/main" prst="roundRect">
            <a:avLst>
              <a:gd name="adj" fmla="val 12163"/>
            </a:avLst>
          </a:prstGeom>
          <a:solidFill xmlns:a="http://schemas.openxmlformats.org/drawingml/2006/main">
            <a:srgbClr val="5E1C42"/>
          </a:solidFill>
          <a:ln xmlns:a="http://schemas.openxmlformats.org/drawingml/2006/main" w="18426">
            <a:solidFill>
              <a:srgbClr val="E2489B"/>
            </a:solidFill>
          </a:ln>
        </p:spPr>
      </p:sp>
      <p:sp>
        <p:nvSpPr>
          <p:cNvPr id="6" name="hf-170">
            <a:extLst xmlns:a="http://schemas.openxmlformats.org/drawingml/2006/main">
              <a:ext uri="{FF2B5EF4-FFF2-40B4-BE49-F238E27FC236}">
                <a16:creationId xmlns:a16="http://schemas.microsoft.com/office/drawing/2014/main" id="{20ED3A22-EC2C-4AB9-82EF-4C44526A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363" y="1914213"/>
            <a:ext cx="953" cy="313243"/>
          </a:xfrm>
          <a:custGeom xmlns:a="http://schemas.openxmlformats.org/drawingml/2006/main">
            <a:pathLst>
              <a:path w="476" h="313243">
                <a:moveTo>
                  <a:pt x="0" y="0"/>
                </a:moveTo>
                <a:lnTo>
                  <a:pt x="0" y="313243"/>
                </a:lnTo>
              </a:path>
            </a:pathLst>
          </a:custGeom>
          <a:noFill xmlns:a="http://schemas.openxmlformats.org/drawingml/2006/main"/>
          <a:ln xmlns:a="http://schemas.openxmlformats.org/drawingml/2006/main" w="13820">
            <a:solidFill>
              <a:srgbClr val="E2489B"/>
            </a:solidFill>
          </a:ln>
        </p:spPr>
      </p:sp>
      <p:sp>
        <p:nvSpPr>
          <p:cNvPr id="7" name="hf-171">
            <a:extLst xmlns:a="http://schemas.openxmlformats.org/drawingml/2006/main">
              <a:ext uri="{FF2B5EF4-FFF2-40B4-BE49-F238E27FC236}">
                <a16:creationId xmlns:a16="http://schemas.microsoft.com/office/drawing/2014/main" id="{618D8CB9-5DF2-4A34-B32C-5CD395817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885" y="1914213"/>
            <a:ext cx="953" cy="313243"/>
          </a:xfrm>
          <a:custGeom xmlns:a="http://schemas.openxmlformats.org/drawingml/2006/main">
            <a:pathLst>
              <a:path w="476" h="313243">
                <a:moveTo>
                  <a:pt x="0" y="0"/>
                </a:moveTo>
                <a:lnTo>
                  <a:pt x="0" y="313243"/>
                </a:lnTo>
              </a:path>
            </a:pathLst>
          </a:custGeom>
          <a:noFill xmlns:a="http://schemas.openxmlformats.org/drawingml/2006/main"/>
          <a:ln xmlns:a="http://schemas.openxmlformats.org/drawingml/2006/main" w="13820">
            <a:solidFill>
              <a:srgbClr val="E2489B"/>
            </a:solidFill>
          </a:ln>
        </p:spPr>
      </p:sp>
      <p:sp>
        <p:nvSpPr>
          <p:cNvPr id="8" name="hf-172">
            <a:extLst xmlns:a="http://schemas.openxmlformats.org/drawingml/2006/main">
              <a:ext uri="{FF2B5EF4-FFF2-40B4-BE49-F238E27FC236}">
                <a16:creationId xmlns:a16="http://schemas.microsoft.com/office/drawing/2014/main" id="{29C024EB-11E9-4A8C-9C7E-53FA886B5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406" y="1914213"/>
            <a:ext cx="953" cy="313243"/>
          </a:xfrm>
          <a:custGeom xmlns:a="http://schemas.openxmlformats.org/drawingml/2006/main">
            <a:pathLst>
              <a:path w="476" h="313243">
                <a:moveTo>
                  <a:pt x="0" y="0"/>
                </a:moveTo>
                <a:lnTo>
                  <a:pt x="0" y="313243"/>
                </a:lnTo>
              </a:path>
            </a:pathLst>
          </a:custGeom>
          <a:noFill xmlns:a="http://schemas.openxmlformats.org/drawingml/2006/main"/>
          <a:ln xmlns:a="http://schemas.openxmlformats.org/drawingml/2006/main" w="13820">
            <a:solidFill>
              <a:srgbClr val="E2489B"/>
            </a:solidFill>
          </a:ln>
        </p:spPr>
      </p:sp>
      <p:sp>
        <p:nvSpPr>
          <p:cNvPr id="9" name="hf-173">
            <a:extLst xmlns:a="http://schemas.openxmlformats.org/drawingml/2006/main">
              <a:ext uri="{FF2B5EF4-FFF2-40B4-BE49-F238E27FC236}">
                <a16:creationId xmlns:a16="http://schemas.microsoft.com/office/drawing/2014/main" id="{85710667-769F-450C-A3EF-3A0809676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5927" y="1914213"/>
            <a:ext cx="953" cy="313243"/>
          </a:xfrm>
          <a:custGeom xmlns:a="http://schemas.openxmlformats.org/drawingml/2006/main">
            <a:pathLst>
              <a:path w="476" h="313243">
                <a:moveTo>
                  <a:pt x="0" y="0"/>
                </a:moveTo>
                <a:lnTo>
                  <a:pt x="0" y="313243"/>
                </a:lnTo>
              </a:path>
            </a:pathLst>
          </a:custGeom>
          <a:noFill xmlns:a="http://schemas.openxmlformats.org/drawingml/2006/main"/>
          <a:ln xmlns:a="http://schemas.openxmlformats.org/drawingml/2006/main" w="13820">
            <a:solidFill>
              <a:srgbClr val="E2489B"/>
            </a:solidFill>
          </a:ln>
        </p:spPr>
      </p:sp>
      <p:sp>
        <p:nvSpPr>
          <p:cNvPr id="10" name="hf-174">
            <a:extLst xmlns:a="http://schemas.openxmlformats.org/drawingml/2006/main">
              <a:ext uri="{FF2B5EF4-FFF2-40B4-BE49-F238E27FC236}">
                <a16:creationId xmlns:a16="http://schemas.microsoft.com/office/drawing/2014/main" id="{4F058635-6B24-4163-91E8-AB85CB7B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449" y="1914213"/>
            <a:ext cx="953" cy="313243"/>
          </a:xfrm>
          <a:custGeom xmlns:a="http://schemas.openxmlformats.org/drawingml/2006/main">
            <a:pathLst>
              <a:path w="476" h="313243">
                <a:moveTo>
                  <a:pt x="0" y="0"/>
                </a:moveTo>
                <a:lnTo>
                  <a:pt x="0" y="313243"/>
                </a:lnTo>
              </a:path>
            </a:pathLst>
          </a:custGeom>
          <a:noFill xmlns:a="http://schemas.openxmlformats.org/drawingml/2006/main"/>
          <a:ln xmlns:a="http://schemas.openxmlformats.org/drawingml/2006/main" w="13820">
            <a:solidFill>
              <a:srgbClr val="E2489B"/>
            </a:solidFill>
          </a:ln>
        </p:spPr>
      </p:sp>
      <p:sp>
        <p:nvSpPr>
          <p:cNvPr id="11" name="hf-175">
            <a:extLst xmlns:a="http://schemas.openxmlformats.org/drawingml/2006/main">
              <a:ext uri="{FF2B5EF4-FFF2-40B4-BE49-F238E27FC236}">
                <a16:creationId xmlns:a16="http://schemas.microsoft.com/office/drawing/2014/main" id="{347AE8ED-0D76-4D73-BF25-0AE1E3CA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88" y="2715747"/>
            <a:ext cx="589634" cy="294817"/>
          </a:xfrm>
          <a:prstGeom xmlns:a="http://schemas.openxmlformats.org/drawingml/2006/main" prst="roundRect">
            <a:avLst>
              <a:gd name="adj" fmla="val 16154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8426">
            <a:solidFill>
              <a:srgbClr val="E2489B"/>
            </a:solidFill>
          </a:ln>
        </p:spPr>
      </p:sp>
      <p:sp>
        <p:nvSpPr>
          <p:cNvPr id="12" name="hf-176">
            <a:extLst xmlns:a="http://schemas.openxmlformats.org/drawingml/2006/main">
              <a:ext uri="{FF2B5EF4-FFF2-40B4-BE49-F238E27FC236}">
                <a16:creationId xmlns:a16="http://schemas.microsoft.com/office/drawing/2014/main" id="{54A29C28-C19F-4091-8149-AF69C7C6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03" y="2070835"/>
            <a:ext cx="133589" cy="617273"/>
          </a:xfrm>
          <a:custGeom xmlns:a="http://schemas.openxmlformats.org/drawingml/2006/main">
            <a:pathLst>
              <a:path w="133589" h="617273">
                <a:moveTo>
                  <a:pt x="0" y="0"/>
                </a:moveTo>
                <a:lnTo>
                  <a:pt x="133589" y="617273"/>
                </a:lnTo>
              </a:path>
            </a:pathLst>
          </a:custGeom>
          <a:noFill xmlns:a="http://schemas.openxmlformats.org/drawingml/2006/main"/>
          <a:ln xmlns:a="http://schemas.openxmlformats.org/drawingml/2006/main" w="18426">
            <a:solidFill>
              <a:srgbClr val="E2489B"/>
            </a:solidFill>
          </a:ln>
        </p:spPr>
      </p:sp>
      <p:sp>
        <p:nvSpPr>
          <p:cNvPr id="13" name="hf-177">
            <a:extLst xmlns:a="http://schemas.openxmlformats.org/drawingml/2006/main">
              <a:ext uri="{FF2B5EF4-FFF2-40B4-BE49-F238E27FC236}">
                <a16:creationId xmlns:a16="http://schemas.microsoft.com/office/drawing/2014/main" id="{2149C9F1-E7E5-4313-BE7E-DAD1C992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250" y="2033982"/>
            <a:ext cx="73704" cy="737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489B"/>
          </a:solidFill>
          <a:ln xmlns:a="http://schemas.openxmlformats.org/drawingml/2006/main" w="4607">
            <a:noFill/>
          </a:ln>
        </p:spPr>
      </p:sp>
      <p:sp>
        <p:nvSpPr>
          <p:cNvPr id="14" name="hf-178">
            <a:extLst xmlns:a="http://schemas.openxmlformats.org/drawingml/2006/main">
              <a:ext uri="{FF2B5EF4-FFF2-40B4-BE49-F238E27FC236}">
                <a16:creationId xmlns:a16="http://schemas.microsoft.com/office/drawing/2014/main" id="{64F65ABE-66AB-48AD-A76F-D2FF6FB55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095" y="2973712"/>
            <a:ext cx="589634" cy="294817"/>
          </a:xfrm>
          <a:prstGeom xmlns:a="http://schemas.openxmlformats.org/drawingml/2006/main" prst="roundRect">
            <a:avLst>
              <a:gd name="adj" fmla="val 16154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8426">
            <a:solidFill>
              <a:srgbClr val="E2489B"/>
            </a:solidFill>
          </a:ln>
        </p:spPr>
      </p:sp>
      <p:sp>
        <p:nvSpPr>
          <p:cNvPr id="15" name="hf-179">
            <a:extLst xmlns:a="http://schemas.openxmlformats.org/drawingml/2006/main">
              <a:ext uri="{FF2B5EF4-FFF2-40B4-BE49-F238E27FC236}">
                <a16:creationId xmlns:a16="http://schemas.microsoft.com/office/drawing/2014/main" id="{2EC0C1C3-0311-4D6A-AD17-2A7988B5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145" y="2070835"/>
            <a:ext cx="363915" cy="875238"/>
          </a:xfrm>
          <a:custGeom xmlns:a="http://schemas.openxmlformats.org/drawingml/2006/main">
            <a:pathLst>
              <a:path w="363915" h="875238">
                <a:moveTo>
                  <a:pt x="0" y="0"/>
                </a:moveTo>
                <a:lnTo>
                  <a:pt x="363915" y="875238"/>
                </a:lnTo>
              </a:path>
            </a:pathLst>
          </a:custGeom>
          <a:noFill xmlns:a="http://schemas.openxmlformats.org/drawingml/2006/main"/>
          <a:ln xmlns:a="http://schemas.openxmlformats.org/drawingml/2006/main" w="18426">
            <a:solidFill>
              <a:srgbClr val="E2489B"/>
            </a:solidFill>
          </a:ln>
        </p:spPr>
      </p:sp>
      <p:sp>
        <p:nvSpPr>
          <p:cNvPr id="16" name="hf-180">
            <a:extLst xmlns:a="http://schemas.openxmlformats.org/drawingml/2006/main">
              <a:ext uri="{FF2B5EF4-FFF2-40B4-BE49-F238E27FC236}">
                <a16:creationId xmlns:a16="http://schemas.microsoft.com/office/drawing/2014/main" id="{F1D63F8D-3210-46EB-9CA8-E6136E6D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293" y="2033982"/>
            <a:ext cx="73704" cy="737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489B"/>
          </a:solidFill>
          <a:ln xmlns:a="http://schemas.openxmlformats.org/drawingml/2006/main" w="4607">
            <a:noFill/>
          </a:ln>
        </p:spPr>
      </p:sp>
      <p:sp>
        <p:nvSpPr>
          <p:cNvPr id="17" name="hf-181">
            <a:extLst xmlns:a="http://schemas.openxmlformats.org/drawingml/2006/main">
              <a:ext uri="{FF2B5EF4-FFF2-40B4-BE49-F238E27FC236}">
                <a16:creationId xmlns:a16="http://schemas.microsoft.com/office/drawing/2014/main" id="{692DD7AD-9AD6-41B7-9116-C1C10FBA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8363" y="2595978"/>
            <a:ext cx="589634" cy="294817"/>
          </a:xfrm>
          <a:prstGeom xmlns:a="http://schemas.openxmlformats.org/drawingml/2006/main" prst="roundRect">
            <a:avLst>
              <a:gd name="adj" fmla="val 16154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8426">
            <a:solidFill>
              <a:srgbClr val="E2489B"/>
            </a:solidFill>
          </a:ln>
        </p:spPr>
      </p:sp>
      <p:sp>
        <p:nvSpPr>
          <p:cNvPr id="18" name="hf-182">
            <a:extLst xmlns:a="http://schemas.openxmlformats.org/drawingml/2006/main">
              <a:ext uri="{FF2B5EF4-FFF2-40B4-BE49-F238E27FC236}">
                <a16:creationId xmlns:a16="http://schemas.microsoft.com/office/drawing/2014/main" id="{D7989F73-8FBE-4EC4-85B2-9426324F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8709" y="2070835"/>
            <a:ext cx="409980" cy="497504"/>
          </a:xfrm>
          <a:custGeom xmlns:a="http://schemas.openxmlformats.org/drawingml/2006/main">
            <a:pathLst>
              <a:path w="409980" h="497504">
                <a:moveTo>
                  <a:pt x="0" y="0"/>
                </a:moveTo>
                <a:lnTo>
                  <a:pt x="409980" y="497504"/>
                </a:lnTo>
              </a:path>
            </a:pathLst>
          </a:custGeom>
          <a:noFill xmlns:a="http://schemas.openxmlformats.org/drawingml/2006/main"/>
          <a:ln xmlns:a="http://schemas.openxmlformats.org/drawingml/2006/main" w="18426">
            <a:solidFill>
              <a:srgbClr val="E2489B"/>
            </a:solidFill>
          </a:ln>
        </p:spPr>
      </p:sp>
      <p:sp>
        <p:nvSpPr>
          <p:cNvPr id="19" name="hf-183">
            <a:extLst xmlns:a="http://schemas.openxmlformats.org/drawingml/2006/main">
              <a:ext uri="{FF2B5EF4-FFF2-40B4-BE49-F238E27FC236}">
                <a16:creationId xmlns:a16="http://schemas.microsoft.com/office/drawing/2014/main" id="{FDDB5511-2512-4937-891A-7DB2C4ABF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857" y="2033982"/>
            <a:ext cx="73704" cy="737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489B"/>
          </a:solidFill>
          <a:ln xmlns:a="http://schemas.openxmlformats.org/drawingml/2006/main" w="4607">
            <a:noFill/>
          </a:ln>
        </p:spPr>
      </p:sp>
      <p:sp>
        <p:nvSpPr>
          <p:cNvPr id="20" name="hf-184">
            <a:extLst xmlns:a="http://schemas.openxmlformats.org/drawingml/2006/main">
              <a:ext uri="{FF2B5EF4-FFF2-40B4-BE49-F238E27FC236}">
                <a16:creationId xmlns:a16="http://schemas.microsoft.com/office/drawing/2014/main" id="{6DE835B9-8734-48D5-90FA-4232792D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483" y="2722817"/>
            <a:ext cx="297359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42</a:t>
            </a:r>
          </a:p>
        </p:txBody>
      </p:sp>
      <p:sp>
        <p:nvSpPr>
          <p:cNvPr id="21" name="hf-185">
            <a:extLst xmlns:a="http://schemas.openxmlformats.org/drawingml/2006/main">
              <a:ext uri="{FF2B5EF4-FFF2-40B4-BE49-F238E27FC236}">
                <a16:creationId xmlns:a16="http://schemas.microsoft.com/office/drawing/2014/main" id="{832493CB-4D91-47CD-A4C8-C69FD998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218" y="2979992"/>
            <a:ext cx="296614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50</a:t>
            </a:r>
          </a:p>
        </p:txBody>
      </p:sp>
      <p:sp>
        <p:nvSpPr>
          <p:cNvPr id="22" name="hf-186">
            <a:extLst xmlns:a="http://schemas.openxmlformats.org/drawingml/2006/main">
              <a:ext uri="{FF2B5EF4-FFF2-40B4-BE49-F238E27FC236}">
                <a16:creationId xmlns:a16="http://schemas.microsoft.com/office/drawing/2014/main" id="{D3D75475-1C56-483C-8DBF-B30C8814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4319" y="2598992"/>
            <a:ext cx="173087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7</a:t>
            </a:r>
          </a:p>
        </p:txBody>
      </p:sp>
      <p:sp>
        <p:nvSpPr>
          <p:cNvPr id="23" name="hf-187">
            <a:extLst xmlns:a="http://schemas.openxmlformats.org/drawingml/2006/main">
              <a:ext uri="{FF2B5EF4-FFF2-40B4-BE49-F238E27FC236}">
                <a16:creationId xmlns:a16="http://schemas.microsoft.com/office/drawing/2014/main" id="{6C0EB3D4-8FC7-4640-AEE5-F1D7E55B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432429"/>
            <a:ext cx="270219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Свой new на каждый ключ</a:t>
            </a:r>
          </a:p>
        </p:txBody>
      </p:sp>
      <p:pic>
        <p:nvPicPr>
          <p:cNvPr id="36" name="hf-188-poster">
            <a:extLst xmlns:a="http://schemas.openxmlformats.org/drawingml/2006/main">
              <a:ext uri="{FF2B5EF4-FFF2-40B4-BE49-F238E27FC236}">
                <a16:creationId xmlns:a16="http://schemas.microsoft.com/office/drawing/2014/main" id="{35C7A741-F59A-411C-8621-B06DE84BF9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71f5d2baa4b7c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000500" y="1572419"/>
            <a:ext cx="4572000" cy="2336800"/>
          </a:xfrm>
          <a:prstGeom xmlns:a="http://schemas.openxmlformats.org/drawingml/2006/main" prst="rect">
            <a:avLst/>
          </a:prstGeom>
        </p:spPr>
      </p:pic>
      <p:pic>
        <p:nvPicPr>
          <p:cNvPr id="24" name="hf-188">
            <a:extLst xmlns:a="http://schemas.openxmlformats.org/drawingml/2006/main">
              <a:ext uri="{FF2B5EF4-FFF2-40B4-BE49-F238E27FC236}">
                <a16:creationId xmlns:a16="http://schemas.microsoft.com/office/drawing/2014/main" id="{35C7A741-F59A-411C-8621-B06DE84BF954}"/>
              </a:ext>
            </a:extLst>
            <ns0:hlinkClick xmlns:ns0="http://schemas.openxmlformats.org/drawingml/2006/main" action="ppaction://media"/>
          </p:cNvPr>
          <p:cNvPicPr>
            <a:picLocks xmlns:a="http://schemas.openxmlformats.org/drawingml/2006/main" noChangeAspect="1"/>
          </p:cNvPicPr>
          <p:nvPr>
            <ns1:videoFile xmlns:ns1="http://schemas.openxmlformats.org/drawingml/2006/main" xmlns:ns2="http://schemas.openxmlformats.org/officeDocument/2006/relationships" ns2:link="rIdHFvideo4"/>
            <p:extLst>
              <p:ext uri="{DAA4B4D4-6D71-4841-9C94-3DE7FCFB1B01}">
                <ns3:media xmlns:ns3="http://schemas.microsoft.com/office/powerpoint/2010/main" xmlns:ns4="http://schemas.openxmlformats.org/officeDocument/2006/relationships" ns4:embed="rIdHFmedia4"/>
              </p:ext>
            </p:extLst>
          </p:nvPr>
        </p:nvPicPr>
        <p:blipFill>
          <a:blip xmlns:r="http://schemas.openxmlformats.org/officeDocument/2006/relationships" xmlns:a="http://schemas.openxmlformats.org/drawingml/2006/main" r:embed="Rbc971f5d2baa4b7c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000500" y="1572419"/>
            <a:ext cx="4572000" cy="2336800"/>
          </a:xfrm>
          <a:prstGeom xmlns:a="http://schemas.openxmlformats.org/drawingml/2006/main" prst="rect">
            <a:avLst/>
          </a:prstGeom>
        </p:spPr>
      </p:pic>
      <p:sp>
        <p:nvSpPr>
          <p:cNvPr id="25" name="hf-189">
            <a:extLst xmlns:a="http://schemas.openxmlformats.org/drawingml/2006/main">
              <a:ext uri="{FF2B5EF4-FFF2-40B4-BE49-F238E27FC236}">
                <a16:creationId xmlns:a16="http://schemas.microsoft.com/office/drawing/2014/main" id="{8C3614F9-8FEA-4602-A4B7-B334495D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416806"/>
            <a:ext cx="2860551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flat_hash_set </a:t>
            </a:r>
            <a:r>
              <a:rPr sz="165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· Swiss Table</a:t>
            </a:r>
          </a:p>
        </p:txBody>
      </p:sp>
      <p:sp>
        <p:nvSpPr>
          <p:cNvPr id="26" name="hf-190">
            <a:extLst xmlns:a="http://schemas.openxmlformats.org/drawingml/2006/main">
              <a:ext uri="{FF2B5EF4-FFF2-40B4-BE49-F238E27FC236}">
                <a16:creationId xmlns:a16="http://schemas.microsoft.com/office/drawing/2014/main" id="{6B57C7DA-FCA4-4D28-80C1-5F1EC93B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1928813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</a:ln>
        </p:spPr>
      </p:sp>
      <p:sp>
        <p:nvSpPr>
          <p:cNvPr id="27" name="hf-191">
            <a:extLst xmlns:a="http://schemas.openxmlformats.org/drawingml/2006/main">
              <a:ext uri="{FF2B5EF4-FFF2-40B4-BE49-F238E27FC236}">
                <a16:creationId xmlns:a16="http://schemas.microsoft.com/office/drawing/2014/main" id="{01E35BD7-120E-4B0A-A4B5-6F06DE0A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2938" y="2046542"/>
            <a:ext cx="13457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Байты-метки</a:t>
            </a:r>
          </a:p>
        </p:txBody>
      </p:sp>
      <p:pic>
        <p:nvPicPr>
          <p:cNvPr id="28" name="hf-192">
            <a:extLst xmlns:a="http://schemas.openxmlformats.org/drawingml/2006/main">
              <a:ext uri="{FF2B5EF4-FFF2-40B4-BE49-F238E27FC236}">
                <a16:creationId xmlns:a16="http://schemas.microsoft.com/office/drawing/2014/main" id="{6D48C5FE-699B-4278-AF54-8F8B6FE4EB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bf9697a6004c79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000500" y="3738563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9" name="hf-193">
            <a:extLst xmlns:a="http://schemas.openxmlformats.org/drawingml/2006/main">
              <a:ext uri="{FF2B5EF4-FFF2-40B4-BE49-F238E27FC236}">
                <a16:creationId xmlns:a16="http://schemas.microsoft.com/office/drawing/2014/main" id="{F555F62B-46D6-41B9-8E52-0F095A59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22942"/>
            <a:ext cx="329036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Одна аллокация на всю таблицу</a:t>
            </a:r>
          </a:p>
        </p:txBody>
      </p:sp>
      <p:pic>
        <p:nvPicPr>
          <p:cNvPr id="30" name="hf-194">
            <a:extLst xmlns:a="http://schemas.openxmlformats.org/drawingml/2006/main">
              <a:ext uri="{FF2B5EF4-FFF2-40B4-BE49-F238E27FC236}">
                <a16:creationId xmlns:a16="http://schemas.microsoft.com/office/drawing/2014/main" id="{57CF1428-39EF-4265-B215-9DB86CFDBA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41df8cb2884ca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000500" y="40957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1" name="hf-195">
            <a:extLst xmlns:a="http://schemas.openxmlformats.org/drawingml/2006/main">
              <a:ext uri="{FF2B5EF4-FFF2-40B4-BE49-F238E27FC236}">
                <a16:creationId xmlns:a16="http://schemas.microsoft.com/office/drawing/2014/main" id="{F810120B-3444-492B-9202-41E0E7D3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80129"/>
            <a:ext cx="290959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Ссылки не переживают рост</a:t>
            </a:r>
          </a:p>
        </p:txBody>
      </p:sp>
      <p:sp>
        <p:nvSpPr>
          <p:cNvPr id="32" name="hf-196">
            <a:extLst xmlns:a="http://schemas.openxmlformats.org/drawingml/2006/main">
              <a:ext uri="{FF2B5EF4-FFF2-40B4-BE49-F238E27FC236}">
                <a16:creationId xmlns:a16="http://schemas.microsoft.com/office/drawing/2014/main" id="{62685812-2E54-493D-AF5A-1E4AB81A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856292"/>
            <a:ext cx="1686669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Тот же принцип:</a:t>
            </a:r>
          </a:p>
        </p:txBody>
      </p:sp>
      <p:sp>
        <p:nvSpPr>
          <p:cNvPr id="33" name="hf-197">
            <a:extLst xmlns:a="http://schemas.openxmlformats.org/drawingml/2006/main">
              <a:ext uri="{FF2B5EF4-FFF2-40B4-BE49-F238E27FC236}">
                <a16:creationId xmlns:a16="http://schemas.microsoft.com/office/drawing/2014/main" id="{568EF57C-9529-4472-908C-6C366B14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122992"/>
            <a:ext cx="3192587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map в Go ≥ 1.24, HashMap в Rust</a:t>
            </a:r>
          </a:p>
        </p:txBody>
      </p:sp>
      <p:pic>
        <p:nvPicPr>
          <p:cNvPr id="34" name="hf-198">
            <a:extLst xmlns:a="http://schemas.openxmlformats.org/drawingml/2006/main">
              <a:ext uri="{FF2B5EF4-FFF2-40B4-BE49-F238E27FC236}">
                <a16:creationId xmlns:a16="http://schemas.microsoft.com/office/drawing/2014/main" id="{39E304EE-EE4F-45EB-90C7-803E26AB4D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9fe477af934379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35" name="hf-199">
            <a:extLst xmlns:a="http://schemas.openxmlformats.org/drawingml/2006/main">
              <a:ext uri="{FF2B5EF4-FFF2-40B4-BE49-F238E27FC236}">
                <a16:creationId xmlns:a16="http://schemas.microsoft.com/office/drawing/2014/main" id="{9627718C-7746-4941-8265-70A40A6B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61084535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3" dur="6000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04" repeatCount="indefinite" fill="hold" display="0">
                  <p:stCondLst>
                    <p:cond delay="indefinite"/>
                  </p:stCondLst>
                </p:cTn>
                <p:tgtEl>
                  <p:spTgt spid="24"/>
                </p:tgtEl>
              </p:cMediaNode>
            </p:video>
          </p:childTnLst>
        </p:cTn>
      </p:par>
    </p:tnLst>
    <p:bldLst>
      <p:bldP spid="4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7" grpId="0" animBg="1"/>
      <p:bldP spid="29" grpId="0" animBg="1"/>
      <p:bldP spid="31" grpId="0" animBg="1"/>
      <p:bldP spid="32" grpId="0" animBg="1"/>
      <p:bldP spid="33" grpId="0" animBg="1"/>
    </p:bldLst>
  </p:timing>
</p:sld>
</file>

<file path=ppt/slides/slide11.xml><?xml version="1.0" encoding="utf-8"?>
<p:sld xmlns:p="http://schemas.openxmlformats.org/presentationml/2006/main">
  <p:cSld name="flat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200">
            <a:extLst xmlns:a="http://schemas.openxmlformats.org/drawingml/2006/main">
              <a:ext uri="{FF2B5EF4-FFF2-40B4-BE49-F238E27FC236}">
                <a16:creationId xmlns:a16="http://schemas.microsoft.com/office/drawing/2014/main" id="{B0CE46C3-A83A-4494-80FD-C20FA499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309056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РАУНД </a:t>
            </a: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ИЗ 4 · РЕАЛИЗАЦИЯ ХЕША</a:t>
            </a:r>
          </a:p>
        </p:txBody>
      </p:sp>
      <p:sp>
        <p:nvSpPr>
          <p:cNvPr id="3" name="hf-201">
            <a:extLst xmlns:a="http://schemas.openxmlformats.org/drawingml/2006/main">
              <a:ext uri="{FF2B5EF4-FFF2-40B4-BE49-F238E27FC236}">
                <a16:creationId xmlns:a16="http://schemas.microsoft.com/office/drawing/2014/main" id="{1D190794-D0AF-41DF-B846-8C526DCAB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497733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ТРИ РЕАЛИЗАЦИИ, ОДИН ВХОД</a:t>
            </a:r>
          </a:p>
        </p:txBody>
      </p:sp>
      <p:sp>
        <p:nvSpPr>
          <p:cNvPr id="4" name="hf-202">
            <a:extLst xmlns:a="http://schemas.openxmlformats.org/drawingml/2006/main">
              <a:ext uri="{FF2B5EF4-FFF2-40B4-BE49-F238E27FC236}">
                <a16:creationId xmlns:a16="http://schemas.microsoft.com/office/drawing/2014/main" id="{FFC72669-F1FE-4A90-8BD0-869BEE01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275017"/>
            <a:ext cx="6227341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 SemiBold"/>
                <a:ea typeface="Montserrat SemiBold"/>
                <a:cs typeface="Montserrat SemiBold"/>
              </a:rPr>
              <a:t>нс на элемент · 1M уникальных id · M2 Pro · меньше — лучше</a:t>
            </a:r>
          </a:p>
        </p:txBody>
      </p:sp>
      <p:sp>
        <p:nvSpPr>
          <p:cNvPr id="5" name="hf-203">
            <a:extLst xmlns:a="http://schemas.openxmlformats.org/drawingml/2006/main">
              <a:ext uri="{FF2B5EF4-FFF2-40B4-BE49-F238E27FC236}">
                <a16:creationId xmlns:a16="http://schemas.microsoft.com/office/drawing/2014/main" id="{1BDC2A8F-AA41-4EFF-982C-65BDD7B2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708404"/>
            <a:ext cx="1489993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150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unordered_set</a:t>
            </a:r>
          </a:p>
        </p:txBody>
      </p:sp>
      <p:sp>
        <p:nvSpPr>
          <p:cNvPr id="6" name="hf-204">
            <a:extLst xmlns:a="http://schemas.openxmlformats.org/drawingml/2006/main">
              <a:ext uri="{FF2B5EF4-FFF2-40B4-BE49-F238E27FC236}">
                <a16:creationId xmlns:a16="http://schemas.microsoft.com/office/drawing/2014/main" id="{192B6B58-CF53-464C-B49D-18ADE926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790700"/>
            <a:ext cx="3905250" cy="381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2489B"/>
          </a:solidFill>
          <a:ln xmlns:a="http://schemas.openxmlformats.org/drawingml/2006/main" w="0">
            <a:noFill/>
          </a:ln>
        </p:spPr>
      </p:sp>
      <p:sp>
        <p:nvSpPr>
          <p:cNvPr id="7" name="hf-205">
            <a:extLst xmlns:a="http://schemas.openxmlformats.org/drawingml/2006/main">
              <a:ext uri="{FF2B5EF4-FFF2-40B4-BE49-F238E27FC236}">
                <a16:creationId xmlns:a16="http://schemas.microsoft.com/office/drawing/2014/main" id="{FBDED3B6-C8EB-4F6E-BE2A-41F3BE3B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56448"/>
            <a:ext cx="550813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21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51,3</a:t>
            </a:r>
          </a:p>
        </p:txBody>
      </p:sp>
      <p:sp>
        <p:nvSpPr>
          <p:cNvPr id="8" name="hf-206">
            <a:extLst xmlns:a="http://schemas.openxmlformats.org/drawingml/2006/main">
              <a:ext uri="{FF2B5EF4-FFF2-40B4-BE49-F238E27FC236}">
                <a16:creationId xmlns:a16="http://schemas.microsoft.com/office/drawing/2014/main" id="{7BBA7256-9311-4F90-AC3E-306E46BE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232279"/>
            <a:ext cx="135396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15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+ unique</a:t>
            </a:r>
          </a:p>
        </p:txBody>
      </p:sp>
      <p:sp>
        <p:nvSpPr>
          <p:cNvPr id="9" name="hf-207">
            <a:extLst xmlns:a="http://schemas.openxmlformats.org/drawingml/2006/main">
              <a:ext uri="{FF2B5EF4-FFF2-40B4-BE49-F238E27FC236}">
                <a16:creationId xmlns:a16="http://schemas.microsoft.com/office/drawing/2014/main" id="{F7AF7138-3553-4C02-BF4F-4E664162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314575"/>
            <a:ext cx="1514475" cy="381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0">
            <a:noFill/>
          </a:ln>
        </p:spPr>
      </p:sp>
      <p:sp>
        <p:nvSpPr>
          <p:cNvPr id="10" name="hf-208">
            <a:extLst xmlns:a="http://schemas.openxmlformats.org/drawingml/2006/main">
              <a:ext uri="{FF2B5EF4-FFF2-40B4-BE49-F238E27FC236}">
                <a16:creationId xmlns:a16="http://schemas.microsoft.com/office/drawing/2014/main" id="{626ED573-AE91-457A-B8A0-98706F83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280323"/>
            <a:ext cx="568226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21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19,9</a:t>
            </a:r>
          </a:p>
        </p:txBody>
      </p:sp>
      <p:sp>
        <p:nvSpPr>
          <p:cNvPr id="11" name="hf-209">
            <a:extLst xmlns:a="http://schemas.openxmlformats.org/drawingml/2006/main">
              <a:ext uri="{FF2B5EF4-FFF2-40B4-BE49-F238E27FC236}">
                <a16:creationId xmlns:a16="http://schemas.microsoft.com/office/drawing/2014/main" id="{164E5469-FB14-4486-8172-0C5F17B9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756154"/>
            <a:ext cx="134949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flat_hash_set</a:t>
            </a:r>
          </a:p>
        </p:txBody>
      </p:sp>
      <p:sp>
        <p:nvSpPr>
          <p:cNvPr id="12" name="hf-210">
            <a:extLst xmlns:a="http://schemas.openxmlformats.org/drawingml/2006/main">
              <a:ext uri="{FF2B5EF4-FFF2-40B4-BE49-F238E27FC236}">
                <a16:creationId xmlns:a16="http://schemas.microsoft.com/office/drawing/2014/main" id="{C230CEC7-5A85-4466-B484-109A48BE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838450"/>
            <a:ext cx="890588" cy="381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hf-211">
            <a:extLst xmlns:a="http://schemas.openxmlformats.org/drawingml/2006/main">
              <a:ext uri="{FF2B5EF4-FFF2-40B4-BE49-F238E27FC236}">
                <a16:creationId xmlns:a16="http://schemas.microsoft.com/office/drawing/2014/main" id="{55C244E2-AF6F-481F-82F2-58A18AD5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8513" y="2804198"/>
            <a:ext cx="4971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21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11,7</a:t>
            </a:r>
          </a:p>
        </p:txBody>
      </p:sp>
      <p:sp>
        <p:nvSpPr>
          <p:cNvPr id="14" name="hf-212">
            <a:extLst xmlns:a="http://schemas.openxmlformats.org/drawingml/2006/main">
              <a:ext uri="{FF2B5EF4-FFF2-40B4-BE49-F238E27FC236}">
                <a16:creationId xmlns:a16="http://schemas.microsoft.com/office/drawing/2014/main" id="{9458FC0D-6E6C-4519-8325-96B5C232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8904" y="2650808"/>
            <a:ext cx="1800746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7500"/>
              </a:lnSpc>
              <a:buNone/>
            </a:pPr>
            <a:r>
              <a:rPr sz="75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×1,7</a:t>
            </a:r>
          </a:p>
        </p:txBody>
      </p:sp>
      <p:sp>
        <p:nvSpPr>
          <p:cNvPr id="15" name="hf-213">
            <a:extLst xmlns:a="http://schemas.openxmlformats.org/drawingml/2006/main">
              <a:ext uri="{FF2B5EF4-FFF2-40B4-BE49-F238E27FC236}">
                <a16:creationId xmlns:a16="http://schemas.microsoft.com/office/drawing/2014/main" id="{061DA2F2-C97E-4F47-9A5F-08CC6E3C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8473" y="3608642"/>
            <a:ext cx="2511177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 SemiBold"/>
                <a:ea typeface="Montserrat SemiBold"/>
                <a:cs typeface="Montserrat SemiBold"/>
              </a:rPr>
              <a:t>flat против sort + unique</a:t>
            </a:r>
          </a:p>
        </p:txBody>
      </p:sp>
      <p:sp>
        <p:nvSpPr>
          <p:cNvPr id="16" name="hf-214">
            <a:extLst xmlns:a="http://schemas.openxmlformats.org/drawingml/2006/main">
              <a:ext uri="{FF2B5EF4-FFF2-40B4-BE49-F238E27FC236}">
                <a16:creationId xmlns:a16="http://schemas.microsoft.com/office/drawing/2014/main" id="{8351C9B5-38B1-4442-9FD6-5933A991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027742"/>
            <a:ext cx="2353642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9B87F5"/>
                </a:solidFill>
                <a:latin typeface="Montserrat"/>
                <a:ea typeface="Montserrat"/>
                <a:cs typeface="Montserrat"/>
              </a:rPr>
              <a:t>radix + unique: 6,9 нс/эл</a:t>
            </a:r>
          </a:p>
        </p:txBody>
      </p:sp>
      <p:sp>
        <p:nvSpPr>
          <p:cNvPr id="17" name="hf-215">
            <a:extLst xmlns:a="http://schemas.openxmlformats.org/drawingml/2006/main">
              <a:ext uri="{FF2B5EF4-FFF2-40B4-BE49-F238E27FC236}">
                <a16:creationId xmlns:a16="http://schemas.microsoft.com/office/drawing/2014/main" id="{5D49A957-B297-4CFD-A93C-150E3568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284917"/>
            <a:ext cx="51051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Только целые ключи. Дополнительный буфер на N</a:t>
            </a:r>
          </a:p>
        </p:txBody>
      </p:sp>
      <p:pic>
        <p:nvPicPr>
          <p:cNvPr id="18" name="hf-216">
            <a:extLst xmlns:a="http://schemas.openxmlformats.org/drawingml/2006/main">
              <a:ext uri="{FF2B5EF4-FFF2-40B4-BE49-F238E27FC236}">
                <a16:creationId xmlns:a16="http://schemas.microsoft.com/office/drawing/2014/main" id="{5ECFE0A8-B807-4E97-90B4-71957CB949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6b7804b2da4d9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19" name="hf-217">
            <a:extLst xmlns:a="http://schemas.openxmlformats.org/drawingml/2006/main">
              <a:ext uri="{FF2B5EF4-FFF2-40B4-BE49-F238E27FC236}">
                <a16:creationId xmlns:a16="http://schemas.microsoft.com/office/drawing/2014/main" id="{BFFE5852-C0B5-489A-90C9-7F93A79A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39399336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2.xml><?xml version="1.0" encoding="utf-8"?>
<p:sld xmlns:p="http://schemas.openxmlformats.org/presentationml/2006/main">
  <p:cSld name="share-q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218">
            <a:extLst xmlns:a="http://schemas.openxmlformats.org/drawingml/2006/main">
              <a:ext uri="{FF2B5EF4-FFF2-40B4-BE49-F238E27FC236}">
                <a16:creationId xmlns:a16="http://schemas.microsoft.com/office/drawing/2014/main" id="{F7C75CE8-F8A3-46F5-8EB5-56A6C3BA6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403986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СТАВКА №2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· РАУНД 3 ИЗ 4 · ДАННЫЕ И ТИКЕТ</a:t>
            </a:r>
          </a:p>
        </p:txBody>
      </p:sp>
      <p:sp>
        <p:nvSpPr>
          <p:cNvPr id="3" name="hf-219">
            <a:extLst xmlns:a="http://schemas.openxmlformats.org/drawingml/2006/main">
              <a:ext uri="{FF2B5EF4-FFF2-40B4-BE49-F238E27FC236}">
                <a16:creationId xmlns:a16="http://schemas.microsoft.com/office/drawing/2014/main" id="{B1482EAA-1A70-45D9-B0D0-38325E56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3882256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СОРТИРОВКА ИЛИ ХЕШ?</a:t>
            </a:r>
          </a:p>
        </p:txBody>
      </p:sp>
      <p:sp>
        <p:nvSpPr>
          <p:cNvPr id="4" name="hf-220">
            <a:extLst xmlns:a="http://schemas.openxmlformats.org/drawingml/2006/main">
              <a:ext uri="{FF2B5EF4-FFF2-40B4-BE49-F238E27FC236}">
                <a16:creationId xmlns:a16="http://schemas.microsoft.com/office/drawing/2014/main" id="{851F4800-1B1B-4461-AB4B-5412489C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277188"/>
            <a:ext cx="4244429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точка отсчёта — ставка №1: миллион id, все разные</a:t>
            </a:r>
          </a:p>
        </p:txBody>
      </p:sp>
      <p:sp>
        <p:nvSpPr>
          <p:cNvPr id="5" name="hf-221">
            <a:extLst xmlns:a="http://schemas.openxmlformats.org/drawingml/2006/main">
              <a:ext uri="{FF2B5EF4-FFF2-40B4-BE49-F238E27FC236}">
                <a16:creationId xmlns:a16="http://schemas.microsoft.com/office/drawing/2014/main" id="{9100C727-E2D7-427E-BDF0-EC1ECFAF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508379"/>
            <a:ext cx="1353964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5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+ unique</a:t>
            </a:r>
          </a:p>
        </p:txBody>
      </p:sp>
      <p:sp>
        <p:nvSpPr>
          <p:cNvPr id="6" name="hf-222">
            <a:extLst xmlns:a="http://schemas.openxmlformats.org/drawingml/2006/main">
              <a:ext uri="{FF2B5EF4-FFF2-40B4-BE49-F238E27FC236}">
                <a16:creationId xmlns:a16="http://schemas.microsoft.com/office/drawing/2014/main" id="{0E53D173-B112-4943-812B-FC6BA16E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600200"/>
            <a:ext cx="142875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0">
            <a:noFill/>
          </a:ln>
        </p:spPr>
      </p:sp>
      <p:sp>
        <p:nvSpPr>
          <p:cNvPr id="7" name="hf-223">
            <a:extLst xmlns:a="http://schemas.openxmlformats.org/drawingml/2006/main">
              <a:ext uri="{FF2B5EF4-FFF2-40B4-BE49-F238E27FC236}">
                <a16:creationId xmlns:a16="http://schemas.microsoft.com/office/drawing/2014/main" id="{BFDED7EE-B7F3-405E-B345-0489F6F1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34782"/>
            <a:ext cx="344016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20</a:t>
            </a:r>
          </a:p>
        </p:txBody>
      </p:sp>
      <p:sp>
        <p:nvSpPr>
          <p:cNvPr id="8" name="hf-224">
            <a:extLst xmlns:a="http://schemas.openxmlformats.org/drawingml/2006/main">
              <a:ext uri="{FF2B5EF4-FFF2-40B4-BE49-F238E27FC236}">
                <a16:creationId xmlns:a16="http://schemas.microsoft.com/office/drawing/2014/main" id="{83C9791A-B467-42EA-A772-4D1DCC24F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937004"/>
            <a:ext cx="1489993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50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unordered_set</a:t>
            </a:r>
          </a:p>
        </p:txBody>
      </p:sp>
      <p:sp>
        <p:nvSpPr>
          <p:cNvPr id="9" name="hf-225">
            <a:extLst xmlns:a="http://schemas.openxmlformats.org/drawingml/2006/main">
              <a:ext uri="{FF2B5EF4-FFF2-40B4-BE49-F238E27FC236}">
                <a16:creationId xmlns:a16="http://schemas.microsoft.com/office/drawing/2014/main" id="{A22E6289-AD10-49A8-A3F1-B66206E5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28825"/>
            <a:ext cx="3643313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2489B"/>
          </a:solidFill>
          <a:ln xmlns:a="http://schemas.openxmlformats.org/drawingml/2006/main" w="0">
            <a:noFill/>
          </a:ln>
        </p:spPr>
      </p:sp>
      <p:sp>
        <p:nvSpPr>
          <p:cNvPr id="10" name="hf-226">
            <a:extLst xmlns:a="http://schemas.openxmlformats.org/drawingml/2006/main">
              <a:ext uri="{FF2B5EF4-FFF2-40B4-BE49-F238E27FC236}">
                <a16:creationId xmlns:a16="http://schemas.microsoft.com/office/drawing/2014/main" id="{07FD832D-A1B8-40A9-88F0-5DAE45EE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4563" y="1963407"/>
            <a:ext cx="277713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51</a:t>
            </a:r>
          </a:p>
        </p:txBody>
      </p:sp>
      <p:sp>
        <p:nvSpPr>
          <p:cNvPr id="11" name="hf-227">
            <a:extLst xmlns:a="http://schemas.openxmlformats.org/drawingml/2006/main">
              <a:ext uri="{FF2B5EF4-FFF2-40B4-BE49-F238E27FC236}">
                <a16:creationId xmlns:a16="http://schemas.microsoft.com/office/drawing/2014/main" id="{322D8777-12E3-44D4-9B0B-53CC9EF2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7683" y="1764221"/>
            <a:ext cx="851967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450"/>
              </a:lnSpc>
              <a:buNone/>
            </a:pPr>
            <a:r>
              <a:rPr sz="3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×2,6</a:t>
            </a:r>
          </a:p>
        </p:txBody>
      </p:sp>
      <p:sp>
        <p:nvSpPr>
          <p:cNvPr id="12" name="hf-228">
            <a:extLst xmlns:a="http://schemas.openxmlformats.org/drawingml/2006/main">
              <a:ext uri="{FF2B5EF4-FFF2-40B4-BE49-F238E27FC236}">
                <a16:creationId xmlns:a16="http://schemas.microsoft.com/office/drawing/2014/main" id="{6CEDF646-9833-4BCE-AEE5-E84DD997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756992"/>
            <a:ext cx="315500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225"/>
              </a:lnSpc>
              <a:buNone/>
            </a:pPr>
            <a:r>
              <a:rPr sz="27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Тот же миллион.</a:t>
            </a:r>
          </a:p>
        </p:txBody>
      </p:sp>
      <p:sp>
        <p:nvSpPr>
          <p:cNvPr id="13" name="hf-229">
            <a:extLst xmlns:a="http://schemas.openxmlformats.org/drawingml/2006/main">
              <a:ext uri="{FF2B5EF4-FFF2-40B4-BE49-F238E27FC236}">
                <a16:creationId xmlns:a16="http://schemas.microsoft.com/office/drawing/2014/main" id="{E3E0BBFB-CBFC-44B9-AADC-94B15C29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166567"/>
            <a:ext cx="344246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225"/>
              </a:lnSpc>
              <a:buNone/>
            </a:pPr>
            <a:r>
              <a:rPr sz="27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Уникальных — </a:t>
            </a:r>
            <a:r>
              <a:rPr sz="27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1%</a:t>
            </a:r>
            <a:r>
              <a:rPr sz="27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.</a:t>
            </a:r>
          </a:p>
        </p:txBody>
      </p:sp>
      <p:sp>
        <p:nvSpPr>
          <p:cNvPr id="14" name="hf-230">
            <a:extLst xmlns:a="http://schemas.openxmlformats.org/drawingml/2006/main">
              <a:ext uri="{FF2B5EF4-FFF2-40B4-BE49-F238E27FC236}">
                <a16:creationId xmlns:a16="http://schemas.microsoft.com/office/drawing/2014/main" id="{B5A47962-6D87-4E95-89AD-FB51AB7B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709492"/>
            <a:ext cx="2606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225"/>
              </a:lnSpc>
              <a:buNone/>
            </a:pPr>
            <a:r>
              <a:rPr sz="27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Кто впереди?</a:t>
            </a:r>
          </a:p>
        </p:txBody>
      </p:sp>
      <p:sp>
        <p:nvSpPr>
          <p:cNvPr id="15" name="hf-231">
            <a:extLst xmlns:a="http://schemas.openxmlformats.org/drawingml/2006/main">
              <a:ext uri="{FF2B5EF4-FFF2-40B4-BE49-F238E27FC236}">
                <a16:creationId xmlns:a16="http://schemas.microsoft.com/office/drawing/2014/main" id="{14AAC399-C019-49CD-A71E-8BC8D0D2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857500"/>
            <a:ext cx="14287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46CDAE"/>
            </a:solidFill>
          </a:ln>
        </p:spPr>
      </p:sp>
      <p:sp>
        <p:nvSpPr>
          <p:cNvPr id="16" name="hf-232">
            <a:extLst xmlns:a="http://schemas.openxmlformats.org/drawingml/2006/main">
              <a:ext uri="{FF2B5EF4-FFF2-40B4-BE49-F238E27FC236}">
                <a16:creationId xmlns:a16="http://schemas.microsoft.com/office/drawing/2014/main" id="{895C0C50-E53E-40C0-9EAE-6D633997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3964" y="3308642"/>
            <a:ext cx="1006971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sort</a:t>
            </a:r>
          </a:p>
        </p:txBody>
      </p:sp>
      <p:sp>
        <p:nvSpPr>
          <p:cNvPr id="17" name="hf-233">
            <a:extLst xmlns:a="http://schemas.openxmlformats.org/drawingml/2006/main">
              <a:ext uri="{FF2B5EF4-FFF2-40B4-BE49-F238E27FC236}">
                <a16:creationId xmlns:a16="http://schemas.microsoft.com/office/drawing/2014/main" id="{498C96B7-E388-424E-9ACB-FC499EFE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8038" y="2857500"/>
            <a:ext cx="14287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E2489B"/>
            </a:solidFill>
          </a:ln>
        </p:spPr>
      </p:sp>
      <p:sp>
        <p:nvSpPr>
          <p:cNvPr id="18" name="hf-234">
            <a:extLst xmlns:a="http://schemas.openxmlformats.org/drawingml/2006/main">
              <a:ext uri="{FF2B5EF4-FFF2-40B4-BE49-F238E27FC236}">
                <a16:creationId xmlns:a16="http://schemas.microsoft.com/office/drawing/2014/main" id="{022CDF14-572E-4993-B80B-7C1EBF53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248" y="3308642"/>
            <a:ext cx="1069479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</a:rPr>
              <a:t>хеш</a:t>
            </a:r>
          </a:p>
        </p:txBody>
      </p:sp>
      <p:pic>
        <p:nvPicPr>
          <p:cNvPr id="19" name="hf-235">
            <a:extLst xmlns:a="http://schemas.openxmlformats.org/drawingml/2006/main">
              <a:ext uri="{FF2B5EF4-FFF2-40B4-BE49-F238E27FC236}">
                <a16:creationId xmlns:a16="http://schemas.microsoft.com/office/drawing/2014/main" id="{BA2D1627-B91F-4BFF-8703-FB527C94BA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cca5255f1942f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0" name="hf-236">
            <a:extLst xmlns:a="http://schemas.openxmlformats.org/drawingml/2006/main">
              <a:ext uri="{FF2B5EF4-FFF2-40B4-BE49-F238E27FC236}">
                <a16:creationId xmlns:a16="http://schemas.microsoft.com/office/drawing/2014/main" id="{9D9893D2-BAA7-4E90-BBF1-1D217B7D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61116495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8" grpId="0" animBg="1"/>
    </p:bldLst>
  </p:timing>
</p:sld>
</file>

<file path=ppt/slides/slide13.xml><?xml version="1.0" encoding="utf-8"?>
<p:sld xmlns:p="http://schemas.openxmlformats.org/presentationml/2006/main">
  <p:cSld name="share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237">
            <a:extLst xmlns:a="http://schemas.openxmlformats.org/drawingml/2006/main">
              <a:ext uri="{FF2B5EF4-FFF2-40B4-BE49-F238E27FC236}">
                <a16:creationId xmlns:a16="http://schemas.microsoft.com/office/drawing/2014/main" id="{63BC5E77-1C55-4843-BB93-7A6BEED64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892251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РАУНД </a:t>
            </a: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ИЗ 4 · ДАННЫЕ И ТИКЕТ</a:t>
            </a:r>
          </a:p>
        </p:txBody>
      </p:sp>
      <p:sp>
        <p:nvSpPr>
          <p:cNvPr id="3" name="hf-238">
            <a:extLst xmlns:a="http://schemas.openxmlformats.org/drawingml/2006/main">
              <a:ext uri="{FF2B5EF4-FFF2-40B4-BE49-F238E27FC236}">
                <a16:creationId xmlns:a16="http://schemas.microsoft.com/office/drawing/2014/main" id="{65149223-5E93-4F3D-8346-0AEE1087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762997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ПОБЕДИТЕЛЯ НАЗНАЧАЮТ ДАННЫЕ</a:t>
            </a:r>
          </a:p>
        </p:txBody>
      </p:sp>
      <p:sp>
        <p:nvSpPr>
          <p:cNvPr id="4" name="hf-239">
            <a:extLst xmlns:a="http://schemas.openxmlformats.org/drawingml/2006/main">
              <a:ext uri="{FF2B5EF4-FFF2-40B4-BE49-F238E27FC236}">
                <a16:creationId xmlns:a16="http://schemas.microsoft.com/office/drawing/2014/main" id="{1AB33416-92BC-4BB6-94EA-4BB94E6C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175004"/>
            <a:ext cx="493700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нс на элемент · N = 2²⁰ · M2 Pro · меньше — лучше</a:t>
            </a:r>
          </a:p>
        </p:txBody>
      </p:sp>
      <p:sp>
        <p:nvSpPr>
          <p:cNvPr id="5" name="hf-240">
            <a:extLst xmlns:a="http://schemas.openxmlformats.org/drawingml/2006/main">
              <a:ext uri="{FF2B5EF4-FFF2-40B4-BE49-F238E27FC236}">
                <a16:creationId xmlns:a16="http://schemas.microsoft.com/office/drawing/2014/main" id="{F05825A5-6AEF-4698-81C7-20478DFC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32179"/>
            <a:ext cx="477738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Одинаковая линейная шкала полос: 0–60 нс/эл</a:t>
            </a:r>
          </a:p>
        </p:txBody>
      </p:sp>
      <p:sp>
        <p:nvSpPr>
          <p:cNvPr id="6" name="hf-241">
            <a:extLst xmlns:a="http://schemas.openxmlformats.org/drawingml/2006/main">
              <a:ext uri="{FF2B5EF4-FFF2-40B4-BE49-F238E27FC236}">
                <a16:creationId xmlns:a16="http://schemas.microsoft.com/office/drawing/2014/main" id="{5283C854-1F24-4151-A625-ABA019F5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752771"/>
            <a:ext cx="209356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1% уникальных</a:t>
            </a:r>
          </a:p>
        </p:txBody>
      </p:sp>
      <p:sp>
        <p:nvSpPr>
          <p:cNvPr id="7" name="hf-242">
            <a:extLst xmlns:a="http://schemas.openxmlformats.org/drawingml/2006/main">
              <a:ext uri="{FF2B5EF4-FFF2-40B4-BE49-F238E27FC236}">
                <a16:creationId xmlns:a16="http://schemas.microsoft.com/office/drawing/2014/main" id="{168F65BC-CFFE-447D-8796-41C6D5043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098929"/>
            <a:ext cx="148999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unordered_set</a:t>
            </a:r>
          </a:p>
        </p:txBody>
      </p:sp>
      <p:sp>
        <p:nvSpPr>
          <p:cNvPr id="8" name="hf-243">
            <a:extLst xmlns:a="http://schemas.openxmlformats.org/drawingml/2006/main">
              <a:ext uri="{FF2B5EF4-FFF2-40B4-BE49-F238E27FC236}">
                <a16:creationId xmlns:a16="http://schemas.microsoft.com/office/drawing/2014/main" id="{5081CC6D-1F9D-442B-80DC-1144A2C7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43125"/>
            <a:ext cx="274290" cy="304800"/>
          </a:xfrm>
          <a:prstGeom xmlns:a="http://schemas.openxmlformats.org/drawingml/2006/main" prst="roundRect">
            <a:avLst>
              <a:gd name="adj" fmla="val 17363"/>
            </a:avLst>
          </a:prstGeom>
          <a:solidFill xmlns:a="http://schemas.openxmlformats.org/drawingml/2006/main">
            <a:srgbClr val="E2489B"/>
          </a:solidFill>
          <a:ln xmlns:a="http://schemas.openxmlformats.org/drawingml/2006/main" w="0">
            <a:noFill/>
          </a:ln>
        </p:spPr>
      </p:sp>
      <p:sp>
        <p:nvSpPr>
          <p:cNvPr id="9" name="hf-244">
            <a:extLst xmlns:a="http://schemas.openxmlformats.org/drawingml/2006/main">
              <a:ext uri="{FF2B5EF4-FFF2-40B4-BE49-F238E27FC236}">
                <a16:creationId xmlns:a16="http://schemas.microsoft.com/office/drawing/2014/main" id="{06B805D6-543F-479E-96C1-87DB1D18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133771"/>
            <a:ext cx="41724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3,2</a:t>
            </a:r>
          </a:p>
        </p:txBody>
      </p:sp>
      <p:sp>
        <p:nvSpPr>
          <p:cNvPr id="10" name="hf-245">
            <a:extLst xmlns:a="http://schemas.openxmlformats.org/drawingml/2006/main">
              <a:ext uri="{FF2B5EF4-FFF2-40B4-BE49-F238E27FC236}">
                <a16:creationId xmlns:a16="http://schemas.microsoft.com/office/drawing/2014/main" id="{FF50CA55-F16F-4F44-A160-3A3A159C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527554"/>
            <a:ext cx="1353964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+ unique</a:t>
            </a:r>
          </a:p>
        </p:txBody>
      </p:sp>
      <p:sp>
        <p:nvSpPr>
          <p:cNvPr id="11" name="hf-246">
            <a:extLst xmlns:a="http://schemas.openxmlformats.org/drawingml/2006/main">
              <a:ext uri="{FF2B5EF4-FFF2-40B4-BE49-F238E27FC236}">
                <a16:creationId xmlns:a16="http://schemas.microsoft.com/office/drawing/2014/main" id="{41ABA744-B1A2-46A6-A016-FD91922B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571750"/>
            <a:ext cx="102870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0">
            <a:noFill/>
          </a:ln>
        </p:spPr>
      </p:sp>
      <p:sp>
        <p:nvSpPr>
          <p:cNvPr id="12" name="hf-247">
            <a:extLst xmlns:a="http://schemas.openxmlformats.org/drawingml/2006/main">
              <a:ext uri="{FF2B5EF4-FFF2-40B4-BE49-F238E27FC236}">
                <a16:creationId xmlns:a16="http://schemas.microsoft.com/office/drawing/2014/main" id="{77381535-D49A-4991-BB4E-489E5C45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62396"/>
            <a:ext cx="53265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12,0</a:t>
            </a:r>
          </a:p>
        </p:txBody>
      </p:sp>
      <p:sp>
        <p:nvSpPr>
          <p:cNvPr id="13" name="hf-248">
            <a:extLst xmlns:a="http://schemas.openxmlformats.org/drawingml/2006/main">
              <a:ext uri="{FF2B5EF4-FFF2-40B4-BE49-F238E27FC236}">
                <a16:creationId xmlns:a16="http://schemas.microsoft.com/office/drawing/2014/main" id="{634ACE44-5239-420F-B9D0-ABDBAF99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0319" y="2087404"/>
            <a:ext cx="2269331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500"/>
              </a:lnSpc>
              <a:buNone/>
            </a:pPr>
            <a:r>
              <a:rPr sz="3750" b="1" i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</a:rPr>
              <a:t>хеш ×3,7</a:t>
            </a:r>
          </a:p>
        </p:txBody>
      </p:sp>
      <p:sp>
        <p:nvSpPr>
          <p:cNvPr id="14" name="hf-249">
            <a:extLst xmlns:a="http://schemas.openxmlformats.org/drawingml/2006/main">
              <a:ext uri="{FF2B5EF4-FFF2-40B4-BE49-F238E27FC236}">
                <a16:creationId xmlns:a16="http://schemas.microsoft.com/office/drawing/2014/main" id="{C1A4BE3B-9610-4CFB-AD00-18FB032D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086271"/>
            <a:ext cx="2429694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100% уникальных</a:t>
            </a:r>
          </a:p>
        </p:txBody>
      </p:sp>
      <p:sp>
        <p:nvSpPr>
          <p:cNvPr id="15" name="hf-250">
            <a:extLst xmlns:a="http://schemas.openxmlformats.org/drawingml/2006/main">
              <a:ext uri="{FF2B5EF4-FFF2-40B4-BE49-F238E27FC236}">
                <a16:creationId xmlns:a16="http://schemas.microsoft.com/office/drawing/2014/main" id="{E2772B7F-D384-45E9-801C-FFA1A3E2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480054"/>
            <a:ext cx="1353964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+ unique</a:t>
            </a:r>
          </a:p>
        </p:txBody>
      </p:sp>
      <p:sp>
        <p:nvSpPr>
          <p:cNvPr id="16" name="hf-251">
            <a:extLst xmlns:a="http://schemas.openxmlformats.org/drawingml/2006/main">
              <a:ext uri="{FF2B5EF4-FFF2-40B4-BE49-F238E27FC236}">
                <a16:creationId xmlns:a16="http://schemas.microsoft.com/office/drawing/2014/main" id="{DFE7DC7D-192A-437B-A1EE-DF72CA1A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24250"/>
            <a:ext cx="169731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0">
            <a:noFill/>
          </a:ln>
        </p:spPr>
      </p:sp>
      <p:sp>
        <p:nvSpPr>
          <p:cNvPr id="17" name="hf-252">
            <a:extLst xmlns:a="http://schemas.openxmlformats.org/drawingml/2006/main">
              <a:ext uri="{FF2B5EF4-FFF2-40B4-BE49-F238E27FC236}">
                <a16:creationId xmlns:a16="http://schemas.microsoft.com/office/drawing/2014/main" id="{BB1C9FDE-8E4E-4163-8488-9B1DA684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514896"/>
            <a:ext cx="539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19,8</a:t>
            </a:r>
          </a:p>
        </p:txBody>
      </p:sp>
      <p:sp>
        <p:nvSpPr>
          <p:cNvPr id="18" name="hf-253">
            <a:extLst xmlns:a="http://schemas.openxmlformats.org/drawingml/2006/main">
              <a:ext uri="{FF2B5EF4-FFF2-40B4-BE49-F238E27FC236}">
                <a16:creationId xmlns:a16="http://schemas.microsoft.com/office/drawing/2014/main" id="{E4F9832A-3A5E-427C-958B-7409A291B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908679"/>
            <a:ext cx="148999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unordered_set</a:t>
            </a:r>
          </a:p>
        </p:txBody>
      </p:sp>
      <p:sp>
        <p:nvSpPr>
          <p:cNvPr id="19" name="hf-254">
            <a:extLst xmlns:a="http://schemas.openxmlformats.org/drawingml/2006/main">
              <a:ext uri="{FF2B5EF4-FFF2-40B4-BE49-F238E27FC236}">
                <a16:creationId xmlns:a16="http://schemas.microsoft.com/office/drawing/2014/main" id="{D4B555FB-C733-402C-8E8E-F7034086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52875"/>
            <a:ext cx="4423395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2489B"/>
          </a:solidFill>
          <a:ln xmlns:a="http://schemas.openxmlformats.org/drawingml/2006/main" w="0">
            <a:noFill/>
          </a:ln>
        </p:spPr>
      </p:sp>
      <p:sp>
        <p:nvSpPr>
          <p:cNvPr id="20" name="hf-255">
            <a:extLst xmlns:a="http://schemas.openxmlformats.org/drawingml/2006/main">
              <a:ext uri="{FF2B5EF4-FFF2-40B4-BE49-F238E27FC236}">
                <a16:creationId xmlns:a16="http://schemas.microsoft.com/office/drawing/2014/main" id="{2F718416-967E-4558-85E9-32A6809F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9913" y="3943521"/>
            <a:ext cx="521196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51,6</a:t>
            </a:r>
          </a:p>
        </p:txBody>
      </p:sp>
      <p:sp>
        <p:nvSpPr>
          <p:cNvPr id="21" name="hf-256">
            <a:extLst xmlns:a="http://schemas.openxmlformats.org/drawingml/2006/main">
              <a:ext uri="{FF2B5EF4-FFF2-40B4-BE49-F238E27FC236}">
                <a16:creationId xmlns:a16="http://schemas.microsoft.com/office/drawing/2014/main" id="{F5334942-BD04-4D02-A122-A680F64E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423" y="3087529"/>
            <a:ext cx="2222227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500"/>
              </a:lnSpc>
              <a:buNone/>
            </a:pPr>
            <a:r>
              <a:rPr sz="37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sort ×2,6</a:t>
            </a:r>
          </a:p>
        </p:txBody>
      </p:sp>
      <p:pic>
        <p:nvPicPr>
          <p:cNvPr id="22" name="hf-257">
            <a:extLst xmlns:a="http://schemas.openxmlformats.org/drawingml/2006/main">
              <a:ext uri="{FF2B5EF4-FFF2-40B4-BE49-F238E27FC236}">
                <a16:creationId xmlns:a16="http://schemas.microsoft.com/office/drawing/2014/main" id="{6EB5EBEC-00C0-4441-AE4F-1C15E74580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72e01d8ac8480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3" name="hf-258">
            <a:extLst xmlns:a="http://schemas.openxmlformats.org/drawingml/2006/main">
              <a:ext uri="{FF2B5EF4-FFF2-40B4-BE49-F238E27FC236}">
                <a16:creationId xmlns:a16="http://schemas.microsoft.com/office/drawing/2014/main" id="{C54D089F-C091-4855-AD41-331440F1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92813320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14.xml><?xml version="1.0" encoding="utf-8"?>
<p:sld xmlns:p="http://schemas.openxmlformats.org/presentationml/2006/main">
  <p:cSld name="outcontract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259">
            <a:extLst xmlns:a="http://schemas.openxmlformats.org/drawingml/2006/main">
              <a:ext uri="{FF2B5EF4-FFF2-40B4-BE49-F238E27FC236}">
                <a16:creationId xmlns:a16="http://schemas.microsoft.com/office/drawing/2014/main" id="{B84E9AF6-D632-437D-BF51-730E3FF1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892251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РАУНД </a:t>
            </a: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ИЗ 4 · ДАННЫЕ И ТИКЕТ</a:t>
            </a:r>
          </a:p>
        </p:txBody>
      </p:sp>
      <p:sp>
        <p:nvSpPr>
          <p:cNvPr id="3" name="hf-260">
            <a:extLst xmlns:a="http://schemas.openxmlformats.org/drawingml/2006/main">
              <a:ext uri="{FF2B5EF4-FFF2-40B4-BE49-F238E27FC236}">
                <a16:creationId xmlns:a16="http://schemas.microsoft.com/office/drawing/2014/main" id="{34EBB8A1-EDEE-4469-B747-DEBD944B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041181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ТРЕБОВАНИЕ В ТИКЕТЕ МЕНЯЕТ</a:t>
            </a:r>
          </a:p>
        </p:txBody>
      </p:sp>
      <p:sp>
        <p:nvSpPr>
          <p:cNvPr id="4" name="hf-261">
            <a:extLst xmlns:a="http://schemas.openxmlformats.org/drawingml/2006/main">
              <a:ext uri="{FF2B5EF4-FFF2-40B4-BE49-F238E27FC236}">
                <a16:creationId xmlns:a16="http://schemas.microsoft.com/office/drawing/2014/main" id="{1F80BF27-DC84-4F36-B83A-494CB83D5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2174528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ПОБЕДИТЕЛЯ</a:t>
            </a:r>
          </a:p>
        </p:txBody>
      </p:sp>
      <p:sp>
        <p:nvSpPr>
          <p:cNvPr id="5" name="hf-262">
            <a:extLst xmlns:a="http://schemas.openxmlformats.org/drawingml/2006/main">
              <a:ext uri="{FF2B5EF4-FFF2-40B4-BE49-F238E27FC236}">
                <a16:creationId xmlns:a16="http://schemas.microsoft.com/office/drawing/2014/main" id="{19CF9966-B6E6-4314-89A6-4794815F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322642"/>
            <a:ext cx="3819079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что нужно на выходе · нс на элемент</a:t>
            </a:r>
          </a:p>
        </p:txBody>
      </p:sp>
      <p:sp>
        <p:nvSpPr>
          <p:cNvPr id="6" name="hf-263">
            <a:extLst xmlns:a="http://schemas.openxmlformats.org/drawingml/2006/main">
              <a:ext uri="{FF2B5EF4-FFF2-40B4-BE49-F238E27FC236}">
                <a16:creationId xmlns:a16="http://schemas.microsoft.com/office/drawing/2014/main" id="{65FEA573-D139-4D7A-B1F4-8CBDC221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60020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7" name="hf-264">
            <a:extLst xmlns:a="http://schemas.openxmlformats.org/drawingml/2006/main">
              <a:ext uri="{FF2B5EF4-FFF2-40B4-BE49-F238E27FC236}">
                <a16:creationId xmlns:a16="http://schemas.microsoft.com/office/drawing/2014/main" id="{F70EF1E3-D253-4893-BF05-720C5419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687182"/>
            <a:ext cx="3619426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Уникальные, порядок любой</a:t>
            </a:r>
          </a:p>
        </p:txBody>
      </p:sp>
      <p:sp>
        <p:nvSpPr>
          <p:cNvPr id="8" name="hf-265">
            <a:extLst xmlns:a="http://schemas.openxmlformats.org/drawingml/2006/main">
              <a:ext uri="{FF2B5EF4-FFF2-40B4-BE49-F238E27FC236}">
                <a16:creationId xmlns:a16="http://schemas.microsoft.com/office/drawing/2014/main" id="{715318B6-9CF5-4AA9-B003-64C5FB7F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984629"/>
            <a:ext cx="18207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sort 20,2 · хеш 22,6</a:t>
            </a:r>
          </a:p>
        </p:txBody>
      </p:sp>
      <p:sp>
        <p:nvSpPr>
          <p:cNvPr id="9" name="hf-266">
            <a:extLst xmlns:a="http://schemas.openxmlformats.org/drawingml/2006/main">
              <a:ext uri="{FF2B5EF4-FFF2-40B4-BE49-F238E27FC236}">
                <a16:creationId xmlns:a16="http://schemas.microsoft.com/office/drawing/2014/main" id="{59CE0222-A27E-488E-A513-13CEEEEA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6538" y="1733550"/>
            <a:ext cx="2000250" cy="4572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10" name="hf-267">
            <a:extLst xmlns:a="http://schemas.openxmlformats.org/drawingml/2006/main">
              <a:ext uri="{FF2B5EF4-FFF2-40B4-BE49-F238E27FC236}">
                <a16:creationId xmlns:a16="http://schemas.microsoft.com/office/drawing/2014/main" id="{502F68CF-6918-493A-80DA-DDDF39BC8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1877" y="1668132"/>
            <a:ext cx="1146721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375"/>
              </a:lnSpc>
              <a:buNone/>
            </a:pPr>
            <a:r>
              <a:rPr sz="18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≈ близко</a:t>
            </a:r>
          </a:p>
        </p:txBody>
      </p:sp>
      <p:sp>
        <p:nvSpPr>
          <p:cNvPr id="11" name="hf-268">
            <a:extLst xmlns:a="http://schemas.openxmlformats.org/drawingml/2006/main">
              <a:ext uri="{FF2B5EF4-FFF2-40B4-BE49-F238E27FC236}">
                <a16:creationId xmlns:a16="http://schemas.microsoft.com/office/drawing/2014/main" id="{71CBEC46-718A-4E67-A050-D738C068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333625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2" name="hf-269">
            <a:extLst xmlns:a="http://schemas.openxmlformats.org/drawingml/2006/main">
              <a:ext uri="{FF2B5EF4-FFF2-40B4-BE49-F238E27FC236}">
                <a16:creationId xmlns:a16="http://schemas.microsoft.com/office/drawing/2014/main" id="{9FBA8A14-2F82-494E-949D-19CFEA44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420607"/>
            <a:ext cx="2304306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Отсортированные</a:t>
            </a:r>
          </a:p>
        </p:txBody>
      </p:sp>
      <p:sp>
        <p:nvSpPr>
          <p:cNvPr id="13" name="hf-270">
            <a:extLst xmlns:a="http://schemas.openxmlformats.org/drawingml/2006/main">
              <a:ext uri="{FF2B5EF4-FFF2-40B4-BE49-F238E27FC236}">
                <a16:creationId xmlns:a16="http://schemas.microsoft.com/office/drawing/2014/main" id="{4B15D8A1-8EE2-41FA-81CE-12F3304F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718054"/>
            <a:ext cx="181912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sort 20,2 · хеш 32,6</a:t>
            </a:r>
          </a:p>
        </p:txBody>
      </p:sp>
      <p:sp>
        <p:nvSpPr>
          <p:cNvPr id="14" name="hf-271">
            <a:extLst xmlns:a="http://schemas.openxmlformats.org/drawingml/2006/main">
              <a:ext uri="{FF2B5EF4-FFF2-40B4-BE49-F238E27FC236}">
                <a16:creationId xmlns:a16="http://schemas.microsoft.com/office/drawing/2014/main" id="{AA990833-18FD-43EF-A3D7-8EEEB76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6538" y="2466975"/>
            <a:ext cx="2000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74F45"/>
          </a:solidFill>
          <a:ln xmlns:a="http://schemas.openxmlformats.org/drawingml/2006/main" w="14288">
            <a:solidFill>
              <a:srgbClr val="46CDAE"/>
            </a:solidFill>
          </a:ln>
        </p:spPr>
      </p:sp>
      <p:sp>
        <p:nvSpPr>
          <p:cNvPr id="15" name="hf-272">
            <a:extLst xmlns:a="http://schemas.openxmlformats.org/drawingml/2006/main">
              <a:ext uri="{FF2B5EF4-FFF2-40B4-BE49-F238E27FC236}">
                <a16:creationId xmlns:a16="http://schemas.microsoft.com/office/drawing/2014/main" id="{5B87DA16-2CCB-47A9-A1B8-932896ED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3343" y="2401557"/>
            <a:ext cx="1023789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375"/>
              </a:lnSpc>
              <a:buNone/>
            </a:pPr>
            <a:r>
              <a:rPr sz="18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sort ×1,6</a:t>
            </a:r>
          </a:p>
        </p:txBody>
      </p:sp>
      <p:sp>
        <p:nvSpPr>
          <p:cNvPr id="16" name="hf-273">
            <a:extLst xmlns:a="http://schemas.openxmlformats.org/drawingml/2006/main">
              <a:ext uri="{FF2B5EF4-FFF2-40B4-BE49-F238E27FC236}">
                <a16:creationId xmlns:a16="http://schemas.microsoft.com/office/drawing/2014/main" id="{EF23F45C-45A9-46B6-B98F-ED8C7AF4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06705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7" name="hf-274">
            <a:extLst xmlns:a="http://schemas.openxmlformats.org/drawingml/2006/main">
              <a:ext uri="{FF2B5EF4-FFF2-40B4-BE49-F238E27FC236}">
                <a16:creationId xmlns:a16="http://schemas.microsoft.com/office/drawing/2014/main" id="{61508F5B-E35B-42FA-BD87-0413DD7D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154032"/>
            <a:ext cx="379809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В порядке первого появления</a:t>
            </a:r>
          </a:p>
        </p:txBody>
      </p:sp>
      <p:sp>
        <p:nvSpPr>
          <p:cNvPr id="18" name="hf-275">
            <a:extLst xmlns:a="http://schemas.openxmlformats.org/drawingml/2006/main">
              <a:ext uri="{FF2B5EF4-FFF2-40B4-BE49-F238E27FC236}">
                <a16:creationId xmlns:a16="http://schemas.microsoft.com/office/drawing/2014/main" id="{9700F154-FBE5-4B3C-95C6-FD4E2732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451479"/>
            <a:ext cx="183229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sort 74,6 · хеш 22,0</a:t>
            </a:r>
          </a:p>
        </p:txBody>
      </p:sp>
      <p:sp>
        <p:nvSpPr>
          <p:cNvPr id="19" name="hf-276">
            <a:extLst xmlns:a="http://schemas.openxmlformats.org/drawingml/2006/main">
              <a:ext uri="{FF2B5EF4-FFF2-40B4-BE49-F238E27FC236}">
                <a16:creationId xmlns:a16="http://schemas.microsoft.com/office/drawing/2014/main" id="{BAC6351E-5918-417E-9B28-1D35BD0B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6538" y="3200400"/>
            <a:ext cx="2000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5E1C42"/>
          </a:solidFill>
          <a:ln xmlns:a="http://schemas.openxmlformats.org/drawingml/2006/main" w="14288">
            <a:solidFill>
              <a:srgbClr val="E2489B"/>
            </a:solidFill>
          </a:ln>
        </p:spPr>
      </p:sp>
      <p:sp>
        <p:nvSpPr>
          <p:cNvPr id="20" name="hf-277">
            <a:extLst xmlns:a="http://schemas.openxmlformats.org/drawingml/2006/main">
              <a:ext uri="{FF2B5EF4-FFF2-40B4-BE49-F238E27FC236}">
                <a16:creationId xmlns:a16="http://schemas.microsoft.com/office/drawing/2014/main" id="{D5A74A98-AC51-41EA-A267-D7FDC687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992" y="3134982"/>
            <a:ext cx="111249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375"/>
              </a:lnSpc>
              <a:buNone/>
            </a:pPr>
            <a:r>
              <a:rPr sz="18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хеш ×3,4</a:t>
            </a:r>
          </a:p>
        </p:txBody>
      </p:sp>
      <p:sp>
        <p:nvSpPr>
          <p:cNvPr id="21" name="hf-278">
            <a:extLst xmlns:a="http://schemas.openxmlformats.org/drawingml/2006/main">
              <a:ext uri="{FF2B5EF4-FFF2-40B4-BE49-F238E27FC236}">
                <a16:creationId xmlns:a16="http://schemas.microsoft.com/office/drawing/2014/main" id="{67BE3248-0042-4205-AE45-3B2783F3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838575"/>
            <a:ext cx="8029575" cy="61912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22" name="hf-279">
            <a:extLst xmlns:a="http://schemas.openxmlformats.org/drawingml/2006/main">
              <a:ext uri="{FF2B5EF4-FFF2-40B4-BE49-F238E27FC236}">
                <a16:creationId xmlns:a16="http://schemas.microsoft.com/office/drawing/2014/main" id="{F676370E-C8A0-49BE-B579-13986CB1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3908679"/>
            <a:ext cx="4192116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0" i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«Порядок любой» = любой </a:t>
            </a:r>
            <a:r>
              <a:rPr sz="15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каждый раз</a:t>
            </a:r>
            <a:r>
              <a:rPr sz="1500" b="0" i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:</a:t>
            </a:r>
          </a:p>
        </p:txBody>
      </p:sp>
      <p:sp>
        <p:nvSpPr>
          <p:cNvPr id="23" name="hf-280">
            <a:extLst xmlns:a="http://schemas.openxmlformats.org/drawingml/2006/main">
              <a:ext uri="{FF2B5EF4-FFF2-40B4-BE49-F238E27FC236}">
                <a16:creationId xmlns:a16="http://schemas.microsoft.com/office/drawing/2014/main" id="{AC5E9C7E-816B-4F13-9B35-76531A11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4137279"/>
            <a:ext cx="7037338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0" i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flat_hash_set, Set в Swift и map в Go меняют его от запуска к запуску</a:t>
            </a:r>
          </a:p>
        </p:txBody>
      </p:sp>
      <p:pic>
        <p:nvPicPr>
          <p:cNvPr id="24" name="hf-281">
            <a:extLst xmlns:a="http://schemas.openxmlformats.org/drawingml/2006/main">
              <a:ext uri="{FF2B5EF4-FFF2-40B4-BE49-F238E27FC236}">
                <a16:creationId xmlns:a16="http://schemas.microsoft.com/office/drawing/2014/main" id="{8DE1A820-8553-4CB1-ABE7-004D6C6942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0ed018fd78416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5" name="hf-282">
            <a:extLst xmlns:a="http://schemas.openxmlformats.org/drawingml/2006/main">
              <a:ext uri="{FF2B5EF4-FFF2-40B4-BE49-F238E27FC236}">
                <a16:creationId xmlns:a16="http://schemas.microsoft.com/office/drawing/2014/main" id="{2F5F952A-7E9C-4EBE-8853-8A6A1F76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58868152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2" grpId="0" animBg="1"/>
      <p:bldP spid="13" grpId="0" animBg="1"/>
      <p:bldP spid="15" grpId="0" animBg="1"/>
      <p:bldP spid="17" grpId="0" animBg="1"/>
      <p:bldP spid="18" grpId="0" animBg="1"/>
      <p:bldP spid="20" grpId="0" animBg="1"/>
      <p:bldP spid="22" grpId="0" animBg="1"/>
      <p:bldP spid="23" grpId="0" animBg="1"/>
    </p:bldLst>
  </p:timing>
</p:sld>
</file>

<file path=ppt/slides/slide15.xml><?xml version="1.0" encoding="utf-8"?>
<p:sld xmlns:p="http://schemas.openxmlformats.org/presentationml/2006/main">
  <p:cSld name="inputorder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283">
            <a:extLst xmlns:a="http://schemas.openxmlformats.org/drawingml/2006/main">
              <a:ext uri="{FF2B5EF4-FFF2-40B4-BE49-F238E27FC236}">
                <a16:creationId xmlns:a16="http://schemas.microsoft.com/office/drawing/2014/main" id="{22EFD056-C070-476B-AEC2-0F7F3522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892251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РАУНД </a:t>
            </a: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ИЗ 4 · ДАННЫЕ И ТИКЕТ</a:t>
            </a:r>
          </a:p>
        </p:txBody>
      </p:sp>
      <p:sp>
        <p:nvSpPr>
          <p:cNvPr id="3" name="hf-284">
            <a:extLst xmlns:a="http://schemas.openxmlformats.org/drawingml/2006/main">
              <a:ext uri="{FF2B5EF4-FFF2-40B4-BE49-F238E27FC236}">
                <a16:creationId xmlns:a16="http://schemas.microsoft.com/office/drawing/2014/main" id="{5E9C0DF8-4747-41A6-A0BC-5F628687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4242718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ПОРЯДОК ТОГО ЖЕ ВХОДА</a:t>
            </a:r>
          </a:p>
        </p:txBody>
      </p:sp>
      <p:sp>
        <p:nvSpPr>
          <p:cNvPr id="4" name="hf-285">
            <a:extLst xmlns:a="http://schemas.openxmlformats.org/drawingml/2006/main">
              <a:ext uri="{FF2B5EF4-FFF2-40B4-BE49-F238E27FC236}">
                <a16:creationId xmlns:a16="http://schemas.microsoft.com/office/drawing/2014/main" id="{7BA63549-1AEE-48D2-904F-BCC9EBE2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17892"/>
            <a:ext cx="6433617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те же ключи и повторы, другой порядок входа · нс на элемент</a:t>
            </a:r>
          </a:p>
        </p:txBody>
      </p:sp>
      <p:sp>
        <p:nvSpPr>
          <p:cNvPr id="5" name="hf-286">
            <a:extLst xmlns:a="http://schemas.openxmlformats.org/drawingml/2006/main">
              <a:ext uri="{FF2B5EF4-FFF2-40B4-BE49-F238E27FC236}">
                <a16:creationId xmlns:a16="http://schemas.microsoft.com/office/drawing/2014/main" id="{CC0634F5-D00C-4D0B-AA42-41F35883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71450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6" name="hf-287">
            <a:extLst xmlns:a="http://schemas.openxmlformats.org/drawingml/2006/main">
              <a:ext uri="{FF2B5EF4-FFF2-40B4-BE49-F238E27FC236}">
                <a16:creationId xmlns:a16="http://schemas.microsoft.com/office/drawing/2014/main" id="{2A09A3F6-3AC1-4545-BF0D-83D1A937D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830057"/>
            <a:ext cx="1448098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Случайный</a:t>
            </a:r>
          </a:p>
        </p:txBody>
      </p:sp>
      <p:sp>
        <p:nvSpPr>
          <p:cNvPr id="7" name="hf-288">
            <a:extLst xmlns:a="http://schemas.openxmlformats.org/drawingml/2006/main">
              <a:ext uri="{FF2B5EF4-FFF2-40B4-BE49-F238E27FC236}">
                <a16:creationId xmlns:a16="http://schemas.microsoft.com/office/drawing/2014/main" id="{F5780364-7330-4E5A-80A3-7C5EEC21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127504"/>
            <a:ext cx="18207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sort 20,2 · хеш 22,6</a:t>
            </a:r>
          </a:p>
        </p:txBody>
      </p:sp>
      <p:sp>
        <p:nvSpPr>
          <p:cNvPr id="8" name="hf-289">
            <a:extLst xmlns:a="http://schemas.openxmlformats.org/drawingml/2006/main">
              <a:ext uri="{FF2B5EF4-FFF2-40B4-BE49-F238E27FC236}">
                <a16:creationId xmlns:a16="http://schemas.microsoft.com/office/drawing/2014/main" id="{48C721D5-C2FA-4D13-B03D-E0862A691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6538" y="1876425"/>
            <a:ext cx="2000250" cy="4572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9" name="hf-290">
            <a:extLst xmlns:a="http://schemas.openxmlformats.org/drawingml/2006/main">
              <a:ext uri="{FF2B5EF4-FFF2-40B4-BE49-F238E27FC236}">
                <a16:creationId xmlns:a16="http://schemas.microsoft.com/office/drawing/2014/main" id="{A60C9F27-70B4-4218-9B58-4B13CF80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1877" y="1811007"/>
            <a:ext cx="1146721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375"/>
              </a:lnSpc>
              <a:buNone/>
            </a:pPr>
            <a:r>
              <a:rPr sz="18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≈ близко</a:t>
            </a:r>
          </a:p>
        </p:txBody>
      </p:sp>
      <p:sp>
        <p:nvSpPr>
          <p:cNvPr id="10" name="hf-291">
            <a:extLst xmlns:a="http://schemas.openxmlformats.org/drawingml/2006/main">
              <a:ext uri="{FF2B5EF4-FFF2-40B4-BE49-F238E27FC236}">
                <a16:creationId xmlns:a16="http://schemas.microsoft.com/office/drawing/2014/main" id="{85C20031-EFA7-4A3F-8CCF-C70280A9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49555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1" name="hf-292">
            <a:extLst xmlns:a="http://schemas.openxmlformats.org/drawingml/2006/main">
              <a:ext uri="{FF2B5EF4-FFF2-40B4-BE49-F238E27FC236}">
                <a16:creationId xmlns:a16="http://schemas.microsoft.com/office/drawing/2014/main" id="{5BF051CD-52E4-4B33-98B8-A74D27C9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611107"/>
            <a:ext cx="273330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Сериями одинаковых</a:t>
            </a:r>
          </a:p>
        </p:txBody>
      </p:sp>
      <p:sp>
        <p:nvSpPr>
          <p:cNvPr id="12" name="hf-293">
            <a:extLst xmlns:a="http://schemas.openxmlformats.org/drawingml/2006/main">
              <a:ext uri="{FF2B5EF4-FFF2-40B4-BE49-F238E27FC236}">
                <a16:creationId xmlns:a16="http://schemas.microsoft.com/office/drawing/2014/main" id="{A4B9DE4A-07BE-4D7D-84B0-2C1F5340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908554"/>
            <a:ext cx="177031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sort 20,5 · хеш 15,5</a:t>
            </a:r>
          </a:p>
        </p:txBody>
      </p:sp>
      <p:sp>
        <p:nvSpPr>
          <p:cNvPr id="13" name="hf-294">
            <a:extLst xmlns:a="http://schemas.openxmlformats.org/drawingml/2006/main">
              <a:ext uri="{FF2B5EF4-FFF2-40B4-BE49-F238E27FC236}">
                <a16:creationId xmlns:a16="http://schemas.microsoft.com/office/drawing/2014/main" id="{450DF034-0650-4320-A66C-56811FE7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6538" y="2657475"/>
            <a:ext cx="2000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5E1C42"/>
          </a:solidFill>
          <a:ln xmlns:a="http://schemas.openxmlformats.org/drawingml/2006/main" w="14288">
            <a:solidFill>
              <a:srgbClr val="E2489B"/>
            </a:solidFill>
          </a:ln>
        </p:spPr>
      </p:sp>
      <p:sp>
        <p:nvSpPr>
          <p:cNvPr id="14" name="hf-295">
            <a:extLst xmlns:a="http://schemas.openxmlformats.org/drawingml/2006/main">
              <a:ext uri="{FF2B5EF4-FFF2-40B4-BE49-F238E27FC236}">
                <a16:creationId xmlns:a16="http://schemas.microsoft.com/office/drawing/2014/main" id="{280818E2-0519-413B-BF46-9CACCA56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735" y="2592057"/>
            <a:ext cx="1046931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375"/>
              </a:lnSpc>
              <a:buNone/>
            </a:pPr>
            <a:r>
              <a:rPr sz="18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хеш ×1,3</a:t>
            </a:r>
          </a:p>
        </p:txBody>
      </p:sp>
      <p:sp>
        <p:nvSpPr>
          <p:cNvPr id="15" name="hf-296">
            <a:extLst xmlns:a="http://schemas.openxmlformats.org/drawingml/2006/main">
              <a:ext uri="{FF2B5EF4-FFF2-40B4-BE49-F238E27FC236}">
                <a16:creationId xmlns:a16="http://schemas.microsoft.com/office/drawing/2014/main" id="{F1647E49-2DE4-4E75-ACE8-71094A66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27660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6" name="hf-297">
            <a:extLst xmlns:a="http://schemas.openxmlformats.org/drawingml/2006/main">
              <a:ext uri="{FF2B5EF4-FFF2-40B4-BE49-F238E27FC236}">
                <a16:creationId xmlns:a16="http://schemas.microsoft.com/office/drawing/2014/main" id="{3601A100-C909-4967-9985-CDADA3B0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92157"/>
            <a:ext cx="2831306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Уже отсортированный</a:t>
            </a:r>
          </a:p>
        </p:txBody>
      </p:sp>
      <p:sp>
        <p:nvSpPr>
          <p:cNvPr id="17" name="hf-298">
            <a:extLst xmlns:a="http://schemas.openxmlformats.org/drawingml/2006/main">
              <a:ext uri="{FF2B5EF4-FFF2-40B4-BE49-F238E27FC236}">
                <a16:creationId xmlns:a16="http://schemas.microsoft.com/office/drawing/2014/main" id="{73AD75F8-D691-49C8-A428-618FAF9D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409950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0">
            <a:noFill/>
          </a:ln>
        </p:spPr>
      </p:sp>
      <p:sp>
        <p:nvSpPr>
          <p:cNvPr id="18" name="hf-299">
            <a:extLst xmlns:a="http://schemas.openxmlformats.org/drawingml/2006/main">
              <a:ext uri="{FF2B5EF4-FFF2-40B4-BE49-F238E27FC236}">
                <a16:creationId xmlns:a16="http://schemas.microsoft.com/office/drawing/2014/main" id="{AE2A06CC-5A7E-428B-BBD2-AE3B59DB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0979" y="3365754"/>
            <a:ext cx="13424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19" name="hf-300">
            <a:extLst xmlns:a="http://schemas.openxmlformats.org/drawingml/2006/main">
              <a:ext uri="{FF2B5EF4-FFF2-40B4-BE49-F238E27FC236}">
                <a16:creationId xmlns:a16="http://schemas.microsoft.com/office/drawing/2014/main" id="{B3F033C2-1876-4AA9-8396-EE901729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689604"/>
            <a:ext cx="167513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sort 2,0 · хеш 16,5</a:t>
            </a:r>
          </a:p>
        </p:txBody>
      </p:sp>
      <p:sp>
        <p:nvSpPr>
          <p:cNvPr id="20" name="hf-301">
            <a:extLst xmlns:a="http://schemas.openxmlformats.org/drawingml/2006/main">
              <a:ext uri="{FF2B5EF4-FFF2-40B4-BE49-F238E27FC236}">
                <a16:creationId xmlns:a16="http://schemas.microsoft.com/office/drawing/2014/main" id="{CDDCD3E2-E4EC-4FC3-BB1E-5D57E443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6538" y="3438525"/>
            <a:ext cx="2000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0">
            <a:noFill/>
          </a:ln>
        </p:spPr>
      </p:sp>
      <p:sp>
        <p:nvSpPr>
          <p:cNvPr id="21" name="hf-302">
            <a:extLst xmlns:a="http://schemas.openxmlformats.org/drawingml/2006/main">
              <a:ext uri="{FF2B5EF4-FFF2-40B4-BE49-F238E27FC236}">
                <a16:creationId xmlns:a16="http://schemas.microsoft.com/office/drawing/2014/main" id="{ED89F9DB-C67B-4C39-B27F-6EF99F62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786" y="3366173"/>
            <a:ext cx="104090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600"/>
              </a:lnSpc>
              <a:buNone/>
            </a:pPr>
            <a:r>
              <a:rPr sz="21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sort ×8</a:t>
            </a:r>
          </a:p>
        </p:txBody>
      </p:sp>
      <p:sp>
        <p:nvSpPr>
          <p:cNvPr id="22" name="hf-303">
            <a:extLst xmlns:a="http://schemas.openxmlformats.org/drawingml/2006/main">
              <a:ext uri="{FF2B5EF4-FFF2-40B4-BE49-F238E27FC236}">
                <a16:creationId xmlns:a16="http://schemas.microsoft.com/office/drawing/2014/main" id="{4BA7B79F-8CCE-4F43-8B3F-D795A46F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070604"/>
            <a:ext cx="4352032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libc++: ≈2 сравнения на элемент вместо ≈22</a:t>
            </a:r>
          </a:p>
        </p:txBody>
      </p:sp>
      <p:sp>
        <p:nvSpPr>
          <p:cNvPr id="23" name="hf-304">
            <a:extLst xmlns:a="http://schemas.openxmlformats.org/drawingml/2006/main">
              <a:ext uri="{FF2B5EF4-FFF2-40B4-BE49-F238E27FC236}">
                <a16:creationId xmlns:a16="http://schemas.microsoft.com/office/drawing/2014/main" id="{EA7ED31D-A068-4BDB-A47C-D8A93A53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1761" y="4070604"/>
            <a:ext cx="229217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libstdc++ так не делает</a:t>
            </a:r>
          </a:p>
        </p:txBody>
      </p:sp>
      <p:pic>
        <p:nvPicPr>
          <p:cNvPr id="24" name="hf-305">
            <a:extLst xmlns:a="http://schemas.openxmlformats.org/drawingml/2006/main">
              <a:ext uri="{FF2B5EF4-FFF2-40B4-BE49-F238E27FC236}">
                <a16:creationId xmlns:a16="http://schemas.microsoft.com/office/drawing/2014/main" id="{420FFA8F-8550-4FAF-89C4-0035FA2604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0c7be11be8414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5" name="hf-306">
            <a:extLst xmlns:a="http://schemas.openxmlformats.org/drawingml/2006/main">
              <a:ext uri="{FF2B5EF4-FFF2-40B4-BE49-F238E27FC236}">
                <a16:creationId xmlns:a16="http://schemas.microsoft.com/office/drawing/2014/main" id="{0CA9E382-D450-4581-8E87-BF9E1DC1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23086934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1" grpId="0" animBg="1"/>
      <p:bldP spid="12" grpId="0" animBg="1"/>
      <p:bldP spid="14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p="http://schemas.openxmlformats.org/presentationml/2006/main">
  <p:cSld name="learned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307">
            <a:extLst xmlns:a="http://schemas.openxmlformats.org/drawingml/2006/main">
              <a:ext uri="{FF2B5EF4-FFF2-40B4-BE49-F238E27FC236}">
                <a16:creationId xmlns:a16="http://schemas.microsoft.com/office/drawing/2014/main" id="{79BC4816-095B-4DB4-9D3D-41CC510D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91885"/>
            <a:ext cx="630391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ВОСПРОИЗВОДИМЫЙ РЕЗУЛЬТАТ ТОЖЕ</a:t>
            </a:r>
          </a:p>
        </p:txBody>
      </p:sp>
      <p:sp>
        <p:nvSpPr>
          <p:cNvPr id="3" name="hf-308">
            <a:extLst xmlns:a="http://schemas.openxmlformats.org/drawingml/2006/main">
              <a:ext uri="{FF2B5EF4-FFF2-40B4-BE49-F238E27FC236}">
                <a16:creationId xmlns:a16="http://schemas.microsoft.com/office/drawing/2014/main" id="{033F3A7C-FB8E-40A5-ACBB-38A1D6E6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04796"/>
            <a:ext cx="3062957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МОЖЕТ ОБМАНУТЬ</a:t>
            </a:r>
          </a:p>
        </p:txBody>
      </p:sp>
      <p:sp>
        <p:nvSpPr>
          <p:cNvPr id="4" name="hf-309">
            <a:extLst xmlns:a="http://schemas.openxmlformats.org/drawingml/2006/main">
              <a:ext uri="{FF2B5EF4-FFF2-40B4-BE49-F238E27FC236}">
                <a16:creationId xmlns:a16="http://schemas.microsoft.com/office/drawing/2014/main" id="{E6FC4E71-B5F6-48D4-AFC0-7739A35E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351217"/>
            <a:ext cx="617979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sort + unique · 1024 id · нативная macOS, M2 Pro · нс/элемент</a:t>
            </a:r>
          </a:p>
        </p:txBody>
      </p:sp>
      <p:sp>
        <p:nvSpPr>
          <p:cNvPr id="5" name="hf-310">
            <a:extLst xmlns:a="http://schemas.openxmlformats.org/drawingml/2006/main">
              <a:ext uri="{FF2B5EF4-FFF2-40B4-BE49-F238E27FC236}">
                <a16:creationId xmlns:a16="http://schemas.microsoft.com/office/drawing/2014/main" id="{3F9A27FE-D4BF-419F-93E5-042586F0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842935"/>
            <a:ext cx="1372344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6600"/>
              </a:lnSpc>
              <a:buNone/>
            </a:pPr>
            <a:r>
              <a:rPr sz="66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6,8</a:t>
            </a:r>
          </a:p>
        </p:txBody>
      </p:sp>
      <p:sp>
        <p:nvSpPr>
          <p:cNvPr id="6" name="hf-311">
            <a:extLst xmlns:a="http://schemas.openxmlformats.org/drawingml/2006/main">
              <a:ext uri="{FF2B5EF4-FFF2-40B4-BE49-F238E27FC236}">
                <a16:creationId xmlns:a16="http://schemas.microsoft.com/office/drawing/2014/main" id="{BB3054CD-DE3B-48BE-86EA-51DEEF5A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773032"/>
            <a:ext cx="2417638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Один и тот же вход</a:t>
            </a:r>
          </a:p>
        </p:txBody>
      </p:sp>
      <p:sp>
        <p:nvSpPr>
          <p:cNvPr id="7" name="hf-312">
            <a:extLst xmlns:a="http://schemas.openxmlformats.org/drawingml/2006/main">
              <a:ext uri="{FF2B5EF4-FFF2-40B4-BE49-F238E27FC236}">
                <a16:creationId xmlns:a16="http://schemas.microsoft.com/office/drawing/2014/main" id="{CAE04277-5B9D-42A2-B90A-FD8AA712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42935"/>
            <a:ext cx="1770608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6600"/>
              </a:lnSpc>
              <a:buNone/>
            </a:pPr>
            <a:r>
              <a:rPr sz="66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14,4</a:t>
            </a:r>
          </a:p>
        </p:txBody>
      </p:sp>
      <p:sp>
        <p:nvSpPr>
          <p:cNvPr id="8" name="hf-313">
            <a:extLst xmlns:a="http://schemas.openxmlformats.org/drawingml/2006/main">
              <a:ext uri="{FF2B5EF4-FFF2-40B4-BE49-F238E27FC236}">
                <a16:creationId xmlns:a16="http://schemas.microsoft.com/office/drawing/2014/main" id="{2C0F9BDE-A5D8-411B-BDDD-372D7CA3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73032"/>
            <a:ext cx="2082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64 разных входа</a:t>
            </a:r>
          </a:p>
        </p:txBody>
      </p:sp>
      <p:sp>
        <p:nvSpPr>
          <p:cNvPr id="9" name="hf-314">
            <a:extLst xmlns:a="http://schemas.openxmlformats.org/drawingml/2006/main">
              <a:ext uri="{FF2B5EF4-FFF2-40B4-BE49-F238E27FC236}">
                <a16:creationId xmlns:a16="http://schemas.microsoft.com/office/drawing/2014/main" id="{4F456EA3-9629-4356-B6BD-0F04144B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39770"/>
            <a:ext cx="5337423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325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Контроль на x86: одинаковые входы быстры</a:t>
            </a:r>
          </a:p>
        </p:txBody>
      </p:sp>
      <p:sp>
        <p:nvSpPr>
          <p:cNvPr id="10" name="hf-315">
            <a:extLst xmlns:a="http://schemas.openxmlformats.org/drawingml/2006/main">
              <a:ext uri="{FF2B5EF4-FFF2-40B4-BE49-F238E27FC236}">
                <a16:creationId xmlns:a16="http://schemas.microsoft.com/office/drawing/2014/main" id="{5C698755-F5A0-471C-AC88-060D1824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635045"/>
            <a:ext cx="309309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325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даже по разным адресам</a:t>
            </a:r>
          </a:p>
        </p:txBody>
      </p:sp>
      <p:sp>
        <p:nvSpPr>
          <p:cNvPr id="11" name="hf-316">
            <a:extLst xmlns:a="http://schemas.openxmlformats.org/drawingml/2006/main">
              <a:ext uri="{FF2B5EF4-FFF2-40B4-BE49-F238E27FC236}">
                <a16:creationId xmlns:a16="http://schemas.microsoft.com/office/drawing/2014/main" id="{EE62C736-0DF6-48D9-A6F0-A3975523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154157"/>
            <a:ext cx="7182148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Повторяемость и проверка результата ещё не проверяют</a:t>
            </a:r>
          </a:p>
        </p:txBody>
      </p:sp>
      <p:sp>
        <p:nvSpPr>
          <p:cNvPr id="12" name="hf-317">
            <a:extLst xmlns:a="http://schemas.openxmlformats.org/drawingml/2006/main">
              <a:ext uri="{FF2B5EF4-FFF2-40B4-BE49-F238E27FC236}">
                <a16:creationId xmlns:a16="http://schemas.microsoft.com/office/drawing/2014/main" id="{64C1FB66-7A7E-4631-839C-F104CE45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439907"/>
            <a:ext cx="1782217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модель опыта</a:t>
            </a:r>
          </a:p>
        </p:txBody>
      </p:sp>
      <p:pic>
        <p:nvPicPr>
          <p:cNvPr id="13" name="hf-318">
            <a:extLst xmlns:a="http://schemas.openxmlformats.org/drawingml/2006/main">
              <a:ext uri="{FF2B5EF4-FFF2-40B4-BE49-F238E27FC236}">
                <a16:creationId xmlns:a16="http://schemas.microsoft.com/office/drawing/2014/main" id="{24530B7E-5A14-4D0B-9602-FAAC47A9BB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515c554a624a4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14" name="hf-319">
            <a:extLst xmlns:a="http://schemas.openxmlformats.org/drawingml/2006/main">
              <a:ext uri="{FF2B5EF4-FFF2-40B4-BE49-F238E27FC236}">
                <a16:creationId xmlns:a16="http://schemas.microsoft.com/office/drawing/2014/main" id="{D091A878-CE1B-4DBE-B404-CF853601E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613439835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7.xml><?xml version="1.0" encoding="utf-8"?>
<p:sld xmlns:p="http://schemas.openxmlformats.org/presentationml/2006/main">
  <p:cSld name="qos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320">
            <a:extLst xmlns:a="http://schemas.openxmlformats.org/drawingml/2006/main">
              <a:ext uri="{FF2B5EF4-FFF2-40B4-BE49-F238E27FC236}">
                <a16:creationId xmlns:a16="http://schemas.microsoft.com/office/drawing/2014/main" id="{4953ED13-A752-4E46-B2FF-EA9A8E76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442121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РАУНД </a:t>
            </a: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ИЗ 4 · ПРОЦЕССОР</a:t>
            </a:r>
          </a:p>
        </p:txBody>
      </p:sp>
      <p:sp>
        <p:nvSpPr>
          <p:cNvPr id="3" name="hf-321">
            <a:extLst xmlns:a="http://schemas.openxmlformats.org/drawingml/2006/main">
              <a:ext uri="{FF2B5EF4-FFF2-40B4-BE49-F238E27FC236}">
                <a16:creationId xmlns:a16="http://schemas.microsoft.com/office/drawing/2014/main" id="{FBA5397A-4575-4B98-B972-385E31B5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570711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МЕНЯЕМ QoS ПОТОКА — МЕНЯЕТСЯ</a:t>
            </a:r>
          </a:p>
        </p:txBody>
      </p:sp>
      <p:sp>
        <p:nvSpPr>
          <p:cNvPr id="4" name="hf-322">
            <a:extLst xmlns:a="http://schemas.openxmlformats.org/drawingml/2006/main">
              <a:ext uri="{FF2B5EF4-FFF2-40B4-BE49-F238E27FC236}">
                <a16:creationId xmlns:a16="http://schemas.microsoft.com/office/drawing/2014/main" id="{1E799D8C-55F5-416F-9F6F-1657D72E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1821879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РЕЗУЛЬТАТ</a:t>
            </a:r>
          </a:p>
        </p:txBody>
      </p:sp>
      <p:sp>
        <p:nvSpPr>
          <p:cNvPr id="5" name="hf-323">
            <a:extLst xmlns:a="http://schemas.openxmlformats.org/drawingml/2006/main">
              <a:ext uri="{FF2B5EF4-FFF2-40B4-BE49-F238E27FC236}">
                <a16:creationId xmlns:a16="http://schemas.microsoft.com/office/drawing/2014/main" id="{8BE96F4A-9D66-4177-AA7C-BCBA2E6B4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253538"/>
            <a:ext cx="4258419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838" b="0" i="0">
                <a:solidFill>
                  <a:srgbClr val="46CDAE"/>
                </a:solidFill>
                <a:latin typeface="Menlo"/>
                <a:ea typeface="Menlo"/>
                <a:cs typeface="Menlo"/>
              </a:rPr>
              <a:t>pthread_set_qos_class_self_np(</a:t>
            </a:r>
          </a:p>
        </p:txBody>
      </p:sp>
      <p:sp>
        <p:nvSpPr>
          <p:cNvPr id="6" name="hf-324">
            <a:extLst xmlns:a="http://schemas.openxmlformats.org/drawingml/2006/main">
              <a:ext uri="{FF2B5EF4-FFF2-40B4-BE49-F238E27FC236}">
                <a16:creationId xmlns:a16="http://schemas.microsoft.com/office/drawing/2014/main" id="{245A92F4-D640-4D33-A385-6078CCAB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558338"/>
            <a:ext cx="369823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838" b="0" i="0">
                <a:solidFill>
                  <a:srgbClr val="46CDAE"/>
                </a:solidFill>
                <a:latin typeface="Menlo"/>
                <a:ea typeface="Menlo"/>
                <a:cs typeface="Menlo"/>
              </a:rPr>
              <a:t>    QOS_CLASS_UTILITY, 0);</a:t>
            </a:r>
          </a:p>
        </p:txBody>
      </p:sp>
      <p:sp>
        <p:nvSpPr>
          <p:cNvPr id="7" name="hf-325">
            <a:extLst xmlns:a="http://schemas.openxmlformats.org/drawingml/2006/main">
              <a:ext uri="{FF2B5EF4-FFF2-40B4-BE49-F238E27FC236}">
                <a16:creationId xmlns:a16="http://schemas.microsoft.com/office/drawing/2014/main" id="{6EAD7FB2-84C6-44DB-AA49-870A7E0D2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905295"/>
            <a:ext cx="5856461" cy="221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94"/>
              </a:lnSpc>
              <a:buNone/>
            </a:pPr>
            <a:r>
              <a:rPr sz="127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512K id · половина уникальных · sort / unordered_set, нс на элемент</a:t>
            </a:r>
          </a:p>
        </p:txBody>
      </p:sp>
      <p:sp>
        <p:nvSpPr>
          <p:cNvPr id="8" name="hf-326">
            <a:extLst xmlns:a="http://schemas.openxmlformats.org/drawingml/2006/main">
              <a:ext uri="{FF2B5EF4-FFF2-40B4-BE49-F238E27FC236}">
                <a16:creationId xmlns:a16="http://schemas.microsoft.com/office/drawing/2014/main" id="{93F9A930-B19A-4CDC-9AB0-1CC17DC3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8315" y="2184111"/>
            <a:ext cx="1368996" cy="269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69"/>
              </a:lnSpc>
              <a:buNone/>
            </a:pPr>
            <a:r>
              <a:rPr sz="157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userInitiated</a:t>
            </a:r>
          </a:p>
        </p:txBody>
      </p:sp>
      <p:sp>
        <p:nvSpPr>
          <p:cNvPr id="9" name="hf-327">
            <a:extLst xmlns:a="http://schemas.openxmlformats.org/drawingml/2006/main">
              <a:ext uri="{FF2B5EF4-FFF2-40B4-BE49-F238E27FC236}">
                <a16:creationId xmlns:a16="http://schemas.microsoft.com/office/drawing/2014/main" id="{9578D48E-9E41-44C9-A524-E511B4AA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1411" y="2184111"/>
            <a:ext cx="645542" cy="269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69"/>
              </a:lnSpc>
              <a:buNone/>
            </a:pPr>
            <a:r>
              <a:rPr sz="1575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utility</a:t>
            </a:r>
          </a:p>
        </p:txBody>
      </p:sp>
      <p:sp>
        <p:nvSpPr>
          <p:cNvPr id="10" name="hf-328">
            <a:extLst xmlns:a="http://schemas.openxmlformats.org/drawingml/2006/main">
              <a:ext uri="{FF2B5EF4-FFF2-40B4-BE49-F238E27FC236}">
                <a16:creationId xmlns:a16="http://schemas.microsoft.com/office/drawing/2014/main" id="{3F22D023-68B6-4F08-8DC9-DD678513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625395"/>
            <a:ext cx="5473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Mac</a:t>
            </a:r>
          </a:p>
        </p:txBody>
      </p:sp>
      <p:sp>
        <p:nvSpPr>
          <p:cNvPr id="11" name="hf-329">
            <a:extLst xmlns:a="http://schemas.openxmlformats.org/drawingml/2006/main">
              <a:ext uri="{FF2B5EF4-FFF2-40B4-BE49-F238E27FC236}">
                <a16:creationId xmlns:a16="http://schemas.microsoft.com/office/drawing/2014/main" id="{C47A3DC8-C1E5-4AD6-B26F-D5BAFB5E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905420"/>
            <a:ext cx="636687" cy="221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94"/>
              </a:lnSpc>
              <a:buNone/>
            </a:pPr>
            <a:r>
              <a:rPr sz="127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M2 Pro</a:t>
            </a:r>
          </a:p>
        </p:txBody>
      </p:sp>
      <p:sp>
        <p:nvSpPr>
          <p:cNvPr id="12" name="hf-330">
            <a:extLst xmlns:a="http://schemas.openxmlformats.org/drawingml/2006/main">
              <a:ext uri="{FF2B5EF4-FFF2-40B4-BE49-F238E27FC236}">
                <a16:creationId xmlns:a16="http://schemas.microsoft.com/office/drawing/2014/main" id="{076F6632-EBAF-44CC-9ABC-5546D334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479511"/>
            <a:ext cx="1464022" cy="269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69"/>
              </a:lnSpc>
              <a:buNone/>
            </a:pPr>
            <a:r>
              <a:rPr sz="157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iPhone 14 Pro</a:t>
            </a:r>
          </a:p>
        </p:txBody>
      </p:sp>
      <p:sp>
        <p:nvSpPr>
          <p:cNvPr id="13" name="hf-331">
            <a:extLst xmlns:a="http://schemas.openxmlformats.org/drawingml/2006/main">
              <a:ext uri="{FF2B5EF4-FFF2-40B4-BE49-F238E27FC236}">
                <a16:creationId xmlns:a16="http://schemas.microsoft.com/office/drawing/2014/main" id="{E4F9416F-BD51-4472-A291-528D164B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753145"/>
            <a:ext cx="905768" cy="221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94"/>
              </a:lnSpc>
              <a:buNone/>
            </a:pPr>
            <a:r>
              <a:rPr sz="127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A16 Bionic</a:t>
            </a:r>
          </a:p>
        </p:txBody>
      </p:sp>
      <p:sp>
        <p:nvSpPr>
          <p:cNvPr id="14" name="hf-332">
            <a:extLst xmlns:a="http://schemas.openxmlformats.org/drawingml/2006/main">
              <a:ext uri="{FF2B5EF4-FFF2-40B4-BE49-F238E27FC236}">
                <a16:creationId xmlns:a16="http://schemas.microsoft.com/office/drawing/2014/main" id="{7DE9D416-43B1-438F-ACF2-AE733ACA7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486025"/>
            <a:ext cx="285750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15" name="hf-333">
            <a:extLst xmlns:a="http://schemas.openxmlformats.org/drawingml/2006/main">
              <a:ext uri="{FF2B5EF4-FFF2-40B4-BE49-F238E27FC236}">
                <a16:creationId xmlns:a16="http://schemas.microsoft.com/office/drawing/2014/main" id="{37EAC793-3634-4E4A-8D93-6AC5CDDA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569602"/>
            <a:ext cx="1016496" cy="275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16"/>
              </a:lnSpc>
              <a:buNone/>
            </a:pPr>
            <a:r>
              <a:rPr sz="1613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≈ близко</a:t>
            </a:r>
          </a:p>
        </p:txBody>
      </p:sp>
      <p:sp>
        <p:nvSpPr>
          <p:cNvPr id="16" name="hf-334">
            <a:extLst xmlns:a="http://schemas.openxmlformats.org/drawingml/2006/main">
              <a:ext uri="{FF2B5EF4-FFF2-40B4-BE49-F238E27FC236}">
                <a16:creationId xmlns:a16="http://schemas.microsoft.com/office/drawing/2014/main" id="{AB86532B-5C7E-4079-A24B-8A9AF658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859910"/>
            <a:ext cx="942231" cy="2790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48"/>
              </a:lnSpc>
              <a:buNone/>
            </a:pPr>
            <a:r>
              <a:rPr sz="157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19,6 / 18,7</a:t>
            </a:r>
          </a:p>
        </p:txBody>
      </p:sp>
      <p:sp>
        <p:nvSpPr>
          <p:cNvPr id="17" name="hf-335">
            <a:extLst xmlns:a="http://schemas.openxmlformats.org/drawingml/2006/main">
              <a:ext uri="{FF2B5EF4-FFF2-40B4-BE49-F238E27FC236}">
                <a16:creationId xmlns:a16="http://schemas.microsoft.com/office/drawing/2014/main" id="{574FFD07-1CBF-4E67-87E6-47E7D08F4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486025"/>
            <a:ext cx="3062288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18" name="hf-336">
            <a:extLst xmlns:a="http://schemas.openxmlformats.org/drawingml/2006/main">
              <a:ext uri="{FF2B5EF4-FFF2-40B4-BE49-F238E27FC236}">
                <a16:creationId xmlns:a16="http://schemas.microsoft.com/office/drawing/2014/main" id="{74903DEE-2D3C-4B2E-AE48-DC40093B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569602"/>
            <a:ext cx="1016496" cy="275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16"/>
              </a:lnSpc>
              <a:buNone/>
            </a:pPr>
            <a:r>
              <a:rPr sz="1613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≈ близко</a:t>
            </a:r>
          </a:p>
        </p:txBody>
      </p:sp>
      <p:sp>
        <p:nvSpPr>
          <p:cNvPr id="19" name="hf-337">
            <a:extLst xmlns:a="http://schemas.openxmlformats.org/drawingml/2006/main">
              <a:ext uri="{FF2B5EF4-FFF2-40B4-BE49-F238E27FC236}">
                <a16:creationId xmlns:a16="http://schemas.microsoft.com/office/drawing/2014/main" id="{62D74F0A-B987-41B3-BE37-91954666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859910"/>
            <a:ext cx="943049" cy="2790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48"/>
              </a:lnSpc>
              <a:buNone/>
            </a:pPr>
            <a:r>
              <a:rPr sz="157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20,1 / 21,0</a:t>
            </a:r>
          </a:p>
        </p:txBody>
      </p:sp>
      <p:sp>
        <p:nvSpPr>
          <p:cNvPr id="20" name="hf-338">
            <a:extLst xmlns:a="http://schemas.openxmlformats.org/drawingml/2006/main">
              <a:ext uri="{FF2B5EF4-FFF2-40B4-BE49-F238E27FC236}">
                <a16:creationId xmlns:a16="http://schemas.microsoft.com/office/drawing/2014/main" id="{7C7CC893-CA13-488E-BB59-3ED9A15B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352800"/>
            <a:ext cx="285750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21" name="hf-339">
            <a:extLst xmlns:a="http://schemas.openxmlformats.org/drawingml/2006/main">
              <a:ext uri="{FF2B5EF4-FFF2-40B4-BE49-F238E27FC236}">
                <a16:creationId xmlns:a16="http://schemas.microsoft.com/office/drawing/2014/main" id="{B6961D2F-2951-4C5D-9B66-E6536559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436377"/>
            <a:ext cx="1016496" cy="275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16"/>
              </a:lnSpc>
              <a:buNone/>
            </a:pPr>
            <a:r>
              <a:rPr sz="1613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≈ близко</a:t>
            </a:r>
          </a:p>
        </p:txBody>
      </p:sp>
      <p:sp>
        <p:nvSpPr>
          <p:cNvPr id="22" name="hf-340">
            <a:extLst xmlns:a="http://schemas.openxmlformats.org/drawingml/2006/main">
              <a:ext uri="{FF2B5EF4-FFF2-40B4-BE49-F238E27FC236}">
                <a16:creationId xmlns:a16="http://schemas.microsoft.com/office/drawing/2014/main" id="{A216329A-D42B-4AEF-8F5D-7BE06D20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26685"/>
            <a:ext cx="942529" cy="2790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48"/>
              </a:lnSpc>
              <a:buNone/>
            </a:pPr>
            <a:r>
              <a:rPr sz="157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19,6 / 18,2</a:t>
            </a:r>
          </a:p>
        </p:txBody>
      </p:sp>
      <p:sp>
        <p:nvSpPr>
          <p:cNvPr id="23" name="hf-341">
            <a:extLst xmlns:a="http://schemas.openxmlformats.org/drawingml/2006/main">
              <a:ext uri="{FF2B5EF4-FFF2-40B4-BE49-F238E27FC236}">
                <a16:creationId xmlns:a16="http://schemas.microsoft.com/office/drawing/2014/main" id="{877C8E71-4205-4816-8ECF-2EBF7598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52800"/>
            <a:ext cx="3062288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24" name="hf-342">
            <a:extLst xmlns:a="http://schemas.openxmlformats.org/drawingml/2006/main">
              <a:ext uri="{FF2B5EF4-FFF2-40B4-BE49-F238E27FC236}">
                <a16:creationId xmlns:a16="http://schemas.microsoft.com/office/drawing/2014/main" id="{60D38A43-22E3-433D-B027-8FAA847B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436377"/>
            <a:ext cx="904503" cy="275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16"/>
              </a:lnSpc>
              <a:buNone/>
            </a:pPr>
            <a:r>
              <a:rPr sz="1613" b="0" i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sort ×1,9</a:t>
            </a:r>
          </a:p>
        </p:txBody>
      </p:sp>
      <p:sp>
        <p:nvSpPr>
          <p:cNvPr id="25" name="hf-343">
            <a:extLst xmlns:a="http://schemas.openxmlformats.org/drawingml/2006/main">
              <a:ext uri="{FF2B5EF4-FFF2-40B4-BE49-F238E27FC236}">
                <a16:creationId xmlns:a16="http://schemas.microsoft.com/office/drawing/2014/main" id="{1CDA4A7B-63B8-459A-9814-14CD3AA8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26685"/>
            <a:ext cx="1086743" cy="2790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48"/>
              </a:lnSpc>
              <a:buNone/>
            </a:pPr>
            <a:r>
              <a:rPr sz="1575" b="0" i="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55,3 / 105,3</a:t>
            </a:r>
          </a:p>
        </p:txBody>
      </p:sp>
      <p:sp>
        <p:nvSpPr>
          <p:cNvPr id="26" name="hf-344">
            <a:extLst xmlns:a="http://schemas.openxmlformats.org/drawingml/2006/main">
              <a:ext uri="{FF2B5EF4-FFF2-40B4-BE49-F238E27FC236}">
                <a16:creationId xmlns:a16="http://schemas.microsoft.com/office/drawing/2014/main" id="{A0ADC8AA-4508-4DA3-B10E-D0E74E7E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243073"/>
            <a:ext cx="5149155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52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Mac, 1M: преимущество sort тоже выросло — ×1,3 → ×1,8</a:t>
            </a:r>
          </a:p>
        </p:txBody>
      </p:sp>
      <p:pic>
        <p:nvPicPr>
          <p:cNvPr id="27" name="hf-345">
            <a:extLst xmlns:a="http://schemas.openxmlformats.org/drawingml/2006/main">
              <a:ext uri="{FF2B5EF4-FFF2-40B4-BE49-F238E27FC236}">
                <a16:creationId xmlns:a16="http://schemas.microsoft.com/office/drawing/2014/main" id="{6268C011-F2EB-4137-9F33-EBFA8696F6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d1ba3626f247b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8" name="hf-346">
            <a:extLst xmlns:a="http://schemas.openxmlformats.org/drawingml/2006/main">
              <a:ext uri="{FF2B5EF4-FFF2-40B4-BE49-F238E27FC236}">
                <a16:creationId xmlns:a16="http://schemas.microsoft.com/office/drawing/2014/main" id="{89F6F054-9909-4D4A-AB98-326A8EBF9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833789388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  <p:bldP spid="25" grpId="0" animBg="1"/>
      <p:bldP spid="26" grpId="0" animBg="1"/>
    </p:bldLst>
  </p:timing>
</p:sld>
</file>

<file path=ppt/slides/slide18.xml><?xml version="1.0" encoding="utf-8"?>
<p:sld xmlns:p="http://schemas.openxmlformats.org/presentationml/2006/main">
  <p:cSld name="x33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347">
            <a:extLst xmlns:a="http://schemas.openxmlformats.org/drawingml/2006/main">
              <a:ext uri="{FF2B5EF4-FFF2-40B4-BE49-F238E27FC236}">
                <a16:creationId xmlns:a16="http://schemas.microsoft.com/office/drawing/2014/main" id="{88C021F6-192D-4E8F-84CF-6E8C239C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442121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РАУНД </a:t>
            </a: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ИЗ 4 · ПРОЦЕССОР</a:t>
            </a:r>
          </a:p>
        </p:txBody>
      </p:sp>
      <p:sp>
        <p:nvSpPr>
          <p:cNvPr id="3" name="hf-348">
            <a:extLst xmlns:a="http://schemas.openxmlformats.org/drawingml/2006/main">
              <a:ext uri="{FF2B5EF4-FFF2-40B4-BE49-F238E27FC236}">
                <a16:creationId xmlns:a16="http://schemas.microsoft.com/office/drawing/2014/main" id="{920F054D-143F-4097-83E8-F84826AD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828532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НА МИЛЛИОНЕ id СОРТИРОВКА ВПЕРЕДИ В</a:t>
            </a:r>
          </a:p>
        </p:txBody>
      </p:sp>
      <p:sp>
        <p:nvSpPr>
          <p:cNvPr id="4" name="hf-349">
            <a:extLst xmlns:a="http://schemas.openxmlformats.org/drawingml/2006/main">
              <a:ext uri="{FF2B5EF4-FFF2-40B4-BE49-F238E27FC236}">
                <a16:creationId xmlns:a16="http://schemas.microsoft.com/office/drawing/2014/main" id="{D24AFAF6-D2EE-4A71-B9A6-53525269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1394147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3,3 РАЗА</a:t>
            </a:r>
          </a:p>
        </p:txBody>
      </p:sp>
      <p:sp>
        <p:nvSpPr>
          <p:cNvPr id="5" name="hf-350">
            <a:extLst xmlns:a="http://schemas.openxmlformats.org/drawingml/2006/main">
              <a:ext uri="{FF2B5EF4-FFF2-40B4-BE49-F238E27FC236}">
                <a16:creationId xmlns:a16="http://schemas.microsoft.com/office/drawing/2014/main" id="{208E1CA6-6605-4C5A-B7AD-6337EA61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302506"/>
            <a:ext cx="4096717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iPhone 14 Pro · A16 Bionic · QoS utility</a:t>
            </a:r>
          </a:p>
        </p:txBody>
      </p:sp>
      <p:sp>
        <p:nvSpPr>
          <p:cNvPr id="6" name="hf-351">
            <a:extLst xmlns:a="http://schemas.openxmlformats.org/drawingml/2006/main">
              <a:ext uri="{FF2B5EF4-FFF2-40B4-BE49-F238E27FC236}">
                <a16:creationId xmlns:a16="http://schemas.microsoft.com/office/drawing/2014/main" id="{6632FBFC-A9B0-46E4-A18A-915788D5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677238"/>
            <a:ext cx="26257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нс / элемент · меньше — лучше</a:t>
            </a:r>
          </a:p>
        </p:txBody>
      </p:sp>
      <p:sp>
        <p:nvSpPr>
          <p:cNvPr id="7" name="hf-352">
            <a:extLst xmlns:a="http://schemas.openxmlformats.org/drawingml/2006/main">
              <a:ext uri="{FF2B5EF4-FFF2-40B4-BE49-F238E27FC236}">
                <a16:creationId xmlns:a16="http://schemas.microsoft.com/office/drawing/2014/main" id="{058D7684-5F21-4D91-AB49-BC57E119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997831"/>
            <a:ext cx="1483593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+ unique</a:t>
            </a:r>
          </a:p>
        </p:txBody>
      </p:sp>
      <p:sp>
        <p:nvSpPr>
          <p:cNvPr id="8" name="hf-353">
            <a:extLst xmlns:a="http://schemas.openxmlformats.org/drawingml/2006/main">
              <a:ext uri="{FF2B5EF4-FFF2-40B4-BE49-F238E27FC236}">
                <a16:creationId xmlns:a16="http://schemas.microsoft.com/office/drawing/2014/main" id="{C6D76BB6-009A-4509-99E2-E926FF92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992" y="1980571"/>
            <a:ext cx="822945" cy="3990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992"/>
              </a:lnSpc>
              <a:buNone/>
            </a:pPr>
            <a:r>
              <a:rPr sz="28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57,4</a:t>
            </a:r>
          </a:p>
        </p:txBody>
      </p:sp>
      <p:sp>
        <p:nvSpPr>
          <p:cNvPr id="9" name="hf-354">
            <a:extLst xmlns:a="http://schemas.openxmlformats.org/drawingml/2006/main">
              <a:ext uri="{FF2B5EF4-FFF2-40B4-BE49-F238E27FC236}">
                <a16:creationId xmlns:a16="http://schemas.microsoft.com/office/drawing/2014/main" id="{297A49EC-6ADD-48DF-90EB-CB07BE8B0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43150"/>
            <a:ext cx="947738" cy="2667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0">
            <a:noFill/>
          </a:ln>
        </p:spPr>
      </p:sp>
      <p:sp>
        <p:nvSpPr>
          <p:cNvPr id="10" name="hf-355">
            <a:extLst xmlns:a="http://schemas.openxmlformats.org/drawingml/2006/main">
              <a:ext uri="{FF2B5EF4-FFF2-40B4-BE49-F238E27FC236}">
                <a16:creationId xmlns:a16="http://schemas.microsoft.com/office/drawing/2014/main" id="{DE27C54C-4A49-4A7D-B952-8D2AFA7A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850318"/>
            <a:ext cx="1633314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unordered_set</a:t>
            </a:r>
          </a:p>
        </p:txBody>
      </p:sp>
      <p:sp>
        <p:nvSpPr>
          <p:cNvPr id="11" name="hf-356">
            <a:extLst xmlns:a="http://schemas.openxmlformats.org/drawingml/2006/main">
              <a:ext uri="{FF2B5EF4-FFF2-40B4-BE49-F238E27FC236}">
                <a16:creationId xmlns:a16="http://schemas.microsoft.com/office/drawing/2014/main" id="{28D05FCA-E003-407C-9813-7C868D41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5856" y="2833059"/>
            <a:ext cx="958081" cy="3990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992"/>
              </a:lnSpc>
              <a:buNone/>
            </a:pPr>
            <a:r>
              <a:rPr sz="2850" b="1" i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</a:rPr>
              <a:t>187,7</a:t>
            </a:r>
          </a:p>
        </p:txBody>
      </p:sp>
      <p:sp>
        <p:nvSpPr>
          <p:cNvPr id="12" name="hf-357">
            <a:extLst xmlns:a="http://schemas.openxmlformats.org/drawingml/2006/main">
              <a:ext uri="{FF2B5EF4-FFF2-40B4-BE49-F238E27FC236}">
                <a16:creationId xmlns:a16="http://schemas.microsoft.com/office/drawing/2014/main" id="{62B606C7-F562-48BC-ABE5-6BA8EA46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95638"/>
            <a:ext cx="3095625" cy="2667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2489B"/>
          </a:solidFill>
          <a:ln xmlns:a="http://schemas.openxmlformats.org/drawingml/2006/main" w="0">
            <a:noFill/>
          </a:ln>
        </p:spPr>
      </p:sp>
      <p:sp>
        <p:nvSpPr>
          <p:cNvPr id="13" name="hf-358">
            <a:extLst xmlns:a="http://schemas.openxmlformats.org/drawingml/2006/main">
              <a:ext uri="{FF2B5EF4-FFF2-40B4-BE49-F238E27FC236}">
                <a16:creationId xmlns:a16="http://schemas.microsoft.com/office/drawing/2014/main" id="{EC7B7363-7E42-430F-88BB-16D6D13C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919811"/>
            <a:ext cx="2690440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0125"/>
              </a:lnSpc>
              <a:buNone/>
            </a:pPr>
            <a:r>
              <a:rPr sz="10125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×3,3</a:t>
            </a:r>
          </a:p>
        </p:txBody>
      </p:sp>
      <p:sp>
        <p:nvSpPr>
          <p:cNvPr id="14" name="hf-359">
            <a:extLst xmlns:a="http://schemas.openxmlformats.org/drawingml/2006/main">
              <a:ext uri="{FF2B5EF4-FFF2-40B4-BE49-F238E27FC236}">
                <a16:creationId xmlns:a16="http://schemas.microsoft.com/office/drawing/2014/main" id="{97759268-CB18-4B5C-980F-5F676E4E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234995"/>
            <a:ext cx="1613297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sort + unique</a:t>
            </a:r>
          </a:p>
        </p:txBody>
      </p:sp>
      <p:sp>
        <p:nvSpPr>
          <p:cNvPr id="15" name="hf-360">
            <a:extLst xmlns:a="http://schemas.openxmlformats.org/drawingml/2006/main">
              <a:ext uri="{FF2B5EF4-FFF2-40B4-BE49-F238E27FC236}">
                <a16:creationId xmlns:a16="http://schemas.microsoft.com/office/drawing/2014/main" id="{CF860239-9E99-4B6F-A4A5-510E0419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520745"/>
            <a:ext cx="288049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быстрее unordered_set</a:t>
            </a:r>
          </a:p>
        </p:txBody>
      </p:sp>
      <p:sp>
        <p:nvSpPr>
          <p:cNvPr id="16" name="hf-361">
            <a:extLst xmlns:a="http://schemas.openxmlformats.org/drawingml/2006/main">
              <a:ext uri="{FF2B5EF4-FFF2-40B4-BE49-F238E27FC236}">
                <a16:creationId xmlns:a16="http://schemas.microsoft.com/office/drawing/2014/main" id="{C417FA9E-A4C7-4F9C-B8B1-B4CB5523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204973"/>
            <a:ext cx="4692476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52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1M id · половина уникальных · одинаковые входы</a:t>
            </a:r>
          </a:p>
        </p:txBody>
      </p:sp>
      <p:pic>
        <p:nvPicPr>
          <p:cNvPr id="17" name="hf-362">
            <a:extLst xmlns:a="http://schemas.openxmlformats.org/drawingml/2006/main">
              <a:ext uri="{FF2B5EF4-FFF2-40B4-BE49-F238E27FC236}">
                <a16:creationId xmlns:a16="http://schemas.microsoft.com/office/drawing/2014/main" id="{6FC3CB14-9E76-4EC0-BA8F-8A11E1F7F7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391d2128f34cb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18" name="hf-363">
            <a:extLst xmlns:a="http://schemas.openxmlformats.org/drawingml/2006/main">
              <a:ext uri="{FF2B5EF4-FFF2-40B4-BE49-F238E27FC236}">
                <a16:creationId xmlns:a16="http://schemas.microsoft.com/office/drawing/2014/main" id="{4E7BE274-530F-41B8-8FFC-C5CCB5B3E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73519259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19.xml><?xml version="1.0" encoding="utf-8"?>
<p:sld xmlns:p="http://schemas.openxmlformats.org/presentationml/2006/main">
  <p:cSld name="core-model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364">
            <a:extLst xmlns:a="http://schemas.openxmlformats.org/drawingml/2006/main">
              <a:ext uri="{FF2B5EF4-FFF2-40B4-BE49-F238E27FC236}">
                <a16:creationId xmlns:a16="http://schemas.microsoft.com/office/drawing/2014/main" id="{CAC040C4-A818-4F01-A8E5-50ECD7D3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442121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РАУНД </a:t>
            </a: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ИЗ 4 · ПРОЦЕССОР</a:t>
            </a:r>
          </a:p>
        </p:txBody>
      </p:sp>
      <p:sp>
        <p:nvSpPr>
          <p:cNvPr id="3" name="hf-365">
            <a:extLst xmlns:a="http://schemas.openxmlformats.org/drawingml/2006/main">
              <a:ext uri="{FF2B5EF4-FFF2-40B4-BE49-F238E27FC236}">
                <a16:creationId xmlns:a16="http://schemas.microsoft.com/office/drawing/2014/main" id="{25CB9CCF-A8C4-4070-832D-88FA18BF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067574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КРИВУЮ МЕНЯЮТ ЧАСТОТА И РАЗМЕР</a:t>
            </a:r>
          </a:p>
        </p:txBody>
      </p:sp>
      <p:sp>
        <p:nvSpPr>
          <p:cNvPr id="4" name="hf-366">
            <a:extLst xmlns:a="http://schemas.openxmlformats.org/drawingml/2006/main">
              <a:ext uri="{FF2B5EF4-FFF2-40B4-BE49-F238E27FC236}">
                <a16:creationId xmlns:a16="http://schemas.microsoft.com/office/drawing/2014/main" id="{8DE4967A-7A81-46E3-BA12-A93B7FB6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1002506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КЭША</a:t>
            </a:r>
          </a:p>
        </p:txBody>
      </p:sp>
      <p:sp>
        <p:nvSpPr>
          <p:cNvPr id="5" name="hf-367">
            <a:extLst xmlns:a="http://schemas.openxmlformats.org/drawingml/2006/main">
              <a:ext uri="{FF2B5EF4-FFF2-40B4-BE49-F238E27FC236}">
                <a16:creationId xmlns:a16="http://schemas.microsoft.com/office/drawing/2014/main" id="{F857CBD8-8783-4D0F-9B37-85D6FFDA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504950"/>
            <a:ext cx="3786188" cy="1666875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6" name="hf-368">
            <a:extLst xmlns:a="http://schemas.openxmlformats.org/drawingml/2006/main">
              <a:ext uri="{FF2B5EF4-FFF2-40B4-BE49-F238E27FC236}">
                <a16:creationId xmlns:a16="http://schemas.microsoft.com/office/drawing/2014/main" id="{E4E9A838-97D5-42EC-86D0-2DB256FA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504950"/>
            <a:ext cx="3786188" cy="1666875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7" name="hf-369">
            <a:extLst xmlns:a="http://schemas.openxmlformats.org/drawingml/2006/main">
              <a:ext uri="{FF2B5EF4-FFF2-40B4-BE49-F238E27FC236}">
                <a16:creationId xmlns:a16="http://schemas.microsoft.com/office/drawing/2014/main" id="{8C6BA581-D1D7-4A7E-B5CF-34A948E0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8" y="1766983"/>
            <a:ext cx="534367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5250"/>
              </a:lnSpc>
              <a:buNone/>
            </a:pPr>
            <a:r>
              <a:rPr sz="525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P</a:t>
            </a:r>
          </a:p>
        </p:txBody>
      </p:sp>
      <p:sp>
        <p:nvSpPr>
          <p:cNvPr id="8" name="hf-370">
            <a:extLst xmlns:a="http://schemas.openxmlformats.org/drawingml/2006/main">
              <a:ext uri="{FF2B5EF4-FFF2-40B4-BE49-F238E27FC236}">
                <a16:creationId xmlns:a16="http://schemas.microsoft.com/office/drawing/2014/main" id="{2DAFC8AE-29AC-45B7-90EB-006C90F3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0688" y="1773450"/>
            <a:ext cx="2332658" cy="292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56"/>
              </a:lnSpc>
              <a:buNone/>
            </a:pPr>
            <a:r>
              <a:rPr sz="17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Производительное</a:t>
            </a:r>
          </a:p>
        </p:txBody>
      </p:sp>
      <p:sp>
        <p:nvSpPr>
          <p:cNvPr id="9" name="hf-371">
            <a:extLst xmlns:a="http://schemas.openxmlformats.org/drawingml/2006/main">
              <a:ext uri="{FF2B5EF4-FFF2-40B4-BE49-F238E27FC236}">
                <a16:creationId xmlns:a16="http://schemas.microsoft.com/office/drawing/2014/main" id="{AD3394F1-EAD3-43DD-870A-8C589552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0688" y="2047294"/>
            <a:ext cx="635124" cy="292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56"/>
              </a:lnSpc>
              <a:buNone/>
            </a:pPr>
            <a:r>
              <a:rPr sz="17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ядро</a:t>
            </a:r>
          </a:p>
        </p:txBody>
      </p:sp>
      <p:sp>
        <p:nvSpPr>
          <p:cNvPr id="10" name="hf-372">
            <a:extLst xmlns:a="http://schemas.openxmlformats.org/drawingml/2006/main">
              <a:ext uri="{FF2B5EF4-FFF2-40B4-BE49-F238E27FC236}">
                <a16:creationId xmlns:a16="http://schemas.microsoft.com/office/drawing/2014/main" id="{02ACF59A-F099-43A4-B92E-94DEDF8B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766983"/>
            <a:ext cx="490984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5250"/>
              </a:lnSpc>
              <a:buNone/>
            </a:pPr>
            <a:r>
              <a:rPr sz="52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E</a:t>
            </a:r>
          </a:p>
        </p:txBody>
      </p:sp>
      <p:sp>
        <p:nvSpPr>
          <p:cNvPr id="11" name="hf-373">
            <a:extLst xmlns:a="http://schemas.openxmlformats.org/drawingml/2006/main">
              <a:ext uri="{FF2B5EF4-FFF2-40B4-BE49-F238E27FC236}">
                <a16:creationId xmlns:a16="http://schemas.microsoft.com/office/drawing/2014/main" id="{78E00775-2DD0-49C1-AE4C-C452FD4F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775079"/>
            <a:ext cx="2179216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Энергоэффективное</a:t>
            </a:r>
          </a:p>
        </p:txBody>
      </p:sp>
      <p:sp>
        <p:nvSpPr>
          <p:cNvPr id="12" name="hf-374">
            <a:extLst xmlns:a="http://schemas.openxmlformats.org/drawingml/2006/main">
              <a:ext uri="{FF2B5EF4-FFF2-40B4-BE49-F238E27FC236}">
                <a16:creationId xmlns:a16="http://schemas.microsoft.com/office/drawing/2014/main" id="{4498C146-E272-49A2-88A3-9BD14743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013204"/>
            <a:ext cx="559743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ядро</a:t>
            </a:r>
          </a:p>
        </p:txBody>
      </p:sp>
      <p:sp>
        <p:nvSpPr>
          <p:cNvPr id="13" name="hf-375">
            <a:extLst xmlns:a="http://schemas.openxmlformats.org/drawingml/2006/main">
              <a:ext uri="{FF2B5EF4-FFF2-40B4-BE49-F238E27FC236}">
                <a16:creationId xmlns:a16="http://schemas.microsoft.com/office/drawing/2014/main" id="{58FC1A71-5963-4BBA-B92E-6F09E504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8" y="2671448"/>
            <a:ext cx="2358703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52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Свой кэш и своя частота</a:t>
            </a:r>
          </a:p>
        </p:txBody>
      </p:sp>
      <p:sp>
        <p:nvSpPr>
          <p:cNvPr id="14" name="hf-376">
            <a:extLst xmlns:a="http://schemas.openxmlformats.org/drawingml/2006/main">
              <a:ext uri="{FF2B5EF4-FFF2-40B4-BE49-F238E27FC236}">
                <a16:creationId xmlns:a16="http://schemas.microsoft.com/office/drawing/2014/main" id="{78764432-AC23-4077-AB08-B4E6FBD2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671448"/>
            <a:ext cx="2358703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52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Свой кэш и своя частота</a:t>
            </a:r>
          </a:p>
        </p:txBody>
      </p:sp>
      <p:sp>
        <p:nvSpPr>
          <p:cNvPr id="15" name="hf-377">
            <a:extLst xmlns:a="http://schemas.openxmlformats.org/drawingml/2006/main">
              <a:ext uri="{FF2B5EF4-FFF2-40B4-BE49-F238E27FC236}">
                <a16:creationId xmlns:a16="http://schemas.microsoft.com/office/drawing/2014/main" id="{1DA62E01-ED2C-402A-BF77-64C80514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32417"/>
            <a:ext cx="525207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У разных типов ядер — разные параметры памяти</a:t>
            </a:r>
          </a:p>
        </p:txBody>
      </p:sp>
      <p:sp>
        <p:nvSpPr>
          <p:cNvPr id="16" name="hf-378">
            <a:extLst xmlns:a="http://schemas.openxmlformats.org/drawingml/2006/main">
              <a:ext uri="{FF2B5EF4-FFF2-40B4-BE49-F238E27FC236}">
                <a16:creationId xmlns:a16="http://schemas.microsoft.com/office/drawing/2014/main" id="{3EBC2C7F-7E3C-4C11-B356-716BAA5AC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705225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7" name="hf-379">
            <a:extLst xmlns:a="http://schemas.openxmlformats.org/drawingml/2006/main">
              <a:ext uri="{FF2B5EF4-FFF2-40B4-BE49-F238E27FC236}">
                <a16:creationId xmlns:a16="http://schemas.microsoft.com/office/drawing/2014/main" id="{E4AFE70B-86F6-4812-98F9-8E3C79F6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897525"/>
            <a:ext cx="960611" cy="292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56"/>
              </a:lnSpc>
              <a:buNone/>
            </a:pPr>
            <a:r>
              <a:rPr sz="1725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Частота</a:t>
            </a:r>
          </a:p>
        </p:txBody>
      </p:sp>
      <p:sp>
        <p:nvSpPr>
          <p:cNvPr id="18" name="hf-380">
            <a:extLst xmlns:a="http://schemas.openxmlformats.org/drawingml/2006/main">
              <a:ext uri="{FF2B5EF4-FFF2-40B4-BE49-F238E27FC236}">
                <a16:creationId xmlns:a16="http://schemas.microsoft.com/office/drawing/2014/main" id="{473DBDAA-9EE4-4126-A9CA-F5B5AE4D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194429"/>
            <a:ext cx="229775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меняет высоту кривой</a:t>
            </a:r>
          </a:p>
        </p:txBody>
      </p:sp>
      <p:sp>
        <p:nvSpPr>
          <p:cNvPr id="19" name="hf-381">
            <a:extLst xmlns:a="http://schemas.openxmlformats.org/drawingml/2006/main">
              <a:ext uri="{FF2B5EF4-FFF2-40B4-BE49-F238E27FC236}">
                <a16:creationId xmlns:a16="http://schemas.microsoft.com/office/drawing/2014/main" id="{B3B9DC78-69A8-4327-AA1E-7E7B9ECA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897525"/>
            <a:ext cx="1593949" cy="292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56"/>
              </a:lnSpc>
              <a:buNone/>
            </a:pPr>
            <a:r>
              <a:rPr sz="1725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Размер кэша</a:t>
            </a:r>
          </a:p>
        </p:txBody>
      </p:sp>
      <p:sp>
        <p:nvSpPr>
          <p:cNvPr id="20" name="hf-382">
            <a:extLst xmlns:a="http://schemas.openxmlformats.org/drawingml/2006/main">
              <a:ext uri="{FF2B5EF4-FFF2-40B4-BE49-F238E27FC236}">
                <a16:creationId xmlns:a16="http://schemas.microsoft.com/office/drawing/2014/main" id="{F9F914EC-D048-474A-9DF3-D46587C3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94429"/>
            <a:ext cx="27450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меняет положение излома</a:t>
            </a:r>
          </a:p>
        </p:txBody>
      </p:sp>
      <p:pic>
        <p:nvPicPr>
          <p:cNvPr id="21" name="hf-383">
            <a:extLst xmlns:a="http://schemas.openxmlformats.org/drawingml/2006/main">
              <a:ext uri="{FF2B5EF4-FFF2-40B4-BE49-F238E27FC236}">
                <a16:creationId xmlns:a16="http://schemas.microsoft.com/office/drawing/2014/main" id="{A7B730E8-723F-48B2-A7FC-9B53B19427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2ee1e741a4b5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2" name="hf-384">
            <a:extLst xmlns:a="http://schemas.openxmlformats.org/drawingml/2006/main">
              <a:ext uri="{FF2B5EF4-FFF2-40B4-BE49-F238E27FC236}">
                <a16:creationId xmlns:a16="http://schemas.microsoft.com/office/drawing/2014/main" id="{E0057D0A-1AFF-4B29-8CCB-7A719E95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48021711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p="http://schemas.openxmlformats.org/presentationml/2006/main">
  <p:cSld name="cores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385">
            <a:extLst xmlns:a="http://schemas.openxmlformats.org/drawingml/2006/main">
              <a:ext uri="{FF2B5EF4-FFF2-40B4-BE49-F238E27FC236}">
                <a16:creationId xmlns:a16="http://schemas.microsoft.com/office/drawing/2014/main" id="{822889DC-FECB-4BD4-BF76-1878CBC0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442121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РАУНД </a:t>
            </a: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ИЗ 4 · ПРОЦЕССОР</a:t>
            </a:r>
          </a:p>
        </p:txBody>
      </p:sp>
      <p:sp>
        <p:nvSpPr>
          <p:cNvPr id="3" name="hf-386">
            <a:extLst xmlns:a="http://schemas.openxmlformats.org/drawingml/2006/main">
              <a:ext uri="{FF2B5EF4-FFF2-40B4-BE49-F238E27FC236}">
                <a16:creationId xmlns:a16="http://schemas.microsoft.com/office/drawing/2014/main" id="{2A435B25-CA4C-4D86-9367-5E217507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597997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ИЗЛОМЫ ПОХОЖИ НА СМЕНУ ТИПА ЯДРА</a:t>
            </a:r>
          </a:p>
        </p:txBody>
      </p:sp>
      <p:sp>
        <p:nvSpPr>
          <p:cNvPr id="4" name="hf-387">
            <a:extLst xmlns:a="http://schemas.openxmlformats.org/drawingml/2006/main">
              <a:ext uri="{FF2B5EF4-FFF2-40B4-BE49-F238E27FC236}">
                <a16:creationId xmlns:a16="http://schemas.microsoft.com/office/drawing/2014/main" id="{492AE5D0-4439-4292-8658-79F1084A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326861"/>
            <a:ext cx="2679278" cy="269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69"/>
              </a:lnSpc>
              <a:buNone/>
            </a:pPr>
            <a:r>
              <a:rPr sz="157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iPhone 14 Pro · A16 Bionic</a:t>
            </a:r>
          </a:p>
        </p:txBody>
      </p:sp>
      <p:sp>
        <p:nvSpPr>
          <p:cNvPr id="5" name="hf-388">
            <a:extLst xmlns:a="http://schemas.openxmlformats.org/drawingml/2006/main">
              <a:ext uri="{FF2B5EF4-FFF2-40B4-BE49-F238E27FC236}">
                <a16:creationId xmlns:a16="http://schemas.microsoft.com/office/drawing/2014/main" id="{522DA3B1-12F6-4870-AD10-25B6F02F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605258"/>
            <a:ext cx="3195712" cy="221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94"/>
              </a:lnSpc>
              <a:buNone/>
            </a:pPr>
            <a:r>
              <a:rPr sz="127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нс на чтение · КиБ/МиБ · лог. шкалы</a:t>
            </a:r>
          </a:p>
        </p:txBody>
      </p:sp>
      <p:sp>
        <p:nvSpPr>
          <p:cNvPr id="6" name="hf-389">
            <a:extLst xmlns:a="http://schemas.openxmlformats.org/drawingml/2006/main">
              <a:ext uri="{FF2B5EF4-FFF2-40B4-BE49-F238E27FC236}">
                <a16:creationId xmlns:a16="http://schemas.microsoft.com/office/drawing/2014/main" id="{34CFBE29-35E2-4321-99CB-A42E2B90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14713"/>
            <a:ext cx="4524375" cy="953"/>
          </a:xfrm>
          <a:custGeom xmlns:a="http://schemas.openxmlformats.org/drawingml/2006/main">
            <a:pathLst>
              <a:path w="4524375" h="476">
                <a:moveTo>
                  <a:pt x="0" y="0"/>
                </a:moveTo>
                <a:lnTo>
                  <a:pt x="452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8F8F8F"/>
            </a:solidFill>
          </a:ln>
        </p:spPr>
      </p:sp>
      <p:sp>
        <p:nvSpPr>
          <p:cNvPr id="7" name="hf-390">
            <a:extLst xmlns:a="http://schemas.openxmlformats.org/drawingml/2006/main">
              <a:ext uri="{FF2B5EF4-FFF2-40B4-BE49-F238E27FC236}">
                <a16:creationId xmlns:a16="http://schemas.microsoft.com/office/drawing/2014/main" id="{72D889FD-4FE1-4131-8B85-E4CDA3F3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14713"/>
            <a:ext cx="4524375" cy="953"/>
          </a:xfrm>
          <a:custGeom xmlns:a="http://schemas.openxmlformats.org/drawingml/2006/main">
            <a:pathLst>
              <a:path w="4524375" h="476">
                <a:moveTo>
                  <a:pt x="0" y="0"/>
                </a:moveTo>
                <a:lnTo>
                  <a:pt x="452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333333"/>
            </a:solidFill>
          </a:ln>
        </p:spPr>
      </p:sp>
      <p:sp>
        <p:nvSpPr>
          <p:cNvPr id="8" name="hf-391">
            <a:extLst xmlns:a="http://schemas.openxmlformats.org/drawingml/2006/main">
              <a:ext uri="{FF2B5EF4-FFF2-40B4-BE49-F238E27FC236}">
                <a16:creationId xmlns:a16="http://schemas.microsoft.com/office/drawing/2014/main" id="{2353353D-C1DB-4BE1-9918-2FC278CC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0916" y="3290888"/>
            <a:ext cx="106859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8F8F8F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9" name="hf-392">
            <a:extLst xmlns:a="http://schemas.openxmlformats.org/drawingml/2006/main">
              <a:ext uri="{FF2B5EF4-FFF2-40B4-BE49-F238E27FC236}">
                <a16:creationId xmlns:a16="http://schemas.microsoft.com/office/drawing/2014/main" id="{B0F68308-0B6A-4FA9-BB0B-410E790B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25604"/>
            <a:ext cx="4524375" cy="953"/>
          </a:xfrm>
          <a:custGeom xmlns:a="http://schemas.openxmlformats.org/drawingml/2006/main">
            <a:pathLst>
              <a:path w="4524375" h="476">
                <a:moveTo>
                  <a:pt x="0" y="0"/>
                </a:moveTo>
                <a:lnTo>
                  <a:pt x="452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333333"/>
            </a:solidFill>
          </a:ln>
        </p:spPr>
      </p:sp>
      <p:sp>
        <p:nvSpPr>
          <p:cNvPr id="10" name="hf-393">
            <a:extLst xmlns:a="http://schemas.openxmlformats.org/drawingml/2006/main">
              <a:ext uri="{FF2B5EF4-FFF2-40B4-BE49-F238E27FC236}">
                <a16:creationId xmlns:a16="http://schemas.microsoft.com/office/drawing/2014/main" id="{480E5A57-36E3-441B-880A-3EBD913B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85" y="2801779"/>
            <a:ext cx="23299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8F8F8F"/>
                </a:solidFill>
                <a:latin typeface="Montserrat"/>
                <a:ea typeface="Montserrat"/>
                <a:cs typeface="Montserrat"/>
              </a:rPr>
              <a:t>10</a:t>
            </a:r>
          </a:p>
        </p:txBody>
      </p:sp>
      <p:sp>
        <p:nvSpPr>
          <p:cNvPr id="11" name="hf-394">
            <a:extLst xmlns:a="http://schemas.openxmlformats.org/drawingml/2006/main">
              <a:ext uri="{FF2B5EF4-FFF2-40B4-BE49-F238E27FC236}">
                <a16:creationId xmlns:a16="http://schemas.microsoft.com/office/drawing/2014/main" id="{204ED426-5743-4157-BF28-025EA304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36971"/>
            <a:ext cx="4524375" cy="953"/>
          </a:xfrm>
          <a:custGeom xmlns:a="http://schemas.openxmlformats.org/drawingml/2006/main">
            <a:pathLst>
              <a:path w="4524375" h="476">
                <a:moveTo>
                  <a:pt x="0" y="0"/>
                </a:moveTo>
                <a:lnTo>
                  <a:pt x="452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333333"/>
            </a:solidFill>
          </a:ln>
        </p:spPr>
      </p:sp>
      <p:sp>
        <p:nvSpPr>
          <p:cNvPr id="12" name="hf-395">
            <a:extLst xmlns:a="http://schemas.openxmlformats.org/drawingml/2006/main">
              <a:ext uri="{FF2B5EF4-FFF2-40B4-BE49-F238E27FC236}">
                <a16:creationId xmlns:a16="http://schemas.microsoft.com/office/drawing/2014/main" id="{7FE4711A-FD47-47BD-AC5A-162A4195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53" y="2313146"/>
            <a:ext cx="359122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8F8F8F"/>
                </a:solidFill>
                <a:latin typeface="Montserrat"/>
                <a:ea typeface="Montserrat"/>
                <a:cs typeface="Montserrat"/>
              </a:rPr>
              <a:t>100</a:t>
            </a:r>
          </a:p>
        </p:txBody>
      </p:sp>
      <p:sp>
        <p:nvSpPr>
          <p:cNvPr id="13" name="hf-396">
            <a:extLst xmlns:a="http://schemas.openxmlformats.org/drawingml/2006/main">
              <a:ext uri="{FF2B5EF4-FFF2-40B4-BE49-F238E27FC236}">
                <a16:creationId xmlns:a16="http://schemas.microsoft.com/office/drawing/2014/main" id="{ABCDCCCF-3ACE-4C88-AE3E-084FF963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14713"/>
            <a:ext cx="953" cy="38100"/>
          </a:xfrm>
          <a:custGeom xmlns:a="http://schemas.openxmlformats.org/drawingml/2006/main">
            <a:pathLst>
              <a:path w="476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8F8F8F"/>
            </a:solidFill>
          </a:ln>
        </p:spPr>
      </p:sp>
      <p:sp>
        <p:nvSpPr>
          <p:cNvPr id="14" name="hf-397">
            <a:extLst xmlns:a="http://schemas.openxmlformats.org/drawingml/2006/main">
              <a:ext uri="{FF2B5EF4-FFF2-40B4-BE49-F238E27FC236}">
                <a16:creationId xmlns:a16="http://schemas.microsoft.com/office/drawing/2014/main" id="{8EC677DB-9A35-4425-AE2A-E055EE257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154" y="3486150"/>
            <a:ext cx="356592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8F8F8F"/>
                </a:solidFill>
                <a:latin typeface="Montserrat"/>
                <a:ea typeface="Montserrat"/>
                <a:cs typeface="Montserrat"/>
              </a:rPr>
              <a:t>16К</a:t>
            </a:r>
          </a:p>
        </p:txBody>
      </p:sp>
      <p:sp>
        <p:nvSpPr>
          <p:cNvPr id="15" name="hf-398">
            <a:extLst xmlns:a="http://schemas.openxmlformats.org/drawingml/2006/main">
              <a:ext uri="{FF2B5EF4-FFF2-40B4-BE49-F238E27FC236}">
                <a16:creationId xmlns:a16="http://schemas.microsoft.com/office/drawing/2014/main" id="{6937489C-CCD5-4027-AC1B-ED955595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494" y="3414713"/>
            <a:ext cx="953" cy="38100"/>
          </a:xfrm>
          <a:custGeom xmlns:a="http://schemas.openxmlformats.org/drawingml/2006/main">
            <a:pathLst>
              <a:path w="476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8F8F8F"/>
            </a:solidFill>
          </a:ln>
        </p:spPr>
      </p:sp>
      <p:sp>
        <p:nvSpPr>
          <p:cNvPr id="16" name="hf-399">
            <a:extLst xmlns:a="http://schemas.openxmlformats.org/drawingml/2006/main">
              <a:ext uri="{FF2B5EF4-FFF2-40B4-BE49-F238E27FC236}">
                <a16:creationId xmlns:a16="http://schemas.microsoft.com/office/drawing/2014/main" id="{190CEA7D-35FB-465F-9168-F6E3A4B8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0395" y="3486150"/>
            <a:ext cx="470297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8F8F8F"/>
                </a:solidFill>
                <a:latin typeface="Montserrat"/>
                <a:ea typeface="Montserrat"/>
                <a:cs typeface="Montserrat"/>
              </a:rPr>
              <a:t>128К</a:t>
            </a:r>
          </a:p>
        </p:txBody>
      </p:sp>
      <p:sp>
        <p:nvSpPr>
          <p:cNvPr id="17" name="hf-400">
            <a:extLst xmlns:a="http://schemas.openxmlformats.org/drawingml/2006/main">
              <a:ext uri="{FF2B5EF4-FFF2-40B4-BE49-F238E27FC236}">
                <a16:creationId xmlns:a16="http://schemas.microsoft.com/office/drawing/2014/main" id="{8F5168B0-0D62-4DF0-8EDA-A4F46A08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3414713"/>
            <a:ext cx="953" cy="38100"/>
          </a:xfrm>
          <a:custGeom xmlns:a="http://schemas.openxmlformats.org/drawingml/2006/main">
            <a:pathLst>
              <a:path w="476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8F8F8F"/>
            </a:solidFill>
          </a:ln>
        </p:spPr>
      </p:sp>
      <p:sp>
        <p:nvSpPr>
          <p:cNvPr id="18" name="hf-401">
            <a:extLst xmlns:a="http://schemas.openxmlformats.org/drawingml/2006/main">
              <a:ext uri="{FF2B5EF4-FFF2-40B4-BE49-F238E27FC236}">
                <a16:creationId xmlns:a16="http://schemas.microsoft.com/office/drawing/2014/main" id="{BC7C510F-23DB-454F-A314-A4835039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456" y="3486150"/>
            <a:ext cx="290364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8F8F8F"/>
                </a:solidFill>
                <a:latin typeface="Montserrat"/>
                <a:ea typeface="Montserrat"/>
                <a:cs typeface="Montserrat"/>
              </a:rPr>
              <a:t>1М</a:t>
            </a:r>
          </a:p>
        </p:txBody>
      </p:sp>
      <p:sp>
        <p:nvSpPr>
          <p:cNvPr id="19" name="hf-402">
            <a:extLst xmlns:a="http://schemas.openxmlformats.org/drawingml/2006/main">
              <a:ext uri="{FF2B5EF4-FFF2-40B4-BE49-F238E27FC236}">
                <a16:creationId xmlns:a16="http://schemas.microsoft.com/office/drawing/2014/main" id="{DA1B1DD5-18F0-4212-8264-A8BBFEAF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5871" y="3414713"/>
            <a:ext cx="953" cy="38100"/>
          </a:xfrm>
          <a:custGeom xmlns:a="http://schemas.openxmlformats.org/drawingml/2006/main">
            <a:pathLst>
              <a:path w="476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8F8F8F"/>
            </a:solidFill>
          </a:ln>
        </p:spPr>
      </p:sp>
      <p:sp>
        <p:nvSpPr>
          <p:cNvPr id="20" name="hf-403">
            <a:extLst xmlns:a="http://schemas.openxmlformats.org/drawingml/2006/main">
              <a:ext uri="{FF2B5EF4-FFF2-40B4-BE49-F238E27FC236}">
                <a16:creationId xmlns:a16="http://schemas.microsoft.com/office/drawing/2014/main" id="{2685B42F-9A23-4360-8000-071CABCA1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1734" y="3486150"/>
            <a:ext cx="406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8F8F8F"/>
                </a:solidFill>
                <a:latin typeface="Montserrat"/>
                <a:ea typeface="Montserrat"/>
                <a:cs typeface="Montserrat"/>
              </a:rPr>
              <a:t>16М</a:t>
            </a:r>
          </a:p>
        </p:txBody>
      </p:sp>
      <p:sp>
        <p:nvSpPr>
          <p:cNvPr id="21" name="hf-404">
            <a:extLst xmlns:a="http://schemas.openxmlformats.org/drawingml/2006/main">
              <a:ext uri="{FF2B5EF4-FFF2-40B4-BE49-F238E27FC236}">
                <a16:creationId xmlns:a16="http://schemas.microsoft.com/office/drawing/2014/main" id="{71831FF4-8BF8-4D7C-A4F5-D9FA9669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414713"/>
            <a:ext cx="953" cy="38100"/>
          </a:xfrm>
          <a:custGeom xmlns:a="http://schemas.openxmlformats.org/drawingml/2006/main">
            <a:pathLst>
              <a:path w="476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8F8F8F"/>
            </a:solidFill>
          </a:ln>
        </p:spPr>
      </p:sp>
      <p:sp>
        <p:nvSpPr>
          <p:cNvPr id="22" name="hf-405">
            <a:extLst xmlns:a="http://schemas.openxmlformats.org/drawingml/2006/main">
              <a:ext uri="{FF2B5EF4-FFF2-40B4-BE49-F238E27FC236}">
                <a16:creationId xmlns:a16="http://schemas.microsoft.com/office/drawing/2014/main" id="{9567380C-4850-4855-AA2E-C1BD91F7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275" y="3486150"/>
            <a:ext cx="463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8F8F8F"/>
                </a:solidFill>
                <a:latin typeface="Montserrat"/>
                <a:ea typeface="Montserrat"/>
                <a:cs typeface="Montserrat"/>
              </a:rPr>
              <a:t>64М</a:t>
            </a:r>
          </a:p>
        </p:txBody>
      </p:sp>
      <p:sp>
        <p:nvSpPr>
          <p:cNvPr id="23" name="hf-406">
            <a:extLst xmlns:a="http://schemas.openxmlformats.org/drawingml/2006/main">
              <a:ext uri="{FF2B5EF4-FFF2-40B4-BE49-F238E27FC236}">
                <a16:creationId xmlns:a16="http://schemas.microsoft.com/office/drawing/2014/main" id="{64249572-DDDB-44BC-BA80-0D465896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96979"/>
            <a:ext cx="4524375" cy="800576"/>
          </a:xfrm>
          <a:custGeom xmlns:a="http://schemas.openxmlformats.org/drawingml/2006/main">
            <a:pathLst>
              <a:path w="4524375" h="800576">
                <a:moveTo>
                  <a:pt x="0" y="796766"/>
                </a:moveTo>
                <a:lnTo>
                  <a:pt x="220027" y="796766"/>
                </a:lnTo>
                <a:lnTo>
                  <a:pt x="374809" y="796766"/>
                </a:lnTo>
                <a:lnTo>
                  <a:pt x="594836" y="796766"/>
                </a:lnTo>
                <a:lnTo>
                  <a:pt x="756285" y="796766"/>
                </a:lnTo>
                <a:lnTo>
                  <a:pt x="976313" y="800576"/>
                </a:lnTo>
                <a:lnTo>
                  <a:pt x="1131094" y="800576"/>
                </a:lnTo>
                <a:lnTo>
                  <a:pt x="1351121" y="543877"/>
                </a:lnTo>
                <a:lnTo>
                  <a:pt x="1505903" y="536257"/>
                </a:lnTo>
                <a:lnTo>
                  <a:pt x="1725930" y="536257"/>
                </a:lnTo>
                <a:lnTo>
                  <a:pt x="1887379" y="536257"/>
                </a:lnTo>
                <a:lnTo>
                  <a:pt x="2107406" y="536257"/>
                </a:lnTo>
                <a:lnTo>
                  <a:pt x="2262188" y="536257"/>
                </a:lnTo>
                <a:lnTo>
                  <a:pt x="2482215" y="536257"/>
                </a:lnTo>
                <a:lnTo>
                  <a:pt x="2636996" y="536257"/>
                </a:lnTo>
                <a:lnTo>
                  <a:pt x="2857024" y="525304"/>
                </a:lnTo>
                <a:lnTo>
                  <a:pt x="3018472" y="513398"/>
                </a:lnTo>
                <a:lnTo>
                  <a:pt x="3238500" y="498634"/>
                </a:lnTo>
                <a:lnTo>
                  <a:pt x="3393281" y="494824"/>
                </a:lnTo>
                <a:lnTo>
                  <a:pt x="3613309" y="457200"/>
                </a:lnTo>
                <a:lnTo>
                  <a:pt x="3768090" y="404336"/>
                </a:lnTo>
                <a:lnTo>
                  <a:pt x="3988118" y="279559"/>
                </a:lnTo>
                <a:lnTo>
                  <a:pt x="4149566" y="143351"/>
                </a:lnTo>
                <a:lnTo>
                  <a:pt x="4369594" y="38100"/>
                </a:lnTo>
                <a:lnTo>
                  <a:pt x="452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24" name="hf-407">
            <a:extLst xmlns:a="http://schemas.openxmlformats.org/drawingml/2006/main">
              <a:ext uri="{FF2B5EF4-FFF2-40B4-BE49-F238E27FC236}">
                <a16:creationId xmlns:a16="http://schemas.microsoft.com/office/drawing/2014/main" id="{2462B56D-E553-4526-B966-BC1CE7CB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08359"/>
            <a:ext cx="4524375" cy="853440"/>
          </a:xfrm>
          <a:custGeom xmlns:a="http://schemas.openxmlformats.org/drawingml/2006/main">
            <a:pathLst>
              <a:path w="4524375" h="853440">
                <a:moveTo>
                  <a:pt x="0" y="853440"/>
                </a:moveTo>
                <a:lnTo>
                  <a:pt x="220027" y="853440"/>
                </a:lnTo>
                <a:lnTo>
                  <a:pt x="374809" y="853440"/>
                </a:lnTo>
                <a:lnTo>
                  <a:pt x="594836" y="853440"/>
                </a:lnTo>
                <a:lnTo>
                  <a:pt x="756285" y="853440"/>
                </a:lnTo>
                <a:lnTo>
                  <a:pt x="976313" y="626745"/>
                </a:lnTo>
                <a:lnTo>
                  <a:pt x="1131094" y="592455"/>
                </a:lnTo>
                <a:lnTo>
                  <a:pt x="1351121" y="634365"/>
                </a:lnTo>
                <a:lnTo>
                  <a:pt x="1505903" y="622935"/>
                </a:lnTo>
                <a:lnTo>
                  <a:pt x="1725930" y="619125"/>
                </a:lnTo>
                <a:lnTo>
                  <a:pt x="1887379" y="619125"/>
                </a:lnTo>
                <a:lnTo>
                  <a:pt x="2107406" y="615791"/>
                </a:lnTo>
                <a:lnTo>
                  <a:pt x="2262188" y="619125"/>
                </a:lnTo>
                <a:lnTo>
                  <a:pt x="2482215" y="619125"/>
                </a:lnTo>
                <a:lnTo>
                  <a:pt x="2636996" y="603885"/>
                </a:lnTo>
                <a:lnTo>
                  <a:pt x="2857024" y="513397"/>
                </a:lnTo>
                <a:lnTo>
                  <a:pt x="3018472" y="445294"/>
                </a:lnTo>
                <a:lnTo>
                  <a:pt x="3238500" y="384810"/>
                </a:lnTo>
                <a:lnTo>
                  <a:pt x="3393281" y="358616"/>
                </a:lnTo>
                <a:lnTo>
                  <a:pt x="3613309" y="317183"/>
                </a:lnTo>
                <a:lnTo>
                  <a:pt x="3768090" y="196215"/>
                </a:lnTo>
                <a:lnTo>
                  <a:pt x="3988118" y="124778"/>
                </a:lnTo>
                <a:lnTo>
                  <a:pt x="4149566" y="71437"/>
                </a:lnTo>
                <a:lnTo>
                  <a:pt x="4369594" y="18574"/>
                </a:lnTo>
                <a:lnTo>
                  <a:pt x="452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F8F8F"/>
            </a:solidFill>
            <a:custDash>
              <a:ds d="233333" sp="166667"/>
            </a:custDash>
          </a:ln>
        </p:spPr>
      </p:sp>
      <p:sp>
        <p:nvSpPr>
          <p:cNvPr id="25" name="hf-408">
            <a:extLst xmlns:a="http://schemas.openxmlformats.org/drawingml/2006/main">
              <a:ext uri="{FF2B5EF4-FFF2-40B4-BE49-F238E27FC236}">
                <a16:creationId xmlns:a16="http://schemas.microsoft.com/office/drawing/2014/main" id="{E5BA84AC-CDB6-411F-A6BB-6E4A3355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36971"/>
            <a:ext cx="4524375" cy="781050"/>
          </a:xfrm>
          <a:custGeom xmlns:a="http://schemas.openxmlformats.org/drawingml/2006/main">
            <a:pathLst>
              <a:path w="4524375" h="781050">
                <a:moveTo>
                  <a:pt x="0" y="781050"/>
                </a:moveTo>
                <a:lnTo>
                  <a:pt x="220027" y="781050"/>
                </a:lnTo>
                <a:lnTo>
                  <a:pt x="374809" y="781050"/>
                </a:lnTo>
                <a:lnTo>
                  <a:pt x="594836" y="781050"/>
                </a:lnTo>
                <a:lnTo>
                  <a:pt x="756285" y="773906"/>
                </a:lnTo>
                <a:lnTo>
                  <a:pt x="976313" y="547211"/>
                </a:lnTo>
                <a:lnTo>
                  <a:pt x="1131094" y="551021"/>
                </a:lnTo>
                <a:lnTo>
                  <a:pt x="1351121" y="551021"/>
                </a:lnTo>
                <a:lnTo>
                  <a:pt x="1505903" y="551021"/>
                </a:lnTo>
                <a:lnTo>
                  <a:pt x="1725930" y="551021"/>
                </a:lnTo>
                <a:lnTo>
                  <a:pt x="1887379" y="547211"/>
                </a:lnTo>
                <a:lnTo>
                  <a:pt x="2107406" y="551021"/>
                </a:lnTo>
                <a:lnTo>
                  <a:pt x="2262188" y="539591"/>
                </a:lnTo>
                <a:lnTo>
                  <a:pt x="2482215" y="362426"/>
                </a:lnTo>
                <a:lnTo>
                  <a:pt x="2636996" y="532448"/>
                </a:lnTo>
                <a:lnTo>
                  <a:pt x="2857024" y="498158"/>
                </a:lnTo>
                <a:lnTo>
                  <a:pt x="3018472" y="350996"/>
                </a:lnTo>
                <a:lnTo>
                  <a:pt x="3238500" y="275273"/>
                </a:lnTo>
                <a:lnTo>
                  <a:pt x="3393281" y="245269"/>
                </a:lnTo>
                <a:lnTo>
                  <a:pt x="3613309" y="184785"/>
                </a:lnTo>
                <a:lnTo>
                  <a:pt x="3768090" y="131921"/>
                </a:lnTo>
                <a:lnTo>
                  <a:pt x="3988118" y="79058"/>
                </a:lnTo>
                <a:lnTo>
                  <a:pt x="4149566" y="52388"/>
                </a:lnTo>
                <a:lnTo>
                  <a:pt x="4369594" y="18574"/>
                </a:lnTo>
                <a:lnTo>
                  <a:pt x="452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46CDAE"/>
            </a:solidFill>
          </a:ln>
        </p:spPr>
      </p:sp>
      <p:sp>
        <p:nvSpPr>
          <p:cNvPr id="26" name="hf-409">
            <a:extLst xmlns:a="http://schemas.openxmlformats.org/drawingml/2006/main">
              <a:ext uri="{FF2B5EF4-FFF2-40B4-BE49-F238E27FC236}">
                <a16:creationId xmlns:a16="http://schemas.microsoft.com/office/drawing/2014/main" id="{8DD6C196-C4C5-4519-8CE1-451DB8BB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89629"/>
            <a:ext cx="1306562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userInitiated</a:t>
            </a:r>
          </a:p>
        </p:txBody>
      </p:sp>
      <p:sp>
        <p:nvSpPr>
          <p:cNvPr id="27" name="hf-410">
            <a:extLst xmlns:a="http://schemas.openxmlformats.org/drawingml/2006/main">
              <a:ext uri="{FF2B5EF4-FFF2-40B4-BE49-F238E27FC236}">
                <a16:creationId xmlns:a16="http://schemas.microsoft.com/office/drawing/2014/main" id="{645C2955-FE64-42EE-A7BB-422A9B88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813" y="3889629"/>
            <a:ext cx="125350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background</a:t>
            </a:r>
          </a:p>
        </p:txBody>
      </p:sp>
      <p:sp>
        <p:nvSpPr>
          <p:cNvPr id="28" name="hf-411">
            <a:extLst xmlns:a="http://schemas.openxmlformats.org/drawingml/2006/main">
              <a:ext uri="{FF2B5EF4-FFF2-40B4-BE49-F238E27FC236}">
                <a16:creationId xmlns:a16="http://schemas.microsoft.com/office/drawing/2014/main" id="{113976B8-1597-4394-A772-6B048062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89629"/>
            <a:ext cx="617488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utility</a:t>
            </a:r>
          </a:p>
        </p:txBody>
      </p:sp>
      <p:sp>
        <p:nvSpPr>
          <p:cNvPr id="29" name="hf-412">
            <a:extLst xmlns:a="http://schemas.openxmlformats.org/drawingml/2006/main">
              <a:ext uri="{FF2B5EF4-FFF2-40B4-BE49-F238E27FC236}">
                <a16:creationId xmlns:a16="http://schemas.microsoft.com/office/drawing/2014/main" id="{BAFA1F6C-16A5-40BA-BD53-546D0980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063" y="1326861"/>
            <a:ext cx="1368996" cy="269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69"/>
              </a:lnSpc>
              <a:buNone/>
            </a:pPr>
            <a:r>
              <a:rPr sz="157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Mac · M2 Pro</a:t>
            </a:r>
          </a:p>
        </p:txBody>
      </p:sp>
      <p:sp>
        <p:nvSpPr>
          <p:cNvPr id="30" name="hf-413">
            <a:extLst xmlns:a="http://schemas.openxmlformats.org/drawingml/2006/main">
              <a:ext uri="{FF2B5EF4-FFF2-40B4-BE49-F238E27FC236}">
                <a16:creationId xmlns:a16="http://schemas.microsoft.com/office/drawing/2014/main" id="{11A039D5-5535-48D0-A32C-A10A3716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063" y="1614783"/>
            <a:ext cx="1177826" cy="221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94"/>
              </a:lnSpc>
              <a:buNone/>
            </a:pPr>
            <a:r>
              <a:rPr sz="127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тот же метод</a:t>
            </a:r>
          </a:p>
        </p:txBody>
      </p:sp>
      <p:sp>
        <p:nvSpPr>
          <p:cNvPr id="31" name="hf-414">
            <a:extLst xmlns:a="http://schemas.openxmlformats.org/drawingml/2006/main">
              <a:ext uri="{FF2B5EF4-FFF2-40B4-BE49-F238E27FC236}">
                <a16:creationId xmlns:a16="http://schemas.microsoft.com/office/drawing/2014/main" id="{362D5641-C0DE-4ADF-B825-174213206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462338"/>
            <a:ext cx="1776413" cy="953"/>
          </a:xfrm>
          <a:custGeom xmlns:a="http://schemas.openxmlformats.org/drawingml/2006/main">
            <a:pathLst>
              <a:path w="1776413" h="476">
                <a:moveTo>
                  <a:pt x="0" y="0"/>
                </a:moveTo>
                <a:lnTo>
                  <a:pt x="17764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8F8F8F"/>
            </a:solidFill>
          </a:ln>
        </p:spPr>
      </p:sp>
      <p:sp>
        <p:nvSpPr>
          <p:cNvPr id="32" name="hf-415">
            <a:extLst xmlns:a="http://schemas.openxmlformats.org/drawingml/2006/main">
              <a:ext uri="{FF2B5EF4-FFF2-40B4-BE49-F238E27FC236}">
                <a16:creationId xmlns:a16="http://schemas.microsoft.com/office/drawing/2014/main" id="{AF7BE0B1-FDD0-4616-8F76-4CD7F13C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462338"/>
            <a:ext cx="1776413" cy="953"/>
          </a:xfrm>
          <a:custGeom xmlns:a="http://schemas.openxmlformats.org/drawingml/2006/main">
            <a:pathLst>
              <a:path w="1776413" h="476">
                <a:moveTo>
                  <a:pt x="0" y="0"/>
                </a:moveTo>
                <a:lnTo>
                  <a:pt x="17764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333333"/>
            </a:solidFill>
          </a:ln>
        </p:spPr>
      </p:sp>
      <p:sp>
        <p:nvSpPr>
          <p:cNvPr id="33" name="hf-416">
            <a:extLst xmlns:a="http://schemas.openxmlformats.org/drawingml/2006/main">
              <a:ext uri="{FF2B5EF4-FFF2-40B4-BE49-F238E27FC236}">
                <a16:creationId xmlns:a16="http://schemas.microsoft.com/office/drawing/2014/main" id="{EF5AAB82-8D28-419E-99F4-0B99BF1E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0641" y="3338513"/>
            <a:ext cx="106859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8F8F8F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34" name="hf-417">
            <a:extLst xmlns:a="http://schemas.openxmlformats.org/drawingml/2006/main">
              <a:ext uri="{FF2B5EF4-FFF2-40B4-BE49-F238E27FC236}">
                <a16:creationId xmlns:a16="http://schemas.microsoft.com/office/drawing/2014/main" id="{B1652589-D668-4224-BEC2-3B4DA05F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973229"/>
            <a:ext cx="1776413" cy="953"/>
          </a:xfrm>
          <a:custGeom xmlns:a="http://schemas.openxmlformats.org/drawingml/2006/main">
            <a:pathLst>
              <a:path w="1776413" h="476">
                <a:moveTo>
                  <a:pt x="0" y="0"/>
                </a:moveTo>
                <a:lnTo>
                  <a:pt x="17764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333333"/>
            </a:solidFill>
          </a:ln>
        </p:spPr>
      </p:sp>
      <p:sp>
        <p:nvSpPr>
          <p:cNvPr id="35" name="hf-418">
            <a:extLst xmlns:a="http://schemas.openxmlformats.org/drawingml/2006/main">
              <a:ext uri="{FF2B5EF4-FFF2-40B4-BE49-F238E27FC236}">
                <a16:creationId xmlns:a16="http://schemas.microsoft.com/office/drawing/2014/main" id="{F678C12A-11E4-4DBC-9DD1-65D5061D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4510" y="2849404"/>
            <a:ext cx="23299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8F8F8F"/>
                </a:solidFill>
                <a:latin typeface="Montserrat"/>
                <a:ea typeface="Montserrat"/>
                <a:cs typeface="Montserrat"/>
              </a:rPr>
              <a:t>10</a:t>
            </a:r>
          </a:p>
        </p:txBody>
      </p:sp>
      <p:sp>
        <p:nvSpPr>
          <p:cNvPr id="36" name="hf-419">
            <a:extLst xmlns:a="http://schemas.openxmlformats.org/drawingml/2006/main">
              <a:ext uri="{FF2B5EF4-FFF2-40B4-BE49-F238E27FC236}">
                <a16:creationId xmlns:a16="http://schemas.microsoft.com/office/drawing/2014/main" id="{CB18459D-0CD2-4B81-AC56-AB06B4BD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84596"/>
            <a:ext cx="1776413" cy="953"/>
          </a:xfrm>
          <a:custGeom xmlns:a="http://schemas.openxmlformats.org/drawingml/2006/main">
            <a:pathLst>
              <a:path w="1776413" h="476">
                <a:moveTo>
                  <a:pt x="0" y="0"/>
                </a:moveTo>
                <a:lnTo>
                  <a:pt x="17764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333333"/>
            </a:solidFill>
          </a:ln>
        </p:spPr>
      </p:sp>
      <p:sp>
        <p:nvSpPr>
          <p:cNvPr id="37" name="hf-420">
            <a:extLst xmlns:a="http://schemas.openxmlformats.org/drawingml/2006/main">
              <a:ext uri="{FF2B5EF4-FFF2-40B4-BE49-F238E27FC236}">
                <a16:creationId xmlns:a16="http://schemas.microsoft.com/office/drawing/2014/main" id="{5BCBD11A-4F28-4B90-9E1A-CF5DF928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8378" y="2360771"/>
            <a:ext cx="359122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8F8F8F"/>
                </a:solidFill>
                <a:latin typeface="Montserrat"/>
                <a:ea typeface="Montserrat"/>
                <a:cs typeface="Montserrat"/>
              </a:rPr>
              <a:t>100</a:t>
            </a:r>
          </a:p>
        </p:txBody>
      </p:sp>
      <p:sp>
        <p:nvSpPr>
          <p:cNvPr id="38" name="hf-421">
            <a:extLst xmlns:a="http://schemas.openxmlformats.org/drawingml/2006/main">
              <a:ext uri="{FF2B5EF4-FFF2-40B4-BE49-F238E27FC236}">
                <a16:creationId xmlns:a16="http://schemas.microsoft.com/office/drawing/2014/main" id="{6D41873A-D2C3-4A80-AEA7-47EFCD0A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462338"/>
            <a:ext cx="953" cy="38100"/>
          </a:xfrm>
          <a:custGeom xmlns:a="http://schemas.openxmlformats.org/drawingml/2006/main">
            <a:pathLst>
              <a:path w="476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8F8F8F"/>
            </a:solidFill>
          </a:ln>
        </p:spPr>
      </p:sp>
      <p:sp>
        <p:nvSpPr>
          <p:cNvPr id="39" name="hf-422">
            <a:extLst xmlns:a="http://schemas.openxmlformats.org/drawingml/2006/main">
              <a:ext uri="{FF2B5EF4-FFF2-40B4-BE49-F238E27FC236}">
                <a16:creationId xmlns:a16="http://schemas.microsoft.com/office/drawing/2014/main" id="{E74BD5D2-4B57-485A-9744-B3FB4B18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5879" y="3533775"/>
            <a:ext cx="356592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8F8F8F"/>
                </a:solidFill>
                <a:latin typeface="Montserrat"/>
                <a:ea typeface="Montserrat"/>
                <a:cs typeface="Montserrat"/>
              </a:rPr>
              <a:t>16К</a:t>
            </a:r>
          </a:p>
        </p:txBody>
      </p:sp>
      <p:sp>
        <p:nvSpPr>
          <p:cNvPr id="40" name="hf-423">
            <a:extLst xmlns:a="http://schemas.openxmlformats.org/drawingml/2006/main">
              <a:ext uri="{FF2B5EF4-FFF2-40B4-BE49-F238E27FC236}">
                <a16:creationId xmlns:a16="http://schemas.microsoft.com/office/drawing/2014/main" id="{DE4DF3F9-1647-481E-A707-99F534510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3331" y="3462338"/>
            <a:ext cx="953" cy="38100"/>
          </a:xfrm>
          <a:custGeom xmlns:a="http://schemas.openxmlformats.org/drawingml/2006/main">
            <a:pathLst>
              <a:path w="476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8F8F8F"/>
            </a:solidFill>
          </a:ln>
        </p:spPr>
      </p:sp>
      <p:sp>
        <p:nvSpPr>
          <p:cNvPr id="41" name="hf-424">
            <a:extLst xmlns:a="http://schemas.openxmlformats.org/drawingml/2006/main">
              <a:ext uri="{FF2B5EF4-FFF2-40B4-BE49-F238E27FC236}">
                <a16:creationId xmlns:a16="http://schemas.microsoft.com/office/drawing/2014/main" id="{416AD6CB-4444-4B3A-9AD0-20CDD24D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99" y="3533775"/>
            <a:ext cx="290364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8F8F8F"/>
                </a:solidFill>
                <a:latin typeface="Montserrat"/>
                <a:ea typeface="Montserrat"/>
                <a:cs typeface="Montserrat"/>
              </a:rPr>
              <a:t>1М</a:t>
            </a:r>
          </a:p>
        </p:txBody>
      </p:sp>
      <p:sp>
        <p:nvSpPr>
          <p:cNvPr id="42" name="hf-425">
            <a:extLst xmlns:a="http://schemas.openxmlformats.org/drawingml/2006/main">
              <a:ext uri="{FF2B5EF4-FFF2-40B4-BE49-F238E27FC236}">
                <a16:creationId xmlns:a16="http://schemas.microsoft.com/office/drawing/2014/main" id="{3973E972-24AE-4104-BD88-F38D2020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1538" y="3462338"/>
            <a:ext cx="953" cy="38100"/>
          </a:xfrm>
          <a:custGeom xmlns:a="http://schemas.openxmlformats.org/drawingml/2006/main">
            <a:pathLst>
              <a:path w="476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8F8F8F"/>
            </a:solidFill>
          </a:ln>
        </p:spPr>
      </p:sp>
      <p:sp>
        <p:nvSpPr>
          <p:cNvPr id="43" name="hf-426">
            <a:extLst xmlns:a="http://schemas.openxmlformats.org/drawingml/2006/main">
              <a:ext uri="{FF2B5EF4-FFF2-40B4-BE49-F238E27FC236}">
                <a16:creationId xmlns:a16="http://schemas.microsoft.com/office/drawing/2014/main" id="{FAA5AFF5-80ED-40C9-A5D4-39878AA3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6038" y="3533775"/>
            <a:ext cx="463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8F8F8F"/>
                </a:solidFill>
                <a:latin typeface="Montserrat"/>
                <a:ea typeface="Montserrat"/>
                <a:cs typeface="Montserrat"/>
              </a:rPr>
              <a:t>64М</a:t>
            </a:r>
          </a:p>
        </p:txBody>
      </p:sp>
      <p:sp>
        <p:nvSpPr>
          <p:cNvPr id="44" name="hf-427">
            <a:extLst xmlns:a="http://schemas.openxmlformats.org/drawingml/2006/main">
              <a:ext uri="{FF2B5EF4-FFF2-40B4-BE49-F238E27FC236}">
                <a16:creationId xmlns:a16="http://schemas.microsoft.com/office/drawing/2014/main" id="{3AC92074-2440-4AD3-ADAF-5F8FC9C7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73166"/>
            <a:ext cx="1776413" cy="872014"/>
          </a:xfrm>
          <a:custGeom xmlns:a="http://schemas.openxmlformats.org/drawingml/2006/main">
            <a:pathLst>
              <a:path w="1776413" h="872014">
                <a:moveTo>
                  <a:pt x="0" y="872014"/>
                </a:moveTo>
                <a:lnTo>
                  <a:pt x="86201" y="864394"/>
                </a:lnTo>
                <a:lnTo>
                  <a:pt x="147161" y="868204"/>
                </a:lnTo>
                <a:lnTo>
                  <a:pt x="233363" y="868204"/>
                </a:lnTo>
                <a:lnTo>
                  <a:pt x="296704" y="864394"/>
                </a:lnTo>
                <a:lnTo>
                  <a:pt x="383381" y="864394"/>
                </a:lnTo>
                <a:lnTo>
                  <a:pt x="443865" y="864394"/>
                </a:lnTo>
                <a:lnTo>
                  <a:pt x="530542" y="622935"/>
                </a:lnTo>
                <a:lnTo>
                  <a:pt x="591502" y="596741"/>
                </a:lnTo>
                <a:lnTo>
                  <a:pt x="677704" y="592931"/>
                </a:lnTo>
                <a:lnTo>
                  <a:pt x="741045" y="600551"/>
                </a:lnTo>
                <a:lnTo>
                  <a:pt x="827246" y="592931"/>
                </a:lnTo>
                <a:lnTo>
                  <a:pt x="888206" y="592931"/>
                </a:lnTo>
                <a:lnTo>
                  <a:pt x="974408" y="592931"/>
                </a:lnTo>
                <a:lnTo>
                  <a:pt x="1035367" y="592931"/>
                </a:lnTo>
                <a:lnTo>
                  <a:pt x="1121569" y="592931"/>
                </a:lnTo>
                <a:lnTo>
                  <a:pt x="1184910" y="592931"/>
                </a:lnTo>
                <a:lnTo>
                  <a:pt x="1271588" y="566261"/>
                </a:lnTo>
                <a:lnTo>
                  <a:pt x="1332547" y="517207"/>
                </a:lnTo>
                <a:lnTo>
                  <a:pt x="1418749" y="203835"/>
                </a:lnTo>
                <a:lnTo>
                  <a:pt x="1479709" y="56674"/>
                </a:lnTo>
                <a:lnTo>
                  <a:pt x="1565910" y="33814"/>
                </a:lnTo>
                <a:lnTo>
                  <a:pt x="1629251" y="15240"/>
                </a:lnTo>
                <a:lnTo>
                  <a:pt x="1715453" y="0"/>
                </a:lnTo>
                <a:lnTo>
                  <a:pt x="1776413" y="381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45" name="hf-428">
            <a:extLst xmlns:a="http://schemas.openxmlformats.org/drawingml/2006/main">
              <a:ext uri="{FF2B5EF4-FFF2-40B4-BE49-F238E27FC236}">
                <a16:creationId xmlns:a16="http://schemas.microsoft.com/office/drawing/2014/main" id="{D0633656-21C2-4A0C-AD3A-E113BCE8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284571"/>
            <a:ext cx="1776413" cy="872014"/>
          </a:xfrm>
          <a:custGeom xmlns:a="http://schemas.openxmlformats.org/drawingml/2006/main">
            <a:pathLst>
              <a:path w="1776413" h="872014">
                <a:moveTo>
                  <a:pt x="0" y="872014"/>
                </a:moveTo>
                <a:lnTo>
                  <a:pt x="86201" y="800100"/>
                </a:lnTo>
                <a:lnTo>
                  <a:pt x="147161" y="803910"/>
                </a:lnTo>
                <a:lnTo>
                  <a:pt x="233363" y="815340"/>
                </a:lnTo>
                <a:lnTo>
                  <a:pt x="296704" y="803910"/>
                </a:lnTo>
                <a:lnTo>
                  <a:pt x="383381" y="607695"/>
                </a:lnTo>
                <a:lnTo>
                  <a:pt x="443865" y="607695"/>
                </a:lnTo>
                <a:lnTo>
                  <a:pt x="530542" y="554831"/>
                </a:lnTo>
                <a:lnTo>
                  <a:pt x="591502" y="558641"/>
                </a:lnTo>
                <a:lnTo>
                  <a:pt x="677704" y="611505"/>
                </a:lnTo>
                <a:lnTo>
                  <a:pt x="741045" y="581501"/>
                </a:lnTo>
                <a:lnTo>
                  <a:pt x="827246" y="554831"/>
                </a:lnTo>
                <a:lnTo>
                  <a:pt x="888206" y="614839"/>
                </a:lnTo>
                <a:lnTo>
                  <a:pt x="974408" y="614839"/>
                </a:lnTo>
                <a:lnTo>
                  <a:pt x="1035367" y="626269"/>
                </a:lnTo>
                <a:lnTo>
                  <a:pt x="1121569" y="452914"/>
                </a:lnTo>
                <a:lnTo>
                  <a:pt x="1184910" y="161925"/>
                </a:lnTo>
                <a:lnTo>
                  <a:pt x="1271588" y="67628"/>
                </a:lnTo>
                <a:lnTo>
                  <a:pt x="1332547" y="41434"/>
                </a:lnTo>
                <a:lnTo>
                  <a:pt x="1418749" y="37148"/>
                </a:lnTo>
                <a:lnTo>
                  <a:pt x="1479709" y="14764"/>
                </a:lnTo>
                <a:lnTo>
                  <a:pt x="1565910" y="7144"/>
                </a:lnTo>
                <a:lnTo>
                  <a:pt x="1629251" y="45244"/>
                </a:lnTo>
                <a:lnTo>
                  <a:pt x="1715453" y="0"/>
                </a:lnTo>
                <a:lnTo>
                  <a:pt x="1776413" y="7144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F8F8F"/>
            </a:solidFill>
            <a:custDash>
              <a:ds d="233333" sp="166667"/>
            </a:custDash>
          </a:ln>
        </p:spPr>
      </p:sp>
      <p:sp>
        <p:nvSpPr>
          <p:cNvPr id="46" name="hf-429">
            <a:extLst xmlns:a="http://schemas.openxmlformats.org/drawingml/2006/main">
              <a:ext uri="{FF2B5EF4-FFF2-40B4-BE49-F238E27FC236}">
                <a16:creationId xmlns:a16="http://schemas.microsoft.com/office/drawing/2014/main" id="{678B4213-39A1-4D43-8CEB-7F1050FB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290698"/>
            <a:ext cx="5351190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52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utility-кривая похожа на E-ядро; это косвенный признак</a:t>
            </a:r>
          </a:p>
        </p:txBody>
      </p:sp>
      <p:pic>
        <p:nvPicPr>
          <p:cNvPr id="47" name="hf-430">
            <a:extLst xmlns:a="http://schemas.openxmlformats.org/drawingml/2006/main">
              <a:ext uri="{FF2B5EF4-FFF2-40B4-BE49-F238E27FC236}">
                <a16:creationId xmlns:a16="http://schemas.microsoft.com/office/drawing/2014/main" id="{F9EFF4D7-6AF0-4D40-9E45-034D4042EB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9010eac574430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48" name="hf-431">
            <a:extLst xmlns:a="http://schemas.openxmlformats.org/drawingml/2006/main">
              <a:ext uri="{FF2B5EF4-FFF2-40B4-BE49-F238E27FC236}">
                <a16:creationId xmlns:a16="http://schemas.microsoft.com/office/drawing/2014/main" id="{BF291751-418E-4987-9408-86316275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98149958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2" grpId="0" animBg="1"/>
      <p:bldP spid="26" grpId="0" animBg="1"/>
      <p:bldP spid="27" grpId="0" animBg="1"/>
      <p:bldP spid="28" grpId="0" animBg="1"/>
      <p:bldP spid="46" grpId="0" animBg="1"/>
      <p:bldP spid="29" grpId="0" animBg="1"/>
      <p:bldP spid="30" grpId="0" animBg="1"/>
      <p:bldP spid="33" grpId="0" animBg="1"/>
      <p:bldP spid="35" grpId="0" animBg="1"/>
      <p:bldP spid="37" grpId="0" animBg="1"/>
      <p:bldP spid="39" grpId="0" animBg="1"/>
      <p:bldP spid="41" grpId="0" animBg="1"/>
      <p:bldP spid="43" grpId="0" animBg="1"/>
    </p:bldLst>
  </p:timing>
</p:sld>
</file>

<file path=ppt/slides/slide21.xml><?xml version="1.0" encoding="utf-8"?>
<p:sld xmlns:p="http://schemas.openxmlformats.org/presentationml/2006/main">
  <p:cSld name="flip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432">
            <a:extLst xmlns:a="http://schemas.openxmlformats.org/drawingml/2006/main">
              <a:ext uri="{FF2B5EF4-FFF2-40B4-BE49-F238E27FC236}">
                <a16:creationId xmlns:a16="http://schemas.microsoft.com/office/drawing/2014/main" id="{4FF77D93-F930-4D61-A07B-DB506ED0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442121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РАУНД </a:t>
            </a: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ИЗ 4 · ПРОЦЕССОР</a:t>
            </a:r>
          </a:p>
        </p:txBody>
      </p:sp>
      <p:sp>
        <p:nvSpPr>
          <p:cNvPr id="3" name="hf-433">
            <a:extLst xmlns:a="http://schemas.openxmlformats.org/drawingml/2006/main">
              <a:ext uri="{FF2B5EF4-FFF2-40B4-BE49-F238E27FC236}">
                <a16:creationId xmlns:a16="http://schemas.microsoft.com/office/drawing/2014/main" id="{4553A433-0E3F-463B-9C02-9914CC94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92797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ОДИН БЕНЧМАРК — РАЗНЫЕ ОТВЕТЫ</a:t>
            </a:r>
          </a:p>
        </p:txBody>
      </p:sp>
      <p:sp>
        <p:nvSpPr>
          <p:cNvPr id="4" name="hf-434">
            <a:extLst xmlns:a="http://schemas.openxmlformats.org/drawingml/2006/main">
              <a:ext uri="{FF2B5EF4-FFF2-40B4-BE49-F238E27FC236}">
                <a16:creationId xmlns:a16="http://schemas.microsoft.com/office/drawing/2014/main" id="{30E5C84D-E7DC-469F-BE29-9F145527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309983"/>
            <a:ext cx="6211937" cy="221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94"/>
              </a:lnSpc>
              <a:buNone/>
            </a:pPr>
            <a:r>
              <a:rPr sz="127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sort + unique против unordered_set · U = N/2 · × — выигрыш по времени</a:t>
            </a:r>
          </a:p>
        </p:txBody>
      </p:sp>
      <p:sp>
        <p:nvSpPr>
          <p:cNvPr id="5" name="hf-435">
            <a:extLst xmlns:a="http://schemas.openxmlformats.org/drawingml/2006/main">
              <a:ext uri="{FF2B5EF4-FFF2-40B4-BE49-F238E27FC236}">
                <a16:creationId xmlns:a16="http://schemas.microsoft.com/office/drawing/2014/main" id="{D0438072-C71A-4F56-BBD2-79594966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678743"/>
            <a:ext cx="226963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</a:t>
            </a:r>
          </a:p>
        </p:txBody>
      </p:sp>
      <p:sp>
        <p:nvSpPr>
          <p:cNvPr id="6" name="hf-436">
            <a:extLst xmlns:a="http://schemas.openxmlformats.org/drawingml/2006/main">
              <a:ext uri="{FF2B5EF4-FFF2-40B4-BE49-F238E27FC236}">
                <a16:creationId xmlns:a16="http://schemas.microsoft.com/office/drawing/2014/main" id="{3F7B98EE-788D-40AC-A553-5B432724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0313" y="1622136"/>
            <a:ext cx="1048048" cy="269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69"/>
              </a:lnSpc>
              <a:buNone/>
            </a:pPr>
            <a:r>
              <a:rPr sz="157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Linux x86</a:t>
            </a:r>
          </a:p>
        </p:txBody>
      </p:sp>
      <p:sp>
        <p:nvSpPr>
          <p:cNvPr id="7" name="hf-437">
            <a:extLst xmlns:a="http://schemas.openxmlformats.org/drawingml/2006/main">
              <a:ext uri="{FF2B5EF4-FFF2-40B4-BE49-F238E27FC236}">
                <a16:creationId xmlns:a16="http://schemas.microsoft.com/office/drawing/2014/main" id="{91B23814-1CDC-4306-963F-4000367D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0313" y="1896313"/>
            <a:ext cx="1454721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повтор · Xeon VM</a:t>
            </a:r>
          </a:p>
        </p:txBody>
      </p:sp>
      <p:sp>
        <p:nvSpPr>
          <p:cNvPr id="8" name="hf-438">
            <a:extLst xmlns:a="http://schemas.openxmlformats.org/drawingml/2006/main">
              <a:ext uri="{FF2B5EF4-FFF2-40B4-BE49-F238E27FC236}">
                <a16:creationId xmlns:a16="http://schemas.microsoft.com/office/drawing/2014/main" id="{A2676417-76F9-437F-9AE6-3745A2F6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688" y="1622679"/>
            <a:ext cx="13970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iPhone 14 Pro</a:t>
            </a:r>
          </a:p>
        </p:txBody>
      </p:sp>
      <p:sp>
        <p:nvSpPr>
          <p:cNvPr id="9" name="hf-439">
            <a:extLst xmlns:a="http://schemas.openxmlformats.org/drawingml/2006/main">
              <a:ext uri="{FF2B5EF4-FFF2-40B4-BE49-F238E27FC236}">
                <a16:creationId xmlns:a16="http://schemas.microsoft.com/office/drawing/2014/main" id="{5AC77E10-9A0F-4740-96F7-A09E38451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688" y="1896313"/>
            <a:ext cx="869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QoS utility</a:t>
            </a:r>
          </a:p>
        </p:txBody>
      </p:sp>
      <p:sp>
        <p:nvSpPr>
          <p:cNvPr id="10" name="hf-440">
            <a:extLst xmlns:a="http://schemas.openxmlformats.org/drawingml/2006/main">
              <a:ext uri="{FF2B5EF4-FFF2-40B4-BE49-F238E27FC236}">
                <a16:creationId xmlns:a16="http://schemas.microsoft.com/office/drawing/2014/main" id="{51BCDB51-84FA-4C1F-93DC-AF378E0C0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622679"/>
            <a:ext cx="1199927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Mac M2 Pro</a:t>
            </a:r>
          </a:p>
        </p:txBody>
      </p:sp>
      <p:sp>
        <p:nvSpPr>
          <p:cNvPr id="11" name="hf-441">
            <a:extLst xmlns:a="http://schemas.openxmlformats.org/drawingml/2006/main">
              <a:ext uri="{FF2B5EF4-FFF2-40B4-BE49-F238E27FC236}">
                <a16:creationId xmlns:a16="http://schemas.microsoft.com/office/drawing/2014/main" id="{36D4680B-9B08-4049-9122-0F09C697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96313"/>
            <a:ext cx="10566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userInitiated</a:t>
            </a:r>
          </a:p>
        </p:txBody>
      </p:sp>
      <p:sp>
        <p:nvSpPr>
          <p:cNvPr id="12" name="hf-442">
            <a:extLst xmlns:a="http://schemas.openxmlformats.org/drawingml/2006/main">
              <a:ext uri="{FF2B5EF4-FFF2-40B4-BE49-F238E27FC236}">
                <a16:creationId xmlns:a16="http://schemas.microsoft.com/office/drawing/2014/main" id="{05C0D2E8-085E-4022-A4EB-67490947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19075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3" name="hf-443">
            <a:extLst xmlns:a="http://schemas.openxmlformats.org/drawingml/2006/main">
              <a:ext uri="{FF2B5EF4-FFF2-40B4-BE49-F238E27FC236}">
                <a16:creationId xmlns:a16="http://schemas.microsoft.com/office/drawing/2014/main" id="{A6A96CA0-FE57-4DF5-AC50-A80D453D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277732"/>
            <a:ext cx="522461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64K</a:t>
            </a:r>
          </a:p>
        </p:txBody>
      </p:sp>
      <p:sp>
        <p:nvSpPr>
          <p:cNvPr id="14" name="hf-444">
            <a:extLst xmlns:a="http://schemas.openxmlformats.org/drawingml/2006/main">
              <a:ext uri="{FF2B5EF4-FFF2-40B4-BE49-F238E27FC236}">
                <a16:creationId xmlns:a16="http://schemas.microsoft.com/office/drawing/2014/main" id="{A45D261E-478B-468A-9550-8565AF25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0313" y="2274056"/>
            <a:ext cx="1089273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хеш ×1,64</a:t>
            </a:r>
          </a:p>
        </p:txBody>
      </p:sp>
      <p:sp>
        <p:nvSpPr>
          <p:cNvPr id="15" name="hf-445">
            <a:extLst xmlns:a="http://schemas.openxmlformats.org/drawingml/2006/main">
              <a:ext uri="{FF2B5EF4-FFF2-40B4-BE49-F238E27FC236}">
                <a16:creationId xmlns:a16="http://schemas.microsoft.com/office/drawing/2014/main" id="{6F1B29F6-4943-4E58-940C-5BA045B7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688" y="2274056"/>
            <a:ext cx="1038820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≈ близко</a:t>
            </a:r>
          </a:p>
        </p:txBody>
      </p:sp>
      <p:sp>
        <p:nvSpPr>
          <p:cNvPr id="16" name="hf-446">
            <a:extLst xmlns:a="http://schemas.openxmlformats.org/drawingml/2006/main">
              <a:ext uri="{FF2B5EF4-FFF2-40B4-BE49-F238E27FC236}">
                <a16:creationId xmlns:a16="http://schemas.microsoft.com/office/drawing/2014/main" id="{76296A9A-54A8-42BC-ABE8-A4ADE37A4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74599"/>
            <a:ext cx="994172" cy="269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69"/>
              </a:lnSpc>
              <a:buNone/>
            </a:pPr>
            <a:r>
              <a:rPr sz="157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≈ близко</a:t>
            </a:r>
          </a:p>
        </p:txBody>
      </p:sp>
      <p:sp>
        <p:nvSpPr>
          <p:cNvPr id="17" name="hf-447">
            <a:extLst xmlns:a="http://schemas.openxmlformats.org/drawingml/2006/main">
              <a:ext uri="{FF2B5EF4-FFF2-40B4-BE49-F238E27FC236}">
                <a16:creationId xmlns:a16="http://schemas.microsoft.com/office/drawing/2014/main" id="{0561F949-C128-4B83-BDEC-CDCC782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719388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8" name="hf-448">
            <a:extLst xmlns:a="http://schemas.openxmlformats.org/drawingml/2006/main">
              <a:ext uri="{FF2B5EF4-FFF2-40B4-BE49-F238E27FC236}">
                <a16:creationId xmlns:a16="http://schemas.microsoft.com/office/drawing/2014/main" id="{D9495331-A6F8-4627-8394-13D85E81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806370"/>
            <a:ext cx="63378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256K</a:t>
            </a:r>
          </a:p>
        </p:txBody>
      </p:sp>
      <p:sp>
        <p:nvSpPr>
          <p:cNvPr id="19" name="hf-449">
            <a:extLst xmlns:a="http://schemas.openxmlformats.org/drawingml/2006/main">
              <a:ext uri="{FF2B5EF4-FFF2-40B4-BE49-F238E27FC236}">
                <a16:creationId xmlns:a16="http://schemas.microsoft.com/office/drawing/2014/main" id="{3207E886-9D67-47DB-8BC8-A69FEE2F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0313" y="2802693"/>
            <a:ext cx="1073572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хеш ×1,29</a:t>
            </a:r>
          </a:p>
        </p:txBody>
      </p:sp>
      <p:sp>
        <p:nvSpPr>
          <p:cNvPr id="20" name="hf-450">
            <a:extLst xmlns:a="http://schemas.openxmlformats.org/drawingml/2006/main">
              <a:ext uri="{FF2B5EF4-FFF2-40B4-BE49-F238E27FC236}">
                <a16:creationId xmlns:a16="http://schemas.microsoft.com/office/drawing/2014/main" id="{2CBF76F9-7966-467D-A262-32C0666B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688" y="2802693"/>
            <a:ext cx="916781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×1,3</a:t>
            </a:r>
          </a:p>
        </p:txBody>
      </p:sp>
      <p:sp>
        <p:nvSpPr>
          <p:cNvPr id="21" name="hf-451">
            <a:extLst xmlns:a="http://schemas.openxmlformats.org/drawingml/2006/main">
              <a:ext uri="{FF2B5EF4-FFF2-40B4-BE49-F238E27FC236}">
                <a16:creationId xmlns:a16="http://schemas.microsoft.com/office/drawing/2014/main" id="{9EE181FF-D142-4C73-9120-5C4C2097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03236"/>
            <a:ext cx="994172" cy="269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69"/>
              </a:lnSpc>
              <a:buNone/>
            </a:pPr>
            <a:r>
              <a:rPr sz="157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≈ близко</a:t>
            </a:r>
          </a:p>
        </p:txBody>
      </p:sp>
      <p:sp>
        <p:nvSpPr>
          <p:cNvPr id="22" name="hf-452">
            <a:extLst xmlns:a="http://schemas.openxmlformats.org/drawingml/2006/main">
              <a:ext uri="{FF2B5EF4-FFF2-40B4-BE49-F238E27FC236}">
                <a16:creationId xmlns:a16="http://schemas.microsoft.com/office/drawing/2014/main" id="{A82D50BE-658B-4F16-BB3E-0DFD4C7C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248025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23" name="hf-453">
            <a:extLst xmlns:a="http://schemas.openxmlformats.org/drawingml/2006/main">
              <a:ext uri="{FF2B5EF4-FFF2-40B4-BE49-F238E27FC236}">
                <a16:creationId xmlns:a16="http://schemas.microsoft.com/office/drawing/2014/main" id="{1331E68A-B6B0-4273-BEE8-DB511E37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35007"/>
            <a:ext cx="57745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512K</a:t>
            </a:r>
          </a:p>
        </p:txBody>
      </p:sp>
      <p:sp>
        <p:nvSpPr>
          <p:cNvPr id="24" name="hf-454">
            <a:extLst xmlns:a="http://schemas.openxmlformats.org/drawingml/2006/main">
              <a:ext uri="{FF2B5EF4-FFF2-40B4-BE49-F238E27FC236}">
                <a16:creationId xmlns:a16="http://schemas.microsoft.com/office/drawing/2014/main" id="{1C3EC34B-F147-4C6B-9D99-8A0EF8CA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0313" y="3331331"/>
            <a:ext cx="1016794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хеш ×1,12</a:t>
            </a:r>
          </a:p>
        </p:txBody>
      </p:sp>
      <p:sp>
        <p:nvSpPr>
          <p:cNvPr id="25" name="hf-455">
            <a:extLst xmlns:a="http://schemas.openxmlformats.org/drawingml/2006/main">
              <a:ext uri="{FF2B5EF4-FFF2-40B4-BE49-F238E27FC236}">
                <a16:creationId xmlns:a16="http://schemas.microsoft.com/office/drawing/2014/main" id="{786BDB71-AEF8-487A-A012-4BC7BF3B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688" y="3331331"/>
            <a:ext cx="924148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×1,9</a:t>
            </a:r>
          </a:p>
        </p:txBody>
      </p:sp>
      <p:sp>
        <p:nvSpPr>
          <p:cNvPr id="26" name="hf-456">
            <a:extLst xmlns:a="http://schemas.openxmlformats.org/drawingml/2006/main">
              <a:ext uri="{FF2B5EF4-FFF2-40B4-BE49-F238E27FC236}">
                <a16:creationId xmlns:a16="http://schemas.microsoft.com/office/drawing/2014/main" id="{A73FEE3C-29C7-43BF-B62E-4381CF4F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31874"/>
            <a:ext cx="994172" cy="269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69"/>
              </a:lnSpc>
              <a:buNone/>
            </a:pPr>
            <a:r>
              <a:rPr sz="157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≈ близко</a:t>
            </a:r>
          </a:p>
        </p:txBody>
      </p:sp>
      <p:sp>
        <p:nvSpPr>
          <p:cNvPr id="27" name="hf-457">
            <a:extLst xmlns:a="http://schemas.openxmlformats.org/drawingml/2006/main">
              <a:ext uri="{FF2B5EF4-FFF2-40B4-BE49-F238E27FC236}">
                <a16:creationId xmlns:a16="http://schemas.microsoft.com/office/drawing/2014/main" id="{65131F4F-BA14-4ACD-B040-A0AF5622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776663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28" name="hf-458">
            <a:extLst xmlns:a="http://schemas.openxmlformats.org/drawingml/2006/main">
              <a:ext uri="{FF2B5EF4-FFF2-40B4-BE49-F238E27FC236}">
                <a16:creationId xmlns:a16="http://schemas.microsoft.com/office/drawing/2014/main" id="{02E9B8CC-8B25-4EA8-951C-560E2662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863645"/>
            <a:ext cx="362471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1M</a:t>
            </a:r>
          </a:p>
        </p:txBody>
      </p:sp>
      <p:sp>
        <p:nvSpPr>
          <p:cNvPr id="29" name="hf-459">
            <a:extLst xmlns:a="http://schemas.openxmlformats.org/drawingml/2006/main">
              <a:ext uri="{FF2B5EF4-FFF2-40B4-BE49-F238E27FC236}">
                <a16:creationId xmlns:a16="http://schemas.microsoft.com/office/drawing/2014/main" id="{5E33FF41-3BA9-4D2B-BA7A-6E572E3E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0313" y="3859968"/>
            <a:ext cx="1038820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≈ близко</a:t>
            </a:r>
          </a:p>
        </p:txBody>
      </p:sp>
      <p:sp>
        <p:nvSpPr>
          <p:cNvPr id="30" name="hf-460">
            <a:extLst xmlns:a="http://schemas.openxmlformats.org/drawingml/2006/main">
              <a:ext uri="{FF2B5EF4-FFF2-40B4-BE49-F238E27FC236}">
                <a16:creationId xmlns:a16="http://schemas.microsoft.com/office/drawing/2014/main" id="{04EB86D4-115C-4074-AC04-4E926251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688" y="3859968"/>
            <a:ext cx="958974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×3,3</a:t>
            </a:r>
          </a:p>
        </p:txBody>
      </p:sp>
      <p:sp>
        <p:nvSpPr>
          <p:cNvPr id="31" name="hf-461">
            <a:extLst xmlns:a="http://schemas.openxmlformats.org/drawingml/2006/main">
              <a:ext uri="{FF2B5EF4-FFF2-40B4-BE49-F238E27FC236}">
                <a16:creationId xmlns:a16="http://schemas.microsoft.com/office/drawing/2014/main" id="{2F61B84A-B178-47B9-9391-C983D679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60511"/>
            <a:ext cx="877714" cy="269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69"/>
              </a:lnSpc>
              <a:buNone/>
            </a:pPr>
            <a:r>
              <a:rPr sz="1575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×1,3</a:t>
            </a:r>
          </a:p>
        </p:txBody>
      </p:sp>
      <p:sp>
        <p:nvSpPr>
          <p:cNvPr id="32" name="hf-462">
            <a:extLst xmlns:a="http://schemas.openxmlformats.org/drawingml/2006/main">
              <a:ext uri="{FF2B5EF4-FFF2-40B4-BE49-F238E27FC236}">
                <a16:creationId xmlns:a16="http://schemas.microsoft.com/office/drawing/2014/main" id="{6158524C-FCD6-46D9-BC8E-5FE84AF6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391730"/>
            <a:ext cx="6080820" cy="2419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755"/>
              </a:lnSpc>
              <a:buNone/>
            </a:pPr>
            <a:r>
              <a:rPr sz="13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CI отвечает про свою среду. Пользовательский код живёт в другой.</a:t>
            </a:r>
          </a:p>
        </p:txBody>
      </p:sp>
      <p:pic>
        <p:nvPicPr>
          <p:cNvPr id="33" name="hf-463">
            <a:extLst xmlns:a="http://schemas.openxmlformats.org/drawingml/2006/main">
              <a:ext uri="{FF2B5EF4-FFF2-40B4-BE49-F238E27FC236}">
                <a16:creationId xmlns:a16="http://schemas.microsoft.com/office/drawing/2014/main" id="{0791871C-36AF-484C-8FB8-42375AC65B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f809d2d7bd497c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34" name="hf-464">
            <a:extLst xmlns:a="http://schemas.openxmlformats.org/drawingml/2006/main">
              <a:ext uri="{FF2B5EF4-FFF2-40B4-BE49-F238E27FC236}">
                <a16:creationId xmlns:a16="http://schemas.microsoft.com/office/drawing/2014/main" id="{3FB68999-84D4-45B6-8B50-5E5750DA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31514260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8" grpId="0" animBg="1"/>
      <p:bldP spid="29" grpId="0" animBg="1"/>
      <p:bldP spid="30" grpId="0" animBg="1"/>
      <p:bldP spid="13" grpId="0" animBg="1"/>
      <p:bldP spid="14" grpId="0" animBg="1"/>
      <p:bldP spid="15" grpId="0" animBg="1"/>
      <p:bldP spid="23" grpId="0" animBg="1"/>
      <p:bldP spid="24" grpId="0" animBg="1"/>
      <p:bldP spid="25" grpId="0" animBg="1"/>
      <p:bldP spid="10" grpId="0" animBg="1"/>
      <p:bldP spid="11" grpId="0" animBg="1"/>
      <p:bldP spid="16" grpId="0" animBg="1"/>
      <p:bldP spid="21" grpId="0" animBg="1"/>
      <p:bldP spid="26" grpId="0" animBg="1"/>
      <p:bldP spid="31" grpId="0" animBg="1"/>
      <p:bldP spid="32" grpId="0" animBg="1"/>
    </p:bldLst>
  </p:timing>
</p:sld>
</file>

<file path=ppt/slides/slide22.xml><?xml version="1.0" encoding="utf-8"?>
<p:sld xmlns:p="http://schemas.openxmlformats.org/presentationml/2006/main">
  <p:cSld name="merge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465">
            <a:extLst xmlns:a="http://schemas.openxmlformats.org/drawingml/2006/main">
              <a:ext uri="{FF2B5EF4-FFF2-40B4-BE49-F238E27FC236}">
                <a16:creationId xmlns:a16="http://schemas.microsoft.com/office/drawing/2014/main" id="{5E9DC39A-9B89-4668-A13C-57E8F18B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792611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РАЗВЯЗКА · ИСХОДНАЯ ЗАДАЧА</a:t>
            </a:r>
          </a:p>
        </p:txBody>
      </p:sp>
      <p:sp>
        <p:nvSpPr>
          <p:cNvPr id="3" name="hf-466">
            <a:extLst xmlns:a="http://schemas.openxmlformats.org/drawingml/2006/main">
              <a:ext uri="{FF2B5EF4-FFF2-40B4-BE49-F238E27FC236}">
                <a16:creationId xmlns:a16="http://schemas.microsoft.com/office/drawing/2014/main" id="{4F9416B5-2891-4B8D-96DF-8ED283F2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448895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СОРТИРОВКА ДЕЛЬТЫ И СЛИЯНИЕ</a:t>
            </a:r>
          </a:p>
        </p:txBody>
      </p:sp>
      <p:sp>
        <p:nvSpPr>
          <p:cNvPr id="4" name="hf-467">
            <a:extLst xmlns:a="http://schemas.openxmlformats.org/drawingml/2006/main">
              <a:ext uri="{FF2B5EF4-FFF2-40B4-BE49-F238E27FC236}">
                <a16:creationId xmlns:a16="http://schemas.microsoft.com/office/drawing/2014/main" id="{A93B5426-754C-427E-9D35-54864498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76375"/>
            <a:ext cx="1952625" cy="619125"/>
          </a:xfrm>
          <a:custGeom xmlns:a="http://schemas.openxmlformats.org/drawingml/2006/main">
            <a:pathLst>
              <a:path w="1952625" h="619125">
                <a:moveTo>
                  <a:pt x="0" y="0"/>
                </a:moveTo>
                <a:lnTo>
                  <a:pt x="1714500" y="0"/>
                </a:lnTo>
                <a:lnTo>
                  <a:pt x="1952625" y="309563"/>
                </a:lnTo>
                <a:lnTo>
                  <a:pt x="1714500" y="619125"/>
                </a:lnTo>
                <a:lnTo>
                  <a:pt x="0" y="619125"/>
                </a:lnTo>
                <a:close/>
              </a:path>
            </a:pathLst>
          </a:custGeom>
          <a:solidFill xmlns:a="http://schemas.openxmlformats.org/drawingml/2006/main">
            <a:srgbClr val="46CDAE"/>
          </a:solidFill>
          <a:ln xmlns:a="http://schemas.openxmlformats.org/drawingml/2006/main" w="4763">
            <a:noFill/>
          </a:ln>
        </p:spPr>
      </p:sp>
      <p:sp>
        <p:nvSpPr>
          <p:cNvPr id="5" name="hf-468">
            <a:extLst xmlns:a="http://schemas.openxmlformats.org/drawingml/2006/main">
              <a:ext uri="{FF2B5EF4-FFF2-40B4-BE49-F238E27FC236}">
                <a16:creationId xmlns:a16="http://schemas.microsoft.com/office/drawing/2014/main" id="{4E55BE15-20C2-4972-8E24-69E9C677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3163" y="1476375"/>
            <a:ext cx="1952625" cy="619125"/>
          </a:xfrm>
          <a:custGeom xmlns:a="http://schemas.openxmlformats.org/drawingml/2006/main">
            <a:pathLst>
              <a:path w="1952625" h="619125">
                <a:moveTo>
                  <a:pt x="0" y="0"/>
                </a:moveTo>
                <a:lnTo>
                  <a:pt x="1714500" y="0"/>
                </a:lnTo>
                <a:lnTo>
                  <a:pt x="1952625" y="309563"/>
                </a:lnTo>
                <a:lnTo>
                  <a:pt x="1714500" y="619125"/>
                </a:lnTo>
                <a:lnTo>
                  <a:pt x="0" y="619125"/>
                </a:lnTo>
                <a:lnTo>
                  <a:pt x="238125" y="309563"/>
                </a:lnTo>
                <a:close/>
              </a:path>
            </a:pathLst>
          </a:custGeom>
          <a:solidFill xmlns:a="http://schemas.openxmlformats.org/drawingml/2006/main">
            <a:srgbClr val="46CDAE"/>
          </a:solidFill>
          <a:ln xmlns:a="http://schemas.openxmlformats.org/drawingml/2006/main" w="4763">
            <a:noFill/>
          </a:ln>
        </p:spPr>
      </p:sp>
      <p:sp>
        <p:nvSpPr>
          <p:cNvPr id="6" name="hf-469">
            <a:extLst xmlns:a="http://schemas.openxmlformats.org/drawingml/2006/main">
              <a:ext uri="{FF2B5EF4-FFF2-40B4-BE49-F238E27FC236}">
                <a16:creationId xmlns:a16="http://schemas.microsoft.com/office/drawing/2014/main" id="{634CC862-EA93-4C26-A763-75F66979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113" y="1476375"/>
            <a:ext cx="2238375" cy="619125"/>
          </a:xfrm>
          <a:custGeom xmlns:a="http://schemas.openxmlformats.org/drawingml/2006/main">
            <a:pathLst>
              <a:path w="2238375" h="619125">
                <a:moveTo>
                  <a:pt x="0" y="0"/>
                </a:moveTo>
                <a:lnTo>
                  <a:pt x="2000250" y="0"/>
                </a:lnTo>
                <a:lnTo>
                  <a:pt x="2238375" y="309563"/>
                </a:lnTo>
                <a:lnTo>
                  <a:pt x="2000250" y="619125"/>
                </a:lnTo>
                <a:lnTo>
                  <a:pt x="0" y="619125"/>
                </a:lnTo>
                <a:lnTo>
                  <a:pt x="238125" y="309563"/>
                </a:lnTo>
                <a:close/>
              </a:path>
            </a:pathLst>
          </a:custGeom>
          <a:solidFill xmlns:a="http://schemas.openxmlformats.org/drawingml/2006/main">
            <a:srgbClr val="46CDAE"/>
          </a:solidFill>
          <a:ln xmlns:a="http://schemas.openxmlformats.org/drawingml/2006/main" w="4763">
            <a:noFill/>
          </a:ln>
        </p:spPr>
      </p:sp>
      <p:sp>
        <p:nvSpPr>
          <p:cNvPr id="7" name="hf-470">
            <a:extLst xmlns:a="http://schemas.openxmlformats.org/drawingml/2006/main">
              <a:ext uri="{FF2B5EF4-FFF2-40B4-BE49-F238E27FC236}">
                <a16:creationId xmlns:a16="http://schemas.microsoft.com/office/drawing/2014/main" id="{2EE3727B-F1F8-42D9-A370-71A3DB39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27429"/>
            <a:ext cx="460846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sort</a:t>
            </a:r>
          </a:p>
        </p:txBody>
      </p:sp>
      <p:sp>
        <p:nvSpPr>
          <p:cNvPr id="8" name="hf-471">
            <a:extLst xmlns:a="http://schemas.openxmlformats.org/drawingml/2006/main">
              <a:ext uri="{FF2B5EF4-FFF2-40B4-BE49-F238E27FC236}">
                <a16:creationId xmlns:a16="http://schemas.microsoft.com/office/drawing/2014/main" id="{ACBC0D55-AC74-4FB2-8A5D-ADDFA91C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56029"/>
            <a:ext cx="1230734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0" i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дельты 64K</a:t>
            </a:r>
          </a:p>
        </p:txBody>
      </p:sp>
      <p:sp>
        <p:nvSpPr>
          <p:cNvPr id="9" name="hf-472">
            <a:extLst xmlns:a="http://schemas.openxmlformats.org/drawingml/2006/main">
              <a:ext uri="{FF2B5EF4-FFF2-40B4-BE49-F238E27FC236}">
                <a16:creationId xmlns:a16="http://schemas.microsoft.com/office/drawing/2014/main" id="{FE6E6CD4-8D5A-431A-B046-66FE47E3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6063" y="1651254"/>
            <a:ext cx="7678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unique</a:t>
            </a:r>
          </a:p>
        </p:txBody>
      </p:sp>
      <p:sp>
        <p:nvSpPr>
          <p:cNvPr id="10" name="hf-473">
            <a:extLst xmlns:a="http://schemas.openxmlformats.org/drawingml/2006/main">
              <a:ext uri="{FF2B5EF4-FFF2-40B4-BE49-F238E27FC236}">
                <a16:creationId xmlns:a16="http://schemas.microsoft.com/office/drawing/2014/main" id="{B0E615DB-7147-4369-9088-E8B58971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1063" y="1527429"/>
            <a:ext cx="662806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слить</a:t>
            </a:r>
          </a:p>
        </p:txBody>
      </p:sp>
      <p:sp>
        <p:nvSpPr>
          <p:cNvPr id="11" name="hf-474">
            <a:extLst xmlns:a="http://schemas.openxmlformats.org/drawingml/2006/main">
              <a:ext uri="{FF2B5EF4-FFF2-40B4-BE49-F238E27FC236}">
                <a16:creationId xmlns:a16="http://schemas.microsoft.com/office/drawing/2014/main" id="{B1D4315A-8D64-4505-89C8-8292048D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1063" y="1756029"/>
            <a:ext cx="1817489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0" i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с локальными 1M</a:t>
            </a:r>
          </a:p>
        </p:txBody>
      </p:sp>
      <p:sp>
        <p:nvSpPr>
          <p:cNvPr id="12" name="hf-475">
            <a:extLst xmlns:a="http://schemas.openxmlformats.org/drawingml/2006/main">
              <a:ext uri="{FF2B5EF4-FFF2-40B4-BE49-F238E27FC236}">
                <a16:creationId xmlns:a16="http://schemas.microsoft.com/office/drawing/2014/main" id="{9AF65712-E674-443D-9EFA-E89CAFE9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413" y="1476375"/>
            <a:ext cx="1857375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3" name="hf-476">
            <a:extLst xmlns:a="http://schemas.openxmlformats.org/drawingml/2006/main">
              <a:ext uri="{FF2B5EF4-FFF2-40B4-BE49-F238E27FC236}">
                <a16:creationId xmlns:a16="http://schemas.microsoft.com/office/drawing/2014/main" id="{EF46861A-0921-40A6-A069-F0A8C1C32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2957" y="1617917"/>
            <a:ext cx="1627361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Уникальные id</a:t>
            </a:r>
          </a:p>
        </p:txBody>
      </p:sp>
      <p:sp>
        <p:nvSpPr>
          <p:cNvPr id="14" name="hf-477">
            <a:extLst xmlns:a="http://schemas.openxmlformats.org/drawingml/2006/main">
              <a:ext uri="{FF2B5EF4-FFF2-40B4-BE49-F238E27FC236}">
                <a16:creationId xmlns:a16="http://schemas.microsoft.com/office/drawing/2014/main" id="{08DA0F50-646D-4F52-A248-C27DBD90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333625"/>
            <a:ext cx="8029575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</p:sp>
      <p:sp>
        <p:nvSpPr>
          <p:cNvPr id="15" name="hf-478">
            <a:extLst xmlns:a="http://schemas.openxmlformats.org/drawingml/2006/main">
              <a:ext uri="{FF2B5EF4-FFF2-40B4-BE49-F238E27FC236}">
                <a16:creationId xmlns:a16="http://schemas.microsoft.com/office/drawing/2014/main" id="{5903901B-C576-4BAD-B74A-1EF21B21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3" y="2752725"/>
            <a:ext cx="6191250" cy="276225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B2B26"/>
          </a:solidFill>
          <a:ln xmlns:a="http://schemas.openxmlformats.org/drawingml/2006/main" w="0">
            <a:noFill/>
          </a:ln>
        </p:spPr>
      </p:sp>
      <p:sp>
        <p:nvSpPr>
          <p:cNvPr id="16" name="hf-479">
            <a:extLst xmlns:a="http://schemas.openxmlformats.org/drawingml/2006/main">
              <a:ext uri="{FF2B5EF4-FFF2-40B4-BE49-F238E27FC236}">
                <a16:creationId xmlns:a16="http://schemas.microsoft.com/office/drawing/2014/main" id="{AE962803-51C1-4A21-9D4C-551580E0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2459546"/>
            <a:ext cx="3153817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75"/>
              </a:lnSpc>
              <a:buNone/>
            </a:pPr>
            <a:r>
              <a:rPr sz="1350" b="0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std::sort(D.begin(), D.end());</a:t>
            </a:r>
          </a:p>
        </p:txBody>
      </p:sp>
      <p:sp>
        <p:nvSpPr>
          <p:cNvPr id="17" name="hf-480">
            <a:extLst xmlns:a="http://schemas.openxmlformats.org/drawingml/2006/main">
              <a:ext uri="{FF2B5EF4-FFF2-40B4-BE49-F238E27FC236}">
                <a16:creationId xmlns:a16="http://schemas.microsoft.com/office/drawing/2014/main" id="{379C62CE-AD0B-41BD-A091-0D0E1EA9A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2735771"/>
            <a:ext cx="5218286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75"/>
              </a:lnSpc>
              <a:buNone/>
            </a:pPr>
            <a:r>
              <a:rPr sz="1350" b="0" i="0">
                <a:solidFill>
                  <a:srgbClr val="46CDAE"/>
                </a:solidFill>
                <a:latin typeface="Menlo"/>
                <a:ea typeface="Menlo"/>
                <a:cs typeface="Menlo"/>
              </a:rPr>
              <a:t>D.erase(std::unique(D.begin(), D.end()), D.end());</a:t>
            </a:r>
          </a:p>
        </p:txBody>
      </p:sp>
      <p:sp>
        <p:nvSpPr>
          <p:cNvPr id="18" name="hf-481">
            <a:extLst xmlns:a="http://schemas.openxmlformats.org/drawingml/2006/main">
              <a:ext uri="{FF2B5EF4-FFF2-40B4-BE49-F238E27FC236}">
                <a16:creationId xmlns:a16="http://schemas.microsoft.com/office/drawing/2014/main" id="{A63E622F-900D-4821-AE4C-BE174268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3011996"/>
            <a:ext cx="62504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75"/>
              </a:lnSpc>
              <a:buNone/>
            </a:pPr>
            <a:r>
              <a:rPr sz="1350" b="0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std::set_union(L.begin(), L.end(), D.begin(), D.end(), out);</a:t>
            </a:r>
          </a:p>
        </p:txBody>
      </p:sp>
      <p:sp>
        <p:nvSpPr>
          <p:cNvPr id="19" name="hf-482">
            <a:extLst xmlns:a="http://schemas.openxmlformats.org/drawingml/2006/main">
              <a:ext uri="{FF2B5EF4-FFF2-40B4-BE49-F238E27FC236}">
                <a16:creationId xmlns:a16="http://schemas.microsoft.com/office/drawing/2014/main" id="{990AF9EF-69CA-4725-915F-8EDDB70D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581" y="3272542"/>
            <a:ext cx="2286819" cy="2419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755"/>
              </a:lnSpc>
              <a:buNone/>
            </a:pPr>
            <a:r>
              <a:rPr sz="1350" b="0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без unique дубли дельты</a:t>
            </a:r>
          </a:p>
        </p:txBody>
      </p:sp>
      <p:sp>
        <p:nvSpPr>
          <p:cNvPr id="20" name="hf-483">
            <a:extLst xmlns:a="http://schemas.openxmlformats.org/drawingml/2006/main">
              <a:ext uri="{FF2B5EF4-FFF2-40B4-BE49-F238E27FC236}">
                <a16:creationId xmlns:a16="http://schemas.microsoft.com/office/drawing/2014/main" id="{A2258D27-CFA0-420D-A5E9-77FB16F1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6605" y="3495412"/>
            <a:ext cx="927795" cy="2419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755"/>
              </a:lnSpc>
              <a:buNone/>
            </a:pPr>
            <a:r>
              <a:rPr sz="1350" b="0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останутся</a:t>
            </a:r>
          </a:p>
        </p:txBody>
      </p:sp>
      <p:sp>
        <p:nvSpPr>
          <p:cNvPr id="21" name="hf-484">
            <a:extLst xmlns:a="http://schemas.openxmlformats.org/drawingml/2006/main">
              <a:ext uri="{FF2B5EF4-FFF2-40B4-BE49-F238E27FC236}">
                <a16:creationId xmlns:a16="http://schemas.microsoft.com/office/drawing/2014/main" id="{0EF2512C-6007-46EA-950F-43376C11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810429"/>
            <a:ext cx="2530376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875"/>
              </a:lnSpc>
              <a:buNone/>
            </a:pPr>
            <a:r>
              <a:rPr sz="4875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×3,5–6,6</a:t>
            </a:r>
          </a:p>
        </p:txBody>
      </p:sp>
      <p:sp>
        <p:nvSpPr>
          <p:cNvPr id="22" name="hf-485">
            <a:extLst xmlns:a="http://schemas.openxmlformats.org/drawingml/2006/main">
              <a:ext uri="{FF2B5EF4-FFF2-40B4-BE49-F238E27FC236}">
                <a16:creationId xmlns:a16="http://schemas.microsoft.com/office/drawing/2014/main" id="{EEF996F3-B934-4983-B99C-35E557F1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94379"/>
            <a:ext cx="292797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быстрее полной сортировки</a:t>
            </a:r>
          </a:p>
        </p:txBody>
      </p:sp>
      <p:sp>
        <p:nvSpPr>
          <p:cNvPr id="23" name="hf-486">
            <a:extLst xmlns:a="http://schemas.openxmlformats.org/drawingml/2006/main">
              <a:ext uri="{FF2B5EF4-FFF2-40B4-BE49-F238E27FC236}">
                <a16:creationId xmlns:a16="http://schemas.microsoft.com/office/drawing/2014/main" id="{91483EEF-CE7A-4D22-B338-552CFFE0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42029"/>
            <a:ext cx="136430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Замер на x86</a:t>
            </a:r>
          </a:p>
        </p:txBody>
      </p:sp>
      <p:pic>
        <p:nvPicPr>
          <p:cNvPr id="24" name="hf-487">
            <a:extLst xmlns:a="http://schemas.openxmlformats.org/drawingml/2006/main">
              <a:ext uri="{FF2B5EF4-FFF2-40B4-BE49-F238E27FC236}">
                <a16:creationId xmlns:a16="http://schemas.microsoft.com/office/drawing/2014/main" id="{1424AB5B-C510-4381-9866-B51980FAE5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cac27242d04ee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5" name="hf-488">
            <a:extLst xmlns:a="http://schemas.openxmlformats.org/drawingml/2006/main">
              <a:ext uri="{FF2B5EF4-FFF2-40B4-BE49-F238E27FC236}">
                <a16:creationId xmlns:a16="http://schemas.microsoft.com/office/drawing/2014/main" id="{369AF24B-AC2F-442A-B885-8D58BCD3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613104320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p="http://schemas.openxmlformats.org/presentationml/2006/main">
  <p:cSld name="prod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489">
            <a:extLst xmlns:a="http://schemas.openxmlformats.org/drawingml/2006/main">
              <a:ext uri="{FF2B5EF4-FFF2-40B4-BE49-F238E27FC236}">
                <a16:creationId xmlns:a16="http://schemas.microsoft.com/office/drawing/2014/main" id="{08A8A76D-2821-43AD-8507-66A0A775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112392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ПРАКТИЧЕСКИЙ ВЫБОР</a:t>
            </a:r>
          </a:p>
        </p:txBody>
      </p:sp>
      <p:sp>
        <p:nvSpPr>
          <p:cNvPr id="3" name="hf-490">
            <a:extLst xmlns:a="http://schemas.openxmlformats.org/drawingml/2006/main">
              <a:ext uri="{FF2B5EF4-FFF2-40B4-BE49-F238E27FC236}">
                <a16:creationId xmlns:a16="http://schemas.microsoft.com/office/drawing/2014/main" id="{3C4CF49F-A071-49E8-85B5-AB263B85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4187130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ЦЕНА В МИЛЛИСЕКУНДАХ</a:t>
            </a:r>
          </a:p>
        </p:txBody>
      </p:sp>
      <p:sp>
        <p:nvSpPr>
          <p:cNvPr id="4" name="hf-491">
            <a:extLst xmlns:a="http://schemas.openxmlformats.org/drawingml/2006/main">
              <a:ext uri="{FF2B5EF4-FFF2-40B4-BE49-F238E27FC236}">
                <a16:creationId xmlns:a16="http://schemas.microsoft.com/office/drawing/2014/main" id="{0ED6BB87-B9F5-481D-884A-8A0C5CD1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30007"/>
            <a:ext cx="582952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Лабораторная серия · iPhone 14 Pro · QoS utility</a:t>
            </a:r>
          </a:p>
        </p:txBody>
      </p:sp>
      <p:sp>
        <p:nvSpPr>
          <p:cNvPr id="5" name="hf-492">
            <a:extLst xmlns:a="http://schemas.openxmlformats.org/drawingml/2006/main">
              <a:ext uri="{FF2B5EF4-FFF2-40B4-BE49-F238E27FC236}">
                <a16:creationId xmlns:a16="http://schemas.microsoft.com/office/drawing/2014/main" id="{D8C81E17-5C2B-42F9-96DE-DBFA4FE3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953882"/>
            <a:ext cx="3800252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512K id · половина уникальных</a:t>
            </a:r>
          </a:p>
        </p:txBody>
      </p:sp>
      <p:sp>
        <p:nvSpPr>
          <p:cNvPr id="6" name="hf-493">
            <a:extLst xmlns:a="http://schemas.openxmlformats.org/drawingml/2006/main">
              <a:ext uri="{FF2B5EF4-FFF2-40B4-BE49-F238E27FC236}">
                <a16:creationId xmlns:a16="http://schemas.microsoft.com/office/drawing/2014/main" id="{B0F94951-F2C3-4208-BD82-E116B6813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328215"/>
            <a:ext cx="4000426" cy="3162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34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sort ≈29 мс · unordered_set ≈55 мс</a:t>
            </a:r>
          </a:p>
        </p:txBody>
      </p:sp>
      <p:sp>
        <p:nvSpPr>
          <p:cNvPr id="7" name="hf-494">
            <a:extLst xmlns:a="http://schemas.openxmlformats.org/drawingml/2006/main">
              <a:ext uri="{FF2B5EF4-FFF2-40B4-BE49-F238E27FC236}">
                <a16:creationId xmlns:a16="http://schemas.microsoft.com/office/drawing/2014/main" id="{88545C49-2F56-4458-AF75-559B1F08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790901"/>
            <a:ext cx="4658246" cy="579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410"/>
              </a:lnSpc>
              <a:buNone/>
            </a:pPr>
            <a:r>
              <a:rPr sz="4200" b="1" i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</a:rPr>
              <a:t>+26 мс · +12 МиБ</a:t>
            </a:r>
          </a:p>
        </p:txBody>
      </p:sp>
      <p:sp>
        <p:nvSpPr>
          <p:cNvPr id="8" name="hf-495">
            <a:extLst xmlns:a="http://schemas.openxmlformats.org/drawingml/2006/main">
              <a:ext uri="{FF2B5EF4-FFF2-40B4-BE49-F238E27FC236}">
                <a16:creationId xmlns:a16="http://schemas.microsoft.com/office/drawing/2014/main" id="{39880D4D-0A39-4992-A368-EC9382C2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441954"/>
            <a:ext cx="3546202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На тестовом 1M: ≈60 против ≈197 мс</a:t>
            </a:r>
          </a:p>
        </p:txBody>
      </p:sp>
      <p:sp>
        <p:nvSpPr>
          <p:cNvPr id="9" name="hf-496">
            <a:extLst xmlns:a="http://schemas.openxmlformats.org/drawingml/2006/main">
              <a:ext uri="{FF2B5EF4-FFF2-40B4-BE49-F238E27FC236}">
                <a16:creationId xmlns:a16="http://schemas.microsoft.com/office/drawing/2014/main" id="{8AAB49A2-6374-44C5-BD97-9415EB4F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992232"/>
            <a:ext cx="73390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Для нашего примера: сортировать дельту, убрать повторы,</a:t>
            </a:r>
          </a:p>
        </p:txBody>
      </p:sp>
      <p:sp>
        <p:nvSpPr>
          <p:cNvPr id="10" name="hf-497">
            <a:extLst xmlns:a="http://schemas.openxmlformats.org/drawingml/2006/main">
              <a:ext uri="{FF2B5EF4-FFF2-40B4-BE49-F238E27FC236}">
                <a16:creationId xmlns:a16="http://schemas.microsoft.com/office/drawing/2014/main" id="{5A52AAE2-54F5-4CB9-8C7C-82D88756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277982"/>
            <a:ext cx="748978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слить</a:t>
            </a:r>
          </a:p>
        </p:txBody>
      </p:sp>
      <p:pic>
        <p:nvPicPr>
          <p:cNvPr id="11" name="hf-498">
            <a:extLst xmlns:a="http://schemas.openxmlformats.org/drawingml/2006/main">
              <a:ext uri="{FF2B5EF4-FFF2-40B4-BE49-F238E27FC236}">
                <a16:creationId xmlns:a16="http://schemas.microsoft.com/office/drawing/2014/main" id="{B6C20AA9-911C-402E-AD12-0BF7D30206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df105c2974f9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12" name="hf-499">
            <a:extLst xmlns:a="http://schemas.openxmlformats.org/drawingml/2006/main">
              <a:ext uri="{FF2B5EF4-FFF2-40B4-BE49-F238E27FC236}">
                <a16:creationId xmlns:a16="http://schemas.microsoft.com/office/drawing/2014/main" id="{720DC34B-979E-4D5D-9DEB-EE40B48D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055422821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4.xml><?xml version="1.0" encoding="utf-8"?>
<p:sld xmlns:p="http://schemas.openxmlformats.org/presentationml/2006/main">
  <p:cSld name="platforms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500">
            <a:extLst xmlns:a="http://schemas.openxmlformats.org/drawingml/2006/main">
              <a:ext uri="{FF2B5EF4-FFF2-40B4-BE49-F238E27FC236}">
                <a16:creationId xmlns:a16="http://schemas.microsoft.com/office/drawing/2014/main" id="{4C24187A-BF83-48CB-97DD-1A17AD9E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4944814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ПОСЛЕ ЧЕТЫРЁХ РАУНДОВ · ПЕРЕНОС НА СВОЮ ЗАДАЧУ</a:t>
            </a:r>
          </a:p>
        </p:txBody>
      </p:sp>
      <p:sp>
        <p:nvSpPr>
          <p:cNvPr id="3" name="hf-501">
            <a:extLst xmlns:a="http://schemas.openxmlformats.org/drawingml/2006/main">
              <a:ext uri="{FF2B5EF4-FFF2-40B4-BE49-F238E27FC236}">
                <a16:creationId xmlns:a16="http://schemas.microsoft.com/office/drawing/2014/main" id="{60211902-2FC6-4D53-876C-4B09CA16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323186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ЭТОТ МЕТОД РАБОТАЕТ ЗА ПРЕДЕЛАМИ</a:t>
            </a:r>
          </a:p>
        </p:txBody>
      </p:sp>
      <p:sp>
        <p:nvSpPr>
          <p:cNvPr id="4" name="hf-502">
            <a:extLst xmlns:a="http://schemas.openxmlformats.org/drawingml/2006/main">
              <a:ext uri="{FF2B5EF4-FFF2-40B4-BE49-F238E27FC236}">
                <a16:creationId xmlns:a16="http://schemas.microsoft.com/office/drawing/2014/main" id="{53416428-6225-42A2-A205-3551A3E0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1108918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iPhone</a:t>
            </a:r>
          </a:p>
        </p:txBody>
      </p:sp>
      <p:sp>
        <p:nvSpPr>
          <p:cNvPr id="5" name="hf-503">
            <a:extLst xmlns:a="http://schemas.openxmlformats.org/drawingml/2006/main">
              <a:ext uri="{FF2B5EF4-FFF2-40B4-BE49-F238E27FC236}">
                <a16:creationId xmlns:a16="http://schemas.microsoft.com/office/drawing/2014/main" id="{03B81A52-8333-4E43-8048-68213B01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647996"/>
            <a:ext cx="1029146" cy="328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38"/>
              </a:lnSpc>
              <a:buNone/>
            </a:pPr>
            <a:r>
              <a:rPr sz="195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Бэкенд</a:t>
            </a:r>
          </a:p>
        </p:txBody>
      </p:sp>
      <p:sp>
        <p:nvSpPr>
          <p:cNvPr id="6" name="hf-504">
            <a:extLst xmlns:a="http://schemas.openxmlformats.org/drawingml/2006/main">
              <a:ext uri="{FF2B5EF4-FFF2-40B4-BE49-F238E27FC236}">
                <a16:creationId xmlns:a16="http://schemas.microsoft.com/office/drawing/2014/main" id="{3512D8E1-0ADF-4ECF-8D7C-ED9C93E27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313" y="1625813"/>
            <a:ext cx="4747022" cy="292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56"/>
              </a:lnSpc>
              <a:buNone/>
            </a:pPr>
            <a:r>
              <a:rPr sz="17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Целевой CPU и библиотека как в проде</a:t>
            </a:r>
          </a:p>
        </p:txBody>
      </p:sp>
      <p:sp>
        <p:nvSpPr>
          <p:cNvPr id="7" name="hf-505">
            <a:extLst xmlns:a="http://schemas.openxmlformats.org/drawingml/2006/main">
              <a:ext uri="{FF2B5EF4-FFF2-40B4-BE49-F238E27FC236}">
                <a16:creationId xmlns:a16="http://schemas.microsoft.com/office/drawing/2014/main" id="{E82B9C09-C903-4630-9633-E3026603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214563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8" name="hf-506">
            <a:extLst xmlns:a="http://schemas.openxmlformats.org/drawingml/2006/main">
              <a:ext uri="{FF2B5EF4-FFF2-40B4-BE49-F238E27FC236}">
                <a16:creationId xmlns:a16="http://schemas.microsoft.com/office/drawing/2014/main" id="{D5DC1A7B-5656-409F-AD46-116DBB1A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505246"/>
            <a:ext cx="1590303" cy="328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38"/>
              </a:lnSpc>
              <a:buNone/>
            </a:pPr>
            <a:r>
              <a:rPr sz="195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Мобильное</a:t>
            </a:r>
          </a:p>
        </p:txBody>
      </p:sp>
      <p:sp>
        <p:nvSpPr>
          <p:cNvPr id="9" name="hf-507">
            <a:extLst xmlns:a="http://schemas.openxmlformats.org/drawingml/2006/main">
              <a:ext uri="{FF2B5EF4-FFF2-40B4-BE49-F238E27FC236}">
                <a16:creationId xmlns:a16="http://schemas.microsoft.com/office/drawing/2014/main" id="{323BE9A1-E6DA-4884-A85C-14A01DBF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313" y="2483063"/>
            <a:ext cx="4754166" cy="292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56"/>
              </a:lnSpc>
              <a:buNone/>
            </a:pPr>
            <a:r>
              <a:rPr sz="17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Реальный executor и QoS на устройстве</a:t>
            </a:r>
          </a:p>
        </p:txBody>
      </p:sp>
      <p:sp>
        <p:nvSpPr>
          <p:cNvPr id="10" name="hf-508">
            <a:extLst xmlns:a="http://schemas.openxmlformats.org/drawingml/2006/main">
              <a:ext uri="{FF2B5EF4-FFF2-40B4-BE49-F238E27FC236}">
                <a16:creationId xmlns:a16="http://schemas.microsoft.com/office/drawing/2014/main" id="{156D4BB5-5276-4A8F-808C-90D5C22F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071813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1" name="hf-509">
            <a:extLst xmlns:a="http://schemas.openxmlformats.org/drawingml/2006/main">
              <a:ext uri="{FF2B5EF4-FFF2-40B4-BE49-F238E27FC236}">
                <a16:creationId xmlns:a16="http://schemas.microsoft.com/office/drawing/2014/main" id="{8ECDB618-1428-4F73-A0CD-3F3E284A9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62496"/>
            <a:ext cx="734690" cy="328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38"/>
              </a:lnSpc>
              <a:buNone/>
            </a:pPr>
            <a:r>
              <a:rPr sz="195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Язык</a:t>
            </a:r>
          </a:p>
        </p:txBody>
      </p:sp>
      <p:sp>
        <p:nvSpPr>
          <p:cNvPr id="12" name="hf-510">
            <a:extLst xmlns:a="http://schemas.openxmlformats.org/drawingml/2006/main">
              <a:ext uri="{FF2B5EF4-FFF2-40B4-BE49-F238E27FC236}">
                <a16:creationId xmlns:a16="http://schemas.microsoft.com/office/drawing/2014/main" id="{D8296626-A21B-473B-8E26-02FA9119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313" y="3340313"/>
            <a:ext cx="4378151" cy="292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56"/>
              </a:lnSpc>
              <a:buNone/>
            </a:pPr>
            <a:r>
              <a:rPr sz="17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Конкретная реализация контейнера</a:t>
            </a:r>
          </a:p>
        </p:txBody>
      </p:sp>
      <p:sp>
        <p:nvSpPr>
          <p:cNvPr id="13" name="hf-511">
            <a:extLst xmlns:a="http://schemas.openxmlformats.org/drawingml/2006/main">
              <a:ext uri="{FF2B5EF4-FFF2-40B4-BE49-F238E27FC236}">
                <a16:creationId xmlns:a16="http://schemas.microsoft.com/office/drawing/2014/main" id="{4AEB3136-9DE8-4A51-83FA-1DA91D3F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137279"/>
            <a:ext cx="609190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Название Set не обещает одинакового устройства или цены</a:t>
            </a:r>
          </a:p>
        </p:txBody>
      </p:sp>
      <p:pic>
        <p:nvPicPr>
          <p:cNvPr id="14" name="hf-512">
            <a:extLst xmlns:a="http://schemas.openxmlformats.org/drawingml/2006/main">
              <a:ext uri="{FF2B5EF4-FFF2-40B4-BE49-F238E27FC236}">
                <a16:creationId xmlns:a16="http://schemas.microsoft.com/office/drawing/2014/main" id="{87D32C3D-C0EF-4B8A-A76D-03696F99C0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71285efba1469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15" name="hf-513">
            <a:extLst xmlns:a="http://schemas.openxmlformats.org/drawingml/2006/main">
              <a:ext uri="{FF2B5EF4-FFF2-40B4-BE49-F238E27FC236}">
                <a16:creationId xmlns:a16="http://schemas.microsoft.com/office/drawing/2014/main" id="{EBE25CD1-585D-4356-8539-8CC8AC24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088417347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p="http://schemas.openxmlformats.org/presentationml/2006/main">
  <p:cSld name="review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514">
            <a:extLst xmlns:a="http://schemas.openxmlformats.org/drawingml/2006/main">
              <a:ext uri="{FF2B5EF4-FFF2-40B4-BE49-F238E27FC236}">
                <a16:creationId xmlns:a16="http://schemas.microsoft.com/office/drawing/2014/main" id="{52F4D0B9-35D9-4589-B094-5F4F7F55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2505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ВОЗВРАЩАЕМСЯ К ДИФУ</a:t>
            </a:r>
          </a:p>
        </p:txBody>
      </p:sp>
      <p:sp>
        <p:nvSpPr>
          <p:cNvPr id="3" name="hf-515">
            <a:extLst xmlns:a="http://schemas.openxmlformats.org/drawingml/2006/main">
              <a:ext uri="{FF2B5EF4-FFF2-40B4-BE49-F238E27FC236}">
                <a16:creationId xmlns:a16="http://schemas.microsoft.com/office/drawing/2014/main" id="{BD9BF54C-AEED-484B-9038-9C7B8FA8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449483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КОД-РЕВЬЮ, ВТОРНИК, 17:40</a:t>
            </a:r>
          </a:p>
        </p:txBody>
      </p:sp>
      <p:sp>
        <p:nvSpPr>
          <p:cNvPr id="4" name="hf-516">
            <a:extLst xmlns:a="http://schemas.openxmlformats.org/drawingml/2006/main">
              <a:ext uri="{FF2B5EF4-FFF2-40B4-BE49-F238E27FC236}">
                <a16:creationId xmlns:a16="http://schemas.microsoft.com/office/drawing/2014/main" id="{75A6920C-6AA1-4CFF-A659-1395818C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238250"/>
            <a:ext cx="5381625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</p:sp>
      <p:sp>
        <p:nvSpPr>
          <p:cNvPr id="5" name="hf-517">
            <a:extLst xmlns:a="http://schemas.openxmlformats.org/drawingml/2006/main">
              <a:ext uri="{FF2B5EF4-FFF2-40B4-BE49-F238E27FC236}">
                <a16:creationId xmlns:a16="http://schemas.microsoft.com/office/drawing/2014/main" id="{FB1E0E46-7BCC-46DB-9BC6-2C3F7281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8" y="1366171"/>
            <a:ext cx="307925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75"/>
              </a:lnSpc>
              <a:buNone/>
            </a:pPr>
            <a:r>
              <a:rPr sz="1275" b="0" i="0">
                <a:solidFill>
                  <a:srgbClr val="C8C8C8"/>
                </a:solidFill>
                <a:latin typeface="Menlo"/>
                <a:ea typeface="Menlo"/>
                <a:cs typeface="Menlo"/>
              </a:rPr>
              <a:t>// dedup ids after offline sync</a:t>
            </a:r>
          </a:p>
        </p:txBody>
      </p:sp>
      <p:sp>
        <p:nvSpPr>
          <p:cNvPr id="6" name="hf-518">
            <a:extLst xmlns:a="http://schemas.openxmlformats.org/drawingml/2006/main">
              <a:ext uri="{FF2B5EF4-FFF2-40B4-BE49-F238E27FC236}">
                <a16:creationId xmlns:a16="http://schemas.microsoft.com/office/drawing/2014/main" id="{6E1F82DA-43E0-4FBB-8B29-199077C1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8" y="1642396"/>
            <a:ext cx="356674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75"/>
              </a:lnSpc>
              <a:buNone/>
            </a:pPr>
            <a:r>
              <a:rPr sz="1275" b="0" i="0">
                <a:solidFill>
                  <a:srgbClr val="F08A7A"/>
                </a:solidFill>
                <a:latin typeface="Menlo"/>
                <a:ea typeface="Menlo"/>
                <a:cs typeface="Menlo"/>
              </a:rPr>
              <a:t>- std::sort(ids.begin(), ids.end());</a:t>
            </a:r>
          </a:p>
        </p:txBody>
      </p:sp>
      <p:sp>
        <p:nvSpPr>
          <p:cNvPr id="7" name="hf-519">
            <a:extLst xmlns:a="http://schemas.openxmlformats.org/drawingml/2006/main">
              <a:ext uri="{FF2B5EF4-FFF2-40B4-BE49-F238E27FC236}">
                <a16:creationId xmlns:a16="http://schemas.microsoft.com/office/drawing/2014/main" id="{16D1CACF-9685-46AE-BE56-D71CFB8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8" y="1918621"/>
            <a:ext cx="3859188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75"/>
              </a:lnSpc>
              <a:buNone/>
            </a:pPr>
            <a:r>
              <a:rPr sz="1275" b="0" i="0">
                <a:solidFill>
                  <a:srgbClr val="F08A7A"/>
                </a:solidFill>
                <a:latin typeface="Menlo"/>
                <a:ea typeface="Menlo"/>
                <a:cs typeface="Menlo"/>
              </a:rPr>
              <a:t>- ids.erase(std::unique(…), ids.end());</a:t>
            </a:r>
          </a:p>
        </p:txBody>
      </p:sp>
      <p:sp>
        <p:nvSpPr>
          <p:cNvPr id="8" name="hf-520">
            <a:extLst xmlns:a="http://schemas.openxmlformats.org/drawingml/2006/main">
              <a:ext uri="{FF2B5EF4-FFF2-40B4-BE49-F238E27FC236}">
                <a16:creationId xmlns:a16="http://schemas.microsoft.com/office/drawing/2014/main" id="{D2D18C55-7F95-4E7A-A8D5-307C226E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8" y="2194846"/>
            <a:ext cx="356674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75"/>
              </a:lnSpc>
              <a:buNone/>
            </a:pPr>
            <a:r>
              <a:rPr sz="1275" b="0" i="0">
                <a:solidFill>
                  <a:srgbClr val="7BD88F"/>
                </a:solidFill>
                <a:latin typeface="Menlo"/>
                <a:ea typeface="Menlo"/>
                <a:cs typeface="Menlo"/>
              </a:rPr>
              <a:t>+ std::unordered_set&lt;uint64_t&gt; s(…);</a:t>
            </a:r>
          </a:p>
        </p:txBody>
      </p:sp>
      <p:sp>
        <p:nvSpPr>
          <p:cNvPr id="9" name="hf-521">
            <a:extLst xmlns:a="http://schemas.openxmlformats.org/drawingml/2006/main">
              <a:ext uri="{FF2B5EF4-FFF2-40B4-BE49-F238E27FC236}">
                <a16:creationId xmlns:a16="http://schemas.microsoft.com/office/drawing/2014/main" id="{D4CBFB79-9860-4C3F-A163-3F20822A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8" y="2471071"/>
            <a:ext cx="3274293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75"/>
              </a:lnSpc>
              <a:buNone/>
            </a:pPr>
            <a:r>
              <a:rPr sz="1275" b="0" i="0">
                <a:solidFill>
                  <a:srgbClr val="7BD88F"/>
                </a:solidFill>
                <a:latin typeface="Menlo"/>
                <a:ea typeface="Menlo"/>
                <a:cs typeface="Menlo"/>
              </a:rPr>
              <a:t>+ ids.assign(s.begin(), s.end());</a:t>
            </a:r>
          </a:p>
        </p:txBody>
      </p:sp>
      <p:sp>
        <p:nvSpPr>
          <p:cNvPr id="10" name="hf-522">
            <a:extLst xmlns:a="http://schemas.openxmlformats.org/drawingml/2006/main">
              <a:ext uri="{FF2B5EF4-FFF2-40B4-BE49-F238E27FC236}">
                <a16:creationId xmlns:a16="http://schemas.microsoft.com/office/drawing/2014/main" id="{975C58FD-5B89-493F-9F28-D1E4B5B6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96682"/>
            <a:ext cx="8008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Какой</a:t>
            </a:r>
          </a:p>
        </p:txBody>
      </p:sp>
      <p:sp>
        <p:nvSpPr>
          <p:cNvPr id="11" name="hf-523">
            <a:extLst xmlns:a="http://schemas.openxmlformats.org/drawingml/2006/main">
              <a:ext uri="{FF2B5EF4-FFF2-40B4-BE49-F238E27FC236}">
                <a16:creationId xmlns:a16="http://schemas.microsoft.com/office/drawing/2014/main" id="{9A2487C1-DC80-41D8-964E-98A1AFBB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82432"/>
            <a:ext cx="174694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комментарий</a:t>
            </a:r>
          </a:p>
        </p:txBody>
      </p:sp>
      <p:sp>
        <p:nvSpPr>
          <p:cNvPr id="12" name="hf-524">
            <a:extLst xmlns:a="http://schemas.openxmlformats.org/drawingml/2006/main">
              <a:ext uri="{FF2B5EF4-FFF2-40B4-BE49-F238E27FC236}">
                <a16:creationId xmlns:a16="http://schemas.microsoft.com/office/drawing/2014/main" id="{6EF0E666-2770-4CE3-B066-476528892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68182"/>
            <a:ext cx="1670447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вы оставите?</a:t>
            </a:r>
          </a:p>
        </p:txBody>
      </p:sp>
      <p:sp>
        <p:nvSpPr>
          <p:cNvPr id="13" name="hf-525">
            <a:extLst xmlns:a="http://schemas.openxmlformats.org/drawingml/2006/main">
              <a:ext uri="{FF2B5EF4-FFF2-40B4-BE49-F238E27FC236}">
                <a16:creationId xmlns:a16="http://schemas.microsoft.com/office/drawing/2014/main" id="{10D7C64D-7D75-4693-BFA2-518902FF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63482"/>
            <a:ext cx="235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Changes requested</a:t>
            </a:r>
          </a:p>
        </p:txBody>
      </p:sp>
      <p:sp>
        <p:nvSpPr>
          <p:cNvPr id="14" name="hf-526">
            <a:extLst xmlns:a="http://schemas.openxmlformats.org/drawingml/2006/main">
              <a:ext uri="{FF2B5EF4-FFF2-40B4-BE49-F238E27FC236}">
                <a16:creationId xmlns:a16="http://schemas.microsoft.com/office/drawing/2014/main" id="{93CF9075-3C5E-4996-B625-0FBB0EAED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440621"/>
            <a:ext cx="211336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15" name="hf-527">
            <a:extLst xmlns:a="http://schemas.openxmlformats.org/drawingml/2006/main">
              <a:ext uri="{FF2B5EF4-FFF2-40B4-BE49-F238E27FC236}">
                <a16:creationId xmlns:a16="http://schemas.microsoft.com/office/drawing/2014/main" id="{B28314B6-A169-4C8E-91E0-D6062E47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8" y="3430257"/>
            <a:ext cx="1187872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Контракт</a:t>
            </a:r>
          </a:p>
        </p:txBody>
      </p:sp>
      <p:sp>
        <p:nvSpPr>
          <p:cNvPr id="16" name="hf-528">
            <a:extLst xmlns:a="http://schemas.openxmlformats.org/drawingml/2006/main">
              <a:ext uri="{FF2B5EF4-FFF2-40B4-BE49-F238E27FC236}">
                <a16:creationId xmlns:a16="http://schemas.microsoft.com/office/drawing/2014/main" id="{F8563EE7-6DD3-4557-9E66-E49FD8BC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8" y="3803904"/>
            <a:ext cx="2109862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Какой выход нужен?</a:t>
            </a:r>
          </a:p>
        </p:txBody>
      </p:sp>
      <p:sp>
        <p:nvSpPr>
          <p:cNvPr id="17" name="hf-529">
            <a:extLst xmlns:a="http://schemas.openxmlformats.org/drawingml/2006/main">
              <a:ext uri="{FF2B5EF4-FFF2-40B4-BE49-F238E27FC236}">
                <a16:creationId xmlns:a16="http://schemas.microsoft.com/office/drawing/2014/main" id="{79AFA7E3-B2D0-4D5E-AC4A-D2C61ADF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440621"/>
            <a:ext cx="28530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8" name="hf-530">
            <a:extLst xmlns:a="http://schemas.openxmlformats.org/drawingml/2006/main">
              <a:ext uri="{FF2B5EF4-FFF2-40B4-BE49-F238E27FC236}">
                <a16:creationId xmlns:a16="http://schemas.microsoft.com/office/drawing/2014/main" id="{FEE5CDA6-077D-4A12-AB64-26F6D557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430257"/>
            <a:ext cx="1030188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Данные</a:t>
            </a:r>
          </a:p>
        </p:txBody>
      </p:sp>
      <p:sp>
        <p:nvSpPr>
          <p:cNvPr id="19" name="hf-531">
            <a:extLst xmlns:a="http://schemas.openxmlformats.org/drawingml/2006/main">
              <a:ext uri="{FF2B5EF4-FFF2-40B4-BE49-F238E27FC236}">
                <a16:creationId xmlns:a16="http://schemas.microsoft.com/office/drawing/2014/main" id="{87BEB6EB-18B1-4540-ABFA-A70209081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803904"/>
            <a:ext cx="178132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Размер, повторы,</a:t>
            </a:r>
          </a:p>
        </p:txBody>
      </p:sp>
      <p:sp>
        <p:nvSpPr>
          <p:cNvPr id="20" name="hf-532">
            <a:extLst xmlns:a="http://schemas.openxmlformats.org/drawingml/2006/main">
              <a:ext uri="{FF2B5EF4-FFF2-40B4-BE49-F238E27FC236}">
                <a16:creationId xmlns:a16="http://schemas.microsoft.com/office/drawing/2014/main" id="{867FA2D8-E1FE-49BC-88C8-3E5E5684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051554"/>
            <a:ext cx="163696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порядок входа?</a:t>
            </a:r>
          </a:p>
        </p:txBody>
      </p:sp>
      <p:sp>
        <p:nvSpPr>
          <p:cNvPr id="21" name="hf-533">
            <a:extLst xmlns:a="http://schemas.openxmlformats.org/drawingml/2006/main">
              <a:ext uri="{FF2B5EF4-FFF2-40B4-BE49-F238E27FC236}">
                <a16:creationId xmlns:a16="http://schemas.microsoft.com/office/drawing/2014/main" id="{084F5CC1-A2B4-4842-8356-E48F6F11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440621"/>
            <a:ext cx="286717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22" name="hf-534">
            <a:extLst xmlns:a="http://schemas.openxmlformats.org/drawingml/2006/main">
              <a:ext uri="{FF2B5EF4-FFF2-40B4-BE49-F238E27FC236}">
                <a16:creationId xmlns:a16="http://schemas.microsoft.com/office/drawing/2014/main" id="{2F0A8EA5-1185-426B-9A3A-7D634914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430257"/>
            <a:ext cx="1594991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Исполнение</a:t>
            </a:r>
          </a:p>
        </p:txBody>
      </p:sp>
      <p:sp>
        <p:nvSpPr>
          <p:cNvPr id="23" name="hf-535">
            <a:extLst xmlns:a="http://schemas.openxmlformats.org/drawingml/2006/main">
              <a:ext uri="{FF2B5EF4-FFF2-40B4-BE49-F238E27FC236}">
                <a16:creationId xmlns:a16="http://schemas.microsoft.com/office/drawing/2014/main" id="{59E3C84E-31B3-49E5-B15E-971CEF8D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803904"/>
            <a:ext cx="122455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Устройство,</a:t>
            </a:r>
          </a:p>
        </p:txBody>
      </p:sp>
      <p:sp>
        <p:nvSpPr>
          <p:cNvPr id="24" name="hf-536">
            <a:extLst xmlns:a="http://schemas.openxmlformats.org/drawingml/2006/main">
              <a:ext uri="{FF2B5EF4-FFF2-40B4-BE49-F238E27FC236}">
                <a16:creationId xmlns:a16="http://schemas.microsoft.com/office/drawing/2014/main" id="{F2CB0E6E-BCAC-476C-8D28-2BB8C316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51554"/>
            <a:ext cx="1821359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библиотека, QoS?</a:t>
            </a:r>
          </a:p>
        </p:txBody>
      </p:sp>
      <p:pic>
        <p:nvPicPr>
          <p:cNvPr id="25" name="hf-537">
            <a:extLst xmlns:a="http://schemas.openxmlformats.org/drawingml/2006/main">
              <a:ext uri="{FF2B5EF4-FFF2-40B4-BE49-F238E27FC236}">
                <a16:creationId xmlns:a16="http://schemas.microsoft.com/office/drawing/2014/main" id="{E0DD357D-BB4E-450A-97F9-F1B92DEEB8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8fae44cee40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6" name="hf-538">
            <a:extLst xmlns:a="http://schemas.openxmlformats.org/drawingml/2006/main">
              <a:ext uri="{FF2B5EF4-FFF2-40B4-BE49-F238E27FC236}">
                <a16:creationId xmlns:a16="http://schemas.microsoft.com/office/drawing/2014/main" id="{376F60F8-4AEB-4E5B-AFCA-D30AF42C9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66378762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p="http://schemas.openxmlformats.org/presentationml/2006/main">
  <p:cSld name="final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539">
            <a:extLst xmlns:a="http://schemas.openxmlformats.org/drawingml/2006/main">
              <a:ext uri="{FF2B5EF4-FFF2-40B4-BE49-F238E27FC236}">
                <a16:creationId xmlns:a16="http://schemas.microsoft.com/office/drawing/2014/main" id="{4674C963-9850-4570-BDC7-03A4F156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91885"/>
            <a:ext cx="6775772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ВАШ АЛГОРИТМ НЕ ВЫБИРАЛ ПРОЦЕССОР</a:t>
            </a:r>
          </a:p>
        </p:txBody>
      </p:sp>
      <p:sp>
        <p:nvSpPr>
          <p:cNvPr id="3" name="hf-540">
            <a:extLst xmlns:a="http://schemas.openxmlformats.org/drawingml/2006/main">
              <a:ext uri="{FF2B5EF4-FFF2-40B4-BE49-F238E27FC236}">
                <a16:creationId xmlns:a16="http://schemas.microsoft.com/office/drawing/2014/main" id="{8481BFBA-1EA2-4B30-9372-C38DFBDC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522838"/>
            <a:ext cx="276612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200"/>
              </a:lnSpc>
              <a:buNone/>
            </a:pPr>
            <a:r>
              <a:rPr sz="34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Проверьте,</a:t>
            </a:r>
          </a:p>
        </p:txBody>
      </p:sp>
      <p:sp>
        <p:nvSpPr>
          <p:cNvPr id="4" name="hf-541">
            <a:extLst xmlns:a="http://schemas.openxmlformats.org/drawingml/2006/main">
              <a:ext uri="{FF2B5EF4-FFF2-40B4-BE49-F238E27FC236}">
                <a16:creationId xmlns:a16="http://schemas.microsoft.com/office/drawing/2014/main" id="{EDB7C1EA-B910-4C20-AE73-3DDA072BF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056238"/>
            <a:ext cx="4908054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200"/>
              </a:lnSpc>
              <a:buNone/>
            </a:pPr>
            <a:r>
              <a:rPr sz="34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какой ему достался</a:t>
            </a:r>
          </a:p>
        </p:txBody>
      </p:sp>
      <p:sp>
        <p:nvSpPr>
          <p:cNvPr id="5" name="hf-542">
            <a:extLst xmlns:a="http://schemas.openxmlformats.org/drawingml/2006/main">
              <a:ext uri="{FF2B5EF4-FFF2-40B4-BE49-F238E27FC236}">
                <a16:creationId xmlns:a16="http://schemas.microsoft.com/office/drawing/2014/main" id="{4ABB127E-37E9-47C6-8F8F-425D96F4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115932"/>
            <a:ext cx="3662809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Начните с одного перф-теста</a:t>
            </a:r>
          </a:p>
        </p:txBody>
      </p:sp>
      <p:sp>
        <p:nvSpPr>
          <p:cNvPr id="6" name="hf-543">
            <a:extLst xmlns:a="http://schemas.openxmlformats.org/drawingml/2006/main">
              <a:ext uri="{FF2B5EF4-FFF2-40B4-BE49-F238E27FC236}">
                <a16:creationId xmlns:a16="http://schemas.microsoft.com/office/drawing/2014/main" id="{D8AFF98B-EB6A-49AD-AA8A-5C2B2496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401682"/>
            <a:ext cx="2931691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на целевом устройстве</a:t>
            </a:r>
          </a:p>
        </p:txBody>
      </p:sp>
      <p:pic>
        <p:nvPicPr>
          <p:cNvPr id="7" name="hf-544">
            <a:extLst xmlns:a="http://schemas.openxmlformats.org/drawingml/2006/main">
              <a:ext uri="{FF2B5EF4-FFF2-40B4-BE49-F238E27FC236}">
                <a16:creationId xmlns:a16="http://schemas.microsoft.com/office/drawing/2014/main" id="{A02AE1F4-7AA6-4DBC-9AD1-0CB0ABB0D3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f82cb44e5248d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762750" y="1552575"/>
            <a:ext cx="1824038" cy="1824038"/>
          </a:xfrm>
          <a:prstGeom xmlns:a="http://schemas.openxmlformats.org/drawingml/2006/main" prst="rect">
            <a:avLst/>
          </a:prstGeom>
        </p:spPr>
      </p:pic>
      <p:sp>
        <p:nvSpPr>
          <p:cNvPr id="8" name="hf-545">
            <a:extLst xmlns:a="http://schemas.openxmlformats.org/drawingml/2006/main">
              <a:ext uri="{FF2B5EF4-FFF2-40B4-BE49-F238E27FC236}">
                <a16:creationId xmlns:a16="http://schemas.microsoft.com/office/drawing/2014/main" id="{A640C921-9380-45E6-8517-7C786714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108704"/>
            <a:ext cx="525802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github.com/Neoron95/conference-hardfest-algorithms</a:t>
            </a:r>
          </a:p>
        </p:txBody>
      </p:sp>
      <p:pic>
        <p:nvPicPr>
          <p:cNvPr id="9" name="hf-546">
            <a:extLst xmlns:a="http://schemas.openxmlformats.org/drawingml/2006/main">
              <a:ext uri="{FF2B5EF4-FFF2-40B4-BE49-F238E27FC236}">
                <a16:creationId xmlns:a16="http://schemas.microsoft.com/office/drawing/2014/main" id="{EB3D6B9F-6159-4EA6-9C56-219A3F5FEA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4055bb4d3d422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10" name="hf-547">
            <a:extLst xmlns:a="http://schemas.openxmlformats.org/drawingml/2006/main">
              <a:ext uri="{FF2B5EF4-FFF2-40B4-BE49-F238E27FC236}">
                <a16:creationId xmlns:a16="http://schemas.microsoft.com/office/drawing/2014/main" id="{D932032E-F4C8-4A93-8656-0A164842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31098864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27.xml><?xml version="1.0" encoding="utf-8"?>
<p:sld xmlns:p="http://schemas.openxmlformats.org/presentationml/2006/main" show="0">
  <p:cSld name="backup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hf-548">
            <a:extLst xmlns:a="http://schemas.openxmlformats.org/drawingml/2006/main">
              <a:ext uri="{FF2B5EF4-FFF2-40B4-BE49-F238E27FC236}">
                <a16:creationId xmlns:a16="http://schemas.microsoft.com/office/drawing/2014/main" id="{851DD77F-68E6-4784-968C-241F532621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5b639176c444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36195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hf-549">
            <a:extLst xmlns:a="http://schemas.openxmlformats.org/drawingml/2006/main">
              <a:ext uri="{FF2B5EF4-FFF2-40B4-BE49-F238E27FC236}">
                <a16:creationId xmlns:a16="http://schemas.microsoft.com/office/drawing/2014/main" id="{F8F6E6D5-00B7-408F-B2E4-DDBE31A7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367599"/>
            <a:ext cx="2651596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875"/>
              </a:lnSpc>
              <a:buNone/>
            </a:pPr>
            <a:r>
              <a:rPr sz="45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BACKUP</a:t>
            </a:r>
          </a:p>
        </p:txBody>
      </p:sp>
      <p:sp>
        <p:nvSpPr>
          <p:cNvPr id="4" name="hf-550">
            <a:extLst xmlns:a="http://schemas.openxmlformats.org/drawingml/2006/main">
              <a:ext uri="{FF2B5EF4-FFF2-40B4-BE49-F238E27FC236}">
                <a16:creationId xmlns:a16="http://schemas.microsoft.com/office/drawing/2014/main" id="{7B6977EF-AEAD-4443-8EA4-1F40E7B8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988306"/>
            <a:ext cx="3908673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для вопросов · ответ — в заметках</a:t>
            </a:r>
          </a:p>
        </p:txBody>
      </p:sp>
      <p:sp>
        <p:nvSpPr>
          <p:cNvPr id="5" name="hf-551">
            <a:extLst xmlns:a="http://schemas.openxmlformats.org/drawingml/2006/main">
              <a:ext uri="{FF2B5EF4-FFF2-40B4-BE49-F238E27FC236}">
                <a16:creationId xmlns:a16="http://schemas.microsoft.com/office/drawing/2014/main" id="{25DC35C6-DB8C-41AC-89E1-5FDF98E8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58288"/>
            <a:ext cx="120930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28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Где мерили</a:t>
            </a:r>
          </a:p>
        </p:txBody>
      </p:sp>
      <p:sp>
        <p:nvSpPr>
          <p:cNvPr id="6" name="hf-552">
            <a:extLst xmlns:a="http://schemas.openxmlformats.org/drawingml/2006/main">
              <a:ext uri="{FF2B5EF4-FFF2-40B4-BE49-F238E27FC236}">
                <a16:creationId xmlns:a16="http://schemas.microsoft.com/office/drawing/2014/main" id="{DA8EC711-684B-4AAC-BCAA-234DEB1E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838"/>
            <a:ext cx="1794942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29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Кто выбирает ядро</a:t>
            </a:r>
          </a:p>
        </p:txBody>
      </p:sp>
      <p:sp>
        <p:nvSpPr>
          <p:cNvPr id="7" name="hf-553">
            <a:extLst xmlns:a="http://schemas.openxmlformats.org/drawingml/2006/main">
              <a:ext uri="{FF2B5EF4-FFF2-40B4-BE49-F238E27FC236}">
                <a16:creationId xmlns:a16="http://schemas.microsoft.com/office/drawing/2014/main" id="{C89FAF38-18A6-4D9C-B59A-C95CCBE32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77388"/>
            <a:ext cx="14661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30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Плотные rowid</a:t>
            </a:r>
          </a:p>
        </p:txBody>
      </p:sp>
      <p:sp>
        <p:nvSpPr>
          <p:cNvPr id="8" name="hf-554">
            <a:extLst xmlns:a="http://schemas.openxmlformats.org/drawingml/2006/main">
              <a:ext uri="{FF2B5EF4-FFF2-40B4-BE49-F238E27FC236}">
                <a16:creationId xmlns:a16="http://schemas.microsoft.com/office/drawing/2014/main" id="{F33A51A3-9AFC-4E8F-A1AF-23ABCCC5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86938"/>
            <a:ext cx="154491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31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Слияние дельты</a:t>
            </a:r>
          </a:p>
        </p:txBody>
      </p:sp>
      <p:sp>
        <p:nvSpPr>
          <p:cNvPr id="9" name="hf-555">
            <a:extLst xmlns:a="http://schemas.openxmlformats.org/drawingml/2006/main">
              <a:ext uri="{FF2B5EF4-FFF2-40B4-BE49-F238E27FC236}">
                <a16:creationId xmlns:a16="http://schemas.microsoft.com/office/drawing/2014/main" id="{245E8B28-04C9-43F1-BA5C-D4A6C091D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96488"/>
            <a:ext cx="138283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32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Другие языки</a:t>
            </a:r>
          </a:p>
        </p:txBody>
      </p:sp>
      <p:sp>
        <p:nvSpPr>
          <p:cNvPr id="10" name="hf-556">
            <a:extLst xmlns:a="http://schemas.openxmlformats.org/drawingml/2006/main">
              <a:ext uri="{FF2B5EF4-FFF2-40B4-BE49-F238E27FC236}">
                <a16:creationId xmlns:a16="http://schemas.microsoft.com/office/drawing/2014/main" id="{B4F51926-E495-47B8-A70C-F5D8BB73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06038"/>
            <a:ext cx="197740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33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«Бенчмарк врал»: 3×3</a:t>
            </a:r>
          </a:p>
        </p:txBody>
      </p:sp>
      <p:sp>
        <p:nvSpPr>
          <p:cNvPr id="11" name="hf-557">
            <a:extLst xmlns:a="http://schemas.openxmlformats.org/drawingml/2006/main">
              <a:ext uri="{FF2B5EF4-FFF2-40B4-BE49-F238E27FC236}">
                <a16:creationId xmlns:a16="http://schemas.microsoft.com/office/drawing/2014/main" id="{7160A173-71EE-435D-98E5-8D839E192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15588"/>
            <a:ext cx="213828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34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Приоритет background</a:t>
            </a:r>
          </a:p>
        </p:txBody>
      </p:sp>
      <p:sp>
        <p:nvSpPr>
          <p:cNvPr id="12" name="hf-558">
            <a:extLst xmlns:a="http://schemas.openxmlformats.org/drawingml/2006/main">
              <a:ext uri="{FF2B5EF4-FFF2-40B4-BE49-F238E27FC236}">
                <a16:creationId xmlns:a16="http://schemas.microsoft.com/office/drawing/2014/main" id="{FD91B761-2845-46A8-B9DC-BFA4FCB4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25138"/>
            <a:ext cx="151730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35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Точка перехода</a:t>
            </a:r>
          </a:p>
        </p:txBody>
      </p:sp>
      <p:sp>
        <p:nvSpPr>
          <p:cNvPr id="13" name="hf-559">
            <a:extLst xmlns:a="http://schemas.openxmlformats.org/drawingml/2006/main">
              <a:ext uri="{FF2B5EF4-FFF2-40B4-BE49-F238E27FC236}">
                <a16:creationId xmlns:a16="http://schemas.microsoft.com/office/drawing/2014/main" id="{B4B95C2D-1014-40AC-98A8-51320AA9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34688"/>
            <a:ext cx="2027486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36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Дрейф под нагрузкой</a:t>
            </a:r>
          </a:p>
        </p:txBody>
      </p:sp>
      <p:sp>
        <p:nvSpPr>
          <p:cNvPr id="14" name="hf-560">
            <a:extLst xmlns:a="http://schemas.openxmlformats.org/drawingml/2006/main">
              <a:ext uri="{FF2B5EF4-FFF2-40B4-BE49-F238E27FC236}">
                <a16:creationId xmlns:a16="http://schemas.microsoft.com/office/drawing/2014/main" id="{CD122986-1FC8-416C-8FEA-BE4C9D9B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58288"/>
            <a:ext cx="159261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37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libstdc++ и libc++</a:t>
            </a:r>
          </a:p>
        </p:txBody>
      </p:sp>
      <p:sp>
        <p:nvSpPr>
          <p:cNvPr id="15" name="hf-561">
            <a:extLst xmlns:a="http://schemas.openxmlformats.org/drawingml/2006/main">
              <a:ext uri="{FF2B5EF4-FFF2-40B4-BE49-F238E27FC236}">
                <a16:creationId xmlns:a16="http://schemas.microsoft.com/office/drawing/2014/main" id="{E7B50F5D-0487-4425-A808-2F98D005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67838"/>
            <a:ext cx="2016398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38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Рабочий набор и кэш</a:t>
            </a:r>
          </a:p>
        </p:txBody>
      </p:sp>
      <p:sp>
        <p:nvSpPr>
          <p:cNvPr id="16" name="hf-562">
            <a:extLst xmlns:a="http://schemas.openxmlformats.org/drawingml/2006/main">
              <a:ext uri="{FF2B5EF4-FFF2-40B4-BE49-F238E27FC236}">
                <a16:creationId xmlns:a16="http://schemas.microsoft.com/office/drawing/2014/main" id="{C5F387E6-A0E9-4161-9570-D390FAEF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877388"/>
            <a:ext cx="129190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39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sort + unique</a:t>
            </a:r>
          </a:p>
        </p:txBody>
      </p:sp>
      <p:sp>
        <p:nvSpPr>
          <p:cNvPr id="17" name="hf-563">
            <a:extLst xmlns:a="http://schemas.openxmlformats.org/drawingml/2006/main">
              <a:ext uri="{FF2B5EF4-FFF2-40B4-BE49-F238E27FC236}">
                <a16:creationId xmlns:a16="http://schemas.microsoft.com/office/drawing/2014/main" id="{5552A4CB-07EA-48FC-8FDE-3B70E2AE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86938"/>
            <a:ext cx="16525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40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Узловая таблица</a:t>
            </a:r>
          </a:p>
        </p:txBody>
      </p:sp>
      <p:sp>
        <p:nvSpPr>
          <p:cNvPr id="18" name="hf-564">
            <a:extLst xmlns:a="http://schemas.openxmlformats.org/drawingml/2006/main">
              <a:ext uri="{FF2B5EF4-FFF2-40B4-BE49-F238E27FC236}">
                <a16:creationId xmlns:a16="http://schemas.microsoft.com/office/drawing/2014/main" id="{8A128D13-3F2B-4BDD-BC03-5FEB6D5A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296488"/>
            <a:ext cx="10185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41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Radix sort</a:t>
            </a:r>
          </a:p>
        </p:txBody>
      </p:sp>
      <p:sp>
        <p:nvSpPr>
          <p:cNvPr id="19" name="hf-565">
            <a:extLst xmlns:a="http://schemas.openxmlformats.org/drawingml/2006/main">
              <a:ext uri="{FF2B5EF4-FFF2-40B4-BE49-F238E27FC236}">
                <a16:creationId xmlns:a16="http://schemas.microsoft.com/office/drawing/2014/main" id="{2D326A42-DBA3-4A43-97F9-EDB144F1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506038"/>
            <a:ext cx="1069851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42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reserve(N)</a:t>
            </a:r>
          </a:p>
        </p:txBody>
      </p:sp>
      <p:sp>
        <p:nvSpPr>
          <p:cNvPr id="20" name="hf-566">
            <a:extLst xmlns:a="http://schemas.openxmlformats.org/drawingml/2006/main">
              <a:ext uri="{FF2B5EF4-FFF2-40B4-BE49-F238E27FC236}">
                <a16:creationId xmlns:a16="http://schemas.microsoft.com/office/drawing/2014/main" id="{B9A2E29B-0601-4615-999D-F419D54C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715588"/>
            <a:ext cx="15074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43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Честный замер</a:t>
            </a:r>
          </a:p>
        </p:txBody>
      </p:sp>
      <p:sp>
        <p:nvSpPr>
          <p:cNvPr id="21" name="hf-567">
            <a:extLst xmlns:a="http://schemas.openxmlformats.org/drawingml/2006/main">
              <a:ext uri="{FF2B5EF4-FFF2-40B4-BE49-F238E27FC236}">
                <a16:creationId xmlns:a16="http://schemas.microsoft.com/office/drawing/2014/main" id="{84F3ED59-9F67-47E1-8808-120072EF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25138"/>
            <a:ext cx="153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44</a:t>
            </a:r>
            <a:r>
              <a:rPr sz="12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Шаги и их цена</a:t>
            </a:r>
          </a:p>
        </p:txBody>
      </p:sp>
      <p:pic>
        <p:nvPicPr>
          <p:cNvPr id="22" name="hf-568">
            <a:extLst xmlns:a="http://schemas.openxmlformats.org/drawingml/2006/main">
              <a:ext uri="{FF2B5EF4-FFF2-40B4-BE49-F238E27FC236}">
                <a16:creationId xmlns:a16="http://schemas.microsoft.com/office/drawing/2014/main" id="{4B33169C-6A90-4244-AE28-4FD08139F1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ab513ea37436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3" name="hf-569">
            <a:extLst xmlns:a="http://schemas.openxmlformats.org/drawingml/2006/main">
              <a:ext uri="{FF2B5EF4-FFF2-40B4-BE49-F238E27FC236}">
                <a16:creationId xmlns:a16="http://schemas.microsoft.com/office/drawing/2014/main" id="{9D7BFAC6-2570-4956-AE5C-7B2036B9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206269574"/>
      </p:ext>
    </p:extLst>
  </p:cSld>
</p:sld>
</file>

<file path=ppt/slides/slide28.xml><?xml version="1.0" encoding="utf-8"?>
<p:sld xmlns:p="http://schemas.openxmlformats.org/presentationml/2006/main" show="0">
  <p:cSld name="radixmin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570">
            <a:extLst xmlns:a="http://schemas.openxmlformats.org/drawingml/2006/main">
              <a:ext uri="{FF2B5EF4-FFF2-40B4-BE49-F238E27FC236}">
                <a16:creationId xmlns:a16="http://schemas.microsoft.com/office/drawing/2014/main" id="{BAA48996-9958-48FE-B620-BA007A9C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3248471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ДОПОЛНИТЕЛЬНЫЙ МОДУЛЬ · RADIX</a:t>
            </a:r>
          </a:p>
        </p:txBody>
      </p:sp>
      <p:sp>
        <p:nvSpPr>
          <p:cNvPr id="3" name="hf-571">
            <a:extLst xmlns:a="http://schemas.openxmlformats.org/drawingml/2006/main">
              <a:ext uri="{FF2B5EF4-FFF2-40B4-BE49-F238E27FC236}">
                <a16:creationId xmlns:a16="http://schemas.microsoft.com/office/drawing/2014/main" id="{42EFEC53-7F61-4924-903B-BA60C564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53251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Radix sort: СОРТИРОВКА БЕЗ СРАВНЕНИЙ</a:t>
            </a:r>
          </a:p>
        </p:txBody>
      </p:sp>
      <p:sp>
        <p:nvSpPr>
          <p:cNvPr id="4" name="hf-572">
            <a:extLst xmlns:a="http://schemas.openxmlformats.org/drawingml/2006/main">
              <a:ext uri="{FF2B5EF4-FFF2-40B4-BE49-F238E27FC236}">
                <a16:creationId xmlns:a16="http://schemas.microsoft.com/office/drawing/2014/main" id="{AAA9ECC9-5BA6-476F-89F8-51145904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8" y="180022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5" name="hf-573">
            <a:extLst xmlns:a="http://schemas.openxmlformats.org/drawingml/2006/main">
              <a:ext uri="{FF2B5EF4-FFF2-40B4-BE49-F238E27FC236}">
                <a16:creationId xmlns:a16="http://schemas.microsoft.com/office/drawing/2014/main" id="{89AA68AD-63E5-4A56-BB74-BB2EF937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6813" y="180022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6" name="hf-574">
            <a:extLst xmlns:a="http://schemas.openxmlformats.org/drawingml/2006/main">
              <a:ext uri="{FF2B5EF4-FFF2-40B4-BE49-F238E27FC236}">
                <a16:creationId xmlns:a16="http://schemas.microsoft.com/office/drawing/2014/main" id="{7602CDB6-7523-45F2-80CB-80A990FF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8" y="180022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7" name="hf-575">
            <a:extLst xmlns:a="http://schemas.openxmlformats.org/drawingml/2006/main">
              <a:ext uri="{FF2B5EF4-FFF2-40B4-BE49-F238E27FC236}">
                <a16:creationId xmlns:a16="http://schemas.microsoft.com/office/drawing/2014/main" id="{1AC0E956-D1E3-49D4-A68D-07235CA5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963" y="180022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8" name="hf-576">
            <a:extLst xmlns:a="http://schemas.openxmlformats.org/drawingml/2006/main">
              <a:ext uri="{FF2B5EF4-FFF2-40B4-BE49-F238E27FC236}">
                <a16:creationId xmlns:a16="http://schemas.microsoft.com/office/drawing/2014/main" id="{771B0C72-FE08-4968-BC31-04B5921B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514475"/>
            <a:ext cx="647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2E2654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9" name="hf-577">
            <a:extLst xmlns:a="http://schemas.openxmlformats.org/drawingml/2006/main">
              <a:ext uri="{FF2B5EF4-FFF2-40B4-BE49-F238E27FC236}">
                <a16:creationId xmlns:a16="http://schemas.microsoft.com/office/drawing/2014/main" id="{F3194C5F-4670-434F-BF9A-B573810F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0022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10" name="hf-578">
            <a:extLst xmlns:a="http://schemas.openxmlformats.org/drawingml/2006/main">
              <a:ext uri="{FF2B5EF4-FFF2-40B4-BE49-F238E27FC236}">
                <a16:creationId xmlns:a16="http://schemas.microsoft.com/office/drawing/2014/main" id="{B7F7D247-C004-4218-B410-7AE62A2D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514475"/>
            <a:ext cx="647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2E2654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11" name="hf-579">
            <a:extLst xmlns:a="http://schemas.openxmlformats.org/drawingml/2006/main">
              <a:ext uri="{FF2B5EF4-FFF2-40B4-BE49-F238E27FC236}">
                <a16:creationId xmlns:a16="http://schemas.microsoft.com/office/drawing/2014/main" id="{5B2AE66B-AC2C-4CB0-BDD1-67816EB3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80022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12" name="hf-580">
            <a:extLst xmlns:a="http://schemas.openxmlformats.org/drawingml/2006/main">
              <a:ext uri="{FF2B5EF4-FFF2-40B4-BE49-F238E27FC236}">
                <a16:creationId xmlns:a16="http://schemas.microsoft.com/office/drawing/2014/main" id="{E53973A3-465B-4635-93BE-C634D83D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514475"/>
            <a:ext cx="647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2E2654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13" name="hf-581">
            <a:extLst xmlns:a="http://schemas.openxmlformats.org/drawingml/2006/main">
              <a:ext uri="{FF2B5EF4-FFF2-40B4-BE49-F238E27FC236}">
                <a16:creationId xmlns:a16="http://schemas.microsoft.com/office/drawing/2014/main" id="{2FA54404-B7BE-4342-ACCA-1BB649A5F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180022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14" name="hf-582">
            <a:extLst xmlns:a="http://schemas.openxmlformats.org/drawingml/2006/main">
              <a:ext uri="{FF2B5EF4-FFF2-40B4-BE49-F238E27FC236}">
                <a16:creationId xmlns:a16="http://schemas.microsoft.com/office/drawing/2014/main" id="{AA459795-EFF2-46C6-9608-4EFA34A2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214312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15" name="hf-583">
            <a:extLst xmlns:a="http://schemas.openxmlformats.org/drawingml/2006/main">
              <a:ext uri="{FF2B5EF4-FFF2-40B4-BE49-F238E27FC236}">
                <a16:creationId xmlns:a16="http://schemas.microsoft.com/office/drawing/2014/main" id="{1D221A90-FDC4-4A29-97BC-6E56A6C9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8863" y="180022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16" name="hf-584">
            <a:extLst xmlns:a="http://schemas.openxmlformats.org/drawingml/2006/main">
              <a:ext uri="{FF2B5EF4-FFF2-40B4-BE49-F238E27FC236}">
                <a16:creationId xmlns:a16="http://schemas.microsoft.com/office/drawing/2014/main" id="{901A4C90-3C7C-427E-9B5B-93E5E33F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8938" y="180022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17" name="hf-585">
            <a:extLst xmlns:a="http://schemas.openxmlformats.org/drawingml/2006/main">
              <a:ext uri="{FF2B5EF4-FFF2-40B4-BE49-F238E27FC236}">
                <a16:creationId xmlns:a16="http://schemas.microsoft.com/office/drawing/2014/main" id="{0BF058CD-EF0C-4A17-A187-1246EF99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013" y="180022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18" name="hf-586">
            <a:extLst xmlns:a="http://schemas.openxmlformats.org/drawingml/2006/main">
              <a:ext uri="{FF2B5EF4-FFF2-40B4-BE49-F238E27FC236}">
                <a16:creationId xmlns:a16="http://schemas.microsoft.com/office/drawing/2014/main" id="{EA19408C-452F-4822-A724-43D916FF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9088" y="180022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19" name="hf-587">
            <a:extLst xmlns:a="http://schemas.openxmlformats.org/drawingml/2006/main">
              <a:ext uri="{FF2B5EF4-FFF2-40B4-BE49-F238E27FC236}">
                <a16:creationId xmlns:a16="http://schemas.microsoft.com/office/drawing/2014/main" id="{2363DF17-2B7B-404F-BB33-A57E956BB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6563" y="1943100"/>
            <a:ext cx="376238" cy="953"/>
          </a:xfrm>
          <a:custGeom xmlns:a="http://schemas.openxmlformats.org/drawingml/2006/main">
            <a:pathLst>
              <a:path w="376238" h="476">
                <a:moveTo>
                  <a:pt x="0" y="0"/>
                </a:moveTo>
                <a:lnTo>
                  <a:pt x="3762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B87F5"/>
            </a:solidFill>
          </a:ln>
        </p:spPr>
      </p:sp>
      <p:sp>
        <p:nvSpPr>
          <p:cNvPr id="20" name="hf-588">
            <a:extLst xmlns:a="http://schemas.openxmlformats.org/drawingml/2006/main">
              <a:ext uri="{FF2B5EF4-FFF2-40B4-BE49-F238E27FC236}">
                <a16:creationId xmlns:a16="http://schemas.microsoft.com/office/drawing/2014/main" id="{D4156BB2-FF73-4C6B-AB72-67022671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943100"/>
            <a:ext cx="442913" cy="953"/>
          </a:xfrm>
          <a:custGeom xmlns:a="http://schemas.openxmlformats.org/drawingml/2006/main">
            <a:pathLst>
              <a:path w="442913" h="476">
                <a:moveTo>
                  <a:pt x="0" y="0"/>
                </a:moveTo>
                <a:lnTo>
                  <a:pt x="4429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B87F5"/>
            </a:solidFill>
          </a:ln>
        </p:spPr>
      </p:sp>
      <p:sp>
        <p:nvSpPr>
          <p:cNvPr id="21" name="hf-589">
            <a:extLst xmlns:a="http://schemas.openxmlformats.org/drawingml/2006/main">
              <a:ext uri="{FF2B5EF4-FFF2-40B4-BE49-F238E27FC236}">
                <a16:creationId xmlns:a16="http://schemas.microsoft.com/office/drawing/2014/main" id="{4E7DEA54-FAC2-4C94-B19F-E4C5CEBD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8" y="311467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22" name="hf-590">
            <a:extLst xmlns:a="http://schemas.openxmlformats.org/drawingml/2006/main">
              <a:ext uri="{FF2B5EF4-FFF2-40B4-BE49-F238E27FC236}">
                <a16:creationId xmlns:a16="http://schemas.microsoft.com/office/drawing/2014/main" id="{A0877472-34F2-4871-A9E3-5B40FD2B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6813" y="311467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23" name="hf-591">
            <a:extLst xmlns:a="http://schemas.openxmlformats.org/drawingml/2006/main">
              <a:ext uri="{FF2B5EF4-FFF2-40B4-BE49-F238E27FC236}">
                <a16:creationId xmlns:a16="http://schemas.microsoft.com/office/drawing/2014/main" id="{496D7C82-7305-47E4-8823-64640FE7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8" y="311467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24" name="hf-592">
            <a:extLst xmlns:a="http://schemas.openxmlformats.org/drawingml/2006/main">
              <a:ext uri="{FF2B5EF4-FFF2-40B4-BE49-F238E27FC236}">
                <a16:creationId xmlns:a16="http://schemas.microsoft.com/office/drawing/2014/main" id="{1DAE857F-D911-4166-9631-F44B4ECF3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963" y="311467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25" name="hf-593">
            <a:extLst xmlns:a="http://schemas.openxmlformats.org/drawingml/2006/main">
              <a:ext uri="{FF2B5EF4-FFF2-40B4-BE49-F238E27FC236}">
                <a16:creationId xmlns:a16="http://schemas.microsoft.com/office/drawing/2014/main" id="{6226E3D1-D373-4B3B-9173-33745076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828925"/>
            <a:ext cx="647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2E2654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26" name="hf-594">
            <a:extLst xmlns:a="http://schemas.openxmlformats.org/drawingml/2006/main">
              <a:ext uri="{FF2B5EF4-FFF2-40B4-BE49-F238E27FC236}">
                <a16:creationId xmlns:a16="http://schemas.microsoft.com/office/drawing/2014/main" id="{D9B556DB-4BC0-44B8-9377-55EFA6EE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11467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27" name="hf-595">
            <a:extLst xmlns:a="http://schemas.openxmlformats.org/drawingml/2006/main">
              <a:ext uri="{FF2B5EF4-FFF2-40B4-BE49-F238E27FC236}">
                <a16:creationId xmlns:a16="http://schemas.microsoft.com/office/drawing/2014/main" id="{8C080713-0597-4F87-A1F9-10FD4C844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828925"/>
            <a:ext cx="647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2E2654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28" name="hf-596">
            <a:extLst xmlns:a="http://schemas.openxmlformats.org/drawingml/2006/main">
              <a:ext uri="{FF2B5EF4-FFF2-40B4-BE49-F238E27FC236}">
                <a16:creationId xmlns:a16="http://schemas.microsoft.com/office/drawing/2014/main" id="{C5855A52-FBAA-4C3D-86CC-8806FFD2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11467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29" name="hf-597">
            <a:extLst xmlns:a="http://schemas.openxmlformats.org/drawingml/2006/main">
              <a:ext uri="{FF2B5EF4-FFF2-40B4-BE49-F238E27FC236}">
                <a16:creationId xmlns:a16="http://schemas.microsoft.com/office/drawing/2014/main" id="{0D148B5C-F5D6-47D7-88DD-BEEC33CC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45757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30" name="hf-598">
            <a:extLst xmlns:a="http://schemas.openxmlformats.org/drawingml/2006/main">
              <a:ext uri="{FF2B5EF4-FFF2-40B4-BE49-F238E27FC236}">
                <a16:creationId xmlns:a16="http://schemas.microsoft.com/office/drawing/2014/main" id="{23D1E809-169A-46DC-BBD7-BB680F32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828925"/>
            <a:ext cx="6477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2E2654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31" name="hf-599">
            <a:extLst xmlns:a="http://schemas.openxmlformats.org/drawingml/2006/main">
              <a:ext uri="{FF2B5EF4-FFF2-40B4-BE49-F238E27FC236}">
                <a16:creationId xmlns:a16="http://schemas.microsoft.com/office/drawing/2014/main" id="{CDAD92C7-67A0-44F4-B992-ADEC41EA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11467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32" name="hf-600">
            <a:extLst xmlns:a="http://schemas.openxmlformats.org/drawingml/2006/main">
              <a:ext uri="{FF2B5EF4-FFF2-40B4-BE49-F238E27FC236}">
                <a16:creationId xmlns:a16="http://schemas.microsoft.com/office/drawing/2014/main" id="{2F6ED65F-31EA-49BF-A41D-1DE0A102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8863" y="311467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9B87F5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33" name="hf-601">
            <a:extLst xmlns:a="http://schemas.openxmlformats.org/drawingml/2006/main">
              <a:ext uri="{FF2B5EF4-FFF2-40B4-BE49-F238E27FC236}">
                <a16:creationId xmlns:a16="http://schemas.microsoft.com/office/drawing/2014/main" id="{1BD486BE-0EC3-4F6A-966E-D1267B0A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8938" y="311467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9B87F5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34" name="hf-602">
            <a:extLst xmlns:a="http://schemas.openxmlformats.org/drawingml/2006/main">
              <a:ext uri="{FF2B5EF4-FFF2-40B4-BE49-F238E27FC236}">
                <a16:creationId xmlns:a16="http://schemas.microsoft.com/office/drawing/2014/main" id="{0EBB019C-3E74-4EA5-8A1A-F6E61A07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013" y="311467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9B87F5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35" name="hf-603">
            <a:extLst xmlns:a="http://schemas.openxmlformats.org/drawingml/2006/main">
              <a:ext uri="{FF2B5EF4-FFF2-40B4-BE49-F238E27FC236}">
                <a16:creationId xmlns:a16="http://schemas.microsoft.com/office/drawing/2014/main" id="{A88036FF-EE14-44CF-BE35-6CC75B949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9088" y="3114675"/>
            <a:ext cx="533400" cy="2857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9B87F5"/>
          </a:solidFill>
          <a:ln xmlns:a="http://schemas.openxmlformats.org/drawingml/2006/main" w="19050">
            <a:solidFill>
              <a:srgbClr val="9B87F5"/>
            </a:solidFill>
          </a:ln>
        </p:spPr>
      </p:sp>
      <p:sp>
        <p:nvSpPr>
          <p:cNvPr id="36" name="hf-604">
            <a:extLst xmlns:a="http://schemas.openxmlformats.org/drawingml/2006/main">
              <a:ext uri="{FF2B5EF4-FFF2-40B4-BE49-F238E27FC236}">
                <a16:creationId xmlns:a16="http://schemas.microsoft.com/office/drawing/2014/main" id="{BE21FE2E-22B4-4288-BE79-83A9E3253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6563" y="3257550"/>
            <a:ext cx="376238" cy="953"/>
          </a:xfrm>
          <a:custGeom xmlns:a="http://schemas.openxmlformats.org/drawingml/2006/main">
            <a:pathLst>
              <a:path w="376238" h="476">
                <a:moveTo>
                  <a:pt x="0" y="0"/>
                </a:moveTo>
                <a:lnTo>
                  <a:pt x="3762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B87F5"/>
            </a:solidFill>
          </a:ln>
        </p:spPr>
      </p:sp>
      <p:sp>
        <p:nvSpPr>
          <p:cNvPr id="37" name="hf-605">
            <a:extLst xmlns:a="http://schemas.openxmlformats.org/drawingml/2006/main">
              <a:ext uri="{FF2B5EF4-FFF2-40B4-BE49-F238E27FC236}">
                <a16:creationId xmlns:a16="http://schemas.microsoft.com/office/drawing/2014/main" id="{55D23743-F132-4F8F-962D-032F0BAA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257550"/>
            <a:ext cx="442913" cy="953"/>
          </a:xfrm>
          <a:custGeom xmlns:a="http://schemas.openxmlformats.org/drawingml/2006/main">
            <a:pathLst>
              <a:path w="442913" h="476">
                <a:moveTo>
                  <a:pt x="0" y="0"/>
                </a:moveTo>
                <a:lnTo>
                  <a:pt x="4429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B87F5"/>
            </a:solidFill>
          </a:ln>
        </p:spPr>
      </p:sp>
      <p:sp>
        <p:nvSpPr>
          <p:cNvPr id="38" name="hf-606">
            <a:extLst xmlns:a="http://schemas.openxmlformats.org/drawingml/2006/main">
              <a:ext uri="{FF2B5EF4-FFF2-40B4-BE49-F238E27FC236}">
                <a16:creationId xmlns:a16="http://schemas.microsoft.com/office/drawing/2014/main" id="{E99A696F-7861-48AE-98E9-8CE4EA6E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277188"/>
            <a:ext cx="43673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вход</a:t>
            </a:r>
          </a:p>
        </p:txBody>
      </p:sp>
      <p:sp>
        <p:nvSpPr>
          <p:cNvPr id="39" name="hf-607">
            <a:extLst xmlns:a="http://schemas.openxmlformats.org/drawingml/2006/main">
              <a:ext uri="{FF2B5EF4-FFF2-40B4-BE49-F238E27FC236}">
                <a16:creationId xmlns:a16="http://schemas.microsoft.com/office/drawing/2014/main" id="{DF1120EB-606C-4C0F-9DB1-22509408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277188"/>
            <a:ext cx="246035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</a:rPr>
              <a:t>проход 1 · младший полубайт</a:t>
            </a:r>
          </a:p>
        </p:txBody>
      </p:sp>
      <p:sp>
        <p:nvSpPr>
          <p:cNvPr id="40" name="hf-608">
            <a:extLst xmlns:a="http://schemas.openxmlformats.org/drawingml/2006/main">
              <a:ext uri="{FF2B5EF4-FFF2-40B4-BE49-F238E27FC236}">
                <a16:creationId xmlns:a16="http://schemas.microsoft.com/office/drawing/2014/main" id="{3080DB92-2FA7-4D00-B3ED-4EF88C74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9338" y="1277188"/>
            <a:ext cx="8726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после 1-го</a:t>
            </a:r>
          </a:p>
        </p:txBody>
      </p:sp>
      <p:sp>
        <p:nvSpPr>
          <p:cNvPr id="41" name="hf-609">
            <a:extLst xmlns:a="http://schemas.openxmlformats.org/drawingml/2006/main">
              <a:ext uri="{FF2B5EF4-FFF2-40B4-BE49-F238E27FC236}">
                <a16:creationId xmlns:a16="http://schemas.microsoft.com/office/drawing/2014/main" id="{C9B0F143-3383-4DD3-B632-58F5555F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019" y="1774508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0x1A</a:t>
            </a:r>
          </a:p>
        </p:txBody>
      </p:sp>
      <p:sp>
        <p:nvSpPr>
          <p:cNvPr id="42" name="hf-610">
            <a:extLst xmlns:a="http://schemas.openxmlformats.org/drawingml/2006/main">
              <a:ext uri="{FF2B5EF4-FFF2-40B4-BE49-F238E27FC236}">
                <a16:creationId xmlns:a16="http://schemas.microsoft.com/office/drawing/2014/main" id="{5376CBBB-E4CD-4305-9129-C50B6D50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4094" y="1774508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0x03</a:t>
            </a:r>
          </a:p>
        </p:txBody>
      </p:sp>
      <p:sp>
        <p:nvSpPr>
          <p:cNvPr id="43" name="hf-611">
            <a:extLst xmlns:a="http://schemas.openxmlformats.org/drawingml/2006/main">
              <a:ext uri="{FF2B5EF4-FFF2-40B4-BE49-F238E27FC236}">
                <a16:creationId xmlns:a16="http://schemas.microsoft.com/office/drawing/2014/main" id="{6F38E0B5-404A-4CA9-8AD2-67CE9BAD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4169" y="1774508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0x2A</a:t>
            </a:r>
          </a:p>
        </p:txBody>
      </p:sp>
      <p:sp>
        <p:nvSpPr>
          <p:cNvPr id="44" name="hf-612">
            <a:extLst xmlns:a="http://schemas.openxmlformats.org/drawingml/2006/main">
              <a:ext uri="{FF2B5EF4-FFF2-40B4-BE49-F238E27FC236}">
                <a16:creationId xmlns:a16="http://schemas.microsoft.com/office/drawing/2014/main" id="{65F899BD-A81E-4B34-9049-069BF800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244" y="1774508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0x11</a:t>
            </a:r>
          </a:p>
        </p:txBody>
      </p:sp>
      <p:sp>
        <p:nvSpPr>
          <p:cNvPr id="45" name="hf-613">
            <a:extLst xmlns:a="http://schemas.openxmlformats.org/drawingml/2006/main">
              <a:ext uri="{FF2B5EF4-FFF2-40B4-BE49-F238E27FC236}">
                <a16:creationId xmlns:a16="http://schemas.microsoft.com/office/drawing/2014/main" id="{B6E28C81-1CD5-4A14-9BAF-67B4F3C6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8579" y="1593533"/>
            <a:ext cx="286569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500" b="1" i="0">
                <a:solidFill>
                  <a:srgbClr val="9B87F5"/>
                </a:solidFill>
                <a:latin typeface="Menlo"/>
                <a:ea typeface="Menlo"/>
                <a:cs typeface="Menlo"/>
              </a:rPr>
              <a:t>·1</a:t>
            </a:r>
          </a:p>
        </p:txBody>
      </p:sp>
      <p:sp>
        <p:nvSpPr>
          <p:cNvPr id="46" name="hf-614">
            <a:extLst xmlns:a="http://schemas.openxmlformats.org/drawingml/2006/main">
              <a:ext uri="{FF2B5EF4-FFF2-40B4-BE49-F238E27FC236}">
                <a16:creationId xmlns:a16="http://schemas.microsoft.com/office/drawing/2014/main" id="{3EB621C1-B519-4489-9A7E-77F9E583E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3906" y="1774508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0x11</a:t>
            </a:r>
          </a:p>
        </p:txBody>
      </p:sp>
      <p:sp>
        <p:nvSpPr>
          <p:cNvPr id="47" name="hf-615">
            <a:extLst xmlns:a="http://schemas.openxmlformats.org/drawingml/2006/main">
              <a:ext uri="{FF2B5EF4-FFF2-40B4-BE49-F238E27FC236}">
                <a16:creationId xmlns:a16="http://schemas.microsoft.com/office/drawing/2014/main" id="{162C752C-52F9-4057-8D72-A1392356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529" y="1593533"/>
            <a:ext cx="286569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500" b="1" i="0">
                <a:solidFill>
                  <a:srgbClr val="9B87F5"/>
                </a:solidFill>
                <a:latin typeface="Menlo"/>
                <a:ea typeface="Menlo"/>
                <a:cs typeface="Menlo"/>
              </a:rPr>
              <a:t>·3</a:t>
            </a:r>
          </a:p>
        </p:txBody>
      </p:sp>
      <p:sp>
        <p:nvSpPr>
          <p:cNvPr id="48" name="hf-616">
            <a:extLst xmlns:a="http://schemas.openxmlformats.org/drawingml/2006/main">
              <a:ext uri="{FF2B5EF4-FFF2-40B4-BE49-F238E27FC236}">
                <a16:creationId xmlns:a16="http://schemas.microsoft.com/office/drawing/2014/main" id="{069CE8DD-E10E-4797-833D-F88AC601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856" y="1774508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0x03</a:t>
            </a:r>
          </a:p>
        </p:txBody>
      </p:sp>
      <p:sp>
        <p:nvSpPr>
          <p:cNvPr id="49" name="hf-617">
            <a:extLst xmlns:a="http://schemas.openxmlformats.org/drawingml/2006/main">
              <a:ext uri="{FF2B5EF4-FFF2-40B4-BE49-F238E27FC236}">
                <a16:creationId xmlns:a16="http://schemas.microsoft.com/office/drawing/2014/main" id="{6862648E-2EA3-4795-8A46-DE963E03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479" y="1593533"/>
            <a:ext cx="286569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500" b="1" i="0">
                <a:solidFill>
                  <a:srgbClr val="9B87F5"/>
                </a:solidFill>
                <a:latin typeface="Menlo"/>
                <a:ea typeface="Menlo"/>
                <a:cs typeface="Menlo"/>
              </a:rPr>
              <a:t>·A</a:t>
            </a:r>
          </a:p>
        </p:txBody>
      </p:sp>
      <p:sp>
        <p:nvSpPr>
          <p:cNvPr id="50" name="hf-618">
            <a:extLst xmlns:a="http://schemas.openxmlformats.org/drawingml/2006/main">
              <a:ext uri="{FF2B5EF4-FFF2-40B4-BE49-F238E27FC236}">
                <a16:creationId xmlns:a16="http://schemas.microsoft.com/office/drawing/2014/main" id="{2921E929-A4CF-41AC-B8FE-D064090C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9806" y="1774508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0x1A</a:t>
            </a:r>
          </a:p>
        </p:txBody>
      </p:sp>
      <p:sp>
        <p:nvSpPr>
          <p:cNvPr id="51" name="hf-619">
            <a:extLst xmlns:a="http://schemas.openxmlformats.org/drawingml/2006/main">
              <a:ext uri="{FF2B5EF4-FFF2-40B4-BE49-F238E27FC236}">
                <a16:creationId xmlns:a16="http://schemas.microsoft.com/office/drawing/2014/main" id="{BD27D5AC-5407-4C85-9407-86C6422C6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9806" y="2117408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0x2A</a:t>
            </a:r>
          </a:p>
        </p:txBody>
      </p:sp>
      <p:sp>
        <p:nvSpPr>
          <p:cNvPr id="52" name="hf-620">
            <a:extLst xmlns:a="http://schemas.openxmlformats.org/drawingml/2006/main">
              <a:ext uri="{FF2B5EF4-FFF2-40B4-BE49-F238E27FC236}">
                <a16:creationId xmlns:a16="http://schemas.microsoft.com/office/drawing/2014/main" id="{5285E1F1-876F-407D-AD9F-81FA1E57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6144" y="1774508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0x11</a:t>
            </a:r>
          </a:p>
        </p:txBody>
      </p:sp>
      <p:sp>
        <p:nvSpPr>
          <p:cNvPr id="53" name="hf-621">
            <a:extLst xmlns:a="http://schemas.openxmlformats.org/drawingml/2006/main">
              <a:ext uri="{FF2B5EF4-FFF2-40B4-BE49-F238E27FC236}">
                <a16:creationId xmlns:a16="http://schemas.microsoft.com/office/drawing/2014/main" id="{EA3AF01D-DF5E-4162-AEB9-EC20D99E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6219" y="1774508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0x03</a:t>
            </a:r>
          </a:p>
        </p:txBody>
      </p:sp>
      <p:sp>
        <p:nvSpPr>
          <p:cNvPr id="54" name="hf-622">
            <a:extLst xmlns:a="http://schemas.openxmlformats.org/drawingml/2006/main">
              <a:ext uri="{FF2B5EF4-FFF2-40B4-BE49-F238E27FC236}">
                <a16:creationId xmlns:a16="http://schemas.microsoft.com/office/drawing/2014/main" id="{4BBAC336-C46A-4A00-BEE0-0CE491B8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94" y="1774508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0x1A</a:t>
            </a:r>
          </a:p>
        </p:txBody>
      </p:sp>
      <p:sp>
        <p:nvSpPr>
          <p:cNvPr id="55" name="hf-623">
            <a:extLst xmlns:a="http://schemas.openxmlformats.org/drawingml/2006/main">
              <a:ext uri="{FF2B5EF4-FFF2-40B4-BE49-F238E27FC236}">
                <a16:creationId xmlns:a16="http://schemas.microsoft.com/office/drawing/2014/main" id="{0E654525-1FA9-46B9-AAA9-CE2A1F0C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6369" y="1774508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0x2A</a:t>
            </a:r>
          </a:p>
        </p:txBody>
      </p:sp>
      <p:sp>
        <p:nvSpPr>
          <p:cNvPr id="56" name="hf-624">
            <a:extLst xmlns:a="http://schemas.openxmlformats.org/drawingml/2006/main">
              <a:ext uri="{FF2B5EF4-FFF2-40B4-BE49-F238E27FC236}">
                <a16:creationId xmlns:a16="http://schemas.microsoft.com/office/drawing/2014/main" id="{6CF9C2A2-8F5A-43B3-AD66-AC641ABF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591638"/>
            <a:ext cx="8726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после 1-го</a:t>
            </a:r>
          </a:p>
        </p:txBody>
      </p:sp>
      <p:sp>
        <p:nvSpPr>
          <p:cNvPr id="57" name="hf-625">
            <a:extLst xmlns:a="http://schemas.openxmlformats.org/drawingml/2006/main">
              <a:ext uri="{FF2B5EF4-FFF2-40B4-BE49-F238E27FC236}">
                <a16:creationId xmlns:a16="http://schemas.microsoft.com/office/drawing/2014/main" id="{4571A6F3-1F39-4A73-BECF-EB1BEDB8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91638"/>
            <a:ext cx="243624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</a:rPr>
              <a:t>проход 2 · старший полубайт</a:t>
            </a:r>
          </a:p>
        </p:txBody>
      </p:sp>
      <p:sp>
        <p:nvSpPr>
          <p:cNvPr id="58" name="hf-626">
            <a:extLst xmlns:a="http://schemas.openxmlformats.org/drawingml/2006/main">
              <a:ext uri="{FF2B5EF4-FFF2-40B4-BE49-F238E27FC236}">
                <a16:creationId xmlns:a16="http://schemas.microsoft.com/office/drawing/2014/main" id="{BE2F3D26-DE70-496A-8283-0F7A748F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9338" y="2591638"/>
            <a:ext cx="1293391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</a:rPr>
              <a:t>отсортировано</a:t>
            </a:r>
          </a:p>
        </p:txBody>
      </p:sp>
      <p:sp>
        <p:nvSpPr>
          <p:cNvPr id="59" name="hf-627">
            <a:extLst xmlns:a="http://schemas.openxmlformats.org/drawingml/2006/main">
              <a:ext uri="{FF2B5EF4-FFF2-40B4-BE49-F238E27FC236}">
                <a16:creationId xmlns:a16="http://schemas.microsoft.com/office/drawing/2014/main" id="{EA86A2D1-5893-4E45-A895-2486704B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019" y="3088957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0x11</a:t>
            </a:r>
          </a:p>
        </p:txBody>
      </p:sp>
      <p:sp>
        <p:nvSpPr>
          <p:cNvPr id="60" name="hf-628">
            <a:extLst xmlns:a="http://schemas.openxmlformats.org/drawingml/2006/main">
              <a:ext uri="{FF2B5EF4-FFF2-40B4-BE49-F238E27FC236}">
                <a16:creationId xmlns:a16="http://schemas.microsoft.com/office/drawing/2014/main" id="{973791F8-DA62-4E81-A4CA-844177B1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4094" y="3088957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0x03</a:t>
            </a:r>
          </a:p>
        </p:txBody>
      </p:sp>
      <p:sp>
        <p:nvSpPr>
          <p:cNvPr id="61" name="hf-629">
            <a:extLst xmlns:a="http://schemas.openxmlformats.org/drawingml/2006/main">
              <a:ext uri="{FF2B5EF4-FFF2-40B4-BE49-F238E27FC236}">
                <a16:creationId xmlns:a16="http://schemas.microsoft.com/office/drawing/2014/main" id="{C4E5FFAA-2007-4968-8912-9184E370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4169" y="3088957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0x1A</a:t>
            </a:r>
          </a:p>
        </p:txBody>
      </p:sp>
      <p:sp>
        <p:nvSpPr>
          <p:cNvPr id="62" name="hf-630">
            <a:extLst xmlns:a="http://schemas.openxmlformats.org/drawingml/2006/main">
              <a:ext uri="{FF2B5EF4-FFF2-40B4-BE49-F238E27FC236}">
                <a16:creationId xmlns:a16="http://schemas.microsoft.com/office/drawing/2014/main" id="{D8427427-9F7F-4B42-A7B3-46692B34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244" y="3088957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0x2A</a:t>
            </a:r>
          </a:p>
        </p:txBody>
      </p:sp>
      <p:sp>
        <p:nvSpPr>
          <p:cNvPr id="63" name="hf-631">
            <a:extLst xmlns:a="http://schemas.openxmlformats.org/drawingml/2006/main">
              <a:ext uri="{FF2B5EF4-FFF2-40B4-BE49-F238E27FC236}">
                <a16:creationId xmlns:a16="http://schemas.microsoft.com/office/drawing/2014/main" id="{EA09F685-790A-42A9-8902-112BFC0A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8579" y="2907982"/>
            <a:ext cx="286569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500" b="1" i="0">
                <a:solidFill>
                  <a:srgbClr val="9B87F5"/>
                </a:solidFill>
                <a:latin typeface="Menlo"/>
                <a:ea typeface="Menlo"/>
                <a:cs typeface="Menlo"/>
              </a:rPr>
              <a:t>0·</a:t>
            </a:r>
          </a:p>
        </p:txBody>
      </p:sp>
      <p:sp>
        <p:nvSpPr>
          <p:cNvPr id="64" name="hf-632">
            <a:extLst xmlns:a="http://schemas.openxmlformats.org/drawingml/2006/main">
              <a:ext uri="{FF2B5EF4-FFF2-40B4-BE49-F238E27FC236}">
                <a16:creationId xmlns:a16="http://schemas.microsoft.com/office/drawing/2014/main" id="{7788E862-97FD-4E6E-85ED-B4BA50F9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3906" y="3088957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0x03</a:t>
            </a:r>
          </a:p>
        </p:txBody>
      </p:sp>
      <p:sp>
        <p:nvSpPr>
          <p:cNvPr id="65" name="hf-633">
            <a:extLst xmlns:a="http://schemas.openxmlformats.org/drawingml/2006/main">
              <a:ext uri="{FF2B5EF4-FFF2-40B4-BE49-F238E27FC236}">
                <a16:creationId xmlns:a16="http://schemas.microsoft.com/office/drawing/2014/main" id="{82486966-2F9C-46A1-BD7F-B598B1F2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529" y="2907982"/>
            <a:ext cx="286569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500" b="1" i="0">
                <a:solidFill>
                  <a:srgbClr val="9B87F5"/>
                </a:solidFill>
                <a:latin typeface="Menlo"/>
                <a:ea typeface="Menlo"/>
                <a:cs typeface="Menlo"/>
              </a:rPr>
              <a:t>1·</a:t>
            </a:r>
          </a:p>
        </p:txBody>
      </p:sp>
      <p:sp>
        <p:nvSpPr>
          <p:cNvPr id="66" name="hf-634">
            <a:extLst xmlns:a="http://schemas.openxmlformats.org/drawingml/2006/main">
              <a:ext uri="{FF2B5EF4-FFF2-40B4-BE49-F238E27FC236}">
                <a16:creationId xmlns:a16="http://schemas.microsoft.com/office/drawing/2014/main" id="{7BB63C5F-27E8-401E-9FB2-CE8572A80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856" y="3088957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0x11</a:t>
            </a:r>
          </a:p>
        </p:txBody>
      </p:sp>
      <p:sp>
        <p:nvSpPr>
          <p:cNvPr id="67" name="hf-635">
            <a:extLst xmlns:a="http://schemas.openxmlformats.org/drawingml/2006/main">
              <a:ext uri="{FF2B5EF4-FFF2-40B4-BE49-F238E27FC236}">
                <a16:creationId xmlns:a16="http://schemas.microsoft.com/office/drawing/2014/main" id="{0E03E939-A026-48BB-BF0F-BD5E7554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856" y="3431857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0x1A</a:t>
            </a:r>
          </a:p>
        </p:txBody>
      </p:sp>
      <p:sp>
        <p:nvSpPr>
          <p:cNvPr id="68" name="hf-636">
            <a:extLst xmlns:a="http://schemas.openxmlformats.org/drawingml/2006/main">
              <a:ext uri="{FF2B5EF4-FFF2-40B4-BE49-F238E27FC236}">
                <a16:creationId xmlns:a16="http://schemas.microsoft.com/office/drawing/2014/main" id="{69A0AEE2-6AA6-4385-80DC-C5E54CAE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479" y="2907982"/>
            <a:ext cx="286569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500" b="1" i="0">
                <a:solidFill>
                  <a:srgbClr val="9B87F5"/>
                </a:solidFill>
                <a:latin typeface="Menlo"/>
                <a:ea typeface="Menlo"/>
                <a:cs typeface="Menlo"/>
              </a:rPr>
              <a:t>2·</a:t>
            </a:r>
          </a:p>
        </p:txBody>
      </p:sp>
      <p:sp>
        <p:nvSpPr>
          <p:cNvPr id="69" name="hf-637">
            <a:extLst xmlns:a="http://schemas.openxmlformats.org/drawingml/2006/main">
              <a:ext uri="{FF2B5EF4-FFF2-40B4-BE49-F238E27FC236}">
                <a16:creationId xmlns:a16="http://schemas.microsoft.com/office/drawing/2014/main" id="{C80D9FC6-9E36-4DD8-A9C5-56D55CEF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9806" y="3088957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0x2A</a:t>
            </a:r>
          </a:p>
        </p:txBody>
      </p:sp>
      <p:sp>
        <p:nvSpPr>
          <p:cNvPr id="70" name="hf-638">
            <a:extLst xmlns:a="http://schemas.openxmlformats.org/drawingml/2006/main">
              <a:ext uri="{FF2B5EF4-FFF2-40B4-BE49-F238E27FC236}">
                <a16:creationId xmlns:a16="http://schemas.microsoft.com/office/drawing/2014/main" id="{2A14F300-0077-475B-90FD-58D880D5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6144" y="3088957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0x03</a:t>
            </a:r>
          </a:p>
        </p:txBody>
      </p:sp>
      <p:sp>
        <p:nvSpPr>
          <p:cNvPr id="71" name="hf-639">
            <a:extLst xmlns:a="http://schemas.openxmlformats.org/drawingml/2006/main">
              <a:ext uri="{FF2B5EF4-FFF2-40B4-BE49-F238E27FC236}">
                <a16:creationId xmlns:a16="http://schemas.microsoft.com/office/drawing/2014/main" id="{EBA1BBDF-2631-4243-B12F-AF70AA512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6219" y="3088957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0x11</a:t>
            </a:r>
          </a:p>
        </p:txBody>
      </p:sp>
      <p:sp>
        <p:nvSpPr>
          <p:cNvPr id="72" name="hf-640">
            <a:extLst xmlns:a="http://schemas.openxmlformats.org/drawingml/2006/main">
              <a:ext uri="{FF2B5EF4-FFF2-40B4-BE49-F238E27FC236}">
                <a16:creationId xmlns:a16="http://schemas.microsoft.com/office/drawing/2014/main" id="{EFE70DAA-1D23-4222-8089-2051EC56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94" y="3088957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0x1A</a:t>
            </a:r>
          </a:p>
        </p:txBody>
      </p:sp>
      <p:sp>
        <p:nvSpPr>
          <p:cNvPr id="73" name="hf-641">
            <a:extLst xmlns:a="http://schemas.openxmlformats.org/drawingml/2006/main">
              <a:ext uri="{FF2B5EF4-FFF2-40B4-BE49-F238E27FC236}">
                <a16:creationId xmlns:a16="http://schemas.microsoft.com/office/drawing/2014/main" id="{B7AD3B4C-62FD-4A06-B914-7C794426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6369" y="3088957"/>
            <a:ext cx="5159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500" b="1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0x2A</a:t>
            </a:r>
          </a:p>
        </p:txBody>
      </p:sp>
      <p:sp>
        <p:nvSpPr>
          <p:cNvPr id="74" name="hf-642">
            <a:extLst xmlns:a="http://schemas.openxmlformats.org/drawingml/2006/main">
              <a:ext uri="{FF2B5EF4-FFF2-40B4-BE49-F238E27FC236}">
                <a16:creationId xmlns:a16="http://schemas.microsoft.com/office/drawing/2014/main" id="{8C82C624-28C3-4D58-922F-315F47CD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952875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75" name="hf-643">
            <a:extLst xmlns:a="http://schemas.openxmlformats.org/drawingml/2006/main">
              <a:ext uri="{FF2B5EF4-FFF2-40B4-BE49-F238E27FC236}">
                <a16:creationId xmlns:a16="http://schemas.microsoft.com/office/drawing/2014/main" id="{B251B0AD-C2B6-4F50-A045-8B1B75E1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095255"/>
            <a:ext cx="292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2700" b="1" i="0">
                <a:solidFill>
                  <a:srgbClr val="9B87F5"/>
                </a:solidFill>
                <a:latin typeface="Montserrat ExtraBold"/>
                <a:ea typeface="Montserrat ExtraBold"/>
                <a:cs typeface="Montserrat ExtraBold"/>
              </a:rPr>
              <a:t>0</a:t>
            </a:r>
          </a:p>
        </p:txBody>
      </p:sp>
      <p:sp>
        <p:nvSpPr>
          <p:cNvPr id="76" name="hf-644">
            <a:extLst xmlns:a="http://schemas.openxmlformats.org/drawingml/2006/main">
              <a:ext uri="{FF2B5EF4-FFF2-40B4-BE49-F238E27FC236}">
                <a16:creationId xmlns:a16="http://schemas.microsoft.com/office/drawing/2014/main" id="{9422B045-F7F1-405E-91D1-E7A42DBC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212" y="4064756"/>
            <a:ext cx="1364307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сравнений</a:t>
            </a:r>
          </a:p>
        </p:txBody>
      </p:sp>
      <p:sp>
        <p:nvSpPr>
          <p:cNvPr id="77" name="hf-645">
            <a:extLst xmlns:a="http://schemas.openxmlformats.org/drawingml/2006/main">
              <a:ext uri="{FF2B5EF4-FFF2-40B4-BE49-F238E27FC236}">
                <a16:creationId xmlns:a16="http://schemas.microsoft.com/office/drawing/2014/main" id="{F8E2DE36-148B-4EC9-B7F7-D2EC8BF93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267" y="4095255"/>
            <a:ext cx="33359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2700" b="1" i="0">
                <a:solidFill>
                  <a:srgbClr val="9B87F5"/>
                </a:solidFill>
                <a:latin typeface="Montserrat ExtraBold"/>
                <a:ea typeface="Montserrat ExtraBold"/>
                <a:cs typeface="Montserrat ExtraBold"/>
              </a:rPr>
              <a:t>N</a:t>
            </a:r>
          </a:p>
        </p:txBody>
      </p:sp>
      <p:sp>
        <p:nvSpPr>
          <p:cNvPr id="78" name="hf-646">
            <a:extLst xmlns:a="http://schemas.openxmlformats.org/drawingml/2006/main">
              <a:ext uri="{FF2B5EF4-FFF2-40B4-BE49-F238E27FC236}">
                <a16:creationId xmlns:a16="http://schemas.microsoft.com/office/drawing/2014/main" id="{D6ACA038-D9AA-4BCF-B0AF-8F44F2E9C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64756"/>
            <a:ext cx="1169417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буфер на </a:t>
            </a:r>
          </a:p>
        </p:txBody>
      </p:sp>
      <p:sp>
        <p:nvSpPr>
          <p:cNvPr id="79" name="hf-647">
            <a:extLst xmlns:a="http://schemas.openxmlformats.org/drawingml/2006/main">
              <a:ext uri="{FF2B5EF4-FFF2-40B4-BE49-F238E27FC236}">
                <a16:creationId xmlns:a16="http://schemas.microsoft.com/office/drawing/2014/main" id="{A434BC20-4CEF-4755-9081-20D63AE7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064756"/>
            <a:ext cx="144854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для </a:t>
            </a:r>
            <a:r>
              <a:rPr sz="1650" b="1" i="0">
                <a:solidFill>
                  <a:srgbClr val="9B87F5"/>
                </a:solidFill>
                <a:latin typeface="Montserrat"/>
                <a:ea typeface="Montserrat"/>
                <a:cs typeface="Montserrat"/>
              </a:rPr>
              <a:t>uint64_t</a:t>
            </a:r>
          </a:p>
        </p:txBody>
      </p:sp>
      <p:pic>
        <p:nvPicPr>
          <p:cNvPr id="80" name="hf-648">
            <a:extLst xmlns:a="http://schemas.openxmlformats.org/drawingml/2006/main">
              <a:ext uri="{FF2B5EF4-FFF2-40B4-BE49-F238E27FC236}">
                <a16:creationId xmlns:a16="http://schemas.microsoft.com/office/drawing/2014/main" id="{02DBA41D-2B22-4D0E-9ADA-8759E0D32F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0a06b4d55344c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81" name="hf-649">
            <a:extLst xmlns:a="http://schemas.openxmlformats.org/drawingml/2006/main">
              <a:ext uri="{FF2B5EF4-FFF2-40B4-BE49-F238E27FC236}">
                <a16:creationId xmlns:a16="http://schemas.microsoft.com/office/drawing/2014/main" id="{CC18D6C9-363C-4D51-9A3D-2905746A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583324869"/>
      </p:ext>
    </p:extLst>
  </p:cSld>
</p:sld>
</file>

<file path=ppt/slides/slide29.xml><?xml version="1.0" encoding="utf-8"?>
<p:sld xmlns:p="http://schemas.openxmlformats.org/presentationml/2006/main" show="0">
  <p:cSld name="learned-table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650">
            <a:extLst xmlns:a="http://schemas.openxmlformats.org/drawingml/2006/main">
              <a:ext uri="{FF2B5EF4-FFF2-40B4-BE49-F238E27FC236}">
                <a16:creationId xmlns:a16="http://schemas.microsoft.com/office/drawing/2014/main" id="{29AF294D-08CE-47BB-93A2-8E84DE427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43390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ДОПОЛНИТЕЛЬНЫЙ МОДУЛЬ · КОНТРОЛЬ ОПЫТА</a:t>
            </a:r>
          </a:p>
        </p:txBody>
      </p:sp>
      <p:sp>
        <p:nvSpPr>
          <p:cNvPr id="3" name="hf-651">
            <a:extLst xmlns:a="http://schemas.openxmlformats.org/drawingml/2006/main">
              <a:ext uri="{FF2B5EF4-FFF2-40B4-BE49-F238E27FC236}">
                <a16:creationId xmlns:a16="http://schemas.microsoft.com/office/drawing/2014/main" id="{C600641C-C98B-41AC-8CB9-7EED1BD93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825430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КОНТРОЛЬНЫЕ ОПЫТЫ БЕНЧМАРКА</a:t>
            </a:r>
          </a:p>
        </p:txBody>
      </p:sp>
      <p:sp>
        <p:nvSpPr>
          <p:cNvPr id="4" name="hf-652">
            <a:extLst xmlns:a="http://schemas.openxmlformats.org/drawingml/2006/main">
              <a:ext uri="{FF2B5EF4-FFF2-40B4-BE49-F238E27FC236}">
                <a16:creationId xmlns:a16="http://schemas.microsoft.com/office/drawing/2014/main" id="{25F69AEF-6AEF-44A0-82AA-16782A23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68107"/>
            <a:ext cx="1317501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x86 · Linux</a:t>
            </a:r>
          </a:p>
        </p:txBody>
      </p:sp>
      <p:sp>
        <p:nvSpPr>
          <p:cNvPr id="5" name="hf-653">
            <a:extLst xmlns:a="http://schemas.openxmlformats.org/drawingml/2006/main">
              <a:ext uri="{FF2B5EF4-FFF2-40B4-BE49-F238E27FC236}">
                <a16:creationId xmlns:a16="http://schemas.microsoft.com/office/drawing/2014/main" id="{51E98B8A-23B2-4A42-80D8-5BCC67CC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846517"/>
            <a:ext cx="2814191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62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Один восстановленный: </a:t>
            </a: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9,7</a:t>
            </a:r>
          </a:p>
        </p:txBody>
      </p:sp>
      <p:sp>
        <p:nvSpPr>
          <p:cNvPr id="6" name="hf-654">
            <a:extLst xmlns:a="http://schemas.openxmlformats.org/drawingml/2006/main">
              <a:ext uri="{FF2B5EF4-FFF2-40B4-BE49-F238E27FC236}">
                <a16:creationId xmlns:a16="http://schemas.microsoft.com/office/drawing/2014/main" id="{4A600CF0-7AC3-480A-8C30-68977C8A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179892"/>
            <a:ext cx="262317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62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64 одинаковые копии: </a:t>
            </a: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9,6</a:t>
            </a:r>
          </a:p>
        </p:txBody>
      </p:sp>
      <p:sp>
        <p:nvSpPr>
          <p:cNvPr id="7" name="hf-655">
            <a:extLst xmlns:a="http://schemas.openxmlformats.org/drawingml/2006/main">
              <a:ext uri="{FF2B5EF4-FFF2-40B4-BE49-F238E27FC236}">
                <a16:creationId xmlns:a16="http://schemas.microsoft.com/office/drawing/2014/main" id="{A3C439B3-F984-4D64-8EB5-6EF016BC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513267"/>
            <a:ext cx="246883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62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64 разных массива: </a:t>
            </a: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46,9</a:t>
            </a:r>
          </a:p>
        </p:txBody>
      </p:sp>
      <p:sp>
        <p:nvSpPr>
          <p:cNvPr id="8" name="hf-656">
            <a:extLst xmlns:a="http://schemas.openxmlformats.org/drawingml/2006/main">
              <a:ext uri="{FF2B5EF4-FFF2-40B4-BE49-F238E27FC236}">
                <a16:creationId xmlns:a16="http://schemas.microsoft.com/office/drawing/2014/main" id="{475D6CB4-7FE2-4A37-ABC1-A902FB6A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846642"/>
            <a:ext cx="318075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62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Разные через один буфер: </a:t>
            </a: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46,8</a:t>
            </a:r>
          </a:p>
        </p:txBody>
      </p:sp>
      <p:sp>
        <p:nvSpPr>
          <p:cNvPr id="9" name="hf-657">
            <a:extLst xmlns:a="http://schemas.openxmlformats.org/drawingml/2006/main">
              <a:ext uri="{FF2B5EF4-FFF2-40B4-BE49-F238E27FC236}">
                <a16:creationId xmlns:a16="http://schemas.microsoft.com/office/drawing/2014/main" id="{EFABC32C-1D91-41C7-92D9-99BD4890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41942"/>
            <a:ext cx="3414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нс на элемент · один буфер 8 КиБ</a:t>
            </a:r>
          </a:p>
        </p:txBody>
      </p:sp>
      <p:sp>
        <p:nvSpPr>
          <p:cNvPr id="10" name="hf-658">
            <a:extLst xmlns:a="http://schemas.openxmlformats.org/drawingml/2006/main">
              <a:ext uri="{FF2B5EF4-FFF2-40B4-BE49-F238E27FC236}">
                <a16:creationId xmlns:a16="http://schemas.microsoft.com/office/drawing/2014/main" id="{663B9288-0F30-4C79-B6E6-5B898D44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468107"/>
            <a:ext cx="87533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M2 Pro</a:t>
            </a:r>
          </a:p>
        </p:txBody>
      </p:sp>
      <p:sp>
        <p:nvSpPr>
          <p:cNvPr id="11" name="hf-659">
            <a:extLst xmlns:a="http://schemas.openxmlformats.org/drawingml/2006/main">
              <a:ext uri="{FF2B5EF4-FFF2-40B4-BE49-F238E27FC236}">
                <a16:creationId xmlns:a16="http://schemas.microsoft.com/office/drawing/2014/main" id="{45F2EC80-7355-4A8F-99C7-60B98B62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870329"/>
            <a:ext cx="1816819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Нативная macOS</a:t>
            </a:r>
          </a:p>
        </p:txBody>
      </p:sp>
      <p:sp>
        <p:nvSpPr>
          <p:cNvPr id="12" name="hf-660">
            <a:extLst xmlns:a="http://schemas.openxmlformats.org/drawingml/2006/main">
              <a:ext uri="{FF2B5EF4-FFF2-40B4-BE49-F238E27FC236}">
                <a16:creationId xmlns:a16="http://schemas.microsoft.com/office/drawing/2014/main" id="{345018D8-F03A-42F3-893F-64789743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156079"/>
            <a:ext cx="3001417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Один массив 6,8 · разные 14,4</a:t>
            </a:r>
          </a:p>
        </p:txBody>
      </p:sp>
      <p:sp>
        <p:nvSpPr>
          <p:cNvPr id="13" name="hf-661">
            <a:extLst xmlns:a="http://schemas.openxmlformats.org/drawingml/2006/main">
              <a:ext uri="{FF2B5EF4-FFF2-40B4-BE49-F238E27FC236}">
                <a16:creationId xmlns:a16="http://schemas.microsoft.com/office/drawing/2014/main" id="{71C8BD1C-F764-40DB-B7F9-70272F10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679954"/>
            <a:ext cx="219722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Контроль в Linux VM</a:t>
            </a:r>
          </a:p>
        </p:txBody>
      </p:sp>
      <p:sp>
        <p:nvSpPr>
          <p:cNvPr id="14" name="hf-662">
            <a:extLst xmlns:a="http://schemas.openxmlformats.org/drawingml/2006/main">
              <a:ext uri="{FF2B5EF4-FFF2-40B4-BE49-F238E27FC236}">
                <a16:creationId xmlns:a16="http://schemas.microsoft.com/office/drawing/2014/main" id="{728D396C-43F2-4F1F-8A3B-DE805EA0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65704"/>
            <a:ext cx="368744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Одинаковые копии тоже медленнее</a:t>
            </a:r>
          </a:p>
        </p:txBody>
      </p:sp>
      <p:sp>
        <p:nvSpPr>
          <p:cNvPr id="15" name="hf-663">
            <a:extLst xmlns:a="http://schemas.openxmlformats.org/drawingml/2006/main">
              <a:ext uri="{FF2B5EF4-FFF2-40B4-BE49-F238E27FC236}">
                <a16:creationId xmlns:a16="http://schemas.microsoft.com/office/drawing/2014/main" id="{2EE3DECA-F99D-494A-A703-30EC1C4C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51454"/>
            <a:ext cx="352886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одного восстановленного массива</a:t>
            </a:r>
          </a:p>
        </p:txBody>
      </p:sp>
      <p:sp>
        <p:nvSpPr>
          <p:cNvPr id="16" name="hf-664">
            <a:extLst xmlns:a="http://schemas.openxmlformats.org/drawingml/2006/main">
              <a:ext uri="{FF2B5EF4-FFF2-40B4-BE49-F238E27FC236}">
                <a16:creationId xmlns:a16="http://schemas.microsoft.com/office/drawing/2014/main" id="{924CEFE6-6498-47E9-96B1-C0701D1F5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86715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7" name="hf-665">
            <a:extLst xmlns:a="http://schemas.openxmlformats.org/drawingml/2006/main">
              <a:ext uri="{FF2B5EF4-FFF2-40B4-BE49-F238E27FC236}">
                <a16:creationId xmlns:a16="http://schemas.microsoft.com/office/drawing/2014/main" id="{CDE91332-5F5E-471B-9D3A-7F43E276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036181"/>
            <a:ext cx="7074024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Контроли сужают объяснение. Причина для M2 пока гипотеза</a:t>
            </a:r>
          </a:p>
        </p:txBody>
      </p:sp>
      <p:pic>
        <p:nvPicPr>
          <p:cNvPr id="18" name="hf-666">
            <a:extLst xmlns:a="http://schemas.openxmlformats.org/drawingml/2006/main">
              <a:ext uri="{FF2B5EF4-FFF2-40B4-BE49-F238E27FC236}">
                <a16:creationId xmlns:a16="http://schemas.microsoft.com/office/drawing/2014/main" id="{AAE02753-25ED-43D6-89F8-D526DFA52F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4eb4e3eb9b455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19" name="hf-667">
            <a:extLst xmlns:a="http://schemas.openxmlformats.org/drawingml/2006/main">
              <a:ext uri="{FF2B5EF4-FFF2-40B4-BE49-F238E27FC236}">
                <a16:creationId xmlns:a16="http://schemas.microsoft.com/office/drawing/2014/main" id="{A8B7126B-4E4B-4CBD-A94E-2805236E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89688187"/>
      </p:ext>
    </p:extLst>
  </p:cSld>
</p:sld>
</file>

<file path=ppt/slides/slide30.xml><?xml version="1.0" encoding="utf-8"?>
<p:sld xmlns:p="http://schemas.openxmlformats.org/presentationml/2006/main" show="0">
  <p:cSld name="nb-lang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668">
            <a:extLst xmlns:a="http://schemas.openxmlformats.org/drawingml/2006/main">
              <a:ext uri="{FF2B5EF4-FFF2-40B4-BE49-F238E27FC236}">
                <a16:creationId xmlns:a16="http://schemas.microsoft.com/office/drawing/2014/main" id="{33B5B9D2-83CF-4DEE-B1A0-872F76D9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7952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BACKUP · ДЛЯ ВОПРОСОВ</a:t>
            </a:r>
          </a:p>
        </p:txBody>
      </p:sp>
      <p:sp>
        <p:nvSpPr>
          <p:cNvPr id="3" name="hf-669">
            <a:extLst xmlns:a="http://schemas.openxmlformats.org/drawingml/2006/main">
              <a:ext uri="{FF2B5EF4-FFF2-40B4-BE49-F238E27FC236}">
                <a16:creationId xmlns:a16="http://schemas.microsoft.com/office/drawing/2014/main" id="{84162027-AAF3-4840-A0C6-86DB8962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33169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КОНТЕЙНЕРЫ В РАЗНЫХ ЯЗЫКАХ</a:t>
            </a:r>
          </a:p>
        </p:txBody>
      </p:sp>
      <p:sp>
        <p:nvSpPr>
          <p:cNvPr id="4" name="hf-670">
            <a:extLst xmlns:a="http://schemas.openxmlformats.org/drawingml/2006/main">
              <a:ext uri="{FF2B5EF4-FFF2-40B4-BE49-F238E27FC236}">
                <a16:creationId xmlns:a16="http://schemas.microsoft.com/office/drawing/2014/main" id="{636D3404-D035-4526-B055-64479A0D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28750"/>
            <a:ext cx="36195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5E1C42"/>
          </a:solidFill>
          <a:ln xmlns:a="http://schemas.openxmlformats.org/drawingml/2006/main" w="19050">
            <a:solidFill>
              <a:srgbClr val="E2489B"/>
            </a:solidFill>
          </a:ln>
        </p:spPr>
      </p:sp>
      <p:sp>
        <p:nvSpPr>
          <p:cNvPr id="5" name="hf-671">
            <a:extLst xmlns:a="http://schemas.openxmlformats.org/drawingml/2006/main">
              <a:ext uri="{FF2B5EF4-FFF2-40B4-BE49-F238E27FC236}">
                <a16:creationId xmlns:a16="http://schemas.microsoft.com/office/drawing/2014/main" id="{4FCF428E-8FE8-4E97-863E-54D4AF89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1556004"/>
            <a:ext cx="218241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узел на каждый ключ</a:t>
            </a:r>
          </a:p>
        </p:txBody>
      </p:sp>
      <p:sp>
        <p:nvSpPr>
          <p:cNvPr id="6" name="hf-672">
            <a:extLst xmlns:a="http://schemas.openxmlformats.org/drawingml/2006/main">
              <a:ext uri="{FF2B5EF4-FFF2-40B4-BE49-F238E27FC236}">
                <a16:creationId xmlns:a16="http://schemas.microsoft.com/office/drawing/2014/main" id="{8797ED43-FE3E-4093-8D18-3AF73551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1908467"/>
            <a:ext cx="934045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C++</a:t>
            </a:r>
          </a:p>
        </p:txBody>
      </p:sp>
      <p:sp>
        <p:nvSpPr>
          <p:cNvPr id="7" name="hf-673">
            <a:extLst xmlns:a="http://schemas.openxmlformats.org/drawingml/2006/main">
              <a:ext uri="{FF2B5EF4-FFF2-40B4-BE49-F238E27FC236}">
                <a16:creationId xmlns:a16="http://schemas.microsoft.com/office/drawing/2014/main" id="{72A5943B-3124-42E1-A0B4-28656D60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2394204"/>
            <a:ext cx="182947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std::unordered_set</a:t>
            </a:r>
          </a:p>
        </p:txBody>
      </p:sp>
      <p:sp>
        <p:nvSpPr>
          <p:cNvPr id="8" name="hf-674">
            <a:extLst xmlns:a="http://schemas.openxmlformats.org/drawingml/2006/main">
              <a:ext uri="{FF2B5EF4-FFF2-40B4-BE49-F238E27FC236}">
                <a16:creationId xmlns:a16="http://schemas.microsoft.com/office/drawing/2014/main" id="{9858D125-3E8A-4B79-98EA-B2915ED5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2857957"/>
            <a:ext cx="2308920" cy="4133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105"/>
              </a:lnSpc>
              <a:buNone/>
            </a:pPr>
            <a:r>
              <a:rPr sz="27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Java / Kotlin</a:t>
            </a:r>
          </a:p>
        </p:txBody>
      </p:sp>
      <p:sp>
        <p:nvSpPr>
          <p:cNvPr id="9" name="hf-675">
            <a:extLst xmlns:a="http://schemas.openxmlformats.org/drawingml/2006/main">
              <a:ext uri="{FF2B5EF4-FFF2-40B4-BE49-F238E27FC236}">
                <a16:creationId xmlns:a16="http://schemas.microsoft.com/office/drawing/2014/main" id="{002231DD-E9EA-4679-BDFE-AF7D5954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3280029"/>
            <a:ext cx="249674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HashSet&lt;Long&gt;, distinct()</a:t>
            </a:r>
          </a:p>
        </p:txBody>
      </p:sp>
      <p:sp>
        <p:nvSpPr>
          <p:cNvPr id="10" name="hf-676">
            <a:extLst xmlns:a="http://schemas.openxmlformats.org/drawingml/2006/main">
              <a:ext uri="{FF2B5EF4-FFF2-40B4-BE49-F238E27FC236}">
                <a16:creationId xmlns:a16="http://schemas.microsoft.com/office/drawing/2014/main" id="{5AD386C4-A227-4D5D-9498-0559087B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3508629"/>
            <a:ext cx="2920082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+ боксинг числового ключа</a:t>
            </a:r>
          </a:p>
        </p:txBody>
      </p:sp>
      <p:sp>
        <p:nvSpPr>
          <p:cNvPr id="11" name="hf-677">
            <a:extLst xmlns:a="http://schemas.openxmlformats.org/drawingml/2006/main">
              <a:ext uri="{FF2B5EF4-FFF2-40B4-BE49-F238E27FC236}">
                <a16:creationId xmlns:a16="http://schemas.microsoft.com/office/drawing/2014/main" id="{71A020DE-3FFA-47BD-8A9F-E729B107A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413129"/>
            <a:ext cx="174099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без узла на ключ</a:t>
            </a:r>
          </a:p>
        </p:txBody>
      </p:sp>
      <p:sp>
        <p:nvSpPr>
          <p:cNvPr id="12" name="hf-678">
            <a:extLst xmlns:a="http://schemas.openxmlformats.org/drawingml/2006/main">
              <a:ext uri="{FF2B5EF4-FFF2-40B4-BE49-F238E27FC236}">
                <a16:creationId xmlns:a16="http://schemas.microsoft.com/office/drawing/2014/main" id="{A409C237-4FB1-4A0D-9E10-4CED94B5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12081"/>
            <a:ext cx="606400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Swift</a:t>
            </a:r>
          </a:p>
        </p:txBody>
      </p:sp>
      <p:sp>
        <p:nvSpPr>
          <p:cNvPr id="13" name="hf-679">
            <a:extLst xmlns:a="http://schemas.openxmlformats.org/drawingml/2006/main">
              <a:ext uri="{FF2B5EF4-FFF2-40B4-BE49-F238E27FC236}">
                <a16:creationId xmlns:a16="http://schemas.microsoft.com/office/drawing/2014/main" id="{8B3CA039-3D99-47FC-ABD0-34BB909B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36979"/>
            <a:ext cx="210033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открытая адресация</a:t>
            </a:r>
          </a:p>
        </p:txBody>
      </p:sp>
      <p:sp>
        <p:nvSpPr>
          <p:cNvPr id="14" name="hf-680">
            <a:extLst xmlns:a="http://schemas.openxmlformats.org/drawingml/2006/main">
              <a:ext uri="{FF2B5EF4-FFF2-40B4-BE49-F238E27FC236}">
                <a16:creationId xmlns:a16="http://schemas.microsoft.com/office/drawing/2014/main" id="{3347FFA8-D613-4BA7-A98D-CB063931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76450"/>
            <a:ext cx="4110038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5" name="hf-681">
            <a:extLst xmlns:a="http://schemas.openxmlformats.org/drawingml/2006/main">
              <a:ext uri="{FF2B5EF4-FFF2-40B4-BE49-F238E27FC236}">
                <a16:creationId xmlns:a16="http://schemas.microsoft.com/office/drawing/2014/main" id="{3DCDA9E5-B041-4745-88D8-F9894112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69281"/>
            <a:ext cx="987326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Go ≥ 1.24</a:t>
            </a:r>
          </a:p>
        </p:txBody>
      </p:sp>
      <p:sp>
        <p:nvSpPr>
          <p:cNvPr id="16" name="hf-682">
            <a:extLst xmlns:a="http://schemas.openxmlformats.org/drawingml/2006/main">
              <a:ext uri="{FF2B5EF4-FFF2-40B4-BE49-F238E27FC236}">
                <a16:creationId xmlns:a16="http://schemas.microsoft.com/office/drawing/2014/main" id="{0A677CC6-0B4E-4BC1-A3E0-506F74A4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94179"/>
            <a:ext cx="110862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Swiss table</a:t>
            </a:r>
          </a:p>
        </p:txBody>
      </p:sp>
      <p:sp>
        <p:nvSpPr>
          <p:cNvPr id="17" name="hf-683">
            <a:extLst xmlns:a="http://schemas.openxmlformats.org/drawingml/2006/main">
              <a:ext uri="{FF2B5EF4-FFF2-40B4-BE49-F238E27FC236}">
                <a16:creationId xmlns:a16="http://schemas.microsoft.com/office/drawing/2014/main" id="{C6B3D94B-A4A7-4D38-BFAC-0490F4F20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33650"/>
            <a:ext cx="4110038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8" name="hf-684">
            <a:extLst xmlns:a="http://schemas.openxmlformats.org/drawingml/2006/main">
              <a:ext uri="{FF2B5EF4-FFF2-40B4-BE49-F238E27FC236}">
                <a16:creationId xmlns:a16="http://schemas.microsoft.com/office/drawing/2014/main" id="{6A13F926-74EC-4031-8E2F-B2B60B6D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26481"/>
            <a:ext cx="550069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Rust</a:t>
            </a:r>
          </a:p>
        </p:txBody>
      </p:sp>
      <p:sp>
        <p:nvSpPr>
          <p:cNvPr id="19" name="hf-685">
            <a:extLst xmlns:a="http://schemas.openxmlformats.org/drawingml/2006/main">
              <a:ext uri="{FF2B5EF4-FFF2-40B4-BE49-F238E27FC236}">
                <a16:creationId xmlns:a16="http://schemas.microsoft.com/office/drawing/2014/main" id="{D238D5A0-D72D-47F9-A1F5-6DAB513A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51379"/>
            <a:ext cx="236316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Swiss table (hashbrown)</a:t>
            </a:r>
          </a:p>
        </p:txBody>
      </p:sp>
      <p:sp>
        <p:nvSpPr>
          <p:cNvPr id="20" name="hf-686">
            <a:extLst xmlns:a="http://schemas.openxmlformats.org/drawingml/2006/main">
              <a:ext uri="{FF2B5EF4-FFF2-40B4-BE49-F238E27FC236}">
                <a16:creationId xmlns:a16="http://schemas.microsoft.com/office/drawing/2014/main" id="{D8871CAC-3D3E-4946-9067-B0516FDD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90850"/>
            <a:ext cx="4110038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21" name="hf-687">
            <a:extLst xmlns:a="http://schemas.openxmlformats.org/drawingml/2006/main">
              <a:ext uri="{FF2B5EF4-FFF2-40B4-BE49-F238E27FC236}">
                <a16:creationId xmlns:a16="http://schemas.microsoft.com/office/drawing/2014/main" id="{2C45DDC3-53A2-4062-94DF-39C81D1A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83681"/>
            <a:ext cx="842516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Python</a:t>
            </a:r>
          </a:p>
        </p:txBody>
      </p:sp>
      <p:sp>
        <p:nvSpPr>
          <p:cNvPr id="22" name="hf-688">
            <a:extLst xmlns:a="http://schemas.openxmlformats.org/drawingml/2006/main">
              <a:ext uri="{FF2B5EF4-FFF2-40B4-BE49-F238E27FC236}">
                <a16:creationId xmlns:a16="http://schemas.microsoft.com/office/drawing/2014/main" id="{3075D03C-1289-4C01-BF7E-76D2F708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108579"/>
            <a:ext cx="248528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плоская, но int — объект</a:t>
            </a:r>
          </a:p>
        </p:txBody>
      </p:sp>
      <p:sp>
        <p:nvSpPr>
          <p:cNvPr id="23" name="hf-689">
            <a:extLst xmlns:a="http://schemas.openxmlformats.org/drawingml/2006/main">
              <a:ext uri="{FF2B5EF4-FFF2-40B4-BE49-F238E27FC236}">
                <a16:creationId xmlns:a16="http://schemas.microsoft.com/office/drawing/2014/main" id="{6C5E4CF6-861B-4140-8226-EC83864F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48050"/>
            <a:ext cx="4110038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24" name="hf-690">
            <a:extLst xmlns:a="http://schemas.openxmlformats.org/drawingml/2006/main">
              <a:ext uri="{FF2B5EF4-FFF2-40B4-BE49-F238E27FC236}">
                <a16:creationId xmlns:a16="http://schemas.microsoft.com/office/drawing/2014/main" id="{6931C0DF-7F8C-448E-A439-FC1E102F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0881"/>
            <a:ext cx="356667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C#</a:t>
            </a:r>
          </a:p>
        </p:txBody>
      </p:sp>
      <p:sp>
        <p:nvSpPr>
          <p:cNvPr id="25" name="hf-691">
            <a:extLst xmlns:a="http://schemas.openxmlformats.org/drawingml/2006/main">
              <a:ext uri="{FF2B5EF4-FFF2-40B4-BE49-F238E27FC236}">
                <a16:creationId xmlns:a16="http://schemas.microsoft.com/office/drawing/2014/main" id="{2196624A-CF46-462E-B316-B2593A39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65779"/>
            <a:ext cx="205888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цепочки в массивах</a:t>
            </a:r>
          </a:p>
        </p:txBody>
      </p:sp>
      <p:sp>
        <p:nvSpPr>
          <p:cNvPr id="26" name="hf-692">
            <a:extLst xmlns:a="http://schemas.openxmlformats.org/drawingml/2006/main">
              <a:ext uri="{FF2B5EF4-FFF2-40B4-BE49-F238E27FC236}">
                <a16:creationId xmlns:a16="http://schemas.microsoft.com/office/drawing/2014/main" id="{8501DA39-ACD7-47B5-AAF6-14312F9B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175379"/>
            <a:ext cx="534054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по исходникам стандартных библиотек — не замеры</a:t>
            </a:r>
          </a:p>
        </p:txBody>
      </p:sp>
      <p:pic>
        <p:nvPicPr>
          <p:cNvPr id="27" name="hf-693">
            <a:extLst xmlns:a="http://schemas.openxmlformats.org/drawingml/2006/main">
              <a:ext uri="{FF2B5EF4-FFF2-40B4-BE49-F238E27FC236}">
                <a16:creationId xmlns:a16="http://schemas.microsoft.com/office/drawing/2014/main" id="{45978786-06D2-4922-A989-C8163BA1CC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6bb1083d564ee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8" name="hf-694">
            <a:extLst xmlns:a="http://schemas.openxmlformats.org/drawingml/2006/main">
              <a:ext uri="{FF2B5EF4-FFF2-40B4-BE49-F238E27FC236}">
                <a16:creationId xmlns:a16="http://schemas.microsoft.com/office/drawing/2014/main" id="{EFE7731E-8F8F-4154-B8D1-ABADC716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620864189"/>
      </p:ext>
    </p:extLst>
  </p:cSld>
</p:sld>
</file>

<file path=ppt/slides/slide31.xml><?xml version="1.0" encoding="utf-8"?>
<p:sld xmlns:p="http://schemas.openxmlformats.org/presentationml/2006/main" show="0">
  <p:cSld name="allocs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695">
            <a:extLst xmlns:a="http://schemas.openxmlformats.org/drawingml/2006/main">
              <a:ext uri="{FF2B5EF4-FFF2-40B4-BE49-F238E27FC236}">
                <a16:creationId xmlns:a16="http://schemas.microsoft.com/office/drawing/2014/main" id="{4C42AADB-7F80-4675-B0C1-94B4A3B9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974479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РАУНД </a:t>
            </a: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ИЗ 4 · РАЗМЕР И ПАМЯТЬ</a:t>
            </a:r>
          </a:p>
        </p:txBody>
      </p:sp>
      <p:sp>
        <p:nvSpPr>
          <p:cNvPr id="3" name="hf-696">
            <a:extLst xmlns:a="http://schemas.openxmlformats.org/drawingml/2006/main">
              <a:ext uri="{FF2B5EF4-FFF2-40B4-BE49-F238E27FC236}">
                <a16:creationId xmlns:a16="http://schemas.microsoft.com/office/drawing/2014/main" id="{00EF0240-C3E4-40A9-9F17-26898CD23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770885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МИЛЛИОН ЭЛЕМЕНТОВ — МИЛЛИОН</a:t>
            </a:r>
          </a:p>
        </p:txBody>
      </p:sp>
      <p:sp>
        <p:nvSpPr>
          <p:cNvPr id="4" name="hf-697">
            <a:extLst xmlns:a="http://schemas.openxmlformats.org/drawingml/2006/main">
              <a:ext uri="{FF2B5EF4-FFF2-40B4-BE49-F238E27FC236}">
                <a16:creationId xmlns:a16="http://schemas.microsoft.com/office/drawing/2014/main" id="{D64E852A-D9A6-4CCB-AFEF-68B56521F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2349326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ВЫЗОВОВ new</a:t>
            </a:r>
          </a:p>
        </p:txBody>
      </p:sp>
      <p:sp>
        <p:nvSpPr>
          <p:cNvPr id="5" name="hf-698">
            <a:extLst xmlns:a="http://schemas.openxmlformats.org/drawingml/2006/main">
              <a:ext uri="{FF2B5EF4-FFF2-40B4-BE49-F238E27FC236}">
                <a16:creationId xmlns:a16="http://schemas.microsoft.com/office/drawing/2014/main" id="{DACDB0C2-8B21-4B62-8C58-3E90ADF7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20482"/>
            <a:ext cx="560717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Сколько вызовов new: 0, 1 000 или 1 000 000?</a:t>
            </a:r>
          </a:p>
        </p:txBody>
      </p:sp>
      <p:sp>
        <p:nvSpPr>
          <p:cNvPr id="6" name="hf-699">
            <a:extLst xmlns:a="http://schemas.openxmlformats.org/drawingml/2006/main">
              <a:ext uri="{FF2B5EF4-FFF2-40B4-BE49-F238E27FC236}">
                <a16:creationId xmlns:a16="http://schemas.microsoft.com/office/drawing/2014/main" id="{8CE6BD3F-B168-48EB-B210-886D42C13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035931"/>
            <a:ext cx="1483593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+ unique</a:t>
            </a:r>
          </a:p>
        </p:txBody>
      </p:sp>
      <p:sp>
        <p:nvSpPr>
          <p:cNvPr id="7" name="hf-700">
            <a:extLst xmlns:a="http://schemas.openxmlformats.org/drawingml/2006/main">
              <a:ext uri="{FF2B5EF4-FFF2-40B4-BE49-F238E27FC236}">
                <a16:creationId xmlns:a16="http://schemas.microsoft.com/office/drawing/2014/main" id="{81F1F845-30DD-412F-BBBE-F0A5E3DD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490216"/>
            <a:ext cx="565026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6000"/>
              </a:lnSpc>
              <a:buNone/>
            </a:pPr>
            <a:r>
              <a:rPr sz="6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0</a:t>
            </a:r>
          </a:p>
        </p:txBody>
      </p:sp>
      <p:sp>
        <p:nvSpPr>
          <p:cNvPr id="8" name="hf-701">
            <a:extLst xmlns:a="http://schemas.openxmlformats.org/drawingml/2006/main">
              <a:ext uri="{FF2B5EF4-FFF2-40B4-BE49-F238E27FC236}">
                <a16:creationId xmlns:a16="http://schemas.microsoft.com/office/drawing/2014/main" id="{B9772137-01F0-4CDC-8F1A-62A15822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21187"/>
            <a:ext cx="1591345" cy="22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8"/>
              </a:lnSpc>
              <a:buNone/>
            </a:pPr>
            <a:r>
              <a:rPr sz="127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работает на месте</a:t>
            </a:r>
          </a:p>
        </p:txBody>
      </p:sp>
      <p:sp>
        <p:nvSpPr>
          <p:cNvPr id="9" name="hf-702">
            <a:extLst xmlns:a="http://schemas.openxmlformats.org/drawingml/2006/main">
              <a:ext uri="{FF2B5EF4-FFF2-40B4-BE49-F238E27FC236}">
                <a16:creationId xmlns:a16="http://schemas.microsoft.com/office/drawing/2014/main" id="{0B18D3C4-AF2C-4E7C-A403-1498140E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35931"/>
            <a:ext cx="1633314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unordered_set</a:t>
            </a:r>
          </a:p>
        </p:txBody>
      </p:sp>
      <p:sp>
        <p:nvSpPr>
          <p:cNvPr id="10" name="hf-703">
            <a:extLst xmlns:a="http://schemas.openxmlformats.org/drawingml/2006/main">
              <a:ext uri="{FF2B5EF4-FFF2-40B4-BE49-F238E27FC236}">
                <a16:creationId xmlns:a16="http://schemas.microsoft.com/office/drawing/2014/main" id="{E81F57C2-DDF8-4F56-A837-163A0525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490216"/>
            <a:ext cx="80136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6000"/>
              </a:lnSpc>
              <a:buNone/>
            </a:pPr>
            <a:r>
              <a:rPr sz="6000" b="1" i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</a:rPr>
              <a:t>≈1</a:t>
            </a:r>
          </a:p>
        </p:txBody>
      </p:sp>
      <p:sp>
        <p:nvSpPr>
          <p:cNvPr id="11" name="hf-704">
            <a:extLst xmlns:a="http://schemas.openxmlformats.org/drawingml/2006/main">
              <a:ext uri="{FF2B5EF4-FFF2-40B4-BE49-F238E27FC236}">
                <a16:creationId xmlns:a16="http://schemas.microsoft.com/office/drawing/2014/main" id="{CBCD0516-994D-4BB8-890C-DA0EE205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9865" y="2407158"/>
            <a:ext cx="1009129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6000"/>
              </a:lnSpc>
              <a:buNone/>
            </a:pPr>
            <a:r>
              <a:rPr sz="3000" b="1" i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</a:rPr>
              <a:t> млн</a:t>
            </a:r>
          </a:p>
        </p:txBody>
      </p:sp>
      <p:sp>
        <p:nvSpPr>
          <p:cNvPr id="12" name="hf-705">
            <a:extLst xmlns:a="http://schemas.openxmlformats.org/drawingml/2006/main">
              <a:ext uri="{FF2B5EF4-FFF2-40B4-BE49-F238E27FC236}">
                <a16:creationId xmlns:a16="http://schemas.microsoft.com/office/drawing/2014/main" id="{62BCA8F0-25FF-42E8-B75B-2839526B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21187"/>
            <a:ext cx="1325017" cy="22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8"/>
              </a:lnSpc>
              <a:buNone/>
            </a:pPr>
            <a:r>
              <a:rPr sz="127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≈42 МБ памяти</a:t>
            </a:r>
          </a:p>
        </p:txBody>
      </p:sp>
      <p:sp>
        <p:nvSpPr>
          <p:cNvPr id="13" name="hf-706">
            <a:extLst xmlns:a="http://schemas.openxmlformats.org/drawingml/2006/main">
              <a:ext uri="{FF2B5EF4-FFF2-40B4-BE49-F238E27FC236}">
                <a16:creationId xmlns:a16="http://schemas.microsoft.com/office/drawing/2014/main" id="{7A1AFD0C-33E2-4CFB-8FFE-DF2C8787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531629"/>
            <a:ext cx="1576908" cy="22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8"/>
              </a:lnSpc>
              <a:buNone/>
            </a:pPr>
            <a:r>
              <a:rPr sz="1275" b="1" i="0">
                <a:solidFill>
                  <a:srgbClr val="E2489B"/>
                </a:solidFill>
                <a:latin typeface="Montserrat"/>
                <a:ea typeface="Montserrat"/>
                <a:cs typeface="Montserrat"/>
              </a:rPr>
              <a:t>+ миллион delete</a:t>
            </a:r>
          </a:p>
        </p:txBody>
      </p:sp>
      <p:sp>
        <p:nvSpPr>
          <p:cNvPr id="14" name="hf-707">
            <a:extLst xmlns:a="http://schemas.openxmlformats.org/drawingml/2006/main">
              <a:ext uri="{FF2B5EF4-FFF2-40B4-BE49-F238E27FC236}">
                <a16:creationId xmlns:a16="http://schemas.microsoft.com/office/drawing/2014/main" id="{C55BA9A1-03E9-49CE-82B7-D4FADF04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35931"/>
            <a:ext cx="1478756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flat_hash_set</a:t>
            </a:r>
          </a:p>
        </p:txBody>
      </p:sp>
      <p:sp>
        <p:nvSpPr>
          <p:cNvPr id="15" name="hf-708">
            <a:extLst xmlns:a="http://schemas.openxmlformats.org/drawingml/2006/main">
              <a:ext uri="{FF2B5EF4-FFF2-40B4-BE49-F238E27FC236}">
                <a16:creationId xmlns:a16="http://schemas.microsoft.com/office/drawing/2014/main" id="{ED68A2BA-E14D-4CA2-A640-B0B290A4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90216"/>
            <a:ext cx="351234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6000"/>
              </a:lnSpc>
              <a:buNone/>
            </a:pPr>
            <a:r>
              <a:rPr sz="60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16" name="hf-709">
            <a:extLst xmlns:a="http://schemas.openxmlformats.org/drawingml/2006/main">
              <a:ext uri="{FF2B5EF4-FFF2-40B4-BE49-F238E27FC236}">
                <a16:creationId xmlns:a16="http://schemas.microsoft.com/office/drawing/2014/main" id="{CCD06436-90CB-4CEA-8153-1AC1A1FD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21187"/>
            <a:ext cx="1783854" cy="22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8"/>
              </a:lnSpc>
              <a:buNone/>
            </a:pPr>
            <a:r>
              <a:rPr sz="127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одна таблица на всё</a:t>
            </a:r>
          </a:p>
        </p:txBody>
      </p:sp>
      <p:pic>
        <p:nvPicPr>
          <p:cNvPr id="17" name="hf-710">
            <a:extLst xmlns:a="http://schemas.openxmlformats.org/drawingml/2006/main">
              <a:ext uri="{FF2B5EF4-FFF2-40B4-BE49-F238E27FC236}">
                <a16:creationId xmlns:a16="http://schemas.microsoft.com/office/drawing/2014/main" id="{2CC9B90A-26F0-4137-AA51-3245FB16B3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198361795a4ac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18" name="hf-711">
            <a:extLst xmlns:a="http://schemas.openxmlformats.org/drawingml/2006/main">
              <a:ext uri="{FF2B5EF4-FFF2-40B4-BE49-F238E27FC236}">
                <a16:creationId xmlns:a16="http://schemas.microsoft.com/office/drawing/2014/main" id="{7DFEBC09-D4AB-4178-B48A-2B5D7DD9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061285764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32.xml><?xml version="1.0" encoding="utf-8"?>
<p:sld xmlns:p="http://schemas.openxmlformats.org/presentationml/2006/main" show="0">
  <p:cSld name="decision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712">
            <a:extLst xmlns:a="http://schemas.openxmlformats.org/drawingml/2006/main">
              <a:ext uri="{FF2B5EF4-FFF2-40B4-BE49-F238E27FC236}">
                <a16:creationId xmlns:a16="http://schemas.microsoft.com/office/drawing/2014/main" id="{DF8CA734-B66D-43FB-AB3F-4DEACD3D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371353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ПОСЛЕ ЧЕТЫРЁХ РАУНДОВ</a:t>
            </a:r>
          </a:p>
        </p:txBody>
      </p:sp>
      <p:sp>
        <p:nvSpPr>
          <p:cNvPr id="3" name="hf-713">
            <a:extLst xmlns:a="http://schemas.openxmlformats.org/drawingml/2006/main">
              <a:ext uri="{FF2B5EF4-FFF2-40B4-BE49-F238E27FC236}">
                <a16:creationId xmlns:a16="http://schemas.microsoft.com/office/drawing/2014/main" id="{008B0F0F-ADE4-4B0F-B129-82631CB8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304502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ПРАВИЛО ВЫБОРА</a:t>
            </a:r>
          </a:p>
        </p:txBody>
      </p:sp>
      <p:sp>
        <p:nvSpPr>
          <p:cNvPr id="4" name="hf-714">
            <a:extLst xmlns:a="http://schemas.openxmlformats.org/drawingml/2006/main">
              <a:ext uri="{FF2B5EF4-FFF2-40B4-BE49-F238E27FC236}">
                <a16:creationId xmlns:a16="http://schemas.microsoft.com/office/drawing/2014/main" id="{EE156F27-8EA4-4F6C-8D18-5047E575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383221"/>
            <a:ext cx="211336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5" name="hf-715">
            <a:extLst xmlns:a="http://schemas.openxmlformats.org/drawingml/2006/main">
              <a:ext uri="{FF2B5EF4-FFF2-40B4-BE49-F238E27FC236}">
                <a16:creationId xmlns:a16="http://schemas.microsoft.com/office/drawing/2014/main" id="{B7986955-0EF7-4870-91C8-724AD92D8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357817"/>
            <a:ext cx="5485507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Мало уникальных или нужен порядок появления</a:t>
            </a:r>
          </a:p>
        </p:txBody>
      </p:sp>
      <p:sp>
        <p:nvSpPr>
          <p:cNvPr id="6" name="hf-716">
            <a:extLst xmlns:a="http://schemas.openxmlformats.org/drawingml/2006/main">
              <a:ext uri="{FF2B5EF4-FFF2-40B4-BE49-F238E27FC236}">
                <a16:creationId xmlns:a16="http://schemas.microsoft.com/office/drawing/2014/main" id="{0E43403C-BC79-42C1-85D1-9D219FF4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95942"/>
            <a:ext cx="3345954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75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→ хеш-таблица, лучше плоская</a:t>
            </a:r>
          </a:p>
        </p:txBody>
      </p:sp>
      <p:sp>
        <p:nvSpPr>
          <p:cNvPr id="7" name="hf-717">
            <a:extLst xmlns:a="http://schemas.openxmlformats.org/drawingml/2006/main">
              <a:ext uri="{FF2B5EF4-FFF2-40B4-BE49-F238E27FC236}">
                <a16:creationId xmlns:a16="http://schemas.microsoft.com/office/drawing/2014/main" id="{81BC4AA0-325D-4850-97F9-C3B10878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935671"/>
            <a:ext cx="28530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8" name="hf-718">
            <a:extLst xmlns:a="http://schemas.openxmlformats.org/drawingml/2006/main">
              <a:ext uri="{FF2B5EF4-FFF2-40B4-BE49-F238E27FC236}">
                <a16:creationId xmlns:a16="http://schemas.microsoft.com/office/drawing/2014/main" id="{0E585364-372D-4866-8077-14834AD1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10267"/>
            <a:ext cx="353310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Часть входа уже отсортирована</a:t>
            </a:r>
          </a:p>
        </p:txBody>
      </p:sp>
      <p:sp>
        <p:nvSpPr>
          <p:cNvPr id="9" name="hf-719">
            <a:extLst xmlns:a="http://schemas.openxmlformats.org/drawingml/2006/main">
              <a:ext uri="{FF2B5EF4-FFF2-40B4-BE49-F238E27FC236}">
                <a16:creationId xmlns:a16="http://schemas.microsoft.com/office/drawing/2014/main" id="{8848B50B-DC2E-40BB-8EF4-A4DD6443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8392"/>
            <a:ext cx="5490418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75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→ отсортировать остальное, убрать повторы, слить</a:t>
            </a:r>
          </a:p>
        </p:txBody>
      </p:sp>
      <p:sp>
        <p:nvSpPr>
          <p:cNvPr id="10" name="hf-720">
            <a:extLst xmlns:a="http://schemas.openxmlformats.org/drawingml/2006/main">
              <a:ext uri="{FF2B5EF4-FFF2-40B4-BE49-F238E27FC236}">
                <a16:creationId xmlns:a16="http://schemas.microsoft.com/office/drawing/2014/main" id="{65D344D4-6216-4B18-BCC6-C823DF3B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488121"/>
            <a:ext cx="286717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1" name="hf-721">
            <a:extLst xmlns:a="http://schemas.openxmlformats.org/drawingml/2006/main">
              <a:ext uri="{FF2B5EF4-FFF2-40B4-BE49-F238E27FC236}">
                <a16:creationId xmlns:a16="http://schemas.microsoft.com/office/drawing/2014/main" id="{4D34C566-BA92-4B0C-B0FD-9AFB80D3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62717"/>
            <a:ext cx="5165973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Целые ключи, почти все разные, больше кэша</a:t>
            </a:r>
          </a:p>
        </p:txBody>
      </p:sp>
      <p:sp>
        <p:nvSpPr>
          <p:cNvPr id="12" name="hf-722">
            <a:extLst xmlns:a="http://schemas.openxmlformats.org/drawingml/2006/main">
              <a:ext uri="{FF2B5EF4-FFF2-40B4-BE49-F238E27FC236}">
                <a16:creationId xmlns:a16="http://schemas.microsoft.com/office/drawing/2014/main" id="{400CA7CD-521B-4EDA-AD6B-2564323D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00842"/>
            <a:ext cx="4585022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75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→ radix или плоская; узловая — последней</a:t>
            </a:r>
          </a:p>
        </p:txBody>
      </p:sp>
      <p:sp>
        <p:nvSpPr>
          <p:cNvPr id="13" name="hf-723">
            <a:extLst xmlns:a="http://schemas.openxmlformats.org/drawingml/2006/main">
              <a:ext uri="{FF2B5EF4-FFF2-40B4-BE49-F238E27FC236}">
                <a16:creationId xmlns:a16="http://schemas.microsoft.com/office/drawing/2014/main" id="{A3197EB0-39BA-4C69-A6D6-A8ED0961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040571"/>
            <a:ext cx="32399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14" name="hf-724">
            <a:extLst xmlns:a="http://schemas.openxmlformats.org/drawingml/2006/main">
              <a:ext uri="{FF2B5EF4-FFF2-40B4-BE49-F238E27FC236}">
                <a16:creationId xmlns:a16="http://schemas.microsoft.com/office/drawing/2014/main" id="{23CA6068-2A63-4997-9DC1-7B912118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15167"/>
            <a:ext cx="3354288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Код живёт не там, где мерили</a:t>
            </a:r>
          </a:p>
        </p:txBody>
      </p:sp>
      <p:sp>
        <p:nvSpPr>
          <p:cNvPr id="15" name="hf-725">
            <a:extLst xmlns:a="http://schemas.openxmlformats.org/drawingml/2006/main">
              <a:ext uri="{FF2B5EF4-FFF2-40B4-BE49-F238E27FC236}">
                <a16:creationId xmlns:a16="http://schemas.microsoft.com/office/drawing/2014/main" id="{9C9174FD-D98B-4055-A52F-0224CDD4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53292"/>
            <a:ext cx="212921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75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→ цена шага другая</a:t>
            </a:r>
          </a:p>
        </p:txBody>
      </p:sp>
      <p:sp>
        <p:nvSpPr>
          <p:cNvPr id="16" name="hf-726">
            <a:extLst xmlns:a="http://schemas.openxmlformats.org/drawingml/2006/main">
              <a:ext uri="{FF2B5EF4-FFF2-40B4-BE49-F238E27FC236}">
                <a16:creationId xmlns:a16="http://schemas.microsoft.com/office/drawing/2014/main" id="{CE6888C7-577C-493F-B3BC-94654887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593021"/>
            <a:ext cx="28828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5</a:t>
            </a:r>
          </a:p>
        </p:txBody>
      </p:sp>
      <p:sp>
        <p:nvSpPr>
          <p:cNvPr id="17" name="hf-727">
            <a:extLst xmlns:a="http://schemas.openxmlformats.org/drawingml/2006/main">
              <a:ext uri="{FF2B5EF4-FFF2-40B4-BE49-F238E27FC236}">
                <a16:creationId xmlns:a16="http://schemas.microsoft.com/office/drawing/2014/main" id="{773B35DA-392C-4065-970D-926DD92B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67617"/>
            <a:ext cx="1600721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Сомневаетесь</a:t>
            </a:r>
          </a:p>
        </p:txBody>
      </p:sp>
      <p:sp>
        <p:nvSpPr>
          <p:cNvPr id="18" name="hf-728">
            <a:extLst xmlns:a="http://schemas.openxmlformats.org/drawingml/2006/main">
              <a:ext uri="{FF2B5EF4-FFF2-40B4-BE49-F238E27FC236}">
                <a16:creationId xmlns:a16="http://schemas.microsoft.com/office/drawing/2014/main" id="{D2BB5755-880B-453A-A777-D516270D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05742"/>
            <a:ext cx="11461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75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→ меряйте</a:t>
            </a:r>
          </a:p>
        </p:txBody>
      </p:sp>
      <p:sp>
        <p:nvSpPr>
          <p:cNvPr id="19" name="hf-729">
            <a:extLst xmlns:a="http://schemas.openxmlformats.org/drawingml/2006/main">
              <a:ext uri="{FF2B5EF4-FFF2-40B4-BE49-F238E27FC236}">
                <a16:creationId xmlns:a16="http://schemas.microsoft.com/office/drawing/2014/main" id="{320DAC1C-75E5-44F6-A7CE-74EBF709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154024"/>
            <a:ext cx="4574679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42"/>
              </a:lnSpc>
              <a:buNone/>
            </a:pPr>
            <a:r>
              <a:rPr sz="195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Big-O считает шаги, а не их цену</a:t>
            </a:r>
          </a:p>
        </p:txBody>
      </p:sp>
      <p:pic>
        <p:nvPicPr>
          <p:cNvPr id="20" name="hf-730">
            <a:extLst xmlns:a="http://schemas.openxmlformats.org/drawingml/2006/main">
              <a:ext uri="{FF2B5EF4-FFF2-40B4-BE49-F238E27FC236}">
                <a16:creationId xmlns:a16="http://schemas.microsoft.com/office/drawing/2014/main" id="{AED4AE49-A505-4D32-9168-2901E3B799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603fe6c64a431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1" name="hf-731">
            <a:extLst xmlns:a="http://schemas.openxmlformats.org/drawingml/2006/main">
              <a:ext uri="{FF2B5EF4-FFF2-40B4-BE49-F238E27FC236}">
                <a16:creationId xmlns:a16="http://schemas.microsoft.com/office/drawing/2014/main" id="{A009B889-4F78-4015-A180-32994CF4E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699400295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3.xml><?xml version="1.0" encoding="utf-8"?>
<p:sld xmlns:p="http://schemas.openxmlformats.org/presentationml/2006/main" show="0">
  <p:cSld name="share-full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732">
            <a:extLst xmlns:a="http://schemas.openxmlformats.org/drawingml/2006/main">
              <a:ext uri="{FF2B5EF4-FFF2-40B4-BE49-F238E27FC236}">
                <a16:creationId xmlns:a16="http://schemas.microsoft.com/office/drawing/2014/main" id="{88829C28-8EB8-4A02-B483-1730C9CE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892251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РАУНД </a:t>
            </a:r>
            <a:r>
              <a:rPr sz="1099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 ИЗ 4 · ДАННЫЕ И ТИКЕТ</a:t>
            </a:r>
          </a:p>
        </p:txBody>
      </p:sp>
      <p:sp>
        <p:nvSpPr>
          <p:cNvPr id="3" name="hf-733">
            <a:extLst xmlns:a="http://schemas.openxmlformats.org/drawingml/2006/main">
              <a:ext uri="{FF2B5EF4-FFF2-40B4-BE49-F238E27FC236}">
                <a16:creationId xmlns:a16="http://schemas.microsoft.com/office/drawing/2014/main" id="{3703C374-48F6-4933-B2EE-9E4F0092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762997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ПОБЕДИТЕЛЯ НАЗНАЧАЮТ ДАННЫЕ</a:t>
            </a:r>
          </a:p>
        </p:txBody>
      </p:sp>
      <p:sp>
        <p:nvSpPr>
          <p:cNvPr id="4" name="hf-734">
            <a:extLst xmlns:a="http://schemas.openxmlformats.org/drawingml/2006/main">
              <a:ext uri="{FF2B5EF4-FFF2-40B4-BE49-F238E27FC236}">
                <a16:creationId xmlns:a16="http://schemas.microsoft.com/office/drawing/2014/main" id="{57AF823D-56E2-4EAB-BA50-0CA05BF4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334338"/>
            <a:ext cx="348503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нс на элемент, лог. шкала · ниже — лучше</a:t>
            </a:r>
          </a:p>
        </p:txBody>
      </p:sp>
      <p:sp>
        <p:nvSpPr>
          <p:cNvPr id="5" name="hf-735">
            <a:extLst xmlns:a="http://schemas.openxmlformats.org/drawingml/2006/main">
              <a:ext uri="{FF2B5EF4-FFF2-40B4-BE49-F238E27FC236}">
                <a16:creationId xmlns:a16="http://schemas.microsoft.com/office/drawing/2014/main" id="{54E3DD3A-9C70-41EF-8CD0-A0650791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44105"/>
            <a:ext cx="5625703" cy="953"/>
          </a:xfrm>
          <a:custGeom xmlns:a="http://schemas.openxmlformats.org/drawingml/2006/main">
            <a:pathLst>
              <a:path w="5625703" h="476">
                <a:moveTo>
                  <a:pt x="0" y="0"/>
                </a:moveTo>
                <a:lnTo>
                  <a:pt x="56257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30">
            <a:solidFill>
              <a:srgbClr val="333333"/>
            </a:solidFill>
          </a:ln>
        </p:spPr>
      </p:sp>
      <p:sp>
        <p:nvSpPr>
          <p:cNvPr id="6" name="hf-736">
            <a:extLst xmlns:a="http://schemas.openxmlformats.org/drawingml/2006/main">
              <a:ext uri="{FF2B5EF4-FFF2-40B4-BE49-F238E27FC236}">
                <a16:creationId xmlns:a16="http://schemas.microsoft.com/office/drawing/2014/main" id="{797E9595-5C0B-496D-8A02-294621BD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0648"/>
            <a:ext cx="5625703" cy="953"/>
          </a:xfrm>
          <a:custGeom xmlns:a="http://schemas.openxmlformats.org/drawingml/2006/main">
            <a:pathLst>
              <a:path w="5625703" h="476">
                <a:moveTo>
                  <a:pt x="0" y="0"/>
                </a:moveTo>
                <a:lnTo>
                  <a:pt x="56257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30">
            <a:solidFill>
              <a:srgbClr val="333333"/>
            </a:solidFill>
          </a:ln>
        </p:spPr>
      </p:sp>
      <p:sp>
        <p:nvSpPr>
          <p:cNvPr id="7" name="hf-737">
            <a:extLst xmlns:a="http://schemas.openxmlformats.org/drawingml/2006/main">
              <a:ext uri="{FF2B5EF4-FFF2-40B4-BE49-F238E27FC236}">
                <a16:creationId xmlns:a16="http://schemas.microsoft.com/office/drawing/2014/main" id="{4B0FAE89-1F01-4793-9263-3C0FA5825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61840"/>
            <a:ext cx="5625703" cy="953"/>
          </a:xfrm>
          <a:custGeom xmlns:a="http://schemas.openxmlformats.org/drawingml/2006/main">
            <a:pathLst>
              <a:path w="5625703" h="476">
                <a:moveTo>
                  <a:pt x="0" y="0"/>
                </a:moveTo>
                <a:lnTo>
                  <a:pt x="56257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30">
            <a:solidFill>
              <a:srgbClr val="333333"/>
            </a:solidFill>
          </a:ln>
        </p:spPr>
      </p:sp>
      <p:sp>
        <p:nvSpPr>
          <p:cNvPr id="8" name="hf-738">
            <a:extLst xmlns:a="http://schemas.openxmlformats.org/drawingml/2006/main">
              <a:ext uri="{FF2B5EF4-FFF2-40B4-BE49-F238E27FC236}">
                <a16:creationId xmlns:a16="http://schemas.microsoft.com/office/drawing/2014/main" id="{AF8F219C-55CA-4825-8940-D860E035D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2914"/>
            <a:ext cx="5625703" cy="953"/>
          </a:xfrm>
          <a:custGeom xmlns:a="http://schemas.openxmlformats.org/drawingml/2006/main">
            <a:pathLst>
              <a:path w="5625703" h="476">
                <a:moveTo>
                  <a:pt x="0" y="0"/>
                </a:moveTo>
                <a:lnTo>
                  <a:pt x="56257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95">
            <a:solidFill>
              <a:srgbClr val="8F8F8F"/>
            </a:solidFill>
          </a:ln>
        </p:spPr>
      </p:sp>
      <p:sp>
        <p:nvSpPr>
          <p:cNvPr id="9" name="hf-739">
            <a:extLst xmlns:a="http://schemas.openxmlformats.org/drawingml/2006/main">
              <a:ext uri="{FF2B5EF4-FFF2-40B4-BE49-F238E27FC236}">
                <a16:creationId xmlns:a16="http://schemas.microsoft.com/office/drawing/2014/main" id="{514226A4-C486-4821-8187-86FC60D6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207" y="3210763"/>
            <a:ext cx="11519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10" name="hf-740">
            <a:extLst xmlns:a="http://schemas.openxmlformats.org/drawingml/2006/main">
              <a:ext uri="{FF2B5EF4-FFF2-40B4-BE49-F238E27FC236}">
                <a16:creationId xmlns:a16="http://schemas.microsoft.com/office/drawing/2014/main" id="{B123BE13-C049-4C9F-B7FF-90E38388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548" y="2739276"/>
            <a:ext cx="14585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1" name="hf-741">
            <a:extLst xmlns:a="http://schemas.openxmlformats.org/drawingml/2006/main">
              <a:ext uri="{FF2B5EF4-FFF2-40B4-BE49-F238E27FC236}">
                <a16:creationId xmlns:a16="http://schemas.microsoft.com/office/drawing/2014/main" id="{1762385E-C9C8-4C77-9411-831A6CC3D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664" y="2224926"/>
            <a:ext cx="21773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10</a:t>
            </a:r>
          </a:p>
        </p:txBody>
      </p:sp>
      <p:sp>
        <p:nvSpPr>
          <p:cNvPr id="12" name="hf-742">
            <a:extLst xmlns:a="http://schemas.openxmlformats.org/drawingml/2006/main">
              <a:ext uri="{FF2B5EF4-FFF2-40B4-BE49-F238E27FC236}">
                <a16:creationId xmlns:a16="http://schemas.microsoft.com/office/drawing/2014/main" id="{1BFE4785-65A1-480E-BCC9-592D309F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006" y="1758201"/>
            <a:ext cx="24839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30</a:t>
            </a:r>
          </a:p>
        </p:txBody>
      </p:sp>
      <p:sp>
        <p:nvSpPr>
          <p:cNvPr id="13" name="hf-743">
            <a:extLst xmlns:a="http://schemas.openxmlformats.org/drawingml/2006/main">
              <a:ext uri="{FF2B5EF4-FFF2-40B4-BE49-F238E27FC236}">
                <a16:creationId xmlns:a16="http://schemas.microsoft.com/office/drawing/2014/main" id="{59ECB88C-3392-45AE-B902-E4E5F02A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52" y="3401263"/>
            <a:ext cx="899071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все равны</a:t>
            </a:r>
          </a:p>
        </p:txBody>
      </p:sp>
      <p:sp>
        <p:nvSpPr>
          <p:cNvPr id="14" name="hf-744">
            <a:extLst xmlns:a="http://schemas.openxmlformats.org/drawingml/2006/main">
              <a:ext uri="{FF2B5EF4-FFF2-40B4-BE49-F238E27FC236}">
                <a16:creationId xmlns:a16="http://schemas.microsoft.com/office/drawing/2014/main" id="{F31E2B27-CF18-49FA-8363-5A1FB32BB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132" y="3401263"/>
            <a:ext cx="24616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1%</a:t>
            </a:r>
          </a:p>
        </p:txBody>
      </p:sp>
      <p:sp>
        <p:nvSpPr>
          <p:cNvPr id="15" name="hf-745">
            <a:extLst xmlns:a="http://schemas.openxmlformats.org/drawingml/2006/main">
              <a:ext uri="{FF2B5EF4-FFF2-40B4-BE49-F238E27FC236}">
                <a16:creationId xmlns:a16="http://schemas.microsoft.com/office/drawing/2014/main" id="{7C923512-9EE2-4578-9FBD-0826DEF7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123" y="3401263"/>
            <a:ext cx="34870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10%</a:t>
            </a:r>
          </a:p>
        </p:txBody>
      </p:sp>
      <p:sp>
        <p:nvSpPr>
          <p:cNvPr id="16" name="hf-746">
            <a:extLst xmlns:a="http://schemas.openxmlformats.org/drawingml/2006/main">
              <a:ext uri="{FF2B5EF4-FFF2-40B4-BE49-F238E27FC236}">
                <a16:creationId xmlns:a16="http://schemas.microsoft.com/office/drawing/2014/main" id="{DA70F8EC-6481-46D6-9096-D833DD5E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8833" y="3401263"/>
            <a:ext cx="3797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50%</a:t>
            </a:r>
          </a:p>
        </p:txBody>
      </p:sp>
      <p:sp>
        <p:nvSpPr>
          <p:cNvPr id="17" name="hf-747">
            <a:extLst xmlns:a="http://schemas.openxmlformats.org/drawingml/2006/main">
              <a:ext uri="{FF2B5EF4-FFF2-40B4-BE49-F238E27FC236}">
                <a16:creationId xmlns:a16="http://schemas.microsoft.com/office/drawing/2014/main" id="{2E00F12F-17EF-4529-A56F-5D5FAB2D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377" y="3401263"/>
            <a:ext cx="45124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100%</a:t>
            </a:r>
          </a:p>
        </p:txBody>
      </p:sp>
      <p:sp>
        <p:nvSpPr>
          <p:cNvPr id="18" name="hf-748">
            <a:extLst xmlns:a="http://schemas.openxmlformats.org/drawingml/2006/main">
              <a:ext uri="{FF2B5EF4-FFF2-40B4-BE49-F238E27FC236}">
                <a16:creationId xmlns:a16="http://schemas.microsoft.com/office/drawing/2014/main" id="{6297C77A-A0EA-4CA0-B7EA-E4498A04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01263"/>
            <a:ext cx="148657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доля уникальных</a:t>
            </a:r>
          </a:p>
        </p:txBody>
      </p:sp>
      <p:sp>
        <p:nvSpPr>
          <p:cNvPr id="19" name="hf-749">
            <a:extLst xmlns:a="http://schemas.openxmlformats.org/drawingml/2006/main">
              <a:ext uri="{FF2B5EF4-FFF2-40B4-BE49-F238E27FC236}">
                <a16:creationId xmlns:a16="http://schemas.microsoft.com/office/drawing/2014/main" id="{D7793C39-F8A9-4922-AFD7-A7A695C2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994" y="2027932"/>
            <a:ext cx="5357813" cy="1207294"/>
          </a:xfrm>
          <a:custGeom xmlns:a="http://schemas.openxmlformats.org/drawingml/2006/main">
            <a:pathLst>
              <a:path w="5357813" h="1207294">
                <a:moveTo>
                  <a:pt x="0" y="1207294"/>
                </a:moveTo>
                <a:lnTo>
                  <a:pt x="1339453" y="225028"/>
                </a:lnTo>
                <a:lnTo>
                  <a:pt x="2678906" y="57150"/>
                </a:lnTo>
                <a:lnTo>
                  <a:pt x="4018359" y="0"/>
                </a:lnTo>
                <a:lnTo>
                  <a:pt x="5357813" y="12055"/>
                </a:lnTo>
              </a:path>
            </a:pathLst>
          </a:custGeom>
          <a:noFill xmlns:a="http://schemas.openxmlformats.org/drawingml/2006/main"/>
          <a:ln xmlns:a="http://schemas.openxmlformats.org/drawingml/2006/main" w="35719">
            <a:solidFill>
              <a:srgbClr val="46CDAE"/>
            </a:solidFill>
          </a:ln>
        </p:spPr>
      </p:sp>
      <p:sp>
        <p:nvSpPr>
          <p:cNvPr id="20" name="hf-750">
            <a:extLst xmlns:a="http://schemas.openxmlformats.org/drawingml/2006/main">
              <a:ext uri="{FF2B5EF4-FFF2-40B4-BE49-F238E27FC236}">
                <a16:creationId xmlns:a16="http://schemas.microsoft.com/office/drawing/2014/main" id="{9E6FBB64-AF0F-41D7-955A-E04762AF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994" y="1630561"/>
            <a:ext cx="5357813" cy="1387673"/>
          </a:xfrm>
          <a:custGeom xmlns:a="http://schemas.openxmlformats.org/drawingml/2006/main">
            <a:pathLst>
              <a:path w="5357813" h="1387673">
                <a:moveTo>
                  <a:pt x="0" y="1387673"/>
                </a:moveTo>
                <a:lnTo>
                  <a:pt x="1339453" y="1183184"/>
                </a:lnTo>
                <a:lnTo>
                  <a:pt x="2678906" y="884039"/>
                </a:lnTo>
                <a:lnTo>
                  <a:pt x="4018359" y="343793"/>
                </a:lnTo>
                <a:lnTo>
                  <a:pt x="53578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719">
            <a:solidFill>
              <a:srgbClr val="E2489B"/>
            </a:solidFill>
          </a:ln>
        </p:spPr>
      </p:sp>
      <p:sp>
        <p:nvSpPr>
          <p:cNvPr id="21" name="hf-751">
            <a:extLst xmlns:a="http://schemas.openxmlformats.org/drawingml/2006/main">
              <a:ext uri="{FF2B5EF4-FFF2-40B4-BE49-F238E27FC236}">
                <a16:creationId xmlns:a16="http://schemas.microsoft.com/office/drawing/2014/main" id="{9551C734-3235-495D-ABFF-7BFAC88A4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447" y="2303859"/>
            <a:ext cx="953" cy="455414"/>
          </a:xfrm>
          <a:custGeom xmlns:a="http://schemas.openxmlformats.org/drawingml/2006/main">
            <a:pathLst>
              <a:path w="476" h="455414">
                <a:moveTo>
                  <a:pt x="0" y="0"/>
                </a:moveTo>
                <a:lnTo>
                  <a:pt x="0" y="455414"/>
                </a:lnTo>
              </a:path>
            </a:pathLst>
          </a:custGeom>
          <a:noFill xmlns:a="http://schemas.openxmlformats.org/drawingml/2006/main"/>
          <a:ln xmlns:a="http://schemas.openxmlformats.org/drawingml/2006/main" w="13395">
            <a:solidFill>
              <a:srgbClr val="FFFFFF"/>
            </a:solidFill>
            <a:custDash>
              <a:ds d="213333" sp="213333"/>
            </a:custDash>
          </a:ln>
        </p:spPr>
      </p:sp>
      <p:sp>
        <p:nvSpPr>
          <p:cNvPr id="22" name="hf-752">
            <a:extLst xmlns:a="http://schemas.openxmlformats.org/drawingml/2006/main">
              <a:ext uri="{FF2B5EF4-FFF2-40B4-BE49-F238E27FC236}">
                <a16:creationId xmlns:a16="http://schemas.microsoft.com/office/drawing/2014/main" id="{EDC109D6-E273-43B4-9708-7C047915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334" y="2203847"/>
            <a:ext cx="98227" cy="982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CDAE"/>
          </a:solidFill>
          <a:ln xmlns:a="http://schemas.openxmlformats.org/drawingml/2006/main" w="13395">
            <a:solidFill>
              <a:srgbClr val="000000"/>
            </a:solidFill>
          </a:ln>
        </p:spPr>
      </p:sp>
      <p:sp>
        <p:nvSpPr>
          <p:cNvPr id="23" name="hf-753">
            <a:extLst xmlns:a="http://schemas.openxmlformats.org/drawingml/2006/main">
              <a:ext uri="{FF2B5EF4-FFF2-40B4-BE49-F238E27FC236}">
                <a16:creationId xmlns:a16="http://schemas.microsoft.com/office/drawing/2014/main" id="{EF43FA3B-CA26-477E-BB7E-92340F17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334" y="2764631"/>
            <a:ext cx="98227" cy="982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489B"/>
          </a:solidFill>
          <a:ln xmlns:a="http://schemas.openxmlformats.org/drawingml/2006/main" w="13395">
            <a:solidFill>
              <a:srgbClr val="000000"/>
            </a:solidFill>
          </a:ln>
        </p:spPr>
      </p:sp>
      <p:sp>
        <p:nvSpPr>
          <p:cNvPr id="24" name="hf-754">
            <a:extLst xmlns:a="http://schemas.openxmlformats.org/drawingml/2006/main">
              <a:ext uri="{FF2B5EF4-FFF2-40B4-BE49-F238E27FC236}">
                <a16:creationId xmlns:a16="http://schemas.microsoft.com/office/drawing/2014/main" id="{9D65BFB0-C0FD-4DAB-940C-96AB7A17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28515"/>
            <a:ext cx="1346746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35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unordered_set</a:t>
            </a:r>
          </a:p>
        </p:txBody>
      </p:sp>
      <p:sp>
        <p:nvSpPr>
          <p:cNvPr id="25" name="hf-755">
            <a:extLst xmlns:a="http://schemas.openxmlformats.org/drawingml/2006/main">
              <a:ext uri="{FF2B5EF4-FFF2-40B4-BE49-F238E27FC236}">
                <a16:creationId xmlns:a16="http://schemas.microsoft.com/office/drawing/2014/main" id="{815E657C-E81F-455C-AF26-52C3722F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99990"/>
            <a:ext cx="12242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35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+ unique</a:t>
            </a:r>
          </a:p>
        </p:txBody>
      </p:sp>
      <p:sp>
        <p:nvSpPr>
          <p:cNvPr id="26" name="hf-756">
            <a:extLst xmlns:a="http://schemas.openxmlformats.org/drawingml/2006/main">
              <a:ext uri="{FF2B5EF4-FFF2-40B4-BE49-F238E27FC236}">
                <a16:creationId xmlns:a16="http://schemas.microsoft.com/office/drawing/2014/main" id="{23CDCEE7-CC5A-4F5E-898A-49D5FB3E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8" y="3714750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5E1C42"/>
          </a:solidFill>
          <a:ln xmlns:a="http://schemas.openxmlformats.org/drawingml/2006/main" w="14288">
            <a:solidFill>
              <a:srgbClr val="E2489B"/>
            </a:solidFill>
          </a:ln>
        </p:spPr>
      </p:sp>
      <p:sp>
        <p:nvSpPr>
          <p:cNvPr id="27" name="hf-757">
            <a:extLst xmlns:a="http://schemas.openxmlformats.org/drawingml/2006/main">
              <a:ext uri="{FF2B5EF4-FFF2-40B4-BE49-F238E27FC236}">
                <a16:creationId xmlns:a16="http://schemas.microsoft.com/office/drawing/2014/main" id="{B9282FA3-E3EF-4DCD-BE66-04EF38CE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501" y="3659943"/>
            <a:ext cx="100659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хеш ×3,7</a:t>
            </a:r>
          </a:p>
        </p:txBody>
      </p:sp>
      <p:sp>
        <p:nvSpPr>
          <p:cNvPr id="28" name="hf-758">
            <a:extLst xmlns:a="http://schemas.openxmlformats.org/drawingml/2006/main">
              <a:ext uri="{FF2B5EF4-FFF2-40B4-BE49-F238E27FC236}">
                <a16:creationId xmlns:a16="http://schemas.microsoft.com/office/drawing/2014/main" id="{2BFA5168-23E6-4E53-88F7-E681ABB1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2240" y="1978819"/>
            <a:ext cx="98227" cy="982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CDAE"/>
          </a:solidFill>
          <a:ln xmlns:a="http://schemas.openxmlformats.org/drawingml/2006/main" w="13395">
            <a:solidFill>
              <a:srgbClr val="000000"/>
            </a:solidFill>
          </a:ln>
        </p:spPr>
      </p:sp>
      <p:sp>
        <p:nvSpPr>
          <p:cNvPr id="29" name="hf-759">
            <a:extLst xmlns:a="http://schemas.openxmlformats.org/drawingml/2006/main">
              <a:ext uri="{FF2B5EF4-FFF2-40B4-BE49-F238E27FC236}">
                <a16:creationId xmlns:a16="http://schemas.microsoft.com/office/drawing/2014/main" id="{A2723EFC-96DF-4903-955B-AAF8F8A0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2240" y="1925241"/>
            <a:ext cx="98227" cy="982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489B"/>
          </a:solidFill>
          <a:ln xmlns:a="http://schemas.openxmlformats.org/drawingml/2006/main" w="13395">
            <a:solidFill>
              <a:srgbClr val="000000"/>
            </a:solidFill>
          </a:ln>
        </p:spPr>
      </p:sp>
      <p:sp>
        <p:nvSpPr>
          <p:cNvPr id="30" name="hf-760">
            <a:extLst xmlns:a="http://schemas.openxmlformats.org/drawingml/2006/main">
              <a:ext uri="{FF2B5EF4-FFF2-40B4-BE49-F238E27FC236}">
                <a16:creationId xmlns:a16="http://schemas.microsoft.com/office/drawing/2014/main" id="{E94BBAC1-5760-477C-B2B4-AEB55E28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0806" y="1687711"/>
            <a:ext cx="953" cy="294680"/>
          </a:xfrm>
          <a:custGeom xmlns:a="http://schemas.openxmlformats.org/drawingml/2006/main">
            <a:pathLst>
              <a:path w="476" h="294680">
                <a:moveTo>
                  <a:pt x="0" y="0"/>
                </a:moveTo>
                <a:lnTo>
                  <a:pt x="0" y="294680"/>
                </a:lnTo>
              </a:path>
            </a:pathLst>
          </a:custGeom>
          <a:noFill xmlns:a="http://schemas.openxmlformats.org/drawingml/2006/main"/>
          <a:ln xmlns:a="http://schemas.openxmlformats.org/drawingml/2006/main" w="13395">
            <a:solidFill>
              <a:srgbClr val="FFFFFF"/>
            </a:solidFill>
            <a:custDash>
              <a:ds d="213333" sp="213333"/>
            </a:custDash>
          </a:ln>
        </p:spPr>
      </p:sp>
      <p:sp>
        <p:nvSpPr>
          <p:cNvPr id="31" name="hf-761">
            <a:extLst xmlns:a="http://schemas.openxmlformats.org/drawingml/2006/main">
              <a:ext uri="{FF2B5EF4-FFF2-40B4-BE49-F238E27FC236}">
                <a16:creationId xmlns:a16="http://schemas.microsoft.com/office/drawing/2014/main" id="{BDD80EA7-D93C-4004-8344-47856586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1693" y="1990874"/>
            <a:ext cx="98227" cy="982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CDAE"/>
          </a:solidFill>
          <a:ln xmlns:a="http://schemas.openxmlformats.org/drawingml/2006/main" w="13395">
            <a:solidFill>
              <a:srgbClr val="000000"/>
            </a:solidFill>
          </a:ln>
        </p:spPr>
      </p:sp>
      <p:sp>
        <p:nvSpPr>
          <p:cNvPr id="32" name="hf-762">
            <a:extLst xmlns:a="http://schemas.openxmlformats.org/drawingml/2006/main">
              <a:ext uri="{FF2B5EF4-FFF2-40B4-BE49-F238E27FC236}">
                <a16:creationId xmlns:a16="http://schemas.microsoft.com/office/drawing/2014/main" id="{481C46D2-BAB4-4D10-B034-E5BE71EF6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1693" y="1581448"/>
            <a:ext cx="98227" cy="982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489B"/>
          </a:solidFill>
          <a:ln xmlns:a="http://schemas.openxmlformats.org/drawingml/2006/main" w="13395">
            <a:solidFill>
              <a:srgbClr val="000000"/>
            </a:solidFill>
          </a:ln>
        </p:spPr>
      </p:sp>
      <p:sp>
        <p:nvSpPr>
          <p:cNvPr id="33" name="hf-763">
            <a:extLst xmlns:a="http://schemas.openxmlformats.org/drawingml/2006/main">
              <a:ext uri="{FF2B5EF4-FFF2-40B4-BE49-F238E27FC236}">
                <a16:creationId xmlns:a16="http://schemas.microsoft.com/office/drawing/2014/main" id="{B9754536-E9C2-4FEC-ADBA-7631940D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2858" y="3671640"/>
            <a:ext cx="121175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3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почти ничья</a:t>
            </a:r>
          </a:p>
        </p:txBody>
      </p:sp>
      <p:sp>
        <p:nvSpPr>
          <p:cNvPr id="34" name="hf-764">
            <a:extLst xmlns:a="http://schemas.openxmlformats.org/drawingml/2006/main">
              <a:ext uri="{FF2B5EF4-FFF2-40B4-BE49-F238E27FC236}">
                <a16:creationId xmlns:a16="http://schemas.microsoft.com/office/drawing/2014/main" id="{81C9E4A9-C83E-4977-815A-D8CC7052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905" y="3881190"/>
            <a:ext cx="122359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35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20 против 23</a:t>
            </a:r>
          </a:p>
        </p:txBody>
      </p:sp>
      <p:sp>
        <p:nvSpPr>
          <p:cNvPr id="35" name="hf-765">
            <a:extLst xmlns:a="http://schemas.openxmlformats.org/drawingml/2006/main">
              <a:ext uri="{FF2B5EF4-FFF2-40B4-BE49-F238E27FC236}">
                <a16:creationId xmlns:a16="http://schemas.microsoft.com/office/drawing/2014/main" id="{29DE0023-9741-4314-8773-5EABB175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714750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74F45"/>
          </a:solidFill>
          <a:ln xmlns:a="http://schemas.openxmlformats.org/drawingml/2006/main" w="14288">
            <a:solidFill>
              <a:srgbClr val="46CDAE"/>
            </a:solidFill>
          </a:ln>
        </p:spPr>
      </p:sp>
      <p:sp>
        <p:nvSpPr>
          <p:cNvPr id="36" name="hf-766">
            <a:extLst xmlns:a="http://schemas.openxmlformats.org/drawingml/2006/main">
              <a:ext uri="{FF2B5EF4-FFF2-40B4-BE49-F238E27FC236}">
                <a16:creationId xmlns:a16="http://schemas.microsoft.com/office/drawing/2014/main" id="{83801F1F-C3E2-40B9-8B84-954E8723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3560" y="3659943"/>
            <a:ext cx="98680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sort ×2,6</a:t>
            </a:r>
          </a:p>
        </p:txBody>
      </p:sp>
      <p:sp>
        <p:nvSpPr>
          <p:cNvPr id="37" name="hf-767">
            <a:extLst xmlns:a="http://schemas.openxmlformats.org/drawingml/2006/main">
              <a:ext uri="{FF2B5EF4-FFF2-40B4-BE49-F238E27FC236}">
                <a16:creationId xmlns:a16="http://schemas.microsoft.com/office/drawing/2014/main" id="{493F5F9A-4AAE-49D3-B8DD-1B997DE4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994" y="2150715"/>
            <a:ext cx="5357813" cy="773311"/>
          </a:xfrm>
          <a:custGeom xmlns:a="http://schemas.openxmlformats.org/drawingml/2006/main">
            <a:pathLst>
              <a:path w="5357813" h="773311">
                <a:moveTo>
                  <a:pt x="0" y="773311"/>
                </a:moveTo>
                <a:lnTo>
                  <a:pt x="1339453" y="0"/>
                </a:lnTo>
                <a:lnTo>
                  <a:pt x="2678906" y="36612"/>
                </a:lnTo>
                <a:lnTo>
                  <a:pt x="4018359" y="175915"/>
                </a:lnTo>
                <a:lnTo>
                  <a:pt x="5357813" y="339775"/>
                </a:lnTo>
              </a:path>
            </a:pathLst>
          </a:custGeom>
          <a:noFill xmlns:a="http://schemas.openxmlformats.org/drawingml/2006/main"/>
          <a:ln xmlns:a="http://schemas.openxmlformats.org/drawingml/2006/main" w="17859">
            <a:solidFill>
              <a:srgbClr val="9B87F5"/>
            </a:solidFill>
          </a:ln>
        </p:spPr>
      </p:sp>
      <p:sp>
        <p:nvSpPr>
          <p:cNvPr id="38" name="hf-768">
            <a:extLst xmlns:a="http://schemas.openxmlformats.org/drawingml/2006/main">
              <a:ext uri="{FF2B5EF4-FFF2-40B4-BE49-F238E27FC236}">
                <a16:creationId xmlns:a16="http://schemas.microsoft.com/office/drawing/2014/main" id="{6A572D97-A6BD-47D1-86C1-3800C5B1C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994" y="2260997"/>
            <a:ext cx="5357813" cy="601861"/>
          </a:xfrm>
          <a:custGeom xmlns:a="http://schemas.openxmlformats.org/drawingml/2006/main">
            <a:pathLst>
              <a:path w="5357813" h="601861">
                <a:moveTo>
                  <a:pt x="0" y="601861"/>
                </a:moveTo>
                <a:lnTo>
                  <a:pt x="1339453" y="507653"/>
                </a:lnTo>
                <a:lnTo>
                  <a:pt x="2678906" y="319236"/>
                </a:lnTo>
                <a:lnTo>
                  <a:pt x="4018359" y="0"/>
                </a:lnTo>
                <a:lnTo>
                  <a:pt x="53578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719">
            <a:solidFill>
              <a:srgbClr val="FFFFFF"/>
            </a:solidFill>
          </a:ln>
        </p:spPr>
      </p:sp>
      <p:sp>
        <p:nvSpPr>
          <p:cNvPr id="39" name="hf-769">
            <a:extLst xmlns:a="http://schemas.openxmlformats.org/drawingml/2006/main">
              <a:ext uri="{FF2B5EF4-FFF2-40B4-BE49-F238E27FC236}">
                <a16:creationId xmlns:a16="http://schemas.microsoft.com/office/drawing/2014/main" id="{A123D463-5C6B-496C-98CC-26EF0465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147640"/>
            <a:ext cx="1220316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3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flat_hash_set</a:t>
            </a:r>
          </a:p>
        </p:txBody>
      </p:sp>
      <p:sp>
        <p:nvSpPr>
          <p:cNvPr id="40" name="hf-770">
            <a:extLst xmlns:a="http://schemas.openxmlformats.org/drawingml/2006/main">
              <a:ext uri="{FF2B5EF4-FFF2-40B4-BE49-F238E27FC236}">
                <a16:creationId xmlns:a16="http://schemas.microsoft.com/office/drawing/2014/main" id="{29A063DF-E784-4907-A707-9C427430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95290"/>
            <a:ext cx="1312441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350" b="0" i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</a:rPr>
              <a:t>radix + unique</a:t>
            </a:r>
          </a:p>
        </p:txBody>
      </p:sp>
      <p:pic>
        <p:nvPicPr>
          <p:cNvPr id="41" name="hf-771">
            <a:extLst xmlns:a="http://schemas.openxmlformats.org/drawingml/2006/main">
              <a:ext uri="{FF2B5EF4-FFF2-40B4-BE49-F238E27FC236}">
                <a16:creationId xmlns:a16="http://schemas.microsoft.com/office/drawing/2014/main" id="{AF549130-F822-4A47-9C5A-52E4EE0FB7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4aa0f97c1943d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42" name="hf-772">
            <a:extLst xmlns:a="http://schemas.openxmlformats.org/drawingml/2006/main">
              <a:ext uri="{FF2B5EF4-FFF2-40B4-BE49-F238E27FC236}">
                <a16:creationId xmlns:a16="http://schemas.microsoft.com/office/drawing/2014/main" id="{0D39411E-2C62-4CBF-8706-B0263BED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978879832"/>
      </p:ext>
    </p:extLst>
  </p:cSld>
  <p:timing xmlns:a="http://schemas.openxmlformats.org/drawingml/2006/main" xmlns:r="http://schemas.openxmlformats.org/officeDocument/2006/relationships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7" grpId="0" animBg="1"/>
      <p:bldP spid="33" grpId="0" animBg="1"/>
      <p:bldP spid="34" grpId="0" animBg="1"/>
      <p:bldP spid="36" grpId="0" animBg="1"/>
      <p:bldP spid="39" grpId="0" animBg="1"/>
      <p:bldP spid="40" grpId="0" animBg="1"/>
    </p:bldLst>
  </p:timing>
</p:sld>
</file>

<file path=ppt/slides/slide34.xml><?xml version="1.0" encoding="utf-8"?>
<p:sld xmlns:p="http://schemas.openxmlformats.org/presentationml/2006/main" show="0">
  <p:cSld name="nb-where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773">
            <a:extLst xmlns:a="http://schemas.openxmlformats.org/drawingml/2006/main">
              <a:ext uri="{FF2B5EF4-FFF2-40B4-BE49-F238E27FC236}">
                <a16:creationId xmlns:a16="http://schemas.microsoft.com/office/drawing/2014/main" id="{D80819C7-C77D-420D-B81B-CFA06BBA2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7952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BACKUP · ДЛЯ ВОПРОСОВ</a:t>
            </a:r>
          </a:p>
        </p:txBody>
      </p:sp>
      <p:sp>
        <p:nvSpPr>
          <p:cNvPr id="3" name="hf-774">
            <a:extLst xmlns:a="http://schemas.openxmlformats.org/drawingml/2006/main">
              <a:ext uri="{FF2B5EF4-FFF2-40B4-BE49-F238E27FC236}">
                <a16:creationId xmlns:a16="http://schemas.microsoft.com/office/drawing/2014/main" id="{3C667A9D-DF6A-4C0C-AE2E-6EC3D3D0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633716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ПАСПОРТ УСЛОВИЙ НУЖЕН ДЛЯ КАЖДОЙ</a:t>
            </a:r>
          </a:p>
        </p:txBody>
      </p:sp>
      <p:sp>
        <p:nvSpPr>
          <p:cNvPr id="4" name="hf-775">
            <a:extLst xmlns:a="http://schemas.openxmlformats.org/drawingml/2006/main">
              <a:ext uri="{FF2B5EF4-FFF2-40B4-BE49-F238E27FC236}">
                <a16:creationId xmlns:a16="http://schemas.microsoft.com/office/drawing/2014/main" id="{66CEEEA2-1A38-40CD-9E29-9C2073039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1109886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СЕРИИ</a:t>
            </a:r>
          </a:p>
        </p:txBody>
      </p:sp>
      <p:sp>
        <p:nvSpPr>
          <p:cNvPr id="5" name="hf-776">
            <a:extLst xmlns:a="http://schemas.openxmlformats.org/drawingml/2006/main">
              <a:ext uri="{FF2B5EF4-FFF2-40B4-BE49-F238E27FC236}">
                <a16:creationId xmlns:a16="http://schemas.microsoft.com/office/drawing/2014/main" id="{2D7F45FA-665C-48DC-AD3B-239E7125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407824"/>
            <a:ext cx="1464022" cy="269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69"/>
              </a:lnSpc>
              <a:buNone/>
            </a:pPr>
            <a:r>
              <a:rPr sz="157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iPhone 14 Pro</a:t>
            </a:r>
          </a:p>
        </p:txBody>
      </p:sp>
      <p:sp>
        <p:nvSpPr>
          <p:cNvPr id="6" name="hf-777">
            <a:extLst xmlns:a="http://schemas.openxmlformats.org/drawingml/2006/main">
              <a:ext uri="{FF2B5EF4-FFF2-40B4-BE49-F238E27FC236}">
                <a16:creationId xmlns:a16="http://schemas.microsoft.com/office/drawing/2014/main" id="{4322DCD6-B47F-471F-A8BD-0DD3E760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681458"/>
            <a:ext cx="905768" cy="221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94"/>
              </a:lnSpc>
              <a:buNone/>
            </a:pPr>
            <a:r>
              <a:rPr sz="127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A16 Bionic</a:t>
            </a:r>
          </a:p>
        </p:txBody>
      </p:sp>
      <p:sp>
        <p:nvSpPr>
          <p:cNvPr id="7" name="hf-778">
            <a:extLst xmlns:a="http://schemas.openxmlformats.org/drawingml/2006/main">
              <a:ext uri="{FF2B5EF4-FFF2-40B4-BE49-F238E27FC236}">
                <a16:creationId xmlns:a16="http://schemas.microsoft.com/office/drawing/2014/main" id="{D7511281-5926-4529-9760-0801AD42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407281"/>
            <a:ext cx="506462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Mac</a:t>
            </a:r>
          </a:p>
        </p:txBody>
      </p:sp>
      <p:sp>
        <p:nvSpPr>
          <p:cNvPr id="8" name="hf-779">
            <a:extLst xmlns:a="http://schemas.openxmlformats.org/drawingml/2006/main">
              <a:ext uri="{FF2B5EF4-FFF2-40B4-BE49-F238E27FC236}">
                <a16:creationId xmlns:a16="http://schemas.microsoft.com/office/drawing/2014/main" id="{2081BCA4-D876-4030-AFEE-490CE2240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681458"/>
            <a:ext cx="636687" cy="221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94"/>
              </a:lnSpc>
              <a:buNone/>
            </a:pPr>
            <a:r>
              <a:rPr sz="127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M2 Pro</a:t>
            </a:r>
          </a:p>
        </p:txBody>
      </p:sp>
      <p:sp>
        <p:nvSpPr>
          <p:cNvPr id="9" name="hf-780">
            <a:extLst xmlns:a="http://schemas.openxmlformats.org/drawingml/2006/main">
              <a:ext uri="{FF2B5EF4-FFF2-40B4-BE49-F238E27FC236}">
                <a16:creationId xmlns:a16="http://schemas.microsoft.com/office/drawing/2014/main" id="{2D618F9B-08EE-400F-BEFE-7D7C6EE1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07281"/>
            <a:ext cx="1095226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Linux x86</a:t>
            </a:r>
          </a:p>
        </p:txBody>
      </p:sp>
      <p:sp>
        <p:nvSpPr>
          <p:cNvPr id="10" name="hf-781">
            <a:extLst xmlns:a="http://schemas.openxmlformats.org/drawingml/2006/main">
              <a:ext uri="{FF2B5EF4-FFF2-40B4-BE49-F238E27FC236}">
                <a16:creationId xmlns:a16="http://schemas.microsoft.com/office/drawing/2014/main" id="{DA75B100-3322-48AC-B83F-26E90457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81458"/>
            <a:ext cx="886048" cy="221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94"/>
              </a:lnSpc>
              <a:buNone/>
            </a:pPr>
            <a:r>
              <a:rPr sz="127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Xeon · VM</a:t>
            </a:r>
          </a:p>
        </p:txBody>
      </p:sp>
      <p:sp>
        <p:nvSpPr>
          <p:cNvPr id="11" name="hf-782">
            <a:extLst xmlns:a="http://schemas.openxmlformats.org/drawingml/2006/main">
              <a:ext uri="{FF2B5EF4-FFF2-40B4-BE49-F238E27FC236}">
                <a16:creationId xmlns:a16="http://schemas.microsoft.com/office/drawing/2014/main" id="{A706F129-E8E7-4E28-8F19-5EA3D4A94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047875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2" name="hf-783">
            <a:extLst xmlns:a="http://schemas.openxmlformats.org/drawingml/2006/main">
              <a:ext uri="{FF2B5EF4-FFF2-40B4-BE49-F238E27FC236}">
                <a16:creationId xmlns:a16="http://schemas.microsoft.com/office/drawing/2014/main" id="{FAD9D4C3-647A-4AE1-A15F-0C998DFB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256092"/>
            <a:ext cx="440978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Код</a:t>
            </a:r>
          </a:p>
        </p:txBody>
      </p:sp>
      <p:sp>
        <p:nvSpPr>
          <p:cNvPr id="13" name="hf-784">
            <a:extLst xmlns:a="http://schemas.openxmlformats.org/drawingml/2006/main">
              <a:ext uri="{FF2B5EF4-FFF2-40B4-BE49-F238E27FC236}">
                <a16:creationId xmlns:a16="http://schemas.microsoft.com/office/drawing/2014/main" id="{A3DC5965-1986-4173-A14B-35FBE770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52348"/>
            <a:ext cx="1062856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52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C++ · libc++</a:t>
            </a:r>
          </a:p>
        </p:txBody>
      </p:sp>
      <p:sp>
        <p:nvSpPr>
          <p:cNvPr id="14" name="hf-785">
            <a:extLst xmlns:a="http://schemas.openxmlformats.org/drawingml/2006/main">
              <a:ext uri="{FF2B5EF4-FFF2-40B4-BE49-F238E27FC236}">
                <a16:creationId xmlns:a16="http://schemas.microsoft.com/office/drawing/2014/main" id="{681382A0-0E53-4511-859C-7C320BFE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252348"/>
            <a:ext cx="1062856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52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C++ · libc++</a:t>
            </a:r>
          </a:p>
        </p:txBody>
      </p:sp>
      <p:sp>
        <p:nvSpPr>
          <p:cNvPr id="15" name="hf-786">
            <a:extLst xmlns:a="http://schemas.openxmlformats.org/drawingml/2006/main">
              <a:ext uri="{FF2B5EF4-FFF2-40B4-BE49-F238E27FC236}">
                <a16:creationId xmlns:a16="http://schemas.microsoft.com/office/drawing/2014/main" id="{201F6088-2C8D-4C06-9159-6AFE538A3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53367"/>
            <a:ext cx="1472729" cy="2419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755"/>
              </a:lnSpc>
              <a:buNone/>
            </a:pPr>
            <a:r>
              <a:rPr sz="13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libstdc++ / libc++</a:t>
            </a:r>
          </a:p>
        </p:txBody>
      </p:sp>
      <p:sp>
        <p:nvSpPr>
          <p:cNvPr id="16" name="hf-787">
            <a:extLst xmlns:a="http://schemas.openxmlformats.org/drawingml/2006/main">
              <a:ext uri="{FF2B5EF4-FFF2-40B4-BE49-F238E27FC236}">
                <a16:creationId xmlns:a16="http://schemas.microsoft.com/office/drawing/2014/main" id="{4DEA2296-72F3-4ED4-AE72-F2737563A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714625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7" name="hf-788">
            <a:extLst xmlns:a="http://schemas.openxmlformats.org/drawingml/2006/main">
              <a:ext uri="{FF2B5EF4-FFF2-40B4-BE49-F238E27FC236}">
                <a16:creationId xmlns:a16="http://schemas.microsoft.com/office/drawing/2014/main" id="{0E10FBB8-33CD-4468-8781-6EF8E484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922842"/>
            <a:ext cx="764977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Режим</a:t>
            </a:r>
          </a:p>
        </p:txBody>
      </p:sp>
      <p:sp>
        <p:nvSpPr>
          <p:cNvPr id="18" name="hf-789">
            <a:extLst xmlns:a="http://schemas.openxmlformats.org/drawingml/2006/main">
              <a:ext uri="{FF2B5EF4-FFF2-40B4-BE49-F238E27FC236}">
                <a16:creationId xmlns:a16="http://schemas.microsoft.com/office/drawing/2014/main" id="{7AD1119E-B859-41E1-93B5-FFA70128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19098"/>
            <a:ext cx="1206178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52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pthread QoS</a:t>
            </a:r>
          </a:p>
        </p:txBody>
      </p:sp>
      <p:sp>
        <p:nvSpPr>
          <p:cNvPr id="19" name="hf-790">
            <a:extLst xmlns:a="http://schemas.openxmlformats.org/drawingml/2006/main">
              <a:ext uri="{FF2B5EF4-FFF2-40B4-BE49-F238E27FC236}">
                <a16:creationId xmlns:a16="http://schemas.microsoft.com/office/drawing/2014/main" id="{DD2F6DC5-9158-4FB0-A1C5-576A290A8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919098"/>
            <a:ext cx="1206178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52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pthread QoS</a:t>
            </a:r>
          </a:p>
        </p:txBody>
      </p:sp>
      <p:sp>
        <p:nvSpPr>
          <p:cNvPr id="20" name="hf-791">
            <a:extLst xmlns:a="http://schemas.openxmlformats.org/drawingml/2006/main">
              <a:ext uri="{FF2B5EF4-FFF2-40B4-BE49-F238E27FC236}">
                <a16:creationId xmlns:a16="http://schemas.microsoft.com/office/drawing/2014/main" id="{BE75493A-2C54-4235-BE07-AE9B1254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19098"/>
            <a:ext cx="1385069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52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одно ядро VM</a:t>
            </a:r>
          </a:p>
        </p:txBody>
      </p:sp>
      <p:sp>
        <p:nvSpPr>
          <p:cNvPr id="21" name="hf-792">
            <a:extLst xmlns:a="http://schemas.openxmlformats.org/drawingml/2006/main">
              <a:ext uri="{FF2B5EF4-FFF2-40B4-BE49-F238E27FC236}">
                <a16:creationId xmlns:a16="http://schemas.microsoft.com/office/drawing/2014/main" id="{31C9D8DF-9BB4-4AFC-847A-B36ED6EC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81375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22" name="hf-793">
            <a:extLst xmlns:a="http://schemas.openxmlformats.org/drawingml/2006/main">
              <a:ext uri="{FF2B5EF4-FFF2-40B4-BE49-F238E27FC236}">
                <a16:creationId xmlns:a16="http://schemas.microsoft.com/office/drawing/2014/main" id="{00B2FB38-F4FF-43EE-A751-00D1BAD6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695700"/>
            <a:ext cx="8029575" cy="757238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23" name="hf-794">
            <a:extLst xmlns:a="http://schemas.openxmlformats.org/drawingml/2006/main">
              <a:ext uri="{FF2B5EF4-FFF2-40B4-BE49-F238E27FC236}">
                <a16:creationId xmlns:a16="http://schemas.microsoft.com/office/drawing/2014/main" id="{B8CC7F60-5BB8-4464-9B3A-D1AD8050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3821868"/>
            <a:ext cx="6865144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Паспорт конкретного прогона важнее названия платформы</a:t>
            </a:r>
          </a:p>
        </p:txBody>
      </p:sp>
      <p:pic>
        <p:nvPicPr>
          <p:cNvPr id="24" name="hf-795">
            <a:extLst xmlns:a="http://schemas.openxmlformats.org/drawingml/2006/main">
              <a:ext uri="{FF2B5EF4-FFF2-40B4-BE49-F238E27FC236}">
                <a16:creationId xmlns:a16="http://schemas.microsoft.com/office/drawing/2014/main" id="{A7864934-6655-4A54-80EF-C390E518AF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2d53b36114ef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5" name="hf-796">
            <a:extLst xmlns:a="http://schemas.openxmlformats.org/drawingml/2006/main">
              <a:ext uri="{FF2B5EF4-FFF2-40B4-BE49-F238E27FC236}">
                <a16:creationId xmlns:a16="http://schemas.microsoft.com/office/drawing/2014/main" id="{5C995F09-FA4F-4984-8E21-23808BF70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1964854477"/>
      </p:ext>
    </p:extLst>
  </p:cSld>
</p:sld>
</file>

<file path=ppt/slides/slide35.xml><?xml version="1.0" encoding="utf-8"?>
<p:sld xmlns:p="http://schemas.openxmlformats.org/presentationml/2006/main" show="0">
  <p:cSld name="nb-kernel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797">
            <a:extLst xmlns:a="http://schemas.openxmlformats.org/drawingml/2006/main">
              <a:ext uri="{FF2B5EF4-FFF2-40B4-BE49-F238E27FC236}">
                <a16:creationId xmlns:a16="http://schemas.microsoft.com/office/drawing/2014/main" id="{DF73E362-29FC-46FA-B4BA-39ABE85F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7952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BACKUP · ДЛЯ ВОПРОСОВ</a:t>
            </a:r>
          </a:p>
        </p:txBody>
      </p:sp>
      <p:sp>
        <p:nvSpPr>
          <p:cNvPr id="3" name="hf-798">
            <a:extLst xmlns:a="http://schemas.openxmlformats.org/drawingml/2006/main">
              <a:ext uri="{FF2B5EF4-FFF2-40B4-BE49-F238E27FC236}">
                <a16:creationId xmlns:a16="http://schemas.microsoft.com/office/drawing/2014/main" id="{9E5AFD93-BC1C-4279-B5BF-C67C0DC0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816278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QoS ВЛИЯЕТ НА ВЫБОР ЯДРА, НО НЕ</a:t>
            </a:r>
          </a:p>
        </p:txBody>
      </p:sp>
      <p:sp>
        <p:nvSpPr>
          <p:cNvPr id="4" name="hf-799">
            <a:extLst xmlns:a="http://schemas.openxmlformats.org/drawingml/2006/main">
              <a:ext uri="{FF2B5EF4-FFF2-40B4-BE49-F238E27FC236}">
                <a16:creationId xmlns:a16="http://schemas.microsoft.com/office/drawing/2014/main" id="{89902A64-8E01-4BE6-9C47-BFF17B9C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2264197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ОБЕЩАЕТ ЕГО</a:t>
            </a:r>
          </a:p>
        </p:txBody>
      </p:sp>
      <p:sp>
        <p:nvSpPr>
          <p:cNvPr id="5" name="hf-800">
            <a:extLst xmlns:a="http://schemas.openxmlformats.org/drawingml/2006/main">
              <a:ext uri="{FF2B5EF4-FFF2-40B4-BE49-F238E27FC236}">
                <a16:creationId xmlns:a16="http://schemas.microsoft.com/office/drawing/2014/main" id="{9BD44ADC-D118-4460-BF20-A1F3D8F1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87700"/>
            <a:ext cx="3309491" cy="2928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56"/>
              </a:lnSpc>
              <a:buNone/>
            </a:pPr>
            <a:r>
              <a:rPr sz="17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QoS влияет на размещение</a:t>
            </a:r>
          </a:p>
        </p:txBody>
      </p:sp>
      <p:sp>
        <p:nvSpPr>
          <p:cNvPr id="6" name="hf-801">
            <a:extLst xmlns:a="http://schemas.openxmlformats.org/drawingml/2006/main">
              <a:ext uri="{FF2B5EF4-FFF2-40B4-BE49-F238E27FC236}">
                <a16:creationId xmlns:a16="http://schemas.microsoft.com/office/drawing/2014/main" id="{EE9CA755-C8D2-4EAE-85E1-9FB971DE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922717"/>
            <a:ext cx="296502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utility допускает разные ядра</a:t>
            </a:r>
          </a:p>
        </p:txBody>
      </p:sp>
      <p:sp>
        <p:nvSpPr>
          <p:cNvPr id="7" name="hf-802">
            <a:extLst xmlns:a="http://schemas.openxmlformats.org/drawingml/2006/main">
              <a:ext uri="{FF2B5EF4-FFF2-40B4-BE49-F238E27FC236}">
                <a16:creationId xmlns:a16="http://schemas.microsoft.com/office/drawing/2014/main" id="{0BEF5C14-679E-4B73-B4E5-521A96DE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294192"/>
            <a:ext cx="229522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BDBDBD"/>
                </a:solidFill>
                <a:latin typeface="Montserrat"/>
                <a:ea typeface="Montserrat"/>
                <a:cs typeface="Montserrat"/>
              </a:rPr>
              <a:t>Рекомендацию задаёт</a:t>
            </a:r>
          </a:p>
        </p:txBody>
      </p:sp>
      <p:sp>
        <p:nvSpPr>
          <p:cNvPr id="8" name="hf-803">
            <a:extLst xmlns:a="http://schemas.openxmlformats.org/drawingml/2006/main">
              <a:ext uri="{FF2B5EF4-FFF2-40B4-BE49-F238E27FC236}">
                <a16:creationId xmlns:a16="http://schemas.microsoft.com/office/drawing/2014/main" id="{3DEDDD91-CCFD-4BEE-9998-D8F7FB45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541842"/>
            <a:ext cx="185633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BDBDBD"/>
                </a:solidFill>
                <a:latin typeface="Montserrat"/>
                <a:ea typeface="Montserrat"/>
                <a:cs typeface="Montserrat"/>
              </a:rPr>
              <a:t>контроллер Apple</a:t>
            </a:r>
          </a:p>
        </p:txBody>
      </p:sp>
      <p:sp>
        <p:nvSpPr>
          <p:cNvPr id="9" name="hf-804">
            <a:extLst xmlns:a="http://schemas.openxmlformats.org/drawingml/2006/main">
              <a:ext uri="{FF2B5EF4-FFF2-40B4-BE49-F238E27FC236}">
                <a16:creationId xmlns:a16="http://schemas.microsoft.com/office/drawing/2014/main" id="{AA7C5C36-5680-49BF-8D7A-0817F144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986088"/>
            <a:ext cx="381000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0" name="hf-805">
            <a:extLst xmlns:a="http://schemas.openxmlformats.org/drawingml/2006/main">
              <a:ext uri="{FF2B5EF4-FFF2-40B4-BE49-F238E27FC236}">
                <a16:creationId xmlns:a16="http://schemas.microsoft.com/office/drawing/2014/main" id="{8CA7DF24-6C56-4C9A-B494-C85ED349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202743"/>
            <a:ext cx="1373088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background</a:t>
            </a:r>
          </a:p>
        </p:txBody>
      </p:sp>
      <p:sp>
        <p:nvSpPr>
          <p:cNvPr id="11" name="hf-806">
            <a:extLst xmlns:a="http://schemas.openxmlformats.org/drawingml/2006/main">
              <a:ext uri="{FF2B5EF4-FFF2-40B4-BE49-F238E27FC236}">
                <a16:creationId xmlns:a16="http://schemas.microsoft.com/office/drawing/2014/main" id="{8725C8F6-19BD-4CA4-A068-4EF0B862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528698"/>
            <a:ext cx="2352154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52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В описанном Edge-коде</a:t>
            </a:r>
          </a:p>
        </p:txBody>
      </p:sp>
      <p:sp>
        <p:nvSpPr>
          <p:cNvPr id="12" name="hf-807">
            <a:extLst xmlns:a="http://schemas.openxmlformats.org/drawingml/2006/main">
              <a:ext uri="{FF2B5EF4-FFF2-40B4-BE49-F238E27FC236}">
                <a16:creationId xmlns:a16="http://schemas.microsoft.com/office/drawing/2014/main" id="{86AA969E-EFF0-48D2-810D-52EE3CB8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763921"/>
            <a:ext cx="2931393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52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контроллер не рекомендует P</a:t>
            </a:r>
          </a:p>
        </p:txBody>
      </p:sp>
      <p:sp>
        <p:nvSpPr>
          <p:cNvPr id="13" name="hf-808">
            <a:extLst xmlns:a="http://schemas.openxmlformats.org/drawingml/2006/main">
              <a:ext uri="{FF2B5EF4-FFF2-40B4-BE49-F238E27FC236}">
                <a16:creationId xmlns:a16="http://schemas.microsoft.com/office/drawing/2014/main" id="{C0DDDA8D-FD37-498C-9B50-4E0DBEF2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500188"/>
            <a:ext cx="3786188" cy="1709738"/>
          </a:xfrm>
          <a:prstGeom xmlns:a="http://schemas.openxmlformats.org/drawingml/2006/main" prst="roundRect">
            <a:avLst>
              <a:gd name="adj" fmla="val 6685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4" name="hf-809">
            <a:extLst xmlns:a="http://schemas.openxmlformats.org/drawingml/2006/main">
              <a:ext uri="{FF2B5EF4-FFF2-40B4-BE49-F238E27FC236}">
                <a16:creationId xmlns:a16="http://schemas.microsoft.com/office/drawing/2014/main" id="{9794A6E5-251C-494F-9C56-469CAC78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84049"/>
            <a:ext cx="2546896" cy="269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69"/>
              </a:lnSpc>
              <a:buNone/>
            </a:pPr>
            <a:r>
              <a:rPr sz="1575" b="0" i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Наблюдение на iPhone</a:t>
            </a:r>
          </a:p>
        </p:txBody>
      </p:sp>
      <p:sp>
        <p:nvSpPr>
          <p:cNvPr id="15" name="hf-810">
            <a:extLst xmlns:a="http://schemas.openxmlformats.org/drawingml/2006/main">
              <a:ext uri="{FF2B5EF4-FFF2-40B4-BE49-F238E27FC236}">
                <a16:creationId xmlns:a16="http://schemas.microsoft.com/office/drawing/2014/main" id="{4F537733-D0E1-4F42-8C42-6B08C4473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44111"/>
            <a:ext cx="2011189" cy="3107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97"/>
              </a:lnSpc>
              <a:buNone/>
            </a:pPr>
            <a:r>
              <a:rPr sz="1838" b="0" i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utility-лестница</a:t>
            </a:r>
          </a:p>
        </p:txBody>
      </p:sp>
      <p:sp>
        <p:nvSpPr>
          <p:cNvPr id="16" name="hf-811">
            <a:extLst xmlns:a="http://schemas.openxmlformats.org/drawingml/2006/main">
              <a:ext uri="{FF2B5EF4-FFF2-40B4-BE49-F238E27FC236}">
                <a16:creationId xmlns:a16="http://schemas.microsoft.com/office/drawing/2014/main" id="{A6077939-E7F1-4E00-B48C-B3DABC57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435814"/>
            <a:ext cx="2266206" cy="3107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97"/>
              </a:lnSpc>
              <a:buNone/>
            </a:pPr>
            <a:r>
              <a:rPr sz="1838" b="0" i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похожа на E-ядро</a:t>
            </a:r>
          </a:p>
        </p:txBody>
      </p:sp>
      <p:sp>
        <p:nvSpPr>
          <p:cNvPr id="17" name="hf-812">
            <a:extLst xmlns:a="http://schemas.openxmlformats.org/drawingml/2006/main">
              <a:ext uri="{FF2B5EF4-FFF2-40B4-BE49-F238E27FC236}">
                <a16:creationId xmlns:a16="http://schemas.microsoft.com/office/drawing/2014/main" id="{448DD42D-9AC8-4D77-A16B-431989FF5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18142"/>
            <a:ext cx="2848719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Размещение самого дедупа</a:t>
            </a:r>
          </a:p>
        </p:txBody>
      </p:sp>
      <p:sp>
        <p:nvSpPr>
          <p:cNvPr id="18" name="hf-813">
            <a:extLst xmlns:a="http://schemas.openxmlformats.org/drawingml/2006/main">
              <a:ext uri="{FF2B5EF4-FFF2-40B4-BE49-F238E27FC236}">
                <a16:creationId xmlns:a16="http://schemas.microsoft.com/office/drawing/2014/main" id="{78F4E34C-DECB-4CE4-875A-05F59D86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665792"/>
            <a:ext cx="175840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не трассировали</a:t>
            </a:r>
          </a:p>
        </p:txBody>
      </p:sp>
      <p:sp>
        <p:nvSpPr>
          <p:cNvPr id="19" name="hf-814">
            <a:extLst xmlns:a="http://schemas.openxmlformats.org/drawingml/2006/main">
              <a:ext uri="{FF2B5EF4-FFF2-40B4-BE49-F238E27FC236}">
                <a16:creationId xmlns:a16="http://schemas.microsoft.com/office/drawing/2014/main" id="{74B8E796-ED69-4A67-9A3A-A56FD9DD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347848"/>
            <a:ext cx="4759672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52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Приоритет задачи не назначает конкретное ядро</a:t>
            </a:r>
          </a:p>
        </p:txBody>
      </p:sp>
      <p:pic>
        <p:nvPicPr>
          <p:cNvPr id="20" name="hf-815">
            <a:extLst xmlns:a="http://schemas.openxmlformats.org/drawingml/2006/main">
              <a:ext uri="{FF2B5EF4-FFF2-40B4-BE49-F238E27FC236}">
                <a16:creationId xmlns:a16="http://schemas.microsoft.com/office/drawing/2014/main" id="{2B750FC7-5BA2-46E1-B3F1-EDAB4BE2A5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31d2d7c5254f2d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1" name="hf-816">
            <a:extLst xmlns:a="http://schemas.openxmlformats.org/drawingml/2006/main">
              <a:ext uri="{FF2B5EF4-FFF2-40B4-BE49-F238E27FC236}">
                <a16:creationId xmlns:a16="http://schemas.microsoft.com/office/drawing/2014/main" id="{56991926-4670-44C2-AB15-C946D993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392629424"/>
      </p:ext>
    </p:extLst>
  </p:cSld>
</p:sld>
</file>

<file path=ppt/slides/slide36.xml><?xml version="1.0" encoding="utf-8"?>
<p:sld xmlns:p="http://schemas.openxmlformats.org/presentationml/2006/main" show="0">
  <p:cSld name="nb-dense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817">
            <a:extLst xmlns:a="http://schemas.openxmlformats.org/drawingml/2006/main">
              <a:ext uri="{FF2B5EF4-FFF2-40B4-BE49-F238E27FC236}">
                <a16:creationId xmlns:a16="http://schemas.microsoft.com/office/drawing/2014/main" id="{48DDDD48-C259-465E-8B85-0EB25A20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7952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BACKUP · ДЛЯ ВОПРОСОВ</a:t>
            </a:r>
          </a:p>
        </p:txBody>
      </p:sp>
      <p:sp>
        <p:nvSpPr>
          <p:cNvPr id="3" name="hf-818">
            <a:extLst xmlns:a="http://schemas.openxmlformats.org/drawingml/2006/main">
              <a:ext uri="{FF2B5EF4-FFF2-40B4-BE49-F238E27FC236}">
                <a16:creationId xmlns:a16="http://schemas.microsoft.com/office/drawing/2014/main" id="{C035CC68-7E6B-4B95-832C-63A47020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146081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ПЛОТНЫЕ rowid: НА x86 ХЕШ ВПЕРЕДИ</a:t>
            </a:r>
          </a:p>
        </p:txBody>
      </p:sp>
      <p:sp>
        <p:nvSpPr>
          <p:cNvPr id="4" name="hf-819">
            <a:extLst xmlns:a="http://schemas.openxmlformats.org/drawingml/2006/main">
              <a:ext uri="{FF2B5EF4-FFF2-40B4-BE49-F238E27FC236}">
                <a16:creationId xmlns:a16="http://schemas.microsoft.com/office/drawing/2014/main" id="{6EDE0A4F-980F-49CE-A2AC-E71658F0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1628105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В 1,7 РАЗА</a:t>
            </a:r>
          </a:p>
        </p:txBody>
      </p:sp>
      <p:sp>
        <p:nvSpPr>
          <p:cNvPr id="5" name="hf-820">
            <a:extLst xmlns:a="http://schemas.openxmlformats.org/drawingml/2006/main">
              <a:ext uri="{FF2B5EF4-FFF2-40B4-BE49-F238E27FC236}">
                <a16:creationId xmlns:a16="http://schemas.microsoft.com/office/drawing/2014/main" id="{54BB14F7-E34A-4804-9EF0-811892DB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01013"/>
            <a:ext cx="444482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x86 · N = 2^20, U = N/2 · нс на элемент: libstdc++ / libc++</a:t>
            </a:r>
          </a:p>
        </p:txBody>
      </p:sp>
      <p:sp>
        <p:nvSpPr>
          <p:cNvPr id="6" name="hf-821">
            <a:extLst xmlns:a="http://schemas.openxmlformats.org/drawingml/2006/main">
              <a:ext uri="{FF2B5EF4-FFF2-40B4-BE49-F238E27FC236}">
                <a16:creationId xmlns:a16="http://schemas.microsoft.com/office/drawing/2014/main" id="{214A7807-95A2-486E-B866-2E55BB33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6806" y="1665542"/>
            <a:ext cx="1353964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+ unique</a:t>
            </a:r>
          </a:p>
        </p:txBody>
      </p:sp>
      <p:sp>
        <p:nvSpPr>
          <p:cNvPr id="7" name="hf-822">
            <a:extLst xmlns:a="http://schemas.openxmlformats.org/drawingml/2006/main">
              <a:ext uri="{FF2B5EF4-FFF2-40B4-BE49-F238E27FC236}">
                <a16:creationId xmlns:a16="http://schemas.microsoft.com/office/drawing/2014/main" id="{F0C9D624-3121-46C0-A8CB-3235EF40A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1416" y="1665542"/>
            <a:ext cx="1489993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unordered_set</a:t>
            </a:r>
          </a:p>
        </p:txBody>
      </p:sp>
      <p:sp>
        <p:nvSpPr>
          <p:cNvPr id="8" name="hf-823">
            <a:extLst xmlns:a="http://schemas.openxmlformats.org/drawingml/2006/main">
              <a:ext uri="{FF2B5EF4-FFF2-40B4-BE49-F238E27FC236}">
                <a16:creationId xmlns:a16="http://schemas.microsoft.com/office/drawing/2014/main" id="{C8C0613B-A569-4F88-81F8-5B3F49DF4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00025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9" name="hf-824">
            <a:extLst xmlns:a="http://schemas.openxmlformats.org/drawingml/2006/main">
              <a:ext uri="{FF2B5EF4-FFF2-40B4-BE49-F238E27FC236}">
                <a16:creationId xmlns:a16="http://schemas.microsoft.com/office/drawing/2014/main" id="{98711975-9D0B-4706-A2B8-C52CE4E0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121656"/>
            <a:ext cx="1290861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случайные</a:t>
            </a:r>
          </a:p>
        </p:txBody>
      </p:sp>
      <p:sp>
        <p:nvSpPr>
          <p:cNvPr id="10" name="hf-825">
            <a:extLst xmlns:a="http://schemas.openxmlformats.org/drawingml/2006/main">
              <a:ext uri="{FF2B5EF4-FFF2-40B4-BE49-F238E27FC236}">
                <a16:creationId xmlns:a16="http://schemas.microsoft.com/office/drawing/2014/main" id="{322AB1F2-1F65-46C1-9A42-B8EBF5C3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782" y="2127504"/>
            <a:ext cx="1024012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86,4 / 89,0</a:t>
            </a:r>
          </a:p>
        </p:txBody>
      </p:sp>
      <p:sp>
        <p:nvSpPr>
          <p:cNvPr id="11" name="hf-826">
            <a:extLst xmlns:a="http://schemas.openxmlformats.org/drawingml/2006/main">
              <a:ext uri="{FF2B5EF4-FFF2-40B4-BE49-F238E27FC236}">
                <a16:creationId xmlns:a16="http://schemas.microsoft.com/office/drawing/2014/main" id="{B3224DA4-00FA-44C7-A7CF-BCB8105F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685" y="2127504"/>
            <a:ext cx="99945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85,6 / 88,7</a:t>
            </a:r>
          </a:p>
        </p:txBody>
      </p:sp>
      <p:sp>
        <p:nvSpPr>
          <p:cNvPr id="12" name="hf-827">
            <a:extLst xmlns:a="http://schemas.openxmlformats.org/drawingml/2006/main">
              <a:ext uri="{FF2B5EF4-FFF2-40B4-BE49-F238E27FC236}">
                <a16:creationId xmlns:a16="http://schemas.microsoft.com/office/drawing/2014/main" id="{C2B56A9F-FCD0-49C0-ACA5-745E218D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538" y="20764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13" name="hf-828">
            <a:extLst xmlns:a="http://schemas.openxmlformats.org/drawingml/2006/main">
              <a:ext uri="{FF2B5EF4-FFF2-40B4-BE49-F238E27FC236}">
                <a16:creationId xmlns:a16="http://schemas.microsoft.com/office/drawing/2014/main" id="{FA7E4767-C6A5-4B91-BAEB-DDFBDBAF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859" y="2026406"/>
            <a:ext cx="919758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925"/>
              </a:lnSpc>
              <a:buNone/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≈ ничья</a:t>
            </a:r>
          </a:p>
        </p:txBody>
      </p:sp>
      <p:sp>
        <p:nvSpPr>
          <p:cNvPr id="14" name="hf-829">
            <a:extLst xmlns:a="http://schemas.openxmlformats.org/drawingml/2006/main">
              <a:ext uri="{FF2B5EF4-FFF2-40B4-BE49-F238E27FC236}">
                <a16:creationId xmlns:a16="http://schemas.microsoft.com/office/drawing/2014/main" id="{8FCE3862-E7EB-4449-AE55-E0C601F3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55270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5" name="hf-830">
            <a:extLst xmlns:a="http://schemas.openxmlformats.org/drawingml/2006/main">
              <a:ext uri="{FF2B5EF4-FFF2-40B4-BE49-F238E27FC236}">
                <a16:creationId xmlns:a16="http://schemas.microsoft.com/office/drawing/2014/main" id="{1A11EF45-EBF1-42F3-8F38-B4E79F820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674106"/>
            <a:ext cx="1700213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62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плотные rowid</a:t>
            </a:r>
          </a:p>
        </p:txBody>
      </p:sp>
      <p:sp>
        <p:nvSpPr>
          <p:cNvPr id="16" name="hf-831">
            <a:extLst xmlns:a="http://schemas.openxmlformats.org/drawingml/2006/main">
              <a:ext uri="{FF2B5EF4-FFF2-40B4-BE49-F238E27FC236}">
                <a16:creationId xmlns:a16="http://schemas.microsoft.com/office/drawing/2014/main" id="{3D492D0D-CA41-41DB-AD6E-5FD5ED59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0116" y="2679954"/>
            <a:ext cx="100734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87,8 / 89,8</a:t>
            </a:r>
          </a:p>
        </p:txBody>
      </p:sp>
      <p:sp>
        <p:nvSpPr>
          <p:cNvPr id="17" name="hf-832">
            <a:extLst xmlns:a="http://schemas.openxmlformats.org/drawingml/2006/main">
              <a:ext uri="{FF2B5EF4-FFF2-40B4-BE49-F238E27FC236}">
                <a16:creationId xmlns:a16="http://schemas.microsoft.com/office/drawing/2014/main" id="{B32E425E-2610-4F34-8490-AC96E27A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628900"/>
            <a:ext cx="1714500" cy="4000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5E1C42"/>
          </a:solidFill>
          <a:ln xmlns:a="http://schemas.openxmlformats.org/drawingml/2006/main" w="0">
            <a:noFill/>
          </a:ln>
        </p:spPr>
      </p:sp>
      <p:sp>
        <p:nvSpPr>
          <p:cNvPr id="18" name="hf-833">
            <a:extLst xmlns:a="http://schemas.openxmlformats.org/drawingml/2006/main">
              <a:ext uri="{FF2B5EF4-FFF2-40B4-BE49-F238E27FC236}">
                <a16:creationId xmlns:a16="http://schemas.microsoft.com/office/drawing/2014/main" id="{0112A383-C67B-457D-A979-FA6BD678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570" y="2679954"/>
            <a:ext cx="103368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52,8 / 53,3</a:t>
            </a:r>
          </a:p>
        </p:txBody>
      </p:sp>
      <p:sp>
        <p:nvSpPr>
          <p:cNvPr id="19" name="hf-834">
            <a:extLst xmlns:a="http://schemas.openxmlformats.org/drawingml/2006/main">
              <a:ext uri="{FF2B5EF4-FFF2-40B4-BE49-F238E27FC236}">
                <a16:creationId xmlns:a16="http://schemas.microsoft.com/office/drawing/2014/main" id="{AA8450F4-5E9D-414A-8BBD-FBE49403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538" y="262890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E1C42"/>
          </a:solidFill>
          <a:ln xmlns:a="http://schemas.openxmlformats.org/drawingml/2006/main" w="14288">
            <a:solidFill>
              <a:srgbClr val="E2489B"/>
            </a:solidFill>
          </a:ln>
        </p:spPr>
      </p:sp>
      <p:sp>
        <p:nvSpPr>
          <p:cNvPr id="20" name="hf-835">
            <a:extLst xmlns:a="http://schemas.openxmlformats.org/drawingml/2006/main">
              <a:ext uri="{FF2B5EF4-FFF2-40B4-BE49-F238E27FC236}">
                <a16:creationId xmlns:a16="http://schemas.microsoft.com/office/drawing/2014/main" id="{86090E2F-A8A0-4789-A5DE-061B9FC54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086" y="2592057"/>
            <a:ext cx="1047229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925"/>
              </a:lnSpc>
              <a:buNone/>
            </a:pPr>
            <a:r>
              <a:rPr sz="18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хеш ×1,7</a:t>
            </a:r>
          </a:p>
        </p:txBody>
      </p:sp>
      <p:sp>
        <p:nvSpPr>
          <p:cNvPr id="21" name="hf-836">
            <a:extLst xmlns:a="http://schemas.openxmlformats.org/drawingml/2006/main">
              <a:ext uri="{FF2B5EF4-FFF2-40B4-BE49-F238E27FC236}">
                <a16:creationId xmlns:a16="http://schemas.microsoft.com/office/drawing/2014/main" id="{6032EB27-2194-44D9-BD49-FD161967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10515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22" name="hf-837">
            <a:extLst xmlns:a="http://schemas.openxmlformats.org/drawingml/2006/main">
              <a:ext uri="{FF2B5EF4-FFF2-40B4-BE49-F238E27FC236}">
                <a16:creationId xmlns:a16="http://schemas.microsoft.com/office/drawing/2014/main" id="{43A60664-C913-4C71-9DAB-FF6EBF62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33750"/>
            <a:ext cx="8029575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23" name="hf-838">
            <a:extLst xmlns:a="http://schemas.openxmlformats.org/drawingml/2006/main">
              <a:ext uri="{FF2B5EF4-FFF2-40B4-BE49-F238E27FC236}">
                <a16:creationId xmlns:a16="http://schemas.microsoft.com/office/drawing/2014/main" id="{2F5346B4-372D-4788-BB28-5ACDF186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3422904"/>
            <a:ext cx="420499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Обратный край — libc++, id с шагом 2^k:</a:t>
            </a:r>
          </a:p>
        </p:txBody>
      </p:sp>
      <p:sp>
        <p:nvSpPr>
          <p:cNvPr id="24" name="hf-839">
            <a:extLst xmlns:a="http://schemas.openxmlformats.org/drawingml/2006/main">
              <a:ext uri="{FF2B5EF4-FFF2-40B4-BE49-F238E27FC236}">
                <a16:creationId xmlns:a16="http://schemas.microsoft.com/office/drawing/2014/main" id="{F66E9882-43B0-4D63-89A0-1FAF5996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3670554"/>
            <a:ext cx="331596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BDBDBD"/>
                </a:solidFill>
                <a:latin typeface="Montserrat"/>
                <a:ea typeface="Montserrat"/>
                <a:cs typeface="Montserrat"/>
              </a:rPr>
              <a:t>шаг 2^20 → все id в одной ячейке</a:t>
            </a:r>
          </a:p>
        </p:txBody>
      </p:sp>
      <p:sp>
        <p:nvSpPr>
          <p:cNvPr id="25" name="hf-840">
            <a:extLst xmlns:a="http://schemas.openxmlformats.org/drawingml/2006/main">
              <a:ext uri="{FF2B5EF4-FFF2-40B4-BE49-F238E27FC236}">
                <a16:creationId xmlns:a16="http://schemas.microsoft.com/office/drawing/2014/main" id="{9BEA4806-4662-4C5F-A62C-379FE7A99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154" y="3461042"/>
            <a:ext cx="1529283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</a:rPr>
              <a:t>×1 500</a:t>
            </a:r>
          </a:p>
        </p:txBody>
      </p:sp>
      <p:pic>
        <p:nvPicPr>
          <p:cNvPr id="26" name="hf-841">
            <a:extLst xmlns:a="http://schemas.openxmlformats.org/drawingml/2006/main">
              <a:ext uri="{FF2B5EF4-FFF2-40B4-BE49-F238E27FC236}">
                <a16:creationId xmlns:a16="http://schemas.microsoft.com/office/drawing/2014/main" id="{E3C30A45-9981-452D-BCE8-1253999F98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8895e069494a7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7" name="hf-842">
            <a:extLst xmlns:a="http://schemas.openxmlformats.org/drawingml/2006/main">
              <a:ext uri="{FF2B5EF4-FFF2-40B4-BE49-F238E27FC236}">
                <a16:creationId xmlns:a16="http://schemas.microsoft.com/office/drawing/2014/main" id="{5765F333-49FC-439B-9C67-CA93EC9E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801421585"/>
      </p:ext>
    </p:extLst>
  </p:cSld>
</p:sld>
</file>

<file path=ppt/slides/slide37.xml><?xml version="1.0" encoding="utf-8"?>
<p:sld xmlns:p="http://schemas.openxmlformats.org/presentationml/2006/main" show="0">
  <p:cSld name="nb-merge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843">
            <a:extLst xmlns:a="http://schemas.openxmlformats.org/drawingml/2006/main">
              <a:ext uri="{FF2B5EF4-FFF2-40B4-BE49-F238E27FC236}">
                <a16:creationId xmlns:a16="http://schemas.microsoft.com/office/drawing/2014/main" id="{E4BC4677-42F2-4A0C-BE69-473DFF4C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7952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BACKUP · ДЛЯ ВОПРОСОВ</a:t>
            </a:r>
          </a:p>
        </p:txBody>
      </p:sp>
      <p:sp>
        <p:nvSpPr>
          <p:cNvPr id="3" name="hf-844">
            <a:extLst xmlns:a="http://schemas.openxmlformats.org/drawingml/2006/main">
              <a:ext uri="{FF2B5EF4-FFF2-40B4-BE49-F238E27FC236}">
                <a16:creationId xmlns:a16="http://schemas.microsoft.com/office/drawing/2014/main" id="{218D1C1F-8B24-496E-ACCF-1AE9096B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488707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ДЕЛЬТА + СЛИЯНИЕ: В 3,5–6,6 РАЗА</a:t>
            </a:r>
          </a:p>
        </p:txBody>
      </p:sp>
      <p:sp>
        <p:nvSpPr>
          <p:cNvPr id="4" name="hf-845">
            <a:extLst xmlns:a="http://schemas.openxmlformats.org/drawingml/2006/main">
              <a:ext uri="{FF2B5EF4-FFF2-40B4-BE49-F238E27FC236}">
                <a16:creationId xmlns:a16="http://schemas.microsoft.com/office/drawing/2014/main" id="{1FB9654B-4108-4E52-ABDC-B778CF1F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3569568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БЫСТРЕЕ sort + unique</a:t>
            </a:r>
          </a:p>
        </p:txBody>
      </p:sp>
      <p:sp>
        <p:nvSpPr>
          <p:cNvPr id="5" name="hf-846">
            <a:extLst xmlns:a="http://schemas.openxmlformats.org/drawingml/2006/main">
              <a:ext uri="{FF2B5EF4-FFF2-40B4-BE49-F238E27FC236}">
                <a16:creationId xmlns:a16="http://schemas.microsoft.com/office/drawing/2014/main" id="{40B8C686-4473-4647-9C22-C5B13B16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01013"/>
            <a:ext cx="50547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x86 · 2^20 отсортированных id + дельта 2^16 · libstdc++ / libc++</a:t>
            </a:r>
          </a:p>
        </p:txBody>
      </p:sp>
      <p:sp>
        <p:nvSpPr>
          <p:cNvPr id="6" name="hf-847">
            <a:extLst xmlns:a="http://schemas.openxmlformats.org/drawingml/2006/main">
              <a:ext uri="{FF2B5EF4-FFF2-40B4-BE49-F238E27FC236}">
                <a16:creationId xmlns:a16="http://schemas.microsoft.com/office/drawing/2014/main" id="{F63D05A7-A5F3-4582-8B46-8CD4C5AB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0055" y="1658188"/>
            <a:ext cx="121734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нс на элемент</a:t>
            </a:r>
          </a:p>
        </p:txBody>
      </p:sp>
      <p:sp>
        <p:nvSpPr>
          <p:cNvPr id="7" name="hf-848">
            <a:extLst xmlns:a="http://schemas.openxmlformats.org/drawingml/2006/main">
              <a:ext uri="{FF2B5EF4-FFF2-40B4-BE49-F238E27FC236}">
                <a16:creationId xmlns:a16="http://schemas.microsoft.com/office/drawing/2014/main" id="{C4B2A3AF-243D-4AF4-8596-31AA129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2025" y="1658188"/>
            <a:ext cx="218918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быстрее sort + unique, раз</a:t>
            </a:r>
          </a:p>
        </p:txBody>
      </p:sp>
      <p:sp>
        <p:nvSpPr>
          <p:cNvPr id="8" name="hf-849">
            <a:extLst xmlns:a="http://schemas.openxmlformats.org/drawingml/2006/main">
              <a:ext uri="{FF2B5EF4-FFF2-40B4-BE49-F238E27FC236}">
                <a16:creationId xmlns:a16="http://schemas.microsoft.com/office/drawing/2014/main" id="{528B45DA-834D-428D-BB21-4D4996E1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90500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9" name="hf-850">
            <a:extLst xmlns:a="http://schemas.openxmlformats.org/drawingml/2006/main">
              <a:ext uri="{FF2B5EF4-FFF2-40B4-BE49-F238E27FC236}">
                <a16:creationId xmlns:a16="http://schemas.microsoft.com/office/drawing/2014/main" id="{12CBD28E-E36F-4E60-AE0B-CEBD05D8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965579"/>
            <a:ext cx="253089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sort + unique всего входа</a:t>
            </a:r>
          </a:p>
        </p:txBody>
      </p:sp>
      <p:sp>
        <p:nvSpPr>
          <p:cNvPr id="10" name="hf-851">
            <a:extLst xmlns:a="http://schemas.openxmlformats.org/drawingml/2006/main">
              <a:ext uri="{FF2B5EF4-FFF2-40B4-BE49-F238E27FC236}">
                <a16:creationId xmlns:a16="http://schemas.microsoft.com/office/drawing/2014/main" id="{0E2F5C25-1C54-4DD5-8412-6F2C8B9C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5117" y="1965579"/>
            <a:ext cx="94721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42,4 / 31,2</a:t>
            </a:r>
          </a:p>
        </p:txBody>
      </p:sp>
      <p:sp>
        <p:nvSpPr>
          <p:cNvPr id="11" name="hf-852">
            <a:extLst xmlns:a="http://schemas.openxmlformats.org/drawingml/2006/main">
              <a:ext uri="{FF2B5EF4-FFF2-40B4-BE49-F238E27FC236}">
                <a16:creationId xmlns:a16="http://schemas.microsoft.com/office/drawing/2014/main" id="{9326E94B-237D-4C14-ACF8-1CCA357A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3702" y="1965579"/>
            <a:ext cx="125909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12" name="hf-853">
            <a:extLst xmlns:a="http://schemas.openxmlformats.org/drawingml/2006/main">
              <a:ext uri="{FF2B5EF4-FFF2-40B4-BE49-F238E27FC236}">
                <a16:creationId xmlns:a16="http://schemas.microsoft.com/office/drawing/2014/main" id="{37A5E8BC-5035-4053-B81C-4C804BC5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314575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3" name="hf-854">
            <a:extLst xmlns:a="http://schemas.openxmlformats.org/drawingml/2006/main">
              <a:ext uri="{FF2B5EF4-FFF2-40B4-BE49-F238E27FC236}">
                <a16:creationId xmlns:a16="http://schemas.microsoft.com/office/drawing/2014/main" id="{33BC6D55-020C-4106-A5E2-3763234D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375154"/>
            <a:ext cx="145271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E2489B"/>
                </a:solidFill>
                <a:latin typeface="Montserrat"/>
                <a:ea typeface="Montserrat"/>
                <a:cs typeface="Montserrat"/>
              </a:rPr>
              <a:t>unordered_set</a:t>
            </a:r>
          </a:p>
        </p:txBody>
      </p:sp>
      <p:sp>
        <p:nvSpPr>
          <p:cNvPr id="14" name="hf-855">
            <a:extLst xmlns:a="http://schemas.openxmlformats.org/drawingml/2006/main">
              <a:ext uri="{FF2B5EF4-FFF2-40B4-BE49-F238E27FC236}">
                <a16:creationId xmlns:a16="http://schemas.microsoft.com/office/drawing/2014/main" id="{D9291922-BB36-4A28-91BB-59B30296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6037" y="2375154"/>
            <a:ext cx="122537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240,8 / 247,0</a:t>
            </a:r>
          </a:p>
        </p:txBody>
      </p:sp>
      <p:sp>
        <p:nvSpPr>
          <p:cNvPr id="15" name="hf-856">
            <a:extLst xmlns:a="http://schemas.openxmlformats.org/drawingml/2006/main">
              <a:ext uri="{FF2B5EF4-FFF2-40B4-BE49-F238E27FC236}">
                <a16:creationId xmlns:a16="http://schemas.microsoft.com/office/drawing/2014/main" id="{8D3FD218-71D7-439E-9808-37C5F144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0870" y="2375154"/>
            <a:ext cx="91149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0,18 / 0,13</a:t>
            </a:r>
          </a:p>
        </p:txBody>
      </p:sp>
      <p:sp>
        <p:nvSpPr>
          <p:cNvPr id="16" name="hf-857">
            <a:extLst xmlns:a="http://schemas.openxmlformats.org/drawingml/2006/main">
              <a:ext uri="{FF2B5EF4-FFF2-40B4-BE49-F238E27FC236}">
                <a16:creationId xmlns:a16="http://schemas.microsoft.com/office/drawing/2014/main" id="{76E59A4A-4AE7-42F9-A54F-19BD05F0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72415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7" name="hf-858">
            <a:extLst xmlns:a="http://schemas.openxmlformats.org/drawingml/2006/main">
              <a:ext uri="{FF2B5EF4-FFF2-40B4-BE49-F238E27FC236}">
                <a16:creationId xmlns:a16="http://schemas.microsoft.com/office/drawing/2014/main" id="{2CA1A65A-D638-4316-97A6-AB53CC04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784729"/>
            <a:ext cx="131035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flat_hash_set</a:t>
            </a:r>
          </a:p>
        </p:txBody>
      </p:sp>
      <p:sp>
        <p:nvSpPr>
          <p:cNvPr id="18" name="hf-859">
            <a:extLst xmlns:a="http://schemas.openxmlformats.org/drawingml/2006/main">
              <a:ext uri="{FF2B5EF4-FFF2-40B4-BE49-F238E27FC236}">
                <a16:creationId xmlns:a16="http://schemas.microsoft.com/office/drawing/2014/main" id="{E47E3CB7-7084-407F-8449-64674F62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002" y="2784729"/>
            <a:ext cx="98152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39,3 / 36,4</a:t>
            </a:r>
          </a:p>
        </p:txBody>
      </p:sp>
      <p:sp>
        <p:nvSpPr>
          <p:cNvPr id="19" name="hf-860">
            <a:extLst xmlns:a="http://schemas.openxmlformats.org/drawingml/2006/main">
              <a:ext uri="{FF2B5EF4-FFF2-40B4-BE49-F238E27FC236}">
                <a16:creationId xmlns:a16="http://schemas.microsoft.com/office/drawing/2014/main" id="{0AD33026-D187-42DC-AD84-142AF6C6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221" y="2784729"/>
            <a:ext cx="67687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1,1 / 0,9</a:t>
            </a:r>
          </a:p>
        </p:txBody>
      </p:sp>
      <p:sp>
        <p:nvSpPr>
          <p:cNvPr id="20" name="hf-861">
            <a:extLst xmlns:a="http://schemas.openxmlformats.org/drawingml/2006/main">
              <a:ext uri="{FF2B5EF4-FFF2-40B4-BE49-F238E27FC236}">
                <a16:creationId xmlns:a16="http://schemas.microsoft.com/office/drawing/2014/main" id="{67342EBC-12D9-4D0A-A445-804EE401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219450"/>
            <a:ext cx="8029575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21" name="hf-862">
            <a:extLst xmlns:a="http://schemas.openxmlformats.org/drawingml/2006/main">
              <a:ext uri="{FF2B5EF4-FFF2-40B4-BE49-F238E27FC236}">
                <a16:creationId xmlns:a16="http://schemas.microsoft.com/office/drawing/2014/main" id="{2E8F1749-AC5F-4449-A7A0-EED51581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3308604"/>
            <a:ext cx="319705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sort(Δ) + unique(Δ) + set_union</a:t>
            </a:r>
          </a:p>
        </p:txBody>
      </p:sp>
      <p:sp>
        <p:nvSpPr>
          <p:cNvPr id="22" name="hf-863">
            <a:extLst xmlns:a="http://schemas.openxmlformats.org/drawingml/2006/main">
              <a:ext uri="{FF2B5EF4-FFF2-40B4-BE49-F238E27FC236}">
                <a16:creationId xmlns:a16="http://schemas.microsoft.com/office/drawing/2014/main" id="{35907967-3407-4A1A-8DFE-E0295622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3585162"/>
            <a:ext cx="29816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125" b="0" i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без unique(Δ) дубли дельты останутся</a:t>
            </a:r>
          </a:p>
        </p:txBody>
      </p:sp>
      <p:sp>
        <p:nvSpPr>
          <p:cNvPr id="23" name="hf-864">
            <a:extLst xmlns:a="http://schemas.openxmlformats.org/drawingml/2006/main">
              <a:ext uri="{FF2B5EF4-FFF2-40B4-BE49-F238E27FC236}">
                <a16:creationId xmlns:a16="http://schemas.microsoft.com/office/drawing/2014/main" id="{C5781264-B28B-413A-A4F8-C6C0400F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477" y="3435020"/>
            <a:ext cx="100057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75"/>
              </a:lnSpc>
              <a:buNone/>
            </a:pPr>
            <a:r>
              <a:rPr sz="1800" b="1" i="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6,4 / 8,9</a:t>
            </a:r>
          </a:p>
        </p:txBody>
      </p:sp>
      <p:sp>
        <p:nvSpPr>
          <p:cNvPr id="24" name="hf-865">
            <a:extLst xmlns:a="http://schemas.openxmlformats.org/drawingml/2006/main">
              <a:ext uri="{FF2B5EF4-FFF2-40B4-BE49-F238E27FC236}">
                <a16:creationId xmlns:a16="http://schemas.microsoft.com/office/drawing/2014/main" id="{469F1FB5-F58B-488E-AEDB-8446A03D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9932" y="3356267"/>
            <a:ext cx="1873374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6,6 / 3,5</a:t>
            </a:r>
          </a:p>
        </p:txBody>
      </p:sp>
      <p:sp>
        <p:nvSpPr>
          <p:cNvPr id="25" name="hf-866">
            <a:extLst xmlns:a="http://schemas.openxmlformats.org/drawingml/2006/main">
              <a:ext uri="{FF2B5EF4-FFF2-40B4-BE49-F238E27FC236}">
                <a16:creationId xmlns:a16="http://schemas.microsoft.com/office/drawing/2014/main" id="{F99B7BE6-F1AE-4732-8EDA-E94746AE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080129"/>
            <a:ext cx="1745382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iPhone, </a:t>
            </a:r>
            <a:r>
              <a:rPr sz="1500" b="0" i="0">
                <a:solidFill>
                  <a:srgbClr val="46CDAE"/>
                </a:solidFill>
                <a:latin typeface="Menlo"/>
                <a:ea typeface="Menlo"/>
                <a:cs typeface="Menlo"/>
              </a:rPr>
              <a:t>.utility</a:t>
            </a:r>
          </a:p>
        </p:txBody>
      </p:sp>
      <p:sp>
        <p:nvSpPr>
          <p:cNvPr id="26" name="hf-867">
            <a:extLst xmlns:a="http://schemas.openxmlformats.org/drawingml/2006/main">
              <a:ext uri="{FF2B5EF4-FFF2-40B4-BE49-F238E27FC236}">
                <a16:creationId xmlns:a16="http://schemas.microsoft.com/office/drawing/2014/main" id="{E579F2D7-8CDA-4DE3-B488-6584629C6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4881" y="4080129"/>
            <a:ext cx="340035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Серия на телефоне не снималась</a:t>
            </a:r>
          </a:p>
        </p:txBody>
      </p:sp>
      <p:pic>
        <p:nvPicPr>
          <p:cNvPr id="27" name="hf-868">
            <a:extLst xmlns:a="http://schemas.openxmlformats.org/drawingml/2006/main">
              <a:ext uri="{FF2B5EF4-FFF2-40B4-BE49-F238E27FC236}">
                <a16:creationId xmlns:a16="http://schemas.microsoft.com/office/drawing/2014/main" id="{FA95EA69-65BE-4500-8380-0E382192DF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72bb9e6bc047cd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8" name="hf-869">
            <a:extLst xmlns:a="http://schemas.openxmlformats.org/drawingml/2006/main">
              <a:ext uri="{FF2B5EF4-FFF2-40B4-BE49-F238E27FC236}">
                <a16:creationId xmlns:a16="http://schemas.microsoft.com/office/drawing/2014/main" id="{F48CAC82-0622-4096-B41E-013CFEC3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767569449"/>
      </p:ext>
    </p:extLst>
  </p:cSld>
</p:sld>
</file>

<file path=ppt/slides/slide38.xml><?xml version="1.0" encoding="utf-8"?>
<p:sld xmlns:p="http://schemas.openxmlformats.org/presentationml/2006/main" show="0">
  <p:cSld name="qos-bg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870">
            <a:extLst xmlns:a="http://schemas.openxmlformats.org/drawingml/2006/main">
              <a:ext uri="{FF2B5EF4-FFF2-40B4-BE49-F238E27FC236}">
                <a16:creationId xmlns:a16="http://schemas.microsoft.com/office/drawing/2014/main" id="{7A183E4A-B7A9-47F4-A439-23B31792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7952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BACKUP · ДЛЯ ВОПРОСОВ</a:t>
            </a:r>
          </a:p>
        </p:txBody>
      </p:sp>
      <p:sp>
        <p:nvSpPr>
          <p:cNvPr id="3" name="hf-871">
            <a:extLst xmlns:a="http://schemas.openxmlformats.org/drawingml/2006/main">
              <a:ext uri="{FF2B5EF4-FFF2-40B4-BE49-F238E27FC236}">
                <a16:creationId xmlns:a16="http://schemas.microsoft.com/office/drawing/2014/main" id="{E1310827-3ACF-486C-9569-FE2D6083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758285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В background СОРТИРОВКА ВПЕРЕДИ И НА</a:t>
            </a:r>
          </a:p>
        </p:txBody>
      </p:sp>
      <p:sp>
        <p:nvSpPr>
          <p:cNvPr id="4" name="hf-872">
            <a:extLst xmlns:a="http://schemas.openxmlformats.org/drawingml/2006/main">
              <a:ext uri="{FF2B5EF4-FFF2-40B4-BE49-F238E27FC236}">
                <a16:creationId xmlns:a16="http://schemas.microsoft.com/office/drawing/2014/main" id="{B3CB8AC0-ED85-460A-AB41-953B66CA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2737321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Mac, И НА iPhone</a:t>
            </a:r>
          </a:p>
        </p:txBody>
      </p:sp>
      <p:sp>
        <p:nvSpPr>
          <p:cNvPr id="5" name="hf-873">
            <a:extLst xmlns:a="http://schemas.openxmlformats.org/drawingml/2006/main">
              <a:ext uri="{FF2B5EF4-FFF2-40B4-BE49-F238E27FC236}">
                <a16:creationId xmlns:a16="http://schemas.microsoft.com/office/drawing/2014/main" id="{8E4D94BD-CD8F-438B-B996-6C356C5A5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01013"/>
            <a:ext cx="425551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N = 512K, U = N/2 · в клетке: sort / хеш, нс на элемент</a:t>
            </a:r>
          </a:p>
        </p:txBody>
      </p:sp>
      <p:sp>
        <p:nvSpPr>
          <p:cNvPr id="6" name="hf-874">
            <a:extLst xmlns:a="http://schemas.openxmlformats.org/drawingml/2006/main">
              <a:ext uri="{FF2B5EF4-FFF2-40B4-BE49-F238E27FC236}">
                <a16:creationId xmlns:a16="http://schemas.microsoft.com/office/drawing/2014/main" id="{A9B9AEBD-0ABD-45C3-BE1B-38D9AE6F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0544" y="1684592"/>
            <a:ext cx="1306488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Mac · M2 Pro</a:t>
            </a:r>
          </a:p>
        </p:txBody>
      </p:sp>
      <p:sp>
        <p:nvSpPr>
          <p:cNvPr id="7" name="hf-875">
            <a:extLst xmlns:a="http://schemas.openxmlformats.org/drawingml/2006/main">
              <a:ext uri="{FF2B5EF4-FFF2-40B4-BE49-F238E27FC236}">
                <a16:creationId xmlns:a16="http://schemas.microsoft.com/office/drawing/2014/main" id="{34276D96-3FA7-4A44-AE96-E55A7335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0463" y="1684592"/>
            <a:ext cx="13970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iPhone 14 Pro</a:t>
            </a:r>
          </a:p>
        </p:txBody>
      </p:sp>
      <p:sp>
        <p:nvSpPr>
          <p:cNvPr id="8" name="hf-876">
            <a:extLst xmlns:a="http://schemas.openxmlformats.org/drawingml/2006/main">
              <a:ext uri="{FF2B5EF4-FFF2-40B4-BE49-F238E27FC236}">
                <a16:creationId xmlns:a16="http://schemas.microsoft.com/office/drawing/2014/main" id="{212A1BC0-C9BF-4E92-BA24-1CBF1A22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113217"/>
            <a:ext cx="1306562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userInitiated</a:t>
            </a:r>
          </a:p>
        </p:txBody>
      </p:sp>
      <p:sp>
        <p:nvSpPr>
          <p:cNvPr id="9" name="hf-877">
            <a:extLst xmlns:a="http://schemas.openxmlformats.org/drawingml/2006/main">
              <a:ext uri="{FF2B5EF4-FFF2-40B4-BE49-F238E27FC236}">
                <a16:creationId xmlns:a16="http://schemas.microsoft.com/office/drawing/2014/main" id="{184143AF-921B-41F9-B690-73AA398E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779967"/>
            <a:ext cx="617488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utility</a:t>
            </a:r>
          </a:p>
        </p:txBody>
      </p:sp>
      <p:sp>
        <p:nvSpPr>
          <p:cNvPr id="10" name="hf-878">
            <a:extLst xmlns:a="http://schemas.openxmlformats.org/drawingml/2006/main">
              <a:ext uri="{FF2B5EF4-FFF2-40B4-BE49-F238E27FC236}">
                <a16:creationId xmlns:a16="http://schemas.microsoft.com/office/drawing/2014/main" id="{F3725D80-30C8-4D6A-88F1-E461A27F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446717"/>
            <a:ext cx="125350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background</a:t>
            </a:r>
          </a:p>
        </p:txBody>
      </p:sp>
      <p:sp>
        <p:nvSpPr>
          <p:cNvPr id="11" name="hf-879">
            <a:extLst xmlns:a="http://schemas.openxmlformats.org/drawingml/2006/main">
              <a:ext uri="{FF2B5EF4-FFF2-40B4-BE49-F238E27FC236}">
                <a16:creationId xmlns:a16="http://schemas.microsoft.com/office/drawing/2014/main" id="{A5689B43-7943-400E-BFE5-C14BA7B6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000250"/>
            <a:ext cx="2857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12" name="hf-880">
            <a:extLst xmlns:a="http://schemas.openxmlformats.org/drawingml/2006/main">
              <a:ext uri="{FF2B5EF4-FFF2-40B4-BE49-F238E27FC236}">
                <a16:creationId xmlns:a16="http://schemas.microsoft.com/office/drawing/2014/main" id="{2087E965-CA5D-460F-AFAA-77BBEDDF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137029"/>
            <a:ext cx="10596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BDBDBD"/>
                </a:solidFill>
                <a:latin typeface="Montserrat"/>
                <a:ea typeface="Montserrat"/>
                <a:cs typeface="Montserrat"/>
              </a:rPr>
              <a:t>≈</a:t>
            </a: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19,6 / 18,7</a:t>
            </a:r>
          </a:p>
        </p:txBody>
      </p:sp>
      <p:sp>
        <p:nvSpPr>
          <p:cNvPr id="13" name="hf-881">
            <a:extLst xmlns:a="http://schemas.openxmlformats.org/drawingml/2006/main">
              <a:ext uri="{FF2B5EF4-FFF2-40B4-BE49-F238E27FC236}">
                <a16:creationId xmlns:a16="http://schemas.microsoft.com/office/drawing/2014/main" id="{B2E3C130-36B6-45D8-A1BD-166ED378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4038" y="2000250"/>
            <a:ext cx="295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14" name="hf-882">
            <a:extLst xmlns:a="http://schemas.openxmlformats.org/drawingml/2006/main">
              <a:ext uri="{FF2B5EF4-FFF2-40B4-BE49-F238E27FC236}">
                <a16:creationId xmlns:a16="http://schemas.microsoft.com/office/drawing/2014/main" id="{39A4FEFE-424A-4DED-B54A-E295B5F5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538" y="2137029"/>
            <a:ext cx="105995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BDBDBD"/>
                </a:solidFill>
                <a:latin typeface="Montserrat"/>
                <a:ea typeface="Montserrat"/>
                <a:cs typeface="Montserrat"/>
              </a:rPr>
              <a:t>≈</a:t>
            </a: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19,6 / 18,2</a:t>
            </a:r>
          </a:p>
        </p:txBody>
      </p:sp>
      <p:sp>
        <p:nvSpPr>
          <p:cNvPr id="15" name="hf-883">
            <a:extLst xmlns:a="http://schemas.openxmlformats.org/drawingml/2006/main">
              <a:ext uri="{FF2B5EF4-FFF2-40B4-BE49-F238E27FC236}">
                <a16:creationId xmlns:a16="http://schemas.microsoft.com/office/drawing/2014/main" id="{986C98A9-0E88-490B-BA79-373A58B86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67000"/>
            <a:ext cx="2857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16" name="hf-884">
            <a:extLst xmlns:a="http://schemas.openxmlformats.org/drawingml/2006/main">
              <a:ext uri="{FF2B5EF4-FFF2-40B4-BE49-F238E27FC236}">
                <a16:creationId xmlns:a16="http://schemas.microsoft.com/office/drawing/2014/main" id="{86A1B00B-A811-4DCA-8636-3BFE9DF9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03779"/>
            <a:ext cx="106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BDBDBD"/>
                </a:solidFill>
                <a:latin typeface="Montserrat"/>
                <a:ea typeface="Montserrat"/>
                <a:cs typeface="Montserrat"/>
              </a:rPr>
              <a:t>≈</a:t>
            </a: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20,1 / 21,0</a:t>
            </a:r>
          </a:p>
        </p:txBody>
      </p:sp>
      <p:sp>
        <p:nvSpPr>
          <p:cNvPr id="17" name="hf-885">
            <a:extLst xmlns:a="http://schemas.openxmlformats.org/drawingml/2006/main">
              <a:ext uri="{FF2B5EF4-FFF2-40B4-BE49-F238E27FC236}">
                <a16:creationId xmlns:a16="http://schemas.microsoft.com/office/drawing/2014/main" id="{397C33C7-B4CF-4507-8817-E57AEF44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4038" y="2667000"/>
            <a:ext cx="295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46CDAE"/>
            </a:solidFill>
          </a:ln>
        </p:spPr>
      </p:sp>
      <p:sp>
        <p:nvSpPr>
          <p:cNvPr id="18" name="hf-886">
            <a:extLst xmlns:a="http://schemas.openxmlformats.org/drawingml/2006/main">
              <a:ext uri="{FF2B5EF4-FFF2-40B4-BE49-F238E27FC236}">
                <a16:creationId xmlns:a16="http://schemas.microsoft.com/office/drawing/2014/main" id="{8518804E-635A-4BF5-91F9-58ECAD37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538" y="2710034"/>
            <a:ext cx="1208112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925"/>
              </a:lnSpc>
              <a:buNone/>
            </a:pPr>
            <a:r>
              <a:rPr sz="195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sort ×1,9 </a:t>
            </a:r>
          </a:p>
        </p:txBody>
      </p:sp>
      <p:sp>
        <p:nvSpPr>
          <p:cNvPr id="19" name="hf-887">
            <a:extLst xmlns:a="http://schemas.openxmlformats.org/drawingml/2006/main">
              <a:ext uri="{FF2B5EF4-FFF2-40B4-BE49-F238E27FC236}">
                <a16:creationId xmlns:a16="http://schemas.microsoft.com/office/drawing/2014/main" id="{9CABDDF9-34EB-4A5B-BF2B-BD7CB2C9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5500" y="2688727"/>
            <a:ext cx="930771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925"/>
              </a:lnSpc>
              <a:buNone/>
            </a:pPr>
            <a:r>
              <a:rPr sz="127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55,3 / 105,3</a:t>
            </a:r>
          </a:p>
        </p:txBody>
      </p:sp>
      <p:sp>
        <p:nvSpPr>
          <p:cNvPr id="20" name="hf-888">
            <a:extLst xmlns:a="http://schemas.openxmlformats.org/drawingml/2006/main">
              <a:ext uri="{FF2B5EF4-FFF2-40B4-BE49-F238E27FC236}">
                <a16:creationId xmlns:a16="http://schemas.microsoft.com/office/drawing/2014/main" id="{AB413E32-F159-494D-AD6A-B98ECD57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33750"/>
            <a:ext cx="2857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21" name="hf-889">
            <a:extLst xmlns:a="http://schemas.openxmlformats.org/drawingml/2006/main">
              <a:ext uri="{FF2B5EF4-FFF2-40B4-BE49-F238E27FC236}">
                <a16:creationId xmlns:a16="http://schemas.microsoft.com/office/drawing/2014/main" id="{89DE6667-9EA9-4AC0-B76A-19244C6F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76784"/>
            <a:ext cx="1208112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925"/>
              </a:lnSpc>
              <a:buNone/>
            </a:pPr>
            <a:r>
              <a:rPr sz="195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sort ×1,9 </a:t>
            </a:r>
          </a:p>
        </p:txBody>
      </p:sp>
      <p:sp>
        <p:nvSpPr>
          <p:cNvPr id="22" name="hf-890">
            <a:extLst xmlns:a="http://schemas.openxmlformats.org/drawingml/2006/main">
              <a:ext uri="{FF2B5EF4-FFF2-40B4-BE49-F238E27FC236}">
                <a16:creationId xmlns:a16="http://schemas.microsoft.com/office/drawing/2014/main" id="{2C9F02C5-D457-4B68-B111-B85CB6D6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962" y="3355477"/>
            <a:ext cx="955849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925"/>
              </a:lnSpc>
              <a:buNone/>
            </a:pPr>
            <a:r>
              <a:rPr sz="1275" b="0" i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92,6 / 178,4</a:t>
            </a:r>
          </a:p>
        </p:txBody>
      </p:sp>
      <p:sp>
        <p:nvSpPr>
          <p:cNvPr id="23" name="hf-891">
            <a:extLst xmlns:a="http://schemas.openxmlformats.org/drawingml/2006/main">
              <a:ext uri="{FF2B5EF4-FFF2-40B4-BE49-F238E27FC236}">
                <a16:creationId xmlns:a16="http://schemas.microsoft.com/office/drawing/2014/main" id="{D4664EAF-C40C-4C91-8EC1-FDDA55C7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4038" y="3333750"/>
            <a:ext cx="295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24" name="hf-892">
            <a:extLst xmlns:a="http://schemas.openxmlformats.org/drawingml/2006/main">
              <a:ext uri="{FF2B5EF4-FFF2-40B4-BE49-F238E27FC236}">
                <a16:creationId xmlns:a16="http://schemas.microsoft.com/office/drawing/2014/main" id="{F4CB07AF-1800-4F7E-9929-60D862BA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538" y="3376784"/>
            <a:ext cx="1199108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925"/>
              </a:lnSpc>
              <a:buNone/>
            </a:pPr>
            <a:r>
              <a:rPr sz="195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sort ×1,3 </a:t>
            </a:r>
          </a:p>
        </p:txBody>
      </p:sp>
      <p:sp>
        <p:nvSpPr>
          <p:cNvPr id="25" name="hf-893">
            <a:extLst xmlns:a="http://schemas.openxmlformats.org/drawingml/2006/main">
              <a:ext uri="{FF2B5EF4-FFF2-40B4-BE49-F238E27FC236}">
                <a16:creationId xmlns:a16="http://schemas.microsoft.com/office/drawing/2014/main" id="{700FB816-F7D0-4087-B66E-AAD24FBC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6496" y="3355477"/>
            <a:ext cx="1004813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925"/>
              </a:lnSpc>
              <a:buNone/>
            </a:pPr>
            <a:r>
              <a:rPr sz="1275" b="0" i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145,6 / 195,2</a:t>
            </a:r>
          </a:p>
        </p:txBody>
      </p:sp>
      <p:sp>
        <p:nvSpPr>
          <p:cNvPr id="26" name="hf-894">
            <a:extLst xmlns:a="http://schemas.openxmlformats.org/drawingml/2006/main">
              <a:ext uri="{FF2B5EF4-FFF2-40B4-BE49-F238E27FC236}">
                <a16:creationId xmlns:a16="http://schemas.microsoft.com/office/drawing/2014/main" id="{3C56DC58-A08D-4CE8-85CF-8D3CEC74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108704"/>
            <a:ext cx="614072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В этой серии </a:t>
            </a:r>
            <a:r>
              <a:rPr sz="1500" b="0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background</a:t>
            </a: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: </a:t>
            </a:r>
            <a:r>
              <a:rPr sz="1500" b="0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sort</a:t>
            </a: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впереди на обоих устройствах</a:t>
            </a:r>
          </a:p>
        </p:txBody>
      </p:sp>
      <p:pic>
        <p:nvPicPr>
          <p:cNvPr id="27" name="hf-895">
            <a:extLst xmlns:a="http://schemas.openxmlformats.org/drawingml/2006/main">
              <a:ext uri="{FF2B5EF4-FFF2-40B4-BE49-F238E27FC236}">
                <a16:creationId xmlns:a16="http://schemas.microsoft.com/office/drawing/2014/main" id="{C87B7A02-9B4C-47D0-86E8-A553E7CD1F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3eaea7d07d482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8" name="hf-896">
            <a:extLst xmlns:a="http://schemas.openxmlformats.org/drawingml/2006/main">
              <a:ext uri="{FF2B5EF4-FFF2-40B4-BE49-F238E27FC236}">
                <a16:creationId xmlns:a16="http://schemas.microsoft.com/office/drawing/2014/main" id="{0670536C-C66A-4E10-9B2C-AF252DAB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1889588964"/>
      </p:ext>
    </p:extLst>
  </p:cSld>
</p:sld>
</file>

<file path=ppt/slides/slide39.xml><?xml version="1.0" encoding="utf-8"?>
<p:sld xmlns:p="http://schemas.openxmlformats.org/presentationml/2006/main" show="0">
  <p:cSld name="systems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897">
            <a:extLst xmlns:a="http://schemas.openxmlformats.org/drawingml/2006/main">
              <a:ext uri="{FF2B5EF4-FFF2-40B4-BE49-F238E27FC236}">
                <a16:creationId xmlns:a16="http://schemas.microsoft.com/office/drawing/2014/main" id="{94FDB824-32CA-42DC-AB8A-367E04E5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7952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BACKUP · ДЛЯ ВОПРОСОВ</a:t>
            </a:r>
          </a:p>
        </p:txBody>
      </p:sp>
      <p:sp>
        <p:nvSpPr>
          <p:cNvPr id="3" name="hf-898">
            <a:extLst xmlns:a="http://schemas.openxmlformats.org/drawingml/2006/main">
              <a:ext uri="{FF2B5EF4-FFF2-40B4-BE49-F238E27FC236}">
                <a16:creationId xmlns:a16="http://schemas.microsoft.com/office/drawing/2014/main" id="{941D423F-A617-470E-AAFD-089367D9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48223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У КАЖДОЙ СИСТЕМЫ СВОЯ ТОЧКА</a:t>
            </a:r>
          </a:p>
        </p:txBody>
      </p:sp>
      <p:sp>
        <p:nvSpPr>
          <p:cNvPr id="4" name="hf-899">
            <a:extLst xmlns:a="http://schemas.openxmlformats.org/drawingml/2006/main">
              <a:ext uri="{FF2B5EF4-FFF2-40B4-BE49-F238E27FC236}">
                <a16:creationId xmlns:a16="http://schemas.microsoft.com/office/drawing/2014/main" id="{D4059878-8EC1-4F8E-A0C7-10882935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1761306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ПЕРЕХОДА</a:t>
            </a:r>
          </a:p>
        </p:txBody>
      </p:sp>
      <p:sp>
        <p:nvSpPr>
          <p:cNvPr id="5" name="hf-900">
            <a:extLst xmlns:a="http://schemas.openxmlformats.org/drawingml/2006/main">
              <a:ext uri="{FF2B5EF4-FFF2-40B4-BE49-F238E27FC236}">
                <a16:creationId xmlns:a16="http://schemas.microsoft.com/office/drawing/2014/main" id="{695B6F63-E32F-4EE3-A559-F8695227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362370"/>
            <a:ext cx="4709666" cy="221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94"/>
              </a:lnSpc>
              <a:buNone/>
            </a:pPr>
            <a:r>
              <a:rPr sz="127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N = U = 2²⁰: во сколько раз sort быстрее unordered_set</a:t>
            </a:r>
          </a:p>
        </p:txBody>
      </p:sp>
      <p:sp>
        <p:nvSpPr>
          <p:cNvPr id="6" name="hf-901">
            <a:extLst xmlns:a="http://schemas.openxmlformats.org/drawingml/2006/main">
              <a:ext uri="{FF2B5EF4-FFF2-40B4-BE49-F238E27FC236}">
                <a16:creationId xmlns:a16="http://schemas.microsoft.com/office/drawing/2014/main" id="{21F0AEA1-5EA3-42CB-99EE-03B2FE39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141" y="1789909"/>
            <a:ext cx="1054968" cy="2452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781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x86 · Linux</a:t>
            </a:r>
          </a:p>
        </p:txBody>
      </p:sp>
      <p:sp>
        <p:nvSpPr>
          <p:cNvPr id="7" name="hf-902">
            <a:extLst xmlns:a="http://schemas.openxmlformats.org/drawingml/2006/main">
              <a:ext uri="{FF2B5EF4-FFF2-40B4-BE49-F238E27FC236}">
                <a16:creationId xmlns:a16="http://schemas.microsoft.com/office/drawing/2014/main" id="{D2770282-B854-462A-8089-E38ABB72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991" y="2096881"/>
            <a:ext cx="1315343" cy="197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406"/>
              </a:lnSpc>
              <a:buNone/>
            </a:pPr>
            <a:r>
              <a:rPr sz="112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Xeon VM · GCC 13</a:t>
            </a:r>
          </a:p>
        </p:txBody>
      </p:sp>
      <p:sp>
        <p:nvSpPr>
          <p:cNvPr id="8" name="hf-903">
            <a:extLst xmlns:a="http://schemas.openxmlformats.org/drawingml/2006/main">
              <a:ext uri="{FF2B5EF4-FFF2-40B4-BE49-F238E27FC236}">
                <a16:creationId xmlns:a16="http://schemas.microsoft.com/office/drawing/2014/main" id="{5AFB482A-767B-4D8C-A492-7E43CE5C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428875"/>
            <a:ext cx="180975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9" name="hf-904">
            <a:extLst xmlns:a="http://schemas.openxmlformats.org/drawingml/2006/main">
              <a:ext uri="{FF2B5EF4-FFF2-40B4-BE49-F238E27FC236}">
                <a16:creationId xmlns:a16="http://schemas.microsoft.com/office/drawing/2014/main" id="{7F4EFEB0-83BD-403A-BB71-66E6538B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507" y="2552757"/>
            <a:ext cx="1154311" cy="4391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308"/>
              </a:lnSpc>
              <a:buNone/>
            </a:pPr>
            <a:r>
              <a:rPr sz="31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×2,07</a:t>
            </a:r>
          </a:p>
        </p:txBody>
      </p:sp>
      <p:sp>
        <p:nvSpPr>
          <p:cNvPr id="10" name="hf-905">
            <a:extLst xmlns:a="http://schemas.openxmlformats.org/drawingml/2006/main">
              <a:ext uri="{FF2B5EF4-FFF2-40B4-BE49-F238E27FC236}">
                <a16:creationId xmlns:a16="http://schemas.microsoft.com/office/drawing/2014/main" id="{149C9F0E-B86A-46B7-A46B-854FBC44A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731" y="3597412"/>
            <a:ext cx="1185788" cy="22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8"/>
              </a:lnSpc>
              <a:buNone/>
            </a:pPr>
            <a:r>
              <a:rPr sz="127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N = 16 и от 2M</a:t>
            </a:r>
          </a:p>
        </p:txBody>
      </p:sp>
      <p:sp>
        <p:nvSpPr>
          <p:cNvPr id="11" name="hf-906">
            <a:extLst xmlns:a="http://schemas.openxmlformats.org/drawingml/2006/main">
              <a:ext uri="{FF2B5EF4-FFF2-40B4-BE49-F238E27FC236}">
                <a16:creationId xmlns:a16="http://schemas.microsoft.com/office/drawing/2014/main" id="{74F983E5-C675-4D66-97E7-1BC3E826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2698" y="1789909"/>
            <a:ext cx="1367805" cy="2452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781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M2 Pro · Linux</a:t>
            </a:r>
          </a:p>
        </p:txBody>
      </p:sp>
      <p:sp>
        <p:nvSpPr>
          <p:cNvPr id="12" name="hf-907">
            <a:extLst xmlns:a="http://schemas.openxmlformats.org/drawingml/2006/main">
              <a:ext uri="{FF2B5EF4-FFF2-40B4-BE49-F238E27FC236}">
                <a16:creationId xmlns:a16="http://schemas.microsoft.com/office/drawing/2014/main" id="{FE3EBFEC-4114-47E4-8E8F-D4024041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9827" y="2096881"/>
            <a:ext cx="873547" cy="197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406"/>
              </a:lnSpc>
              <a:buNone/>
            </a:pPr>
            <a:r>
              <a:rPr sz="112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VM · GCC 11</a:t>
            </a:r>
          </a:p>
        </p:txBody>
      </p:sp>
      <p:sp>
        <p:nvSpPr>
          <p:cNvPr id="13" name="hf-908">
            <a:extLst xmlns:a="http://schemas.openxmlformats.org/drawingml/2006/main">
              <a:ext uri="{FF2B5EF4-FFF2-40B4-BE49-F238E27FC236}">
                <a16:creationId xmlns:a16="http://schemas.microsoft.com/office/drawing/2014/main" id="{9E64BF8E-A69D-4571-80E2-FD06A2FB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3188" y="2428875"/>
            <a:ext cx="180975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14" name="hf-909">
            <a:extLst xmlns:a="http://schemas.openxmlformats.org/drawingml/2006/main">
              <a:ext uri="{FF2B5EF4-FFF2-40B4-BE49-F238E27FC236}">
                <a16:creationId xmlns:a16="http://schemas.microsoft.com/office/drawing/2014/main" id="{3C27134B-F7A2-4E91-B98A-DBAEF234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700" y="2552757"/>
            <a:ext cx="1139800" cy="4391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308"/>
              </a:lnSpc>
              <a:buNone/>
            </a:pPr>
            <a:r>
              <a:rPr sz="31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×2,67</a:t>
            </a:r>
          </a:p>
        </p:txBody>
      </p:sp>
      <p:sp>
        <p:nvSpPr>
          <p:cNvPr id="15" name="hf-910">
            <a:extLst xmlns:a="http://schemas.openxmlformats.org/drawingml/2006/main">
              <a:ext uri="{FF2B5EF4-FFF2-40B4-BE49-F238E27FC236}">
                <a16:creationId xmlns:a16="http://schemas.microsoft.com/office/drawing/2014/main" id="{D1B7EAFA-45C4-490B-887D-EB0BDEE18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5412" y="3597412"/>
            <a:ext cx="1282378" cy="22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8"/>
              </a:lnSpc>
              <a:buNone/>
            </a:pPr>
            <a:r>
              <a:rPr sz="127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N ≤ 128 и от 2M</a:t>
            </a:r>
          </a:p>
        </p:txBody>
      </p:sp>
      <p:sp>
        <p:nvSpPr>
          <p:cNvPr id="16" name="hf-911">
            <a:extLst xmlns:a="http://schemas.openxmlformats.org/drawingml/2006/main">
              <a:ext uri="{FF2B5EF4-FFF2-40B4-BE49-F238E27FC236}">
                <a16:creationId xmlns:a16="http://schemas.microsoft.com/office/drawing/2014/main" id="{E3E17ED5-2A14-4F65-8911-3F6B6F59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8678" y="1789909"/>
            <a:ext cx="1527795" cy="2452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781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M2 Pro · macOS</a:t>
            </a:r>
          </a:p>
        </p:txBody>
      </p:sp>
      <p:sp>
        <p:nvSpPr>
          <p:cNvPr id="17" name="hf-912">
            <a:extLst xmlns:a="http://schemas.openxmlformats.org/drawingml/2006/main">
              <a:ext uri="{FF2B5EF4-FFF2-40B4-BE49-F238E27FC236}">
                <a16:creationId xmlns:a16="http://schemas.microsoft.com/office/drawing/2014/main" id="{E7A4B9A9-7E6B-485F-9BB4-0A6A25A2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758" y="2096881"/>
            <a:ext cx="487635" cy="197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406"/>
              </a:lnSpc>
              <a:buNone/>
            </a:pPr>
            <a:r>
              <a:rPr sz="112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libc++</a:t>
            </a:r>
          </a:p>
        </p:txBody>
      </p:sp>
      <p:sp>
        <p:nvSpPr>
          <p:cNvPr id="18" name="hf-913">
            <a:extLst xmlns:a="http://schemas.openxmlformats.org/drawingml/2006/main">
              <a:ext uri="{FF2B5EF4-FFF2-40B4-BE49-F238E27FC236}">
                <a16:creationId xmlns:a16="http://schemas.microsoft.com/office/drawing/2014/main" id="{2D8313ED-6FA9-427C-864C-69268A78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163" y="2428875"/>
            <a:ext cx="180975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19" name="hf-914">
            <a:extLst xmlns:a="http://schemas.openxmlformats.org/drawingml/2006/main">
              <a:ext uri="{FF2B5EF4-FFF2-40B4-BE49-F238E27FC236}">
                <a16:creationId xmlns:a16="http://schemas.microsoft.com/office/drawing/2014/main" id="{EA7DFA00-C257-414F-B831-EF0D975A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4610" y="2552757"/>
            <a:ext cx="1136005" cy="4391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308"/>
              </a:lnSpc>
              <a:buNone/>
            </a:pPr>
            <a:r>
              <a:rPr sz="31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×2,59</a:t>
            </a:r>
          </a:p>
        </p:txBody>
      </p:sp>
      <p:sp>
        <p:nvSpPr>
          <p:cNvPr id="20" name="hf-915">
            <a:extLst xmlns:a="http://schemas.openxmlformats.org/drawingml/2006/main">
              <a:ext uri="{FF2B5EF4-FFF2-40B4-BE49-F238E27FC236}">
                <a16:creationId xmlns:a16="http://schemas.microsoft.com/office/drawing/2014/main" id="{8DE9EA75-6A70-481A-A87E-1B945F79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3917" y="3597412"/>
            <a:ext cx="1277392" cy="22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8"/>
              </a:lnSpc>
              <a:buNone/>
            </a:pPr>
            <a:r>
              <a:rPr sz="127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N ≤ 256 и от 1M</a:t>
            </a:r>
          </a:p>
        </p:txBody>
      </p:sp>
      <p:sp>
        <p:nvSpPr>
          <p:cNvPr id="21" name="hf-916">
            <a:extLst xmlns:a="http://schemas.openxmlformats.org/drawingml/2006/main">
              <a:ext uri="{FF2B5EF4-FFF2-40B4-BE49-F238E27FC236}">
                <a16:creationId xmlns:a16="http://schemas.microsoft.com/office/drawing/2014/main" id="{DB226EE8-0365-42CE-9622-95324584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4499" y="1789909"/>
            <a:ext cx="1330077" cy="2452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781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iPhone 14 Pro</a:t>
            </a:r>
          </a:p>
        </p:txBody>
      </p:sp>
      <p:sp>
        <p:nvSpPr>
          <p:cNvPr id="22" name="hf-917">
            <a:extLst xmlns:a="http://schemas.openxmlformats.org/drawingml/2006/main">
              <a:ext uri="{FF2B5EF4-FFF2-40B4-BE49-F238E27FC236}">
                <a16:creationId xmlns:a16="http://schemas.microsoft.com/office/drawing/2014/main" id="{3F67FFDE-C8CF-4799-AC75-37B0DB79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585" y="2096881"/>
            <a:ext cx="805904" cy="197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406"/>
              </a:lnSpc>
              <a:buNone/>
            </a:pPr>
            <a:r>
              <a:rPr sz="112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A16 Bionic</a:t>
            </a:r>
          </a:p>
        </p:txBody>
      </p:sp>
      <p:sp>
        <p:nvSpPr>
          <p:cNvPr id="23" name="hf-918">
            <a:extLst xmlns:a="http://schemas.openxmlformats.org/drawingml/2006/main">
              <a:ext uri="{FF2B5EF4-FFF2-40B4-BE49-F238E27FC236}">
                <a16:creationId xmlns:a16="http://schemas.microsoft.com/office/drawing/2014/main" id="{636ECF4E-9E6E-4624-9252-FE56564F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5138" y="2428875"/>
            <a:ext cx="1771650" cy="714375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</a:ln>
        </p:spPr>
      </p:sp>
      <p:sp>
        <p:nvSpPr>
          <p:cNvPr id="24" name="hf-919">
            <a:extLst xmlns:a="http://schemas.openxmlformats.org/drawingml/2006/main">
              <a:ext uri="{FF2B5EF4-FFF2-40B4-BE49-F238E27FC236}">
                <a16:creationId xmlns:a16="http://schemas.microsoft.com/office/drawing/2014/main" id="{0EBE30CB-260A-425E-A7C0-29AB33EA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1804" y="2552757"/>
            <a:ext cx="1115467" cy="4391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308"/>
              </a:lnSpc>
              <a:buNone/>
            </a:pPr>
            <a:r>
              <a:rPr sz="31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×2,53</a:t>
            </a:r>
          </a:p>
        </p:txBody>
      </p:sp>
      <p:sp>
        <p:nvSpPr>
          <p:cNvPr id="25" name="hf-920">
            <a:extLst xmlns:a="http://schemas.openxmlformats.org/drawingml/2006/main">
              <a:ext uri="{FF2B5EF4-FFF2-40B4-BE49-F238E27FC236}">
                <a16:creationId xmlns:a16="http://schemas.microsoft.com/office/drawing/2014/main" id="{8C42E523-F2A3-4C7F-B904-C39969FB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0842" y="3597412"/>
            <a:ext cx="1277392" cy="22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8"/>
              </a:lnSpc>
              <a:buNone/>
            </a:pPr>
            <a:r>
              <a:rPr sz="127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N ≤ 256 и от 1M</a:t>
            </a:r>
          </a:p>
        </p:txBody>
      </p:sp>
      <p:sp>
        <p:nvSpPr>
          <p:cNvPr id="26" name="hf-921">
            <a:extLst xmlns:a="http://schemas.openxmlformats.org/drawingml/2006/main">
              <a:ext uri="{FF2B5EF4-FFF2-40B4-BE49-F238E27FC236}">
                <a16:creationId xmlns:a16="http://schemas.microsoft.com/office/drawing/2014/main" id="{28F90FEA-C8F8-47EE-B823-05B4BDAE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34045"/>
            <a:ext cx="2196108" cy="221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94"/>
              </a:lnSpc>
              <a:buNone/>
            </a:pPr>
            <a:r>
              <a:rPr sz="127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U = N/2: где sort впереди</a:t>
            </a:r>
          </a:p>
        </p:txBody>
      </p:sp>
      <p:sp>
        <p:nvSpPr>
          <p:cNvPr id="27" name="hf-922">
            <a:extLst xmlns:a="http://schemas.openxmlformats.org/drawingml/2006/main">
              <a:ext uri="{FF2B5EF4-FFF2-40B4-BE49-F238E27FC236}">
                <a16:creationId xmlns:a16="http://schemas.microsoft.com/office/drawing/2014/main" id="{62E2CF30-8C67-4329-A5B2-923D7C4CD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995738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28" name="hf-923">
            <a:extLst xmlns:a="http://schemas.openxmlformats.org/drawingml/2006/main">
              <a:ext uri="{FF2B5EF4-FFF2-40B4-BE49-F238E27FC236}">
                <a16:creationId xmlns:a16="http://schemas.microsoft.com/office/drawing/2014/main" id="{DD413077-B178-442F-A74C-1C499D70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190686"/>
            <a:ext cx="5911528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52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Системы целиком: CPU, ОС, библиотека и режим исполнения</a:t>
            </a:r>
          </a:p>
        </p:txBody>
      </p:sp>
      <p:pic>
        <p:nvPicPr>
          <p:cNvPr id="29" name="hf-924">
            <a:extLst xmlns:a="http://schemas.openxmlformats.org/drawingml/2006/main">
              <a:ext uri="{FF2B5EF4-FFF2-40B4-BE49-F238E27FC236}">
                <a16:creationId xmlns:a16="http://schemas.microsoft.com/office/drawing/2014/main" id="{B9A127C0-84B6-42C1-A2AD-D7EF13578A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1e02efb1ab44f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30" name="hf-925">
            <a:extLst xmlns:a="http://schemas.openxmlformats.org/drawingml/2006/main">
              <a:ext uri="{FF2B5EF4-FFF2-40B4-BE49-F238E27FC236}">
                <a16:creationId xmlns:a16="http://schemas.microsoft.com/office/drawing/2014/main" id="{AA54D591-92A7-4ADF-8515-CA8E843F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329119252"/>
      </p:ext>
    </p:extLst>
  </p:cSld>
</p:sld>
</file>

<file path=ppt/slides/slide40.xml><?xml version="1.0" encoding="utf-8"?>
<p:sld xmlns:p="http://schemas.openxmlformats.org/presentationml/2006/main" show="0">
  <p:cSld name="drift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926">
            <a:extLst xmlns:a="http://schemas.openxmlformats.org/drawingml/2006/main">
              <a:ext uri="{FF2B5EF4-FFF2-40B4-BE49-F238E27FC236}">
                <a16:creationId xmlns:a16="http://schemas.microsoft.com/office/drawing/2014/main" id="{EFFF9E04-7B99-4213-BAE3-A828019B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7952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BACKUP · ДЛЯ ВОПРОСОВ</a:t>
            </a:r>
          </a:p>
        </p:txBody>
      </p:sp>
      <p:sp>
        <p:nvSpPr>
          <p:cNvPr id="3" name="hf-927">
            <a:extLst xmlns:a="http://schemas.openxmlformats.org/drawingml/2006/main">
              <a:ext uri="{FF2B5EF4-FFF2-40B4-BE49-F238E27FC236}">
                <a16:creationId xmlns:a16="http://schemas.microsoft.com/office/drawing/2014/main" id="{FD80DFE6-D706-4697-9AC7-ACBF45222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60484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ДВЕ МИНУТЫ ПОД НАГРУЗКОЙ: ПОРЯДОК</a:t>
            </a:r>
          </a:p>
        </p:txBody>
      </p:sp>
      <p:sp>
        <p:nvSpPr>
          <p:cNvPr id="4" name="hf-928">
            <a:extLst xmlns:a="http://schemas.openxmlformats.org/drawingml/2006/main">
              <a:ext uri="{FF2B5EF4-FFF2-40B4-BE49-F238E27FC236}">
                <a16:creationId xmlns:a16="http://schemas.microsoft.com/office/drawing/2014/main" id="{CF220871-38AC-4659-A12F-42AACE4B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2514451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НЕ ИЗМЕНИЛСЯ</a:t>
            </a:r>
          </a:p>
        </p:txBody>
      </p:sp>
      <p:sp>
        <p:nvSpPr>
          <p:cNvPr id="5" name="hf-929">
            <a:extLst xmlns:a="http://schemas.openxmlformats.org/drawingml/2006/main">
              <a:ext uri="{FF2B5EF4-FFF2-40B4-BE49-F238E27FC236}">
                <a16:creationId xmlns:a16="http://schemas.microsoft.com/office/drawing/2014/main" id="{B2942269-7A54-4000-859B-D1D24069E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01013"/>
            <a:ext cx="46281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iPhone · N = 256K, U = N/2 · нс на элемент, ниже — лучше</a:t>
            </a:r>
          </a:p>
        </p:txBody>
      </p:sp>
      <p:sp>
        <p:nvSpPr>
          <p:cNvPr id="6" name="hf-930">
            <a:extLst xmlns:a="http://schemas.openxmlformats.org/drawingml/2006/main">
              <a:ext uri="{FF2B5EF4-FFF2-40B4-BE49-F238E27FC236}">
                <a16:creationId xmlns:a16="http://schemas.microsoft.com/office/drawing/2014/main" id="{90E23E1C-445B-4AEC-A0BA-A27C37A6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43300"/>
            <a:ext cx="4343400" cy="953"/>
          </a:xfrm>
          <a:custGeom xmlns:a="http://schemas.openxmlformats.org/drawingml/2006/main">
            <a:pathLst>
              <a:path w="4343400" h="476">
                <a:moveTo>
                  <a:pt x="0" y="0"/>
                </a:moveTo>
                <a:lnTo>
                  <a:pt x="4343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333333"/>
            </a:solidFill>
          </a:ln>
        </p:spPr>
      </p:sp>
      <p:sp>
        <p:nvSpPr>
          <p:cNvPr id="7" name="hf-931">
            <a:extLst xmlns:a="http://schemas.openxmlformats.org/drawingml/2006/main">
              <a:ext uri="{FF2B5EF4-FFF2-40B4-BE49-F238E27FC236}">
                <a16:creationId xmlns:a16="http://schemas.microsoft.com/office/drawing/2014/main" id="{A108D407-D0E0-43D1-BB29-F8395E4B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09900"/>
            <a:ext cx="4343400" cy="953"/>
          </a:xfrm>
          <a:custGeom xmlns:a="http://schemas.openxmlformats.org/drawingml/2006/main">
            <a:pathLst>
              <a:path w="4343400" h="476">
                <a:moveTo>
                  <a:pt x="0" y="0"/>
                </a:moveTo>
                <a:lnTo>
                  <a:pt x="4343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333333"/>
            </a:solidFill>
          </a:ln>
        </p:spPr>
      </p:sp>
      <p:sp>
        <p:nvSpPr>
          <p:cNvPr id="8" name="hf-932">
            <a:extLst xmlns:a="http://schemas.openxmlformats.org/drawingml/2006/main">
              <a:ext uri="{FF2B5EF4-FFF2-40B4-BE49-F238E27FC236}">
                <a16:creationId xmlns:a16="http://schemas.microsoft.com/office/drawing/2014/main" id="{B7005A68-1395-4FA3-B884-C037D639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76500"/>
            <a:ext cx="4343400" cy="953"/>
          </a:xfrm>
          <a:custGeom xmlns:a="http://schemas.openxmlformats.org/drawingml/2006/main">
            <a:pathLst>
              <a:path w="4343400" h="476">
                <a:moveTo>
                  <a:pt x="0" y="0"/>
                </a:moveTo>
                <a:lnTo>
                  <a:pt x="4343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333333"/>
            </a:solidFill>
          </a:ln>
        </p:spPr>
      </p:sp>
      <p:sp>
        <p:nvSpPr>
          <p:cNvPr id="9" name="hf-933">
            <a:extLst xmlns:a="http://schemas.openxmlformats.org/drawingml/2006/main">
              <a:ext uri="{FF2B5EF4-FFF2-40B4-BE49-F238E27FC236}">
                <a16:creationId xmlns:a16="http://schemas.microsoft.com/office/drawing/2014/main" id="{6578FC01-DB7F-4974-AABB-FC341172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43100"/>
            <a:ext cx="4343400" cy="953"/>
          </a:xfrm>
          <a:custGeom xmlns:a="http://schemas.openxmlformats.org/drawingml/2006/main">
            <a:pathLst>
              <a:path w="4343400" h="476">
                <a:moveTo>
                  <a:pt x="0" y="0"/>
                </a:moveTo>
                <a:lnTo>
                  <a:pt x="4343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333333"/>
            </a:solidFill>
          </a:ln>
        </p:spPr>
      </p:sp>
      <p:sp>
        <p:nvSpPr>
          <p:cNvPr id="10" name="hf-934">
            <a:extLst xmlns:a="http://schemas.openxmlformats.org/drawingml/2006/main">
              <a:ext uri="{FF2B5EF4-FFF2-40B4-BE49-F238E27FC236}">
                <a16:creationId xmlns:a16="http://schemas.microsoft.com/office/drawing/2014/main" id="{134404BC-3E59-4E01-9EC3-1B7C3D77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57625"/>
            <a:ext cx="4343400" cy="953"/>
          </a:xfrm>
          <a:custGeom xmlns:a="http://schemas.openxmlformats.org/drawingml/2006/main">
            <a:pathLst>
              <a:path w="4343400" h="476">
                <a:moveTo>
                  <a:pt x="0" y="0"/>
                </a:moveTo>
                <a:lnTo>
                  <a:pt x="4343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8F8F8F"/>
            </a:solidFill>
          </a:ln>
        </p:spPr>
      </p:sp>
      <p:sp>
        <p:nvSpPr>
          <p:cNvPr id="11" name="hf-935">
            <a:extLst xmlns:a="http://schemas.openxmlformats.org/drawingml/2006/main">
              <a:ext uri="{FF2B5EF4-FFF2-40B4-BE49-F238E27FC236}">
                <a16:creationId xmlns:a16="http://schemas.microsoft.com/office/drawing/2014/main" id="{06480279-E9A8-4E4A-846D-CD616B32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213" y="2316480"/>
            <a:ext cx="3800475" cy="1333500"/>
          </a:xfrm>
          <a:custGeom xmlns:a="http://schemas.openxmlformats.org/drawingml/2006/main">
            <a:pathLst>
              <a:path w="3800475" h="1333500">
                <a:moveTo>
                  <a:pt x="0" y="1333500"/>
                </a:moveTo>
                <a:lnTo>
                  <a:pt x="1628775" y="746760"/>
                </a:lnTo>
                <a:lnTo>
                  <a:pt x="3257550" y="426720"/>
                </a:lnTo>
                <a:lnTo>
                  <a:pt x="38004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E2489B"/>
            </a:solidFill>
          </a:ln>
        </p:spPr>
      </p:sp>
      <p:sp>
        <p:nvSpPr>
          <p:cNvPr id="12" name="hf-936">
            <a:extLst xmlns:a="http://schemas.openxmlformats.org/drawingml/2006/main">
              <a:ext uri="{FF2B5EF4-FFF2-40B4-BE49-F238E27FC236}">
                <a16:creationId xmlns:a16="http://schemas.microsoft.com/office/drawing/2014/main" id="{5C95CADB-7C16-432D-A298-A55C26C5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597593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489B"/>
          </a:solidFill>
          <a:ln xmlns:a="http://schemas.openxmlformats.org/drawingml/2006/main" w="14288">
            <a:solidFill>
              <a:srgbClr val="000000"/>
            </a:solidFill>
          </a:ln>
        </p:spPr>
      </p:sp>
      <p:sp>
        <p:nvSpPr>
          <p:cNvPr id="13" name="hf-937">
            <a:extLst xmlns:a="http://schemas.openxmlformats.org/drawingml/2006/main">
              <a:ext uri="{FF2B5EF4-FFF2-40B4-BE49-F238E27FC236}">
                <a16:creationId xmlns:a16="http://schemas.microsoft.com/office/drawing/2014/main" id="{59CA6F8D-DF55-4E96-808D-B5E4044C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010853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489B"/>
          </a:solidFill>
          <a:ln xmlns:a="http://schemas.openxmlformats.org/drawingml/2006/main" w="14288">
            <a:solidFill>
              <a:srgbClr val="000000"/>
            </a:solidFill>
          </a:ln>
        </p:spPr>
      </p:sp>
      <p:sp>
        <p:nvSpPr>
          <p:cNvPr id="14" name="hf-938">
            <a:extLst xmlns:a="http://schemas.openxmlformats.org/drawingml/2006/main">
              <a:ext uri="{FF2B5EF4-FFF2-40B4-BE49-F238E27FC236}">
                <a16:creationId xmlns:a16="http://schemas.microsoft.com/office/drawing/2014/main" id="{481E4615-3A15-4688-801B-93CF21D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690813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489B"/>
          </a:solidFill>
          <a:ln xmlns:a="http://schemas.openxmlformats.org/drawingml/2006/main" w="14288">
            <a:solidFill>
              <a:srgbClr val="000000"/>
            </a:solidFill>
          </a:ln>
        </p:spPr>
      </p:sp>
      <p:sp>
        <p:nvSpPr>
          <p:cNvPr id="15" name="hf-939">
            <a:extLst xmlns:a="http://schemas.openxmlformats.org/drawingml/2006/main">
              <a:ext uri="{FF2B5EF4-FFF2-40B4-BE49-F238E27FC236}">
                <a16:creationId xmlns:a16="http://schemas.microsoft.com/office/drawing/2014/main" id="{ACDF8A8F-43BB-47D2-B5BA-C9FB6601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264093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489B"/>
          </a:solidFill>
          <a:ln xmlns:a="http://schemas.openxmlformats.org/drawingml/2006/main" w="14288">
            <a:solidFill>
              <a:srgbClr val="000000"/>
            </a:solidFill>
          </a:ln>
        </p:spPr>
      </p:sp>
      <p:sp>
        <p:nvSpPr>
          <p:cNvPr id="16" name="hf-940">
            <a:extLst xmlns:a="http://schemas.openxmlformats.org/drawingml/2006/main">
              <a:ext uri="{FF2B5EF4-FFF2-40B4-BE49-F238E27FC236}">
                <a16:creationId xmlns:a16="http://schemas.microsoft.com/office/drawing/2014/main" id="{ADC25E22-5C37-49B3-B501-2DC17CBB5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213" y="1996440"/>
            <a:ext cx="3800475" cy="1013460"/>
          </a:xfrm>
          <a:custGeom xmlns:a="http://schemas.openxmlformats.org/drawingml/2006/main">
            <a:pathLst>
              <a:path w="3800475" h="1013460">
                <a:moveTo>
                  <a:pt x="0" y="1013460"/>
                </a:moveTo>
                <a:lnTo>
                  <a:pt x="1628775" y="1013460"/>
                </a:lnTo>
                <a:lnTo>
                  <a:pt x="3257550" y="213360"/>
                </a:lnTo>
                <a:lnTo>
                  <a:pt x="38004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46CDAE"/>
            </a:solidFill>
          </a:ln>
        </p:spPr>
      </p:sp>
      <p:sp>
        <p:nvSpPr>
          <p:cNvPr id="17" name="hf-941">
            <a:extLst xmlns:a="http://schemas.openxmlformats.org/drawingml/2006/main">
              <a:ext uri="{FF2B5EF4-FFF2-40B4-BE49-F238E27FC236}">
                <a16:creationId xmlns:a16="http://schemas.microsoft.com/office/drawing/2014/main" id="{CD2B7DCC-9337-4838-8EB3-59117CB1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2957513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CDAE"/>
          </a:solidFill>
          <a:ln xmlns:a="http://schemas.openxmlformats.org/drawingml/2006/main" w="14288">
            <a:solidFill>
              <a:srgbClr val="000000"/>
            </a:solidFill>
          </a:ln>
        </p:spPr>
      </p:sp>
      <p:sp>
        <p:nvSpPr>
          <p:cNvPr id="18" name="hf-942">
            <a:extLst xmlns:a="http://schemas.openxmlformats.org/drawingml/2006/main">
              <a:ext uri="{FF2B5EF4-FFF2-40B4-BE49-F238E27FC236}">
                <a16:creationId xmlns:a16="http://schemas.microsoft.com/office/drawing/2014/main" id="{1AD27EED-24C2-4FC6-96BE-0D92D826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57513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CDAE"/>
          </a:solidFill>
          <a:ln xmlns:a="http://schemas.openxmlformats.org/drawingml/2006/main" w="14288">
            <a:solidFill>
              <a:srgbClr val="000000"/>
            </a:solidFill>
          </a:ln>
        </p:spPr>
      </p:sp>
      <p:sp>
        <p:nvSpPr>
          <p:cNvPr id="19" name="hf-943">
            <a:extLst xmlns:a="http://schemas.openxmlformats.org/drawingml/2006/main">
              <a:ext uri="{FF2B5EF4-FFF2-40B4-BE49-F238E27FC236}">
                <a16:creationId xmlns:a16="http://schemas.microsoft.com/office/drawing/2014/main" id="{4097430B-5FF1-4E3E-AF6E-2C19E404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157413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CDAE"/>
          </a:solidFill>
          <a:ln xmlns:a="http://schemas.openxmlformats.org/drawingml/2006/main" w="14288">
            <a:solidFill>
              <a:srgbClr val="000000"/>
            </a:solidFill>
          </a:ln>
        </p:spPr>
      </p:sp>
      <p:sp>
        <p:nvSpPr>
          <p:cNvPr id="20" name="hf-944">
            <a:extLst xmlns:a="http://schemas.openxmlformats.org/drawingml/2006/main">
              <a:ext uri="{FF2B5EF4-FFF2-40B4-BE49-F238E27FC236}">
                <a16:creationId xmlns:a16="http://schemas.microsoft.com/office/drawing/2014/main" id="{1B53DF43-7AE7-40D8-88FC-0937D692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944053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CDAE"/>
          </a:solidFill>
          <a:ln xmlns:a="http://schemas.openxmlformats.org/drawingml/2006/main" w="14288">
            <a:solidFill>
              <a:srgbClr val="000000"/>
            </a:solidFill>
          </a:ln>
        </p:spPr>
      </p:sp>
      <p:sp>
        <p:nvSpPr>
          <p:cNvPr id="21" name="hf-945">
            <a:extLst xmlns:a="http://schemas.openxmlformats.org/drawingml/2006/main">
              <a:ext uri="{FF2B5EF4-FFF2-40B4-BE49-F238E27FC236}">
                <a16:creationId xmlns:a16="http://schemas.microsoft.com/office/drawing/2014/main" id="{4684077F-3DF3-4EC0-A287-930C8D67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0270" y="2870454"/>
            <a:ext cx="40421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19,0</a:t>
            </a:r>
          </a:p>
        </p:txBody>
      </p:sp>
      <p:sp>
        <p:nvSpPr>
          <p:cNvPr id="22" name="hf-946">
            <a:extLst xmlns:a="http://schemas.openxmlformats.org/drawingml/2006/main">
              <a:ext uri="{FF2B5EF4-FFF2-40B4-BE49-F238E27FC236}">
                <a16:creationId xmlns:a16="http://schemas.microsoft.com/office/drawing/2014/main" id="{B98667E5-549A-4DC2-A0EE-33D91823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2697" y="3508629"/>
            <a:ext cx="39179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17,8</a:t>
            </a:r>
          </a:p>
        </p:txBody>
      </p:sp>
      <p:sp>
        <p:nvSpPr>
          <p:cNvPr id="23" name="hf-947">
            <a:extLst xmlns:a="http://schemas.openxmlformats.org/drawingml/2006/main">
              <a:ext uri="{FF2B5EF4-FFF2-40B4-BE49-F238E27FC236}">
                <a16:creationId xmlns:a16="http://schemas.microsoft.com/office/drawing/2014/main" id="{9EE5AA6A-60E4-4F86-98E7-ECBAA33A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4038" y="1827467"/>
            <a:ext cx="44544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20,9</a:t>
            </a:r>
          </a:p>
        </p:txBody>
      </p:sp>
      <p:sp>
        <p:nvSpPr>
          <p:cNvPr id="24" name="hf-948">
            <a:extLst xmlns:a="http://schemas.openxmlformats.org/drawingml/2006/main">
              <a:ext uri="{FF2B5EF4-FFF2-40B4-BE49-F238E27FC236}">
                <a16:creationId xmlns:a16="http://schemas.microsoft.com/office/drawing/2014/main" id="{09AB775D-9BA6-4404-A86B-87C8E002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4038" y="2203704"/>
            <a:ext cx="43882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20,3</a:t>
            </a:r>
          </a:p>
        </p:txBody>
      </p:sp>
      <p:sp>
        <p:nvSpPr>
          <p:cNvPr id="25" name="hf-949">
            <a:extLst xmlns:a="http://schemas.openxmlformats.org/drawingml/2006/main">
              <a:ext uri="{FF2B5EF4-FFF2-40B4-BE49-F238E27FC236}">
                <a16:creationId xmlns:a16="http://schemas.microsoft.com/office/drawing/2014/main" id="{EAD2236B-E763-4184-A949-1D2A4038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218" y="3906088"/>
            <a:ext cx="29021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0 с</a:t>
            </a:r>
          </a:p>
        </p:txBody>
      </p:sp>
      <p:sp>
        <p:nvSpPr>
          <p:cNvPr id="26" name="hf-950">
            <a:extLst xmlns:a="http://schemas.openxmlformats.org/drawingml/2006/main">
              <a:ext uri="{FF2B5EF4-FFF2-40B4-BE49-F238E27FC236}">
                <a16:creationId xmlns:a16="http://schemas.microsoft.com/office/drawing/2014/main" id="{653D2602-9271-4EEE-9DAB-B3F83D28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144" y="3906088"/>
            <a:ext cx="38576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60 с</a:t>
            </a:r>
          </a:p>
        </p:txBody>
      </p:sp>
      <p:sp>
        <p:nvSpPr>
          <p:cNvPr id="27" name="hf-951">
            <a:extLst xmlns:a="http://schemas.openxmlformats.org/drawingml/2006/main">
              <a:ext uri="{FF2B5EF4-FFF2-40B4-BE49-F238E27FC236}">
                <a16:creationId xmlns:a16="http://schemas.microsoft.com/office/drawing/2014/main" id="{ED4D3BE4-2A1C-42B3-ABEF-431DBD56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2245" y="3906088"/>
            <a:ext cx="43688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120 с</a:t>
            </a:r>
          </a:p>
        </p:txBody>
      </p:sp>
      <p:sp>
        <p:nvSpPr>
          <p:cNvPr id="28" name="hf-952">
            <a:extLst xmlns:a="http://schemas.openxmlformats.org/drawingml/2006/main">
              <a:ext uri="{FF2B5EF4-FFF2-40B4-BE49-F238E27FC236}">
                <a16:creationId xmlns:a16="http://schemas.microsoft.com/office/drawing/2014/main" id="{B7A14821-67F7-4A41-97B4-963AC968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51267"/>
            <a:ext cx="1353964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+ unique</a:t>
            </a:r>
          </a:p>
        </p:txBody>
      </p:sp>
      <p:sp>
        <p:nvSpPr>
          <p:cNvPr id="29" name="hf-953">
            <a:extLst xmlns:a="http://schemas.openxmlformats.org/drawingml/2006/main">
              <a:ext uri="{FF2B5EF4-FFF2-40B4-BE49-F238E27FC236}">
                <a16:creationId xmlns:a16="http://schemas.microsoft.com/office/drawing/2014/main" id="{53AC35DD-C9CE-43CB-8782-1A95851C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41817"/>
            <a:ext cx="1214363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+10%</a:t>
            </a:r>
          </a:p>
        </p:txBody>
      </p:sp>
      <p:sp>
        <p:nvSpPr>
          <p:cNvPr id="30" name="hf-954">
            <a:extLst xmlns:a="http://schemas.openxmlformats.org/drawingml/2006/main">
              <a:ext uri="{FF2B5EF4-FFF2-40B4-BE49-F238E27FC236}">
                <a16:creationId xmlns:a16="http://schemas.microsoft.com/office/drawing/2014/main" id="{98D2554E-A855-417B-BE2A-2E92E5D0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51392"/>
            <a:ext cx="1489993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unordered_set</a:t>
            </a:r>
          </a:p>
        </p:txBody>
      </p:sp>
      <p:sp>
        <p:nvSpPr>
          <p:cNvPr id="31" name="hf-955">
            <a:extLst xmlns:a="http://schemas.openxmlformats.org/drawingml/2006/main">
              <a:ext uri="{FF2B5EF4-FFF2-40B4-BE49-F238E27FC236}">
                <a16:creationId xmlns:a16="http://schemas.microsoft.com/office/drawing/2014/main" id="{94654306-D47E-4BAF-8BAF-42BAD6BD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41942"/>
            <a:ext cx="1207517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+14%</a:t>
            </a:r>
          </a:p>
        </p:txBody>
      </p:sp>
      <p:sp>
        <p:nvSpPr>
          <p:cNvPr id="32" name="hf-956">
            <a:extLst xmlns:a="http://schemas.openxmlformats.org/drawingml/2006/main">
              <a:ext uri="{FF2B5EF4-FFF2-40B4-BE49-F238E27FC236}">
                <a16:creationId xmlns:a16="http://schemas.microsoft.com/office/drawing/2014/main" id="{B4778F00-8147-4DE4-8AA7-DD7C8DB1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223004"/>
            <a:ext cx="6801892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BDBDBD"/>
                </a:solidFill>
                <a:latin typeface="Montserrat"/>
                <a:ea typeface="Montserrat"/>
                <a:cs typeface="Montserrat"/>
              </a:rPr>
              <a:t>thermalState всё время nominal — причина дрейфа не установлена</a:t>
            </a:r>
          </a:p>
        </p:txBody>
      </p:sp>
      <p:pic>
        <p:nvPicPr>
          <p:cNvPr id="33" name="hf-957">
            <a:extLst xmlns:a="http://schemas.openxmlformats.org/drawingml/2006/main">
              <a:ext uri="{FF2B5EF4-FFF2-40B4-BE49-F238E27FC236}">
                <a16:creationId xmlns:a16="http://schemas.microsoft.com/office/drawing/2014/main" id="{93B3BC2D-3352-4C45-919D-4771807321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4ec1191fea4e9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34" name="hf-958">
            <a:extLst xmlns:a="http://schemas.openxmlformats.org/drawingml/2006/main">
              <a:ext uri="{FF2B5EF4-FFF2-40B4-BE49-F238E27FC236}">
                <a16:creationId xmlns:a16="http://schemas.microsoft.com/office/drawing/2014/main" id="{64360746-C386-4B91-B5CA-BF4E28ED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893922732"/>
      </p:ext>
    </p:extLst>
  </p:cSld>
</p:sld>
</file>

<file path=ppt/slides/slide41.xml><?xml version="1.0" encoding="utf-8"?>
<p:sld xmlns:p="http://schemas.openxmlformats.org/presentationml/2006/main" show="0">
  <p:cSld name="stdlib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959">
            <a:extLst xmlns:a="http://schemas.openxmlformats.org/drawingml/2006/main">
              <a:ext uri="{FF2B5EF4-FFF2-40B4-BE49-F238E27FC236}">
                <a16:creationId xmlns:a16="http://schemas.microsoft.com/office/drawing/2014/main" id="{5D81E9C2-9A68-44D7-94C5-5F3F9CED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7952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BACKUP · ДЛЯ ВОПРОСОВ</a:t>
            </a:r>
          </a:p>
        </p:txBody>
      </p:sp>
      <p:sp>
        <p:nvSpPr>
          <p:cNvPr id="3" name="hf-960">
            <a:extLst xmlns:a="http://schemas.openxmlformats.org/drawingml/2006/main">
              <a:ext uri="{FF2B5EF4-FFF2-40B4-BE49-F238E27FC236}">
                <a16:creationId xmlns:a16="http://schemas.microsoft.com/office/drawing/2014/main" id="{B8822630-733E-4DF7-88EE-1C9BE3C3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17629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ТА ЖЕ МАШИНА, ДРУГАЯ БИБЛИОТЕКА</a:t>
            </a:r>
          </a:p>
        </p:txBody>
      </p:sp>
      <p:sp>
        <p:nvSpPr>
          <p:cNvPr id="4" name="hf-961">
            <a:extLst xmlns:a="http://schemas.openxmlformats.org/drawingml/2006/main">
              <a:ext uri="{FF2B5EF4-FFF2-40B4-BE49-F238E27FC236}">
                <a16:creationId xmlns:a16="http://schemas.microsoft.com/office/drawing/2014/main" id="{1A7EEC6B-C321-4BFA-B9A0-C5A313CB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239088"/>
            <a:ext cx="4565079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один x86 · одинаковые входы · N = 2^20 · нс на элемент</a:t>
            </a:r>
          </a:p>
        </p:txBody>
      </p:sp>
      <p:sp>
        <p:nvSpPr>
          <p:cNvPr id="5" name="hf-962">
            <a:extLst xmlns:a="http://schemas.openxmlformats.org/drawingml/2006/main">
              <a:ext uri="{FF2B5EF4-FFF2-40B4-BE49-F238E27FC236}">
                <a16:creationId xmlns:a16="http://schemas.microsoft.com/office/drawing/2014/main" id="{20101428-EB37-46E7-AE0C-57037601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9047" y="1506207"/>
            <a:ext cx="1113681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libstdc++</a:t>
            </a:r>
          </a:p>
        </p:txBody>
      </p:sp>
      <p:sp>
        <p:nvSpPr>
          <p:cNvPr id="6" name="hf-963">
            <a:extLst xmlns:a="http://schemas.openxmlformats.org/drawingml/2006/main">
              <a:ext uri="{FF2B5EF4-FFF2-40B4-BE49-F238E27FC236}">
                <a16:creationId xmlns:a16="http://schemas.microsoft.com/office/drawing/2014/main" id="{70A6BAA4-C9F6-4B8E-A995-5151D6E5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2540" y="1801063"/>
            <a:ext cx="94669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GCC · Linux</a:t>
            </a:r>
          </a:p>
        </p:txBody>
      </p:sp>
      <p:sp>
        <p:nvSpPr>
          <p:cNvPr id="7" name="hf-964">
            <a:extLst xmlns:a="http://schemas.openxmlformats.org/drawingml/2006/main">
              <a:ext uri="{FF2B5EF4-FFF2-40B4-BE49-F238E27FC236}">
                <a16:creationId xmlns:a16="http://schemas.microsoft.com/office/drawing/2014/main" id="{FF70C539-186A-4B37-8EBB-A1AC36CC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0837" y="1506207"/>
            <a:ext cx="745927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libc++</a:t>
            </a:r>
          </a:p>
        </p:txBody>
      </p:sp>
      <p:sp>
        <p:nvSpPr>
          <p:cNvPr id="8" name="hf-965">
            <a:extLst xmlns:a="http://schemas.openxmlformats.org/drawingml/2006/main">
              <a:ext uri="{FF2B5EF4-FFF2-40B4-BE49-F238E27FC236}">
                <a16:creationId xmlns:a16="http://schemas.microsoft.com/office/drawing/2014/main" id="{55BA0B98-397C-4186-A581-4759D581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847" y="1801063"/>
            <a:ext cx="168190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Apple · Android NDK</a:t>
            </a:r>
          </a:p>
        </p:txBody>
      </p:sp>
      <p:sp>
        <p:nvSpPr>
          <p:cNvPr id="9" name="hf-966">
            <a:extLst xmlns:a="http://schemas.openxmlformats.org/drawingml/2006/main">
              <a:ext uri="{FF2B5EF4-FFF2-40B4-BE49-F238E27FC236}">
                <a16:creationId xmlns:a16="http://schemas.microsoft.com/office/drawing/2014/main" id="{9B1A50A0-0E1C-4B19-91CC-86C06AE9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07645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0" name="hf-967">
            <a:extLst xmlns:a="http://schemas.openxmlformats.org/drawingml/2006/main">
              <a:ext uri="{FF2B5EF4-FFF2-40B4-BE49-F238E27FC236}">
                <a16:creationId xmlns:a16="http://schemas.microsoft.com/office/drawing/2014/main" id="{D3BB0018-3408-4C46-B70C-1C82D324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288343"/>
            <a:ext cx="2536552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025"/>
              </a:lnSpc>
              <a:buNone/>
            </a:pPr>
            <a:r>
              <a:rPr sz="165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</a:t>
            </a: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, все ключи равны</a:t>
            </a:r>
          </a:p>
        </p:txBody>
      </p:sp>
      <p:sp>
        <p:nvSpPr>
          <p:cNvPr id="11" name="hf-968">
            <a:extLst xmlns:a="http://schemas.openxmlformats.org/drawingml/2006/main">
              <a:ext uri="{FF2B5EF4-FFF2-40B4-BE49-F238E27FC236}">
                <a16:creationId xmlns:a16="http://schemas.microsoft.com/office/drawing/2014/main" id="{87DE0EFE-2745-448A-A547-D3B13AE4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0915" y="2222792"/>
            <a:ext cx="749871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7,8</a:t>
            </a:r>
          </a:p>
        </p:txBody>
      </p:sp>
      <p:sp>
        <p:nvSpPr>
          <p:cNvPr id="12" name="hf-969">
            <a:extLst xmlns:a="http://schemas.openxmlformats.org/drawingml/2006/main">
              <a:ext uri="{FF2B5EF4-FFF2-40B4-BE49-F238E27FC236}">
                <a16:creationId xmlns:a16="http://schemas.microsoft.com/office/drawing/2014/main" id="{96C1B12E-850F-457B-86BC-76C0F969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3663" y="2143125"/>
            <a:ext cx="2143125" cy="600075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3" name="hf-970">
            <a:extLst xmlns:a="http://schemas.openxmlformats.org/drawingml/2006/main">
              <a:ext uri="{FF2B5EF4-FFF2-40B4-BE49-F238E27FC236}">
                <a16:creationId xmlns:a16="http://schemas.microsoft.com/office/drawing/2014/main" id="{EA992D49-BB11-4550-A5E5-F097F5B2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6052" y="2222792"/>
            <a:ext cx="635422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1,2</a:t>
            </a:r>
          </a:p>
        </p:txBody>
      </p:sp>
      <p:sp>
        <p:nvSpPr>
          <p:cNvPr id="14" name="hf-971">
            <a:extLst xmlns:a="http://schemas.openxmlformats.org/drawingml/2006/main">
              <a:ext uri="{FF2B5EF4-FFF2-40B4-BE49-F238E27FC236}">
                <a16:creationId xmlns:a16="http://schemas.microsoft.com/office/drawing/2014/main" id="{403EBAB7-9798-455C-A55E-9B282251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81940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5" name="hf-972">
            <a:extLst xmlns:a="http://schemas.openxmlformats.org/drawingml/2006/main">
              <a:ext uri="{FF2B5EF4-FFF2-40B4-BE49-F238E27FC236}">
                <a16:creationId xmlns:a16="http://schemas.microsoft.com/office/drawing/2014/main" id="{75333F2E-BD3D-4F88-A920-A023D731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889504"/>
            <a:ext cx="3037359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E2489B"/>
                </a:solidFill>
                <a:latin typeface="Montserrat"/>
                <a:ea typeface="Montserrat"/>
                <a:cs typeface="Montserrat"/>
              </a:rPr>
              <a:t>unordered_set</a:t>
            </a: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, 1M уникальных</a:t>
            </a:r>
          </a:p>
        </p:txBody>
      </p:sp>
      <p:sp>
        <p:nvSpPr>
          <p:cNvPr id="16" name="hf-973">
            <a:extLst xmlns:a="http://schemas.openxmlformats.org/drawingml/2006/main">
              <a:ext uri="{FF2B5EF4-FFF2-40B4-BE49-F238E27FC236}">
                <a16:creationId xmlns:a16="http://schemas.microsoft.com/office/drawing/2014/main" id="{CA587A61-BDD1-4105-BEB2-65624503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4506" y="2868282"/>
            <a:ext cx="442689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146</a:t>
            </a:r>
          </a:p>
        </p:txBody>
      </p:sp>
      <p:sp>
        <p:nvSpPr>
          <p:cNvPr id="17" name="hf-974">
            <a:extLst xmlns:a="http://schemas.openxmlformats.org/drawingml/2006/main">
              <a:ext uri="{FF2B5EF4-FFF2-40B4-BE49-F238E27FC236}">
                <a16:creationId xmlns:a16="http://schemas.microsoft.com/office/drawing/2014/main" id="{6FFFC4DA-D6D0-435F-A06A-2D39B3C4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506" y="2868282"/>
            <a:ext cx="42051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139</a:t>
            </a:r>
          </a:p>
        </p:txBody>
      </p:sp>
      <p:sp>
        <p:nvSpPr>
          <p:cNvPr id="18" name="hf-975">
            <a:extLst xmlns:a="http://schemas.openxmlformats.org/drawingml/2006/main">
              <a:ext uri="{FF2B5EF4-FFF2-40B4-BE49-F238E27FC236}">
                <a16:creationId xmlns:a16="http://schemas.microsoft.com/office/drawing/2014/main" id="{40EF6127-CFB1-481D-9C64-26327255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248025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9" name="hf-976">
            <a:extLst xmlns:a="http://schemas.openxmlformats.org/drawingml/2006/main">
              <a:ext uri="{FF2B5EF4-FFF2-40B4-BE49-F238E27FC236}">
                <a16:creationId xmlns:a16="http://schemas.microsoft.com/office/drawing/2014/main" id="{2E447AEF-A0E2-451D-9212-AF921A08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18129"/>
            <a:ext cx="1946672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узел </a:t>
            </a:r>
            <a:r>
              <a:rPr sz="1500" b="0" i="0">
                <a:solidFill>
                  <a:srgbClr val="E2489B"/>
                </a:solidFill>
                <a:latin typeface="Montserrat"/>
                <a:ea typeface="Montserrat"/>
                <a:cs typeface="Montserrat"/>
              </a:rPr>
              <a:t>unordered_set</a:t>
            </a:r>
          </a:p>
        </p:txBody>
      </p:sp>
      <p:sp>
        <p:nvSpPr>
          <p:cNvPr id="20" name="hf-977">
            <a:extLst xmlns:a="http://schemas.openxmlformats.org/drawingml/2006/main">
              <a:ext uri="{FF2B5EF4-FFF2-40B4-BE49-F238E27FC236}">
                <a16:creationId xmlns:a16="http://schemas.microsoft.com/office/drawing/2014/main" id="{F9294EB6-7254-4E85-9025-3BA5E99FD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629" y="3296907"/>
            <a:ext cx="51844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16 Б</a:t>
            </a:r>
          </a:p>
        </p:txBody>
      </p:sp>
      <p:sp>
        <p:nvSpPr>
          <p:cNvPr id="21" name="hf-978">
            <a:extLst xmlns:a="http://schemas.openxmlformats.org/drawingml/2006/main">
              <a:ext uri="{FF2B5EF4-FFF2-40B4-BE49-F238E27FC236}">
                <a16:creationId xmlns:a16="http://schemas.microsoft.com/office/drawing/2014/main" id="{5199AE76-18C5-433A-AFB3-5AE861F7E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7306" y="3296907"/>
            <a:ext cx="57291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24 Б</a:t>
            </a:r>
          </a:p>
        </p:txBody>
      </p:sp>
      <p:sp>
        <p:nvSpPr>
          <p:cNvPr id="22" name="hf-979">
            <a:extLst xmlns:a="http://schemas.openxmlformats.org/drawingml/2006/main">
              <a:ext uri="{FF2B5EF4-FFF2-40B4-BE49-F238E27FC236}">
                <a16:creationId xmlns:a16="http://schemas.microsoft.com/office/drawing/2014/main" id="{9BA543AC-E4D8-4134-BE64-0CE99378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67665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23" name="hf-980">
            <a:extLst xmlns:a="http://schemas.openxmlformats.org/drawingml/2006/main">
              <a:ext uri="{FF2B5EF4-FFF2-40B4-BE49-F238E27FC236}">
                <a16:creationId xmlns:a16="http://schemas.microsoft.com/office/drawing/2014/main" id="{D02DD67A-B19F-4BC4-B8C8-9F27BAABB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746754"/>
            <a:ext cx="80292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std::sort</a:t>
            </a:r>
          </a:p>
        </p:txBody>
      </p:sp>
      <p:sp>
        <p:nvSpPr>
          <p:cNvPr id="24" name="hf-981">
            <a:extLst xmlns:a="http://schemas.openxmlformats.org/drawingml/2006/main">
              <a:ext uri="{FF2B5EF4-FFF2-40B4-BE49-F238E27FC236}">
                <a16:creationId xmlns:a16="http://schemas.microsoft.com/office/drawing/2014/main" id="{1B0C2D49-A462-4624-B1FB-2046A65F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7291" y="3746754"/>
            <a:ext cx="877119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introsort</a:t>
            </a:r>
          </a:p>
        </p:txBody>
      </p:sp>
      <p:sp>
        <p:nvSpPr>
          <p:cNvPr id="25" name="hf-982">
            <a:extLst xmlns:a="http://schemas.openxmlformats.org/drawingml/2006/main">
              <a:ext uri="{FF2B5EF4-FFF2-40B4-BE49-F238E27FC236}">
                <a16:creationId xmlns:a16="http://schemas.microsoft.com/office/drawing/2014/main" id="{608488A3-75F3-4DF6-8865-CF107245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0237" y="3746754"/>
            <a:ext cx="152705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+ идеи pdqsort</a:t>
            </a:r>
          </a:p>
        </p:txBody>
      </p:sp>
      <p:sp>
        <p:nvSpPr>
          <p:cNvPr id="26" name="hf-983">
            <a:extLst xmlns:a="http://schemas.openxmlformats.org/drawingml/2006/main">
              <a:ext uri="{FF2B5EF4-FFF2-40B4-BE49-F238E27FC236}">
                <a16:creationId xmlns:a16="http://schemas.microsoft.com/office/drawing/2014/main" id="{27DAABD4-AF99-453C-950A-A85D7C3C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133850"/>
            <a:ext cx="8029575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27" name="hf-984">
            <a:extLst xmlns:a="http://schemas.openxmlformats.org/drawingml/2006/main">
              <a:ext uri="{FF2B5EF4-FFF2-40B4-BE49-F238E27FC236}">
                <a16:creationId xmlns:a16="http://schemas.microsoft.com/office/drawing/2014/main" id="{9A93A19C-A928-46E5-B4F7-0CC4EA14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3" y="4203954"/>
            <a:ext cx="727873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На Apple </a:t>
            </a:r>
            <a:r>
              <a:rPr sz="1500" b="0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std::sort</a:t>
            </a: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— из системной libc++: </a:t>
            </a: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алгоритм выбирает версия ОС</a:t>
            </a:r>
          </a:p>
        </p:txBody>
      </p:sp>
      <p:pic>
        <p:nvPicPr>
          <p:cNvPr id="28" name="hf-985">
            <a:extLst xmlns:a="http://schemas.openxmlformats.org/drawingml/2006/main">
              <a:ext uri="{FF2B5EF4-FFF2-40B4-BE49-F238E27FC236}">
                <a16:creationId xmlns:a16="http://schemas.microsoft.com/office/drawing/2014/main" id="{0C5614E8-D708-4035-BB10-0381F4C7D1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41ecda54b4ca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9" name="hf-986">
            <a:extLst xmlns:a="http://schemas.openxmlformats.org/drawingml/2006/main">
              <a:ext uri="{FF2B5EF4-FFF2-40B4-BE49-F238E27FC236}">
                <a16:creationId xmlns:a16="http://schemas.microsoft.com/office/drawing/2014/main" id="{6C45F0A4-B7C4-47C8-92DC-2B049FB5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521671283"/>
      </p:ext>
    </p:extLst>
  </p:cSld>
</p:sld>
</file>

<file path=ppt/slides/slide42.xml><?xml version="1.0" encoding="utf-8"?>
<p:sld xmlns:p="http://schemas.openxmlformats.org/presentationml/2006/main" show="0">
  <p:cSld name="cachecost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987">
            <a:extLst xmlns:a="http://schemas.openxmlformats.org/drawingml/2006/main">
              <a:ext uri="{FF2B5EF4-FFF2-40B4-BE49-F238E27FC236}">
                <a16:creationId xmlns:a16="http://schemas.microsoft.com/office/drawing/2014/main" id="{0720B313-380B-41C4-9BAE-A5A98A21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7952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BACKUP · ДЛЯ ВОПРОСОВ</a:t>
            </a:r>
          </a:p>
        </p:txBody>
      </p:sp>
      <p:sp>
        <p:nvSpPr>
          <p:cNvPr id="3" name="hf-988">
            <a:extLst xmlns:a="http://schemas.openxmlformats.org/drawingml/2006/main">
              <a:ext uri="{FF2B5EF4-FFF2-40B4-BE49-F238E27FC236}">
                <a16:creationId xmlns:a16="http://schemas.microsoft.com/office/drawing/2014/main" id="{0ED4C5C1-AEB1-42E4-9F1A-3B7DBA10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39849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ОТ 512K К 1M ХЕШ ДОРОЖАЕТ В 1,4 РАЗА,</a:t>
            </a:r>
          </a:p>
        </p:txBody>
      </p:sp>
      <p:sp>
        <p:nvSpPr>
          <p:cNvPr id="4" name="hf-989">
            <a:extLst xmlns:a="http://schemas.openxmlformats.org/drawingml/2006/main">
              <a:ext uri="{FF2B5EF4-FFF2-40B4-BE49-F238E27FC236}">
                <a16:creationId xmlns:a16="http://schemas.microsoft.com/office/drawing/2014/main" id="{A7BDCCA8-324E-4D13-B724-873DF9D93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3567410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СОРТИРОВКА — НА 3%</a:t>
            </a:r>
          </a:p>
        </p:txBody>
      </p:sp>
      <p:sp>
        <p:nvSpPr>
          <p:cNvPr id="5" name="hf-990">
            <a:extLst xmlns:a="http://schemas.openxmlformats.org/drawingml/2006/main">
              <a:ext uri="{FF2B5EF4-FFF2-40B4-BE49-F238E27FC236}">
                <a16:creationId xmlns:a16="http://schemas.microsoft.com/office/drawing/2014/main" id="{734FEEC9-839A-44CE-93A3-C1F991F7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372438"/>
            <a:ext cx="25803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нс на элемент · U = N/2 · M2 Pro</a:t>
            </a:r>
          </a:p>
        </p:txBody>
      </p:sp>
      <p:sp>
        <p:nvSpPr>
          <p:cNvPr id="6" name="hf-991">
            <a:extLst xmlns:a="http://schemas.openxmlformats.org/drawingml/2006/main">
              <a:ext uri="{FF2B5EF4-FFF2-40B4-BE49-F238E27FC236}">
                <a16:creationId xmlns:a16="http://schemas.microsoft.com/office/drawing/2014/main" id="{2B0E0BE3-972E-481E-8147-EC8E1A11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610563"/>
            <a:ext cx="18067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N</a:t>
            </a:r>
          </a:p>
        </p:txBody>
      </p:sp>
      <p:sp>
        <p:nvSpPr>
          <p:cNvPr id="7" name="hf-992">
            <a:extLst xmlns:a="http://schemas.openxmlformats.org/drawingml/2006/main">
              <a:ext uri="{FF2B5EF4-FFF2-40B4-BE49-F238E27FC236}">
                <a16:creationId xmlns:a16="http://schemas.microsoft.com/office/drawing/2014/main" id="{C015743F-3FAB-434C-97BA-A59B2608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094" y="1610563"/>
            <a:ext cx="109455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+ unique</a:t>
            </a:r>
          </a:p>
        </p:txBody>
      </p:sp>
      <p:sp>
        <p:nvSpPr>
          <p:cNvPr id="8" name="hf-993">
            <a:extLst xmlns:a="http://schemas.openxmlformats.org/drawingml/2006/main">
              <a:ext uri="{FF2B5EF4-FFF2-40B4-BE49-F238E27FC236}">
                <a16:creationId xmlns:a16="http://schemas.microsoft.com/office/drawing/2014/main" id="{451E4F41-1DD6-4BCF-B5A9-2D88A593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3351" y="1610563"/>
            <a:ext cx="120342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unordered_set</a:t>
            </a:r>
          </a:p>
        </p:txBody>
      </p:sp>
      <p:sp>
        <p:nvSpPr>
          <p:cNvPr id="9" name="hf-994">
            <a:extLst xmlns:a="http://schemas.openxmlformats.org/drawingml/2006/main">
              <a:ext uri="{FF2B5EF4-FFF2-40B4-BE49-F238E27FC236}">
                <a16:creationId xmlns:a16="http://schemas.microsoft.com/office/drawing/2014/main" id="{988C5127-4321-469A-9F67-22EC28F6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866900"/>
            <a:ext cx="4205288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0" name="hf-995">
            <a:extLst xmlns:a="http://schemas.openxmlformats.org/drawingml/2006/main">
              <a:ext uri="{FF2B5EF4-FFF2-40B4-BE49-F238E27FC236}">
                <a16:creationId xmlns:a16="http://schemas.microsoft.com/office/drawing/2014/main" id="{BFECCB6F-3D1B-4BC2-AF0A-ADC9EBD7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676525"/>
            <a:ext cx="4205288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B2B26"/>
          </a:solidFill>
          <a:ln xmlns:a="http://schemas.openxmlformats.org/drawingml/2006/main" w="14288">
            <a:solidFill>
              <a:srgbClr val="46CDAE"/>
            </a:solidFill>
          </a:ln>
        </p:spPr>
      </p:sp>
      <p:sp>
        <p:nvSpPr>
          <p:cNvPr id="11" name="hf-996">
            <a:extLst xmlns:a="http://schemas.openxmlformats.org/drawingml/2006/main">
              <a:ext uri="{FF2B5EF4-FFF2-40B4-BE49-F238E27FC236}">
                <a16:creationId xmlns:a16="http://schemas.microsoft.com/office/drawing/2014/main" id="{ECDC2F27-1D67-4E57-888B-ADFB24F7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3" y="1883531"/>
            <a:ext cx="289768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1K</a:t>
            </a:r>
          </a:p>
        </p:txBody>
      </p:sp>
      <p:sp>
        <p:nvSpPr>
          <p:cNvPr id="12" name="hf-997">
            <a:extLst xmlns:a="http://schemas.openxmlformats.org/drawingml/2006/main">
              <a:ext uri="{FF2B5EF4-FFF2-40B4-BE49-F238E27FC236}">
                <a16:creationId xmlns:a16="http://schemas.microsoft.com/office/drawing/2014/main" id="{13478878-0F58-4E8C-BFE6-EA46B95A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846" y="1883531"/>
            <a:ext cx="475804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14,4</a:t>
            </a:r>
          </a:p>
        </p:txBody>
      </p:sp>
      <p:sp>
        <p:nvSpPr>
          <p:cNvPr id="13" name="hf-998">
            <a:extLst xmlns:a="http://schemas.openxmlformats.org/drawingml/2006/main">
              <a:ext uri="{FF2B5EF4-FFF2-40B4-BE49-F238E27FC236}">
                <a16:creationId xmlns:a16="http://schemas.microsoft.com/office/drawing/2014/main" id="{219FD99A-901F-40AE-8C45-508F5D6E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2792" y="1883531"/>
            <a:ext cx="433983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13,3</a:t>
            </a:r>
          </a:p>
        </p:txBody>
      </p:sp>
      <p:sp>
        <p:nvSpPr>
          <p:cNvPr id="14" name="hf-999">
            <a:extLst xmlns:a="http://schemas.openxmlformats.org/drawingml/2006/main">
              <a:ext uri="{FF2B5EF4-FFF2-40B4-BE49-F238E27FC236}">
                <a16:creationId xmlns:a16="http://schemas.microsoft.com/office/drawing/2014/main" id="{A07712E1-F6B6-4A4E-9308-4BB95CAA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3" y="2264531"/>
            <a:ext cx="483691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64K</a:t>
            </a:r>
          </a:p>
        </p:txBody>
      </p:sp>
      <p:sp>
        <p:nvSpPr>
          <p:cNvPr id="15" name="hf-1000">
            <a:extLst xmlns:a="http://schemas.openxmlformats.org/drawingml/2006/main">
              <a:ext uri="{FF2B5EF4-FFF2-40B4-BE49-F238E27FC236}">
                <a16:creationId xmlns:a16="http://schemas.microsoft.com/office/drawing/2014/main" id="{AECBA0C9-35D9-4A26-A3C7-A2723758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1919" y="2264531"/>
            <a:ext cx="443731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17,8</a:t>
            </a:r>
          </a:p>
        </p:txBody>
      </p:sp>
      <p:sp>
        <p:nvSpPr>
          <p:cNvPr id="16" name="hf-1001">
            <a:extLst xmlns:a="http://schemas.openxmlformats.org/drawingml/2006/main">
              <a:ext uri="{FF2B5EF4-FFF2-40B4-BE49-F238E27FC236}">
                <a16:creationId xmlns:a16="http://schemas.microsoft.com/office/drawing/2014/main" id="{14E8EAA9-3FD4-4673-8A4F-18C6BC05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9341" y="2264531"/>
            <a:ext cx="427434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17,5</a:t>
            </a:r>
          </a:p>
        </p:txBody>
      </p:sp>
      <p:sp>
        <p:nvSpPr>
          <p:cNvPr id="17" name="hf-1002">
            <a:extLst xmlns:a="http://schemas.openxmlformats.org/drawingml/2006/main">
              <a:ext uri="{FF2B5EF4-FFF2-40B4-BE49-F238E27FC236}">
                <a16:creationId xmlns:a16="http://schemas.microsoft.com/office/drawing/2014/main" id="{338CBD02-EBAE-4703-8C68-B12BD0B4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3" y="2645531"/>
            <a:ext cx="542702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512K</a:t>
            </a:r>
          </a:p>
        </p:txBody>
      </p:sp>
      <p:sp>
        <p:nvSpPr>
          <p:cNvPr id="18" name="hf-1003">
            <a:extLst xmlns:a="http://schemas.openxmlformats.org/drawingml/2006/main">
              <a:ext uri="{FF2B5EF4-FFF2-40B4-BE49-F238E27FC236}">
                <a16:creationId xmlns:a16="http://schemas.microsoft.com/office/drawing/2014/main" id="{7D619D5C-2EB3-474B-99ED-DA61CE52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9715" y="2645531"/>
            <a:ext cx="45593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65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19,6</a:t>
            </a:r>
          </a:p>
        </p:txBody>
      </p:sp>
      <p:sp>
        <p:nvSpPr>
          <p:cNvPr id="19" name="hf-1004">
            <a:extLst xmlns:a="http://schemas.openxmlformats.org/drawingml/2006/main">
              <a:ext uri="{FF2B5EF4-FFF2-40B4-BE49-F238E27FC236}">
                <a16:creationId xmlns:a16="http://schemas.microsoft.com/office/drawing/2014/main" id="{295214C3-4E9C-4130-A940-8C05A46B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631" y="2645531"/>
            <a:ext cx="461144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650" b="1" i="0">
                <a:solidFill>
                  <a:srgbClr val="E2489B"/>
                </a:solidFill>
                <a:latin typeface="Montserrat"/>
                <a:ea typeface="Montserrat"/>
                <a:cs typeface="Montserrat"/>
              </a:rPr>
              <a:t>18,7</a:t>
            </a:r>
          </a:p>
        </p:txBody>
      </p:sp>
      <p:sp>
        <p:nvSpPr>
          <p:cNvPr id="20" name="hf-1005">
            <a:extLst xmlns:a="http://schemas.openxmlformats.org/drawingml/2006/main">
              <a:ext uri="{FF2B5EF4-FFF2-40B4-BE49-F238E27FC236}">
                <a16:creationId xmlns:a16="http://schemas.microsoft.com/office/drawing/2014/main" id="{8CC37A1C-7F9F-4DA6-BC57-E2807CF6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3" y="3007481"/>
            <a:ext cx="339403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1M</a:t>
            </a:r>
          </a:p>
        </p:txBody>
      </p:sp>
      <p:sp>
        <p:nvSpPr>
          <p:cNvPr id="21" name="hf-1006">
            <a:extLst xmlns:a="http://schemas.openxmlformats.org/drawingml/2006/main">
              <a:ext uri="{FF2B5EF4-FFF2-40B4-BE49-F238E27FC236}">
                <a16:creationId xmlns:a16="http://schemas.microsoft.com/office/drawing/2014/main" id="{050CEDD7-6AFD-4A88-9C25-5B338AE12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1650" y="3007481"/>
            <a:ext cx="45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65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20,1</a:t>
            </a:r>
          </a:p>
        </p:txBody>
      </p:sp>
      <p:sp>
        <p:nvSpPr>
          <p:cNvPr id="22" name="hf-1007">
            <a:extLst xmlns:a="http://schemas.openxmlformats.org/drawingml/2006/main">
              <a:ext uri="{FF2B5EF4-FFF2-40B4-BE49-F238E27FC236}">
                <a16:creationId xmlns:a16="http://schemas.microsoft.com/office/drawing/2014/main" id="{2E34D03E-C97F-4271-B1AF-F6F3E3BC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9243" y="3007481"/>
            <a:ext cx="497532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650" b="1" i="0">
                <a:solidFill>
                  <a:srgbClr val="E2489B"/>
                </a:solidFill>
                <a:latin typeface="Montserrat"/>
                <a:ea typeface="Montserrat"/>
                <a:cs typeface="Montserrat"/>
              </a:rPr>
              <a:t>26,3</a:t>
            </a:r>
          </a:p>
        </p:txBody>
      </p:sp>
      <p:sp>
        <p:nvSpPr>
          <p:cNvPr id="23" name="hf-1008">
            <a:extLst xmlns:a="http://schemas.openxmlformats.org/drawingml/2006/main">
              <a:ext uri="{FF2B5EF4-FFF2-40B4-BE49-F238E27FC236}">
                <a16:creationId xmlns:a16="http://schemas.microsoft.com/office/drawing/2014/main" id="{94BE7137-2900-4D4B-A932-16881BB3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3" y="3407531"/>
            <a:ext cx="39952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4M</a:t>
            </a:r>
          </a:p>
        </p:txBody>
      </p:sp>
      <p:sp>
        <p:nvSpPr>
          <p:cNvPr id="24" name="hf-1009">
            <a:extLst xmlns:a="http://schemas.openxmlformats.org/drawingml/2006/main">
              <a:ext uri="{FF2B5EF4-FFF2-40B4-BE49-F238E27FC236}">
                <a16:creationId xmlns:a16="http://schemas.microsoft.com/office/drawing/2014/main" id="{B1ABD907-3B6A-48A3-97EE-F20095FB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30" y="3407531"/>
            <a:ext cx="43242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21,5</a:t>
            </a:r>
          </a:p>
        </p:txBody>
      </p:sp>
      <p:sp>
        <p:nvSpPr>
          <p:cNvPr id="25" name="hf-1010">
            <a:extLst xmlns:a="http://schemas.openxmlformats.org/drawingml/2006/main">
              <a:ext uri="{FF2B5EF4-FFF2-40B4-BE49-F238E27FC236}">
                <a16:creationId xmlns:a16="http://schemas.microsoft.com/office/drawing/2014/main" id="{9DAC1FA7-DE9E-4A84-A049-FA7D322C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302" y="3407531"/>
            <a:ext cx="476473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6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55,7</a:t>
            </a:r>
          </a:p>
        </p:txBody>
      </p:sp>
      <p:sp>
        <p:nvSpPr>
          <p:cNvPr id="26" name="hf-1011">
            <a:extLst xmlns:a="http://schemas.openxmlformats.org/drawingml/2006/main">
              <a:ext uri="{FF2B5EF4-FFF2-40B4-BE49-F238E27FC236}">
                <a16:creationId xmlns:a16="http://schemas.microsoft.com/office/drawing/2014/main" id="{CFA8CEC2-F51C-4F71-B87B-1D9F0CBD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867150"/>
            <a:ext cx="4205288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27" name="hf-1012">
            <a:extLst xmlns:a="http://schemas.openxmlformats.org/drawingml/2006/main">
              <a:ext uri="{FF2B5EF4-FFF2-40B4-BE49-F238E27FC236}">
                <a16:creationId xmlns:a16="http://schemas.microsoft.com/office/drawing/2014/main" id="{BF36CDDF-EC28-4FA2-AB26-C77038E1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3" y="4087063"/>
            <a:ext cx="78298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512K → 1M</a:t>
            </a:r>
          </a:p>
        </p:txBody>
      </p:sp>
      <p:sp>
        <p:nvSpPr>
          <p:cNvPr id="28" name="hf-1013">
            <a:extLst xmlns:a="http://schemas.openxmlformats.org/drawingml/2006/main">
              <a:ext uri="{FF2B5EF4-FFF2-40B4-BE49-F238E27FC236}">
                <a16:creationId xmlns:a16="http://schemas.microsoft.com/office/drawing/2014/main" id="{DBF77CD4-A0F0-4EF1-A8B5-239F06F5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2446" y="3956342"/>
            <a:ext cx="993204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+3%</a:t>
            </a:r>
          </a:p>
        </p:txBody>
      </p:sp>
      <p:sp>
        <p:nvSpPr>
          <p:cNvPr id="29" name="hf-1014">
            <a:extLst xmlns:a="http://schemas.openxmlformats.org/drawingml/2006/main">
              <a:ext uri="{FF2B5EF4-FFF2-40B4-BE49-F238E27FC236}">
                <a16:creationId xmlns:a16="http://schemas.microsoft.com/office/drawing/2014/main" id="{FEB5F315-9E57-42BC-BB54-995E24787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3456" y="3956342"/>
            <a:ext cx="953319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</a:rPr>
              <a:t>×1,4</a:t>
            </a:r>
          </a:p>
        </p:txBody>
      </p:sp>
      <p:sp>
        <p:nvSpPr>
          <p:cNvPr id="30" name="hf-1015">
            <a:extLst xmlns:a="http://schemas.openxmlformats.org/drawingml/2006/main">
              <a:ext uri="{FF2B5EF4-FFF2-40B4-BE49-F238E27FC236}">
                <a16:creationId xmlns:a16="http://schemas.microsoft.com/office/drawing/2014/main" id="{9BFAC447-70D0-46AB-AAE7-BABFB3AA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428750"/>
            <a:ext cx="3348038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31" name="hf-1016">
            <a:extLst xmlns:a="http://schemas.openxmlformats.org/drawingml/2006/main">
              <a:ext uri="{FF2B5EF4-FFF2-40B4-BE49-F238E27FC236}">
                <a16:creationId xmlns:a16="http://schemas.microsoft.com/office/drawing/2014/main" id="{82FD263E-C67E-4218-85C3-6E25BFB0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29613"/>
            <a:ext cx="176339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рабочий набор хеша</a:t>
            </a:r>
          </a:p>
        </p:txBody>
      </p:sp>
      <p:sp>
        <p:nvSpPr>
          <p:cNvPr id="32" name="hf-1017">
            <a:extLst xmlns:a="http://schemas.openxmlformats.org/drawingml/2006/main">
              <a:ext uri="{FF2B5EF4-FFF2-40B4-BE49-F238E27FC236}">
                <a16:creationId xmlns:a16="http://schemas.microsoft.com/office/drawing/2014/main" id="{48E2430D-B34A-40DE-9277-C3F36D82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60137"/>
            <a:ext cx="1569467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225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32·U + 8·N</a:t>
            </a:r>
          </a:p>
        </p:txBody>
      </p:sp>
      <p:sp>
        <p:nvSpPr>
          <p:cNvPr id="33" name="hf-1018">
            <a:extLst xmlns:a="http://schemas.openxmlformats.org/drawingml/2006/main">
              <a:ext uri="{FF2B5EF4-FFF2-40B4-BE49-F238E27FC236}">
                <a16:creationId xmlns:a16="http://schemas.microsoft.com/office/drawing/2014/main" id="{BCC8596D-5299-488F-8AA7-1E874C03E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410330"/>
            <a:ext cx="2118643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75" b="1" i="0">
                <a:solidFill>
                  <a:srgbClr val="BDBDBD"/>
                </a:solidFill>
                <a:latin typeface="Montserrat"/>
                <a:ea typeface="Montserrat"/>
                <a:cs typeface="Montserrat"/>
              </a:rPr>
              <a:t>512K</a:t>
            </a:r>
            <a:r>
              <a:rPr sz="15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≈12 МиБ </a:t>
            </a:r>
            <a:r>
              <a:rPr sz="1575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✓ в L2</a:t>
            </a:r>
          </a:p>
        </p:txBody>
      </p:sp>
      <p:sp>
        <p:nvSpPr>
          <p:cNvPr id="34" name="hf-1019">
            <a:extLst xmlns:a="http://schemas.openxmlformats.org/drawingml/2006/main">
              <a:ext uri="{FF2B5EF4-FFF2-40B4-BE49-F238E27FC236}">
                <a16:creationId xmlns:a16="http://schemas.microsoft.com/office/drawing/2014/main" id="{09447C72-8B4E-4DA2-A94F-B5593CF6A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791330"/>
            <a:ext cx="241749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75" b="1" i="0">
                <a:solidFill>
                  <a:srgbClr val="BDBDBD"/>
                </a:solidFill>
                <a:latin typeface="Montserrat"/>
                <a:ea typeface="Montserrat"/>
                <a:cs typeface="Montserrat"/>
              </a:rPr>
              <a:t>1M</a:t>
            </a:r>
            <a:r>
              <a:rPr sz="15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≈24 МиБ </a:t>
            </a:r>
            <a:r>
              <a:rPr sz="1575" b="1" i="0">
                <a:solidFill>
                  <a:srgbClr val="E2489B"/>
                </a:solidFill>
                <a:latin typeface="Montserrat"/>
                <a:ea typeface="Montserrat"/>
                <a:cs typeface="Montserrat"/>
              </a:rPr>
              <a:t>✗ мимо L2</a:t>
            </a:r>
          </a:p>
        </p:txBody>
      </p:sp>
      <p:sp>
        <p:nvSpPr>
          <p:cNvPr id="35" name="hf-1020">
            <a:extLst xmlns:a="http://schemas.openxmlformats.org/drawingml/2006/main">
              <a:ext uri="{FF2B5EF4-FFF2-40B4-BE49-F238E27FC236}">
                <a16:creationId xmlns:a16="http://schemas.microsoft.com/office/drawing/2014/main" id="{A5A66D09-6604-4F7A-9340-D01176B2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210763"/>
            <a:ext cx="251035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L2 P-кластера M2 Pro = 16 МиБ</a:t>
            </a:r>
          </a:p>
        </p:txBody>
      </p:sp>
      <p:sp>
        <p:nvSpPr>
          <p:cNvPr id="36" name="hf-1021">
            <a:extLst xmlns:a="http://schemas.openxmlformats.org/drawingml/2006/main">
              <a:ext uri="{FF2B5EF4-FFF2-40B4-BE49-F238E27FC236}">
                <a16:creationId xmlns:a16="http://schemas.microsoft.com/office/drawing/2014/main" id="{47722600-0FA1-460B-99D4-34B10AB1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81400"/>
            <a:ext cx="285750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37" name="hf-1022">
            <a:extLst xmlns:a="http://schemas.openxmlformats.org/drawingml/2006/main">
              <a:ext uri="{FF2B5EF4-FFF2-40B4-BE49-F238E27FC236}">
                <a16:creationId xmlns:a16="http://schemas.microsoft.com/office/drawing/2014/main" id="{ED516D97-0B5B-4070-AA84-17B816DE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84089"/>
            <a:ext cx="240126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75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Арифметика, а не счётчики:</a:t>
            </a:r>
          </a:p>
        </p:txBody>
      </p:sp>
      <p:sp>
        <p:nvSpPr>
          <p:cNvPr id="38" name="hf-1023">
            <a:extLst xmlns:a="http://schemas.openxmlformats.org/drawingml/2006/main">
              <a:ext uri="{FF2B5EF4-FFF2-40B4-BE49-F238E27FC236}">
                <a16:creationId xmlns:a16="http://schemas.microsoft.com/office/drawing/2014/main" id="{C037DFBD-A1A1-4202-9B1E-47CD9C47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893639"/>
            <a:ext cx="179843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275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причина — гипотеза</a:t>
            </a:r>
          </a:p>
        </p:txBody>
      </p:sp>
      <p:pic>
        <p:nvPicPr>
          <p:cNvPr id="39" name="hf-1024">
            <a:extLst xmlns:a="http://schemas.openxmlformats.org/drawingml/2006/main">
              <a:ext uri="{FF2B5EF4-FFF2-40B4-BE49-F238E27FC236}">
                <a16:creationId xmlns:a16="http://schemas.microsoft.com/office/drawing/2014/main" id="{5958967B-7352-4A8E-8D93-7958C45B20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816275168647e9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40" name="hf-1025">
            <a:extLst xmlns:a="http://schemas.openxmlformats.org/drawingml/2006/main">
              <a:ext uri="{FF2B5EF4-FFF2-40B4-BE49-F238E27FC236}">
                <a16:creationId xmlns:a16="http://schemas.microsoft.com/office/drawing/2014/main" id="{8B839416-C089-4173-B740-189E5AF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424651004"/>
      </p:ext>
    </p:extLst>
  </p:cSld>
</p:sld>
</file>

<file path=ppt/slides/slide43.xml><?xml version="1.0" encoding="utf-8"?>
<p:sld xmlns:p="http://schemas.openxmlformats.org/presentationml/2006/main" show="0">
  <p:cSld name="sortmin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1026">
            <a:extLst xmlns:a="http://schemas.openxmlformats.org/drawingml/2006/main">
              <a:ext uri="{FF2B5EF4-FFF2-40B4-BE49-F238E27FC236}">
                <a16:creationId xmlns:a16="http://schemas.microsoft.com/office/drawing/2014/main" id="{570C09C9-C511-4599-84EB-AF95907C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7952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BACKUP · ДЛЯ ВОПРОСОВ</a:t>
            </a:r>
          </a:p>
        </p:txBody>
      </p:sp>
      <p:sp>
        <p:nvSpPr>
          <p:cNvPr id="3" name="hf-1027">
            <a:extLst xmlns:a="http://schemas.openxmlformats.org/drawingml/2006/main">
              <a:ext uri="{FF2B5EF4-FFF2-40B4-BE49-F238E27FC236}">
                <a16:creationId xmlns:a16="http://schemas.microsoft.com/office/drawing/2014/main" id="{FF0EA2A6-C0D7-41A7-AA04-1F5AD312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094288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СОРТИРОВКА: ОДИН ПЛОТНЫЙ БУФЕР</a:t>
            </a:r>
          </a:p>
        </p:txBody>
      </p:sp>
      <p:sp>
        <p:nvSpPr>
          <p:cNvPr id="4" name="hf-1028">
            <a:extLst xmlns:a="http://schemas.openxmlformats.org/drawingml/2006/main">
              <a:ext uri="{FF2B5EF4-FFF2-40B4-BE49-F238E27FC236}">
                <a16:creationId xmlns:a16="http://schemas.microsoft.com/office/drawing/2014/main" id="{81D4091A-768D-46F0-A5B3-E93CEC92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4183559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И НИ ОДНОЙ АЛЛОКАЦИИ</a:t>
            </a:r>
          </a:p>
        </p:txBody>
      </p:sp>
      <p:sp>
        <p:nvSpPr>
          <p:cNvPr id="5" name="hf-1029">
            <a:extLst xmlns:a="http://schemas.openxmlformats.org/drawingml/2006/main">
              <a:ext uri="{FF2B5EF4-FFF2-40B4-BE49-F238E27FC236}">
                <a16:creationId xmlns:a16="http://schemas.microsoft.com/office/drawing/2014/main" id="{18BE9177-1E9F-417D-B741-C7DF4AD9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4382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6" name="hf-1030">
            <a:extLst xmlns:a="http://schemas.openxmlformats.org/drawingml/2006/main">
              <a:ext uri="{FF2B5EF4-FFF2-40B4-BE49-F238E27FC236}">
                <a16:creationId xmlns:a16="http://schemas.microsoft.com/office/drawing/2014/main" id="{21201538-B56A-4D7C-A012-70516C53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4382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7" name="hf-1031">
            <a:extLst xmlns:a="http://schemas.openxmlformats.org/drawingml/2006/main">
              <a:ext uri="{FF2B5EF4-FFF2-40B4-BE49-F238E27FC236}">
                <a16:creationId xmlns:a16="http://schemas.microsoft.com/office/drawing/2014/main" id="{1B82997E-7456-4C81-B8B6-B40BD821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4382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8" name="hf-1032">
            <a:extLst xmlns:a="http://schemas.openxmlformats.org/drawingml/2006/main">
              <a:ext uri="{FF2B5EF4-FFF2-40B4-BE49-F238E27FC236}">
                <a16:creationId xmlns:a16="http://schemas.microsoft.com/office/drawing/2014/main" id="{C4DA87A0-AC99-4413-8763-3DCB7727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14382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9" name="hf-1033">
            <a:extLst xmlns:a="http://schemas.openxmlformats.org/drawingml/2006/main">
              <a:ext uri="{FF2B5EF4-FFF2-40B4-BE49-F238E27FC236}">
                <a16:creationId xmlns:a16="http://schemas.microsoft.com/office/drawing/2014/main" id="{867E3468-0E3E-4F6A-B077-EA81ECB0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4382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0" name="hf-1034">
            <a:extLst xmlns:a="http://schemas.openxmlformats.org/drawingml/2006/main">
              <a:ext uri="{FF2B5EF4-FFF2-40B4-BE49-F238E27FC236}">
                <a16:creationId xmlns:a16="http://schemas.microsoft.com/office/drawing/2014/main" id="{446B93FF-F9F4-4662-94B1-4AD93355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4382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1" name="hf-1035">
            <a:extLst xmlns:a="http://schemas.openxmlformats.org/drawingml/2006/main">
              <a:ext uri="{FF2B5EF4-FFF2-40B4-BE49-F238E27FC236}">
                <a16:creationId xmlns:a16="http://schemas.microsoft.com/office/drawing/2014/main" id="{E505A365-B99D-42A5-8675-465F0875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4382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2" name="hf-1036">
            <a:extLst xmlns:a="http://schemas.openxmlformats.org/drawingml/2006/main">
              <a:ext uri="{FF2B5EF4-FFF2-40B4-BE49-F238E27FC236}">
                <a16:creationId xmlns:a16="http://schemas.microsoft.com/office/drawing/2014/main" id="{BFC2839B-2302-4F1B-9261-D9821368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4382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3" name="hf-1037">
            <a:extLst xmlns:a="http://schemas.openxmlformats.org/drawingml/2006/main">
              <a:ext uri="{FF2B5EF4-FFF2-40B4-BE49-F238E27FC236}">
                <a16:creationId xmlns:a16="http://schemas.microsoft.com/office/drawing/2014/main" id="{D453C41E-0A18-4630-8C67-A167AE27A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764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74F45"/>
          </a:solidFill>
          <a:ln xmlns:a="http://schemas.openxmlformats.org/drawingml/2006/main" w="19050">
            <a:solidFill>
              <a:srgbClr val="46CDAE"/>
            </a:solidFill>
          </a:ln>
        </p:spPr>
      </p:sp>
      <p:sp>
        <p:nvSpPr>
          <p:cNvPr id="14" name="hf-1038">
            <a:extLst xmlns:a="http://schemas.openxmlformats.org/drawingml/2006/main">
              <a:ext uri="{FF2B5EF4-FFF2-40B4-BE49-F238E27FC236}">
                <a16:creationId xmlns:a16="http://schemas.microsoft.com/office/drawing/2014/main" id="{17E73FC5-8CDA-4EDC-8106-C4DEDA659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2764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74F45"/>
          </a:solidFill>
          <a:ln xmlns:a="http://schemas.openxmlformats.org/drawingml/2006/main" w="19050">
            <a:solidFill>
              <a:srgbClr val="46CDAE"/>
            </a:solidFill>
          </a:ln>
        </p:spPr>
      </p:sp>
      <p:sp>
        <p:nvSpPr>
          <p:cNvPr id="15" name="hf-1039">
            <a:extLst xmlns:a="http://schemas.openxmlformats.org/drawingml/2006/main">
              <a:ext uri="{FF2B5EF4-FFF2-40B4-BE49-F238E27FC236}">
                <a16:creationId xmlns:a16="http://schemas.microsoft.com/office/drawing/2014/main" id="{C27F1569-3C57-40D3-9BD3-DEE7FDF9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2764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74F45"/>
          </a:solidFill>
          <a:ln xmlns:a="http://schemas.openxmlformats.org/drawingml/2006/main" w="19050">
            <a:solidFill>
              <a:srgbClr val="46CDAE"/>
            </a:solidFill>
          </a:ln>
        </p:spPr>
      </p:sp>
      <p:sp>
        <p:nvSpPr>
          <p:cNvPr id="16" name="hf-1040">
            <a:extLst xmlns:a="http://schemas.openxmlformats.org/drawingml/2006/main">
              <a:ext uri="{FF2B5EF4-FFF2-40B4-BE49-F238E27FC236}">
                <a16:creationId xmlns:a16="http://schemas.microsoft.com/office/drawing/2014/main" id="{51C78984-F0D7-4684-9BF3-9FB30632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2764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74F45"/>
          </a:solidFill>
          <a:ln xmlns:a="http://schemas.openxmlformats.org/drawingml/2006/main" w="19050">
            <a:solidFill>
              <a:srgbClr val="46CDAE"/>
            </a:solidFill>
          </a:ln>
        </p:spPr>
      </p:sp>
      <p:sp>
        <p:nvSpPr>
          <p:cNvPr id="17" name="hf-1041">
            <a:extLst xmlns:a="http://schemas.openxmlformats.org/drawingml/2006/main">
              <a:ext uri="{FF2B5EF4-FFF2-40B4-BE49-F238E27FC236}">
                <a16:creationId xmlns:a16="http://schemas.microsoft.com/office/drawing/2014/main" id="{B387B937-4EB9-4500-BE6B-4D314361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2764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74F45"/>
          </a:solidFill>
          <a:ln xmlns:a="http://schemas.openxmlformats.org/drawingml/2006/main" w="19050">
            <a:solidFill>
              <a:srgbClr val="46CDAE"/>
            </a:solidFill>
          </a:ln>
        </p:spPr>
      </p:sp>
      <p:sp>
        <p:nvSpPr>
          <p:cNvPr id="18" name="hf-1042">
            <a:extLst xmlns:a="http://schemas.openxmlformats.org/drawingml/2006/main">
              <a:ext uri="{FF2B5EF4-FFF2-40B4-BE49-F238E27FC236}">
                <a16:creationId xmlns:a16="http://schemas.microsoft.com/office/drawing/2014/main" id="{047B2920-10BA-4473-973F-BF16FB0B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2764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74F45"/>
          </a:solidFill>
          <a:ln xmlns:a="http://schemas.openxmlformats.org/drawingml/2006/main" w="19050">
            <a:solidFill>
              <a:srgbClr val="46CDAE"/>
            </a:solidFill>
          </a:ln>
        </p:spPr>
      </p:sp>
      <p:sp>
        <p:nvSpPr>
          <p:cNvPr id="19" name="hf-1043">
            <a:extLst xmlns:a="http://schemas.openxmlformats.org/drawingml/2006/main">
              <a:ext uri="{FF2B5EF4-FFF2-40B4-BE49-F238E27FC236}">
                <a16:creationId xmlns:a16="http://schemas.microsoft.com/office/drawing/2014/main" id="{C12E4D08-4669-4C63-957D-D0CE9A65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2764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74F45"/>
          </a:solidFill>
          <a:ln xmlns:a="http://schemas.openxmlformats.org/drawingml/2006/main" w="19050">
            <a:solidFill>
              <a:srgbClr val="46CDAE"/>
            </a:solidFill>
          </a:ln>
        </p:spPr>
      </p:sp>
      <p:sp>
        <p:nvSpPr>
          <p:cNvPr id="20" name="hf-1044">
            <a:extLst xmlns:a="http://schemas.openxmlformats.org/drawingml/2006/main">
              <a:ext uri="{FF2B5EF4-FFF2-40B4-BE49-F238E27FC236}">
                <a16:creationId xmlns:a16="http://schemas.microsoft.com/office/drawing/2014/main" id="{58FAB127-5DB8-4461-950D-CA60D6B5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2764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74F45"/>
          </a:solidFill>
          <a:ln xmlns:a="http://schemas.openxmlformats.org/drawingml/2006/main" w="19050">
            <a:solidFill>
              <a:srgbClr val="46CDAE"/>
            </a:solidFill>
          </a:ln>
        </p:spPr>
      </p:sp>
      <p:sp>
        <p:nvSpPr>
          <p:cNvPr id="21" name="hf-1045">
            <a:extLst xmlns:a="http://schemas.openxmlformats.org/drawingml/2006/main">
              <a:ext uri="{FF2B5EF4-FFF2-40B4-BE49-F238E27FC236}">
                <a16:creationId xmlns:a16="http://schemas.microsoft.com/office/drawing/2014/main" id="{2115C764-E0E4-471D-81C8-0B8F7829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146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19050">
            <a:solidFill>
              <a:srgbClr val="46CDAE"/>
            </a:solidFill>
          </a:ln>
        </p:spPr>
      </p:sp>
      <p:sp>
        <p:nvSpPr>
          <p:cNvPr id="22" name="hf-1046">
            <a:extLst xmlns:a="http://schemas.openxmlformats.org/drawingml/2006/main">
              <a:ext uri="{FF2B5EF4-FFF2-40B4-BE49-F238E27FC236}">
                <a16:creationId xmlns:a16="http://schemas.microsoft.com/office/drawing/2014/main" id="{73F544EE-6720-448D-99F1-CC126BDE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1146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19050">
            <a:solidFill>
              <a:srgbClr val="46CDAE"/>
            </a:solidFill>
          </a:ln>
        </p:spPr>
      </p:sp>
      <p:sp>
        <p:nvSpPr>
          <p:cNvPr id="23" name="hf-1047">
            <a:extLst xmlns:a="http://schemas.openxmlformats.org/drawingml/2006/main">
              <a:ext uri="{FF2B5EF4-FFF2-40B4-BE49-F238E27FC236}">
                <a16:creationId xmlns:a16="http://schemas.microsoft.com/office/drawing/2014/main" id="{F2DDAF8C-19A1-4B36-884F-2CC901F5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1146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19050">
            <a:solidFill>
              <a:srgbClr val="46CDAE"/>
            </a:solidFill>
          </a:ln>
        </p:spPr>
      </p:sp>
      <p:sp>
        <p:nvSpPr>
          <p:cNvPr id="24" name="hf-1048">
            <a:extLst xmlns:a="http://schemas.openxmlformats.org/drawingml/2006/main">
              <a:ext uri="{FF2B5EF4-FFF2-40B4-BE49-F238E27FC236}">
                <a16:creationId xmlns:a16="http://schemas.microsoft.com/office/drawing/2014/main" id="{87D9BE49-2500-4DF2-AB81-49D72FCD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1146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19050">
            <a:solidFill>
              <a:srgbClr val="46CDAE"/>
            </a:solidFill>
          </a:ln>
        </p:spPr>
      </p:sp>
      <p:sp>
        <p:nvSpPr>
          <p:cNvPr id="25" name="hf-1049">
            <a:extLst xmlns:a="http://schemas.openxmlformats.org/drawingml/2006/main">
              <a:ext uri="{FF2B5EF4-FFF2-40B4-BE49-F238E27FC236}">
                <a16:creationId xmlns:a16="http://schemas.microsoft.com/office/drawing/2014/main" id="{DDE46B1E-46C0-45D0-8C2A-8457B298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1146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5A5A5A"/>
            </a:solidFill>
          </a:ln>
        </p:spPr>
      </p:sp>
      <p:sp>
        <p:nvSpPr>
          <p:cNvPr id="26" name="hf-1050">
            <a:extLst xmlns:a="http://schemas.openxmlformats.org/drawingml/2006/main">
              <a:ext uri="{FF2B5EF4-FFF2-40B4-BE49-F238E27FC236}">
                <a16:creationId xmlns:a16="http://schemas.microsoft.com/office/drawing/2014/main" id="{52BA164E-F7F5-49F0-8B17-76FBAA71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1146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5A5A5A"/>
            </a:solidFill>
          </a:ln>
        </p:spPr>
      </p:sp>
      <p:sp>
        <p:nvSpPr>
          <p:cNvPr id="27" name="hf-1051">
            <a:extLst xmlns:a="http://schemas.openxmlformats.org/drawingml/2006/main">
              <a:ext uri="{FF2B5EF4-FFF2-40B4-BE49-F238E27FC236}">
                <a16:creationId xmlns:a16="http://schemas.microsoft.com/office/drawing/2014/main" id="{585D16D4-51C6-4FBC-9A26-61F131D8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146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5A5A5A"/>
            </a:solidFill>
          </a:ln>
        </p:spPr>
      </p:sp>
      <p:sp>
        <p:nvSpPr>
          <p:cNvPr id="28" name="hf-1052">
            <a:extLst xmlns:a="http://schemas.openxmlformats.org/drawingml/2006/main">
              <a:ext uri="{FF2B5EF4-FFF2-40B4-BE49-F238E27FC236}">
                <a16:creationId xmlns:a16="http://schemas.microsoft.com/office/drawing/2014/main" id="{4562DDCE-A686-4757-BB29-0FA35AA9A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14675"/>
            <a:ext cx="59055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5A5A5A"/>
            </a:solidFill>
          </a:ln>
        </p:spPr>
      </p:sp>
      <p:sp>
        <p:nvSpPr>
          <p:cNvPr id="29" name="hf-1053">
            <a:extLst xmlns:a="http://schemas.openxmlformats.org/drawingml/2006/main">
              <a:ext uri="{FF2B5EF4-FFF2-40B4-BE49-F238E27FC236}">
                <a16:creationId xmlns:a16="http://schemas.microsoft.com/office/drawing/2014/main" id="{240FF701-DE4A-4B67-8460-078DC9AE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737" y="13481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8</a:t>
            </a:r>
          </a:p>
        </p:txBody>
      </p:sp>
      <p:sp>
        <p:nvSpPr>
          <p:cNvPr id="30" name="hf-1054">
            <a:extLst xmlns:a="http://schemas.openxmlformats.org/drawingml/2006/main">
              <a:ext uri="{FF2B5EF4-FFF2-40B4-BE49-F238E27FC236}">
                <a16:creationId xmlns:a16="http://schemas.microsoft.com/office/drawing/2014/main" id="{6CE0D05D-72A9-4698-AE2A-F4EBE165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537" y="13481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31" name="hf-1055">
            <a:extLst xmlns:a="http://schemas.openxmlformats.org/drawingml/2006/main">
              <a:ext uri="{FF2B5EF4-FFF2-40B4-BE49-F238E27FC236}">
                <a16:creationId xmlns:a16="http://schemas.microsoft.com/office/drawing/2014/main" id="{161594EF-AA5E-46A4-B18E-9BA3E3498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337" y="13481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8</a:t>
            </a:r>
          </a:p>
        </p:txBody>
      </p:sp>
      <p:sp>
        <p:nvSpPr>
          <p:cNvPr id="32" name="hf-1056">
            <a:extLst xmlns:a="http://schemas.openxmlformats.org/drawingml/2006/main">
              <a:ext uri="{FF2B5EF4-FFF2-40B4-BE49-F238E27FC236}">
                <a16:creationId xmlns:a16="http://schemas.microsoft.com/office/drawing/2014/main" id="{16C7A895-75E3-4CCC-817B-8356EFFC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5137" y="13481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33" name="hf-1057">
            <a:extLst xmlns:a="http://schemas.openxmlformats.org/drawingml/2006/main">
              <a:ext uri="{FF2B5EF4-FFF2-40B4-BE49-F238E27FC236}">
                <a16:creationId xmlns:a16="http://schemas.microsoft.com/office/drawing/2014/main" id="{D3B04451-B8E0-4F5D-8893-BD23D586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0937" y="13481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34" name="hf-1058">
            <a:extLst xmlns:a="http://schemas.openxmlformats.org/drawingml/2006/main">
              <a:ext uri="{FF2B5EF4-FFF2-40B4-BE49-F238E27FC236}">
                <a16:creationId xmlns:a16="http://schemas.microsoft.com/office/drawing/2014/main" id="{7C97EE5C-65BD-4E2E-B9EE-08F057C6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6737" y="13481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35" name="hf-1059">
            <a:extLst xmlns:a="http://schemas.openxmlformats.org/drawingml/2006/main">
              <a:ext uri="{FF2B5EF4-FFF2-40B4-BE49-F238E27FC236}">
                <a16:creationId xmlns:a16="http://schemas.microsoft.com/office/drawing/2014/main" id="{94F02F65-4DA0-41A2-B1C4-345DA50D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2537" y="13481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8</a:t>
            </a:r>
          </a:p>
        </p:txBody>
      </p:sp>
      <p:sp>
        <p:nvSpPr>
          <p:cNvPr id="36" name="hf-1060">
            <a:extLst xmlns:a="http://schemas.openxmlformats.org/drawingml/2006/main">
              <a:ext uri="{FF2B5EF4-FFF2-40B4-BE49-F238E27FC236}">
                <a16:creationId xmlns:a16="http://schemas.microsoft.com/office/drawing/2014/main" id="{41517316-8432-4B29-91FA-B9B75109C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8337" y="13481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37" name="hf-1061">
            <a:extLst xmlns:a="http://schemas.openxmlformats.org/drawingml/2006/main">
              <a:ext uri="{FF2B5EF4-FFF2-40B4-BE49-F238E27FC236}">
                <a16:creationId xmlns:a16="http://schemas.microsoft.com/office/drawing/2014/main" id="{E91FFCF0-EA90-4FFB-8544-0A2AF4B9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737" y="21863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38" name="hf-1062">
            <a:extLst xmlns:a="http://schemas.openxmlformats.org/drawingml/2006/main">
              <a:ext uri="{FF2B5EF4-FFF2-40B4-BE49-F238E27FC236}">
                <a16:creationId xmlns:a16="http://schemas.microsoft.com/office/drawing/2014/main" id="{D6028F82-9DDD-4426-81DE-80E50AE9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537" y="21863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39" name="hf-1063">
            <a:extLst xmlns:a="http://schemas.openxmlformats.org/drawingml/2006/main">
              <a:ext uri="{FF2B5EF4-FFF2-40B4-BE49-F238E27FC236}">
                <a16:creationId xmlns:a16="http://schemas.microsoft.com/office/drawing/2014/main" id="{9833566E-3BD8-40E5-8FFC-182F409C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337" y="21863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40" name="hf-1064">
            <a:extLst xmlns:a="http://schemas.openxmlformats.org/drawingml/2006/main">
              <a:ext uri="{FF2B5EF4-FFF2-40B4-BE49-F238E27FC236}">
                <a16:creationId xmlns:a16="http://schemas.microsoft.com/office/drawing/2014/main" id="{1BF1AAB3-802E-4FD2-9334-31783DB8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5137" y="21863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41" name="hf-1065">
            <a:extLst xmlns:a="http://schemas.openxmlformats.org/drawingml/2006/main">
              <a:ext uri="{FF2B5EF4-FFF2-40B4-BE49-F238E27FC236}">
                <a16:creationId xmlns:a16="http://schemas.microsoft.com/office/drawing/2014/main" id="{44D53EBA-392B-463C-96E8-8C39357F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0937" y="21863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42" name="hf-1066">
            <a:extLst xmlns:a="http://schemas.openxmlformats.org/drawingml/2006/main">
              <a:ext uri="{FF2B5EF4-FFF2-40B4-BE49-F238E27FC236}">
                <a16:creationId xmlns:a16="http://schemas.microsoft.com/office/drawing/2014/main" id="{87A4A862-5C9B-4CDE-93D6-16B6437D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6737" y="21863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8</a:t>
            </a:r>
          </a:p>
        </p:txBody>
      </p:sp>
      <p:sp>
        <p:nvSpPr>
          <p:cNvPr id="43" name="hf-1067">
            <a:extLst xmlns:a="http://schemas.openxmlformats.org/drawingml/2006/main">
              <a:ext uri="{FF2B5EF4-FFF2-40B4-BE49-F238E27FC236}">
                <a16:creationId xmlns:a16="http://schemas.microsoft.com/office/drawing/2014/main" id="{BCE05644-3137-41D1-B98A-3D6007E1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2537" y="21863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8</a:t>
            </a:r>
          </a:p>
        </p:txBody>
      </p:sp>
      <p:sp>
        <p:nvSpPr>
          <p:cNvPr id="44" name="hf-1068">
            <a:extLst xmlns:a="http://schemas.openxmlformats.org/drawingml/2006/main">
              <a:ext uri="{FF2B5EF4-FFF2-40B4-BE49-F238E27FC236}">
                <a16:creationId xmlns:a16="http://schemas.microsoft.com/office/drawing/2014/main" id="{2C6A714A-1A71-4504-B6AC-D05D3C49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8337" y="2186369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8</a:t>
            </a:r>
          </a:p>
        </p:txBody>
      </p:sp>
      <p:sp>
        <p:nvSpPr>
          <p:cNvPr id="45" name="hf-1069">
            <a:extLst xmlns:a="http://schemas.openxmlformats.org/drawingml/2006/main">
              <a:ext uri="{FF2B5EF4-FFF2-40B4-BE49-F238E27FC236}">
                <a16:creationId xmlns:a16="http://schemas.microsoft.com/office/drawing/2014/main" id="{10A15D78-A26C-402B-BB9A-1163149A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737" y="3024568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46" name="hf-1070">
            <a:extLst xmlns:a="http://schemas.openxmlformats.org/drawingml/2006/main">
              <a:ext uri="{FF2B5EF4-FFF2-40B4-BE49-F238E27FC236}">
                <a16:creationId xmlns:a16="http://schemas.microsoft.com/office/drawing/2014/main" id="{3B5CB84F-922B-492C-BD3B-AC316DE45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537" y="3024568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47" name="hf-1071">
            <a:extLst xmlns:a="http://schemas.openxmlformats.org/drawingml/2006/main">
              <a:ext uri="{FF2B5EF4-FFF2-40B4-BE49-F238E27FC236}">
                <a16:creationId xmlns:a16="http://schemas.microsoft.com/office/drawing/2014/main" id="{ED9BD25A-92C9-4C4E-934A-87FA20D5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337" y="3024568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48" name="hf-1072">
            <a:extLst xmlns:a="http://schemas.openxmlformats.org/drawingml/2006/main">
              <a:ext uri="{FF2B5EF4-FFF2-40B4-BE49-F238E27FC236}">
                <a16:creationId xmlns:a16="http://schemas.microsoft.com/office/drawing/2014/main" id="{8678D1C9-076F-4A9A-AC4A-5806802E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5137" y="3024568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8</a:t>
            </a:r>
          </a:p>
        </p:txBody>
      </p:sp>
      <p:sp>
        <p:nvSpPr>
          <p:cNvPr id="49" name="hf-1073">
            <a:extLst xmlns:a="http://schemas.openxmlformats.org/drawingml/2006/main">
              <a:ext uri="{FF2B5EF4-FFF2-40B4-BE49-F238E27FC236}">
                <a16:creationId xmlns:a16="http://schemas.microsoft.com/office/drawing/2014/main" id="{B6CA3A15-DB5F-4531-A066-6D60AAB8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0937" y="3024568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BDBDBD"/>
                </a:solidFill>
                <a:latin typeface="Menlo"/>
                <a:ea typeface="Menlo"/>
                <a:cs typeface="Menlo"/>
              </a:rPr>
              <a:t>·</a:t>
            </a:r>
          </a:p>
        </p:txBody>
      </p:sp>
      <p:sp>
        <p:nvSpPr>
          <p:cNvPr id="50" name="hf-1074">
            <a:extLst xmlns:a="http://schemas.openxmlformats.org/drawingml/2006/main">
              <a:ext uri="{FF2B5EF4-FFF2-40B4-BE49-F238E27FC236}">
                <a16:creationId xmlns:a16="http://schemas.microsoft.com/office/drawing/2014/main" id="{35F43B47-2D08-4127-A741-55FC1B3B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6737" y="3024568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BDBDBD"/>
                </a:solidFill>
                <a:latin typeface="Menlo"/>
                <a:ea typeface="Menlo"/>
                <a:cs typeface="Menlo"/>
              </a:rPr>
              <a:t>·</a:t>
            </a:r>
          </a:p>
        </p:txBody>
      </p:sp>
      <p:sp>
        <p:nvSpPr>
          <p:cNvPr id="51" name="hf-1075">
            <a:extLst xmlns:a="http://schemas.openxmlformats.org/drawingml/2006/main">
              <a:ext uri="{FF2B5EF4-FFF2-40B4-BE49-F238E27FC236}">
                <a16:creationId xmlns:a16="http://schemas.microsoft.com/office/drawing/2014/main" id="{62253DCF-A735-4C36-B4DF-E9E03DE4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2537" y="3024568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BDBDBD"/>
                </a:solidFill>
                <a:latin typeface="Menlo"/>
                <a:ea typeface="Menlo"/>
                <a:cs typeface="Menlo"/>
              </a:rPr>
              <a:t>·</a:t>
            </a:r>
          </a:p>
        </p:txBody>
      </p:sp>
      <p:sp>
        <p:nvSpPr>
          <p:cNvPr id="52" name="hf-1076">
            <a:extLst xmlns:a="http://schemas.openxmlformats.org/drawingml/2006/main">
              <a:ext uri="{FF2B5EF4-FFF2-40B4-BE49-F238E27FC236}">
                <a16:creationId xmlns:a16="http://schemas.microsoft.com/office/drawing/2014/main" id="{4C97507B-0210-4A19-9549-22225A43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8337" y="3024568"/>
            <a:ext cx="206276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050"/>
              </a:lnSpc>
              <a:buNone/>
            </a:pPr>
            <a:r>
              <a:rPr sz="1950" b="1" i="0">
                <a:solidFill>
                  <a:srgbClr val="BDBDBD"/>
                </a:solidFill>
                <a:latin typeface="Menlo"/>
                <a:ea typeface="Menlo"/>
                <a:cs typeface="Menlo"/>
              </a:rPr>
              <a:t>·</a:t>
            </a:r>
          </a:p>
        </p:txBody>
      </p:sp>
      <p:sp>
        <p:nvSpPr>
          <p:cNvPr id="53" name="hf-1077">
            <a:extLst xmlns:a="http://schemas.openxmlformats.org/drawingml/2006/main">
              <a:ext uri="{FF2B5EF4-FFF2-40B4-BE49-F238E27FC236}">
                <a16:creationId xmlns:a16="http://schemas.microsoft.com/office/drawing/2014/main" id="{7BCB4B95-AED0-4884-8608-F490D1CB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49057"/>
            <a:ext cx="626492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вход</a:t>
            </a:r>
          </a:p>
        </p:txBody>
      </p:sp>
      <p:sp>
        <p:nvSpPr>
          <p:cNvPr id="54" name="hf-1078">
            <a:extLst xmlns:a="http://schemas.openxmlformats.org/drawingml/2006/main">
              <a:ext uri="{FF2B5EF4-FFF2-40B4-BE49-F238E27FC236}">
                <a16:creationId xmlns:a16="http://schemas.microsoft.com/office/drawing/2014/main" id="{7106FCEF-B53D-4BDB-909D-57603A7A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715338"/>
            <a:ext cx="150450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8 чисел, 4 разных</a:t>
            </a:r>
          </a:p>
        </p:txBody>
      </p:sp>
      <p:sp>
        <p:nvSpPr>
          <p:cNvPr id="55" name="hf-1079">
            <a:extLst xmlns:a="http://schemas.openxmlformats.org/drawingml/2006/main">
              <a:ext uri="{FF2B5EF4-FFF2-40B4-BE49-F238E27FC236}">
                <a16:creationId xmlns:a16="http://schemas.microsoft.com/office/drawing/2014/main" id="{34E22AF6-F09D-4289-BCB6-486397CC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299145"/>
            <a:ext cx="1192634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650" b="1" i="0">
                <a:solidFill>
                  <a:srgbClr val="46CDAE"/>
                </a:solidFill>
                <a:latin typeface="Menlo"/>
                <a:ea typeface="Menlo"/>
                <a:cs typeface="Menlo"/>
              </a:rPr>
              <a:t>std::sort</a:t>
            </a:r>
          </a:p>
        </p:txBody>
      </p:sp>
      <p:sp>
        <p:nvSpPr>
          <p:cNvPr id="56" name="hf-1080">
            <a:extLst xmlns:a="http://schemas.openxmlformats.org/drawingml/2006/main">
              <a:ext uri="{FF2B5EF4-FFF2-40B4-BE49-F238E27FC236}">
                <a16:creationId xmlns:a16="http://schemas.microsoft.com/office/drawing/2014/main" id="{3B7CC174-3ABB-405B-ADFE-11755C82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553538"/>
            <a:ext cx="18290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одинаковые — рядом</a:t>
            </a:r>
          </a:p>
        </p:txBody>
      </p:sp>
      <p:sp>
        <p:nvSpPr>
          <p:cNvPr id="57" name="hf-1081">
            <a:extLst xmlns:a="http://schemas.openxmlformats.org/drawingml/2006/main">
              <a:ext uri="{FF2B5EF4-FFF2-40B4-BE49-F238E27FC236}">
                <a16:creationId xmlns:a16="http://schemas.microsoft.com/office/drawing/2014/main" id="{F357AB58-1A44-4B5A-A4D3-D58B221B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137345"/>
            <a:ext cx="1571104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650" b="1" i="0">
                <a:solidFill>
                  <a:srgbClr val="46CDAE"/>
                </a:solidFill>
                <a:latin typeface="Menlo"/>
                <a:ea typeface="Menlo"/>
                <a:cs typeface="Menlo"/>
              </a:rPr>
              <a:t>unique+erase</a:t>
            </a:r>
          </a:p>
        </p:txBody>
      </p:sp>
      <p:sp>
        <p:nvSpPr>
          <p:cNvPr id="58" name="hf-1082">
            <a:extLst xmlns:a="http://schemas.openxmlformats.org/drawingml/2006/main">
              <a:ext uri="{FF2B5EF4-FFF2-40B4-BE49-F238E27FC236}">
                <a16:creationId xmlns:a16="http://schemas.microsoft.com/office/drawing/2014/main" id="{664AF92C-A101-49AE-8700-F1BD58EB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91738"/>
            <a:ext cx="120037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хвост отрезан</a:t>
            </a:r>
          </a:p>
        </p:txBody>
      </p:sp>
      <p:sp>
        <p:nvSpPr>
          <p:cNvPr id="59" name="hf-1083">
            <a:extLst xmlns:a="http://schemas.openxmlformats.org/drawingml/2006/main">
              <a:ext uri="{FF2B5EF4-FFF2-40B4-BE49-F238E27FC236}">
                <a16:creationId xmlns:a16="http://schemas.microsoft.com/office/drawing/2014/main" id="{17561CF4-670E-409C-86EB-D1D2D68C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838575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60" name="hf-1084">
            <a:extLst xmlns:a="http://schemas.openxmlformats.org/drawingml/2006/main">
              <a:ext uri="{FF2B5EF4-FFF2-40B4-BE49-F238E27FC236}">
                <a16:creationId xmlns:a16="http://schemas.microsoft.com/office/drawing/2014/main" id="{4CB9DD51-CEB6-4CE7-9E45-BEDA4AF0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994442"/>
            <a:ext cx="3219078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0 аллокаций</a:t>
            </a:r>
          </a:p>
        </p:txBody>
      </p:sp>
      <p:sp>
        <p:nvSpPr>
          <p:cNvPr id="61" name="hf-1085">
            <a:extLst xmlns:a="http://schemas.openxmlformats.org/drawingml/2006/main">
              <a:ext uri="{FF2B5EF4-FFF2-40B4-BE49-F238E27FC236}">
                <a16:creationId xmlns:a16="http://schemas.microsoft.com/office/drawing/2014/main" id="{297E30E2-FDCD-4884-AA21-1616C32A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61067"/>
            <a:ext cx="2995017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~log₂N проходов по всем N —</a:t>
            </a:r>
          </a:p>
        </p:txBody>
      </p:sp>
      <p:sp>
        <p:nvSpPr>
          <p:cNvPr id="62" name="hf-1086">
            <a:extLst xmlns:a="http://schemas.openxmlformats.org/drawingml/2006/main">
              <a:ext uri="{FF2B5EF4-FFF2-40B4-BE49-F238E27FC236}">
                <a16:creationId xmlns:a16="http://schemas.microsoft.com/office/drawing/2014/main" id="{5687F451-885D-48B8-A45D-6B527E87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99192"/>
            <a:ext cx="2092598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875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один буфер, </a:t>
            </a:r>
            <a:r>
              <a:rPr sz="15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подряд</a:t>
            </a:r>
          </a:p>
        </p:txBody>
      </p:sp>
      <p:pic>
        <p:nvPicPr>
          <p:cNvPr id="63" name="hf-1087">
            <a:extLst xmlns:a="http://schemas.openxmlformats.org/drawingml/2006/main">
              <a:ext uri="{FF2B5EF4-FFF2-40B4-BE49-F238E27FC236}">
                <a16:creationId xmlns:a16="http://schemas.microsoft.com/office/drawing/2014/main" id="{89C965F9-FFDC-4A7A-A3F7-A830955F23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6a8056a8cb4ad9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64" name="hf-1088">
            <a:extLst xmlns:a="http://schemas.openxmlformats.org/drawingml/2006/main">
              <a:ext uri="{FF2B5EF4-FFF2-40B4-BE49-F238E27FC236}">
                <a16:creationId xmlns:a16="http://schemas.microsoft.com/office/drawing/2014/main" id="{67088A46-B901-4CBE-9B99-8B81A327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1532268832"/>
      </p:ext>
    </p:extLst>
  </p:cSld>
</p:sld>
</file>

<file path=ppt/slides/slide44.xml><?xml version="1.0" encoding="utf-8"?>
<p:sld xmlns:p="http://schemas.openxmlformats.org/presentationml/2006/main" show="0">
  <p:cSld name="hashtable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1089">
            <a:extLst xmlns:a="http://schemas.openxmlformats.org/drawingml/2006/main">
              <a:ext uri="{FF2B5EF4-FFF2-40B4-BE49-F238E27FC236}">
                <a16:creationId xmlns:a16="http://schemas.microsoft.com/office/drawing/2014/main" id="{3809C691-F97A-44D4-A949-599A5F12F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7952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BACKUP · ДЛЯ ВОПРОСОВ</a:t>
            </a:r>
          </a:p>
        </p:txBody>
      </p:sp>
      <p:sp>
        <p:nvSpPr>
          <p:cNvPr id="3" name="hf-1090">
            <a:extLst xmlns:a="http://schemas.openxmlformats.org/drawingml/2006/main">
              <a:ext uri="{FF2B5EF4-FFF2-40B4-BE49-F238E27FC236}">
                <a16:creationId xmlns:a16="http://schemas.microsoft.com/office/drawing/2014/main" id="{A668CF98-F7C4-4832-A011-4E89E17E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596905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УЗЛОВАЯ ХЕШ-ТАБЛИЦА: КАЖДЫЙ</a:t>
            </a:r>
          </a:p>
        </p:txBody>
      </p:sp>
      <p:sp>
        <p:nvSpPr>
          <p:cNvPr id="4" name="hf-1091">
            <a:extLst xmlns:a="http://schemas.openxmlformats.org/drawingml/2006/main">
              <a:ext uri="{FF2B5EF4-FFF2-40B4-BE49-F238E27FC236}">
                <a16:creationId xmlns:a16="http://schemas.microsoft.com/office/drawing/2014/main" id="{F7EE0B4F-1FF9-4902-9A68-AFE024A0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3049488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КЛЮЧ — СВОЙ new</a:t>
            </a:r>
          </a:p>
        </p:txBody>
      </p:sp>
      <p:sp>
        <p:nvSpPr>
          <p:cNvPr id="5" name="hf-1092">
            <a:extLst xmlns:a="http://schemas.openxmlformats.org/drawingml/2006/main">
              <a:ext uri="{FF2B5EF4-FFF2-40B4-BE49-F238E27FC236}">
                <a16:creationId xmlns:a16="http://schemas.microsoft.com/office/drawing/2014/main" id="{A25B8A1E-A84B-4419-A0E5-2A56B53D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8" y="1485900"/>
            <a:ext cx="9334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6" name="hf-1093">
            <a:extLst xmlns:a="http://schemas.openxmlformats.org/drawingml/2006/main">
              <a:ext uri="{FF2B5EF4-FFF2-40B4-BE49-F238E27FC236}">
                <a16:creationId xmlns:a16="http://schemas.microsoft.com/office/drawing/2014/main" id="{2E6FE9B6-7CD4-48FF-8D46-0D86A4F3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485900"/>
            <a:ext cx="2171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E2489B"/>
            </a:solidFill>
          </a:ln>
        </p:spPr>
      </p:sp>
      <p:sp>
        <p:nvSpPr>
          <p:cNvPr id="7" name="hf-1094">
            <a:extLst xmlns:a="http://schemas.openxmlformats.org/drawingml/2006/main">
              <a:ext uri="{FF2B5EF4-FFF2-40B4-BE49-F238E27FC236}">
                <a16:creationId xmlns:a16="http://schemas.microsoft.com/office/drawing/2014/main" id="{E514058B-96C7-4324-99D5-CA4331BE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338" y="1743075"/>
            <a:ext cx="338138" cy="953"/>
          </a:xfrm>
          <a:custGeom xmlns:a="http://schemas.openxmlformats.org/drawingml/2006/main">
            <a:pathLst>
              <a:path w="338138" h="476">
                <a:moveTo>
                  <a:pt x="0" y="0"/>
                </a:moveTo>
                <a:lnTo>
                  <a:pt x="3381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FFFFFF"/>
            </a:solidFill>
          </a:ln>
        </p:spPr>
      </p:sp>
      <p:sp>
        <p:nvSpPr>
          <p:cNvPr id="8" name="hf-1095">
            <a:extLst xmlns:a="http://schemas.openxmlformats.org/drawingml/2006/main">
              <a:ext uri="{FF2B5EF4-FFF2-40B4-BE49-F238E27FC236}">
                <a16:creationId xmlns:a16="http://schemas.microsoft.com/office/drawing/2014/main" id="{60F015EF-F231-429D-A2E5-65393B97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43075"/>
            <a:ext cx="323850" cy="953"/>
          </a:xfrm>
          <a:custGeom xmlns:a="http://schemas.openxmlformats.org/drawingml/2006/main">
            <a:pathLst>
              <a:path w="323850" h="476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FFFFFF"/>
            </a:solidFill>
          </a:ln>
        </p:spPr>
      </p:sp>
      <p:sp>
        <p:nvSpPr>
          <p:cNvPr id="9" name="hf-1096">
            <a:extLst xmlns:a="http://schemas.openxmlformats.org/drawingml/2006/main">
              <a:ext uri="{FF2B5EF4-FFF2-40B4-BE49-F238E27FC236}">
                <a16:creationId xmlns:a16="http://schemas.microsoft.com/office/drawing/2014/main" id="{595683F6-3CD8-49A1-B6DA-7CEF94C4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1485900"/>
            <a:ext cx="398145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5E1C42"/>
          </a:solidFill>
          <a:ln xmlns:a="http://schemas.openxmlformats.org/drawingml/2006/main" w="19050">
            <a:solidFill>
              <a:srgbClr val="E2489B"/>
            </a:solidFill>
          </a:ln>
        </p:spPr>
      </p:sp>
      <p:sp>
        <p:nvSpPr>
          <p:cNvPr id="10" name="hf-1097">
            <a:extLst xmlns:a="http://schemas.openxmlformats.org/drawingml/2006/main">
              <a:ext uri="{FF2B5EF4-FFF2-40B4-BE49-F238E27FC236}">
                <a16:creationId xmlns:a16="http://schemas.microsoft.com/office/drawing/2014/main" id="{1DDD916B-9239-4462-BBB5-FD295DC9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485900"/>
            <a:ext cx="50006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489B"/>
          </a:solidFill>
          <a:ln xmlns:a="http://schemas.openxmlformats.org/drawingml/2006/main" w="19050">
            <a:solidFill>
              <a:srgbClr val="E2489B"/>
            </a:solidFill>
          </a:ln>
        </p:spPr>
      </p:sp>
      <p:sp>
        <p:nvSpPr>
          <p:cNvPr id="11" name="hf-1098">
            <a:extLst xmlns:a="http://schemas.openxmlformats.org/drawingml/2006/main">
              <a:ext uri="{FF2B5EF4-FFF2-40B4-BE49-F238E27FC236}">
                <a16:creationId xmlns:a16="http://schemas.microsoft.com/office/drawing/2014/main" id="{C6F284E7-A121-4D9A-9C47-CB550F878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2063" y="1485900"/>
            <a:ext cx="953" cy="514350"/>
          </a:xfrm>
          <a:custGeom xmlns:a="http://schemas.openxmlformats.org/drawingml/2006/main">
            <a:pathLst>
              <a:path w="476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E2489B"/>
            </a:solidFill>
          </a:ln>
        </p:spPr>
      </p:sp>
      <p:sp>
        <p:nvSpPr>
          <p:cNvPr id="12" name="hf-1099">
            <a:extLst xmlns:a="http://schemas.openxmlformats.org/drawingml/2006/main">
              <a:ext uri="{FF2B5EF4-FFF2-40B4-BE49-F238E27FC236}">
                <a16:creationId xmlns:a16="http://schemas.microsoft.com/office/drawing/2014/main" id="{85D579AE-5942-40E5-851A-BBE8FA48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485900"/>
            <a:ext cx="953" cy="514350"/>
          </a:xfrm>
          <a:custGeom xmlns:a="http://schemas.openxmlformats.org/drawingml/2006/main">
            <a:pathLst>
              <a:path w="476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E2489B"/>
            </a:solidFill>
          </a:ln>
        </p:spPr>
      </p:sp>
      <p:sp>
        <p:nvSpPr>
          <p:cNvPr id="13" name="hf-1100">
            <a:extLst xmlns:a="http://schemas.openxmlformats.org/drawingml/2006/main">
              <a:ext uri="{FF2B5EF4-FFF2-40B4-BE49-F238E27FC236}">
                <a16:creationId xmlns:a16="http://schemas.microsoft.com/office/drawing/2014/main" id="{1A80E1FE-255E-4EB2-BA2F-E09BB55A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188" y="1485900"/>
            <a:ext cx="953" cy="514350"/>
          </a:xfrm>
          <a:custGeom xmlns:a="http://schemas.openxmlformats.org/drawingml/2006/main">
            <a:pathLst>
              <a:path w="476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E2489B"/>
            </a:solidFill>
          </a:ln>
        </p:spPr>
      </p:sp>
      <p:sp>
        <p:nvSpPr>
          <p:cNvPr id="14" name="hf-1101">
            <a:extLst xmlns:a="http://schemas.openxmlformats.org/drawingml/2006/main">
              <a:ext uri="{FF2B5EF4-FFF2-40B4-BE49-F238E27FC236}">
                <a16:creationId xmlns:a16="http://schemas.microsoft.com/office/drawing/2014/main" id="{1B78DD70-B657-44D9-89DA-2BD1ED82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85900"/>
            <a:ext cx="953" cy="514350"/>
          </a:xfrm>
          <a:custGeom xmlns:a="http://schemas.openxmlformats.org/drawingml/2006/main">
            <a:pathLst>
              <a:path w="476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E2489B"/>
            </a:solidFill>
          </a:ln>
        </p:spPr>
      </p:sp>
      <p:sp>
        <p:nvSpPr>
          <p:cNvPr id="15" name="hf-1102">
            <a:extLst xmlns:a="http://schemas.openxmlformats.org/drawingml/2006/main">
              <a:ext uri="{FF2B5EF4-FFF2-40B4-BE49-F238E27FC236}">
                <a16:creationId xmlns:a16="http://schemas.microsoft.com/office/drawing/2014/main" id="{CEBD92E5-F2C5-487B-9CCB-45CD2F5D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2313" y="1485900"/>
            <a:ext cx="953" cy="514350"/>
          </a:xfrm>
          <a:custGeom xmlns:a="http://schemas.openxmlformats.org/drawingml/2006/main">
            <a:pathLst>
              <a:path w="476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E2489B"/>
            </a:solidFill>
          </a:ln>
        </p:spPr>
      </p:sp>
      <p:sp>
        <p:nvSpPr>
          <p:cNvPr id="16" name="hf-1103">
            <a:extLst xmlns:a="http://schemas.openxmlformats.org/drawingml/2006/main">
              <a:ext uri="{FF2B5EF4-FFF2-40B4-BE49-F238E27FC236}">
                <a16:creationId xmlns:a16="http://schemas.microsoft.com/office/drawing/2014/main" id="{C6971299-7214-4F9F-ACE3-3140FC85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485900"/>
            <a:ext cx="953" cy="514350"/>
          </a:xfrm>
          <a:custGeom xmlns:a="http://schemas.openxmlformats.org/drawingml/2006/main">
            <a:pathLst>
              <a:path w="476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E2489B"/>
            </a:solidFill>
          </a:ln>
        </p:spPr>
      </p:sp>
      <p:sp>
        <p:nvSpPr>
          <p:cNvPr id="17" name="hf-1104">
            <a:extLst xmlns:a="http://schemas.openxmlformats.org/drawingml/2006/main">
              <a:ext uri="{FF2B5EF4-FFF2-40B4-BE49-F238E27FC236}">
                <a16:creationId xmlns:a16="http://schemas.microsoft.com/office/drawing/2014/main" id="{3EFA5B80-AFAA-4BC6-9BFD-B3C80260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2438" y="1485900"/>
            <a:ext cx="953" cy="514350"/>
          </a:xfrm>
          <a:custGeom xmlns:a="http://schemas.openxmlformats.org/drawingml/2006/main">
            <a:pathLst>
              <a:path w="476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E2489B"/>
            </a:solidFill>
          </a:ln>
        </p:spPr>
      </p:sp>
      <p:sp>
        <p:nvSpPr>
          <p:cNvPr id="18" name="hf-1105">
            <a:extLst xmlns:a="http://schemas.openxmlformats.org/drawingml/2006/main">
              <a:ext uri="{FF2B5EF4-FFF2-40B4-BE49-F238E27FC236}">
                <a16:creationId xmlns:a16="http://schemas.microsoft.com/office/drawing/2014/main" id="{3F6090D8-B3A3-4029-844E-C825B3699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2156" y="1743075"/>
            <a:ext cx="953" cy="971550"/>
          </a:xfrm>
          <a:custGeom xmlns:a="http://schemas.openxmlformats.org/drawingml/2006/main">
            <a:pathLst>
              <a:path w="476" h="971550">
                <a:moveTo>
                  <a:pt x="0" y="0"/>
                </a:moveTo>
                <a:lnTo>
                  <a:pt x="0" y="9715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E2489B"/>
            </a:solidFill>
          </a:ln>
        </p:spPr>
      </p:sp>
      <p:sp>
        <p:nvSpPr>
          <p:cNvPr id="19" name="hf-1106">
            <a:extLst xmlns:a="http://schemas.openxmlformats.org/drawingml/2006/main">
              <a:ext uri="{FF2B5EF4-FFF2-40B4-BE49-F238E27FC236}">
                <a16:creationId xmlns:a16="http://schemas.microsoft.com/office/drawing/2014/main" id="{4C4C4ADD-2BE6-435A-8110-0F543E59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294" y="17002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4763">
            <a:noFill/>
          </a:ln>
        </p:spPr>
      </p:sp>
      <p:sp>
        <p:nvSpPr>
          <p:cNvPr id="20" name="hf-1107">
            <a:extLst xmlns:a="http://schemas.openxmlformats.org/drawingml/2006/main">
              <a:ext uri="{FF2B5EF4-FFF2-40B4-BE49-F238E27FC236}">
                <a16:creationId xmlns:a16="http://schemas.microsoft.com/office/drawing/2014/main" id="{32490997-F68D-415E-9BF9-A984CFD0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71775"/>
            <a:ext cx="1695450" cy="4572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E2489B"/>
            </a:solidFill>
          </a:ln>
        </p:spPr>
      </p:sp>
      <p:sp>
        <p:nvSpPr>
          <p:cNvPr id="21" name="hf-1108">
            <a:extLst xmlns:a="http://schemas.openxmlformats.org/drawingml/2006/main">
              <a:ext uri="{FF2B5EF4-FFF2-40B4-BE49-F238E27FC236}">
                <a16:creationId xmlns:a16="http://schemas.microsoft.com/office/drawing/2014/main" id="{5D58917A-CF7C-4ACC-A68E-C10382C5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724275"/>
            <a:ext cx="1695450" cy="4572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E2489B"/>
            </a:solidFill>
          </a:ln>
        </p:spPr>
      </p:sp>
      <p:sp>
        <p:nvSpPr>
          <p:cNvPr id="22" name="hf-1109">
            <a:extLst xmlns:a="http://schemas.openxmlformats.org/drawingml/2006/main">
              <a:ext uri="{FF2B5EF4-FFF2-40B4-BE49-F238E27FC236}">
                <a16:creationId xmlns:a16="http://schemas.microsoft.com/office/drawing/2014/main" id="{6788FE0C-AB2D-4594-B382-F7507F5D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000375"/>
            <a:ext cx="1019175" cy="666750"/>
          </a:xfrm>
          <a:custGeom xmlns:a="http://schemas.openxmlformats.org/drawingml/2006/main">
            <a:pathLst>
              <a:path w="1019175" h="666750">
                <a:moveTo>
                  <a:pt x="0" y="0"/>
                </a:moveTo>
                <a:lnTo>
                  <a:pt x="1019175" y="0"/>
                </a:lnTo>
                <a:lnTo>
                  <a:pt x="1019175" y="6667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E2489B"/>
            </a:solidFill>
          </a:ln>
        </p:spPr>
      </p:sp>
      <p:sp>
        <p:nvSpPr>
          <p:cNvPr id="23" name="hf-1110">
            <a:extLst xmlns:a="http://schemas.openxmlformats.org/drawingml/2006/main">
              <a:ext uri="{FF2B5EF4-FFF2-40B4-BE49-F238E27FC236}">
                <a16:creationId xmlns:a16="http://schemas.microsoft.com/office/drawing/2014/main" id="{D9F31CFB-1A8C-4D9B-A02A-C73AE2EE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337" y="1386269"/>
            <a:ext cx="355402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20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42</a:t>
            </a:r>
          </a:p>
        </p:txBody>
      </p:sp>
      <p:sp>
        <p:nvSpPr>
          <p:cNvPr id="24" name="hf-1111">
            <a:extLst xmlns:a="http://schemas.openxmlformats.org/drawingml/2006/main">
              <a:ext uri="{FF2B5EF4-FFF2-40B4-BE49-F238E27FC236}">
                <a16:creationId xmlns:a16="http://schemas.microsoft.com/office/drawing/2014/main" id="{EAD73627-B75D-4084-B1F0-A36E9FB9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819" y="1345883"/>
            <a:ext cx="1433438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20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hash(42) % 8</a:t>
            </a:r>
          </a:p>
        </p:txBody>
      </p:sp>
      <p:sp>
        <p:nvSpPr>
          <p:cNvPr id="25" name="hf-1112">
            <a:extLst xmlns:a="http://schemas.openxmlformats.org/drawingml/2006/main">
              <a:ext uri="{FF2B5EF4-FFF2-40B4-BE49-F238E27FC236}">
                <a16:creationId xmlns:a16="http://schemas.microsoft.com/office/drawing/2014/main" id="{C07A7F07-23D7-4DDC-BB9B-2CB850D4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531" y="2058238"/>
            <a:ext cx="48093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ключ</a:t>
            </a:r>
          </a:p>
        </p:txBody>
      </p:sp>
      <p:sp>
        <p:nvSpPr>
          <p:cNvPr id="26" name="hf-1113">
            <a:extLst xmlns:a="http://schemas.openxmlformats.org/drawingml/2006/main">
              <a:ext uri="{FF2B5EF4-FFF2-40B4-BE49-F238E27FC236}">
                <a16:creationId xmlns:a16="http://schemas.microsoft.com/office/drawing/2014/main" id="{90FAEFBB-ECFA-4391-B11E-13FD36AD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5636" y="2058238"/>
            <a:ext cx="1221879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номер ячейки</a:t>
            </a:r>
          </a:p>
        </p:txBody>
      </p:sp>
      <p:sp>
        <p:nvSpPr>
          <p:cNvPr id="27" name="hf-1114">
            <a:extLst xmlns:a="http://schemas.openxmlformats.org/drawingml/2006/main">
              <a:ext uri="{FF2B5EF4-FFF2-40B4-BE49-F238E27FC236}">
                <a16:creationId xmlns:a16="http://schemas.microsoft.com/office/drawing/2014/main" id="{4F24CF5E-3920-4F0B-92A9-0667D4D6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7438" y="2058238"/>
            <a:ext cx="1651769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8 ячеек-указателей</a:t>
            </a:r>
          </a:p>
        </p:txBody>
      </p:sp>
      <p:sp>
        <p:nvSpPr>
          <p:cNvPr id="28" name="hf-1115">
            <a:extLst xmlns:a="http://schemas.openxmlformats.org/drawingml/2006/main">
              <a:ext uri="{FF2B5EF4-FFF2-40B4-BE49-F238E27FC236}">
                <a16:creationId xmlns:a16="http://schemas.microsoft.com/office/drawing/2014/main" id="{DEA95B17-8826-4768-AD5A-35CA040E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639" y="2660332"/>
            <a:ext cx="1089422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5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42 </a:t>
            </a:r>
            <a:r>
              <a:rPr sz="1500" b="1" i="0">
                <a:solidFill>
                  <a:srgbClr val="BDBDBD"/>
                </a:solidFill>
                <a:latin typeface="Menlo"/>
                <a:ea typeface="Menlo"/>
                <a:cs typeface="Menlo"/>
              </a:rPr>
              <a:t>· next</a:t>
            </a:r>
          </a:p>
        </p:txBody>
      </p:sp>
      <p:sp>
        <p:nvSpPr>
          <p:cNvPr id="29" name="hf-1116">
            <a:extLst xmlns:a="http://schemas.openxmlformats.org/drawingml/2006/main">
              <a:ext uri="{FF2B5EF4-FFF2-40B4-BE49-F238E27FC236}">
                <a16:creationId xmlns:a16="http://schemas.microsoft.com/office/drawing/2014/main" id="{66C3A5A7-EC4A-4075-9D32-7DF50B9C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9114" y="3612832"/>
            <a:ext cx="1089422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5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50 </a:t>
            </a:r>
            <a:r>
              <a:rPr sz="1500" b="1" i="0">
                <a:solidFill>
                  <a:srgbClr val="BDBDBD"/>
                </a:solidFill>
                <a:latin typeface="Menlo"/>
                <a:ea typeface="Menlo"/>
                <a:cs typeface="Menlo"/>
              </a:rPr>
              <a:t>· next</a:t>
            </a:r>
          </a:p>
        </p:txBody>
      </p:sp>
      <p:sp>
        <p:nvSpPr>
          <p:cNvPr id="30" name="hf-1117">
            <a:extLst xmlns:a="http://schemas.openxmlformats.org/drawingml/2006/main">
              <a:ext uri="{FF2B5EF4-FFF2-40B4-BE49-F238E27FC236}">
                <a16:creationId xmlns:a16="http://schemas.microsoft.com/office/drawing/2014/main" id="{5EF235D3-C37F-4E45-8F67-53290888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816" y="3848938"/>
            <a:ext cx="1697459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коллизия → цепочка</a:t>
            </a:r>
          </a:p>
        </p:txBody>
      </p:sp>
      <p:sp>
        <p:nvSpPr>
          <p:cNvPr id="31" name="hf-1118">
            <a:extLst xmlns:a="http://schemas.openxmlformats.org/drawingml/2006/main">
              <a:ext uri="{FF2B5EF4-FFF2-40B4-BE49-F238E27FC236}">
                <a16:creationId xmlns:a16="http://schemas.microsoft.com/office/drawing/2014/main" id="{00CEED8F-C613-4D05-BB5F-168397A0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784767"/>
            <a:ext cx="3551113" cy="499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780"/>
              </a:lnSpc>
              <a:buNone/>
            </a:pPr>
            <a:r>
              <a:rPr sz="3600" b="1" i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</a:rPr>
              <a:t>1 ключ = 1 new</a:t>
            </a:r>
          </a:p>
        </p:txBody>
      </p:sp>
      <p:sp>
        <p:nvSpPr>
          <p:cNvPr id="32" name="hf-1119">
            <a:extLst xmlns:a="http://schemas.openxmlformats.org/drawingml/2006/main">
              <a:ext uri="{FF2B5EF4-FFF2-40B4-BE49-F238E27FC236}">
                <a16:creationId xmlns:a16="http://schemas.microsoft.com/office/drawing/2014/main" id="{1B919151-95F5-40B4-8388-37563A87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84804"/>
            <a:ext cx="4075137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каждый узел — отдельный кусок памяти</a:t>
            </a:r>
          </a:p>
        </p:txBody>
      </p:sp>
      <p:sp>
        <p:nvSpPr>
          <p:cNvPr id="33" name="hf-1120">
            <a:extLst xmlns:a="http://schemas.openxmlformats.org/drawingml/2006/main">
              <a:ext uri="{FF2B5EF4-FFF2-40B4-BE49-F238E27FC236}">
                <a16:creationId xmlns:a16="http://schemas.microsoft.com/office/drawing/2014/main" id="{58C332CC-C676-4E88-B80C-6002F190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651504"/>
            <a:ext cx="4120604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00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шаг по цепочке — переход по указателю</a:t>
            </a:r>
          </a:p>
        </p:txBody>
      </p:sp>
      <p:pic>
        <p:nvPicPr>
          <p:cNvPr id="34" name="hf-1121">
            <a:extLst xmlns:a="http://schemas.openxmlformats.org/drawingml/2006/main">
              <a:ext uri="{FF2B5EF4-FFF2-40B4-BE49-F238E27FC236}">
                <a16:creationId xmlns:a16="http://schemas.microsoft.com/office/drawing/2014/main" id="{015F190A-7244-421E-84B2-C1CD949BE4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2eadef7b89446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35" name="hf-1122">
            <a:extLst xmlns:a="http://schemas.openxmlformats.org/drawingml/2006/main">
              <a:ext uri="{FF2B5EF4-FFF2-40B4-BE49-F238E27FC236}">
                <a16:creationId xmlns:a16="http://schemas.microsoft.com/office/drawing/2014/main" id="{78D4A7F8-B5A8-4B25-9CC8-810B5BBA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60145432"/>
      </p:ext>
    </p:extLst>
  </p:cSld>
</p:sld>
</file>

<file path=ppt/slides/slide45.xml><?xml version="1.0" encoding="utf-8"?>
<p:sld xmlns:p="http://schemas.openxmlformats.org/presentationml/2006/main" show="0">
  <p:cSld name="reserve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1123">
            <a:extLst xmlns:a="http://schemas.openxmlformats.org/drawingml/2006/main">
              <a:ext uri="{FF2B5EF4-FFF2-40B4-BE49-F238E27FC236}">
                <a16:creationId xmlns:a16="http://schemas.microsoft.com/office/drawing/2014/main" id="{B0CC9820-AAA7-46BA-9729-88437F146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7952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BACKUP · ДЛЯ ВОПРОСОВ</a:t>
            </a:r>
          </a:p>
        </p:txBody>
      </p:sp>
      <p:sp>
        <p:nvSpPr>
          <p:cNvPr id="3" name="hf-1124">
            <a:extLst xmlns:a="http://schemas.openxmlformats.org/drawingml/2006/main">
              <a:ext uri="{FF2B5EF4-FFF2-40B4-BE49-F238E27FC236}">
                <a16:creationId xmlns:a16="http://schemas.microsoft.com/office/drawing/2014/main" id="{E29A67AA-2328-4AB7-8823-2F47CAE7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834560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reserve(N) — ТОЖЕ РЕШЕНИЕ, И ОНО СТОИТ</a:t>
            </a:r>
          </a:p>
        </p:txBody>
      </p:sp>
      <p:sp>
        <p:nvSpPr>
          <p:cNvPr id="4" name="hf-1125">
            <a:extLst xmlns:a="http://schemas.openxmlformats.org/drawingml/2006/main">
              <a:ext uri="{FF2B5EF4-FFF2-40B4-BE49-F238E27FC236}">
                <a16:creationId xmlns:a16="http://schemas.microsoft.com/office/drawing/2014/main" id="{83125CC6-1EE5-42BD-BD88-67AE52B0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1393999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ПАМЯТИ</a:t>
            </a:r>
          </a:p>
        </p:txBody>
      </p:sp>
      <p:sp>
        <p:nvSpPr>
          <p:cNvPr id="5" name="hf-1126">
            <a:extLst xmlns:a="http://schemas.openxmlformats.org/drawingml/2006/main">
              <a:ext uri="{FF2B5EF4-FFF2-40B4-BE49-F238E27FC236}">
                <a16:creationId xmlns:a16="http://schemas.microsoft.com/office/drawing/2014/main" id="{E114071E-8B74-4640-A242-9B35D60E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01013"/>
            <a:ext cx="519626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flat_hash_set · N = 2^20 · 1% уникальных · нс на элемент · M2 Pro</a:t>
            </a:r>
          </a:p>
        </p:txBody>
      </p:sp>
      <p:sp>
        <p:nvSpPr>
          <p:cNvPr id="6" name="hf-1127">
            <a:extLst xmlns:a="http://schemas.openxmlformats.org/drawingml/2006/main">
              <a:ext uri="{FF2B5EF4-FFF2-40B4-BE49-F238E27FC236}">
                <a16:creationId xmlns:a16="http://schemas.microsoft.com/office/drawing/2014/main" id="{ADC335CF-793E-4976-93F5-543464B6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733550"/>
            <a:ext cx="266700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7" name="hf-1128">
            <a:extLst xmlns:a="http://schemas.openxmlformats.org/drawingml/2006/main">
              <a:ext uri="{FF2B5EF4-FFF2-40B4-BE49-F238E27FC236}">
                <a16:creationId xmlns:a16="http://schemas.microsoft.com/office/drawing/2014/main" id="{CD91E4C2-F913-4F49-B3E2-4E562FC2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1889379"/>
            <a:ext cx="13708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 </a:t>
            </a: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reserve(N)</a:t>
            </a:r>
          </a:p>
        </p:txBody>
      </p:sp>
      <p:sp>
        <p:nvSpPr>
          <p:cNvPr id="8" name="hf-1129">
            <a:extLst xmlns:a="http://schemas.openxmlformats.org/drawingml/2006/main">
              <a:ext uri="{FF2B5EF4-FFF2-40B4-BE49-F238E27FC236}">
                <a16:creationId xmlns:a16="http://schemas.microsoft.com/office/drawing/2014/main" id="{60C9C622-7092-4781-9BC0-0235B6F1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2375916"/>
            <a:ext cx="1380232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6000"/>
              </a:lnSpc>
              <a:buNone/>
            </a:pPr>
            <a:r>
              <a:rPr sz="60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3,6 </a:t>
            </a:r>
          </a:p>
        </p:txBody>
      </p:sp>
      <p:sp>
        <p:nvSpPr>
          <p:cNvPr id="9" name="hf-1130">
            <a:extLst xmlns:a="http://schemas.openxmlformats.org/drawingml/2006/main">
              <a:ext uri="{FF2B5EF4-FFF2-40B4-BE49-F238E27FC236}">
                <a16:creationId xmlns:a16="http://schemas.microsoft.com/office/drawing/2014/main" id="{7E5587CD-F264-4823-9D4B-C232FF4C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8895" y="2266036"/>
            <a:ext cx="405631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6000"/>
              </a:lnSpc>
              <a:buNone/>
            </a:pPr>
            <a:r>
              <a:rPr sz="21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нс</a:t>
            </a:r>
          </a:p>
        </p:txBody>
      </p:sp>
      <p:sp>
        <p:nvSpPr>
          <p:cNvPr id="10" name="hf-1131">
            <a:extLst xmlns:a="http://schemas.openxmlformats.org/drawingml/2006/main">
              <a:ext uri="{FF2B5EF4-FFF2-40B4-BE49-F238E27FC236}">
                <a16:creationId xmlns:a16="http://schemas.microsoft.com/office/drawing/2014/main" id="{F40CAA12-BFE5-4387-AD94-8F64ED00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3225937"/>
            <a:ext cx="1440582" cy="22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8"/>
              </a:lnSpc>
              <a:buNone/>
            </a:pPr>
            <a:r>
              <a:rPr sz="1275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18,9 МБ таблицы</a:t>
            </a:r>
          </a:p>
        </p:txBody>
      </p:sp>
      <p:sp>
        <p:nvSpPr>
          <p:cNvPr id="11" name="hf-1132">
            <a:extLst xmlns:a="http://schemas.openxmlformats.org/drawingml/2006/main">
              <a:ext uri="{FF2B5EF4-FFF2-40B4-BE49-F238E27FC236}">
                <a16:creationId xmlns:a16="http://schemas.microsoft.com/office/drawing/2014/main" id="{256F2247-0CDB-425A-B396-1428FE0C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4713" y="1733550"/>
            <a:ext cx="266700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2" name="hf-1133">
            <a:extLst xmlns:a="http://schemas.openxmlformats.org/drawingml/2006/main">
              <a:ext uri="{FF2B5EF4-FFF2-40B4-BE49-F238E27FC236}">
                <a16:creationId xmlns:a16="http://schemas.microsoft.com/office/drawing/2014/main" id="{1159F91B-4DDE-415F-9016-F3FC85C4D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1889379"/>
            <a:ext cx="127173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1" i="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без </a:t>
            </a:r>
            <a:r>
              <a:rPr sz="1500" b="1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reserve</a:t>
            </a:r>
          </a:p>
        </p:txBody>
      </p:sp>
      <p:sp>
        <p:nvSpPr>
          <p:cNvPr id="13" name="hf-1134">
            <a:extLst xmlns:a="http://schemas.openxmlformats.org/drawingml/2006/main">
              <a:ext uri="{FF2B5EF4-FFF2-40B4-BE49-F238E27FC236}">
                <a16:creationId xmlns:a16="http://schemas.microsoft.com/office/drawing/2014/main" id="{EC4E39C5-4234-4613-8370-231074A0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375916"/>
            <a:ext cx="1395636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6000"/>
              </a:lnSpc>
              <a:buNone/>
            </a:pPr>
            <a:r>
              <a:rPr sz="60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2,9 </a:t>
            </a:r>
          </a:p>
        </p:txBody>
      </p:sp>
      <p:sp>
        <p:nvSpPr>
          <p:cNvPr id="14" name="hf-1135">
            <a:extLst xmlns:a="http://schemas.openxmlformats.org/drawingml/2006/main">
              <a:ext uri="{FF2B5EF4-FFF2-40B4-BE49-F238E27FC236}">
                <a16:creationId xmlns:a16="http://schemas.microsoft.com/office/drawing/2014/main" id="{F02E54F6-BC58-4358-9D38-A7629B49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798" y="2266036"/>
            <a:ext cx="405631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6000"/>
              </a:lnSpc>
              <a:buNone/>
            </a:pPr>
            <a:r>
              <a:rPr sz="210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нс</a:t>
            </a:r>
          </a:p>
        </p:txBody>
      </p:sp>
      <p:sp>
        <p:nvSpPr>
          <p:cNvPr id="15" name="hf-1136">
            <a:extLst xmlns:a="http://schemas.openxmlformats.org/drawingml/2006/main">
              <a:ext uri="{FF2B5EF4-FFF2-40B4-BE49-F238E27FC236}">
                <a16:creationId xmlns:a16="http://schemas.microsoft.com/office/drawing/2014/main" id="{85BF2794-AF51-461E-A688-2484751F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3225937"/>
            <a:ext cx="1417290" cy="22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8"/>
              </a:lnSpc>
              <a:buNone/>
            </a:pPr>
            <a:r>
              <a:rPr sz="1275" b="0" i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0,3 МБ таблицы</a:t>
            </a:r>
          </a:p>
        </p:txBody>
      </p:sp>
      <p:sp>
        <p:nvSpPr>
          <p:cNvPr id="16" name="hf-1137">
            <a:extLst xmlns:a="http://schemas.openxmlformats.org/drawingml/2006/main">
              <a:ext uri="{FF2B5EF4-FFF2-40B4-BE49-F238E27FC236}">
                <a16:creationId xmlns:a16="http://schemas.microsoft.com/office/drawing/2014/main" id="{FF22C915-58FA-4E91-AD66-796D6A970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7202" y="1966341"/>
            <a:ext cx="1506736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6000"/>
              </a:lnSpc>
              <a:buNone/>
            </a:pPr>
            <a:r>
              <a:rPr sz="60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×64</a:t>
            </a:r>
          </a:p>
        </p:txBody>
      </p:sp>
      <p:sp>
        <p:nvSpPr>
          <p:cNvPr id="17" name="hf-1138">
            <a:extLst xmlns:a="http://schemas.openxmlformats.org/drawingml/2006/main">
              <a:ext uri="{FF2B5EF4-FFF2-40B4-BE49-F238E27FC236}">
                <a16:creationId xmlns:a16="http://schemas.microsoft.com/office/drawing/2014/main" id="{430D10AF-3FFF-46F7-B2B5-FFDAEA0D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0842" y="2753982"/>
            <a:ext cx="95309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памяти</a:t>
            </a:r>
          </a:p>
        </p:txBody>
      </p:sp>
      <p:sp>
        <p:nvSpPr>
          <p:cNvPr id="18" name="hf-1139">
            <a:extLst xmlns:a="http://schemas.openxmlformats.org/drawingml/2006/main">
              <a:ext uri="{FF2B5EF4-FFF2-40B4-BE49-F238E27FC236}">
                <a16:creationId xmlns:a16="http://schemas.microsoft.com/office/drawing/2014/main" id="{8113CF29-44FD-432A-AB90-B7DEB5DF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7344" y="3086938"/>
            <a:ext cx="155659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по точным байтам</a:t>
            </a:r>
          </a:p>
        </p:txBody>
      </p:sp>
      <p:sp>
        <p:nvSpPr>
          <p:cNvPr id="19" name="hf-1140">
            <a:extLst xmlns:a="http://schemas.openxmlformats.org/drawingml/2006/main">
              <a:ext uri="{FF2B5EF4-FFF2-40B4-BE49-F238E27FC236}">
                <a16:creationId xmlns:a16="http://schemas.microsoft.com/office/drawing/2014/main" id="{92CA2CA6-2F9C-43D0-AF16-68D880E5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951694"/>
            <a:ext cx="3446711" cy="369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60"/>
              </a:lnSpc>
              <a:buNone/>
            </a:pPr>
            <a:r>
              <a:rPr sz="24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N мы знаем, </a:t>
            </a:r>
            <a:r>
              <a:rPr sz="240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U — нет</a:t>
            </a:r>
          </a:p>
        </p:txBody>
      </p:sp>
      <p:pic>
        <p:nvPicPr>
          <p:cNvPr id="20" name="hf-1141">
            <a:extLst xmlns:a="http://schemas.openxmlformats.org/drawingml/2006/main">
              <a:ext uri="{FF2B5EF4-FFF2-40B4-BE49-F238E27FC236}">
                <a16:creationId xmlns:a16="http://schemas.microsoft.com/office/drawing/2014/main" id="{3B5FC93B-89C0-479C-87F6-09A94FC9EC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b9c4bee34a447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1" name="hf-1142">
            <a:extLst xmlns:a="http://schemas.openxmlformats.org/drawingml/2006/main">
              <a:ext uri="{FF2B5EF4-FFF2-40B4-BE49-F238E27FC236}">
                <a16:creationId xmlns:a16="http://schemas.microsoft.com/office/drawing/2014/main" id="{C3E49CB0-5675-4AFB-8B5C-58D82A05E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220818603"/>
      </p:ext>
    </p:extLst>
  </p:cSld>
</p:sld>
</file>

<file path=ppt/slides/slide46.xml><?xml version="1.0" encoding="utf-8"?>
<p:sld xmlns:p="http://schemas.openxmlformats.org/presentationml/2006/main" show="0">
  <p:cSld name="checklist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1143">
            <a:extLst xmlns:a="http://schemas.openxmlformats.org/drawingml/2006/main">
              <a:ext uri="{FF2B5EF4-FFF2-40B4-BE49-F238E27FC236}">
                <a16:creationId xmlns:a16="http://schemas.microsoft.com/office/drawing/2014/main" id="{18BC3090-ED33-4644-BECF-F3DE985C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7952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BACKUP · ДЛЯ ВОПРОСОВ</a:t>
            </a:r>
          </a:p>
        </p:txBody>
      </p:sp>
      <p:sp>
        <p:nvSpPr>
          <p:cNvPr id="3" name="hf-1144">
            <a:extLst xmlns:a="http://schemas.openxmlformats.org/drawingml/2006/main">
              <a:ext uri="{FF2B5EF4-FFF2-40B4-BE49-F238E27FC236}">
                <a16:creationId xmlns:a16="http://schemas.microsoft.com/office/drawing/2014/main" id="{08862CAF-EE0F-4BDE-8F02-F5035399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284416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ЧЕСТНЫЙ ЗАМЕР — ВОСЕМЬ ПРОВЕРОК</a:t>
            </a:r>
          </a:p>
        </p:txBody>
      </p:sp>
      <p:sp>
        <p:nvSpPr>
          <p:cNvPr id="4" name="hf-1145">
            <a:extLst xmlns:a="http://schemas.openxmlformats.org/drawingml/2006/main">
              <a:ext uri="{FF2B5EF4-FFF2-40B4-BE49-F238E27FC236}">
                <a16:creationId xmlns:a16="http://schemas.microsoft.com/office/drawing/2014/main" id="{44032834-92DF-48F9-9E10-8625BB40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2015877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ДО ВЫВОДА</a:t>
            </a:r>
          </a:p>
        </p:txBody>
      </p:sp>
      <p:sp>
        <p:nvSpPr>
          <p:cNvPr id="5" name="hf-1146">
            <a:extLst xmlns:a="http://schemas.openxmlformats.org/drawingml/2006/main">
              <a:ext uri="{FF2B5EF4-FFF2-40B4-BE49-F238E27FC236}">
                <a16:creationId xmlns:a16="http://schemas.microsoft.com/office/drawing/2014/main" id="{B5B9AF38-E57B-47E1-94AB-E0AD0813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20606"/>
            <a:ext cx="2015207" cy="197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406"/>
              </a:lnSpc>
              <a:buNone/>
            </a:pPr>
            <a:r>
              <a:rPr sz="112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ОДИНАКОВАЯ ЗАДАЧА</a:t>
            </a:r>
          </a:p>
        </p:txBody>
      </p:sp>
      <p:sp>
        <p:nvSpPr>
          <p:cNvPr id="6" name="hf-1147">
            <a:extLst xmlns:a="http://schemas.openxmlformats.org/drawingml/2006/main">
              <a:ext uri="{FF2B5EF4-FFF2-40B4-BE49-F238E27FC236}">
                <a16:creationId xmlns:a16="http://schemas.microsoft.com/office/drawing/2014/main" id="{83EBECC0-3EDC-4EC0-A1E0-91202E96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688687"/>
            <a:ext cx="172789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22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7" name="hf-1148">
            <a:extLst xmlns:a="http://schemas.openxmlformats.org/drawingml/2006/main">
              <a:ext uri="{FF2B5EF4-FFF2-40B4-BE49-F238E27FC236}">
                <a16:creationId xmlns:a16="http://schemas.microsoft.com/office/drawing/2014/main" id="{29D8979E-57C9-4596-AFCC-F18D554D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3" y="1682753"/>
            <a:ext cx="2344192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Контракт — до таймера</a:t>
            </a:r>
          </a:p>
        </p:txBody>
      </p:sp>
      <p:sp>
        <p:nvSpPr>
          <p:cNvPr id="8" name="hf-1149">
            <a:extLst xmlns:a="http://schemas.openxmlformats.org/drawingml/2006/main">
              <a:ext uri="{FF2B5EF4-FFF2-40B4-BE49-F238E27FC236}">
                <a16:creationId xmlns:a16="http://schemas.microsoft.com/office/drawing/2014/main" id="{B77F67EE-DBDB-41E5-8532-361DD008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050637"/>
            <a:ext cx="22822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22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9" name="hf-1150">
            <a:extLst xmlns:a="http://schemas.openxmlformats.org/drawingml/2006/main">
              <a:ext uri="{FF2B5EF4-FFF2-40B4-BE49-F238E27FC236}">
                <a16:creationId xmlns:a16="http://schemas.microsoft.com/office/drawing/2014/main" id="{F703D205-29B4-407D-AA39-2C70671B1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3" y="2044703"/>
            <a:ext cx="234977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Все проходят проверку</a:t>
            </a:r>
          </a:p>
        </p:txBody>
      </p:sp>
      <p:sp>
        <p:nvSpPr>
          <p:cNvPr id="10" name="hf-1151">
            <a:extLst xmlns:a="http://schemas.openxmlformats.org/drawingml/2006/main">
              <a:ext uri="{FF2B5EF4-FFF2-40B4-BE49-F238E27FC236}">
                <a16:creationId xmlns:a16="http://schemas.microsoft.com/office/drawing/2014/main" id="{7567CACB-0973-4979-BDD6-85B3DCFA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496931"/>
            <a:ext cx="2638351" cy="197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406"/>
              </a:lnSpc>
              <a:buNone/>
            </a:pPr>
            <a:r>
              <a:rPr sz="112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ПРОВЕРЕННЫЕ КОД И ВХОДЫ</a:t>
            </a:r>
          </a:p>
        </p:txBody>
      </p:sp>
      <p:sp>
        <p:nvSpPr>
          <p:cNvPr id="11" name="hf-1152">
            <a:extLst xmlns:a="http://schemas.openxmlformats.org/drawingml/2006/main">
              <a:ext uri="{FF2B5EF4-FFF2-40B4-BE49-F238E27FC236}">
                <a16:creationId xmlns:a16="http://schemas.microsoft.com/office/drawing/2014/main" id="{99E53880-32FB-4F1F-AFF9-32CBA45D3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765012"/>
            <a:ext cx="229344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22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2" name="hf-1153">
            <a:extLst xmlns:a="http://schemas.openxmlformats.org/drawingml/2006/main">
              <a:ext uri="{FF2B5EF4-FFF2-40B4-BE49-F238E27FC236}">
                <a16:creationId xmlns:a16="http://schemas.microsoft.com/office/drawing/2014/main" id="{5DFB5333-90B5-4890-AD24-37BD266B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3" y="2759078"/>
            <a:ext cx="305998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Разные входы, не один массив</a:t>
            </a:r>
          </a:p>
        </p:txBody>
      </p:sp>
      <p:sp>
        <p:nvSpPr>
          <p:cNvPr id="13" name="hf-1154">
            <a:extLst xmlns:a="http://schemas.openxmlformats.org/drawingml/2006/main">
              <a:ext uri="{FF2B5EF4-FFF2-40B4-BE49-F238E27FC236}">
                <a16:creationId xmlns:a16="http://schemas.microsoft.com/office/drawing/2014/main" id="{627441D4-B1B8-4A27-BE82-882EAD54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126962"/>
            <a:ext cx="257249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22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14" name="hf-1155">
            <a:extLst xmlns:a="http://schemas.openxmlformats.org/drawingml/2006/main">
              <a:ext uri="{FF2B5EF4-FFF2-40B4-BE49-F238E27FC236}">
                <a16:creationId xmlns:a16="http://schemas.microsoft.com/office/drawing/2014/main" id="{D6C4E6D4-2464-41E4-97C6-459902E1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3" y="3121028"/>
            <a:ext cx="266454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Свои N и доля уникальных</a:t>
            </a:r>
          </a:p>
        </p:txBody>
      </p:sp>
      <p:sp>
        <p:nvSpPr>
          <p:cNvPr id="15" name="hf-1156">
            <a:extLst xmlns:a="http://schemas.openxmlformats.org/drawingml/2006/main">
              <a:ext uri="{FF2B5EF4-FFF2-40B4-BE49-F238E27FC236}">
                <a16:creationId xmlns:a16="http://schemas.microsoft.com/office/drawing/2014/main" id="{0B6C4969-419D-409C-B23B-A0E6CE8E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20606"/>
            <a:ext cx="2284958" cy="197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406"/>
              </a:lnSpc>
              <a:buNone/>
            </a:pPr>
            <a:r>
              <a:rPr sz="112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ПОВТОРЕНИЯ И УСЛОВИЯ</a:t>
            </a:r>
          </a:p>
        </p:txBody>
      </p:sp>
      <p:sp>
        <p:nvSpPr>
          <p:cNvPr id="16" name="hf-1157">
            <a:extLst xmlns:a="http://schemas.openxmlformats.org/drawingml/2006/main">
              <a:ext uri="{FF2B5EF4-FFF2-40B4-BE49-F238E27FC236}">
                <a16:creationId xmlns:a16="http://schemas.microsoft.com/office/drawing/2014/main" id="{8A0C07FC-1D3B-4908-87A3-4B3E9A05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88687"/>
            <a:ext cx="23053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22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5</a:t>
            </a:r>
          </a:p>
        </p:txBody>
      </p:sp>
      <p:sp>
        <p:nvSpPr>
          <p:cNvPr id="17" name="hf-1158">
            <a:extLst xmlns:a="http://schemas.openxmlformats.org/drawingml/2006/main">
              <a:ext uri="{FF2B5EF4-FFF2-40B4-BE49-F238E27FC236}">
                <a16:creationId xmlns:a16="http://schemas.microsoft.com/office/drawing/2014/main" id="{D7EF40F0-7352-4C6B-B608-622236CD3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82753"/>
            <a:ext cx="235803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Чередование, медиана,</a:t>
            </a:r>
          </a:p>
        </p:txBody>
      </p:sp>
      <p:sp>
        <p:nvSpPr>
          <p:cNvPr id="18" name="hf-1159">
            <a:extLst xmlns:a="http://schemas.openxmlformats.org/drawingml/2006/main">
              <a:ext uri="{FF2B5EF4-FFF2-40B4-BE49-F238E27FC236}">
                <a16:creationId xmlns:a16="http://schemas.microsoft.com/office/drawing/2014/main" id="{16C1A6EB-6E5F-414B-9F38-AEF6FD5A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930403"/>
            <a:ext cx="2036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разброс, две сессии</a:t>
            </a:r>
          </a:p>
        </p:txBody>
      </p:sp>
      <p:sp>
        <p:nvSpPr>
          <p:cNvPr id="19" name="hf-1160">
            <a:extLst xmlns:a="http://schemas.openxmlformats.org/drawingml/2006/main">
              <a:ext uri="{FF2B5EF4-FFF2-40B4-BE49-F238E27FC236}">
                <a16:creationId xmlns:a16="http://schemas.microsoft.com/office/drawing/2014/main" id="{50A641E6-3A3C-431F-A991-BC03602F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07812"/>
            <a:ext cx="24259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22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6</a:t>
            </a:r>
          </a:p>
        </p:txBody>
      </p:sp>
      <p:sp>
        <p:nvSpPr>
          <p:cNvPr id="20" name="hf-1161">
            <a:extLst xmlns:a="http://schemas.openxmlformats.org/drawingml/2006/main">
              <a:ext uri="{FF2B5EF4-FFF2-40B4-BE49-F238E27FC236}">
                <a16:creationId xmlns:a16="http://schemas.microsoft.com/office/drawing/2014/main" id="{36FDB1AD-B20D-4010-AF67-78E39FB0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01878"/>
            <a:ext cx="24971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Компилятор, библиотека</a:t>
            </a:r>
          </a:p>
        </p:txBody>
      </p:sp>
      <p:sp>
        <p:nvSpPr>
          <p:cNvPr id="21" name="hf-1162">
            <a:extLst xmlns:a="http://schemas.openxmlformats.org/drawingml/2006/main">
              <a:ext uri="{FF2B5EF4-FFF2-40B4-BE49-F238E27FC236}">
                <a16:creationId xmlns:a16="http://schemas.microsoft.com/office/drawing/2014/main" id="{078E5A3A-10B5-45CC-9F6E-AAE8DEBB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49528"/>
            <a:ext cx="139719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и ОС — в логе</a:t>
            </a:r>
          </a:p>
        </p:txBody>
      </p:sp>
      <p:sp>
        <p:nvSpPr>
          <p:cNvPr id="22" name="hf-1163">
            <a:extLst xmlns:a="http://schemas.openxmlformats.org/drawingml/2006/main">
              <a:ext uri="{FF2B5EF4-FFF2-40B4-BE49-F238E27FC236}">
                <a16:creationId xmlns:a16="http://schemas.microsoft.com/office/drawing/2014/main" id="{7C3B585E-C38F-4831-BBE9-FBA4CC38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26937"/>
            <a:ext cx="23775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22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7</a:t>
            </a:r>
          </a:p>
        </p:txBody>
      </p:sp>
      <p:sp>
        <p:nvSpPr>
          <p:cNvPr id="23" name="hf-1164">
            <a:extLst xmlns:a="http://schemas.openxmlformats.org/drawingml/2006/main">
              <a:ext uri="{FF2B5EF4-FFF2-40B4-BE49-F238E27FC236}">
                <a16:creationId xmlns:a16="http://schemas.microsoft.com/office/drawing/2014/main" id="{1E801BCA-E869-46B6-A36E-E14F96C1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21003"/>
            <a:ext cx="250939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Устройство: модель, QoS,</a:t>
            </a:r>
          </a:p>
        </p:txBody>
      </p:sp>
      <p:sp>
        <p:nvSpPr>
          <p:cNvPr id="24" name="hf-1165">
            <a:extLst xmlns:a="http://schemas.openxmlformats.org/drawingml/2006/main">
              <a:ext uri="{FF2B5EF4-FFF2-40B4-BE49-F238E27FC236}">
                <a16:creationId xmlns:a16="http://schemas.microsoft.com/office/drawing/2014/main" id="{7C278E7A-18B1-4324-9822-0EF475FC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68653"/>
            <a:ext cx="139243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425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заряд, нагрев</a:t>
            </a:r>
          </a:p>
        </p:txBody>
      </p:sp>
      <p:sp>
        <p:nvSpPr>
          <p:cNvPr id="25" name="hf-1166">
            <a:extLst xmlns:a="http://schemas.openxmlformats.org/drawingml/2006/main">
              <a:ext uri="{FF2B5EF4-FFF2-40B4-BE49-F238E27FC236}">
                <a16:creationId xmlns:a16="http://schemas.microsoft.com/office/drawing/2014/main" id="{6D43268A-EF2A-4A09-8C15-66E486AB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676650"/>
            <a:ext cx="8029575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26" name="hf-1167">
            <a:extLst xmlns:a="http://schemas.openxmlformats.org/drawingml/2006/main">
              <a:ext uri="{FF2B5EF4-FFF2-40B4-BE49-F238E27FC236}">
                <a16:creationId xmlns:a16="http://schemas.microsoft.com/office/drawing/2014/main" id="{33C111BC-370D-47C0-9E60-E9976621D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3758517"/>
            <a:ext cx="2793057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73"/>
              </a:lnSpc>
              <a:buNone/>
            </a:pPr>
            <a:r>
              <a:rPr sz="1125" b="0" i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</a:rPr>
              <a:t>ВЫВОДЫ В ПРЕДЕЛАХ ДАННЫХ</a:t>
            </a:r>
          </a:p>
        </p:txBody>
      </p:sp>
      <p:sp>
        <p:nvSpPr>
          <p:cNvPr id="27" name="hf-1168">
            <a:extLst xmlns:a="http://schemas.openxmlformats.org/drawingml/2006/main">
              <a:ext uri="{FF2B5EF4-FFF2-40B4-BE49-F238E27FC236}">
                <a16:creationId xmlns:a16="http://schemas.microsoft.com/office/drawing/2014/main" id="{888169D9-88B7-498A-A04F-CED8133E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3974687"/>
            <a:ext cx="24824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225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8</a:t>
            </a:r>
          </a:p>
        </p:txBody>
      </p:sp>
      <p:sp>
        <p:nvSpPr>
          <p:cNvPr id="28" name="hf-1169">
            <a:extLst xmlns:a="http://schemas.openxmlformats.org/drawingml/2006/main">
              <a:ext uri="{FF2B5EF4-FFF2-40B4-BE49-F238E27FC236}">
                <a16:creationId xmlns:a16="http://schemas.microsoft.com/office/drawing/2014/main" id="{5FABC917-9251-4186-AEE8-C8480056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6813" y="3931406"/>
            <a:ext cx="4533007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00"/>
              </a:lnSpc>
              <a:buNone/>
            </a:pPr>
            <a:r>
              <a:rPr sz="1650" b="1" i="0">
                <a:solidFill>
                  <a:srgbClr val="000000"/>
                </a:solidFill>
                <a:latin typeface="Montserrat ExtraBold"/>
                <a:ea typeface="Montserrat ExtraBold"/>
                <a:cs typeface="Montserrat ExtraBold"/>
              </a:rPr>
              <a:t>Факт отдельно от гипотезы о причине</a:t>
            </a:r>
          </a:p>
        </p:txBody>
      </p:sp>
      <p:pic>
        <p:nvPicPr>
          <p:cNvPr id="29" name="hf-1170">
            <a:extLst xmlns:a="http://schemas.openxmlformats.org/drawingml/2006/main">
              <a:ext uri="{FF2B5EF4-FFF2-40B4-BE49-F238E27FC236}">
                <a16:creationId xmlns:a16="http://schemas.microsoft.com/office/drawing/2014/main" id="{F7072E8E-D25F-4A5B-8A44-58F1386F88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ea5ec4a33143bd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30" name="hf-1171">
            <a:extLst xmlns:a="http://schemas.openxmlformats.org/drawingml/2006/main">
              <a:ext uri="{FF2B5EF4-FFF2-40B4-BE49-F238E27FC236}">
                <a16:creationId xmlns:a16="http://schemas.microsoft.com/office/drawing/2014/main" id="{149B9722-67D6-47BE-9483-5E5424C6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405378860"/>
      </p:ext>
    </p:extLst>
  </p:cSld>
</p:sld>
</file>

<file path=ppt/slides/slide47.xml><?xml version="1.0" encoding="utf-8"?>
<p:sld xmlns:p="http://schemas.openxmlformats.org/presentationml/2006/main" show="0">
  <p:cSld name="sums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1172">
            <a:extLst xmlns:a="http://schemas.openxmlformats.org/drawingml/2006/main">
              <a:ext uri="{FF2B5EF4-FFF2-40B4-BE49-F238E27FC236}">
                <a16:creationId xmlns:a16="http://schemas.microsoft.com/office/drawing/2014/main" id="{3FBC6A7E-DA54-4462-A8AD-07B4802A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227952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BACKUP · ДЛЯ ВОПРОСОВ</a:t>
            </a:r>
          </a:p>
        </p:txBody>
      </p:sp>
      <p:sp>
        <p:nvSpPr>
          <p:cNvPr id="3" name="hf-1173">
            <a:extLst xmlns:a="http://schemas.openxmlformats.org/drawingml/2006/main">
              <a:ext uri="{FF2B5EF4-FFF2-40B4-BE49-F238E27FC236}">
                <a16:creationId xmlns:a16="http://schemas.microsoft.com/office/drawing/2014/main" id="{C7B949F9-D789-47AB-9F4E-47F9AD74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509519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ШАГОВ У ХЕША МЕНЬШЕ, НО КАЖДЫЙ —</a:t>
            </a:r>
          </a:p>
        </p:txBody>
      </p:sp>
      <p:sp>
        <p:nvSpPr>
          <p:cNvPr id="4" name="hf-1174">
            <a:extLst xmlns:a="http://schemas.openxmlformats.org/drawingml/2006/main">
              <a:ext uri="{FF2B5EF4-FFF2-40B4-BE49-F238E27FC236}">
                <a16:creationId xmlns:a16="http://schemas.microsoft.com/office/drawing/2014/main" id="{1226E1EA-2AF5-4663-A64D-A487148E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5810994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АЛЛОКАЦИЯ ИЛИ ПРЫЖОК ПО УЗЛУ</a:t>
            </a:r>
          </a:p>
        </p:txBody>
      </p:sp>
      <p:sp>
        <p:nvSpPr>
          <p:cNvPr id="5" name="hf-1175">
            <a:extLst xmlns:a="http://schemas.openxmlformats.org/drawingml/2006/main">
              <a:ext uri="{FF2B5EF4-FFF2-40B4-BE49-F238E27FC236}">
                <a16:creationId xmlns:a16="http://schemas.microsoft.com/office/drawing/2014/main" id="{274F011E-988A-4159-AD4E-73AE0DDB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28750"/>
            <a:ext cx="38100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0">
            <a:noFill/>
          </a:ln>
        </p:spPr>
      </p:sp>
      <p:sp>
        <p:nvSpPr>
          <p:cNvPr id="6" name="hf-1176">
            <a:extLst xmlns:a="http://schemas.openxmlformats.org/drawingml/2006/main">
              <a:ext uri="{FF2B5EF4-FFF2-40B4-BE49-F238E27FC236}">
                <a16:creationId xmlns:a16="http://schemas.microsoft.com/office/drawing/2014/main" id="{12151A70-25A5-42C4-B350-C1B498B8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582407"/>
            <a:ext cx="1613297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sort + unique</a:t>
            </a:r>
          </a:p>
        </p:txBody>
      </p:sp>
      <p:sp>
        <p:nvSpPr>
          <p:cNvPr id="7" name="hf-1177">
            <a:extLst xmlns:a="http://schemas.openxmlformats.org/drawingml/2006/main">
              <a:ext uri="{FF2B5EF4-FFF2-40B4-BE49-F238E27FC236}">
                <a16:creationId xmlns:a16="http://schemas.microsoft.com/office/drawing/2014/main" id="{FB682D09-0F3D-4A4A-9090-0ACDCC07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029587"/>
            <a:ext cx="448791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500"/>
              </a:lnSpc>
              <a:buNone/>
            </a:pPr>
            <a:r>
              <a:rPr sz="45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0</a:t>
            </a:r>
          </a:p>
        </p:txBody>
      </p:sp>
      <p:sp>
        <p:nvSpPr>
          <p:cNvPr id="8" name="hf-1178">
            <a:extLst xmlns:a="http://schemas.openxmlformats.org/drawingml/2006/main">
              <a:ext uri="{FF2B5EF4-FFF2-40B4-BE49-F238E27FC236}">
                <a16:creationId xmlns:a16="http://schemas.microsoft.com/office/drawing/2014/main" id="{5FC1B0AB-850E-42BE-81EF-F00D2DEC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21656"/>
            <a:ext cx="1303809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аллокаций</a:t>
            </a:r>
          </a:p>
        </p:txBody>
      </p:sp>
      <p:sp>
        <p:nvSpPr>
          <p:cNvPr id="9" name="hf-1179">
            <a:extLst xmlns:a="http://schemas.openxmlformats.org/drawingml/2006/main">
              <a:ext uri="{FF2B5EF4-FFF2-40B4-BE49-F238E27FC236}">
                <a16:creationId xmlns:a16="http://schemas.microsoft.com/office/drawing/2014/main" id="{B3AFD585-A3FD-4EA4-817A-714DC5DB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689479"/>
            <a:ext cx="368811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~N·log₂N сравнений и перестановок</a:t>
            </a:r>
          </a:p>
        </p:txBody>
      </p:sp>
      <p:sp>
        <p:nvSpPr>
          <p:cNvPr id="10" name="hf-1180">
            <a:extLst xmlns:a="http://schemas.openxmlformats.org/drawingml/2006/main">
              <a:ext uri="{FF2B5EF4-FFF2-40B4-BE49-F238E27FC236}">
                <a16:creationId xmlns:a16="http://schemas.microsoft.com/office/drawing/2014/main" id="{4BAA9D91-7BB3-40D8-9875-8C126FDF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956179"/>
            <a:ext cx="2150566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один плотный буфер</a:t>
            </a:r>
          </a:p>
        </p:txBody>
      </p:sp>
      <p:sp>
        <p:nvSpPr>
          <p:cNvPr id="11" name="hf-1181">
            <a:extLst xmlns:a="http://schemas.openxmlformats.org/drawingml/2006/main">
              <a:ext uri="{FF2B5EF4-FFF2-40B4-BE49-F238E27FC236}">
                <a16:creationId xmlns:a16="http://schemas.microsoft.com/office/drawing/2014/main" id="{E65A6B39-468F-4F5A-81D9-64B1F79C4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6788" y="1428750"/>
            <a:ext cx="38100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489B"/>
          </a:solidFill>
          <a:ln xmlns:a="http://schemas.openxmlformats.org/drawingml/2006/main" w="0">
            <a:noFill/>
          </a:ln>
        </p:spPr>
      </p:sp>
      <p:sp>
        <p:nvSpPr>
          <p:cNvPr id="12" name="hf-1182">
            <a:extLst xmlns:a="http://schemas.openxmlformats.org/drawingml/2006/main">
              <a:ext uri="{FF2B5EF4-FFF2-40B4-BE49-F238E27FC236}">
                <a16:creationId xmlns:a16="http://schemas.microsoft.com/office/drawing/2014/main" id="{91A3E2EB-F2DB-4F25-A2D4-8725777C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6788" y="1582407"/>
            <a:ext cx="1776561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unordered_set</a:t>
            </a:r>
          </a:p>
        </p:txBody>
      </p:sp>
      <p:sp>
        <p:nvSpPr>
          <p:cNvPr id="13" name="hf-1183">
            <a:extLst xmlns:a="http://schemas.openxmlformats.org/drawingml/2006/main">
              <a:ext uri="{FF2B5EF4-FFF2-40B4-BE49-F238E27FC236}">
                <a16:creationId xmlns:a16="http://schemas.microsoft.com/office/drawing/2014/main" id="{6733A510-9CAA-4180-941B-3A8F4396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6788" y="2029587"/>
            <a:ext cx="506313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4500"/>
              </a:lnSpc>
              <a:buNone/>
            </a:pPr>
            <a:r>
              <a:rPr sz="4500" b="1" i="0">
                <a:solidFill>
                  <a:srgbClr val="E2489B"/>
                </a:solidFill>
                <a:latin typeface="Montserrat ExtraBold"/>
                <a:ea typeface="Montserrat ExtraBold"/>
                <a:cs typeface="Montserrat ExtraBold"/>
              </a:rPr>
              <a:t>U</a:t>
            </a:r>
          </a:p>
        </p:txBody>
      </p:sp>
      <p:sp>
        <p:nvSpPr>
          <p:cNvPr id="14" name="hf-1184">
            <a:extLst xmlns:a="http://schemas.openxmlformats.org/drawingml/2006/main">
              <a:ext uri="{FF2B5EF4-FFF2-40B4-BE49-F238E27FC236}">
                <a16:creationId xmlns:a16="http://schemas.microsoft.com/office/drawing/2014/main" id="{06C8D472-ADF0-41E6-82C6-D4B38F23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988306"/>
            <a:ext cx="1303809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аллокаций</a:t>
            </a:r>
          </a:p>
        </p:txBody>
      </p:sp>
      <p:sp>
        <p:nvSpPr>
          <p:cNvPr id="15" name="hf-1185">
            <a:extLst xmlns:a="http://schemas.openxmlformats.org/drawingml/2006/main">
              <a:ext uri="{FF2B5EF4-FFF2-40B4-BE49-F238E27FC236}">
                <a16:creationId xmlns:a16="http://schemas.microsoft.com/office/drawing/2014/main" id="{B53751B5-36C9-4354-8DFB-F04A05E5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255006"/>
            <a:ext cx="2208833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65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и U освобождений</a:t>
            </a:r>
          </a:p>
        </p:txBody>
      </p:sp>
      <p:sp>
        <p:nvSpPr>
          <p:cNvPr id="16" name="hf-1186">
            <a:extLst xmlns:a="http://schemas.openxmlformats.org/drawingml/2006/main">
              <a:ext uri="{FF2B5EF4-FFF2-40B4-BE49-F238E27FC236}">
                <a16:creationId xmlns:a16="http://schemas.microsoft.com/office/drawing/2014/main" id="{DDB0FA36-78CB-448A-8A82-8DE707EF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6788" y="2689479"/>
            <a:ext cx="3003128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хеш, ячейки, узлы, сравнения</a:t>
            </a:r>
          </a:p>
        </p:txBody>
      </p:sp>
      <p:sp>
        <p:nvSpPr>
          <p:cNvPr id="17" name="hf-1187">
            <a:extLst xmlns:a="http://schemas.openxmlformats.org/drawingml/2006/main">
              <a:ext uri="{FF2B5EF4-FFF2-40B4-BE49-F238E27FC236}">
                <a16:creationId xmlns:a16="http://schemas.microsoft.com/office/drawing/2014/main" id="{0F0F9933-0E95-4A6A-B674-464733A7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6788" y="2956179"/>
            <a:ext cx="2956099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обход таблицы при выгрузке</a:t>
            </a:r>
          </a:p>
        </p:txBody>
      </p:sp>
      <p:sp>
        <p:nvSpPr>
          <p:cNvPr id="18" name="hf-1188">
            <a:extLst xmlns:a="http://schemas.openxmlformats.org/drawingml/2006/main">
              <a:ext uri="{FF2B5EF4-FFF2-40B4-BE49-F238E27FC236}">
                <a16:creationId xmlns:a16="http://schemas.microsoft.com/office/drawing/2014/main" id="{079723B6-4DCE-4A48-83D3-84EECF39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448050"/>
            <a:ext cx="80295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19" name="hf-1189">
            <a:extLst xmlns:a="http://schemas.openxmlformats.org/drawingml/2006/main">
              <a:ext uri="{FF2B5EF4-FFF2-40B4-BE49-F238E27FC236}">
                <a16:creationId xmlns:a16="http://schemas.microsoft.com/office/drawing/2014/main" id="{565FD7C3-EA21-4CD7-9D34-8553A64F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572713"/>
            <a:ext cx="545045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N — сколько элементов на входе, U — сколько из них уникальных</a:t>
            </a:r>
          </a:p>
        </p:txBody>
      </p:sp>
      <p:sp>
        <p:nvSpPr>
          <p:cNvPr id="20" name="hf-1190">
            <a:extLst xmlns:a="http://schemas.openxmlformats.org/drawingml/2006/main">
              <a:ext uri="{FF2B5EF4-FFF2-40B4-BE49-F238E27FC236}">
                <a16:creationId xmlns:a16="http://schemas.microsoft.com/office/drawing/2014/main" id="{ACCBBE3F-BC75-4F21-AC22-8908FC73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857796"/>
            <a:ext cx="759789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70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log₂ 10⁶ ≈ 20: </a:t>
            </a:r>
            <a:r>
              <a:rPr sz="19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вопрос не в числе шагов, а </a:t>
            </a:r>
            <a:r>
              <a:rPr sz="19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в цене каждого</a:t>
            </a:r>
          </a:p>
        </p:txBody>
      </p:sp>
      <p:pic>
        <p:nvPicPr>
          <p:cNvPr id="21" name="hf-1191">
            <a:extLst xmlns:a="http://schemas.openxmlformats.org/drawingml/2006/main">
              <a:ext uri="{FF2B5EF4-FFF2-40B4-BE49-F238E27FC236}">
                <a16:creationId xmlns:a16="http://schemas.microsoft.com/office/drawing/2014/main" id="{4170E85E-473B-4569-9D5D-BCB558A1D3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9f728fee1426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2" name="hf-1192">
            <a:extLst xmlns:a="http://schemas.openxmlformats.org/drawingml/2006/main">
              <a:ext uri="{FF2B5EF4-FFF2-40B4-BE49-F238E27FC236}">
                <a16:creationId xmlns:a16="http://schemas.microsoft.com/office/drawing/2014/main" id="{8BE888C9-B162-4A43-B855-147A98BC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1846562549"/>
      </p:ext>
    </p:extLst>
  </p:cSld>
</p:sld>
</file>

<file path=ppt/slides/slide48.xml><?xml version="1.0" encoding="utf-8"?>
<p:sld xmlns:p="http://schemas.openxmlformats.org/presentationml/2006/main" show="0">
  <p:cSld name="twoways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1193">
            <a:extLst xmlns:a="http://schemas.openxmlformats.org/drawingml/2006/main">
              <a:ext uri="{FF2B5EF4-FFF2-40B4-BE49-F238E27FC236}">
                <a16:creationId xmlns:a16="http://schemas.microsoft.com/office/drawing/2014/main" id="{68493D88-DD09-4184-B1EE-0C152162A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633338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АРХИВ</a:t>
            </a:r>
          </a:p>
        </p:txBody>
      </p:sp>
      <p:sp>
        <p:nvSpPr>
          <p:cNvPr id="3" name="hf-1194">
            <a:extLst xmlns:a="http://schemas.openxmlformats.org/drawingml/2006/main">
              <a:ext uri="{FF2B5EF4-FFF2-40B4-BE49-F238E27FC236}">
                <a16:creationId xmlns:a16="http://schemas.microsoft.com/office/drawing/2014/main" id="{C9934B00-DD82-4E04-82B3-C3726BE1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072783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УДАЛИТЕ ДУБЛИКАТЫ. ДВА СПОСОБА</a:t>
            </a:r>
          </a:p>
        </p:txBody>
      </p:sp>
      <p:sp>
        <p:nvSpPr>
          <p:cNvPr id="4" name="hf-1195">
            <a:extLst xmlns:a="http://schemas.openxmlformats.org/drawingml/2006/main">
              <a:ext uri="{FF2B5EF4-FFF2-40B4-BE49-F238E27FC236}">
                <a16:creationId xmlns:a16="http://schemas.microsoft.com/office/drawing/2014/main" id="{E93273D7-3FA7-4B18-BC07-3D0F42FA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285875"/>
            <a:ext cx="3919538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6CDAE"/>
          </a:solidFill>
          <a:ln xmlns:a="http://schemas.openxmlformats.org/drawingml/2006/main" w="0">
            <a:noFill/>
          </a:ln>
        </p:spPr>
      </p:sp>
      <p:sp>
        <p:nvSpPr>
          <p:cNvPr id="5" name="hf-1196">
            <a:extLst xmlns:a="http://schemas.openxmlformats.org/drawingml/2006/main">
              <a:ext uri="{FF2B5EF4-FFF2-40B4-BE49-F238E27FC236}">
                <a16:creationId xmlns:a16="http://schemas.microsoft.com/office/drawing/2014/main" id="{C9050025-FC4D-4CE8-A4AF-731AECAB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30007"/>
            <a:ext cx="1519312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Сортировка</a:t>
            </a:r>
          </a:p>
        </p:txBody>
      </p:sp>
      <p:sp>
        <p:nvSpPr>
          <p:cNvPr id="6" name="hf-1197">
            <a:extLst xmlns:a="http://schemas.openxmlformats.org/drawingml/2006/main">
              <a:ext uri="{FF2B5EF4-FFF2-40B4-BE49-F238E27FC236}">
                <a16:creationId xmlns:a16="http://schemas.microsoft.com/office/drawing/2014/main" id="{C0F7C1FA-48B3-457E-9DDA-A931E9592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764983"/>
            <a:ext cx="120409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O(n log n)</a:t>
            </a:r>
          </a:p>
        </p:txBody>
      </p:sp>
      <p:sp>
        <p:nvSpPr>
          <p:cNvPr id="7" name="hf-1198">
            <a:extLst xmlns:a="http://schemas.openxmlformats.org/drawingml/2006/main">
              <a:ext uri="{FF2B5EF4-FFF2-40B4-BE49-F238E27FC236}">
                <a16:creationId xmlns:a16="http://schemas.microsoft.com/office/drawing/2014/main" id="{3B42705C-7423-4493-92F7-FE6B7709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133600"/>
            <a:ext cx="3919538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</p:sp>
      <p:sp>
        <p:nvSpPr>
          <p:cNvPr id="8" name="hf-1199">
            <a:extLst xmlns:a="http://schemas.openxmlformats.org/drawingml/2006/main">
              <a:ext uri="{FF2B5EF4-FFF2-40B4-BE49-F238E27FC236}">
                <a16:creationId xmlns:a16="http://schemas.microsoft.com/office/drawing/2014/main" id="{43C5F39E-EC3F-47DF-9A96-72278A18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3" y="2287334"/>
            <a:ext cx="280972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200" b="0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std::sort(v.begin(), v.end());</a:t>
            </a:r>
          </a:p>
        </p:txBody>
      </p:sp>
      <p:sp>
        <p:nvSpPr>
          <p:cNvPr id="9" name="hf-1200">
            <a:extLst xmlns:a="http://schemas.openxmlformats.org/drawingml/2006/main">
              <a:ext uri="{FF2B5EF4-FFF2-40B4-BE49-F238E27FC236}">
                <a16:creationId xmlns:a16="http://schemas.microsoft.com/office/drawing/2014/main" id="{040AB57E-FAD0-478B-A568-A665A999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3" y="2534984"/>
            <a:ext cx="3727252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200" b="0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v.erase(std::unique(v.begin(), v.end()),</a:t>
            </a:r>
          </a:p>
        </p:txBody>
      </p:sp>
      <p:sp>
        <p:nvSpPr>
          <p:cNvPr id="10" name="hf-1201">
            <a:extLst xmlns:a="http://schemas.openxmlformats.org/drawingml/2006/main">
              <a:ext uri="{FF2B5EF4-FFF2-40B4-BE49-F238E27FC236}">
                <a16:creationId xmlns:a16="http://schemas.microsoft.com/office/drawing/2014/main" id="{3771AE1E-067B-4E2C-A12B-6EB8C2815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3" y="2782634"/>
            <a:ext cx="161694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200" b="0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v.end());</a:t>
            </a:r>
          </a:p>
        </p:txBody>
      </p:sp>
      <p:sp>
        <p:nvSpPr>
          <p:cNvPr id="11" name="hf-1202">
            <a:extLst xmlns:a="http://schemas.openxmlformats.org/drawingml/2006/main">
              <a:ext uri="{FF2B5EF4-FFF2-40B4-BE49-F238E27FC236}">
                <a16:creationId xmlns:a16="http://schemas.microsoft.com/office/drawing/2014/main" id="{81E1A741-1FCD-4968-ADFE-0580CB21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285875"/>
            <a:ext cx="3919538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489B"/>
          </a:solidFill>
          <a:ln xmlns:a="http://schemas.openxmlformats.org/drawingml/2006/main" w="0">
            <a:noFill/>
          </a:ln>
        </p:spPr>
      </p:sp>
      <p:sp>
        <p:nvSpPr>
          <p:cNvPr id="12" name="hf-1203">
            <a:extLst xmlns:a="http://schemas.openxmlformats.org/drawingml/2006/main">
              <a:ext uri="{FF2B5EF4-FFF2-40B4-BE49-F238E27FC236}">
                <a16:creationId xmlns:a16="http://schemas.microsoft.com/office/drawing/2014/main" id="{027F9886-6D2B-4B00-A198-B832DB5A1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430007"/>
            <a:ext cx="1667396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250"/>
              </a:lnSpc>
              <a:buNone/>
            </a:pPr>
            <a:r>
              <a:rPr sz="180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Хеш-таблица</a:t>
            </a:r>
          </a:p>
        </p:txBody>
      </p:sp>
      <p:sp>
        <p:nvSpPr>
          <p:cNvPr id="13" name="hf-1204">
            <a:extLst xmlns:a="http://schemas.openxmlformats.org/drawingml/2006/main">
              <a:ext uri="{FF2B5EF4-FFF2-40B4-BE49-F238E27FC236}">
                <a16:creationId xmlns:a16="http://schemas.microsoft.com/office/drawing/2014/main" id="{BDC8A50E-7832-4A5E-8AD7-F07305D8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46504"/>
            <a:ext cx="153419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5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O(n) </a:t>
            </a:r>
            <a:r>
              <a:rPr sz="1275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ожидаемо</a:t>
            </a:r>
          </a:p>
        </p:txBody>
      </p:sp>
      <p:sp>
        <p:nvSpPr>
          <p:cNvPr id="14" name="hf-1205">
            <a:extLst xmlns:a="http://schemas.openxmlformats.org/drawingml/2006/main">
              <a:ext uri="{FF2B5EF4-FFF2-40B4-BE49-F238E27FC236}">
                <a16:creationId xmlns:a16="http://schemas.microsoft.com/office/drawing/2014/main" id="{78903DB6-2C1B-4A5D-84E4-4F3D46A0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919538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21212"/>
          </a:solidFill>
          <a:ln xmlns:a="http://schemas.openxmlformats.org/drawingml/2006/main" w="0">
            <a:noFill/>
          </a:ln>
        </p:spPr>
      </p:sp>
      <p:sp>
        <p:nvSpPr>
          <p:cNvPr id="15" name="hf-1206">
            <a:extLst xmlns:a="http://schemas.openxmlformats.org/drawingml/2006/main">
              <a:ext uri="{FF2B5EF4-FFF2-40B4-BE49-F238E27FC236}">
                <a16:creationId xmlns:a16="http://schemas.microsoft.com/office/drawing/2014/main" id="{4C11598D-AFC4-4B06-B38F-D05BBEA5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287334"/>
            <a:ext cx="2901479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200" b="0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std::unordered_set&lt;uint64_t&gt; s;</a:t>
            </a:r>
          </a:p>
        </p:txBody>
      </p:sp>
      <p:sp>
        <p:nvSpPr>
          <p:cNvPr id="16" name="hf-1207">
            <a:extLst xmlns:a="http://schemas.openxmlformats.org/drawingml/2006/main">
              <a:ext uri="{FF2B5EF4-FFF2-40B4-BE49-F238E27FC236}">
                <a16:creationId xmlns:a16="http://schemas.microsoft.com/office/drawing/2014/main" id="{65883BE2-4CA9-4128-87EE-CDA28D36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34984"/>
            <a:ext cx="189220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200" b="0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s.reserve(v.size());</a:t>
            </a:r>
          </a:p>
        </p:txBody>
      </p:sp>
      <p:sp>
        <p:nvSpPr>
          <p:cNvPr id="17" name="hf-1208">
            <a:extLst xmlns:a="http://schemas.openxmlformats.org/drawingml/2006/main">
              <a:ext uri="{FF2B5EF4-FFF2-40B4-BE49-F238E27FC236}">
                <a16:creationId xmlns:a16="http://schemas.microsoft.com/office/drawing/2014/main" id="{1F13CA14-77D6-4149-9710-BC9C8B79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782634"/>
            <a:ext cx="271797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200" b="0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for (auto x : v) s.insert(x);</a:t>
            </a:r>
          </a:p>
        </p:txBody>
      </p:sp>
      <p:sp>
        <p:nvSpPr>
          <p:cNvPr id="18" name="hf-1209">
            <a:extLst xmlns:a="http://schemas.openxmlformats.org/drawingml/2006/main">
              <a:ext uri="{FF2B5EF4-FFF2-40B4-BE49-F238E27FC236}">
                <a16:creationId xmlns:a16="http://schemas.microsoft.com/office/drawing/2014/main" id="{CF5B770E-5077-4EBA-AC2A-4DA7F3E2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030284"/>
            <a:ext cx="271797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950"/>
              </a:lnSpc>
              <a:buNone/>
            </a:pPr>
            <a:r>
              <a:rPr sz="1200" b="0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v.assign(s.begin(), s.end());</a:t>
            </a:r>
          </a:p>
        </p:txBody>
      </p:sp>
      <p:sp>
        <p:nvSpPr>
          <p:cNvPr id="19" name="hf-1210">
            <a:extLst xmlns:a="http://schemas.openxmlformats.org/drawingml/2006/main">
              <a:ext uri="{FF2B5EF4-FFF2-40B4-BE49-F238E27FC236}">
                <a16:creationId xmlns:a16="http://schemas.microsoft.com/office/drawing/2014/main" id="{72C8F1D5-630E-4E59-8855-A1D9AC25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797389"/>
            <a:ext cx="2097137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24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log₂ 10⁶ ≈ 20 </a:t>
            </a:r>
          </a:p>
        </p:txBody>
      </p:sp>
      <p:sp>
        <p:nvSpPr>
          <p:cNvPr id="20" name="hf-1211">
            <a:extLst xmlns:a="http://schemas.openxmlformats.org/drawingml/2006/main">
              <a:ext uri="{FF2B5EF4-FFF2-40B4-BE49-F238E27FC236}">
                <a16:creationId xmlns:a16="http://schemas.microsoft.com/office/drawing/2014/main" id="{5F82935B-6204-4849-8646-A2E6F4FA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7200" y="3774243"/>
            <a:ext cx="3225403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165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— кажется, выбор очевиден</a:t>
            </a:r>
          </a:p>
        </p:txBody>
      </p:sp>
      <p:pic>
        <p:nvPicPr>
          <p:cNvPr id="21" name="hf-1212">
            <a:extLst xmlns:a="http://schemas.openxmlformats.org/drawingml/2006/main">
              <a:ext uri="{FF2B5EF4-FFF2-40B4-BE49-F238E27FC236}">
                <a16:creationId xmlns:a16="http://schemas.microsoft.com/office/drawing/2014/main" id="{5DB47424-E480-421D-A860-3A73FFE8CC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d71027a951494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22" name="hf-1213">
            <a:extLst xmlns:a="http://schemas.openxmlformats.org/drawingml/2006/main">
              <a:ext uri="{FF2B5EF4-FFF2-40B4-BE49-F238E27FC236}">
                <a16:creationId xmlns:a16="http://schemas.microsoft.com/office/drawing/2014/main" id="{AAA44FF7-9274-4105-9CDC-4F27204B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1646690343"/>
      </p:ext>
    </p:extLst>
  </p:cSld>
</p:sld>
</file>

<file path=ppt/slides/slide49.xml><?xml version="1.0" encoding="utf-8"?>
<p:sld xmlns:p="http://schemas.openxmlformats.org/presentationml/2006/main" show="0">
  <p:cSld name="bigo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1214">
            <a:extLst xmlns:a="http://schemas.openxmlformats.org/drawingml/2006/main">
              <a:ext uri="{FF2B5EF4-FFF2-40B4-BE49-F238E27FC236}">
                <a16:creationId xmlns:a16="http://schemas.microsoft.com/office/drawing/2014/main" id="{CF2E5685-8BC6-4715-A8B7-0D88D20B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633338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АРХИВ</a:t>
            </a:r>
          </a:p>
        </p:txBody>
      </p:sp>
      <p:sp>
        <p:nvSpPr>
          <p:cNvPr id="3" name="hf-1215">
            <a:extLst xmlns:a="http://schemas.openxmlformats.org/drawingml/2006/main">
              <a:ext uri="{FF2B5EF4-FFF2-40B4-BE49-F238E27FC236}">
                <a16:creationId xmlns:a16="http://schemas.microsoft.com/office/drawing/2014/main" id="{57673DE8-900D-4A5C-B7BB-A3A24294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5754439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Big-O СЧИТАЕТ ШАГИ, А НЕ ИХ ЦЕНУ</a:t>
            </a:r>
          </a:p>
        </p:txBody>
      </p:sp>
      <p:sp>
        <p:nvSpPr>
          <p:cNvPr id="4" name="hf-1216">
            <a:extLst xmlns:a="http://schemas.openxmlformats.org/drawingml/2006/main">
              <a:ext uri="{FF2B5EF4-FFF2-40B4-BE49-F238E27FC236}">
                <a16:creationId xmlns:a16="http://schemas.microsoft.com/office/drawing/2014/main" id="{E0A941F6-BD8F-4DE9-9E32-83561BAF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3" y="2533650"/>
            <a:ext cx="4057650" cy="953"/>
          </a:xfrm>
          <a:custGeom xmlns:a="http://schemas.openxmlformats.org/drawingml/2006/main">
            <a:pathLst>
              <a:path w="4057650" h="476">
                <a:moveTo>
                  <a:pt x="0" y="0"/>
                </a:moveTo>
                <a:lnTo>
                  <a:pt x="405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333333"/>
            </a:solidFill>
          </a:ln>
        </p:spPr>
      </p:sp>
      <p:sp>
        <p:nvSpPr>
          <p:cNvPr id="5" name="hf-1217">
            <a:extLst xmlns:a="http://schemas.openxmlformats.org/drawingml/2006/main">
              <a:ext uri="{FF2B5EF4-FFF2-40B4-BE49-F238E27FC236}">
                <a16:creationId xmlns:a16="http://schemas.microsoft.com/office/drawing/2014/main" id="{C58E0E45-56B4-402D-96B4-F282651C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3" y="1996440"/>
            <a:ext cx="4057650" cy="953"/>
          </a:xfrm>
          <a:custGeom xmlns:a="http://schemas.openxmlformats.org/drawingml/2006/main">
            <a:pathLst>
              <a:path w="4057650" h="476">
                <a:moveTo>
                  <a:pt x="0" y="0"/>
                </a:moveTo>
                <a:lnTo>
                  <a:pt x="405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333333"/>
            </a:solidFill>
          </a:ln>
        </p:spPr>
      </p:sp>
      <p:sp>
        <p:nvSpPr>
          <p:cNvPr id="6" name="hf-1218">
            <a:extLst xmlns:a="http://schemas.openxmlformats.org/drawingml/2006/main">
              <a:ext uri="{FF2B5EF4-FFF2-40B4-BE49-F238E27FC236}">
                <a16:creationId xmlns:a16="http://schemas.microsoft.com/office/drawing/2014/main" id="{F21AD1F3-4CF5-49C1-A329-B436CB06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3" y="1453515"/>
            <a:ext cx="4057650" cy="953"/>
          </a:xfrm>
          <a:custGeom xmlns:a="http://schemas.openxmlformats.org/drawingml/2006/main">
            <a:pathLst>
              <a:path w="4057650" h="476">
                <a:moveTo>
                  <a:pt x="0" y="0"/>
                </a:moveTo>
                <a:lnTo>
                  <a:pt x="405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333333"/>
            </a:solidFill>
          </a:ln>
        </p:spPr>
      </p:sp>
      <p:sp>
        <p:nvSpPr>
          <p:cNvPr id="7" name="hf-1219">
            <a:extLst xmlns:a="http://schemas.openxmlformats.org/drawingml/2006/main">
              <a:ext uri="{FF2B5EF4-FFF2-40B4-BE49-F238E27FC236}">
                <a16:creationId xmlns:a16="http://schemas.microsoft.com/office/drawing/2014/main" id="{BE61C3FF-B234-4577-AB32-A6AF7ADD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3" y="3076575"/>
            <a:ext cx="4057650" cy="953"/>
          </a:xfrm>
          <a:custGeom xmlns:a="http://schemas.openxmlformats.org/drawingml/2006/main">
            <a:pathLst>
              <a:path w="4057650" h="476">
                <a:moveTo>
                  <a:pt x="0" y="0"/>
                </a:moveTo>
                <a:lnTo>
                  <a:pt x="405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8F8F8F"/>
            </a:solidFill>
          </a:ln>
        </p:spPr>
      </p:sp>
      <p:sp>
        <p:nvSpPr>
          <p:cNvPr id="8" name="hf-1220">
            <a:extLst xmlns:a="http://schemas.openxmlformats.org/drawingml/2006/main">
              <a:ext uri="{FF2B5EF4-FFF2-40B4-BE49-F238E27FC236}">
                <a16:creationId xmlns:a16="http://schemas.microsoft.com/office/drawing/2014/main" id="{148272B8-E663-4F72-97BD-1ED9C8A0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3" y="1453515"/>
            <a:ext cx="953" cy="1623060"/>
          </a:xfrm>
          <a:custGeom xmlns:a="http://schemas.openxmlformats.org/drawingml/2006/main">
            <a:pathLst>
              <a:path w="476" h="1623060">
                <a:moveTo>
                  <a:pt x="0" y="16230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8F8F8F"/>
            </a:solidFill>
          </a:ln>
        </p:spPr>
      </p:sp>
      <p:sp>
        <p:nvSpPr>
          <p:cNvPr id="9" name="hf-1221">
            <a:extLst xmlns:a="http://schemas.openxmlformats.org/drawingml/2006/main">
              <a:ext uri="{FF2B5EF4-FFF2-40B4-BE49-F238E27FC236}">
                <a16:creationId xmlns:a16="http://schemas.microsoft.com/office/drawing/2014/main" id="{F953A8E8-5F2A-4CB7-8265-D5FC3270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8" y="1459230"/>
            <a:ext cx="2800350" cy="1617345"/>
          </a:xfrm>
          <a:custGeom xmlns:a="http://schemas.openxmlformats.org/drawingml/2006/main">
            <a:pathLst>
              <a:path w="2800350" h="1617345">
                <a:moveTo>
                  <a:pt x="0" y="1617345"/>
                </a:moveTo>
                <a:lnTo>
                  <a:pt x="40005" y="1617345"/>
                </a:lnTo>
                <a:lnTo>
                  <a:pt x="80010" y="1617345"/>
                </a:lnTo>
                <a:lnTo>
                  <a:pt x="120015" y="1611630"/>
                </a:lnTo>
                <a:lnTo>
                  <a:pt x="160020" y="1611630"/>
                </a:lnTo>
                <a:lnTo>
                  <a:pt x="200025" y="1605915"/>
                </a:lnTo>
                <a:lnTo>
                  <a:pt x="240030" y="1605915"/>
                </a:lnTo>
                <a:lnTo>
                  <a:pt x="280035" y="1600200"/>
                </a:lnTo>
                <a:lnTo>
                  <a:pt x="325755" y="1594485"/>
                </a:lnTo>
                <a:lnTo>
                  <a:pt x="365760" y="1588770"/>
                </a:lnTo>
                <a:lnTo>
                  <a:pt x="405765" y="1583055"/>
                </a:lnTo>
                <a:lnTo>
                  <a:pt x="445770" y="1577340"/>
                </a:lnTo>
                <a:lnTo>
                  <a:pt x="485775" y="1565910"/>
                </a:lnTo>
                <a:lnTo>
                  <a:pt x="525780" y="1560195"/>
                </a:lnTo>
                <a:lnTo>
                  <a:pt x="565785" y="1548765"/>
                </a:lnTo>
                <a:lnTo>
                  <a:pt x="605790" y="1543050"/>
                </a:lnTo>
                <a:lnTo>
                  <a:pt x="645795" y="1531620"/>
                </a:lnTo>
                <a:lnTo>
                  <a:pt x="685800" y="1520190"/>
                </a:lnTo>
                <a:lnTo>
                  <a:pt x="731520" y="1508760"/>
                </a:lnTo>
                <a:lnTo>
                  <a:pt x="771525" y="1491615"/>
                </a:lnTo>
                <a:lnTo>
                  <a:pt x="811530" y="1480185"/>
                </a:lnTo>
                <a:lnTo>
                  <a:pt x="851535" y="1468755"/>
                </a:lnTo>
                <a:lnTo>
                  <a:pt x="891540" y="1451610"/>
                </a:lnTo>
                <a:lnTo>
                  <a:pt x="931545" y="1434465"/>
                </a:lnTo>
                <a:lnTo>
                  <a:pt x="971550" y="1423035"/>
                </a:lnTo>
                <a:lnTo>
                  <a:pt x="1011555" y="1405890"/>
                </a:lnTo>
                <a:lnTo>
                  <a:pt x="1051560" y="1388745"/>
                </a:lnTo>
                <a:lnTo>
                  <a:pt x="1091565" y="1371600"/>
                </a:lnTo>
                <a:lnTo>
                  <a:pt x="1137285" y="1348740"/>
                </a:lnTo>
                <a:lnTo>
                  <a:pt x="1177290" y="1331595"/>
                </a:lnTo>
                <a:lnTo>
                  <a:pt x="1217295" y="1308735"/>
                </a:lnTo>
                <a:lnTo>
                  <a:pt x="1257300" y="1291590"/>
                </a:lnTo>
                <a:lnTo>
                  <a:pt x="1297305" y="1268730"/>
                </a:lnTo>
                <a:lnTo>
                  <a:pt x="1337310" y="1245870"/>
                </a:lnTo>
                <a:lnTo>
                  <a:pt x="1377315" y="1223010"/>
                </a:lnTo>
                <a:lnTo>
                  <a:pt x="1417320" y="1200150"/>
                </a:lnTo>
                <a:lnTo>
                  <a:pt x="1457325" y="1177290"/>
                </a:lnTo>
                <a:lnTo>
                  <a:pt x="1497330" y="1154430"/>
                </a:lnTo>
                <a:lnTo>
                  <a:pt x="1543050" y="1125855"/>
                </a:lnTo>
                <a:lnTo>
                  <a:pt x="1583055" y="1102995"/>
                </a:lnTo>
                <a:lnTo>
                  <a:pt x="1623060" y="1074420"/>
                </a:lnTo>
                <a:lnTo>
                  <a:pt x="1663065" y="1045845"/>
                </a:lnTo>
                <a:lnTo>
                  <a:pt x="1703070" y="1017270"/>
                </a:lnTo>
                <a:lnTo>
                  <a:pt x="1743075" y="988695"/>
                </a:lnTo>
                <a:lnTo>
                  <a:pt x="1783080" y="960120"/>
                </a:lnTo>
                <a:lnTo>
                  <a:pt x="1823085" y="931545"/>
                </a:lnTo>
                <a:lnTo>
                  <a:pt x="1863090" y="897255"/>
                </a:lnTo>
                <a:lnTo>
                  <a:pt x="1903095" y="868680"/>
                </a:lnTo>
                <a:lnTo>
                  <a:pt x="1948815" y="834390"/>
                </a:lnTo>
                <a:lnTo>
                  <a:pt x="1988820" y="800100"/>
                </a:lnTo>
                <a:lnTo>
                  <a:pt x="2028825" y="765810"/>
                </a:lnTo>
                <a:lnTo>
                  <a:pt x="2068830" y="737235"/>
                </a:lnTo>
                <a:lnTo>
                  <a:pt x="2108835" y="697230"/>
                </a:lnTo>
                <a:lnTo>
                  <a:pt x="2148840" y="662940"/>
                </a:lnTo>
                <a:lnTo>
                  <a:pt x="2188845" y="628650"/>
                </a:lnTo>
                <a:lnTo>
                  <a:pt x="2228850" y="588645"/>
                </a:lnTo>
                <a:lnTo>
                  <a:pt x="2268855" y="554355"/>
                </a:lnTo>
                <a:lnTo>
                  <a:pt x="2308860" y="514350"/>
                </a:lnTo>
                <a:lnTo>
                  <a:pt x="2354580" y="474345"/>
                </a:lnTo>
                <a:lnTo>
                  <a:pt x="2394585" y="434340"/>
                </a:lnTo>
                <a:lnTo>
                  <a:pt x="2434590" y="394335"/>
                </a:lnTo>
                <a:lnTo>
                  <a:pt x="2474595" y="354330"/>
                </a:lnTo>
                <a:lnTo>
                  <a:pt x="2514600" y="314325"/>
                </a:lnTo>
                <a:lnTo>
                  <a:pt x="2554605" y="268605"/>
                </a:lnTo>
                <a:lnTo>
                  <a:pt x="2594610" y="228600"/>
                </a:lnTo>
                <a:lnTo>
                  <a:pt x="2634615" y="182880"/>
                </a:lnTo>
                <a:lnTo>
                  <a:pt x="2674620" y="137160"/>
                </a:lnTo>
                <a:lnTo>
                  <a:pt x="2714625" y="97155"/>
                </a:lnTo>
                <a:lnTo>
                  <a:pt x="2760345" y="51435"/>
                </a:lnTo>
                <a:lnTo>
                  <a:pt x="28003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F8F8F"/>
            </a:solidFill>
            <a:custDash>
              <a:ds d="200000" sp="150000"/>
            </a:custDash>
          </a:ln>
        </p:spPr>
      </p:sp>
      <p:sp>
        <p:nvSpPr>
          <p:cNvPr id="10" name="hf-1222">
            <a:extLst xmlns:a="http://schemas.openxmlformats.org/drawingml/2006/main">
              <a:ext uri="{FF2B5EF4-FFF2-40B4-BE49-F238E27FC236}">
                <a16:creationId xmlns:a16="http://schemas.microsoft.com/office/drawing/2014/main" id="{347EC6BD-EE90-4967-BF71-1A424D92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8" y="1744980"/>
            <a:ext cx="4017645" cy="1331595"/>
          </a:xfrm>
          <a:custGeom xmlns:a="http://schemas.openxmlformats.org/drawingml/2006/main">
            <a:pathLst>
              <a:path w="4017645" h="1331595">
                <a:moveTo>
                  <a:pt x="0" y="1331595"/>
                </a:moveTo>
                <a:lnTo>
                  <a:pt x="40005" y="1325880"/>
                </a:lnTo>
                <a:lnTo>
                  <a:pt x="80010" y="1320165"/>
                </a:lnTo>
                <a:lnTo>
                  <a:pt x="120015" y="1308735"/>
                </a:lnTo>
                <a:lnTo>
                  <a:pt x="160020" y="1303020"/>
                </a:lnTo>
                <a:lnTo>
                  <a:pt x="200025" y="1291590"/>
                </a:lnTo>
                <a:lnTo>
                  <a:pt x="240030" y="1280160"/>
                </a:lnTo>
                <a:lnTo>
                  <a:pt x="280035" y="1274445"/>
                </a:lnTo>
                <a:lnTo>
                  <a:pt x="325755" y="1263015"/>
                </a:lnTo>
                <a:lnTo>
                  <a:pt x="365760" y="1251585"/>
                </a:lnTo>
                <a:lnTo>
                  <a:pt x="405765" y="1240155"/>
                </a:lnTo>
                <a:lnTo>
                  <a:pt x="445770" y="1228725"/>
                </a:lnTo>
                <a:lnTo>
                  <a:pt x="485775" y="1217295"/>
                </a:lnTo>
                <a:lnTo>
                  <a:pt x="525780" y="1205865"/>
                </a:lnTo>
                <a:lnTo>
                  <a:pt x="565785" y="1194435"/>
                </a:lnTo>
                <a:lnTo>
                  <a:pt x="605790" y="1183005"/>
                </a:lnTo>
                <a:lnTo>
                  <a:pt x="645795" y="1171575"/>
                </a:lnTo>
                <a:lnTo>
                  <a:pt x="685800" y="1160145"/>
                </a:lnTo>
                <a:lnTo>
                  <a:pt x="731520" y="1148715"/>
                </a:lnTo>
                <a:lnTo>
                  <a:pt x="771525" y="1137285"/>
                </a:lnTo>
                <a:lnTo>
                  <a:pt x="811530" y="1125855"/>
                </a:lnTo>
                <a:lnTo>
                  <a:pt x="851535" y="1108710"/>
                </a:lnTo>
                <a:lnTo>
                  <a:pt x="891540" y="1097280"/>
                </a:lnTo>
                <a:lnTo>
                  <a:pt x="931545" y="1085850"/>
                </a:lnTo>
                <a:lnTo>
                  <a:pt x="971550" y="1074420"/>
                </a:lnTo>
                <a:lnTo>
                  <a:pt x="1011555" y="1062990"/>
                </a:lnTo>
                <a:lnTo>
                  <a:pt x="1051560" y="1045845"/>
                </a:lnTo>
                <a:lnTo>
                  <a:pt x="1091565" y="1034415"/>
                </a:lnTo>
                <a:lnTo>
                  <a:pt x="1137285" y="1022985"/>
                </a:lnTo>
                <a:lnTo>
                  <a:pt x="1177290" y="1011555"/>
                </a:lnTo>
                <a:lnTo>
                  <a:pt x="1217295" y="994410"/>
                </a:lnTo>
                <a:lnTo>
                  <a:pt x="1257300" y="982980"/>
                </a:lnTo>
                <a:lnTo>
                  <a:pt x="1297305" y="971550"/>
                </a:lnTo>
                <a:lnTo>
                  <a:pt x="1337310" y="954405"/>
                </a:lnTo>
                <a:lnTo>
                  <a:pt x="1377315" y="942975"/>
                </a:lnTo>
                <a:lnTo>
                  <a:pt x="1417320" y="931545"/>
                </a:lnTo>
                <a:lnTo>
                  <a:pt x="1457325" y="914400"/>
                </a:lnTo>
                <a:lnTo>
                  <a:pt x="1497330" y="902970"/>
                </a:lnTo>
                <a:lnTo>
                  <a:pt x="1543050" y="891540"/>
                </a:lnTo>
                <a:lnTo>
                  <a:pt x="1583055" y="874395"/>
                </a:lnTo>
                <a:lnTo>
                  <a:pt x="1623060" y="862965"/>
                </a:lnTo>
                <a:lnTo>
                  <a:pt x="1663065" y="851535"/>
                </a:lnTo>
                <a:lnTo>
                  <a:pt x="1703070" y="834390"/>
                </a:lnTo>
                <a:lnTo>
                  <a:pt x="1743075" y="822960"/>
                </a:lnTo>
                <a:lnTo>
                  <a:pt x="1783080" y="805815"/>
                </a:lnTo>
                <a:lnTo>
                  <a:pt x="1823085" y="794385"/>
                </a:lnTo>
                <a:lnTo>
                  <a:pt x="1863090" y="777240"/>
                </a:lnTo>
                <a:lnTo>
                  <a:pt x="1903095" y="765810"/>
                </a:lnTo>
                <a:lnTo>
                  <a:pt x="1948815" y="754380"/>
                </a:lnTo>
                <a:lnTo>
                  <a:pt x="1988820" y="737235"/>
                </a:lnTo>
                <a:lnTo>
                  <a:pt x="2028825" y="725805"/>
                </a:lnTo>
                <a:lnTo>
                  <a:pt x="2068830" y="708660"/>
                </a:lnTo>
                <a:lnTo>
                  <a:pt x="2108835" y="697230"/>
                </a:lnTo>
                <a:lnTo>
                  <a:pt x="2148840" y="680085"/>
                </a:lnTo>
                <a:lnTo>
                  <a:pt x="2188845" y="668655"/>
                </a:lnTo>
                <a:lnTo>
                  <a:pt x="2228850" y="651510"/>
                </a:lnTo>
                <a:lnTo>
                  <a:pt x="2268855" y="640080"/>
                </a:lnTo>
                <a:lnTo>
                  <a:pt x="2308860" y="622935"/>
                </a:lnTo>
                <a:lnTo>
                  <a:pt x="2354580" y="611505"/>
                </a:lnTo>
                <a:lnTo>
                  <a:pt x="2394585" y="594360"/>
                </a:lnTo>
                <a:lnTo>
                  <a:pt x="2434590" y="582930"/>
                </a:lnTo>
                <a:lnTo>
                  <a:pt x="2474595" y="565785"/>
                </a:lnTo>
                <a:lnTo>
                  <a:pt x="2514600" y="554355"/>
                </a:lnTo>
                <a:lnTo>
                  <a:pt x="2554605" y="537210"/>
                </a:lnTo>
                <a:lnTo>
                  <a:pt x="2594610" y="525780"/>
                </a:lnTo>
                <a:lnTo>
                  <a:pt x="2634615" y="508635"/>
                </a:lnTo>
                <a:lnTo>
                  <a:pt x="2674620" y="491490"/>
                </a:lnTo>
                <a:lnTo>
                  <a:pt x="2714625" y="480060"/>
                </a:lnTo>
                <a:lnTo>
                  <a:pt x="2760345" y="462915"/>
                </a:lnTo>
                <a:lnTo>
                  <a:pt x="2800350" y="451485"/>
                </a:lnTo>
                <a:lnTo>
                  <a:pt x="2840355" y="434340"/>
                </a:lnTo>
                <a:lnTo>
                  <a:pt x="2880360" y="422910"/>
                </a:lnTo>
                <a:lnTo>
                  <a:pt x="2920365" y="405765"/>
                </a:lnTo>
                <a:lnTo>
                  <a:pt x="2960370" y="388620"/>
                </a:lnTo>
                <a:lnTo>
                  <a:pt x="3000375" y="377190"/>
                </a:lnTo>
                <a:lnTo>
                  <a:pt x="3040380" y="360045"/>
                </a:lnTo>
                <a:lnTo>
                  <a:pt x="3080385" y="348615"/>
                </a:lnTo>
                <a:lnTo>
                  <a:pt x="3120390" y="331470"/>
                </a:lnTo>
                <a:lnTo>
                  <a:pt x="3166110" y="314325"/>
                </a:lnTo>
                <a:lnTo>
                  <a:pt x="3206115" y="302895"/>
                </a:lnTo>
                <a:lnTo>
                  <a:pt x="3246120" y="285750"/>
                </a:lnTo>
                <a:lnTo>
                  <a:pt x="3286125" y="274320"/>
                </a:lnTo>
                <a:lnTo>
                  <a:pt x="3326130" y="257175"/>
                </a:lnTo>
                <a:lnTo>
                  <a:pt x="3366135" y="240030"/>
                </a:lnTo>
                <a:lnTo>
                  <a:pt x="3406140" y="228600"/>
                </a:lnTo>
                <a:lnTo>
                  <a:pt x="3446145" y="211455"/>
                </a:lnTo>
                <a:lnTo>
                  <a:pt x="3486150" y="194310"/>
                </a:lnTo>
                <a:lnTo>
                  <a:pt x="3526155" y="182880"/>
                </a:lnTo>
                <a:lnTo>
                  <a:pt x="3571875" y="165735"/>
                </a:lnTo>
                <a:lnTo>
                  <a:pt x="3611880" y="148590"/>
                </a:lnTo>
                <a:lnTo>
                  <a:pt x="3651885" y="137160"/>
                </a:lnTo>
                <a:lnTo>
                  <a:pt x="3691890" y="120015"/>
                </a:lnTo>
                <a:lnTo>
                  <a:pt x="3731895" y="102870"/>
                </a:lnTo>
                <a:lnTo>
                  <a:pt x="3771900" y="91440"/>
                </a:lnTo>
                <a:lnTo>
                  <a:pt x="3811905" y="74295"/>
                </a:lnTo>
                <a:lnTo>
                  <a:pt x="3851910" y="57150"/>
                </a:lnTo>
                <a:lnTo>
                  <a:pt x="3891915" y="45720"/>
                </a:lnTo>
                <a:lnTo>
                  <a:pt x="3931920" y="28575"/>
                </a:lnTo>
                <a:lnTo>
                  <a:pt x="3977640" y="11430"/>
                </a:lnTo>
                <a:lnTo>
                  <a:pt x="401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46CDAE"/>
            </a:solidFill>
          </a:ln>
        </p:spPr>
      </p:sp>
      <p:sp>
        <p:nvSpPr>
          <p:cNvPr id="11" name="hf-1223">
            <a:extLst xmlns:a="http://schemas.openxmlformats.org/drawingml/2006/main">
              <a:ext uri="{FF2B5EF4-FFF2-40B4-BE49-F238E27FC236}">
                <a16:creationId xmlns:a16="http://schemas.microsoft.com/office/drawing/2014/main" id="{674DC674-3973-45B6-8794-28359776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8" y="2945130"/>
            <a:ext cx="4017645" cy="131445"/>
          </a:xfrm>
          <a:custGeom xmlns:a="http://schemas.openxmlformats.org/drawingml/2006/main">
            <a:pathLst>
              <a:path w="4017645" h="131445">
                <a:moveTo>
                  <a:pt x="0" y="131445"/>
                </a:moveTo>
                <a:lnTo>
                  <a:pt x="40005" y="131445"/>
                </a:lnTo>
                <a:lnTo>
                  <a:pt x="80010" y="131445"/>
                </a:lnTo>
                <a:lnTo>
                  <a:pt x="120015" y="125730"/>
                </a:lnTo>
                <a:lnTo>
                  <a:pt x="160020" y="125730"/>
                </a:lnTo>
                <a:lnTo>
                  <a:pt x="200025" y="125730"/>
                </a:lnTo>
                <a:lnTo>
                  <a:pt x="240030" y="125730"/>
                </a:lnTo>
                <a:lnTo>
                  <a:pt x="280035" y="120015"/>
                </a:lnTo>
                <a:lnTo>
                  <a:pt x="325755" y="120015"/>
                </a:lnTo>
                <a:lnTo>
                  <a:pt x="365760" y="120015"/>
                </a:lnTo>
                <a:lnTo>
                  <a:pt x="405765" y="120015"/>
                </a:lnTo>
                <a:lnTo>
                  <a:pt x="445770" y="114300"/>
                </a:lnTo>
                <a:lnTo>
                  <a:pt x="485775" y="114300"/>
                </a:lnTo>
                <a:lnTo>
                  <a:pt x="525780" y="114300"/>
                </a:lnTo>
                <a:lnTo>
                  <a:pt x="565785" y="114300"/>
                </a:lnTo>
                <a:lnTo>
                  <a:pt x="605790" y="108585"/>
                </a:lnTo>
                <a:lnTo>
                  <a:pt x="645795" y="108585"/>
                </a:lnTo>
                <a:lnTo>
                  <a:pt x="685800" y="108585"/>
                </a:lnTo>
                <a:lnTo>
                  <a:pt x="731520" y="108585"/>
                </a:lnTo>
                <a:lnTo>
                  <a:pt x="771525" y="102870"/>
                </a:lnTo>
                <a:lnTo>
                  <a:pt x="811530" y="102870"/>
                </a:lnTo>
                <a:lnTo>
                  <a:pt x="851535" y="102870"/>
                </a:lnTo>
                <a:lnTo>
                  <a:pt x="891540" y="102870"/>
                </a:lnTo>
                <a:lnTo>
                  <a:pt x="931545" y="102870"/>
                </a:lnTo>
                <a:lnTo>
                  <a:pt x="971550" y="97155"/>
                </a:lnTo>
                <a:lnTo>
                  <a:pt x="1011555" y="97155"/>
                </a:lnTo>
                <a:lnTo>
                  <a:pt x="1051560" y="97155"/>
                </a:lnTo>
                <a:lnTo>
                  <a:pt x="1091565" y="97155"/>
                </a:lnTo>
                <a:lnTo>
                  <a:pt x="1137285" y="91440"/>
                </a:lnTo>
                <a:lnTo>
                  <a:pt x="1177290" y="91440"/>
                </a:lnTo>
                <a:lnTo>
                  <a:pt x="1217295" y="91440"/>
                </a:lnTo>
                <a:lnTo>
                  <a:pt x="1257300" y="91440"/>
                </a:lnTo>
                <a:lnTo>
                  <a:pt x="1297305" y="85725"/>
                </a:lnTo>
                <a:lnTo>
                  <a:pt x="1337310" y="85725"/>
                </a:lnTo>
                <a:lnTo>
                  <a:pt x="1377315" y="85725"/>
                </a:lnTo>
                <a:lnTo>
                  <a:pt x="1417320" y="85725"/>
                </a:lnTo>
                <a:lnTo>
                  <a:pt x="1457325" y="80010"/>
                </a:lnTo>
                <a:lnTo>
                  <a:pt x="1497330" y="80010"/>
                </a:lnTo>
                <a:lnTo>
                  <a:pt x="1543050" y="80010"/>
                </a:lnTo>
                <a:lnTo>
                  <a:pt x="1583055" y="80010"/>
                </a:lnTo>
                <a:lnTo>
                  <a:pt x="1623060" y="80010"/>
                </a:lnTo>
                <a:lnTo>
                  <a:pt x="1663065" y="74295"/>
                </a:lnTo>
                <a:lnTo>
                  <a:pt x="1703070" y="74295"/>
                </a:lnTo>
                <a:lnTo>
                  <a:pt x="1743075" y="74295"/>
                </a:lnTo>
                <a:lnTo>
                  <a:pt x="1783080" y="74295"/>
                </a:lnTo>
                <a:lnTo>
                  <a:pt x="1823085" y="68580"/>
                </a:lnTo>
                <a:lnTo>
                  <a:pt x="1863090" y="68580"/>
                </a:lnTo>
                <a:lnTo>
                  <a:pt x="1903095" y="68580"/>
                </a:lnTo>
                <a:lnTo>
                  <a:pt x="1948815" y="68580"/>
                </a:lnTo>
                <a:lnTo>
                  <a:pt x="1988820" y="62865"/>
                </a:lnTo>
                <a:lnTo>
                  <a:pt x="2028825" y="62865"/>
                </a:lnTo>
                <a:lnTo>
                  <a:pt x="2068830" y="62865"/>
                </a:lnTo>
                <a:lnTo>
                  <a:pt x="2108835" y="62865"/>
                </a:lnTo>
                <a:lnTo>
                  <a:pt x="2148840" y="57150"/>
                </a:lnTo>
                <a:lnTo>
                  <a:pt x="2188845" y="57150"/>
                </a:lnTo>
                <a:lnTo>
                  <a:pt x="2228850" y="57150"/>
                </a:lnTo>
                <a:lnTo>
                  <a:pt x="2268855" y="57150"/>
                </a:lnTo>
                <a:lnTo>
                  <a:pt x="2308860" y="51435"/>
                </a:lnTo>
                <a:lnTo>
                  <a:pt x="2354580" y="51435"/>
                </a:lnTo>
                <a:lnTo>
                  <a:pt x="2394585" y="51435"/>
                </a:lnTo>
                <a:lnTo>
                  <a:pt x="2434590" y="51435"/>
                </a:lnTo>
                <a:lnTo>
                  <a:pt x="2474595" y="51435"/>
                </a:lnTo>
                <a:lnTo>
                  <a:pt x="2514600" y="45720"/>
                </a:lnTo>
                <a:lnTo>
                  <a:pt x="2554605" y="45720"/>
                </a:lnTo>
                <a:lnTo>
                  <a:pt x="2594610" y="45720"/>
                </a:lnTo>
                <a:lnTo>
                  <a:pt x="2634615" y="45720"/>
                </a:lnTo>
                <a:lnTo>
                  <a:pt x="2674620" y="40005"/>
                </a:lnTo>
                <a:lnTo>
                  <a:pt x="2714625" y="40005"/>
                </a:lnTo>
                <a:lnTo>
                  <a:pt x="2760345" y="40005"/>
                </a:lnTo>
                <a:lnTo>
                  <a:pt x="2800350" y="40005"/>
                </a:lnTo>
                <a:lnTo>
                  <a:pt x="2840355" y="34290"/>
                </a:lnTo>
                <a:lnTo>
                  <a:pt x="2880360" y="34290"/>
                </a:lnTo>
                <a:lnTo>
                  <a:pt x="2920365" y="34290"/>
                </a:lnTo>
                <a:lnTo>
                  <a:pt x="2960370" y="34290"/>
                </a:lnTo>
                <a:lnTo>
                  <a:pt x="3000375" y="28575"/>
                </a:lnTo>
                <a:lnTo>
                  <a:pt x="3040380" y="28575"/>
                </a:lnTo>
                <a:lnTo>
                  <a:pt x="3080385" y="28575"/>
                </a:lnTo>
                <a:lnTo>
                  <a:pt x="3120390" y="28575"/>
                </a:lnTo>
                <a:lnTo>
                  <a:pt x="3166110" y="28575"/>
                </a:lnTo>
                <a:lnTo>
                  <a:pt x="3206115" y="22860"/>
                </a:lnTo>
                <a:lnTo>
                  <a:pt x="3246120" y="22860"/>
                </a:lnTo>
                <a:lnTo>
                  <a:pt x="3286125" y="22860"/>
                </a:lnTo>
                <a:lnTo>
                  <a:pt x="3326130" y="22860"/>
                </a:lnTo>
                <a:lnTo>
                  <a:pt x="3366135" y="17145"/>
                </a:lnTo>
                <a:lnTo>
                  <a:pt x="3406140" y="17145"/>
                </a:lnTo>
                <a:lnTo>
                  <a:pt x="3446145" y="17145"/>
                </a:lnTo>
                <a:lnTo>
                  <a:pt x="3486150" y="17145"/>
                </a:lnTo>
                <a:lnTo>
                  <a:pt x="3526155" y="11430"/>
                </a:lnTo>
                <a:lnTo>
                  <a:pt x="3571875" y="11430"/>
                </a:lnTo>
                <a:lnTo>
                  <a:pt x="3611880" y="11430"/>
                </a:lnTo>
                <a:lnTo>
                  <a:pt x="3651885" y="11430"/>
                </a:lnTo>
                <a:lnTo>
                  <a:pt x="3691890" y="5715"/>
                </a:lnTo>
                <a:lnTo>
                  <a:pt x="3731895" y="5715"/>
                </a:lnTo>
                <a:lnTo>
                  <a:pt x="3771900" y="5715"/>
                </a:lnTo>
                <a:lnTo>
                  <a:pt x="3811905" y="5715"/>
                </a:lnTo>
                <a:lnTo>
                  <a:pt x="3851910" y="0"/>
                </a:lnTo>
                <a:lnTo>
                  <a:pt x="3891915" y="0"/>
                </a:lnTo>
                <a:lnTo>
                  <a:pt x="3931920" y="0"/>
                </a:lnTo>
                <a:lnTo>
                  <a:pt x="3977640" y="0"/>
                </a:lnTo>
                <a:lnTo>
                  <a:pt x="401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E2489B"/>
            </a:solidFill>
          </a:ln>
        </p:spPr>
      </p:sp>
      <p:sp>
        <p:nvSpPr>
          <p:cNvPr id="12" name="hf-1224">
            <a:extLst xmlns:a="http://schemas.openxmlformats.org/drawingml/2006/main">
              <a:ext uri="{FF2B5EF4-FFF2-40B4-BE49-F238E27FC236}">
                <a16:creationId xmlns:a16="http://schemas.microsoft.com/office/drawing/2014/main" id="{0E757F01-CF01-4239-8631-81A3FD5C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68" y="1348626"/>
            <a:ext cx="31499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12K</a:t>
            </a:r>
          </a:p>
        </p:txBody>
      </p:sp>
      <p:sp>
        <p:nvSpPr>
          <p:cNvPr id="13" name="hf-1225">
            <a:extLst xmlns:a="http://schemas.openxmlformats.org/drawingml/2006/main">
              <a:ext uri="{FF2B5EF4-FFF2-40B4-BE49-F238E27FC236}">
                <a16:creationId xmlns:a16="http://schemas.microsoft.com/office/drawing/2014/main" id="{44E466D3-C347-4500-B6F9-EF52D6C6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595" y="1891551"/>
            <a:ext cx="26766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8K</a:t>
            </a:r>
          </a:p>
        </p:txBody>
      </p:sp>
      <p:sp>
        <p:nvSpPr>
          <p:cNvPr id="14" name="hf-1226">
            <a:extLst xmlns:a="http://schemas.openxmlformats.org/drawingml/2006/main">
              <a:ext uri="{FF2B5EF4-FFF2-40B4-BE49-F238E27FC236}">
                <a16:creationId xmlns:a16="http://schemas.microsoft.com/office/drawing/2014/main" id="{E3149BEA-4253-4EAB-ADE8-50E9FDFE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428" y="2429713"/>
            <a:ext cx="2718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4K</a:t>
            </a:r>
          </a:p>
        </p:txBody>
      </p:sp>
      <p:sp>
        <p:nvSpPr>
          <p:cNvPr id="15" name="hf-1227">
            <a:extLst xmlns:a="http://schemas.openxmlformats.org/drawingml/2006/main">
              <a:ext uri="{FF2B5EF4-FFF2-40B4-BE49-F238E27FC236}">
                <a16:creationId xmlns:a16="http://schemas.microsoft.com/office/drawing/2014/main" id="{671DB9E0-98AD-44A9-B49D-C20D7215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70" y="2972638"/>
            <a:ext cx="15969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0</a:t>
            </a:r>
          </a:p>
        </p:txBody>
      </p:sp>
      <p:sp>
        <p:nvSpPr>
          <p:cNvPr id="16" name="hf-1228">
            <a:extLst xmlns:a="http://schemas.openxmlformats.org/drawingml/2006/main">
              <a:ext uri="{FF2B5EF4-FFF2-40B4-BE49-F238E27FC236}">
                <a16:creationId xmlns:a16="http://schemas.microsoft.com/office/drawing/2014/main" id="{977E1EEE-BA7E-474C-B81B-A22AAA32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971" y="3101226"/>
            <a:ext cx="351309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500</a:t>
            </a:r>
          </a:p>
        </p:txBody>
      </p:sp>
      <p:sp>
        <p:nvSpPr>
          <p:cNvPr id="17" name="hf-1229">
            <a:extLst xmlns:a="http://schemas.openxmlformats.org/drawingml/2006/main">
              <a:ext uri="{FF2B5EF4-FFF2-40B4-BE49-F238E27FC236}">
                <a16:creationId xmlns:a16="http://schemas.microsoft.com/office/drawing/2014/main" id="{6D22BF38-31C7-4B9C-8961-CB2C10EF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7059" y="3101226"/>
            <a:ext cx="7202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N = 1000</a:t>
            </a:r>
          </a:p>
        </p:txBody>
      </p:sp>
      <p:sp>
        <p:nvSpPr>
          <p:cNvPr id="18" name="hf-1230">
            <a:extLst xmlns:a="http://schemas.openxmlformats.org/drawingml/2006/main">
              <a:ext uri="{FF2B5EF4-FFF2-40B4-BE49-F238E27FC236}">
                <a16:creationId xmlns:a16="http://schemas.microsoft.com/office/drawing/2014/main" id="{0E37B957-E50F-420C-9B2C-9E4EF034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984" y="2681040"/>
            <a:ext cx="46307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350" b="1" i="0">
                <a:solidFill>
                  <a:srgbClr val="E2489B"/>
                </a:solidFill>
                <a:latin typeface="Montserrat"/>
                <a:ea typeface="Montserrat"/>
                <a:cs typeface="Montserrat"/>
              </a:rPr>
              <a:t>O(N)</a:t>
            </a:r>
          </a:p>
        </p:txBody>
      </p:sp>
      <p:sp>
        <p:nvSpPr>
          <p:cNvPr id="19" name="hf-1231">
            <a:extLst xmlns:a="http://schemas.openxmlformats.org/drawingml/2006/main">
              <a:ext uri="{FF2B5EF4-FFF2-40B4-BE49-F238E27FC236}">
                <a16:creationId xmlns:a16="http://schemas.microsoft.com/office/drawing/2014/main" id="{E1E0B8F9-B250-4CAA-BD10-303C33A4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5212" y="2233365"/>
            <a:ext cx="98256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650"/>
              </a:lnSpc>
              <a:buNone/>
            </a:pPr>
            <a:r>
              <a:rPr sz="1350" b="1" i="0">
                <a:solidFill>
                  <a:srgbClr val="46CDAE"/>
                </a:solidFill>
                <a:latin typeface="Montserrat"/>
                <a:ea typeface="Montserrat"/>
                <a:cs typeface="Montserrat"/>
              </a:rPr>
              <a:t>O(N log N)</a:t>
            </a:r>
          </a:p>
        </p:txBody>
      </p:sp>
      <p:sp>
        <p:nvSpPr>
          <p:cNvPr id="20" name="hf-1232">
            <a:extLst xmlns:a="http://schemas.openxmlformats.org/drawingml/2006/main">
              <a:ext uri="{FF2B5EF4-FFF2-40B4-BE49-F238E27FC236}">
                <a16:creationId xmlns:a16="http://schemas.microsoft.com/office/drawing/2014/main" id="{8A8FB70C-29B6-494B-A9C9-1E8DB4A5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1486738"/>
            <a:ext cx="1330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O(N²) — за край</a:t>
            </a:r>
          </a:p>
        </p:txBody>
      </p:sp>
      <p:sp>
        <p:nvSpPr>
          <p:cNvPr id="21" name="hf-1233">
            <a:extLst xmlns:a="http://schemas.openxmlformats.org/drawingml/2006/main">
              <a:ext uri="{FF2B5EF4-FFF2-40B4-BE49-F238E27FC236}">
                <a16:creationId xmlns:a16="http://schemas.microsoft.com/office/drawing/2014/main" id="{B29CDF21-F6D5-4899-B657-6877E898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401013"/>
            <a:ext cx="18067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N</a:t>
            </a:r>
          </a:p>
        </p:txBody>
      </p:sp>
      <p:sp>
        <p:nvSpPr>
          <p:cNvPr id="22" name="hf-1234">
            <a:extLst xmlns:a="http://schemas.openxmlformats.org/drawingml/2006/main">
              <a:ext uri="{FF2B5EF4-FFF2-40B4-BE49-F238E27FC236}">
                <a16:creationId xmlns:a16="http://schemas.microsoft.com/office/drawing/2014/main" id="{4A5B6980-A925-413E-A240-BC7EE172B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792" y="1401013"/>
            <a:ext cx="41485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</a:rPr>
              <a:t>O(N)</a:t>
            </a:r>
          </a:p>
        </p:txBody>
      </p:sp>
      <p:sp>
        <p:nvSpPr>
          <p:cNvPr id="23" name="hf-1235">
            <a:extLst xmlns:a="http://schemas.openxmlformats.org/drawingml/2006/main">
              <a:ext uri="{FF2B5EF4-FFF2-40B4-BE49-F238E27FC236}">
                <a16:creationId xmlns:a16="http://schemas.microsoft.com/office/drawing/2014/main" id="{9333FD9C-E866-48D1-A6C2-7FFD42E5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3367" y="1401013"/>
            <a:ext cx="87057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</a:rPr>
              <a:t>O(N log N)</a:t>
            </a:r>
          </a:p>
        </p:txBody>
      </p:sp>
      <p:sp>
        <p:nvSpPr>
          <p:cNvPr id="24" name="hf-1236">
            <a:extLst xmlns:a="http://schemas.openxmlformats.org/drawingml/2006/main">
              <a:ext uri="{FF2B5EF4-FFF2-40B4-BE49-F238E27FC236}">
                <a16:creationId xmlns:a16="http://schemas.microsoft.com/office/drawing/2014/main" id="{78DF58F1-7D21-4D0E-8885-A91E77EB1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647825"/>
            <a:ext cx="3205163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33333"/>
            </a:solidFill>
          </a:ln>
        </p:spPr>
      </p:sp>
      <p:sp>
        <p:nvSpPr>
          <p:cNvPr id="25" name="hf-1237">
            <a:extLst xmlns:a="http://schemas.openxmlformats.org/drawingml/2006/main">
              <a:ext uri="{FF2B5EF4-FFF2-40B4-BE49-F238E27FC236}">
                <a16:creationId xmlns:a16="http://schemas.microsoft.com/office/drawing/2014/main" id="{5A5AA731-90B9-4BB9-86F9-99E8F5AB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696288"/>
            <a:ext cx="470371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1 000</a:t>
            </a:r>
          </a:p>
        </p:txBody>
      </p:sp>
      <p:sp>
        <p:nvSpPr>
          <p:cNvPr id="26" name="hf-1238">
            <a:extLst xmlns:a="http://schemas.openxmlformats.org/drawingml/2006/main">
              <a:ext uri="{FF2B5EF4-FFF2-40B4-BE49-F238E27FC236}">
                <a16:creationId xmlns:a16="http://schemas.microsoft.com/office/drawing/2014/main" id="{21A6D4CD-B1F6-4553-AE11-94D377E7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6279" y="1696288"/>
            <a:ext cx="470371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1 000</a:t>
            </a:r>
          </a:p>
        </p:txBody>
      </p:sp>
      <p:sp>
        <p:nvSpPr>
          <p:cNvPr id="27" name="hf-1239">
            <a:extLst xmlns:a="http://schemas.openxmlformats.org/drawingml/2006/main">
              <a:ext uri="{FF2B5EF4-FFF2-40B4-BE49-F238E27FC236}">
                <a16:creationId xmlns:a16="http://schemas.microsoft.com/office/drawing/2014/main" id="{BC95B4FF-6380-410D-BF9E-FB9565AF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131" y="1696288"/>
            <a:ext cx="573807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10 000</a:t>
            </a:r>
          </a:p>
        </p:txBody>
      </p:sp>
      <p:sp>
        <p:nvSpPr>
          <p:cNvPr id="28" name="hf-1240">
            <a:extLst xmlns:a="http://schemas.openxmlformats.org/drawingml/2006/main">
              <a:ext uri="{FF2B5EF4-FFF2-40B4-BE49-F238E27FC236}">
                <a16:creationId xmlns:a16="http://schemas.microsoft.com/office/drawing/2014/main" id="{68190A23-CA9C-4F5B-BE59-CA893A6B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029663"/>
            <a:ext cx="823838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1 000 000</a:t>
            </a:r>
          </a:p>
        </p:txBody>
      </p:sp>
      <p:sp>
        <p:nvSpPr>
          <p:cNvPr id="29" name="hf-1241">
            <a:extLst xmlns:a="http://schemas.openxmlformats.org/drawingml/2006/main">
              <a:ext uri="{FF2B5EF4-FFF2-40B4-BE49-F238E27FC236}">
                <a16:creationId xmlns:a16="http://schemas.microsoft.com/office/drawing/2014/main" id="{F76E859A-5CCB-4A4C-A1E7-9A465CCB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812" y="2029663"/>
            <a:ext cx="823838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1 000 000</a:t>
            </a:r>
          </a:p>
        </p:txBody>
      </p:sp>
      <p:sp>
        <p:nvSpPr>
          <p:cNvPr id="30" name="hf-1242">
            <a:extLst xmlns:a="http://schemas.openxmlformats.org/drawingml/2006/main">
              <a:ext uri="{FF2B5EF4-FFF2-40B4-BE49-F238E27FC236}">
                <a16:creationId xmlns:a16="http://schemas.microsoft.com/office/drawing/2014/main" id="{0285184B-05AD-4848-A513-352FF98A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526" y="2029663"/>
            <a:ext cx="957411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20 000 000</a:t>
            </a:r>
          </a:p>
        </p:txBody>
      </p:sp>
      <p:sp>
        <p:nvSpPr>
          <p:cNvPr id="31" name="hf-1243">
            <a:extLst xmlns:a="http://schemas.openxmlformats.org/drawingml/2006/main">
              <a:ext uri="{FF2B5EF4-FFF2-40B4-BE49-F238E27FC236}">
                <a16:creationId xmlns:a16="http://schemas.microsoft.com/office/drawing/2014/main" id="{271B3A55-1916-4E39-99D7-CEEEE919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585466"/>
            <a:ext cx="1457027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6000"/>
              </a:lnSpc>
              <a:buNone/>
            </a:pPr>
            <a:r>
              <a:rPr sz="6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×20</a:t>
            </a:r>
          </a:p>
        </p:txBody>
      </p:sp>
      <p:sp>
        <p:nvSpPr>
          <p:cNvPr id="32" name="hf-1244">
            <a:extLst xmlns:a="http://schemas.openxmlformats.org/drawingml/2006/main">
              <a:ext uri="{FF2B5EF4-FFF2-40B4-BE49-F238E27FC236}">
                <a16:creationId xmlns:a16="http://schemas.microsoft.com/office/drawing/2014/main" id="{E766D5DE-5B45-4488-B9AF-D2942DAD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315538"/>
            <a:ext cx="312234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00" b="0" i="0">
                <a:solidFill>
                  <a:srgbClr val="BDBDBD"/>
                </a:solidFill>
                <a:latin typeface="Montserrat SemiBold"/>
                <a:ea typeface="Montserrat SemiBold"/>
                <a:cs typeface="Montserrat SemiBold"/>
              </a:rPr>
              <a:t>между O(N) и O(N log N) на миллионе</a:t>
            </a:r>
          </a:p>
        </p:txBody>
      </p:sp>
      <p:sp>
        <p:nvSpPr>
          <p:cNvPr id="33" name="hf-1245">
            <a:extLst xmlns:a="http://schemas.openxmlformats.org/drawingml/2006/main">
              <a:ext uri="{FF2B5EF4-FFF2-40B4-BE49-F238E27FC236}">
                <a16:creationId xmlns:a16="http://schemas.microsoft.com/office/drawing/2014/main" id="{864E7610-F31E-412A-8B73-714451E8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714750"/>
            <a:ext cx="80295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34" name="hf-1246">
            <a:extLst xmlns:a="http://schemas.openxmlformats.org/drawingml/2006/main">
              <a:ext uri="{FF2B5EF4-FFF2-40B4-BE49-F238E27FC236}">
                <a16:creationId xmlns:a16="http://schemas.microsoft.com/office/drawing/2014/main" id="{87CFA5C0-7B20-4ACB-9B53-20AFD05B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3" y="3819696"/>
            <a:ext cx="427650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850"/>
              </a:lnSpc>
              <a:buNone/>
            </a:pPr>
            <a:r>
              <a:rPr sz="195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Время ≈ N × шагов × </a:t>
            </a:r>
            <a:r>
              <a:rPr sz="195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цена шага</a:t>
            </a:r>
          </a:p>
        </p:txBody>
      </p:sp>
      <p:sp>
        <p:nvSpPr>
          <p:cNvPr id="35" name="hf-1247">
            <a:extLst xmlns:a="http://schemas.openxmlformats.org/drawingml/2006/main">
              <a:ext uri="{FF2B5EF4-FFF2-40B4-BE49-F238E27FC236}">
                <a16:creationId xmlns:a16="http://schemas.microsoft.com/office/drawing/2014/main" id="{D692B514-C8F5-4868-B565-F8283615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846014"/>
            <a:ext cx="220786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75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шаг стоит от 1 до 100 нс —</a:t>
            </a:r>
          </a:p>
        </p:txBody>
      </p:sp>
      <p:sp>
        <p:nvSpPr>
          <p:cNvPr id="36" name="hf-1248">
            <a:extLst xmlns:a="http://schemas.openxmlformats.org/drawingml/2006/main">
              <a:ext uri="{FF2B5EF4-FFF2-40B4-BE49-F238E27FC236}">
                <a16:creationId xmlns:a16="http://schemas.microsoft.com/office/drawing/2014/main" id="{1A0BAF80-A710-4E46-8B82-809DAC01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036514"/>
            <a:ext cx="1108621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500"/>
              </a:lnSpc>
              <a:buNone/>
            </a:pPr>
            <a:r>
              <a:rPr sz="1275" b="0" i="0">
                <a:solidFill>
                  <a:srgbClr val="C8C8C8"/>
                </a:solidFill>
                <a:latin typeface="Montserrat"/>
                <a:ea typeface="Montserrat"/>
                <a:cs typeface="Montserrat"/>
              </a:rPr>
              <a:t>два порядка</a:t>
            </a:r>
          </a:p>
        </p:txBody>
      </p:sp>
      <p:pic>
        <p:nvPicPr>
          <p:cNvPr id="37" name="hf-1249">
            <a:extLst xmlns:a="http://schemas.openxmlformats.org/drawingml/2006/main">
              <a:ext uri="{FF2B5EF4-FFF2-40B4-BE49-F238E27FC236}">
                <a16:creationId xmlns:a16="http://schemas.microsoft.com/office/drawing/2014/main" id="{644D8900-BCCE-4487-9833-7A1248648A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17615d4f1494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38" name="hf-1250">
            <a:extLst xmlns:a="http://schemas.openxmlformats.org/drawingml/2006/main">
              <a:ext uri="{FF2B5EF4-FFF2-40B4-BE49-F238E27FC236}">
                <a16:creationId xmlns:a16="http://schemas.microsoft.com/office/drawing/2014/main" id="{807D3661-3EC3-41BE-829C-935DF807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1601589925"/>
      </p:ext>
    </p:extLst>
  </p:cSld>
</p:sld>
</file>

<file path=ppt/slides/slide50.xml><?xml version="1.0" encoding="utf-8"?>
<p:sld xmlns:p="http://schemas.openxmlformats.org/presentationml/2006/main" show="0">
  <p:cSld name="questions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f-1251">
            <a:extLst xmlns:a="http://schemas.openxmlformats.org/drawingml/2006/main">
              <a:ext uri="{FF2B5EF4-FFF2-40B4-BE49-F238E27FC236}">
                <a16:creationId xmlns:a16="http://schemas.microsoft.com/office/drawing/2014/main" id="{A22CEF4F-A4F3-4DE0-9A5D-6ED6BF84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37923"/>
            <a:ext cx="633338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350"/>
              </a:lnSpc>
              <a:buNone/>
            </a:pPr>
            <a:r>
              <a:rPr sz="1099" b="0" i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</a:rPr>
              <a:t>АРХИВ</a:t>
            </a:r>
          </a:p>
        </p:txBody>
      </p:sp>
      <p:sp>
        <p:nvSpPr>
          <p:cNvPr id="3" name="hf-1252">
            <a:extLst xmlns:a="http://schemas.openxmlformats.org/drawingml/2006/main">
              <a:ext uri="{FF2B5EF4-FFF2-40B4-BE49-F238E27FC236}">
                <a16:creationId xmlns:a16="http://schemas.microsoft.com/office/drawing/2014/main" id="{51EE8A4F-937A-481A-AD89-8A2ADF87C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549035"/>
            <a:ext cx="6295281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ПРЕЖДЕ ЧЕМ ВЫБИРАТЬ КОНТЕЙНЕР —</a:t>
            </a:r>
          </a:p>
        </p:txBody>
      </p:sp>
      <p:sp>
        <p:nvSpPr>
          <p:cNvPr id="4" name="hf-1253">
            <a:extLst xmlns:a="http://schemas.openxmlformats.org/drawingml/2006/main">
              <a:ext uri="{FF2B5EF4-FFF2-40B4-BE49-F238E27FC236}">
                <a16:creationId xmlns:a16="http://schemas.microsoft.com/office/drawing/2014/main" id="{05FC7473-22B0-45C4-BE8A-3EC0B18A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861946"/>
            <a:ext cx="2967186" cy="331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464"/>
              </a:lnSpc>
              <a:buNone/>
            </a:pPr>
            <a:r>
              <a:rPr sz="2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ШЕСТЬ ВОПРОСОВ</a:t>
            </a:r>
          </a:p>
        </p:txBody>
      </p:sp>
      <p:sp>
        <p:nvSpPr>
          <p:cNvPr id="5" name="hf-1254">
            <a:extLst xmlns:a="http://schemas.openxmlformats.org/drawingml/2006/main">
              <a:ext uri="{FF2B5EF4-FFF2-40B4-BE49-F238E27FC236}">
                <a16:creationId xmlns:a16="http://schemas.microsoft.com/office/drawing/2014/main" id="{5827ED74-D8DA-4955-B559-DAF1EC1D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440371"/>
            <a:ext cx="211336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6" name="hf-1255">
            <a:extLst xmlns:a="http://schemas.openxmlformats.org/drawingml/2006/main">
              <a:ext uri="{FF2B5EF4-FFF2-40B4-BE49-F238E27FC236}">
                <a16:creationId xmlns:a16="http://schemas.microsoft.com/office/drawing/2014/main" id="{5FDBCB98-207A-475C-AFAF-F19B3B9A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57830"/>
            <a:ext cx="608841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Что нужно на выходе: порядок, сортировка, исходник?</a:t>
            </a:r>
          </a:p>
        </p:txBody>
      </p:sp>
      <p:sp>
        <p:nvSpPr>
          <p:cNvPr id="7" name="hf-1256">
            <a:extLst xmlns:a="http://schemas.openxmlformats.org/drawingml/2006/main">
              <a:ext uri="{FF2B5EF4-FFF2-40B4-BE49-F238E27FC236}">
                <a16:creationId xmlns:a16="http://schemas.microsoft.com/office/drawing/2014/main" id="{291907BF-8A03-4F21-B3B5-1CDD698D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1964246"/>
            <a:ext cx="285304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8" name="hf-1257">
            <a:extLst xmlns:a="http://schemas.openxmlformats.org/drawingml/2006/main">
              <a:ext uri="{FF2B5EF4-FFF2-40B4-BE49-F238E27FC236}">
                <a16:creationId xmlns:a16="http://schemas.microsoft.com/office/drawing/2014/main" id="{0A901F77-3911-4013-98D2-A3FD6AC4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81705"/>
            <a:ext cx="3834631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Какие у вас N и доля уникальных?</a:t>
            </a:r>
          </a:p>
        </p:txBody>
      </p:sp>
      <p:sp>
        <p:nvSpPr>
          <p:cNvPr id="9" name="hf-1258">
            <a:extLst xmlns:a="http://schemas.openxmlformats.org/drawingml/2006/main">
              <a:ext uri="{FF2B5EF4-FFF2-40B4-BE49-F238E27FC236}">
                <a16:creationId xmlns:a16="http://schemas.microsoft.com/office/drawing/2014/main" id="{92A05A93-90A7-4011-B38E-6B7DAEEBF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2488121"/>
            <a:ext cx="286717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0" name="hf-1259">
            <a:extLst xmlns:a="http://schemas.openxmlformats.org/drawingml/2006/main">
              <a:ext uri="{FF2B5EF4-FFF2-40B4-BE49-F238E27FC236}">
                <a16:creationId xmlns:a16="http://schemas.microsoft.com/office/drawing/2014/main" id="{B0E8762C-5C69-4CE0-ACD0-573DB33C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05580"/>
            <a:ext cx="5133901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Какой именно контейнер, а не «хеш вообще»?</a:t>
            </a:r>
          </a:p>
        </p:txBody>
      </p:sp>
      <p:sp>
        <p:nvSpPr>
          <p:cNvPr id="11" name="hf-1260">
            <a:extLst xmlns:a="http://schemas.openxmlformats.org/drawingml/2006/main">
              <a:ext uri="{FF2B5EF4-FFF2-40B4-BE49-F238E27FC236}">
                <a16:creationId xmlns:a16="http://schemas.microsoft.com/office/drawing/2014/main" id="{AACB8F04-3D3D-494B-A415-EBAD9CEC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011996"/>
            <a:ext cx="32399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12" name="hf-1261">
            <a:extLst xmlns:a="http://schemas.openxmlformats.org/drawingml/2006/main">
              <a:ext uri="{FF2B5EF4-FFF2-40B4-BE49-F238E27FC236}">
                <a16:creationId xmlns:a16="http://schemas.microsoft.com/office/drawing/2014/main" id="{27C4118D-4BED-4E22-9B43-0FDB9C6A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29455"/>
            <a:ext cx="592834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Какая система и связка компилятора с библиотекой?</a:t>
            </a:r>
          </a:p>
        </p:txBody>
      </p:sp>
      <p:sp>
        <p:nvSpPr>
          <p:cNvPr id="13" name="hf-1262">
            <a:extLst xmlns:a="http://schemas.openxmlformats.org/drawingml/2006/main">
              <a:ext uri="{FF2B5EF4-FFF2-40B4-BE49-F238E27FC236}">
                <a16:creationId xmlns:a16="http://schemas.microsoft.com/office/drawing/2014/main" id="{AD75CB1E-11AB-4149-8575-A64634D3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3535871"/>
            <a:ext cx="28828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5</a:t>
            </a:r>
          </a:p>
        </p:txBody>
      </p:sp>
      <p:sp>
        <p:nvSpPr>
          <p:cNvPr id="14" name="hf-1263">
            <a:extLst xmlns:a="http://schemas.openxmlformats.org/drawingml/2006/main">
              <a:ext uri="{FF2B5EF4-FFF2-40B4-BE49-F238E27FC236}">
                <a16:creationId xmlns:a16="http://schemas.microsoft.com/office/drawing/2014/main" id="{24F926E8-D909-4991-BD99-B6396827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53330"/>
            <a:ext cx="6686178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Первый запрос или длительная нагрузка, какой приоритет?</a:t>
            </a:r>
          </a:p>
        </p:txBody>
      </p:sp>
      <p:sp>
        <p:nvSpPr>
          <p:cNvPr id="15" name="hf-1264">
            <a:extLst xmlns:a="http://schemas.openxmlformats.org/drawingml/2006/main">
              <a:ext uri="{FF2B5EF4-FFF2-40B4-BE49-F238E27FC236}">
                <a16:creationId xmlns:a16="http://schemas.microsoft.com/office/drawing/2014/main" id="{348EF8B0-1A01-411A-9E1A-9D37FEBF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3" y="4059746"/>
            <a:ext cx="304428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3000"/>
              </a:lnSpc>
              <a:buNone/>
            </a:pPr>
            <a:r>
              <a:rPr sz="3000" b="1" i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</a:rPr>
              <a:t>6</a:t>
            </a:r>
          </a:p>
        </p:txBody>
      </p:sp>
      <p:sp>
        <p:nvSpPr>
          <p:cNvPr id="16" name="hf-1265">
            <a:extLst xmlns:a="http://schemas.openxmlformats.org/drawingml/2006/main">
              <a:ext uri="{FF2B5EF4-FFF2-40B4-BE49-F238E27FC236}">
                <a16:creationId xmlns:a16="http://schemas.microsoft.com/office/drawing/2014/main" id="{BABAC1DD-B1CC-415D-9761-D257E31C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7205"/>
            <a:ext cx="5428729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2100"/>
              </a:lnSpc>
              <a:buNone/>
            </a:pPr>
            <a:r>
              <a:rPr sz="1575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Какую долю всего этапа занимает эта операция?</a:t>
            </a:r>
          </a:p>
        </p:txBody>
      </p:sp>
      <p:pic>
        <p:nvPicPr>
          <p:cNvPr id="17" name="hf-1266">
            <a:extLst xmlns:a="http://schemas.openxmlformats.org/drawingml/2006/main">
              <a:ext uri="{FF2B5EF4-FFF2-40B4-BE49-F238E27FC236}">
                <a16:creationId xmlns:a16="http://schemas.microsoft.com/office/drawing/2014/main" id="{250B2F67-E38A-4E19-AA00-CA5AED9810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6cc5c7d969477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553325" y="686355"/>
            <a:ext cx="1095375" cy="375128"/>
          </a:xfrm>
          <a:prstGeom xmlns:a="http://schemas.openxmlformats.org/drawingml/2006/main" prst="rect">
            <a:avLst/>
          </a:prstGeom>
        </p:spPr>
      </p:pic>
      <p:sp>
        <p:nvSpPr>
          <p:cNvPr id="18" name="hf-1267">
            <a:extLst xmlns:a="http://schemas.openxmlformats.org/drawingml/2006/main">
              <a:ext uri="{FF2B5EF4-FFF2-40B4-BE49-F238E27FC236}">
                <a16:creationId xmlns:a16="http://schemas.microsoft.com/office/drawing/2014/main" id="{2F65B540-6B3E-47BC-8423-D235CBDE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428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/>
          </a:lstStyle>
          <a:p xmlns:a="http://schemas.openxmlformats.org/drawingml/2006/main">
            <a:pPr algn="l">
              <a:lnSpc>
                <a:spcPts val="1275"/>
              </a:lnSpc>
              <a:buNone/>
            </a:pPr>
            <a:r>
              <a:rPr sz="1001" b="0" i="0">
                <a:solidFill>
                  <a:srgbClr val="EFEFEF"/>
                </a:solidFill>
                <a:latin typeface="Montserrat"/>
                <a:ea typeface="Montserrat"/>
                <a:cs typeface="Montserrat"/>
              </a:rPr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17561565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Никита Нагорнов</dc:creator>
  <lastModifiedBy>Walnut Exporter</lastModifiedBy>
  <dc:title>O(n) проиграл O(n log n) — HardFest 2026</dc:title>
  <dcterms:created xsi:type="dcterms:W3CDTF">2026-10-05T18:08:12.8870000Z</dcterms:created>
  <dcterms:modified xsi:type="dcterms:W3CDTF">2026-10-05T18:08:12.8870000Z</dcterms:modified>
  <dc:subject>HardFest 2026</dc:subject>
</coreProperties>
</file>