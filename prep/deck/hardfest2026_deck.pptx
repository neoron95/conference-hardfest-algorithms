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Geologica Light"/>
      <p:regular r:id="rId45"/>
      <p:bold r:id="rId46"/>
    </p:embeddedFont>
    <p:embeddedFont>
      <p:font typeface="Montserrat ExtraBold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88">
          <p15:clr>
            <a:srgbClr val="A4A3A4"/>
          </p15:clr>
        </p15:guide>
        <p15:guide id="2" pos="486">
          <p15:clr>
            <a:srgbClr val="A4A3A4"/>
          </p15:clr>
        </p15:guide>
        <p15:guide id="3" orient="horz" pos="1780">
          <p15:clr>
            <a:srgbClr val="9AA0A6"/>
          </p15:clr>
        </p15:guide>
        <p15:guide id="4" pos="4365">
          <p15:clr>
            <a:srgbClr val="9AA0A6"/>
          </p15:clr>
        </p15:guide>
      </p15:sldGuideLst>
    </p:ext>
    <p:ext uri="GoogleSlidesCustomDataVersion2">
      <go:slidesCustomData xmlns:go="http://customooxmlschemas.google.com/" r:id="rId49" roundtripDataSignature="AMtx7mjas4xEMSSX/Phs3hgFBUcU/ga+Hg=="/>
    </p:ext>
    <p:ext uri="{521415D9-36F7-43E2-AB2F-B90AF26B5E84}">
      <p14:sectionLst>
        <p14:section name="Вступление: диф, задача, ставка зала и первый переворот" id="{356A1483-D1A5-463D-A90C-3A771E0E9476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Раунд 1: размер и память" id="{73CC5286-8E1D-4865-A7AC-3FF210D3C085}">
          <p14:sldIdLst>
            <p14:sldId id="262"/>
            <p14:sldId id="263"/>
            <p14:sldId id="264"/>
            <p14:sldId id="265"/>
          </p14:sldIdLst>
        </p14:section>
        <p14:section name="Раунд 2: реализация хеша" id="{81C39012-1A76-4502-BEC4-90E7F87BF5F4}">
          <p14:sldIdLst>
            <p14:sldId id="266"/>
            <p14:sldId id="267"/>
          </p14:sldIdLst>
        </p14:section>
        <p14:section name="Раунд 3: данные и тикет" id="{CEB82B1F-041D-456B-BED0-B3AD55B64D1E}">
          <p14:sldIdLst>
            <p14:sldId id="268"/>
            <p14:sldId id="269"/>
            <p14:sldId id="270"/>
            <p14:sldId id="271"/>
            <p14:sldId id="272"/>
          </p14:sldIdLst>
        </p14:section>
        <p14:section name="Мост: бенчмарк врал" id="{4C18E718-36E7-48F2-B5A6-F378BA39AF53}">
          <p14:sldIdLst>
            <p14:sldId id="273"/>
          </p14:sldIdLst>
        </p14:section>
        <p14:section name="Раунд 4: процессор" id="{F33D11F3-39E1-4F73-8C09-CAF7F09DED1D}">
          <p14:sldIdLst>
            <p14:sldId id="274"/>
            <p14:sldId id="275"/>
            <p14:sldId id="276"/>
            <p14:sldId id="277"/>
          </p14:sldIdLst>
        </p14:section>
        <p14:section name="Финал: цена, правило выбора, ревью" id="{ABEF51D9-A404-46F3-893D-1FA2590DA039}">
          <p14:sldIdLst>
            <p14:sldId id="278"/>
            <p14:sldId id="279"/>
            <p14:sldId id="280"/>
            <p14:sldId id="281"/>
          </p14:sldIdLst>
        </p14:section>
        <p14:section name="Backup для вопросов" id="{03BE9AB4-A40E-4378-ACC7-E7BCB15DF2D8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Архив: слайды, влитые в другие (скрыты)" id="{1EAF4170-CF47-4E65-8021-D087FCD845B3}">
          <p14:sldIdLst>
            <p14:sldId id="300"/>
            <p14:sldId id="301"/>
            <p14:sldId id="30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88" orient="horz"/>
        <p:guide pos="486"/>
        <p:guide pos="1780" orient="horz"/>
        <p:guide pos="4365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GeologicaLight-regular.fntdata"/><Relationship Id="rId46" Type="http://schemas.openxmlformats.org/officeDocument/2006/relationships/font" Target="fonts/GeologicaLight-bold.fntdata"/><Relationship Id="rId47" Type="http://schemas.openxmlformats.org/officeDocument/2006/relationships/font" Target="fonts/MontserratExtraBold-bold.fntdata"/><Relationship Id="rId48" Type="http://schemas.openxmlformats.org/officeDocument/2006/relationships/font" Target="fonts/MontserratExtraBold-boldItalic.fntdata"/><Relationship Id="rId49" Type="http://customschemas.google.com/relationships/presentationmetadata" Target="metadata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Relationship Id="rId59" Type="http://schemas.openxmlformats.org/officeDocument/2006/relationships/slide" Target="slides/slide41.xml"/><Relationship Id="rId60" Type="http://schemas.openxmlformats.org/officeDocument/2006/relationships/slide" Target="slides/slide42.xml"/><Relationship Id="rId61" Type="http://schemas.openxmlformats.org/officeDocument/2006/relationships/slide" Target="slides/slide43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4" Type="http://schemas.openxmlformats.org/officeDocument/2006/relationships/slide" Target="slides/slide46.xml"/><Relationship Id="rId65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[две секунды тишины, смотрю в зал]</a:t>
            </a:r>
          </a:p>
          <a:p>
            <a:r>
              <a:t>Добрый день. Я Никита, пишу iOS-приложения в компании «Исходный код», а C++ у меня со времён ICPC. Поэтому цифры будут и с сервера, и с Mac, и с iPhone. [→ следующий слайд]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0:15, к концу 0:15.</a:t>
            </a:r>
          </a:p>
          <a:p>
            <a:r>
              <a:t>Щелчки: нет, всё на экране сразу.</a:t>
            </a:r>
          </a:p>
          <a:p>
            <a:r>
              <a:t>Если отстаю (−15 с): Если модератор уже представил: «Спасибо», [→ следующий слайд] и сразу «Вторник, 17:40…». Биографию не повторяю.</a:t>
            </a:r>
          </a:p>
          <a:p>
            <a:r>
              <a:t>Под рукой:</a:t>
            </a:r>
          </a:p>
          <a:p>
            <a:r>
              <a:t>• «Исходный код» — компания, а не трек.</a:t>
            </a:r>
          </a:p>
          <a:p>
            <a:r>
              <a:t>• «Зачем C++ в iOS?» → [ответ: общий C++-модуль синхронизации или C++ только для бенчмарка]. C++ здесь общий знаменатель: один и тот же код без изменений на x86, Mac и iPhone, иначе сравнение платформ смешалось бы со сравнением языков.</a:t>
            </a:r>
          </a:p>
          <a:p>
            <a:r>
              <a:t>• cover + diff — первые 60 секунд: учу дословно, прогоняю вслух накануне и утром.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Вторник, 17:40, код-ревью. [пауза 1 с] Коллега заменил сортировку на хеш-таблицу. [щелчок] И подписал: «линейно вместо n log n». Такой диф видел почти каждый в этом зале.</a:t>
            </a:r>
          </a:p>
          <a:p>
            <a:r>
              <a:t>[щелчок] Кто бы поставил approve? [поднимаю свою руку, держу 4 с] [рука зала: «почти все»] Я бы тоже поставил, года три назад. [опускаю руку, пауза]</a:t>
            </a:r>
          </a:p>
          <a:p>
            <a:r>
              <a:t>Две мелочи на потом: в дифе нет reserve, и выход больше не отсортирован. Контракт поменялся молча.</a:t>
            </a:r>
          </a:p>
          <a:p>
            <a:r>
              <a:t>Через полчаса вы будете знать, на каком телефоне этот approve стоит до трёх раз дороже. И почему CI вам этого не покажет — ни для телефона, ни для сервера. [пауза] Но сначала — задача, с которой всё началось.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0:45, к концу 1:00.</a:t>
            </a:r>
          </a:p>
          <a:p>
            <a:r>
              <a:t>Щелчки: 1 — Коллега: «Линейно вместо n log n»; 2 — Approve ✓.</a:t>
            </a:r>
          </a:p>
          <a:p>
            <a:r>
              <a:t>Если отстаю (−15 с): Выбросить «Две мелочи на потом…». Тогда на vote сказать просто «reserve я в замерах добавил», а на outcontract — «выход молча перестал быть отсортированным», без «вторая мелочь».</a:t>
            </a:r>
          </a:p>
          <a:p>
            <a:r>
              <a:t>Под рукой:</a:t>
            </a:r>
          </a:p>
          <a:p>
            <a:r>
              <a:t>• «Вы мерили с reserve, а в дифе его нет»: с reserve хешу лучше, чем в дифе. Без него в libc++ 20 перестроений, простое число ячеек (а с ним деление) и 51,5 МБ запрошенной памяти вместо 33,6 (cpp.md §2.3). По времени вариант без reserve я не мерил.</a:t>
            </a:r>
          </a:p>
          <a:p>
            <a:r>
              <a:t>• Мосты — только идея, не цифры: Java HashSet&lt;Long&gt; — узел плюс упакованный Long; map в Go ≥ 1.24 и HashMap в Rust — плоские Swiss-таблицы; set в Python — открытая адресация. Те же ×2,6 им не обещать: не мерил.</a:t>
            </a:r>
          </a:p>
          <a:p>
            <a:r>
              <a:t>• «До трёх раз» — это ×3,3 на 1M в .utility на [модель iPhone]; на 256K и 512K — ×1,3 и ×1,9 (flip). Поэтому «до», а не «втрое». Модель вслух называю на result и x33.</a:t>
            </a:r>
          </a:p>
          <a:p>
            <a:r>
              <a:t>С экрана убрано: та же идея — HashSet в Java, set в Python, map в Go; устроены они по-разному, об этом раунд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Человек вышел из метро, приложение ожило. Локально лежат id записей из SQLite. С сервера пришла дельта с дублями: ретраи, перекрытия страниц. Нужен массив без повторов.</a:t>
            </a:r>
          </a:p>
          <a:p>
            <a:r>
              <a:t>[щелчок] Три детали — три чеховских ружья. Первое: локальные id уже отсортированы. [щелчок] Второе: ключ — 64-битное число. [щелчок] Третье: работает всё это в Task(priority: .utility). По-человечески — «не срочно».</a:t>
            </a:r>
          </a:p>
          <a:p>
            <a:r>
              <a:t>Миллион — верхняя граница теста: у долгоживущих аккаунтов бывают сотни тысяч.</a:t>
            </a:r>
          </a:p>
          <a:p>
            <a:r>
              <a:t>Оговорка: в замерах id случайные, а rowid идут подряд. На таких стандартной хеш-таблице везёт: на x86 она обгоняет сортировку в полтора с лишним раза. Ответ для них — в третьем раунде.</a:t>
            </a:r>
          </a:p>
          <a:p>
            <a:r>
              <a:t>Как убрать повторы? Способов два.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0:50, к концу 1:50.</a:t>
            </a:r>
          </a:p>
          <a:p>
            <a:r>
              <a:t>Щелчки: 1 — 1, Локальные id уже отсортированы; 2 — 2, Ключ — uint64_t; 3 — 3, Task(priority:.utility), «не срочно».</a:t>
            </a:r>
          </a:p>
          <a:p>
            <a:r>
              <a:t>Если отстаю (−15 с): Выбросить фразу про размеры: она на экране. Оговорку про rowid не выбрасывать, сжать до «В замерах id случайные; на плотных rowid хешу везёт — ответ для них в третьем раунде».</a:t>
            </a:r>
          </a:p>
          <a:p>
            <a:r>
              <a:t>Под рукой:</a:t>
            </a:r>
          </a:p>
          <a:p>
            <a:r>
              <a:t>• Плотные id: std::hash для целых — тождество, коллизий ноль. x86, 1M, U = N/2 (bench.md E7): unordered_set ускоряется в 1,65 раза и обгоняет сортировку в 1,7 раза (52,8 против 87,8; libc++ 53,3 против 89,8), а на случайных id там ничья. При U = N вся операция быстрее в 4,7 раза (320 → 68 нс/эл, cpp.md §6). Radix на плотных — 3 прохода вместо 8. Ответ: «Случайные выбраны, чтобы раскладка не зависела от удачи. Для rowid кандидат лучше обоих — слияние, раунд 3; ему всё равно, какие id».</a:t>
            </a:r>
          </a:p>
          <a:p>
            <a:r>
              <a:t>• Id с нулевыми младшими битами в libc++ после reserve(2^k) занимают малую долю ячеек: при шаге 1024 — 64 ячейки из 65 536, цепочки по 1024, вставка медленнее в 70 раз; при шаге 2^20 — одна цепочка, в 1500 раз (cpp.md §6).</a:t>
            </a:r>
          </a:p>
          <a:p>
            <a:r>
              <a:t>• «Миллион на телефоне — кому это надо?» Почти никому, так и сказано; цена на prod посчитана на полумиллионе. Task и QoS: Task(priority: .utility) исполняется на кооперативном потоке с QoS utility (0x11 в исходниках Swift); в бенчмарке QoS ставится через pthread_set_qos_class_self_np. Если экран ждёт await task.value, приоритет задачи поднимут до ожидающей.</a:t>
            </a:r>
          </a:p>
          <a:p>
            <a:r>
              <a:t>Условия и источники (были в подвале слайда): В сериях — случайные 64-битные id. На плотных rowid узловой таблице везёт (x86: быстрее сортировки в 1,7 раза), на id с нулевыми младшими битами — наоборот. Меряйте свои</a:t>
            </a:r>
          </a:p>
          <a:p>
            <a:r>
              <a:t>С экрана убрано: Размер: тысячи id у обычного пользователя, сотни тысяч у долгоживущих аккаунтов; 1M — верхняя граница теста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Способ A: отсортировать. Одинаковые id встанут рядом, unique схлопнет их за проход. Это n log n. Способ B: хеш-таблица. Она сама отбросит повторы, останется выгрузить. В среднем линейно. И первая мелочь из дифа: reserve я в замерах добавил — это экономит хешу двадцать перестроений таблицы.</a:t>
            </a:r>
          </a:p>
          <a:p>
            <a:r>
              <a:t>[щелчок] Логарифм миллиона — около двадцати. На бумаге хеш делает в двадцать раз меньше шагов.</a:t>
            </a:r>
          </a:p>
          <a:p>
            <a:r>
              <a:t>[щелчок] Ставка. Миллион 64-битных id, все разные, один поток, порядок на выходе не важен. С чего вы начали бы до всяких замеров? Название доклада вы видели, но голосуйте так, как написали бы сами. Голосуют все. [поднимаю руку на каждом варианте]</a:t>
            </a:r>
          </a:p>
          <a:p>
            <a:r>
              <a:t>A — с сортировки? [пауза 3 с] [итог одним словом, например: «примерно треть»]</a:t>
            </a:r>
          </a:p>
          <a:p>
            <a:r>
              <a:t>B — с хеш-таблицы? [пауза 3 с] [итог, например: «человек двадцать — смело, название вы видели»]</a:t>
            </a:r>
          </a:p>
          <a:p>
            <a:r>
              <a:t>C — сначала спросил бы условие? Кто ещё не поднял руку — вы здесь. [пауза 3 с] [итог, например: «половина зала»]</a:t>
            </a:r>
          </a:p>
          <a:p>
            <a:r>
              <a:t>Какое условие? [рука зала: беру один ответ, не дольше 15 с] Держим его в голове — он ещё пригодится. [ставлю отметки на карточке у ноутбука: победившая буква, доля B, ответ C одним словом]</a:t>
            </a:r>
          </a:p>
          <a:p>
            <a:r>
              <a:t>Запомните свою руку — в конце вернёмся. [если рук нет: «Руки берегут для вопросов, понимаю. Тогда загадайте букву — через минуту проверим».] А вот что показал секундомер.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1:15, к концу 3:05.</a:t>
            </a:r>
          </a:p>
          <a:p>
            <a:r>
              <a:t>Щелчки: 1 — log₂ 10⁶ ≈ 20; 2 — C, сначала спросил бы условие, 1M 64-битных id · все разные · один поток · порядок не важен, С чего начали бы вы?.</a:t>
            </a:r>
          </a:p>
          <a:p>
            <a:r>
              <a:t>Если отстаю (−25 с): Не пересказывать A и B: код на экране. Начать с «Логарифм миллиона — около двадцати», про reserve — «reserve в замерах есть». Ответ от C не брать: «какое условие — держите при себе, ещё пригодится». Паузы и ответ зала съедают около 30 с: если на прогоне слайд дольше 1:25, ответ от C убрать насовсем.</a:t>
            </a:r>
          </a:p>
          <a:p>
            <a:r>
              <a:t>Под рукой:</a:t>
            </a:r>
          </a:p>
          <a:p>
            <a:r>
              <a:t>• Итог каждого варианта называю вслух одним словом — это нужно и для записи: зрители видео зала не видят. На карточке у ноутбука заранее клетки A / B / C, «доля B» и «ответ C». Возвраты: flat — «кто голосовал за B»; ответ C — на share-q, outcontract или qos по теме; review — «большинство здесь было за [буква]».</a:t>
            </a:r>
          </a:p>
          <a:p>
            <a:r>
              <a:t>• Куда ведёт ответ C: «сколько повторов» → share-q; «что нужно на выходе» → outcontract; «на каком железе, с каким приоритетом» → qos. На всех трёх слайдах есть условная ремарка-возврат. Отвечаю одинаково: «Будет. Держим в голове».</a:t>
            </a:r>
          </a:p>
          <a:p>
            <a:r>
              <a:t>• Выкрики с мест в эфир не пускаю: «Отлично, держим это в голове, едем дальше».</a:t>
            </a:r>
          </a:p>
          <a:p>
            <a:r>
              <a:t>С экрана убрано: код вариантов: A — sort(v.begin(), v.end()); v.erase(unique(v.begin(), v.end()), v.end()); B — unordered_set&lt;uint64_t&gt; s; s.reserve(v.size()); for (auto x : v) s.insert(x); v.assign(s.begin(), s.end());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Условия как в ставке, Mac на M2 Pro. Полоски — время на один элемент, короче — лучше. [щелчок] Сортировка — двадцать наносекунд. [щелчок] Хеш-таблица — пятьдесят одна.</a:t>
            </a:r>
          </a:p>
          <a:p>
            <a:r>
              <a:t>[щелчок] [пауза 2 с] O(n) проиграл O(n log n) в два и шесть десятых раза. [пауза 2 с]</a:t>
            </a:r>
          </a:p>
          <a:p>
            <a:r>
              <a:t>На iPhone [модель iPhone] при обычном приоритете почти то же. На серверном x86 — в два-три раза.</a:t>
            </a:r>
          </a:p>
          <a:p>
            <a:r>
              <a:t>[смотрю в зал] И это не открытие. Даниэль Лемир поставил почти такой же опыт в 2017 году, а Чендлер Каррут объяснил, почему так, на CppCon ещё в 2014-м. Я повторил это на своём железе, чтобы дойти туда, где их не было, — до телефона в фоне. Голосовавшим за B: реванш — во втором раунде.</a:t>
            </a:r>
          </a:p>
          <a:p>
            <a:r>
              <a:t>[щелчок] Дальше четыре раунда. Первый — размер и память. Второй — реализация хеша. Третий — данные и тикет. Первые два — классика, пройдём быстро. А в последнем я не трону ни строчки алгоритма — и победитель сменится. [пауза]</a:t>
            </a:r>
          </a:p>
          <a:p>
            <a:r>
              <a:t>Но сначала правило, иначе любое сравнение можно оспорить.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1:20, к концу 4:25.</a:t>
            </a:r>
          </a:p>
          <a:p>
            <a:r>
              <a:t>Щелчки: 1 — sort + unique, 19,9; 2 — unordered_set, 51,3; 3 — ×2,6; 4 — [график], 1 Память, 2 Реализация, 3 Данные, 4 Процессор.</a:t>
            </a:r>
          </a:p>
          <a:p>
            <a:r>
              <a:t>Если отстаю (−25 с): Выбросить фразы про iPhone, x86 и голосовавших за B. Атрибуцию одной фразой: «Это классика: Лемир мерил в 2017-м, Каррут объяснил в 2014-м». Карту раундов и обещание раунда 4 не трогать.</a:t>
            </a:r>
          </a:p>
          <a:p>
            <a:r>
              <a:t>Под рукой:</a:t>
            </a:r>
          </a:p>
          <a:p>
            <a:r>
              <a:t>• Лемир, «Counting exactly the number of distinct elements: sorted arrays vs. hash sets?», 23.05.2017: unordered_set&lt;uint64_t&gt; против sort + unique на случайных 64-битных, код открыт. У него подсчёт, а не выгрузка, и нет flat, radix, контракта и QoS — отсюда «почти такой же». Каррут, CppCon 2014, с. 38: «Discontiguous data structures are the root of all (performance) evil».</a:t>
            </a:r>
          </a:p>
          <a:p>
            <a:r>
              <a:t>• По системам при N = U: iPhone [модель iPhone, чип, iOS], userInitiated — ×2,53 (backup systems; если снято на другом аппарате, чем серии utility, — говорить «на iPhone почти то же» без модели). x86: в колоде ×2,07 (70 против 146 нс/эл), независимый повтор — ×3,1 (libstdc++) и ×2,9 (libc++) (bench.md E1). На «почему 2,07, а не 3,1»: «Другая VM того же типа: абсолютные наносекунды там выше на 19–78%, отношение 2,9–3,1, направление то же. Моё 2,07 — прогон на своей VM, харнесс тот же, что в репозитории, деструктор в таймере [подтвердить]». Поэтому вслух только «в два-три раза».</a:t>
            </a:r>
          </a:p>
          <a:p>
            <a:r>
              <a:t>• «Релиз собирают с -Os, а у вас -O3» (qa M9): std::sort для uint64_t исполняется из системной libc++.dylib и от наших флагов не зависит, unordered_set упирается в память. DedupBench на iPhone собран с [флаги сборки DedupBench]; прогон с -Os — в плане. «Почему нс на элемент?» — так разные N ложатся на одну шкалу; полное время = × N: 19,9 × 2^20 ≈ 20,9 мс.</a:t>
            </a:r>
          </a:p>
          <a:p>
            <a:r>
              <a:t>Условия и источники (были в подвале слайда): Apple M2 Pro · macOS 27 · Xcode 27.0 (Apple clang 21.0.0), libc++ · -O3 · 1 поток, QoS userInitiated · N = U = 2^20 · id случайные 64-битные · медиана 4 блоков</a:t>
            </a:r>
          </a:p>
          <a:p>
            <a:r>
              <a:t>С экрана убрано: тот же опыт: D. Lemire, 2017 · почему: C. Carruth, CppCon 2014; полное время: sort 20,9 мс, unordered_set 53,8 мс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Правило простое. В таймер входит вся операция: reserve, вставки, выгрузка в вектор и деструктор таблицы. Остановили таймер до выгрузки — значит, измерили другую задачу. Вне таймера только свежая копия входа. И каждый результат сверяется с эталоном: те же id, ни одного лишнего, ни одного потерянного. Быстрое, но неправильное решение в турнире не участвует. Секундомер честный, начинаем раунды.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0:30, к концу 4:55.</a:t>
            </a:r>
          </a:p>
          <a:p>
            <a:r>
              <a:t>Щелчки: нет, всё на экране сразу.</a:t>
            </a:r>
          </a:p>
          <a:p>
            <a:r>
              <a:t>Если отстаю (−15 с): Одна фраза: «Правило: в таймере вся операция, вместе с выгрузкой и деструктором, и каждый результат сверяется с эталоном». Сразу щелчок.</a:t>
            </a:r>
          </a:p>
          <a:p>
            <a:r>
              <a:t>Под рукой:</a:t>
            </a:r>
          </a:p>
          <a:p>
            <a:r>
              <a:t>• Выгрузка и деструктор — больше половины времени unordered_set, один деструктор — 28–30% (x86, bench.md E11). Поэтому «остановили до выгрузки — измерили другую задачу».</a:t>
            </a:r>
          </a:p>
          <a:p>
            <a:r>
              <a:t>• Проверка через abort, а не assert: с -DNDEBUG assert молча исчезнет. Для «порядка первого появления» сравниваем без сортировки, с эталоном на хеше. Набор для всех: пусто, один элемент, все равны, 0 и UINT64_MAX, разные N, доли и порядки.</a:t>
            </a:r>
          </a:p>
          <a:p>
            <a:r>
              <a:t>• «Копия вне таймера прогревает кэш»: да, и сортировке это помогает больше. Она работает на месте, а хеш читает вход один раз подряд и платит за случайные обращения к таблице. На P-ядре Mac 8 МБ входа помещаются в L2 (16 МиБ), так что для sort это лучший случай. Холодный вход не мерил, он в плане. Но в жизни id только что пришли из SQLite и сети — тоже тёплые. А на iPhone в utility (L2 E-кластера — 4 МБ) вход не помещается ни для кого.</a:t>
            </a:r>
          </a:p>
          <a:p>
            <a:r>
              <a:t>Условия и источники (были в подвале слайда): Крайние случаи и проверки всех контрактов — в репозитории · «порядок первого появления» сверяем без сортировки, с эталоном на хеше</a:t>
            </a:r>
          </a:p>
          <a:p>
            <a:r>
              <a:t>С экрана убрано: вне таймера только свежая копия входа; проверка через abort, а не assert (с -DNDEBUG assert исчезнет)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Раунд первый. Это классика, поэтому быстро. Меняю размер, от шестнадцати id до четырёх миллионов, и сразу беру реальную половину дублей.</a:t>
            </a:r>
          </a:p>
          <a:p>
            <a:r>
              <a:t>[щелчок] По вертикали наносекунды на элемент, ниже — лучше. По горизонтали размер, каждая отметка — в несколько раз больше. Синяя — сортировка: с каждым удвоением ей чуть дороже, но плавно.</a:t>
            </a:r>
          </a:p>
          <a:p>
            <a:r>
              <a:t>[щелчок] Оранжевая — хеш-таблица. От тысячи до полумиллиона идёт вровень с сортировкой, а дальше ступенька. На четырёх миллионах сортировка снова в два с половиной раза быстрее. [пауза]</a:t>
            </a:r>
          </a:p>
          <a:p>
            <a:r>
              <a:t>[щелчок] Посчитаем байты. На полумиллионе хеш-таблица занимает около двенадцати мегабайт. Кэш второго уровня у производительных ядер M2 Pro — шестнадцать: помещается. На миллионе уже двадцать четыре. Граница кэша лежит между этими точками — там и ступенька. Честно: это арифметика, счётчики промахов я не снимал, так что пока это гипотеза.</a:t>
            </a:r>
          </a:p>
          <a:p>
            <a:r>
              <a:t>Откуда столько байт на ключ, видно на схеме.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1:10, к концу 6:05.</a:t>
            </a:r>
          </a:p>
          <a:p>
            <a:r>
              <a:t>Щелчки: 1 — [график], sort + unique; 2 — [график], unordered_set, ×2,6; 3 — [график], [график], 512K, 1M, ≈24 МиБ — мимо L2 ✗, L2 P-кластера M2 Pro = 16 МиБ, ≈12 МиБ — в L2 ✓.</a:t>
            </a:r>
          </a:p>
          <a:p>
            <a:r>
              <a:t>Если отстаю (−25 с): Оси одной фразой: «ниже — лучше». Выбросить «с каждым удвоением ей чуть дороже, но плавно». Оставить: ступенька → двенадцать и двадцать четыре мегабайта против шестнадцати → «арифметика, не счётчики».</a:t>
            </a:r>
          </a:p>
          <a:p>
            <a:r>
              <a:t>Под рукой:</a:t>
            </a:r>
          </a:p>
          <a:p>
            <a:r>
              <a:t>— Арифметика (apple.md §3.3, cpp.md §2.4, errata P0-5): узел libc++ 24 Б → блок malloc 32 Б (квант 16 Б, заголовка нет) × U, плюс 8 Б × N на ячейки после reserve(N). 512K (U = 256K): 8 + 4 = 12 МиБ; 1M: 16 + 8 = 24 МиБ. «А вход?» — ещё 8·N, на 512K это 4 МиБ. Его читают один раз подряд, префетчер ведёт поток, поэтому считаю таблицу. Но 12 + 4 = 16 — впритык, ещё одна причина говорить «гипотеза».</a:t>
            </a:r>
          </a:p>
          <a:p>
            <a:r>
              <a:t>— «Почему нет счётчиков?» (qa H1): «Согласен, это гипотеза. Следующий шаг — Instruments → CPU Counters, L1D Cache Miss Sampling». «А TLB?» (qa H2): не исключал; 24 МиБ — около 1 500 страниц по 16 КБ. SLC 24 МБ не называть: sysctl его не отдаёт.</a:t>
            </a:r>
          </a:p>
          <a:p>
            <a:r>
              <a:t>— «22,6 или 26,3?» (qa M3): разные сессии; хеш на этой точке гуляет на 16%, сортировка — на полпроцента. Левый край (≤ 256) не комментировать: на x86 при пуле из 64 входов он завышен предсказателем (bench.md E2b) — тема learned.</a:t>
            </a:r>
          </a:p>
          <a:p>
            <a:r>
              <a:t>Условия и источники (были в подвале слайда): U = N/2 · M2 Pro, macOS, libc++, userInitiated · id — случайные 64-битные · медиана 4 блоков · сессия А [дата сессии А] · unordered_set на 1M между сессиями: 22,6–26,3 нс/эл</a:t>
            </a:r>
          </a:p>
          <a:p>
            <a:r>
              <a:t>С экрана убрано: рабочий набор ≈ 32·U + 8·N — это арифметика, не счётчики промахов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Слева вектор, с ним работает sort плюс unique. Восемь байт на ключ, всё подряд, ни одной аллокации.</a:t>
            </a:r>
          </a:p>
          <a:p>
            <a:r>
              <a:t>[щелчок] Справа unordered_set: массив ячеек, из ячеек указатели на узлы. Узел хранит ключ, указатель на следующий и хеш — двадцать четыре байта, а malloc на Apple выдаёт под него тридцать два. Каждый узел — отдельный new. И адрес следующего узла известен, только когда прочитан текущий.</a:t>
            </a:r>
          </a:p>
          <a:p>
            <a:r>
              <a:t>Узлы не от лени: стандарт требует, чтобы ссылки на элементы переживали рост таблицы.</a:t>
            </a:r>
          </a:p>
          <a:p>
            <a:r>
              <a:t>[щелчок] Каррут сказал короче: данные, разбросанные по памяти, — корень всего зла в производительности.</a:t>
            </a:r>
          </a:p>
          <a:p>
            <a:r>
              <a:t>А цена этого прыжка — ровно то, чего Big-O не видит.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0:55, к концу 7:00.</a:t>
            </a:r>
          </a:p>
          <a:p>
            <a:r>
              <a:t>Щелчки: 1 — unordered_set, [видео nodes_scatter.mp4]; 2 — [график], «Discontiguous data structures are the root of all (performance) evil», Chandler Carruth, CppCon 2014.</a:t>
            </a:r>
          </a:p>
          <a:p>
            <a:r>
              <a:t>Если отстаю (−20 с): Выбросить фразу про стандарт; цитату не читать — она на экране, достаточно «Каррут, 2014». Оставить: вектор подряд против узлов по тридцать два байта и «адрес следующего известен, только когда прочитан текущий».</a:t>
            </a:r>
          </a:p>
          <a:p>
            <a:r>
              <a:t>Под рукой:</a:t>
            </a:r>
          </a:p>
          <a:p>
            <a:r>
              <a:t>— «Деление в libc++ дорогое на ARM?» (qa C1, errata P0-6): в сериях деления нет — reserve(2^20) в libc++ даёт ровно 2^20 ячеек и маску по младшим битам. libstdc++ держит простое число ячеек и делит всегда. Дорого не деление, а узлы. «libstdc++ экономнее: 16 Б против 24?» (qa C7): по запрошенным байтам да, по куче нет — glibc кладёт оба узла в чанк 32 Б.</a:t>
            </a:r>
          </a:p>
          <a:p>
            <a:r>
              <a:t>— std::hash для целых — тождество (qa C8): на плотных rowid коллизий ноль. x86 при U = N: вся операция ≈ в 4,7 раза быстрее (320 → 68 нс/эл), одни вставки — в 3,2 раза (134 → 42; cpp.md §6). При U = N/2 на 1M — в 1,65 раза, и хеш обгоняет сортировку в 1,7 раза (bench.md E7).</a:t>
            </a:r>
          </a:p>
          <a:p>
            <a:r>
              <a:t>Условия и источники (были в подвале слайда): схема устройства, не трасса · размеры узлов подтверждены счётчиком аллокаций · libstdc++: узел 16 Б</a:t>
            </a:r>
          </a:p>
          <a:p>
            <a:r>
              <a:t>С экрана убрано: узел next + хеш + ключ = 24 Б → malloc 32 Б; стандарт: ссылки на элементы переживают rehash; libstdc++: узел 16 Б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Время — это N, умноженное на число шагов и на цену шага. Big-O видит, как растёт число шагов: единица или логарифм. Цену шага он выбрасывает.</a:t>
            </a:r>
          </a:p>
          <a:p>
            <a:r>
              <a:t>[щелчок] А цена — это лестница. Мой замер на M2 Pro: L1 — меньше двух наносекунд, оперативная память — сто. Разница раз в шестьдесят, а логарифм миллиона — всего двадцать.</a:t>
            </a:r>
          </a:p>
          <a:p>
            <a:r>
              <a:t>[щелчок] Память приходит строками: на Apple по сто двадцать восемь байт, на x86 по шестьдесят четыре. Сортировка читает подряд: строка приносит шестнадцать ключей, следующую процессор подтягивает заранее.</a:t>
            </a:r>
          </a:p>
          <a:p>
            <a:r>
              <a:t>[щелчок] И главное: дорого не обращение, а обращение, которое ждёт предыдущего. Процессор держит в полёте десятки промахов, если знает адреса заранее. У узла адрес следующего лежит внутри текущего. Значит, процессор стоит и ждёт каждый прыжок. [пауза]</a:t>
            </a:r>
          </a:p>
          <a:p>
            <a:r>
              <a:t>Запомните эту лестницу: в четвёртом раунде у неё сменятся ступеньки.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1:10, к концу 8:10.</a:t>
            </a:r>
          </a:p>
          <a:p>
            <a:r>
              <a:t>Щелчки: 1 — L1, ≈1,7 нс, L2, ≈6,5 нс, память, ≈100 нс; 2 — строка кэша 128 Б = 16 ключей за одно чтение, [график]; 3 — [видео memory_flight.mp4].</a:t>
            </a:r>
          </a:p>
          <a:p>
            <a:r>
              <a:t>Если отстаю (−25 с): Шаг 3 показать молча и сказать одно: «Сортировка читает подряд, и процессор подтягивает данные заранее». Фразу про лестницу в четвёртом раунде не трогать.</a:t>
            </a:r>
          </a:p>
          <a:p>
            <a:r>
              <a:t>Под рукой:</a:t>
            </a:r>
          </a:p>
          <a:p>
            <a:r>
              <a:t>— Плато лестницы сняты с графика cores (errata P1-6, ±2%) — перед заморозкой заменить точными из сырых данных. Если L1 выйдет ≈2,0 нс, в заголовке вернуть «от 2», говорить «раз в пятьдесят» (совпадает с Apple, WWDC25 «Optimize CPU performance with Instruments»: промах мимо обоих кэшей — «50 times slower»). «А у Dean &amp; Ghemawat L2 3 нс, RAM 50» (qa H10): это справочник, у меня свой замер.</a:t>
            </a:r>
          </a:p>
          <a:p>
            <a:r>
              <a:t>— «Откуда десятки промахов?» (qa H11): Лемир 2025, M2: одна зависимая цепочка — 102 нс на обращение, 28 независимых — 4,3 нс, то есть около 28 промахов в полёте.</a:t>
            </a:r>
          </a:p>
          <a:p>
            <a:r>
              <a:t>— «128 байт — это L1 или L2?» (qa H9): hw.cachelinesize = 128; Apple на WWDC25 говорит «64 или 128». На вывод не влияет: подряд — 8 или 16 ключей за чтение, узел — один. «Почему префетчер не спасает хеш?» (qa H4): у цепочки узлов нет шаблона адресов.</a:t>
            </a:r>
          </a:p>
          <a:p>
            <a:r>
              <a:t>Условия и источники (были в подвале слайда): M2 Pro, P-ядро, userInitiated · задержки — мой замер зависимого чтения (pointer chasing, метод Drepper 2007) · полный график — в раунде 4</a:t>
            </a:r>
          </a:p>
          <a:p>
            <a:r>
              <a:t>С экрана убрано: задержки — мой замер зависимого чтения на P-ядре M2 Pro, userInitiated (pointer chasing, метод Drepper 2007); L1 128 КиБ, L2 16 МиБ на кластер из 4 P-ядер; строка кэша 128 Б на Apple (hw.cachelinesize), 64 Б на x86; полный график — в раунде 4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Последний счёт раунда: вызовы new. Вопрос вам, про себя: сколько раз unordered_set позовёт аллокатор на миллионе ключей? Ноль, тысячу или миллион? [пауза 3 с]</a:t>
            </a:r>
          </a:p>
          <a:p>
            <a:r>
              <a:t>[щелчок] Сортировка: ноль, работает на месте.</a:t>
            </a:r>
          </a:p>
          <a:p>
            <a:r>
              <a:t>[щелчок] Хеш-таблица: миллион. Узел на каждый ключ, плюс массив ячеек. С округлением это около сорока мегабайт. Расширению уведомлений на iPhone дают около двадцати четырёх, дальше его убивают — как OOM-killer на сервере. И платят за узлы дважды: миллион delete прячется за закрывающей фигурной скобкой.</a:t>
            </a:r>
          </a:p>
          <a:p>
            <a:r>
              <a:t>[щелчок] Плоская таблица, о ней через минуту: один new на всё.</a:t>
            </a:r>
          </a:p>
          <a:p>
            <a:r>
              <a:t>[пауза] Итог раунда: шагов у хеша меньше, но каждый — аллокация и прыжок по куче. Значит, уберём узлы.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0:50, к концу 9:00.</a:t>
            </a:r>
          </a:p>
          <a:p>
            <a:r>
              <a:t>Щелчки: 1 — sort + unique, 0, работает на месте; 2 — unordered_set, ≈1 млн, ≈42 МБ памяти+ миллион delete; 3 — flat_hash_set, 1, одна таблица на всё.</a:t>
            </a:r>
          </a:p>
          <a:p>
            <a:r>
              <a:t>Если отстаю (−20 с): Вопрос риторический, без паузы; выбросить расширение уведомлений и x86. Оставить: ноль / миллион / один и «миллион delete за закрывающей скобкой».</a:t>
            </a:r>
          </a:p>
          <a:p>
            <a:r>
              <a:t>Под рукой:</a:t>
            </a:r>
          </a:p>
          <a:p>
            <a:r>
              <a:t>— 1 048 577 вызовов = 2^20 узлов + массив ячеек; 33 554 432 Б запрошено (cpp.md §2.3). У Apple 24 → 32 Б, заголовка нет (apple.md §3.1, §3.4). Разбросаны не адреса — аллокатор раздаёт их почти подряд, — а порядок обхода.</a:t>
            </a:r>
          </a:p>
          <a:p>
            <a:r>
              <a:t>— Фазы на x86 (bench.md E11, U = N, обе библиотеки): reserve и вставки ≈43%, выгрузка ≈26%, деструктор 28–30%. На M2 по фазам не раскладывал. «Сорок мегабайт здесь, двадцать четыре на prod?» — разные U: здесь все id разные, там половина — повторы.</a:t>
            </a:r>
          </a:p>
          <a:p>
            <a:r>
              <a:t>— «Пул-аллокатор или pmr?» (qa C9): не мерил. monotonic_buffer_resource уберёт malloc и free, но не прыжки по узлам; ожидаю ближе к сортировке, не к flat — гипотеза. Share extension (~120 МБ) в пример не брать (errata P1-7).</a:t>
            </a:r>
          </a:p>
          <a:p>
            <a:r>
              <a:t>— «Почему 18,9 МБ, если ключей на 8 МБ?» (errata P2-11): 2^20 — неудачная точка для Swiss Table: ёмкость 2^20 − 1 вмещает только 917 504 ключа при загрузке 7/8, поэтому reserve берёт 2^21 − 1 слотов — по 8 байт ключа и байту метаданных, 18,9 МБ, заполнение 50%.</a:t>
            </a:r>
          </a:p>
          <a:p>
            <a:r>
              <a:t>Условия и источники (были в подвале слайда): N = U = 2²⁰, все id разные — как в голосовании · libc++ · вызовы посчитаны подменой operator new</a:t>
            </a:r>
          </a:p>
          <a:p>
            <a:r>
              <a:t>С экрана убрано: unordered_set: запрошено 33,6 МБ, с округлением malloc ≈42 МБ; Notification Service Extension ~24 МБ, виджет ~30 МБ — наблюдаемые лимиты jetsam; x86: деструктор ≈30% времени; МБ = 10⁶ байт; N = U = 2²⁰, вызовы посчитаны подменой operator new (libc++)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Раунд второй. Задача та же, меняем реализацию.</a:t>
            </a:r>
          </a:p>
          <a:p>
            <a:r>
              <a:t>[щелчок] Слева знакомое: ключ живёт в отдельном узле.</a:t>
            </a:r>
          </a:p>
          <a:p>
            <a:r>
              <a:t>[щелчок] Справа плоская таблица — Swiss Table, её показал Мэтт Кулукундис на CppCon в 2017-м. Ключи лежат прямо в массиве. Рядом с каждым — байт-метка: пусто или кусочек хеша. Процессор сравнивает целую группу меток одной векторной инструкцией. Вся таблица — одна аллокация. Цена одна: ссылки на элементы не переживают рост.</a:t>
            </a:r>
          </a:p>
          <a:p>
            <a:r>
              <a:t>[щелчок] Если вы пишете на Go с версии 1.24, ваш map уже справа. HashMap в Rust — тоже.</a:t>
            </a:r>
          </a:p>
          <a:p>
            <a:r>
              <a:t>Смотрим, что это даёт.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0:45, к концу 9:45.</a:t>
            </a:r>
          </a:p>
          <a:p>
            <a:r>
              <a:t>Щелчки: 1 — unordered_set, [график], 42, 50, 7, свой new на каждый ключ; 2 — flat_hash_set · Swiss Table, [видео flat_probe.mp4], [картинка tpl_plus.png], одна аллокация на всю таблицу, [картинка tpl_minus.png], ссылки не переживают рост; 3 — так же: map в Go ≥ 1.24, HashMap в Rust.</a:t>
            </a:r>
          </a:p>
          <a:p>
            <a:r>
              <a:t>Если отстаю (−15 с): Про метки и группы не говорить — они на экране. Оставить: ключи в массиве, одна аллокация, цена, Go и Rust.</a:t>
            </a:r>
          </a:p>
          <a:p>
            <a:r>
              <a:t>Под рукой:</a:t>
            </a:r>
          </a:p>
          <a:p>
            <a:r>
              <a:t>— Группа на AArch64 — 8 байт (GroupAArch64Impl::kWidth = 8, NEON), на x86 — 16 (SSE2); зондирование квадратичное по группам (cpp.md §5, errata P0-7). У hashbrown на aarch64 тоже 8, у boost::unordered_flat_set — 16.</a:t>
            </a:r>
          </a:p>
          <a:p>
            <a:r>
              <a:t>— absl::Hash для uint64 — не тождество: перемешивает, с сидом на процесс и на таблицу. Поэтому плотные id ему не страшны, а порядок обхода меняется от запуска к запуску (cpp.md §5; к outcontract).</a:t>
            </a:r>
          </a:p>
          <a:p>
            <a:r>
              <a:t>— «А Swift?» (qa S1): Set уже плоский, но хеш — SipHash-1-3 со случайным сидом; не мерил. «std::flat_set — это оно?» (qa C10): нет, flat_set — отсортированный вектор, по сути sort + unique в контейнере.</a:t>
            </a:r>
          </a:p>
          <a:p>
            <a:r>
              <a:t>Условия и источники (были в подвале слайда): absl::flat_hash_set, Abseil 20260817 · Matt Kulukundis, CppCon 2017 · на схеме группа 8 — как на M2 и iPhone</a:t>
            </a:r>
          </a:p>
          <a:p>
            <a:r>
              <a:t>С экрана убрано: absl::flat_hash_set, Abseil 20260817 · Matt Kulukundis, CppCon 2017; метка: ∅ — пусто, h7 — 7 бит хеша; группа 8 слотов на ARM (M2, iPhone), 16 на x86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Условия голосования: миллион уникальных id, M2 Pro.</a:t>
            </a:r>
          </a:p>
          <a:p>
            <a:r>
              <a:t>[щелчок] Узловая таблица: пятьдесят одна наносекунда на элемент. Сортировка: двадцать.</a:t>
            </a:r>
          </a:p>
          <a:p>
            <a:r>
              <a:t>[щелчок] Плоская — около двенадцати: в один и семь десятых раза быстрее сортировки. [пауза]</a:t>
            </a:r>
          </a:p>
          <a:p>
            <a:r>
              <a:t>[щелчок] Ещё быстрее radix, поразрядная сортировка: около семи. Восемь проходов по байтам ключа, ни одного сравнения. Так можно только потому, что ключ — целое число: это второе ружьё. Со строками так не выйдет. Цена — буфер размером со вход.</a:t>
            </a:r>
          </a:p>
          <a:p>
            <a:r>
              <a:t>[пауза] O(n) не ошибся. Ошиблись мы, когда решили, что «хеш-таблица» — это один алгоритм. [смотрю в зал] Кто голосовал за B, вот ваша реализация. [если за B было мало рук: «Кто про себя выбрал хеш — вот ваша реализация».]</a:t>
            </a:r>
          </a:p>
          <a:p>
            <a:r>
              <a:t>Если вы на Java: HashSet&lt;Long&gt; — узловая таблица, да ещё с объектом Long на каждый id. Плоский аналог — fastutil.</a:t>
            </a:r>
          </a:p>
          <a:p>
            <a:r>
              <a:t>Раунд третий: меняем данные. Но сначала ваша вторая ставка.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1:05, к концу 10:50.</a:t>
            </a:r>
          </a:p>
          <a:p>
            <a:r>
              <a:t>Щелчки: 1 — unordered_set, 51,3, sort + unique, 19,9; 2 — flat_hash_set, 11,7, ×1,7, flat против sort + unique; 3 — radix + unique, 6,9, 2, 8 проходов по байту ключа, без сравнений — только для целых ключей.</a:t>
            </a:r>
          </a:p>
          <a:p>
            <a:r>
              <a:t>Если отстаю (−20 с): Radix одной фразой: «Radix — около семи: так можно, потому что ключ — целое число, второе ружьё». Выбросить Java-фразу: мост остаётся строкой на экране.</a:t>
            </a:r>
          </a:p>
          <a:p>
            <a:r>
              <a:t>Под рукой:</a:t>
            </a:r>
          </a:p>
          <a:p>
            <a:r>
              <a:t>— x86, независимый повтор (bench.md E1, N = U = 2^20, libstdc++): sort 83,5, unordered_set 260, flat 42,6, radix 40,8 нс/эл. Направление то же: flat ≈ ×2 к сортировке, но radix там вровень с flat, а не быстрее всех. Абсолютные наносекунды x86 со сцены не называть.</a:t>
            </a:r>
          </a:p>
          <a:p>
            <a:r>
              <a:t>— «Почему reserve(N), а не под U?» (qa C12, backup reserve): N известен, U — нет; при 1% уникальных это ×64 памяти и 3,6 против 2,9 нс/эл. «Почему 18,9 МБ?» (errata P2-11): при загрузке 7/8 2^20 ключей не влезают в ёмкость 2^20 − 1, reserve берёт 2^21 − 1 слотов, заполнение 50%.</a:t>
            </a:r>
          </a:p>
          <a:p>
            <a:r>
              <a:t>— «Почему не radix везде?» (qa C13): только целые ключи, буфер на N (8 МБ на миллионе — память под jetsam), на малых N счётчики 8×256 не окупаются. «Кто в 2026-м пишет unordered_set?» (qa V8): он в стандарте и в дифе с ревью — поэтому он первый. Java: fastutil LongOpenHashSet — long[] и открытая адресация (beyond.md §2).</a:t>
            </a:r>
          </a:p>
          <a:p>
            <a:r>
              <a:t>Условия и источники (были в подвале слайда): N = U = 2²⁰ · M2 Pro, macOS, libc++, userInitiated · Abseil 20260817, reserve(N) · id — случайные 64-битные · flat и radix — только M2 Pro, userInitiated</a:t>
            </a:r>
          </a:p>
          <a:p>
            <a:r>
              <a:t>С экрана убрано: узловые: std::unordered_*, Java HashSet&lt;Long&gt;; плоские: Abseil, Go ≥ 1.24, Rust, fastutil; radix: 8 проходов по байту ключа, без сравнений, только целые ключи, буфер на N; N = U = 2²⁰ · M2 Pro, macOS, libc++, userInitiated · Abseil 20260817, reserve(N) · flat и radix — только M2 Pro, userInitiated; callback для голосовавших: «B · с хеш-таблицы»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Ставка номер два, на этот раз из двух вариантов. [щелчок]</a:t>
            </a:r>
          </a:p>
          <a:p>
            <a:r>
              <a:t>Точка отсчёта — первая ставка: все id разные, сортировка быстрее в два с половиной раза. При половине повторов, на кривой, разрыв был уже куда меньше. Но повторов в дельте бывает очень много: ретраи, перекрытия страниц. Кто на первой ставке просил условие — вот первое из них. [если ответ C был «сколько повторов»: «…вы его и назвали».]</a:t>
            </a:r>
          </a:p>
          <a:p>
            <a:r>
              <a:t>[щелчок] Тот же миллион, но уникальных всего один процент. Кто впереди?</a:t>
            </a:r>
          </a:p>
          <a:p>
            <a:r>
              <a:t>[поднимаю руку] Кто за сортировку? [пауза 3 с] [итог вслух одним словом]</a:t>
            </a:r>
          </a:p>
          <a:p>
            <a:r>
              <a:t>Кто за хеш? [пауза 3 с] [итог вслух]</a:t>
            </a:r>
          </a:p>
          <a:p>
            <a:r>
              <a:t>[если рук мало: «Тогда про себя: сортировка или хеш. Через пять секунд проверим».] Смотрим, кто прав.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0:40, к концу 11:30.</a:t>
            </a:r>
          </a:p>
          <a:p>
            <a:r>
              <a:t>Щелчки: 1 — точка отсчёта — ставка №1: миллион id, все разные, sort + unique, 20, unordered_set, 51, ×2,6; 2 — Тот же миллион.Уникальных — 1%, Кто впереди?, sort, хеш.</a:t>
            </a:r>
          </a:p>
          <a:p>
            <a:r>
              <a:t>Если отстаю (−15 с): Голосовать одной рукой: «Кто за хеш? [пауза 3 с] Смотрим». Про ответ C не говорить.</a:t>
            </a:r>
          </a:p>
          <a:p>
            <a:r>
              <a:t>Под рукой:</a:t>
            </a:r>
          </a:p>
          <a:p>
            <a:r>
              <a:t>— «Половина повторов уже была на кривой первого раунда»: «Да, там я крутил размер при половине повторов, и это сказано вслух. Теперь размер фиксирую — миллион — и кручу долю уникальных». Ставка на 1%, а не на половину: на половине почти ничья (1,1–1,3 в разных сессиях), это в пределах разброса и уже видно на curve.</a:t>
            </a:r>
          </a:p>
          <a:p>
            <a:r>
              <a:t>— «1% — это же не ваш кейс: локальные id уникальны»: да, 1% — край сетки, а не наш кейс. Сетку показываю, чтобы было видно, где хеш выигрывает и во сколько.</a:t>
            </a:r>
          </a:p>
          <a:p>
            <a:r>
              <a:t>— Это третья и последняя просьба поднять руку (после diff и vote); вопрос на inputorder риторический, с паузой.</a:t>
            </a:r>
          </a:p>
          <a:p>
            <a:r>
              <a:t>С экрана убрано: точка отсчёта — ставка №1: миллион id, все разные, нс на элемент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[щелчок] Хеш. И сразу в три и семь десятых раза: уникальных всего десять тысяч, их узлы помещаются в кэш. [пауза 1 с] [одной фразой: угадало ли большинство]</a:t>
            </a:r>
          </a:p>
          <a:p>
            <a:r>
              <a:t>Теперь вся сетка: слева все id одинаковые, справа все разные. Шкала по вертикали логарифмическая, ниже — лучше.</a:t>
            </a:r>
          </a:p>
          <a:p>
            <a:r>
              <a:t>Синяя сортировка почти горизонтальна: от двенадцати до двадцати при стократной разнице в числе уникальных. Она в любом случае переставляет весь миллион.</a:t>
            </a:r>
          </a:p>
          <a:p>
            <a:r>
              <a:t>[щелчок] Оранжевая хеш-таблица её пересекает. При половине повторов — почти ничья, двадцать против двадцати трёх. А когда все разные, хеш позади в два с половиной раза.</a:t>
            </a:r>
          </a:p>
          <a:p>
            <a:r>
              <a:t>[щелчок] Зелёная плоская внизу почти везде.</a:t>
            </a:r>
          </a:p>
          <a:p>
            <a:r>
              <a:t>[смотрю в зал] Так что и сортировка, и хеш правы — каждый в своей клетке. Победителя назначают данные.</a:t>
            </a:r>
          </a:p>
          <a:p>
            <a:r>
              <a:t>Второе условие прячется не в данных, а в тикете.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1:00, к концу 12:30.</a:t>
            </a:r>
          </a:p>
          <a:p>
            <a:r>
              <a:t>Щелчки: 1 — [график], unordered_set, sort + unique, хеш ×3,7; 2 — [график], почти ничья20 против 23, sort ×2,6; 3 — [график], flat_hash_set, radix + unique.</a:t>
            </a:r>
          </a:p>
          <a:p>
            <a:r>
              <a:t>Если отстаю (−20 с): Оси одной фразой: «слева все одинаковые, справа все разные». Выбросить «от двенадцати до двадцати…» и «Она в любом случае переставляет весь миллион». Оставить: «хеш, в три и семь десятых раза», почти ничья на половине, позади на всех разных, «победителя назначают данные».</a:t>
            </a:r>
          </a:p>
          <a:p>
            <a:r>
              <a:t>Под рукой:</a:t>
            </a:r>
          </a:p>
          <a:p>
            <a:r>
              <a:t>— Точки (M2 Pro, сессия Б, с графика ±2%): все равны — sort 1,2 · uset 2,0 · flat 2,9; 1% — 12,0 · 3,2 · 3,6; 50% — 20,3 · 23,0; 100% — 19,8 · 51,6 (errata §4.1). При 1% узловая быстрее flat: flat с reserve(N) платит за таблицу в 18,9 МБ на десять тысяч ключей (backup reserve) — поэтому «почти везде». Десять тысяч узлов по 32 Б — около 320 КБ.</a:t>
            </a:r>
          </a:p>
          <a:p>
            <a:r>
              <a:t>— x86, повтор (bench.md E3): при 1% хеш быстрее сортировки в 6–8 раз, при 100% сортировка быстрее в 3,0–3,2 раза — направление то же, размах больше. Radix на x86 вровень с flat.</a:t>
            </a:r>
          </a:p>
          <a:p>
            <a:r>
              <a:t>— «20 против 23, а на кривой было 26?» (qa M3): разные сессии; хеш на этой точке гуляет 22,6–26,3, сортировка — на полпроцента. Поэтому 50% подписано «почти ничья».</a:t>
            </a:r>
          </a:p>
          <a:p>
            <a:r>
              <a:t>Условия и источники (были в подвале слайда): N = 2²⁰ · M2 Pro, macOS, libc++, userInitiated · id — случайные 64-битные · сессия Б [дата сессии Б] · flat и radix — только M2 Pro, userInitiated · «все равны» = U = 1 · ось X — категории, не шкала</a:t>
            </a:r>
          </a:p>
          <a:p>
            <a:r>
              <a:t>С экрана убрано: N = 2²⁰ · M2 Pro, macOS, libc++, userInitiated · id — случайные 64-битные · сессия Б [дата сессии Б] · flat и radix — только M2 Pro, userInitiated · «все равны» = U = 1 · ось X — категории, не шкала; значения: 1% — хеш ×3,7; 50% — 20,3 против 23,0 (почти ничья); 100% — sort ×2,6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Меняю требование в тикете: что нужно на выходе. [если ответ C был «что нужно на выходе»: «Об этом спросили на первой ставке — вот ответ».]</a:t>
            </a:r>
          </a:p>
          <a:p>
            <a:r>
              <a:t>[щелчок] Порядок любой: близко, в пределах разброса сессий.</a:t>
            </a:r>
          </a:p>
          <a:p>
            <a:r>
              <a:t>[щелчок] Нужен отсортированный выход: хеш досортировывает уникальные и отстаёт в полтора раза. Это вторая мелочь из дифа: выход молча перестал быть отсортированным.</a:t>
            </a:r>
          </a:p>
          <a:p>
            <a:r>
              <a:t>[щелчок] Нужен порядок первого появления: хеш впереди больше чем втрое. Таблица отмечает встреченные id, выход пишется за один проход. А сортировке приходится помнить, где кто стоял, и сортировать второй раз.</a:t>
            </a:r>
          </a:p>
          <a:p>
            <a:r>
              <a:t>[щелчок] И «порядок любой» значит «любой каждый раз». Плоская таблица нарочно меняет порядок обхода от запуска к запуску, Set в Swift и map в Go тоже. Снапшот-тесты на выдачу это поймают.</a:t>
            </a:r>
          </a:p>
          <a:p>
            <a:r>
              <a:t>Сменилось требование — сменился победитель. Последнее про данные: порядок, в котором они приходят.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1:00, к концу 13:30.</a:t>
            </a:r>
          </a:p>
          <a:p>
            <a:r>
              <a:t>Щелчки: 1 — Уникальные, порядок любой, sort 20,2 · хеш 22,6, ≈ близко; 2 — Отсортированные, sort 20,2 · хеш 32,6, sort ×1,6; 3 — В порядке первого появления, sort 74,6 · хеш 22,0, хеш ×3,4; 4 — «Порядок любой» = любой каждый раз:flat_hash_set, Set в Swift и map в .</a:t>
            </a:r>
          </a:p>
          <a:p>
            <a:r>
              <a:t>Если отстаю (−20 с): Строку про отсортированный выход показать молча и сказать одно: «выход, кстати, молча перестал быть отсортированным». Оставить: «порядок любой — близко», «первое появление — больше чем втрое», «любой каждый раз».</a:t>
            </a:r>
          </a:p>
          <a:p>
            <a:r>
              <a:t>Под рукой:</a:t>
            </a:r>
          </a:p>
          <a:p>
            <a:r>
              <a:t>— «Вы обделили сортировку» (qa C6, cpp.md §9): вторая сортировка не обязательна — хватает битовой маски первых вхождений и одного прохода. x86, U = N/2: хеш 69–88 нс/эл, sort + вторая сортировка 140–149, sort + маска 105–110. На M2 мерил вариант со второй сортировкой (подписано в футере); с маской на M2 не мерил.</a:t>
            </a:r>
          </a:p>
          <a:p>
            <a:r>
              <a:t>— Закон Хайрама и история DedupTest: Kulukundis, «Abseil's Open Source Hashtable: 2 Years In», CppCon 2019, слайды 24, 26, 36–37. Abseil сидирует хеш на процесс и на таблицу намеренно. Swift: порядок Array(Set(x)) меняется между запусками (beyond.md §3.3).</a:t>
            </a:r>
          </a:p>
          <a:p>
            <a:r>
              <a:t>— Kotlin distinct() — это LinkedHashSet, по контракту порядок первого появления (beyond.md §2.2). В Swift для него — uniqued() из swift-algorithms или OrderedSet; не мерил.</a:t>
            </a:r>
          </a:p>
          <a:p>
            <a:r>
              <a:t>Условия и источники (были в подвале слайда): N = 2^20, U/N = 0,5 · id — случайные 64-битные · M2 Pro, macOS, libc++ · сессия Б [дата сессии Б] · первое появление на M2 — пары (ключ, индекс) и вторая сортировка; с битовой маской (x86) на 25–30% быстрее, хеш всё равно впереди</a:t>
            </a:r>
          </a:p>
          <a:p>
            <a:r>
              <a:t>С экрана убрано: N = 2^20, U/N = 0,5 · id — случайные 64-битные · M2 Pro, macOS, libc++ · сессия Б [дата сессии Б] · первое появление на M2 — пары (ключ, индекс) и вторая сортировка; с битовой маской (x86) на 25–30% быстрее, хеш всё равно впереди; в строках 1–2 sort + unique — одна и та же операция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 же ключи, те же повторы, другая перестановка.</a:t>
            </a:r>
          </a:p>
          <a:p>
            <a:r>
              <a:t>[щелчок] Случайный порядок — близко. Сериями одинаковых — хеш быстрее.</a:t>
            </a:r>
          </a:p>
          <a:p>
            <a:r>
              <a:t>А теперь вспомним задачу: локальные id уже отсортированы. Кому из двух это поможет? [пауза 3 с]</a:t>
            </a:r>
          </a:p>
          <a:p>
            <a:r>
              <a:t>[щелчок] Сортировке. В восемь раз. И это не фокус: libc++ замечает, что разбиение не сделало ни одного обмена, и досортировывает вставками. Около двух сравнений на элемент вместо двадцати с лишним. [щелчок] libstdc++ так не делает — на Linux с GCC выигрыш скромнее.</a:t>
            </a:r>
          </a:p>
          <a:p>
            <a:r>
              <a:t>Вот и первое ружьё выстрелило. Но отсортирован у нас не весь массив, а только локальная часть. Зачем тогда сортировать её заново?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0:50, к концу 14:20.</a:t>
            </a:r>
          </a:p>
          <a:p>
            <a:r>
              <a:t>Щелчки: 1 — Случайный, sort 20,2 · хеш 22,6, ≈ близко, Сериями одинаковых, sort 20,5 · хеш 15,5, хеш ×1,3; 2 — Уже отсортированный, 1, sort 2,0 · хеш 16,5, sort ×8, libc++: ≈2 сравнения на элемент вместо ≈22; 3 — libstdc++ так не делает.</a:t>
            </a:r>
          </a:p>
          <a:p>
            <a:r>
              <a:t>Если отстаю (−15 с): Выбросить строку про серии и фразу про libstdc++. Оставить: вопрос с паузой → «сортировке, в восемь раз» → механизм одной фразой → «первое ружьё выстрелило».</a:t>
            </a:r>
          </a:p>
          <a:p>
            <a:r>
              <a:t>Под рукой:</a:t>
            </a:r>
          </a:p>
          <a:p>
            <a:r>
              <a:t>— Механизм (cpp.md §4.2, errata P0-11): опорный — медиана; если разбиение прошло без обмена, __insertion_sort_incomplete с лимитом 8 перемещений на обеих половинах. 2,00 сравнения на элемент измерено в LLVM 13, 15 и 18 — эвристика старше LLVM 14, «LLVM 17» не говорить. libstdc++ — introsort без раннего выхода, ≈25 сравнений на элемент.</a:t>
            </a:r>
          </a:p>
          <a:p>
            <a:r>
              <a:t>— x86 (bench.md E4): на отсортированном sort быстрее хеша в 12,5 раза с libc++ и в 4,5 раза с libstdc++. На сериях x86 даёт ничью, а не «хеш быстрее», как на M2.</a:t>
            </a:r>
          </a:p>
          <a:p>
            <a:r>
              <a:t>— std::sort для uint64_t на iPhone берётся из системной libc++.dylib: алгоритм сортировки на телефоне пользователя определяет версия iOS, а не Xcode (cpp.md §4.4). В Swift sort() — Timsort, на отсортированном входе O(n); не мерил.</a:t>
            </a:r>
          </a:p>
          <a:p>
            <a:r>
              <a:t>Условия и источники (были в подвале слайда): N = 2^20, U/N = 0,5 · id — случайные 64-битные · одинаковые множества ключей и кратности · M2 Pro, macOS, libc++ · std::sort для целых на Apple — из системной libc++ (macOS 27) · сессия Б [дата сессии Б]</a:t>
            </a:r>
          </a:p>
          <a:p>
            <a:r>
              <a:t>С экрана убрано: N = 2^20, U/N = 0,5 · id — случайные 64-битные · одинаковые множества ключей и кратности · M2 Pro, macOS, libc++ · std::sort для целых на Apple — из системной libc++ (macOS 27) · сессия Б [дата сессии Б]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Вот ответ, который я мог дать в первый же день. [пауза 1 с] Локальные не трогаем. Сортируем только маленькую дельту, убираем в ней повторы и сливаем с локальными за один проход.</a:t>
            </a:r>
          </a:p>
          <a:p>
            <a:r>
              <a:t>[щелчок] Шаг с unique не пропускайте: set_union сам дубли дельты не убирает. В черновике этого слайда я его пропустил, и ответ был бы неверным.</a:t>
            </a:r>
          </a:p>
          <a:p>
            <a:r>
              <a:t>[щелчок] На x86 это минимум в три с половиной раза быстрее, чем sort плюс unique. [домерить на iPhone: «На iPhone в .utility — в N раз»] Это и обещанный ответ для rowid: слиянию всё равно, плотные id или случайные.</a:t>
            </a:r>
          </a:p>
          <a:p>
            <a:r>
              <a:t>Итог раунда: данные и тикет назначают победителя не хуже реализации. А лучший алгоритм использует то, что о данных уже известно.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0:55, к концу 15:15.</a:t>
            </a:r>
          </a:p>
          <a:p>
            <a:r>
              <a:t>Щелчки: 1 — std::sort(D.begin(), D.end());D.erase(std::unique(D.begin(), D.end()),, без unique дубли дельты останутся; 2 — ×3,5–6,6, быстрее sort + unique на x86[домерить на iPhone].</a:t>
            </a:r>
          </a:p>
          <a:p>
            <a:r>
              <a:t>Если отстаю (−20 с): Выбросить «В черновике этого слайда я его пропустил…» и фразу про rowid. Итог раунда — одной фразой: «Лучший алгоритм использует то, что о данных уже известно».</a:t>
            </a:r>
          </a:p>
          <a:p>
            <a:r>
              <a:t>Под рукой:</a:t>
            </a:r>
          </a:p>
          <a:p>
            <a:r>
              <a:t>— Если на iPhone не домерил, вместо плейсхолдера: «На телефоне я его ещё не мерил — цифры появятся в репозитории». Не говорить «на телефоне будет так же». Про std::flat_set — только на вопрос: «так он вставляет диапазон; это отсортированный вектор, не плоская хеш-таблица».</a:t>
            </a:r>
          </a:p>
          <a:p>
            <a:r>
              <a:t>— x86 (bench.md E8, нс на элемент входа, libstdc++ / libc++): sort + unique 42,4 / 31,2 (libc++ быстрее: вход на 94% отсортирован); слияние через set_union 6,4 / 8,9, через inplace_merge + unique 6,7 / 8,6; flat 39,3 / 36,4 — слияние быстрее и её в 4–6 раз; unordered_set 241 / 247.</a:t>
            </a:r>
          </a:p>
          <a:p>
            <a:r>
              <a:t>— set_union берёт из второго диапазона max(n − m, 0) копий: без unique по дельте на 1,06 млн осталось 32 966 дублей (cpp.md §8). «Битовая карта для плотных rowid?» (qa X5): миллион id — 125 КБ, сильный кандидат, не мерил. «INSERT OR IGNORE в SQLite?» (qa X10): B-дерево и журнал, ожидаю медленнее, не мерил.</a:t>
            </a:r>
          </a:p>
          <a:p>
            <a:r>
              <a:t>Условия и источники (были в подвале слайда): локальные 2^20 (отсортированы, уникальны) + дельта 2^16 (половина — повторы) · id — случайные 64-битные · x86: повтор на отдельной VM (Xeon 2,1 ГГц; GCC 13 / libstdc++, Clang 18 / libc++), не та, что на flip · так вставляет диапазон std::flat_set в libc++</a:t>
            </a:r>
          </a:p>
          <a:p>
            <a:r>
              <a:t>С экрана убрано: локальные 2^20 (отсортированы, уникальны) + дельта 2^16 (половина — повторы) · id — случайные 64-битные · x86: повтор на отдельной VM (Xeon 2,1 ГГц; GCC 13 / libstdc++, Clang 18 / libc++), не та, что на flip · так вставляет диапазон std::flat_set в libc++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Прежде чем менять процессор — признание. Первая версия моего бенчмарка проходила проверку на эталон и выдавала одни и те же цифры от запуска к запуску. И врала. Один массив на каждом повторе — и сортировка тысячи id давала семь наносекунд на элемент. На шестидесяти четырёх разных массивах — четырнадцать. Вдвое лучше правды. [пауза 1 с] Если ваш бенчмарк на JMH или в Go гоняет один и тот же маленький вход, он может врать так же.</a:t>
            </a:r>
          </a:p>
          <a:p>
            <a:r>
              <a:t>[щелчок] Гипотеза: предсказатель ветвлений выучил вход. Контроль: шестьдесят четыре одинаковые копии. Ветвления как у одного массива, адреса как у разных.</a:t>
            </a:r>
          </a:p>
          <a:p>
            <a:r>
              <a:t>[щелчок] На x86 копии быстрые: виноват предсказатель. На M2 медленные, как разные массивы. Значит, там дело не в истории ветвлений, а в чём-то адресном. Думаю, шестьдесят четыре копии не влезают в L1, но до счётчиков я не дошёл.</a:t>
            </a:r>
          </a:p>
          <a:p>
            <a:r>
              <a:t>[щелчок] Цена ошибки — [N дней] выброшенных замеров. [пауза 2 с] Даже ошибка измерения зависит от процессора.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1:15, к концу 16:30.</a:t>
            </a:r>
          </a:p>
          <a:p>
            <a:r>
              <a:t>Щелчки: 1 — Гипотеза: предсказатель ветвлений выучил вход, Контроль: 64 одинаковые копии; 2 — x86: копии быстрые→ предсказатель, M2: копии медленные→ что-то адресное; 3 — Цена ошибки: [N дней] замеров.</a:t>
            </a:r>
          </a:p>
          <a:p>
            <a:r>
              <a:t>Если отстаю (−30 с): Версия на 45 секунд: «Мой первый бенчмарк гонял один массив: семь наносекунд вместо четырнадцати. Контроль с одинаковыми копиями: на x86 виноват предсказатель, на M2 — что-то адресное. Даже ошибка измерения зависит от процессора». Выбросить фразу про JMH и Go.</a:t>
            </a:r>
          </a:p>
          <a:p>
            <a:r>
              <a:t>Под рукой:</a:t>
            </a:r>
          </a:p>
          <a:p>
            <a:r>
              <a:t>— Полная таблица (backup): x86 Xeon, libstdc++ — 6,3 / 5,7 / 27,1; M2 Pro, Linux VM, libstdc++ — 4,8 / 15,4 / 14,6; M2 Pro, macOS, libc++ — 6,8 / — / 14,4. Заголовочные 6,8 и 14,4 сняты на macOS нативно; в Linux VM шёл только контроль с копиями, на какое ядро попадал её vCPU, решал хост. Вслух «семь» и «четырнадцать».</a:t>
            </a:r>
          </a:p>
          <a:p>
            <a:r>
              <a:t>— x86 подтверждён независимым повтором и более сильным контролем (bench.md E5): 9,7 / 9,6 / 46,9; 64 разных массива через один буфер в 8 КБ — 46,8, то есть рабочий набор ни при чём. Уже два чередующихся массива отнимают половину выигрыша (24,3). Radix без ветвлений на данных почти нечувствителен.</a:t>
            </a:r>
          </a:p>
          <a:p>
            <a:r>
              <a:t>— «M4 выучивает 10 000 ветвлений, почему на M2 не предсказатель?» (qa H15, Lemire 18.03.2026): именно поэтому контроль с копиями — история ветвлений у них одна, а время как у разных. По величине рабочий набор объясняет не всё: 8 КБ из L2 — максимум ≈3 нс/эл при разнице ≈10. Следующий шаг — Instruments → CPU Counters и контроль «8 копий × 1024 = 64 КБ &lt; L1». Идея — Lemire, «Benchmarking is hard: processors learn to predict branches», 2019.</a:t>
            </a:r>
          </a:p>
          <a:p>
            <a:r>
              <a:t>Условия и источники (были в подвале слайда): U = 512, случайный порядок · вход восстанавливается перед вызовом · медиана 4 блоков · все серии доклада — на пуле разных массивов (64 при N ≤ [порог N], дальше — [размер пула при больших N]) · M2: копии — Linux VM, тип ядра не контролировался</a:t>
            </a:r>
          </a:p>
          <a:p>
            <a:r>
              <a:t>С экрана убрано: U = 512, случайный порядок · вход восстанавливается перед вызовом · медиана 4 блоков · все серии доклада — на пуле разных массивов (64 при N ≤ [порог N], дальше — [размер пула при больших N]) · M2: копии — Linux VM, тип ядра не контролировался; x86 Xeon: копии 5,7 ≈ один массив 6,3; M2 Pro: копии 15,4 ≈ разные массивы 14,6; гипотеза для M2 — 512 КБ &gt; L1, счётчики — следующий шаг; та же ловушка — JMH или go test -bench на одном маленьком входе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[шаг по сцене, пауза 2 с]</a:t>
            </a:r>
          </a:p>
          <a:p>
            <a:r>
              <a:t>Раунд четвёртый. Ради него доклад так и называется.</a:t>
            </a:r>
          </a:p>
          <a:p>
            <a:r>
              <a:t>Всё, что вы видели на Mac и iPhone, снято на переднем плане, в userInitiated. А наша задача живёт вот в этой строчке: Task, priority utility. Третье ружьё. [пауза] [если ответ C был про железо или приоритет: «Вот и ваше условие с первой ставки».]</a:t>
            </a:r>
          </a:p>
          <a:p>
            <a:r>
              <a:t>Код алгоритма я не трогаю — ни строчки. Меняю только приоритет задачи. Тот же код, те же входы: полмиллиона id, половина — повторы.</a:t>
            </a:r>
          </a:p>
          <a:p>
            <a:r>
              <a:t>[щелчок] Mac на переднем плане, iPhone на переднем плане, Mac в utility. Три ничьи: разница меньше восьми процентов.</a:t>
            </a:r>
          </a:p>
          <a:p>
            <a:r>
              <a:t>[щелчок] [пауза 2 с] iPhone в utility — сортировка быстрее почти вдвое. [пауза 1 с] Победитель появился там, где его не было.</a:t>
            </a:r>
          </a:p>
          <a:p>
            <a:r>
              <a:t>[щелчок] Честно про Mac: на миллионе разрыв вырос и у него — был на треть, стал почти вдвое. А ядро у Mac, судя по всему, осталось то же, производительное. Значит, utility меняет не только ядро.</a:t>
            </a:r>
          </a:p>
          <a:p>
            <a:r>
              <a:t>Бэкенд, ваша версия этой таблицы — через пару минут.</a:t>
            </a:r>
          </a:p>
          <a:p>
            <a:r>
              <a:t>А iPhone на миллионе — вот. [→ следующий слайд]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1:25, к концу 17:55.</a:t>
            </a:r>
          </a:p>
          <a:p>
            <a:r>
              <a:t>Щелчки: 1 — ≈ 19,6 / 18,7, ≈ 19,6 / 18,2, ≈ 20,1 / 21,0; 2 — sort ×1,9 55,3 / 105,3; 3 — Mac, 1M: ×1,3 → ×1,8 — ядро, судя по всему, то же: P.</a:t>
            </a:r>
          </a:p>
          <a:p>
            <a:r>
              <a:t>Если отстаю (−20 с): Выбросить «Тот же код, те же входы…» (условия в футере) и фразу для бэкенда. Честную строку про Mac не выбрасывать: без неё заголовок спорит с собственной таблицей (errata P0-4).</a:t>
            </a:r>
          </a:p>
          <a:p>
            <a:r>
              <a:t>Под рукой:</a:t>
            </a:r>
          </a:p>
          <a:p>
            <a:r>
              <a:t>• Лестницы utility для Mac в данных колоды нет, поэтому здесь запасная фраза из cores («судя по всему») и на экране «ядро, судя по всему, то же: P». Если к 14.10 её снимут — вернуть «А ядро у Mac осталось то же, производительное, — это я покажу» и строку «ядро то же, P» (вместе с линией на cores, см. Под рукой cores).</a:t>
            </a:r>
          </a:p>
          <a:p>
            <a:r>
              <a:t>• «Почему на Mac хеш подорожал на 43%, если ядро то же?» — причину не мерил. Сортировка почти не заметила (+3%). Хеш на 1M (24 МиБ, мимо L2) заметил, на 512K (12 МиБ, в L2) — только +12%. Гипотеза: под utility ниже частота памяти или кластера, а хеш упирается в память. Проверка — лестница с cores на Mac в utility за 16 МиБ и Instruments → CPU Counters.</a:t>
            </a:r>
          </a:p>
          <a:p>
            <a:r>
              <a:t>• «Почему utility? Apple для синхронизации советует background» (qa I4, errata P1-9): да, в Energy Efficiency Guide синхронизация отнесена к background. Там ещё дороже: iPhone на 512K — 145,6 против 195,2 (sort ×1,3), Mac — 92,6 против 178,4 (×1,9); строки в backup. «Почему в background на iPhone разрыв меньше?» — причину не мерил. Гипотеза: в background частота E-кластера ещё ниже; сортировка упирается в вычисления и теряет пропорционально больше, а хеш и так ждёт память, задержка которой от частоты ядра почти не зависит. Проверка — счётчики или запись частоты. «Поставьте userInitiated» (qa I3): Apple просит, чтобы без действий пользователя приложение 90% времени работало в utility или ниже.</a:t>
            </a:r>
          </a:p>
          <a:p>
            <a:r>
              <a:t>• «Task или pthread?» (qa I5, I6, apple §5.1): в бенчмарке — pthread_set_qos_class_self_np; Task(priority: .utility), по исходникам Swift, — тот же класс 0x11 на кооперативном потоке, через сам Task не мерил. Если экран ждёт await task.value, приоритет поднимут — и мы в левом столбце матрицы. Не путать с QoS-классами Kubernetes: там лимиты и вытеснение, а не тип ядра.</a:t>
            </a:r>
          </a:p>
          <a:p>
            <a:r>
              <a:t>Условия и источники (были в подвале слайда): N = 2^19, U = N/2 · id случайные 64-битные · одинаковые входы · Mac: M2 Pro, macOS 27, libc++ · iPhone: [модель iPhone, чип, iOS] · thermalState nominal, Low Power Mode off · медианы · строки background — в backup</a:t>
            </a:r>
          </a:p>
          <a:p>
            <a:r>
              <a:t>С экрана убрано: N = 2^19, U = N/2 · id случайные 64-битные · одинаковые входы · Mac: M2 Pro, macOS 27, libc++ · iPhone: [модель iPhone, чип, iOS] · thermalState nominal, Low Power Mode off · медианы · строки background — в backup; в бенчмарке QoS — pthread_set_qos_class_self_np, тот же класс QoS; Mac 1M userInitiated: ×1,3 в сессии А, ×1,1 в сессии Б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[щелчок — стартует видео; беру телефон, поднимаю на уровень плеча]</a:t>
            </a:r>
          </a:p>
          <a:p>
            <a:r>
              <a:t>Вот этот телефон, [модель iPhone]. На экране — запись с него.</a:t>
            </a:r>
          </a:p>
          <a:p>
            <a:r>
              <a:t>[видео: прогон в userInitiated] Сначала передний план. Запомните длину полосок.</a:t>
            </a:r>
          </a:p>
          <a:p>
            <a:r>
              <a:t>[видео: переключатель] Меняю одну строчку.</a:t>
            </a:r>
          </a:p>
          <a:p>
            <a:r>
              <a:t>[молчу 3–4 с, пока растёт полоса хеша; смотрю в зал, не на экран]</a:t>
            </a:r>
          </a:p>
          <a:p>
            <a:r>
              <a:t>[щелчок — «×3,3»] [пауза 2 с]</a:t>
            </a:r>
          </a:p>
          <a:p>
            <a:r>
              <a:t>Сортировка быстрее в три и три десятых раза. Тот же телефон, тот же код, те же данные. [пауза 1 с]</a:t>
            </a:r>
          </a:p>
          <a:p>
            <a:r>
              <a:t>Вот цена того вторничного approve. На Mac разработчика, на переднем плане, разрыв от силы на треть, а в CI на x86 его нет вовсе. [опускаю телефон]</a:t>
            </a:r>
          </a:p>
          <a:p>
            <a:r>
              <a:t>Моя версия: главное — под задачей сменилось ядро.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0:40, к концу 18:35.</a:t>
            </a:r>
          </a:p>
          <a:p>
            <a:r>
              <a:t>Щелчки: 1 — [видео с iPhone, 8–12 с: userInitiated → utility]; 2 — ×3,3, сортировка быстрее хеша, тот же iPhone, тот же код, миллион id.</a:t>
            </a:r>
          </a:p>
          <a:p>
            <a:r>
              <a:t>Если отстаю (−10 с): Выбросить «На экране — запись с него» и «Сначала передний план. Запомните длину полосок». Молчание, пока растёт полоса хеша, и паузу после «×3,3» не сокращать: ради них слайд и сделан.</a:t>
            </a:r>
          </a:p>
          <a:p>
            <a:r>
              <a:t>Под рукой:</a:t>
            </a:r>
          </a:p>
          <a:p>
            <a:r>
              <a:t>• Пары «1M · userInitiated · iPhone» пока нет, а backup systems говорит, что на iPhone с 1M сортировка впереди и на переднем плане. Поэтому «Запомните длину полосок», а не «полоски рядом». На 512K на переднем плане ничья (19,6 / 18,2), в utility — ×1,9. Если пару не сняли — видео с переключателя, а вместо «Сначала передний план…» сказать «Приоритет utility» и сразу молчать.</a:t>
            </a:r>
          </a:p>
          <a:p>
            <a:r>
              <a:t>• «Втрое» — только для миллиона. Mac на 1M: ×1,1–1,3 в userInitiated, ×1,8 в utility. x86 на 1M: хеш на 15% в моём прогоне, ничья в повторе. Числа из видео не читаю: запись экрана сама грузит CPU, расхождение с медианами до 15%. Не говорю «в Xcode не увидите»: с устройства через Xcode эффект виден (errata P1-10).</a:t>
            </a:r>
          </a:p>
          <a:p>
            <a:r>
              <a:t>• Видео — встроенная запись экрана iOS, без кабеля (кабель меняет режим питания); H.264 до 4 МБ, &lt;video autoplay muted loop playsinline preload="auto" poster=…&gt;; проверить на компьютере площадки. Если не играет — постер и живой телефон в руке, текст тот же. «Покажите вживую» → «После доклада в экспертной зоне, можно и на вашем iPhone».</a:t>
            </a:r>
          </a:p>
          <a:p>
            <a:r>
              <a:t>Условия и источники (были в подвале слайда): [модель iPhone, чип, iOS] · N = 2^20, U = N/2 · id — случайные 64-битные · utility: sort 57,4 / unordered_set 187,7 нс/эл · userInitiated: sort [a] / unordered_set [b] нс/эл · видео — иллюстрация, числа — медианы серии</a:t>
            </a:r>
          </a:p>
          <a:p>
            <a:r>
              <a:t>С экрана убрано: N = 2^20, U = N/2 · id — случайные 64-битные · utility: sort 57,4 / unordered_set 187,7 нс/эл · userInitiated: sort [a] / unordered_set [b] нс/эл · видео — иллюстрация, числа — медианы серии · [модель iPhone, чип, iOS]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это доказать? Привязки к ядру на Apple нет. Но можно спросить у памяти.</a:t>
            </a:r>
          </a:p>
          <a:p>
            <a:r>
              <a:t>[щелчок] Метод Дреппера из 2007 года: каждое чтение ждёт предыдущее, а объём памяти, по которому ходим, растёт. Это та самая лестница из первого раунда. Сплошная — Mac на переднем плане: изломы на 128 килобайтах и 16 мегабайтах. Это кэши производительного ядра, P.</a:t>
            </a:r>
          </a:p>
          <a:p>
            <a:r>
              <a:t>[щелчок] Пунктир — фон. Изломы уже на 64 килобайтах и около трёх-четырёх мегабайт: энергоэффективное ядро, E. [пауза 2 с] Частота двигает кривую вверх-вниз, а изломы стоят на границах кэша. Ступеньки выдают ядро.</a:t>
            </a:r>
          </a:p>
          <a:p>
            <a:r>
              <a:t>[щелчок] Справа iPhone, картина та же. Янтарная — utility. На iPhone она легла на пунктир: E. [пауза 1 с] Это факт на моём iPhone, а не закон: ядро выбирает закрытый контроллер Apple. На вашем может быть иначе — проверьте.</a:t>
            </a:r>
          </a:p>
          <a:p>
            <a:r>
              <a:t>[щелчок] Отсюда и разрыв: на E-ядре сортировка медленнее почти втрое, а хеш — почти вшестеро. Таблица в двенадцать мегабайт влезала в кэш P-ядра, а в четыре мегабайта E-ядра — нет. Это гипотеза, но с лестницей сходится. [пауза]</a:t>
            </a:r>
          </a:p>
          <a:p>
            <a:r>
              <a:t>«Не срочно» на телефоне значит «другой процессор». [пауза 2 с]</a:t>
            </a:r>
          </a:p>
          <a:p>
            <a:r>
              <a:t>А что из этого увидит ваш CI?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1:45, к концу 20:20.</a:t>
            </a:r>
          </a:p>
          <a:p>
            <a:r>
              <a:t>Щелчки: 1 — MacBook Pro · M2 Pro, [график], [график], 100 нс10 нс1 нс, 16К, 128К, 1М, 16М, 64М, P L1 128 КиБ, P L2 16 МиБ, userInitiated; 2 — [график], E L1 64 КиБ, E L2 4 МиБ, background; 3 — iPhone [модель iPhone], [график], [вертикали L1/L2 P и E — из sysctl этого iPhone], [график], 100 нс10 нс1 нс, 16К, 128К, 1М, 16М, 64М, background, utility, userInitiated; 4 — «Не срочно» на телефоне = другой процессор, 512K на iPhone в .utility: sort медленнее ×2,8, хеш — ×5,8.</a:t>
            </a:r>
          </a:p>
          <a:p>
            <a:r>
              <a:t>Если отстаю (−30 с): Метод одной фразой: «Каждое чтение ждёт предыдущее, и лестница выдаёт размеры кэшей». Выбросить «Это та самая лестница из первого раунда». Не выбрасывать «частота двигает, изломы стоят», «факт, а не закон» и «почти втрое — почти вшестеро».</a:t>
            </a:r>
          </a:p>
          <a:p>
            <a:r>
              <a:t>Под рукой:</a:t>
            </a:r>
          </a:p>
          <a:p>
            <a:r>
              <a:t>• Лестницы utility для Mac в данных колоды нет, поэтому слайд собран по запасному варианту: шаг 3 только на правой панели, здесь «На iPhone она легла на пунктир: E», на qos — «А ядро у Mac, судя по всему, осталось то же, производительное». Если к 14.10 её снимут — вернуть основной: янтарная линия на левой панели в шаге 3 с подписью «utility: изломы на 128 КиБ и 16 МиБ — P»; заголовок «…utility работает на E-ядре, на Mac — на P»; здесь «На Mac она легла на сплошную: P. На iPhone — на пунктир: E»; на qos «…осталось то же, производительное, — это я покажу» и строка «ядро то же, P». При пересъёмке посмотреть, совпадает ли янтарная Mac со сплошной дальше 16 МиБ: если там выше — это ответ на 1,3 → 1,8.</a:t>
            </a:r>
          </a:p>
          <a:p>
            <a:r>
              <a:t>• «Как вы отличили E-ядро от P-ядра на пониженной частоте?» (qa H3): по положению изломов, а не по высоте кривой. Внутри L1 utility ≈2,5 нс против ≈8,5 у background: то же E-ядро, похоже, на более высокой частоте (с графика, ±10%; errata P2-15). Дополнительная проверка — Instruments → System Trace [ПП: подписывает ли он ядра как P и E, не проверено]. Привязки к ядру нет: DTS на форуме Apple — «thread affinity is not implemented / supported for Apple Silicon» (qa I9). XNU, Edge-планировщик (sched_clutch.c): для background контроллер P-ядра «would never recommend», utility — на любые, решает закрытый CLPC; «utility → E» — мой замер на этом iPhone (backup nb-kernel).</a:t>
            </a:r>
          </a:p>
          <a:p>
            <a:r>
              <a:t>• «Сортировка тоже замедлилась почти втрое — значит, не только память?» (qa H12): да — сортировка платит частотой и шириной E-ядра, хеш тем же и вдобавок вчетверо меньшим кэшем; без счётчиков это гипотеза. До заморозки 14.10 сверить по sysctl самого iPhone: [L1/L2 P- и E-ядер iPhone из sysctl]; у A15 P-L2 — 12 МБ, и тогда «в кэш P-ядра влезала» для 12 МиБ пограничная (apple §2.3). Background на 64 МБ ≈470 нс против ≈75 — в 6 раз; на 4–32 МБ — в 9–16 раз. На M5 Pro и Max E-ядер нет (apple.md §1.1ж).</a:t>
            </a:r>
          </a:p>
          <a:p>
            <a:r>
              <a:t>• Выброс янтарной линии iPhone около 1,5 МиБ (≈18 нс против ≈8 у соседей) — одна точка при медиане 3 блоков, данные на слайде оставлены как есть; до заморозки 14.10 переснять точку или взять больше блоков (errata P2-15).</a:t>
            </a:r>
          </a:p>
          <a:p>
            <a:r>
              <a:t>Условия и источники (были в подвале слайда): 1 поток · случайный цикл по строкам кэша (Drepper 2007) · медиана 3 блоков · вертикали — L1/L2 из sysctl: M2 Pro и [hw.machine, чип], iOS [версия iOS] · thermalState nominal, Low Power Mode off · utility → E — мой замер, не правило XNU</a:t>
            </a:r>
          </a:p>
          <a:p>
            <a:r>
              <a:t>С экрана убрано: 1 поток · случайный цикл по строкам кэша (Drepper 2007) · медиана 3 блоков · вертикали — L1/L2 из sysctl: M2 Pro и [hw.machine, чип], iOS [версия iOS] · thermalState nominal, Low Power Mode off · utility → E — мой замер, не правило XNU; 512K, iPhone: sort 19,6 → 55,3 (×2,8) · хеш 18,2 → 105,3 (×5,8); таблица ≈12 МиБ: в L2 P помещается, в L2 E — нет (гипотеза)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Соберём всё в одну таблицу. Один бенчмарк, одинаковые входы, три машины. [пауза 2 с]</a:t>
            </a:r>
          </a:p>
          <a:p>
            <a:r>
              <a:t>Слева x86 с Linux и libstdc++ — типичный CI. До полумиллиона хеш впереди, до сорока процентов, на миллионе — ничья. Тест зелёный, approve, хеш едет в релиз.</a:t>
            </a:r>
          </a:p>
          <a:p>
            <a:r>
              <a:t>[щелчок] Справа iPhone пользователя в utility. Столбец синий, и чем больше данных, тем сильнее: до трёх с лишним раз.</a:t>
            </a:r>
          </a:p>
          <a:p>
            <a:r>
              <a:t>[щелчок] Посередине мой Mac — почти ничья до полумиллиона. А macOS-раннер на GitHub — виртуалка, где гость видит один тип ядер: QoS там не уведёт поток на E-ядро, и мой эффект не воспроизвести в принципе.</a:t>
            </a:r>
          </a:p>
          <a:p>
            <a:r>
              <a:t>[пауза 2 с] CI не врёт. Он честно отвечает — про своё ядро.</a:t>
            </a:r>
          </a:p>
          <a:p>
            <a:r>
              <a:t>[щелчок] Бэкенд, это ваша таблица: CI на x86, прод на Graviton — другие кэши, другие соседи.</a:t>
            </a:r>
          </a:p>
          <a:p>
            <a:r>
              <a:t>Ваш алгоритм не выбирал процессор. Ни в телефоне, ни в облаке.</a:t>
            </a:r>
          </a:p>
          <a:p>
            <a:r>
              <a:t>Так что поехало в прод — и сколько это стоило?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1:20, к концу 21:40.</a:t>
            </a:r>
          </a:p>
          <a:p>
            <a:r>
              <a:t>Щелчки: 1 — iPhone .utility, [модель iPhone], ≈, sort ×1,3, sort ×1,9, sort ×3,3; 2 — Mac разработчика, M2 Pro, userInitiated, ≈, ≈ хеш ×1,06, ≈ хеш ×1,05, sort ×1,3*; 3 — CI на x86 → прод на Graviton: другие кэши, другие соседи.</a:t>
            </a:r>
          </a:p>
          <a:p>
            <a:r>
              <a:t>Если отстаю (−20 с): Выбросить «Тест зелёный…»; мост одной фразой: «Бэкенд, это ваша таблица: CI на x86, прод на Graviton». Не выбрасывать hosted-раннер и «CI не врёт — он отвечает про своё ядро».</a:t>
            </a:r>
          </a:p>
          <a:p>
            <a:r>
              <a:t>Под рукой:</a:t>
            </a:r>
          </a:p>
          <a:p>
            <a:r>
              <a:t>• Построение: 1 — столбец x86, 2 — iPhone, 3 — Mac вместе со сноской про hosted-раннеры (о них говорю на этом же щелчке), 4 — строка-мост про Graviton и Android.</a:t>
            </a:r>
          </a:p>
          <a:p>
            <a:r>
              <a:t>• Не влезло в футер, отвечать устно: вход в случайном порядке; iPhone — Low Power Mode off; x86 — Xeon в VM, GCC 13 / libstdc++; Mac — M2 Pro, macOS 27, libc++. Сноска про hosted-раннеры на экране сокращена: M1 / M2 и vCPU — в пункте о них ниже.</a:t>
            </a:r>
          </a:p>
          <a:p>
            <a:r>
              <a:t>• Клетки x86 64K–1M — янтарные плейсхолдеры до сверки определения «хеш на X%» по сырым данным моего прогона (errata P2-16; в репозитории их нет). Если X = T_sort/T_hash − 1: ×1,42 / ×1,27 / ×1,20 / ×1,15; если X = 1 − T_hash/T_sort: ×1,72 / ×1,37 / ×1,25 / ×1,18. Вписать один ряд, убрать скобки. «До сорока процентов» вслух верно при обоих; повтор определение не решает (64K ближе ко второму, 256K–1M — к первому).</a:t>
            </a:r>
          </a:p>
          <a:p>
            <a:r>
              <a:t>• Независимый повтор на x86 (bench.md E2, summary.md): 64K — хеш на 64% (T_sort/T_hash − 1) или на 39% (1 − T_hash/T_sort), 256K — 29%, 512K — 12%, 1M — ничья ±2% в обеих библиотеках (87,1 против 85,5; libc++ 88,7 против 89,3), с 2M впереди сортировка. Вывод держится: на 256K и 512K x86 даёт хеш, iPhone — sort ×1,3 и ×1,9. Абсолютные наносекунды между машинами не переносятся (+19…78%).</a:t>
            </a:r>
          </a:p>
          <a:p>
            <a:r>
              <a:t>• «Почему на x86 хеш?» (qa H14) — гипотеза: большой общий L3, и таблица до полумиллиона (≈12 МБ) лежит в нём, а не в памяти. Счётчиков в госте нет, это не замер. На повторе зависимое чтение на 16 МБ стоит 50 нс, на 64 МБ — 141 нс, и уже на 1M там ничья. У Дреппера есть пример: процессор с бо́льшим LLC вдвое быстрее на наборе, который помещается только в его кэш.</a:t>
            </a:r>
          </a:p>
          <a:p>
            <a:r>
              <a:t>• Hosted-раннеры (apple §6): macos-latest — VM на M1, 3 vCPU; xlarge — M2, 5 vCPU; гость видит hw.nperflevels = 1; в XNU для VMAPPLE MAX_CPU_CLUSTERS 1. «Как ловить в CI» (qa P8): устройство целевого класса (свои телефоны у self-hosted Mac или ферма), целевой QoS, версии ОС, компилятора и библиотеки в логе. Мосты — механизм, не мой замер (beyond §1, §5): Android — решает состояние процесса; Pixel 8/9: background = cpu0–3; Jetpack Microbenchmark меряет в top-app, на больших ядрах. Graviton: vCPU = физическое ядро, L2 1–2 МБ на ядро; не говорить «Graviton — это как E-ядро». Arrays.sort(long[]) на x86-Linux — SIMD-интринсика: в JDK 22 только на Intel с AVX-512, с JDK 23 и с AVX2 (на Zen 4 AVX-512-ветка выключена); на ARM — скалярный dual-pivot quicksort.</a:t>
            </a:r>
          </a:p>
          <a:p>
            <a:r>
              <a:t>Условия и источники (были в подвале слайда): Никита Нагорнов · github.com/Neoron95/conference-hardfest-algorithms · id случайные 64-битные, seed 17/29/43 · iPhone [модель iPhone, чип, iOS], [hw.machine] · *×1,3 — сессия А, в сессии Б ×1,1 · сравниваются системы целиком</a:t>
            </a:r>
          </a:p>
          <a:p>
            <a:r>
              <a:t>С экрана убрано: unordered_set против sort + unique · × — во сколько раз быстрее победитель · ≈ — ничья; GitHub-hosted macOS-раннеры — VM: гость видит один тип ядер (hw.nperflevels = 1), QoS не выберет E-ядро; Android: закрытое приложение → cpuset background — та же таблица, другие столбцы; id случайные 64-битные, seed 17/29/43 · iPhone [модель iPhone, чип, iOS], [hw.machine] · *×1,3 — сессия А, в сессии Б ×1,1 · сравниваются системы целиком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Прод-метрик этого этапа у меня нет, рисовать их не буду. Есть лабораторная цена.</a:t>
            </a:r>
          </a:p>
          <a:p>
            <a:r>
              <a:t>[щелчок] Обычный пользователь — тысячи id: по оценке, разница меньше миллисекунды. Поэтому такой диф и проходит ревью.</a:t>
            </a:r>
          </a:p>
          <a:p>
            <a:r>
              <a:t>[щелчок] Платит хвост — долгоживущие аккаунты. Мой iPhone, .utility, полмиллиона id: этот approve стоит лишних двадцать шесть миллисекунд на синхронизацию и двенадцать мегабайт, которые сортировке не нужны. На тестовом миллионе — сто сорок миллисекунд.</a:t>
            </a:r>
          </a:p>
          <a:p>
            <a:r>
              <a:t>[щелчок] Это этап, а не вся синхронизация: дедуп занимает [доля этапа в синхронизации]. И время — не энергия: батарею я не мерил.</a:t>
            </a:r>
          </a:p>
          <a:p>
            <a:r>
              <a:t>В проде у нас [что поехало в прод] [потому что + одно ограничение, которое решило, до 5 слов; если его не было — не говорить]. Сделал бы иначе — сразу мерил бы на телефоне, в нужной очереди, и начал со слияния. [пауза] Так что же выбирать?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1:00, к концу 22:40.</a:t>
            </a:r>
          </a:p>
          <a:p>
            <a:r>
              <a:t>Щелчки: 1 — Обычный пользователь, тысячи id, &lt; 1 мс; 2 — [фигура], Долгоживущий аккаунт, 512K id, iPhone, .utility · sort ≈29 мс, хеш ≈55 мс, +26 мс +12 МиБ, на одну синхронизацию · на тестовом 1M: +137 мс; 3 — [фигура], В проде: [что поехало в прод] · этап — [доля этапа в синхронизации]Ина.</a:t>
            </a:r>
          </a:p>
          <a:p>
            <a:r>
              <a:t>Если отстаю (−25 с): «Прод-метрик у меня нет, рисовать не буду. У обычного пользователя разницы не видно. На моём iPhone в .utility при полумиллионе id этот approve стоит лишних двадцать шесть миллисекунд и двенадцать мегабайт на синхронизацию. В проде у нас [что поехало в прод]». Оговорки остаются на экране.</a:t>
            </a:r>
          </a:p>
          <a:p>
            <a:r>
              <a:t>Под рукой:</a:t>
            </a:r>
          </a:p>
          <a:p>
            <a:r>
              <a:t>• Арифметика (audit_comm §6.1): iPhone, .utility, U = N/2. 512K: 55,3 и 105,3 × 2^19 ≈ 29 и 55 мс. 1M: 57,4 × 2^20 ≈ 60 мс против 187,7 × 2^20 ≈ 197 мс, разница ≈137 мс, вслух «сто сорок». Память: 32·U + 8·N = 12 МиБ при 512K и 24 МиБ при 1M (apple.md §3.3); сортировка работает на месте. «Тысячи id» — оценка: малые N в .utility на iPhone не мерились. Если у реальных аккаунтов миллион всё же бывает — на case сказать «у самых старых — до миллиона» и вернуть заголовок про 1M.</a:t>
            </a:r>
          </a:p>
          <a:p>
            <a:r>
              <a:t>• Не говорить (audit_comm §6.2): «синхронизация стала втрое быстрее» (это этап), «экономим батарею» (не мерил), «у половины пользователей» (распределения N нет), проценты DAU и p95 без выборки. «Почему не flat, раз он самый быстрый?» — только если так и было: «Abseil в iOS-приложении — зависимость, размер бинаря, сборка; ради этих миллисекунд в хвосте мы его не потащили». Flat в .utility на iPhone не мерил (errata P2-23).</a:t>
            </a:r>
          </a:p>
          <a:p>
            <a:r>
              <a:t>• «Это заметно пользователю?» (qa P1): на этом этапе нет. Видят батарея и бюджет фонового окна; главное — CI систематически даёт обратный ответ, а на горячем пути та же ошибка метода стоит уже не миллисекунды. «Батарея?» (qa P4): не мерил. E-ядро медленнее, но экономнее, поэтому ×3,3 по времени не значит ×3,3 по энергии; проверял бы через Instruments или MetricKit на серии синхронизаций.</a:t>
            </a:r>
          </a:p>
          <a:p>
            <a:r>
              <a:t>Условия и источники (были в подвале слайда): iPhone [модель iPhone, чип, iOS] · Task(priority: .utility) · U = N/2 · время: нс/эл со слайдов qos (512K) и x33 (1M) × N · память: unordered_set 32·U + 8·N, sort + unique — на месте · лаборатория, не прод-телеметрия</a:t>
            </a:r>
          </a:p>
          <a:p>
            <a:r>
              <a:t>С экрана убрано: iPhone [модель iPhone, чип, iOS] · Task(priority: .utility) · U = N/2 · время: нс/эл со слайдов qos (512K) и x33 (1M) × N · память: unordered_set 32·U + 8·N, sort + unique — на месте · лаборатория, не прод-телеметрия; время ≠ энергия: не мерил; 512K: sort ≈29 мс, хеш ≈55 мс; 1M (тест): ≈60 против ≈197 мс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Правило вместо нотации.</a:t>
            </a:r>
          </a:p>
          <a:p>
            <a:r>
              <a:t>[щелчок] Первое. Уникальных мало или нужен порядок первого появления — хеш-таблица, лучше плоская.</a:t>
            </a:r>
          </a:p>
          <a:p>
            <a:r>
              <a:t>[щелчок] Второе. Часть входа уже отсортирована — не трогайте её: остальное отсортируйте, схлопните и слейте.</a:t>
            </a:r>
          </a:p>
          <a:p>
            <a:r>
              <a:t>[щелчок] Третье. Целые ключи, почти все разные, данных больше кэша — radix или плоская таблица. Узловая — последней.</a:t>
            </a:r>
          </a:p>
          <a:p>
            <a:r>
              <a:t>[щелчок] Четвёртое, для всех. Код живёт не там, где мерили, — значит, цена шага другая. На телефоне в фоне — другое ядро. На бэкенде — ARM вместо x86 или контейнер, у которого кэш делят соседи.</a:t>
            </a:r>
          </a:p>
          <a:p>
            <a:r>
              <a:t>[щелчок] И пятое, самое короткое: сомневаетесь — меряйте.</a:t>
            </a:r>
          </a:p>
          <a:p>
            <a:r>
              <a:t>[пауза] Big-O нужен: он спасает от квадратичных катастроф. Но между двумя разумными алгоритмами он не выбирает: он считает шаги, а не их цену. [пауза] Вернёмся во вторник.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1:00, к концу 23:40.</a:t>
            </a:r>
          </a:p>
          <a:p>
            <a:r>
              <a:t>Щелчки: 1 — 1, Мало уникальных или нужен порядок появления→ хеш-таблица, лучше плоска; 2 — 2, Часть входа уже отсортирована→ отсортировать остальное, убрать повторы; 3 — 3, Целые ключи, почти все разные, больше кэша→ radix или плоская; узловая; 4 — 4, Код живёт не там, где мерили→ цена шага другая; 5 — 5, Сомневаетесь→ меряйте.</a:t>
            </a:r>
          </a:p>
          <a:p>
            <a:r>
              <a:t>Если отстаю (−25 с): Правила 1–3 не читать: «Первые три — про данные и контракт, они на слайде». Четвёртое целиком, пятое и «Big-O считает шаги, а не их цену».</a:t>
            </a:r>
          </a:p>
          <a:p>
            <a:r>
              <a:t>Под рукой:</a:t>
            </a:r>
          </a:p>
          <a:p>
            <a:r>
              <a:t>• Финальное состояние (все пять правил и строка про Big-O) держать 5 секунд: его фотографируют.</a:t>
            </a:r>
          </a:p>
          <a:p>
            <a:r>
              <a:t>• Правило 4, числа со слайда cores (iPhone, отношение к userInitiated): utility ≈1,3× в L1 и на 64 МБ, до ≈5× на 8–16 МБ; background — до ≈15× на 4–32 МБ (errata P1-14; с графика ±10%, сверить с сырыми данными). CPU-лимит, то есть квота CFS, сам по себе тормозит оба алгоритма одинаково; цену шага меняют соседи по L3 — гипотеза, я мерил без соседей (qa B10). Не говорить «Graviton — это как E-ядро».</a:t>
            </a:r>
          </a:p>
          <a:p>
            <a:r>
              <a:t>• Правило 1: при 1% уникальных flat с reserve(N) медленнее узловой таблицы (3,6 против 3,2 нс/эл) и берёт в 64 раза больше памяти (errata P2-19, backup reserve). Правило 3: radix и flat мерились на M2 Pro в userInitiated (6,9 и 11,7 против 19,9) и на x86 (bench.md E1: radix ≈40, flat ≈43, sort ≈84, unordered_set ≈260 нс/эл); на iPhone в .utility — не мерил (qa P7). Правило 2 — слайд merge: на x86 в 3,5–6,6 раза быстрее sort + unique; unique по дельте обязателен.</a:t>
            </a:r>
          </a:p>
          <a:p>
            <a:r>
              <a:t>• «Postgres сам выбирает между HashAggregate и Sort» (qa B7): да, по оценке числа различных значений и work_mem — по данным и памяти, ровно по этому правилу; про ядро он тоже не знает. «Кнут: преждевременная оптимизация»: правило не про то, чтобы оптимизировать дедуп, а про то, чтобы не выбирать контейнер по нотации.</a:t>
            </a:r>
          </a:p>
          <a:p>
            <a:r>
              <a:t>Условия и источники (были в подвале слайда): Никита Нагорнов · github.com/Neoron95/conference-hardfest-algorithms · слайд 24</a:t>
            </a:r>
          </a:p>
          <a:p>
            <a:r>
              <a:t>С экрана убрано: Четвёртое подробнее: iPhone в .utility — чтение памяти до 5× дороже · ARM-инстанс вместо x86 · контейнер, где L3 делят соседи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Вторник, 17:40. Тот же диф. [пауза 1 с] Сегодня approve я бы не поставил. [щелчок] [пауза 2 с — даю посмеяться над подписью «три года спустя», не говорю поверх] Changes requested — и три вопроса.</a:t>
            </a:r>
          </a:p>
          <a:p>
            <a:r>
              <a:t>[щелчок] Первый — контракт. Раньше выход был отсортирован, теперь — порядок таблицы. Кто-нибудь на это опирается?</a:t>
            </a:r>
          </a:p>
          <a:p>
            <a:r>
              <a:t>[щелчок] Второй — данные. Какие N, сколько повторов? Локальные id уже отсортированы — может, слить?</a:t>
            </a:r>
          </a:p>
          <a:p>
            <a:r>
              <a:t>[щелчок] Третий — где это исполняется. На каком железе и в каком приоритете мерили?</a:t>
            </a:r>
          </a:p>
          <a:p>
            <a:r>
              <a:t>[щелчок] Ваши руки: здесь большинство было за [буква]. Кто A — правы на миллионе разных id и на телефоне в фоне. Кто B — правы с плоской таблицей, при очень большой доле повторов и для порядка первого появления. [пауза] А кто выбрал C — вы были правы с первой минуты. Эти три вопроса и есть то самое условие.</a:t>
            </a:r>
          </a:p>
          <a:p>
            <a:r>
              <a:t>Подведём счёт.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1:00, к концу 24:40.</a:t>
            </a:r>
          </a:p>
          <a:p>
            <a:r>
              <a:t>Щелчки: 1 — Никита, три года спустя, Changes requested; 2 — 1, Контрактвыход был отсортирован — кто на это опирается?; 3 — 2, Данныекакие N и повторы? локальные уже отсортированы; 4 — 3, Где исполняетсякакое железо и какой QoS?; 5 — A — прав на телефоне в фоне, B — прав с плоской таблицей и повторами, C — прав с первой минуты.</a:t>
            </a:r>
          </a:p>
          <a:p>
            <a:r>
              <a:t>Если отстаю (−20 с): «Тот же диф. Сегодня — Changes requested и три вопроса: какой контракт, какие данные, где исполняется». Вердикты A и B не читать, они на карточках; вслух только «Кто выбрал C — вы были правы с первой минуты».</a:t>
            </a:r>
          </a:p>
          <a:p>
            <a:r>
              <a:t>Под рукой:</a:t>
            </a:r>
          </a:p>
          <a:p>
            <a:r>
              <a:t>• Вопрос 1 закрывает вторую мелочь со слайда diff, первая (reserve) закрыта на vote. Про reserve, если спросят: без него в libc++ 20 перестроений и 51,5 МБ запрошенной памяти вместо 33,6 (cpp.md §2.3); по времени не мерил.</a:t>
            </a:r>
          </a:p>
          <a:p>
            <a:r>
              <a:t>• На чём держатся вердикты. A: sort на iPhone в .utility быстрее в 1,9 раза на 512K и в 3,3 раза на 1M; на миллионе уникальных id сортировка впереди везде, в 2,1–3,1 раза (x86: 2,07 у меня, 2,9–3,1 на повторе). B: flat быстрее сортировки в 1,7 раза (N = U); при 1% уникальных хеш впереди в 3,7 раза, при порядке первого появления — в 3,4; при половине повторов узловая — ничья на Mac и проигрыш на iPhone в utility. C: условие, которого не хватало, — раунды 3 и 4.</a:t>
            </a:r>
          </a:p>
          <a:p>
            <a:r>
              <a:t>• Если большинство было за A или B, не подкалываю: «вы правы — в своих клетках». Полный чек-лист честного замера (восемь проверок) — в backup checklist и в репозитории.</a:t>
            </a:r>
          </a:p>
          <a:p>
            <a:r>
              <a:t>С экрана убрано: A · sort — прав на 1M разных id и на телефоне в фоне; B · хеш — прав с плоской таблицей, при очень большой доле повторов и для порядка первого появления; C · условие — прав с первой минуты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Четыре раунда — четыре числа. Хеш против std::sort — два — два. И ни разу победителя не назначил логарифм. Его назначали память, реализация, данные и ядро. Бенчмарк и сырые данные — по QR.</a:t>
            </a:r>
          </a:p>
          <a:p>
            <a:r>
              <a:t>[щелчок] Одно действие на понедельник. Откройте свой перф-тест и посмотрите, где он бежит. Мобильщикам — на телефоне ли и в той ли очереди. Бэкенду — на том ли железе, где прод. Если нет, вы знаете только одно: что быстрее у раннера.</a:t>
            </a:r>
          </a:p>
          <a:p>
            <a:r>
              <a:t>[щелчок] [пауза 2 с, смотрю в зал] Ваш алгоритм не выбирал процессор. [пауза] Проверьте, какой ему достался. [пауза 2 с] Спасибо!</a:t>
            </a:r>
          </a:p>
          <a:p>
            <a:r>
              <a:t>━━━━━━━━━━━━━━━━━━━━━━━━</a:t>
            </a:r>
          </a:p>
          <a:p>
            <a:r>
              <a:t>Тайминг: 0:45, к концу 25:25.</a:t>
            </a:r>
          </a:p>
          <a:p>
            <a:r>
              <a:t>Щелчки: 1 — iOS: перф-тест на телефоне, в той очереди, где живёт кодБэкенд: на том; 2 — Ваш алгоритм не выбирал процессор.Проверьте, какой ему достался.</a:t>
            </a:r>
          </a:p>
          <a:p>
            <a:r>
              <a:t>Если отстаю (−15 с): Первый абзац сжать до «Четыре числа — и ни разу победителя не назначил логарифм». Строки про мобильщиков и бэкенд не читать, они на экране. Рефрен и паузы вокруг него не трогать.</a:t>
            </a:r>
          </a:p>
          <a:p>
            <a:r>
              <a:t>Под рукой:</a:t>
            </a:r>
          </a:p>
          <a:p>
            <a:r>
              <a:t>• Полоса (errata §4.2): 51,3 / 19,9 = 2,58 (M2 Pro, N = U, sort против unordered_set); 19,9 / 11,7 = 1,70 (flat против sort); ≈12,0 / ≈3,2 = 3,7 (1% уникальных, unordered_set против sort); 187,7 / 57,4 = 3,27 (iPhone, .utility, 1M, U = N/2). «Два — два» — именно хеш против std::sort: в раундах 1 и 4 выиграла сортировка, в 2 и 3 — хеш. Если спросят «а radix и слияние?» — да, считая их, семья сортировки выигрывает чаще; счёт на полосе — про диф с ревью.</a:t>
            </a:r>
          </a:p>
          <a:p>
            <a:r>
              <a:t>• Концовка по craft §6.4: действие, рефрен, пауза 2 с и «Спасибо!» как сигнал к аплодисментам. «Вопросы?» не говорю: вопросы открывает модератор. Если модератор сам закрывает доклад, закончить на «Проверьте, какой ему достался».</a:t>
            </a:r>
          </a:p>
          <a:p>
            <a:r>
              <a:t>• QR и URL — настоящие (errata P0-14). «Соберёте за десять минут» не обещать, пока сам не собрал DedupBench с нуля на чистой машине. «Мы бэкенд, у нас x86 и там, и там» (qa B5): другое поколение CPU и LLC, соседи по L3, другая стандартная библиотека. Arrays.sort(long[]) на x86 — SIMD-интринсика (JDK 22 — Intel с AVX-512, с JDK 23 — и AVX2), на ARM — скалярный quicksort (beyond §5.4).</a:t>
            </a:r>
          </a:p>
          <a:p>
            <a:r>
              <a:t>Условия и источники (были в подвале слайда): Никита Нагорнов · iOS, компания «Исходный код» · код, сырые данные и условия всех замеров</a:t>
            </a:r>
          </a:p>
          <a:p>
            <a:r>
              <a:t>С экрана убрано: Никита Нагорнов · iOS, компания «Исходный код» · код, сырые данные и условия всех замеров — github.com/Neoron95/conference-hardfest-algorithms; бэкенд: ARM, соседи по L3, другая стандартная библиотека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Слайды после этого — запас для вопросов, в основной хронометраж не входят. Номер на экране → слайд → вопросы из qa.md:</a:t>
            </a:r>
          </a:p>
          <a:p>
            <a:r>
              <a:t>1 nb-where — «Какой iPhone? Где мерили? У нас CI на Mac-раннерах» (M1, M10, V7, P8) · 2 nb-kernel — «В XNU написано обратное» (I1, I9, H16) · 3 nb-dense — «rowid плотные, а мерили случайные» (M5, C8) · 4 nb-merge — «Почему не слить дельту?» (X1, C5, C10) · 5 nb-lang — «А в Java, Go, Rust, Swift, Python?» (B1–B3, B9, S1, X12) · 6 learned-table — «Почему на M2 не предсказатель?» (H15, H17) · 7 qos-bg — «Почему utility, а не background?» (I4, H13) · 8 systems — точка перехода на четырёх системах · 9 drift — две минуты под нагрузкой · 10 stdlib — libstdc++ против libc++ · 11 cachecost — рабочий набор против L2 · 12 sortmin, 13 hashtable, 14 radixmin — устройство алгоритмов за минуту · 15 reserve — «Почему reserve(N), а не под U?» (C12) · 16 checklist — восемь проверок честного замера · 17 sums — из чего складывается работа.</a:t>
            </a:r>
          </a:p>
          <a:p>
            <a:r>
              <a:t>Схема любого ответа: сразу признать верное → точная формулировка → вывод держится → мостик: «на каком железе и в каком приоритете мерили».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Сырые данные, харнесс и условия замеров — github.com/Neoron95/conference-hardfest-algorithms · архив (скрыт): twoways, bigo, questions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Вопросы: «Какой iPhone, какая iOS?» (qa M1), «x86 — VM или железо?» (M10), «У нас CI на Mac-раннерах» (V7, P8), «Релиз собирают с -Os» (M9).</a:t>
            </a:r>
          </a:p>
          <a:p>
            <a:r>
              <a:t>Ответ: iPhone — [модель iPhone, чип, iOS]; Low Power Mode выключен, заряд 40–80 %, без кабеля, thermalState nominal; всё это пишет «паспорт устройства» в репозитории. Модель важна: у A15 L2 P-кластера 12 МБ, у A16–A18 Pro — 16 МБ, от этого зависит, где у хеша ступенька. x86 — VM, поэтому абсолютные наносекунды с Apple не сравниваю, только отношения внутри одной машины. Стандартный macOS-раннер GitHub — VM на M1 с тремя vCPU: гость видит один тип ядер (hw.nperflevels = 1), QoS не уведёт поток на E-ядро, мой эффект в hosted CI не воспроизвести. Ловить так: устройство целевого класса, тот же QoS, версии ОС, компилятора и библиотеки в логе.</a:t>
            </a:r>
          </a:p>
          <a:p>
            <a:r>
              <a:t>-Os: DedupBench собран с [флаги сборки DedupBench]; std::sort для uint64_t исполняется из системной libc++ и от наших флагов не зависит, хеш упирается в память; прогон с -Os — в плане.</a:t>
            </a:r>
          </a:p>
          <a:p>
            <a:r>
              <a:t>Мостик: «Поэтому паспорт условий — пункт чек-листа, а не формальность».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1 поток · QoS через pthread_set_qos_class_self_np · std::sort для uint64_t на iPhone — из системной libc++, его задаёт версия iOS · x86-повтор (E1–E11): другая VM Xeon 2,1 ГГц</a:t>
            </a:r>
          </a:p>
          <a:p>
            <a:r>
              <a:t>С экрана убрано: Устройство: iPhone [модель iPhone] ([hw.machine, чип]); Mac — MacBook Pro, M2 Pro [сверить: 8P + 4E или 6P + 4E]; x86 — Intel Xeon 2,1 ГГц, VM; раннер GitHub, macOS — «Apple M1 (Virtual)», 3 vCPU; xlarge — M2, 5 vCPU. Кэши Mac (sysctl): P — L1D 128 КиБ · L2 16 МиБ; E — L1D 64 КиБ · L2 4 МиБ; строка кэша 128 Б. Раннер: hw.nperflevels = 1, «Standard»: L1D 128 КиБ, L2 12 МиБ. Планировщик: iPhone — kern.sched = [снять на iPhone]; Mac — kern.sched = edge; x86 — Linux, все vCPU одного типа; раннер — симметричный: в VM нет AMP. ОС и сборка: iPhone — iOS [27.0.x] · Xcode 27.0 / Apple clang 21.0.0 · [флаги сборки DedupBench]; Mac — macOS 27 · Xcode 27.0 / Apple clang 21.0.0 · -O3; x86 — Linux · GCC 13 / libstdc++; раннер — macOS 26 · Xcode 26.6. Режим: iPhone — Low Power Mode off · заряд 40–80%, без кабеля · thermalState nominal; Mac — QoS так же, как на iPhone; x86 — без QoS; раннер — QoS не выбирает тип ядра.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Вопрос: «В XNU написано обратное: при Edge utility может идти на любые ядра» (qa I1, Б1).</a:t>
            </a:r>
          </a:p>
          <a:p>
            <a:r>
              <a:t>Ответ: Да, вы правы. Цитата «utility и bg только на E» — из старого AMP-планировщика, он собирается только без Edge. В Edge ограничение одно: background и maintenance контроллер производительности на P-ядра не отправляет никогда. Utility может идти куда угодно, решает закрытый CLPC. Поэтому «utility на E» — не закон ядра, а мой замер: на этом iPhone utility оказался на E, на Mac — на P. Это видно по ступенькам на cores.</a:t>
            </a:r>
          </a:p>
          <a:p>
            <a:r>
              <a:t>Мостик: даже ядро ОС не обещает, какое ядро процессора вам достанется. Поэтому я меряю, а не цитирую.</a:t>
            </a:r>
          </a:p>
          <a:p>
            <a:r>
              <a:t>Если спросят дальше. «Привязать к P-ядру?» (I9) — нет: thread affinity на Apple silicon не поддерживается, рычаг один — QoS, и он влияет на размещение, а не назначает ядро. «P и E похожи по микроархитектуре» (I2) — да, Tech Talk 2021, но у E вдвое меньше L1D, вчетверо меньше L2 и ниже частота; нагрузка с указателями упирается ровно в это. «На M5 Pro E-ядер нет» (H16) — да, там Super и Performance, фон уйдёт на M-ядра: правило «background = E» перестаёт работать даже у Apple — тем важнее мерить.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xnu-12377.121.6: sched_clutch.c, стр. 6604–6612 · sched.h, стр. 191–207 — Edge на всех асимметричных arm64 · sched_amp_common.c — под #if !CONFIG_SCHED_EDGE · Apple Developer News, 22.06.2020 · ступеньки ядер — слайд cores</a:t>
            </a:r>
          </a:p>
          <a:p>
            <a:r>
              <a:t>С экрана убрано: XNU · Edge-планировщик · sched_clutch.c, цитата целиком: «…lower QoS buckets (such as UT) to be scheduled on all CPUs… The only restriction is for BG/Maintenance… would never recommend execution on the P-cores» — utility на любые ядра, решает закрытый CLPC; для background контроллер P-ядра „would never recommend“. Не действует: старый AMP (sched_amp_common.c), собирается только без Edge: «utility and b[g] threads on E-Cores only». Apple Developer · 22.06.2020: QoS используется, «to influence placement of threads on P or E cores»; привязки к ядру нет: «thread affinity is not implemented / supported for Apple Silicon» (DTS, форум Apple). Мой замер: utility — Mac M2 Pro → P-ядро, iPhone [модель iPhone] → E-ядро; background → E на обоих. Решает закрытый CLPC: на вашем устройстве может быть иначе — проверьте. На M5 Pro и M5 Max E-ядер нет вовсе.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Вопрос: «В кейсе rowid из SQLite — плотные, а мерили вы случайные 64-битные» (qa M5, Б2), «std::hash для целых — тождество» (C8).</a:t>
            </a:r>
          </a:p>
          <a:p>
            <a:r>
              <a:t>Ответ: Справедливо. Случайные id выбраны намеренно, чтобы раскладка не зависела от удачи. На плотных id узловой таблице везёт: std::hash — тождество, коллизий ноль. На x86-повторе при половине дублей unordered_set на плотных в 1,65 раза быстрее, чем на случайных, и обгоняет сортировку в 1,7 раза; при всех уникальных — 320 против 68 нс/эл, в 4,7 раза. Radix делает 3 прохода вместо 8. Sort и flat от раскладки не зависят. Значит, на rowid победитель может смениться — это ровно тезис раунда 3. Серия на iPhone — [снять до 14.10]; не снял — так и сказать.</a:t>
            </a:r>
          </a:p>
          <a:p>
            <a:r>
              <a:t>Обратный край: id с общими нулевыми младшими битами (снежинки с нулевым счётчиком, кратные 1024) в libc++ после reserve(2^k) сваливаются в одну цепочку: шаг 1024 — 64 ячейки из 65 536, вставка ×70; шаг 2^20 — ×1 500. libstdc++ простой модуль это скрывает, Abseil и boost перемешивают хеш. Проверьте гистограмму цепочек на своих id.</a:t>
            </a:r>
          </a:p>
          <a:p>
            <a:r>
              <a:t>Мостик: для rowid лучший кандидат вообще не хеш и не sort, а слияние отсортированной дельты (следующий слайд) или битовая карта.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x86-повтор на отдельной VM: Xeon 2,1 ГГц; GCC 13 / libstdc++ и Clang 18 / libc++; медиана сессий · ловушка — тест cluster.cpp, x86, reserve(N) · все серии доклада сняты на случайных 64-битных id</a:t>
            </a:r>
          </a:p>
          <a:p>
            <a:r>
              <a:t>С экрана убрано: x86-повтор, серия E7, плотные id — перемешаны. radix + unique: случайные 38,0 / 40,3, плотные 21,6 / 22,1; flat_hash_set: случайные 34,7 / 36,9, плотные 35,5 / 36,9 (нс/эл, libstdc++ / libc++). Ловушка libc++: id с шагом 2^k, std::hash — тождество: ячейка = младшие k бит id. 65 536 id: плотные 1..N — занято 65 536 ячеек, 40 нс на вставку (libstdc++: 39); шаг 1024 — 64 ячейки, 2 762 нс · ×70 (libstdc++: 41); шаг 2^20 — 1 ячейка, 60 540 нс · ×1 500 (libstdc++: 38). iPhone · userInitiated и .utility · 512K и 1M · случайные и плотные id: [снять до 14.10]. Для rowid победитель может смениться. Лучший кандидат — не хеш и не sort, а слияние дельты или битовая карта.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Вопросы: «Почему не отсортировать только дельту и слить?» (qa X1), «set_union не убирает дубли дельты» (C5), «std::flat_set — это flat_hash_set?» (C10).</a:t>
            </a:r>
          </a:p>
          <a:p>
            <a:r>
              <a:t>Ответ: Для нашей задачи это правильный ответ, он же на слайде merge. Сортируем дельту, схлопываем в ней повторы и сливаем с отсортированными локальными id через set_union или inplace_merge + unique. Без unique по дельте set_union оставит её дубли: из второго диапазона он берёт max(n − m, 0) копий — на 1,06 млн осталось 32 966 дублей. На x86 это в 3,5–6,6 раза быстрее sort + unique и в 4–6 раз быстрее flat_hash_set. libc++ в sort + unique быстрее libstdc++ (31 против 42): вход уже на 94% отсортирован. iPhone: [домерить на iPhone]; не домерил — «на телефоне ещё не мерил, цифры появятся в репозитории», не «будет так же».</a:t>
            </a:r>
          </a:p>
          <a:p>
            <a:r>
              <a:t>std::flat_set — не хеш-таблица, а отсортированный вектор; его insert(range) в libc++ — ровно этот рецепт: отсортировать хвост, inplace_merge, unique.</a:t>
            </a:r>
          </a:p>
          <a:p>
            <a:r>
              <a:t>INSERT OR IGNORE в SQLite (X10) — B-дерево и журнал, ожидаю медленнее, не мерил. Битовая карта для плотных rowid (X5): 1M id — 125 КБ, не мерил.</a:t>
            </a:r>
          </a:p>
          <a:p>
            <a:r>
              <a:t>Мостик: лучший алгоритм использует то, что о данных уже известно, — здесь «SQLite уже отсортировала».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L — 2^20 локальных id (отсортированы, уникальны) + дельта D — 2^16, половина — повторы · x86-повтор на отдельной VM (Xeon 2,1 ГГц; GCC 13, Clang 18), медиана сессий · так вставляет диапазон std::flat_set в libc++</a:t>
            </a:r>
          </a:p>
          <a:p>
            <a:r>
              <a:t>С экрана убрано: Исходный заголовок: «Сортируем только дельту и сливаем: на x86 в 3,5–6,6 раза быстрее sort + unique». Код: std::sort(D.begin(), D.end()); D.erase(std::unique(D.begin(), D.end()), D.end()); — без этого шага set_union оставит дубли дельты; std::set_union(L.begin(), L.end(), D.begin(), D.end(), std::back_inserter(out)). radix + unique: 41,4 / 39,8 нс/эл, быстрее sort + unique в 1,0 / 0,8 раза. sort(Δ) + unique(Δ) + inplace_merge + unique: 6,7 / 8,6 нс/эл, быстрее в 6,3 / 3,6 раза.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Вопросы: «А в Java/Kotlin, Go, Rust, Python, Swift?» (qa B1–B3, B9, S1), «Почему не всё на Swift?» (X12).</a:t>
            </a:r>
          </a:p>
          <a:p>
            <a:r>
              <a:t>Ответ: это карта устройства по исходникам, не замеры. Go с 1.24 и Rust — плоские Swiss tables, как Abseil. Swift и Python — тоже открытая адресация, но у Swift дорогой SipHash, а у Python каждый int — объект. C# — цепочки, но внутри массивов, без аллокации на элемент. А Java HashSet&lt;Long&gt; и котлиновский distinct() — узловые, да ещё с боксингом: два объекта на каждый id. Так что раунд 1 — про Java и Kotlin даже больше, чем про C++. Плоские замены на JVM — fastutil LongOpenHashSet и androidx MutableLongSet.</a:t>
            </a:r>
          </a:p>
          <a:p>
            <a:r>
              <a:t>Процессор выбирает и здесь: Arrays.sort(long[]) на x86-Linux в новых JDK — SIMD-интринсика, на ARM — скалярный dual-pivot quicksort; Go выбирает хеш-функцию по CPU, пороги мерили на Zen 4 и Apple M1.</a:t>
            </a:r>
          </a:p>
          <a:p>
            <a:r>
              <a:t>Swift (S1): Set плоский, но SipHash-1-3 дороже тождества; ожидаю ближе к flat, чем к unordered_set, где он относительно сортировки — не знаю, не мерил.</a:t>
            </a:r>
          </a:p>
          <a:p>
            <a:r>
              <a:t>Почему доклад на C++ (X12): один и тот же код без изменений на x86, Mac и iPhone — иначе сравнение платформ смешалось бы со сравнением языков.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Плоские замены: C++ — absl::flat_hash_set, boost::unordered_flat_set; JVM — fastutil LongOpenHashSet, androidx MutableLongSet · по исходникам: Swift, Go 1.24, Rust std, JDK 21, .NET, CPython · замеров вне C++ нет</a:t>
            </a:r>
          </a:p>
          <a:p>
            <a:r>
              <a:t>С экрана убрано: Устройство подробно: C++ std::unordered_set — узловая: узел на ключ, цепочки; Swift Set&lt;UInt64&gt; — плоская: открытая адресация, линейные пробы; Go ≥ 1.24 map[uint64]struct{} — плоская: Swiss table, группы по 8; Rust HashSet&lt;u64&gt; — плоская: hashbrown (Swiss), группа 16 на x86, 8 на ARM; Java / Kotlin HashSet&lt;Long&gt;, distinct() — узловая + боксинг: два объекта на id; Python set — плоская, но каждый int — объект в куче; C# HashSet&lt;long&gt; — цепочки в массивах: без new на элемент, без боксинга. Хешер для целого: C++ — тождество; Swift — SipHash-1-3, случайный сид; Go — скалярный, сид на каждую карту; Rust — SipHash-1-3, случайный сид; Java/Kotlin — (int)(v ^ v&gt;&gt;&gt;32), без сида; Python — hash(int), без сида; C# — (int)v ^ (int)(v &gt;&gt; 32), без сида. sort + unique: C++ — sort + unique; Swift — sort() + проход; Go — slices.Sort + slices.Compact; Rust — sort_unstable() + dedup(); Java/Kotlin — Arrays.sort(long[]) + проход; Python — sorted() + проход; C# — Array.Sort + проход.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Вопросы: «M4 выучивает 10 000 ветвлений — почему на M2 не предсказатель?» (qa H15, Б3), «Linux VM на M2 — на каких ядрах шли vCPU?» (H17).</a:t>
            </a:r>
          </a:p>
          <a:p>
            <a:r>
              <a:t>Ответ: формулировка «предсказатель ни при чём» была слишком сильной. Факт: 64 одинаковые копии, у которых история ветвлений как у одного массива, на M2 так же медленны, как разные массивы. Значит, разницу даёт не история ветвлений, а что-то адресное. «Рабочий набор» — гипотеза, и по величине она объясняет не всё: 8 КБ из L2 — максимум ≈3 нс/эл при разнице ≈10. Следующий шаг — Instruments → CPU Counters и контроль «8 копий × 1024 = 64 КБ &lt; L1».</a:t>
            </a:r>
          </a:p>
          <a:p>
            <a:r>
              <a:t>VM: тип ядра под vCPU выбирает хост macOS, я его не контролировал. Заголовочные 6,8 и 14,4 сняты на macOS нативно; в Linux VM шёл только контроль с копиями. Выводы про P и E — только с нативных Mac и iPhone.</a:t>
            </a:r>
          </a:p>
          <a:p>
            <a:r>
              <a:t>x86 подтверждён повтором и более сильным контролем: 9,7 / 9,6 / 46,9; 64 разных массива через один буфер 8 КБ — 46,8; уже два чередующихся массива отнимают половину выигрыша (24,3).</a:t>
            </a:r>
          </a:p>
          <a:p>
            <a:r>
              <a:t>Мостик: одна и та же ошибка бенчмарка, а механизм на двух процессорах разный. Факт отдельно от гипотезы о причине. Идея опыта — Lemire, 2019.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U = 512, случайный порядок · вход восстанавливается перед каждым вызовом · медиана 4 блоков · заголовочные 6,8 и 14,4 сняты на macOS нативно · все серии доклада — на пуле разных массивов</a:t>
            </a:r>
          </a:p>
          <a:p>
            <a:r>
              <a:t>С экрана убрано: x86 Xeon: копии быстрые — 5,7 ≈ один массив 6,3 → предсказатель ветвлений; повтор (E5): 9,7 / 9,6 / 46,9; 64 разных массива через один буфер 8 КБ — 46,8: рабочий набор ни при чём. M2 Pro: копии медленные — 15,4 ≈ разные массивы 14,6 → не история ветвлений, а что-то адресное; гипотеза — 512 КБ &gt; L1; счётчики — следующий шаг. Контроль с копиями на M2 — Linux VM: тип ядра под vCPU не контролировался.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 · без шагов. Вопрос: «Почему utility? Apple для синхронизации советует background» (qa I4, errata P1-9).</a:t>
            </a:r>
          </a:p>
          <a:p>
            <a:r>
              <a:t>Ответ: Да, в Energy Efficiency Guide синхронизация отнесена к background («such as indexing, synchronizing, and backups»). Utility — «не срочно, но результат нужен», им в проектах часто помечают синхронизацию. В background ещё дороже: на iPhone на 512K сортировка 145,6 нс/эл против 195,2 у хеша (×1,3), на Mac — 92,6 против 178,4 (×1,9). Вывод тот же: фон — это другое ядро и другая цена шага.</a:t>
            </a:r>
          </a:p>
          <a:p>
            <a:r>
              <a:t>«Почему на iPhone в background разрыв меньше, чем в utility?» (H13): причину не мерил. Гипотеза: в background частота E-кластера ещё ниже; сортировка упирается в вычисления и теряет пропорционально больше, а хеш и так ждёт память, задержка которой от частоты ядра почти не зависит. Проверка — счётчики или запись частоты.</a:t>
            </a:r>
          </a:p>
          <a:p>
            <a:r>
              <a:t>«Поставьте userInitiated» (I3): Apple просит, чтобы без действий пользователя приложение 90% времени работало в utility или ниже; в фоне потолок QoS к тому же режется ролью процесса. «А в настоящем фоне, в BGAppRefreshTask?» (I7): не мерил, ожидаю не лучше utility — гипотеза.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Условия и источники (были в подвале слайда): id случайные 64-битные · одинаковые входы · QoS через pthread_set_qos_class_self_np · Mac: macOS 27, libc++ · iPhone: [модель iPhone, чип, iOS] · thermalState nominal · медианы · BGAppRefreshTask не мерил</a:t>
            </a:r>
          </a:p>
          <a:p>
            <a:r>
              <a:t>С экрана убрано: Исходный заголовок: «В background сортировка впереди и на Mac (×1,9), и на iPhone (×1,3)». Строка utility, N = 1M: Mac — sort 20,7, хеш 37,6 (sort ×1,8); iPhone — 57,4 и 187,7 (sort ×3,3). sort = sort + unique, хеш = unordered_set; «≈» — ничья. Почему в докладе utility, а не background? Apple в Energy Efficiency Guide относит синхронизацию к background: «such as indexing, synchronizing, and backups». Utility — «не срочно, но результат нужен»: им в проектах часто помечают синхронизацию. В background ещё дороже, и сортировка впереди на обоих устройствах.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Открывать на вопрос «А на других системах так же?» или «Где точка перехода у вас?».</a:t>
            </a:r>
          </a:p>
          <a:p>
            <a:r>
              <a:t>Ответ: это сравнение систем целиком — вместе меняются железо, ОС, компилятор и библиотека. Когда все id разные, N = U = 2^20, сортировка быстрее unordered_set везде: x86 — в 2,07 раза, M2 Pro в Linux-виртуалке — в 2,67, macOS — в 2,59, iPhone — в 2,53. А при половине дублей порог у каждой системы свой. На x86, по независимому повтору, сортировка впереди только при N = 16 и с двух миллионов; от 64 до миллиона — хеш или ничья. На macOS сортировка впереди до 256 и с миллиона, между ними близко. На iPhone — до 256 и с миллиона. Направление на больших N одно, а где именно переход — решает система.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Отношения посчитаны по неокруглённым медианам: 51,3 / 19,9 даёт 2,58, на слайде 2,59. Вслух — «в два с половиной раза».</a:t>
            </a:r>
          </a:p>
          <a:p>
            <a:r>
              <a:t>— x86, ×2,07 — мой прогон на своей VM (70 против 146 нс/эл). Независимый повтор на другой VM того же типа: ×3,1 с libstdc++ и ×2,9 с libc++, абсолютные наносекунды выше на 19–78%, направление то же (bench.md E1). Поэтому вслух только «в два-три раза».</a:t>
            </a:r>
          </a:p>
          <a:p>
            <a:r>
              <a:t>— x86, U = N/2 (повтор, bench.md E2): N = 16 — сортировка впереди, но пул из 64 входов при N = 16 — всего 1024 элемента, предсказатель его выучивает; на честно разных данных сортировка впереди в 1,75 раза, а не в 4 (E2b, тема learned). N = 64 и 256 — хеш на 4–9% с libstdc++, ничья с libc++. 1M — ничья (±2%) в обеих библиотеках. 2M — сортировка в 1,15 раза (libc++ — в 1,21).</a:t>
            </a:r>
          </a:p>
          <a:p>
            <a:r>
              <a:t>— M2 Pro · Linux — виртуальная машина на 4 vCPU: какой тип ядра стоит под vCPU, выбирает хост, я это не контролировал.</a:t>
            </a:r>
          </a:p>
          <a:p>
            <a:r>
              <a:t>— macOS: при N ≤ 256 сортировка заметно впереди (на 16 — 3,1 против 13,3 нс/эл), от 512 до 512K — в пределах ±8%, с 1M — снова сортировка (как на curve).</a:t>
            </a:r>
          </a:p>
          <a:p>
            <a:r>
              <a:t>— iPhone: [модель iPhone, чип, iOS]. Проверить до 17.10, что ×2,53 снято на том же аппарате, что серии utility; если нет — говорить «на iPhone почти то же» без модели.</a:t>
            </a:r>
          </a:p>
          <a:p>
            <a:r>
              <a:t>Условия и источники (были в подвале слайда): Отношение = T(unordered_set) / T(sort + unique), по неокруглённым медианам · один код, одинаковые входы · id — случайные 64-битные · медиана 4 блоков · 27 сентября 2026 · x86 при U = N/2 — независимый повтор</a:t>
            </a:r>
          </a:p>
          <a:p>
            <a:r>
              <a:t>С экрана убрано: Подписи систем: x86-64 · Linux — Xeon 2,1 ГГц · GCC 13; M2 Pro · Linux — VM, 4 vCPU · GCC 11 · тип ядра под vCPU выбирает хост; M2 Pro · macOS — Apple clang 21 · libc++; iPhone [модель iPhone] — iOS [27.0.x] · libc++ · QoS userInitiated. При U = N/2: x86 — от 64 до 1M хеш или ничья (повтор); macOS — от 512 до 512K близко. Крупное число — во сколько раз сортировка быстрее unordered_set при N = U = 2^20. Мелкая строка — где сортировка впереди при U = N/2. Это сравнение систем целиком: вместе меняются железо, ОС, компилятор и библиотека.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</a:t>
            </a:r>
          </a:p>
          <a:p>
            <a:r>
              <a:t>Q&amp;A: «А троттлинг? А под длительной нагрузкой?»</a:t>
            </a:r>
          </a:p>
          <a:p>
            <a:r>
              <a:t>Ответ: две минуты непрерывно, алгоритмы чередуются. Время выросло на 10–14%, хеш начал дорожать раньше, порядок не изменился. thermalState всю серию nominal, поэтому причину дрейфа не называю: nominal не доказывает отсутствие ограничений. Пятая минута — следующий опыт.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Первое окно: сортировка 19,0, хеш 17,8 нс/эл; последнее: 20,9 и 20,3. Рост: 20,9 / 19,0 = +10%, 20,3 / 17,8 = +14%. Хеш впереди во всех четырёх окнах.</a:t>
            </a:r>
          </a:p>
          <a:p>
            <a:r>
              <a:t>— Хеш дорожает с первой минуты (17,8 → 18,9), сортировка — со второй (19,0 → 19,0 → 20,5).</a:t>
            </a:r>
          </a:p>
          <a:p>
            <a:r>
              <a:t>— Это 256K при половине дублей и userInitiated: там на переднем плане хеш и так чуть впереди. Короткий запуск и длительная нагрузка — разные режимы; решение принимается для того режима, в котором реально живёт ваш код.</a:t>
            </a:r>
          </a:p>
          <a:p>
            <a:r>
              <a:t>— Устройство: [модель iPhone, чип, iOS] — та же строка, что во всех подписях с iPhone.</a:t>
            </a:r>
          </a:p>
          <a:p>
            <a:r>
              <a:t>Условия и источники (были в подвале слайда): iPhone [модель iPhone, чип, iOS] · медиана по 15-секундным окнам · алгоритмы чередуются · 120 с непрерывной нагрузки · QoS userInitiated · id — случайные 64-битные · заряд 40–80%, без кабеля</a:t>
            </a:r>
          </a:p>
          <a:p>
            <a:r>
              <a:t>С экрана убрано: Исходный заголовок: «Две минуты под нагрузкой: время выросло на 10–14%, порядок не изменился». Таблица, нс/эл, окна нагрузки 0–15 с / 45–60 с / 90–105 с / 105–120 с: sort + unique 19,0 / 19,0 / 20,5 / 20,9; unordered_set 17,8 / 18,9 / 19,5 / 20,3 (на графике точки — середины окон). Хеш начал дорожать с первой минуты, сортировка — со второй. Короткий запуск и длительная нагрузка — разные режимы; пятиминутная серия — следующий опыт.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</a:t>
            </a:r>
          </a:p>
          <a:p>
            <a:r>
              <a:t>Q&amp;A: «Это же разница Linux против Apple?»</a:t>
            </a:r>
          </a:p>
          <a:p>
            <a:r>
              <a:t>Ответ: одна машина x86, одинаковые входы, две стандартные библиотеки. Сортировка одинаковых чисел: libstdc++ — восемь наносекунд на элемент, libc++ — одна. Идеи pdqsort пришли в libc++ в LLVM 16, а одинаковые ключи она проходила за линейное время и раньше. Узел unordered_set: 16 байт против 24 — libc++ хранит в узле хеш. macOS, iOS и Android NDK — на libc++; отличается GCC на Linux. Алгоритм выбрали вы, библиотеку — тулчейн.</a:t>
            </a:r>
          </a:p>
          <a:p>
            <a:r>
              <a:t>И на Apple этот std::sort живёт в системной библиотеке: какой алгоритм исполнится, решает версия ОС, а не Xcode.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Числа воспроизведены при проверке: 8,19 против 0,94 нс/эл (на слайде 7,8 и 1,2 — пилот). unordered_set на 1M уникальных — 146 против 139, разница 5%: в хеше библиотека почти ничего не решает, решают узлы.</a:t>
            </a:r>
          </a:p>
          <a:p>
            <a:r>
              <a:t>— «libstdc++ экономнее: 16 байт против 24?» (qa C7): по запрошенным байтам да, 25 МБ против 34; по куче нет — glibc кладёт оба узла в чанк 32 Б, у Apple 24 Б тоже округляются до 32.</a:t>
            </a:r>
          </a:p>
          <a:p>
            <a:r>
              <a:t>— «Какая libc++ сортирует на телефоне — та, что в Xcode?» (qa C4): нет, std::sort для uint64_t со стандартным компаратором вызывает уже инстанцированный __sort из libc++.dylib, а она — часть iOS.</a:t>
            </a:r>
          </a:p>
          <a:p>
            <a:r>
              <a:t>— Версию, «с которой libc++ распознаёт паттерны», не называть: эвристика «разбиение без обменов → досортировать вставками» есть ещё до LLVM 14, BlockQuickSort и идеи pdqsort — LLVM 16 (errata P0-11).</a:t>
            </a:r>
          </a:p>
          <a:p>
            <a:r>
              <a:t>Условия и источники (были в подвале слайда): Пилот · один x86, одинаковые входы · GCC 13 / libstdc++ против Clang 18 / libc++ · N = 2^20 · id для unordered_set — случайные 64-битные</a:t>
            </a:r>
          </a:p>
          <a:p>
            <a:r>
              <a:t>С экрана убрано: Пилот · один x86, одинаковые входы · GCC 13 / libstdc++ против Clang 18 / libc++ · N = 2^20 · id для unordered_set — случайные 64-битные; sort на равных ключах — 7,8 против 1,2 нс/эл; unordered_set — 1M уникальных; узел unordered_set&lt;uint64_t&gt;: 16 Б против 24 Б; macOS, iOS и Android NDK используют libc++; GCC на Linux — libstdc++; версии, флаги и аллокатор тоже часть связки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Таблица за графиком curve.</a:t>
            </a:r>
          </a:p>
          <a:p>
            <a:r>
              <a:t>Q&amp;A: «Почему ступенька именно там? Откуда двенадцать и двадцать четыре мегабайта?»</a:t>
            </a:r>
          </a:p>
          <a:p>
            <a:r>
              <a:t>Ответ: сортировка дорожает плавно — плюс один уровень логарифма на каждое удвоение. Хеш-таблица почти не дорожает до полумиллиона, а между 512K и миллионом — ступенька: 18,7 → 26,3, на четырёх миллионах 55,7. Посчитаем рабочий набор. Узел в libc++ — 24 байта, аллокатор Apple округляет его до 32; заголовка перед блоком нет. Плюс по 8 байт на ячейку, а ячеек после reserve(N) — N, вдвое больше, чем ключей. На полумиллионе входа это около 12 мегабайт — влезает в 16 мегабайт L2. На миллионе — около 24, уже нет. Это арифметика, а не измерение причины: чтобы сказать «промахи», нужны счётчики, и это следующий шаг. Но сортировке этот порог безразличен — её буфер читается подряд.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32·U + 8·N (apple.md §3.3, cpp.md §2.4, errata P0-5): 512K (U = 256K): 8 + 4 = 12 МиБ (12,6 МБ); 1M: 16 + 8 = 24 МиБ (25,2 МБ). «А вход?» — ещё 8·N, на 512K это 4 МиБ. Его читают один раз подряд, префетчер ведёт поток, поэтому считаю таблицу. Но 12 + 4 = 16 — впритык, ещё одна причина говорить «гипотеза».</a:t>
            </a:r>
          </a:p>
          <a:p>
            <a:r>
              <a:t>— «Почему нет счётчиков?» (qa H1): «Согласен, это гипотеза. Следующий шаг — Instruments → CPU Counters, L1D Cache Miss Sampling».</a:t>
            </a:r>
          </a:p>
          <a:p>
            <a:r>
              <a:t>— «А TLB?» (qa H2): не исключал; 24 МиБ — около 1 500 страниц по 16 КБ. SLC 24 МБ не называть: sysctl его не отдаёт.</a:t>
            </a:r>
          </a:p>
          <a:p>
            <a:r>
              <a:t>— «22,6 или 26,3?» (qa M3): разные сессии; хеш на этой точке гуляет на 16%, сортировка — на полпроцента. Здесь сессия А, как на curve.</a:t>
            </a:r>
          </a:p>
          <a:p>
            <a:r>
              <a:t>— 1,4 раза: 26,3 / 18,7 = 1,41; сортировка 20,1 / 19,6 = +2,6%. На 4M сортировка быстрее в 2,6 раза (55,7 / 21,5).</a:t>
            </a:r>
          </a:p>
          <a:p>
            <a:r>
              <a:t>Условия и источники (были в подвале слайда): нс на элемент · U = N/2 · M2 Pro, macOS, libc++, userInitiated · id — случайные 64-битные · медиана 4 блоков · сессия А [дата сессии А] · unordered_set на 1M между сессиями: 22,6–26,3 нс/эл</a:t>
            </a:r>
          </a:p>
          <a:p>
            <a:r>
              <a:t>С экрана убрано: сортировка дорожает плавно: +1 уровень log N на каждое удвоение. Рабочий набор ≈ 32·U + 8·N: узел libc++ 24 Б, malloc округляет до 32 Б (квант 16 Б, без заголовка), плюс 8 Б на ячейку, а ячеек после reserve(N) — N. 512K (U = 256K) → ≈12 МиБ — помещается в L2 P-кластера (16 МиБ по sysctl); 1M → ≈24 МиБ — уже нет; ступенька — между этими точками. Это арифметика, а не счётчики промахов: причина не измерена напрямую, счётчики — следующий шаг. Альтернативы: TLB, аллокатор.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В основном потоке его заменил nodes.</a:t>
            </a:r>
          </a:p>
          <a:p>
            <a:r>
              <a:t>Q&amp;A: «А как именно работает sort + unique? Почему без аллокаций?»</a:t>
            </a:r>
          </a:p>
          <a:p>
            <a:r>
              <a:t>Ответ: восемь чисел, четыре разных. std::sort — introsort, в libc++ с идеями pdqsort: раскладывает всё на «меньше» и «больше» опорного и повторяет в половинах — логарифм N уровней, на каждом проход по всем N. После сортировки одинаковые стоят рядом — std::unique одним проходом сдвигает уникальные влево, erase отрезает хвост. Ни одной аллокации, один буфер, который читается подряд — как книги на одной полке. Слово «подряд» и есть ответ на весь раунд 1.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Идеи pdqsort и BlockQuickSort пришли в libc++ в LLVM 16; introsort — с LLVM 14. На Apple std::sort для целых исполняется из системной libc++, так что алгоритм выбирает версия ОС (cpp.md §4.1, §4.4). libstdc++ — introsort с медианой трёх.</a:t>
            </a:r>
          </a:p>
          <a:p>
            <a:r>
              <a:t>— Сравнений на случайных 64-битных при N = 2^20: libc++ — 22,2 на элемент, libstdc++ — 25,6; нижняя граница для сортировки сравнениями — 18,56 (cpp.md §7).</a:t>
            </a:r>
          </a:p>
          <a:p>
            <a:r>
              <a:t>— «0 аллокаций» — в этой реализации: сортируем свежую копию на месте, unique и erase память не просят.</a:t>
            </a:r>
          </a:p>
          <a:p>
            <a:r>
              <a:t>С экрана убрано: вход: 8 чисел, из них 4 разных. Сортировка — introsort (в libc++ — с идеями pdqsort): опорный элемент, раскладка «меньше / больше», повтор в половинах; ~log₂N уровней, на каждом проход по всем N. std::sort — одинаковые встали рядом. unique — один проход: сравниваем соседей, повтор пропускаем; на месте, без новой памяти. std::unique сдвигает уникальные влево, erase отрезает хвост. Один плотный буфер, который читается подряд.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В основном потоке его заменил nodes.</a:t>
            </a:r>
          </a:p>
          <a:p>
            <a:r>
              <a:t>Q&amp;A: «Как устроена узловая хеш-таблица?» или «Деление в libc++ дорогое на ARM — может, хеш проиграл из-за него?»</a:t>
            </a:r>
          </a:p>
          <a:p>
            <a:r>
              <a:t>Ответ: хеш-функция превращает ключ в номер ячейки — как библиотечный каталог превращает название в номер шкафа. Ключ 42, посчитали хеш, взяли остаток от деления на число ячеек — вот шкаф; на слайде учебный пример с восемью. Деталь для знатоков: «остаток от деления» в реальных библиотеках разный. libstdc++ держит простое число ячеек и честно делит. libc++ после reserve под степень двойки берёт маску — младшие биты ключа. В моих замерах деления нет: дорого не оно, а узлы. Коэффициент заполнения по умолчанию 1.0 — reserve(N) выделяет N ячеек; без reserve таблица растёт и перевешивает все узлы. Два разных ключа в одном шкафу — коллизия; узловая реализация решает её цепочкой: в шкафу записка, где лежит первая книга, а в книге — где следующая. Цепочки в среднем короткие, отсюда «O(1)». Для целых std::hash — тождество. В libc++ после reserve под степень двойки номер ячейки — это просто младшие биты id. Для моих случайных id это идеально. Для плотных rowid ещё лучше — коллизий нет вовсе. А id с нулями в младших битах соберутся в одну цепочку. Проверьте гистограмму цепочек. У flat_hash_set из второго раунда свой перемешивающий хешер, absl::Hash, — ему тождество не грозит. Самое важное: каждый узел — отдельный кусок памяти, отдельный вызов new. Стандарт требует, чтобы ссылки на элементы переживали рост таблицы, и узлы — привычный способ это выполнить.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Деление в libc++ появляется только при росте без reserve (как в дифе) или при N, не равном степени двойки; reserve(1048576) даёт ровно 1 048 576 ячеек и маску h &amp; (N−1) (cpp.md §2.2). libstdc++ делит всегда, даже на каждом шаге цепочки: хеш в узле не хранится (cpp.md §3).</a:t>
            </a:r>
          </a:p>
          <a:p>
            <a:r>
              <a:t>— Id, кратные 1024, в libc++ после reserve(2^k) заняли 64 ячейки из 65 536, вставка медленнее в 70 раз; кратные 2^20 — в 1 500 раз (cpp.md §6, qa C8).</a:t>
            </a:r>
          </a:p>
          <a:p>
            <a:r>
              <a:t>— Плотные rowid на x86 при U = N: вся операция в 4,7 раза быстрее случайных id (320 → 68 нс/эл). Готовый ответ: «Серии специально на случайных id, чтобы убрать удачу раскладки. Бенчмарк в репозитории — запустите на своих id».</a:t>
            </a:r>
          </a:p>
          <a:p>
            <a:r>
              <a:t>Условия и источники (были в подвале слайда): Упрощённая схема узловых реализаций (libstdc++, libc++) · учебный hash и 8 ячеек · max_load_factor 1.0, std::hash для целых — тождество · стандарт требует, чтобы ссылки на элементы переживали rehash</a:t>
            </a:r>
          </a:p>
          <a:p>
            <a:r>
              <a:t>С экрана убрано: Вставка: посчитать хеш → прийти в ячейку → пройти цепочку → если ключа нет, создать узел. В среднем цепочка короткая, поэтому «O(1) на операцию». Но каждый шаг цепочки — переход по указателю. Номер ячейки: в libstdc++ число ячеек простое — остаток от деления; в libc++ тоже простое, но после reserve(2^k) — степень двойки и маска по младшим битам. Коллизия: 42 и 50 попали в одну ячейку — висят цепочкой (узлы «42 · next», «50 · next»). Каждый узел — отдельный кусок памяти, свой вызов new. Ячейки (бакеты) — массив указателей.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В основном потоке radix — одна фиолетовая полоса на flat.</a:t>
            </a:r>
          </a:p>
          <a:p>
            <a:r>
              <a:t>Q&amp;A: «Как работает radix?» или «Почему не radix везде, раз он быстрее всех?»</a:t>
            </a:r>
          </a:p>
          <a:p>
            <a:r>
              <a:t>Ответ: поразрядная сортировка вообще не сравнивает числа — а значит, на неё не действует нижняя граница N log N для сортировок сравнением. Ключ — восемь байт. Берём младший байт, раскладываем числа по 256 корзинам, как письма по ячейкам на почте; внутри корзины порядок прихода сохраняется. Потом следующий байт, и так восемь раз — после последнего прохода всё отсортировано. На схеме то же самое на 8-битных ключах и полубайтах: два прохода. Это линейно: проход подсчёта и восемь проходов раскладки, без единого сравнения и без ветвлений на данных. Цена: буфер того же размера, и на тысяче элементов девять проходов и счётчики 8×256 дороже десяти сравнений на элемент — на малых N radix проигрывает. И работает только для «цифровых» ключей — целых фиксированной длины; строкам и объектам с компаратором нужен другой инструмент. Дальше — тот же unique.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Схема: вход 0x1A 0x03 0x2A 0x11. Проход 1, младший полубайт: ·1 → 0x11; ·3 → 0x03; ·A → 0x1A, 0x2A (в порядке прихода). После: 0x11 0x03 0x1A 0x2A. Проход 2, старший: 0· → 0x03; 1· → 0x11, 0x1A; 2· → 0x2A. После: 0x03 0x11 0x1A 0x2A.</a:t>
            </a:r>
          </a:p>
          <a:p>
            <a:r>
              <a:t>— «Почему не radix везде?» (qa C13): нужны целые ключи фиксированной длины, буфер ещё на N (8 МБ на миллионе — память, которую считает jetsam) и достаточно большой N. При малой доле уникальных radix проигрывает хешу.</a:t>
            </a:r>
          </a:p>
          <a:p>
            <a:r>
              <a:t>— Проходов (cpp.md §7): случайные 64-битные — 8; плотные rowid — 3; случайные меньше 2^32 — 4. Серии доклада — худший случай и для radix.</a:t>
            </a:r>
          </a:p>
          <a:p>
            <a:r>
              <a:t>— M2 Pro, userInitiated, N = U = 2^20: radix 6,9, flat 11,7, sort 19,9 нс/эл. x86, независимый повтор (bench.md E1): radix вровень с flat (40,8 и 42,6 нс/эл), а не быстрее всех; абсолютные наносекунды x86 со сцены не называть.</a:t>
            </a:r>
          </a:p>
          <a:p>
            <a:r>
              <a:t>Условия и источники (были в подвале слайда): LSD radix из бенчмарка: 8 проходов по байту (256 корзин), счётчики 8×256 за один предварительный проход, проход пропускается, если все ключи в одной корзине, буфер на N · после — тот же unique + erase</a:t>
            </a:r>
          </a:p>
          <a:p>
            <a:r>
              <a:t>С экрана убрано: 64-битный ключ — это 8 байт. Раскладываем числа по «корзинам» младшего байта, сохраняя порядок внутри корзины, потом следующего… 8 проходов, и всё отсортировано. На схеме для наглядности 8-битные ключи и полубайт: 2 прохода по 16 корзин, показаны непустые; внутри корзины порядок прихода сохраняется — поэтому после последнего прохода всё отсортировано. Линейно, но с константой: O(N · число байт) — проход подсчёта и 8 проходов раскладки, без единого сравнения. Нужен буфер на N: раскладывать «на месте» нельзя — второй массив того же размера; одна аллокация, дальше два плотных буфера. Только «цифровые» ключи: целые, фиксированной длины; для строк и объектов с компаратором — не подходит. Дальше тот же unique.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</a:t>
            </a:r>
          </a:p>
          <a:p>
            <a:r>
              <a:t>Q&amp;A: «Почему reserve(N), а не под U? Вы искусственно раздули flat».</a:t>
            </a:r>
          </a:p>
          <a:p>
            <a:r>
              <a:t>Ответ: я резервировал под N, потому что N известен, а число уникальных — нет. При одном проценте уникальных это в 64 раза больше памяти и медленнее: 3,6 наносекунды на элемент против 2,9 — больше ёмкость, больше инициализации и обхода. Reserve — тоже решение, не бесплатная галочка, и зависит оно от доли уникальных. Оценить U по выборке — отдельный приём.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18 874 344 / 294 912 ≈ 64,0 по точным байтам; 3,6 / 2,9 = 1,24 — на 24% медленнее.</a:t>
            </a:r>
          </a:p>
          <a:p>
            <a:r>
              <a:t>— «Почему 18,9 МБ, если ключей на 8 МБ?» (errata P2-11): 2^20 — неудачная точка для Swiss Table: ёмкость 2^20 − 1 вмещает только 917 504 ключа при загрузке 7/8, поэтому reserve берёт 2^21 − 1 слотов — по 8 байт ключа и байту метаданных, 18,9 МБ, заполнение 50%.</a:t>
            </a:r>
          </a:p>
          <a:p>
            <a:r>
              <a:t>— Отсюда правило на decision: «мало уникальных → плоская хеш-таблица, без reserve под весь вход». При 1% уникальных узловая таблица (3,2 нс/эл) даже быстрее flat с reserve(N) (3,6).</a:t>
            </a:r>
          </a:p>
          <a:p>
            <a:r>
              <a:t>Условия и источники (были в подвале слайда): flat_hash_set · N = 2^20, U/N = 1% · M2 Pro, macOS · нс на элемент · память — сумма запрошенных байт за операцию, МБ = 10^6 байт · id — случайные 64-битные</a:t>
            </a:r>
          </a:p>
          <a:p>
            <a:r>
              <a:t>С экрана убрано: резерв под N при 1% уникальных сильно превышает число ключей: в 64 раза больше памяти (по точным байтам) и медленнее.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На review сказано: «полный чек-лист — в backup и в репозитории».</a:t>
            </a:r>
          </a:p>
          <a:p>
            <a:r>
              <a:t>Q&amp;A: «Как вы проверяли, что замер честный?» или «Где полный чек-лист?»</a:t>
            </a:r>
          </a:p>
          <a:p>
            <a:r>
              <a:t>Ответ: чек-лист — четыре группы, каждая сегодня уже сработала. Одинаковая задача: контракт до таймера, все участники проходят проверку корректности. Проверенные код и входы: разные массивы, а не один повторённый; свои N и доля уникальных. Повторения и условия: чередование, медиана, разброс, вторая сессия — мы видели, что между сессиями одна и та же точка гуляет на шестнадцать процентов: 22,6 против 26,3. Версия компилятора, библиотеки и ОС в логе — на Apple std::sort для целых живёт в системной libc++. Устройство и режим — модель, QoS, Low Power Mode, заряд, нагрев. И выводы в пределах данных: факт отдельно от гипотезы о причине — «узлы не влезли в L2» до счётчиков остаётся гипотезой.</a:t>
            </a:r>
          </a:p>
          <a:p>
            <a:r>
              <a:t>Сфотографируйте — повторять не буду. [5 секунд]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Пункт 3 — урок learned: один массив в цикле давал сортировке тысячи id 6,8 нс/эл против 14,4 на 64 разных; на x86 виноват предсказатель, на M2 — что-то адресное, до счётчиков не дошёл.</a:t>
            </a:r>
          </a:p>
          <a:p>
            <a:r>
              <a:t>— Пункт 5: 26,3 / 22,6 = 1,16 — unordered_set на 1M при U = N/2, сессии А и Б; сортировка между сессиями стабильна (20,1 против 20,2).</a:t>
            </a:r>
          </a:p>
          <a:p>
            <a:r>
              <a:t>— Пункт 7: модель iPhone — [модель iPhone, чип, iOS]; пока её нет на слайдах, доклад нарушает свой же пункт 7 (qa M1).</a:t>
            </a:r>
          </a:p>
          <a:p>
            <a:r>
              <a:t>С экрана убрано: полные формулировки пунктов: 1. Контракт записан до запуска таймера. 2. Все участники проходят проверку корректности. 3. Разные входы, а не один повторённый массив. 4. Свои N и доля уникальных, а не «случайные int». 5. Повторы, чередование, медиана и разброс, две сессии. 6. Версия компилятора, библиотеки и ОС в логе. 7. Целевое устройство и его состояние: модель, QoS, Low Power Mode, заряд, нагрев. 8. Факт отдельно от гипотезы о причине.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Backup, вне тайминга. В основном потоке эту мысль несёт формула на memory.</a:t>
            </a:r>
          </a:p>
          <a:p>
            <a:r>
              <a:t>Q&amp;A: «Из чего складывается работа каждого?»</a:t>
            </a:r>
          </a:p>
          <a:p>
            <a:r>
              <a:t>Ответ: N — сколько чисел на входе, U — сколько разных. Сортировка — около N·log N сравнений и перестановок в одном плотном буфере, без единой аллокации. Хеш — хеши, обращения к ячейкам и узлам, проверки равенства, U аллокаций и U освобождений, обход при выгрузке. Шагов меньше — но какие это шаги.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Под рукой:</a:t>
            </a:r>
          </a:p>
          <a:p>
            <a:r>
              <a:t>— Точное число действий хеша зависит от коллизий и дублей.</a:t>
            </a:r>
          </a:p>
          <a:p>
            <a:r>
              <a:t>— Счётчик аллокаций (allocs): при N = U = 2^20 — 1 048 577 вызовов new, запрошено 33,6 МБ в libc++ и 25,2 МБ в libstdc++; с округлением malloc ≈ 42 МБ. Плюс миллион delete в деструкторе.</a:t>
            </a:r>
          </a:p>
          <a:p>
            <a:r>
              <a:t>— Фазы на x86 (bench.md E11, U = N): reserve и вставки ≈43%, выгрузка ≈26%, деструктор 28–30%.</a:t>
            </a:r>
          </a:p>
          <a:p>
            <a:r>
              <a:t>С экрана убрано: хеширование, обращения к ячейкам и узлам, проверки равенства (на экране — «хеш, ячейки, узлы, сравнения»); 0 аллокаций — в этой реализации; log₂(1 000 000) ≈ 20.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2:00–2:45. Дедупликация — это те самые три строчки из ревью. Два классических способа. Первый — отсортировать: после сортировки одинаковые id стоят рядом, и один проход их схлопывает. Это O(n log n). Второй — хеш-таблица: складываем id в множество, оно само отбрасывает повторы, потом выгружаем обратно. Это в среднем O(n) — линейно. Логарифм миллиона — около двадцати. На бумаге второй способ делает в двадцать раз меньше шагов. Я тоже сначала выбрал бы хеш-таблицу и закрыл тикет. Давайте проверим интуицию — вашу и мою.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С экрана убрано: Логарифм миллиона — около 20 (на экране: log₂ 10⁶ ≈ 20). Кажется, выбор очевиден.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7:15–8:15. Big-O отвечает на один вопрос: как растёт число шагов, когда растёт вход. Вдвое больше данных — примерно вдвое больше работы для линейной модели, чуть больше для N log N. Это по-настоящему полезно: Big-O спасает от катастрофы, когда данных станет в тысячу раз больше. Но время — это N, умноженное на число шагов, умноженное на цену шага. Big-O знает только средний множитель. Цена шага — от одной наносекунды за сложение в регистре до ста за поход в оперативную память: два порядка. А логарифм миллиона — двадцать. То есть память может перевесить логарифм в пять раз. Весь доклад — про этот последний множитель. → Переход: «Значит, надо посмотреть, из каких шагов состоит каждый соперник. Начнём с сортировки».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С экрана убрано: Что говорит O. Верхняя оценка роста работы: N log N растёт чуть быстрее линии, N² — за край задолго до конца. Между O(N) и O(N log N) на миллионе — множитель около 20. Big-O знает только средний множитель. Цена шага — от 1 до 100 нс, два порядка; log₂(10⁶) — множитель 20. Память может перевесить логарифм в пять раз.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28:30–29:15. Вернёмся к вашей руке. Кто начал бы с сортировки — на телефоне в фоне она быстрее этого unordered_set. Кто с хеша — flat_hash_set и данные с повторами на его стороне. А кто попросил условие — был прав с первой минуты. Вот эти условия: какой выход нужен, какие N и доля уникальных, какой именно контейнер, какая система и связка инструментов, первый запуск или длительная нагрузка и с каким приоритетом, и какую долю этапа занимает операция. Мне хотелось бы, чтобы после сегодняшнего фраза «так должно быть быстрее» чаще превращалась в «давайте проверим». → Переход: «И одно действие на понедельник».</a:t>
            </a:r>
          </a:p>
          <a:p>
            <a:r>
              <a:t>━━━━━━━━━━━━━━━━━━━━━━━━</a:t>
            </a:r>
          </a:p>
          <a:p>
            <a:r>
              <a:t>Щелчки: нет, всё на экране сразу.</a:t>
            </a:r>
          </a:p>
          <a:p>
            <a:r>
              <a:t>С экрана убрано: Никита Нагорнов · код, сырые данные и условия замеров — в репозитории · Спасибо! Вопросы? (подпись и QR на репозиторий убраны со слайда).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Text 101"/>
          <p:cNvSpPr txBox="1"/>
          <p:nvPr/>
        </p:nvSpPr>
        <p:spPr>
          <a:xfrm>
            <a:off x="557212" y="359564"/>
            <a:ext cx="54244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99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HardFest 2026 · трек «Разработка»</a:t>
            </a:r>
            <a:endParaRPr lang="ru-RU" sz="1399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ext 102"/>
          <p:cNvSpPr txBox="1"/>
          <p:nvPr/>
        </p:nvSpPr>
        <p:spPr>
          <a:xfrm>
            <a:off x="557212" y="1520666"/>
            <a:ext cx="5076825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4275"/>
              </a:lnSpc>
              <a:spcBef>
                <a:spcPts val="0"/>
              </a:spcBef>
              <a:buNone/>
            </a:pPr>
            <a:r>
              <a:rPr lang="ru-RU" sz="37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O(n) ПРОИГРАЛ</a:t>
            </a:r>
            <a:br>
              <a:rPr lang="ru-RU" sz="37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37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O(n log n)</a:t>
            </a:r>
            <a:endParaRPr lang="ru-RU" sz="37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2796845"/>
            <a:ext cx="4443412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325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Ваш алгоритм не выбирал процессор, на котором работает</a:t>
            </a:r>
            <a:endParaRPr lang="ru-RU" sz="1800" b="0" i="0" dirty="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3975354"/>
            <a:ext cx="4443412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Никита Нагорнов</a:t>
            </a:r>
            <a:br>
              <a:rPr lang="ru-RU" sz="15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iOS, компания «Исходный код»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cover_chip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48250" y="1524000"/>
            <a:ext cx="3543300" cy="3009900"/>
          </a:xfrm>
          <a:prstGeom prst="rect">
            <a:avLst/>
          </a:prstGeom>
        </p:spPr>
      </p:pic>
      <p:pic>
        <p:nvPicPr>
          <p:cNvPr id="106" name="Picture 10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8950" y="604838"/>
            <a:ext cx="1809750" cy="623888"/>
          </a:xfrm>
          <a:prstGeom prst="rect">
            <a:avLst/>
          </a:prstGeom>
        </p:spPr>
      </p:pic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Title 101"/>
          <p:cNvSpPr txBox="1"/>
          <p:nvPr/>
        </p:nvSpPr>
        <p:spPr>
          <a:xfrm>
            <a:off x="557212" y="49796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КОД-РЕВЬЮ, ВТОРНИК, 17:40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2" name="Fill 102"/>
          <p:cNvSpPr/>
          <p:nvPr/>
        </p:nvSpPr>
        <p:spPr>
          <a:xfrm>
            <a:off x="557212" y="1190625"/>
            <a:ext cx="8029575" cy="19050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>
            <a:noFill/>
          </a:ln>
        </p:spPr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785812" y="1345882"/>
            <a:ext cx="8429625" cy="1543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dedup ids after offline sync</a:t>
            </a:r>
            <a:br>
              <a:rPr lang="ru-RU" sz="150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std::sort(ids.begin(), ids.end());</a:t>
            </a:r>
            <a:br>
              <a:rPr lang="ru-RU" sz="150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ids.erase(std::unique(ids.begin(), ids.end()), ids.end());</a:t>
            </a:r>
            <a:br>
              <a:rPr lang="ru-RU" sz="150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0" i="0" dirty="0">
                <a:solidFill>
                  <a:srgbClr val="7BD8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std::unordered_set&lt;uint64_t&gt; s(ids.begin(), ids.end());</a:t>
            </a:r>
            <a:br>
              <a:rPr lang="ru-RU" sz="1500" b="0" i="0" dirty="0">
                <a:solidFill>
                  <a:srgbClr val="7BD88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0" i="0" dirty="0">
                <a:solidFill>
                  <a:srgbClr val="7BD8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ids.assign(s.begin(), s.end());</a:t>
            </a:r>
            <a:endParaRPr lang="ru-RU" sz="1500" b="0" i="0" dirty="0">
              <a:solidFill>
                <a:srgbClr val="7BD8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3547148"/>
            <a:ext cx="581691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21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Коллега:</a:t>
            </a: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«Линейно вместо n log n»</a:t>
            </a:r>
            <a:endParaRPr lang="ru-RU" sz="21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5" name="Fill 105"/>
          <p:cNvSpPr/>
          <p:nvPr/>
        </p:nvSpPr>
        <p:spPr>
          <a:xfrm>
            <a:off x="6396038" y="3438525"/>
            <a:ext cx="2190750" cy="552450"/>
          </a:xfrm>
          <a:prstGeom prst="roundRect">
            <a:avLst>
              <a:gd name="adj" fmla="val 13793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6391275" y="3326987"/>
            <a:ext cx="220027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35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Approve ✓</a:t>
            </a:r>
            <a:endParaRPr lang="ru-RU" sz="22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7" name="Picture 10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07" name="Slide Number 10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 ЧЕГО ВСЁ НАЧАЛОСЬ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ЗАДАЧА: СКЛЕИТЬ ЛОКАЛЬНЫЕ ID И ДЕЛЬТУ С СЕРВЕРА БЕЗ ПОВТОРОВ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3" name="Picture 102" descr="case_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524000"/>
            <a:ext cx="4095750" cy="2667000"/>
          </a:xfrm>
          <a:prstGeom prst="rect">
            <a:avLst/>
          </a:prstGeom>
        </p:spPr>
      </p:pic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048250" y="1649920"/>
            <a:ext cx="44767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24500" y="1603629"/>
            <a:ext cx="316801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Локальные id уже отсортированы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048250" y="2602421"/>
            <a:ext cx="44767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24500" y="2603754"/>
            <a:ext cx="316801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Ключ — </a:t>
            </a:r>
            <a:r>
              <a:rPr lang="ru-RU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uint64_t</a:t>
            </a:r>
            <a:endParaRPr lang="ru-RU" sz="15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048250" y="3459671"/>
            <a:ext cx="44767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24500" y="3431857"/>
            <a:ext cx="316801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Task(priority:</a:t>
            </a:r>
            <a:br>
              <a:rPr lang="ru-RU" sz="150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.utility)</a:t>
            </a:r>
            <a:endParaRPr lang="ru-RU" sz="150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24500" y="3972763"/>
            <a:ext cx="316801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«не срочно»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1" name="Picture 11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1" name="Slide Number 11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ВАША СТАВКА</a:t>
            </a:r>
            <a:endParaRPr lang="ru-RU" sz="1099" b="0" i="0" spc="94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НА БУМАГЕ ХЕШ ДЕЛАЕТ В 20 РАЗ МЕНЬШЕ ШАГОВ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Box 103"/>
          <p:cNvSpPr/>
          <p:nvPr/>
        </p:nvSpPr>
        <p:spPr>
          <a:xfrm>
            <a:off x="566738" y="1438275"/>
            <a:ext cx="2533650" cy="14097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9050">
            <a:solidFill>
              <a:srgbClr val="46CDAE"/>
            </a:solidFill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747712" y="1603667"/>
            <a:ext cx="1009650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747712" y="2134857"/>
            <a:ext cx="23145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747712" y="2478596"/>
            <a:ext cx="23145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O(n log n)</a:t>
            </a:r>
            <a:endParaRPr lang="ru-RU" sz="1350" b="0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7" name="Box 107"/>
          <p:cNvSpPr/>
          <p:nvPr/>
        </p:nvSpPr>
        <p:spPr>
          <a:xfrm>
            <a:off x="3305175" y="1438275"/>
            <a:ext cx="2533650" cy="14097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9050">
            <a:solidFill>
              <a:srgbClr val="E2489B"/>
            </a:solidFill>
          </a:ln>
        </p:spPr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3486150" y="1603667"/>
            <a:ext cx="1009650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</a:t>
            </a:r>
            <a:endParaRPr lang="ru-RU" sz="3600" b="1" i="0" spc="-38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3486150" y="2134857"/>
            <a:ext cx="23145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3486150" y="2478596"/>
            <a:ext cx="23145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O(n) в среднем</a:t>
            </a:r>
            <a:endParaRPr lang="ru-RU" sz="1350" b="0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11" name="Box 111"/>
          <p:cNvSpPr/>
          <p:nvPr/>
        </p:nvSpPr>
        <p:spPr>
          <a:xfrm>
            <a:off x="6043612" y="1438275"/>
            <a:ext cx="2533650" cy="14097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224588" y="1603667"/>
            <a:ext cx="1009650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224588" y="2134857"/>
            <a:ext cx="2314575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сначала спросил бы условие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57212" y="3156966"/>
            <a:ext cx="5424488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log₂ 10⁶ ≈ 20</a:t>
            </a:r>
            <a:endParaRPr lang="ru-RU" sz="6000" b="1" i="0" spc="-112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6034088" y="3134563"/>
            <a:ext cx="2657856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1M 64-битных id · все разные · один поток · порядок не важен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6034088" y="3808819"/>
            <a:ext cx="2657856" cy="720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С чего начали бы вы?</a:t>
            </a:r>
            <a:endParaRPr lang="ru-RU" sz="24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7" name="Picture 1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7" name="Slide Number 11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2" grpId="0" animBg="1"/>
      <p:bldP spid="113" grpId="0" animBg="1"/>
      <p:bldP spid="115" grpId="0" animBg="1"/>
      <p:bldP spid="11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СТАВКА №1 · ЧТО ПОКАЗАЛ СЕКУНДОМЕР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СОРТИРОВКА В 2,6 РАЗА БЫСТРЕЕ ХЕША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0063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нс на элемент · 1M уникальных id · Mac M2 Pro · меньше — лучше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763382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8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Fill 105"/>
          <p:cNvSpPr/>
          <p:nvPr/>
        </p:nvSpPr>
        <p:spPr>
          <a:xfrm>
            <a:off x="557212" y="2095500"/>
            <a:ext cx="2024062" cy="457200"/>
          </a:xfrm>
          <a:prstGeom prst="roundRect">
            <a:avLst>
              <a:gd name="adj" fmla="val 10416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2714625" y="2132419"/>
            <a:ext cx="1500188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19,9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715882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8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Fill 108"/>
          <p:cNvSpPr/>
          <p:nvPr/>
        </p:nvSpPr>
        <p:spPr>
          <a:xfrm>
            <a:off x="557212" y="3048000"/>
            <a:ext cx="5219700" cy="457200"/>
          </a:xfrm>
          <a:prstGeom prst="roundRect">
            <a:avLst>
              <a:gd name="adj" fmla="val 10416"/>
            </a:avLst>
          </a:prstGeom>
          <a:solidFill>
            <a:srgbClr val="E2489B"/>
          </a:solidFill>
          <a:ln>
            <a:noFill/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910262" y="3084919"/>
            <a:ext cx="1500188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51,3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02592" y="1668399"/>
            <a:ext cx="3069908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9000"/>
              </a:lnSpc>
              <a:spcBef>
                <a:spcPts val="0"/>
              </a:spcBef>
              <a:buNone/>
            </a:pPr>
            <a:r>
              <a:rPr lang="ru-RU" sz="9000" b="1" i="0" spc="-15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×2,6</a:t>
            </a:r>
            <a:endParaRPr lang="ru-RU" sz="9000" b="1" i="0" spc="-15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 xmlns:p14="http://schemas.microsoft.com/office/powerpoint/2010/main">
        <p:nvGrpSpPr>
          <p:cNvPr id="115" name="Chart 115"/>
          <p:cNvGrpSpPr/>
          <p:nvPr/>
        </p:nvGrpSpPr>
        <p:grpSpPr>
          <a:xfrm>
            <a:off x="557212" y="3867150"/>
            <a:ext cx="8020051" cy="571500"/>
            <a:chOff x="557212" y="3867150"/>
            <a:chExt cx="8020051" cy="571500"/>
          </a:xfrm>
        </p:grpSpPr>
        <p:sp>
          <p:nvSpPr>
            <p:cNvPr id="111" name="Line 111"/>
            <p:cNvSpPr/>
            <p:nvPr/>
          </p:nvSpPr>
          <p:spPr>
            <a:xfrm>
              <a:off x="557212" y="3867150"/>
              <a:ext cx="2047875" cy="571500"/>
            </a:xfrm>
            <a:custGeom>
              <a:avLst/>
              <a:gdLst/>
              <a:ahLst/>
              <a:cxnLst/>
              <a:rect l="0" t="0" r="r" b="b"/>
              <a:pathLst>
                <a:path w="2047875" h="571500">
                  <a:moveTo>
                    <a:pt x="0" y="0"/>
                  </a:moveTo>
                  <a:lnTo>
                    <a:pt x="1838325" y="0"/>
                  </a:lnTo>
                  <a:lnTo>
                    <a:pt x="2047875" y="285750"/>
                  </a:lnTo>
                  <a:lnTo>
                    <a:pt x="1838325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46CDAE"/>
            </a:solidFill>
            <a:ln>
              <a:noFill/>
            </a:ln>
          </p:spPr>
        </p:sp>
        <p:sp>
          <p:nvSpPr>
            <p:cNvPr id="112" name="Line 112"/>
            <p:cNvSpPr/>
            <p:nvPr/>
          </p:nvSpPr>
          <p:spPr>
            <a:xfrm>
              <a:off x="2547938" y="3867150"/>
              <a:ext cx="2047875" cy="571500"/>
            </a:xfrm>
            <a:custGeom>
              <a:avLst/>
              <a:gdLst/>
              <a:ahLst/>
              <a:cxnLst/>
              <a:rect l="0" t="0" r="r" b="b"/>
              <a:pathLst>
                <a:path w="2047875" h="571500">
                  <a:moveTo>
                    <a:pt x="0" y="0"/>
                  </a:moveTo>
                  <a:lnTo>
                    <a:pt x="1838325" y="0"/>
                  </a:lnTo>
                  <a:lnTo>
                    <a:pt x="2047875" y="285750"/>
                  </a:lnTo>
                  <a:lnTo>
                    <a:pt x="1838325" y="571500"/>
                  </a:lnTo>
                  <a:lnTo>
                    <a:pt x="0" y="571500"/>
                  </a:lnTo>
                  <a:lnTo>
                    <a:pt x="209550" y="285750"/>
                  </a:lnTo>
                  <a:close/>
                </a:path>
              </a:pathLst>
            </a:custGeom>
            <a:solidFill>
              <a:srgbClr val="46CDAE"/>
            </a:solidFill>
            <a:ln>
              <a:noFill/>
            </a:ln>
          </p:spPr>
        </p:sp>
        <p:sp>
          <p:nvSpPr>
            <p:cNvPr id="113" name="Line 113"/>
            <p:cNvSpPr/>
            <p:nvPr/>
          </p:nvSpPr>
          <p:spPr>
            <a:xfrm>
              <a:off x="4538662" y="3867150"/>
              <a:ext cx="2047875" cy="571500"/>
            </a:xfrm>
            <a:custGeom>
              <a:avLst/>
              <a:gdLst/>
              <a:ahLst/>
              <a:cxnLst/>
              <a:rect l="0" t="0" r="r" b="b"/>
              <a:pathLst>
                <a:path w="2047875" h="571500">
                  <a:moveTo>
                    <a:pt x="0" y="0"/>
                  </a:moveTo>
                  <a:lnTo>
                    <a:pt x="1838325" y="0"/>
                  </a:lnTo>
                  <a:lnTo>
                    <a:pt x="2047875" y="285750"/>
                  </a:lnTo>
                  <a:lnTo>
                    <a:pt x="1838325" y="571500"/>
                  </a:lnTo>
                  <a:lnTo>
                    <a:pt x="0" y="571500"/>
                  </a:lnTo>
                  <a:lnTo>
                    <a:pt x="209550" y="285750"/>
                  </a:lnTo>
                  <a:close/>
                </a:path>
              </a:pathLst>
            </a:custGeom>
            <a:solidFill>
              <a:srgbClr val="46CDAE"/>
            </a:solidFill>
            <a:ln>
              <a:noFill/>
            </a:ln>
          </p:spPr>
        </p:sp>
        <p:sp>
          <p:nvSpPr>
            <p:cNvPr id="114" name="Line 114"/>
            <p:cNvSpPr/>
            <p:nvPr/>
          </p:nvSpPr>
          <p:spPr>
            <a:xfrm>
              <a:off x="6529388" y="3867150"/>
              <a:ext cx="2047875" cy="571500"/>
            </a:xfrm>
            <a:custGeom>
              <a:avLst/>
              <a:gdLst/>
              <a:ahLst/>
              <a:cxnLst/>
              <a:rect l="0" t="0" r="r" b="b"/>
              <a:pathLst>
                <a:path w="2047875" h="571500">
                  <a:moveTo>
                    <a:pt x="0" y="0"/>
                  </a:moveTo>
                  <a:lnTo>
                    <a:pt x="1838325" y="0"/>
                  </a:lnTo>
                  <a:lnTo>
                    <a:pt x="2047875" y="285750"/>
                  </a:lnTo>
                  <a:lnTo>
                    <a:pt x="1838325" y="571500"/>
                  </a:lnTo>
                  <a:lnTo>
                    <a:pt x="0" y="571500"/>
                  </a:lnTo>
                  <a:lnTo>
                    <a:pt x="209550" y="285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714375" y="4029913"/>
            <a:ext cx="15982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r>
              <a:rPr lang="ru-RU" sz="1200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Память</a:t>
            </a:r>
            <a:endParaRPr lang="ru-RU" sz="1200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2809875" y="4029913"/>
            <a:ext cx="15982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r>
              <a:rPr lang="ru-RU" sz="1200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Реализация</a:t>
            </a:r>
            <a:endParaRPr lang="ru-RU" sz="1200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4800600" y="4029913"/>
            <a:ext cx="159829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r>
              <a:rPr lang="ru-RU" sz="1200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Данные</a:t>
            </a:r>
            <a:endParaRPr lang="ru-RU" sz="1200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6791325" y="4029913"/>
            <a:ext cx="169640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r>
              <a:rPr lang="ru-RU" sz="1200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Процессор</a:t>
            </a:r>
            <a:endParaRPr lang="ru-RU" sz="1200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Picture 1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0" name="Slide Number 12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6" grpId="0" animBg="1"/>
      <p:bldP spid="107" grpId="0" animBg="1"/>
      <p:bldP spid="109" grpId="0" animBg="1"/>
      <p:bldP spid="110" grpId="0" animBg="1"/>
      <p:bldP spid="116" grpId="0" animBg="1"/>
      <p:bldP spid="117" grpId="0" animBg="1"/>
      <p:bldP spid="118" grpId="0" animBg="1"/>
      <p:bldP spid="11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ПЕРЕД ЧЕТЫРЬМЯ РАУНДАМИ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ПРАВИЛО: В ТАЙМЕРЕ ВСЯ ОПЕРАЦИЯ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Fill 103"/>
          <p:cNvSpPr/>
          <p:nvPr/>
        </p:nvSpPr>
        <p:spPr>
          <a:xfrm>
            <a:off x="557212" y="1428750"/>
            <a:ext cx="8029575" cy="142875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>
            <a:noFill/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785812" y="1564958"/>
            <a:ext cx="775335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 v = input;                </a:t>
            </a:r>
            <a:r>
              <a:rPr lang="ru-RU" sz="150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вне таймера</a:t>
            </a:r>
            <a:br>
              <a:rPr lang="ru-RU" sz="150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0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timer.start();</a:t>
            </a:r>
            <a:r>
              <a:rPr lang="ru-RU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alg(v); </a:t>
            </a:r>
            <a:r>
              <a:rPr lang="ru-RU" sz="1500" b="0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timer.stop();</a:t>
            </a:r>
            <a:br>
              <a:rPr lang="ru-RU" sz="1500" b="0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5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(sorted(v) != ref) abort();  </a:t>
            </a:r>
            <a:r>
              <a:rPr lang="ru-RU" sz="150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и в релизе</a:t>
            </a:r>
            <a:endParaRPr lang="ru-RU" sz="1500" b="0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3039313"/>
            <a:ext cx="179451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 таймере: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Box 106"/>
          <p:cNvSpPr/>
          <p:nvPr/>
        </p:nvSpPr>
        <p:spPr>
          <a:xfrm>
            <a:off x="1912144" y="3074194"/>
            <a:ext cx="1271588" cy="347662"/>
          </a:xfrm>
          <a:prstGeom prst="roundRect">
            <a:avLst>
              <a:gd name="adj" fmla="val 21052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1914525" y="3014415"/>
            <a:ext cx="12668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625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reserve</a:t>
            </a:r>
            <a:endParaRPr lang="ru-RU" sz="13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Box 108"/>
          <p:cNvSpPr/>
          <p:nvPr/>
        </p:nvSpPr>
        <p:spPr>
          <a:xfrm>
            <a:off x="3340894" y="3074194"/>
            <a:ext cx="1271588" cy="347662"/>
          </a:xfrm>
          <a:prstGeom prst="roundRect">
            <a:avLst>
              <a:gd name="adj" fmla="val 21052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3343275" y="3014415"/>
            <a:ext cx="126682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625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вставки</a:t>
            </a:r>
            <a:endParaRPr lang="ru-RU" sz="13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Box 110"/>
          <p:cNvSpPr/>
          <p:nvPr/>
        </p:nvSpPr>
        <p:spPr>
          <a:xfrm>
            <a:off x="4769644" y="3074194"/>
            <a:ext cx="1414462" cy="347662"/>
          </a:xfrm>
          <a:prstGeom prst="roundRect">
            <a:avLst>
              <a:gd name="adj" fmla="val 21052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4772025" y="3014415"/>
            <a:ext cx="14097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625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выгрузка</a:t>
            </a:r>
            <a:endParaRPr lang="ru-RU" sz="13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Box 112"/>
          <p:cNvSpPr/>
          <p:nvPr/>
        </p:nvSpPr>
        <p:spPr>
          <a:xfrm>
            <a:off x="6341269" y="3074194"/>
            <a:ext cx="1557338" cy="347662"/>
          </a:xfrm>
          <a:prstGeom prst="roundRect">
            <a:avLst>
              <a:gd name="adj" fmla="val 21052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343650" y="3014415"/>
            <a:ext cx="15525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625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деструктор</a:t>
            </a:r>
            <a:endParaRPr lang="ru-RU" sz="13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Line 114"/>
          <p:cNvSpPr/>
          <p:nvPr/>
        </p:nvSpPr>
        <p:spPr>
          <a:xfrm>
            <a:off x="585788" y="3714750"/>
            <a:ext cx="133350" cy="714375"/>
          </a:xfrm>
          <a:custGeom>
            <a:avLst/>
            <a:gdLst/>
            <a:ahLst/>
            <a:cxnLst/>
            <a:rect l="0" t="0" r="r" b="b"/>
            <a:pathLst>
              <a:path w="133350" h="714375" fill="none">
                <a:moveTo>
                  <a:pt x="0" y="0"/>
                </a:moveTo>
                <a:lnTo>
                  <a:pt x="0" y="228600"/>
                </a:lnTo>
                <a:lnTo>
                  <a:pt x="133350" y="357188"/>
                </a:lnTo>
                <a:lnTo>
                  <a:pt x="0" y="485775"/>
                </a:lnTo>
                <a:lnTo>
                  <a:pt x="0" y="714375"/>
                </a:lnTo>
              </a:path>
            </a:pathLst>
          </a:custGeom>
          <a:noFill/>
          <a:ln w="38100">
            <a:solidFill>
              <a:srgbClr val="46CDAE"/>
            </a:solidFill>
            <a:round/>
          </a:ln>
        </p:spPr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904875" y="3756698"/>
            <a:ext cx="7386638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Быстрое, но неправильное решение</a:t>
            </a:r>
            <a:b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 турнире не участвует</a:t>
            </a:r>
            <a:endParaRPr lang="ru-RU" sz="21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Picture 1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6" name="Slide Number 11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РАЗМЕР И ПАМЯТЬ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ПОСЛЕ 512K ХЕШ ЛОМАЕТСЯ СТУПЕНЬКОЙ, СОРТИРОВКА — НЕТ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372438"/>
            <a:ext cx="444341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нс на элемент · ниже — лучше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 xmlns:p14="http://schemas.microsoft.com/office/powerpoint/2010/main">
        <p:nvGrpSpPr>
          <p:cNvPr id="108" name="Chart 108"/>
          <p:cNvGrpSpPr/>
          <p:nvPr/>
        </p:nvGrpSpPr>
        <p:grpSpPr>
          <a:xfrm>
            <a:off x="950119" y="1705570"/>
            <a:ext cx="5697141" cy="2009228"/>
            <a:chOff x="950119" y="1705570"/>
            <a:chExt cx="5697141" cy="2009228"/>
          </a:xfrm>
        </p:grpSpPr>
        <p:sp>
          <p:nvSpPr>
            <p:cNvPr id="104" name="Line 104"/>
            <p:cNvSpPr/>
            <p:nvPr/>
          </p:nvSpPr>
          <p:spPr>
            <a:xfrm>
              <a:off x="950119" y="1705570"/>
              <a:ext cx="5697141" cy="48"/>
            </a:xfrm>
            <a:custGeom>
              <a:avLst/>
              <a:gdLst/>
              <a:ahLst/>
              <a:cxnLst/>
              <a:rect l="0" t="0" r="r" b="b"/>
              <a:pathLst>
                <a:path w="5697141" h="1" fill="none">
                  <a:moveTo>
                    <a:pt x="0" y="0"/>
                  </a:moveTo>
                  <a:lnTo>
                    <a:pt x="5697141" y="0"/>
                  </a:lnTo>
                </a:path>
              </a:pathLst>
            </a:custGeom>
            <a:noFill/>
            <a:ln w="8930">
              <a:solidFill>
                <a:srgbClr val="333333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950119" y="2375297"/>
              <a:ext cx="5697141" cy="48"/>
            </a:xfrm>
            <a:custGeom>
              <a:avLst/>
              <a:gdLst/>
              <a:ahLst/>
              <a:cxnLst/>
              <a:rect l="0" t="0" r="r" b="b"/>
              <a:pathLst>
                <a:path w="5697141" h="1" fill="none">
                  <a:moveTo>
                    <a:pt x="0" y="0"/>
                  </a:moveTo>
                  <a:lnTo>
                    <a:pt x="5697141" y="0"/>
                  </a:lnTo>
                </a:path>
              </a:pathLst>
            </a:custGeom>
            <a:noFill/>
            <a:ln w="8930">
              <a:solidFill>
                <a:srgbClr val="333333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950119" y="3045023"/>
              <a:ext cx="5697141" cy="48"/>
            </a:xfrm>
            <a:custGeom>
              <a:avLst/>
              <a:gdLst/>
              <a:ahLst/>
              <a:cxnLst/>
              <a:rect l="0" t="0" r="r" b="b"/>
              <a:pathLst>
                <a:path w="5697141" h="1" fill="none">
                  <a:moveTo>
                    <a:pt x="0" y="0"/>
                  </a:moveTo>
                  <a:lnTo>
                    <a:pt x="5697141" y="0"/>
                  </a:lnTo>
                </a:path>
              </a:pathLst>
            </a:custGeom>
            <a:noFill/>
            <a:ln w="8930">
              <a:solidFill>
                <a:srgbClr val="333333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950119" y="3714750"/>
              <a:ext cx="5697141" cy="48"/>
            </a:xfrm>
            <a:custGeom>
              <a:avLst/>
              <a:gdLst/>
              <a:ahLst/>
              <a:cxnLst/>
              <a:rect l="0" t="0" r="r" b="b"/>
              <a:pathLst>
                <a:path w="5697141" h="1" fill="none">
                  <a:moveTo>
                    <a:pt x="0" y="0"/>
                  </a:moveTo>
                  <a:lnTo>
                    <a:pt x="5697141" y="0"/>
                  </a:lnTo>
                </a:path>
              </a:pathLst>
            </a:custGeom>
            <a:noFill/>
            <a:ln w="13395">
              <a:solidFill>
                <a:srgbClr val="8F8F8F"/>
              </a:solidFill>
            </a:ln>
          </p:spPr>
        </p:sp>
      </p:grp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36245" y="1601038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436245" y="2272551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436245" y="2939301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36245" y="3610813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77228" y="3801313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16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2553652" y="3801313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4430078" y="3801313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64K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5363528" y="3801313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512K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6301740" y="3801313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4M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3005138" y="4039438"/>
            <a:ext cx="19907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N, лог. шкала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9" name="Line 119"/>
          <p:cNvSpPr/>
          <p:nvPr/>
        </p:nvSpPr>
        <p:spPr>
          <a:xfrm>
            <a:off x="985838" y="2995017"/>
            <a:ext cx="5625703" cy="615255"/>
          </a:xfrm>
          <a:custGeom>
            <a:avLst/>
            <a:gdLst/>
            <a:ahLst/>
            <a:cxnLst/>
            <a:rect l="0" t="0" r="r" b="b"/>
            <a:pathLst>
              <a:path w="5625703" h="615255" fill="none">
                <a:moveTo>
                  <a:pt x="0" y="615255"/>
                </a:moveTo>
                <a:lnTo>
                  <a:pt x="312539" y="594271"/>
                </a:lnTo>
                <a:lnTo>
                  <a:pt x="625078" y="531316"/>
                </a:lnTo>
                <a:lnTo>
                  <a:pt x="937617" y="409873"/>
                </a:lnTo>
                <a:lnTo>
                  <a:pt x="1250156" y="309414"/>
                </a:lnTo>
                <a:lnTo>
                  <a:pt x="1562695" y="263426"/>
                </a:lnTo>
                <a:lnTo>
                  <a:pt x="1875234" y="238423"/>
                </a:lnTo>
                <a:lnTo>
                  <a:pt x="2187773" y="208955"/>
                </a:lnTo>
                <a:lnTo>
                  <a:pt x="2500312" y="183952"/>
                </a:lnTo>
                <a:lnTo>
                  <a:pt x="2812852" y="179933"/>
                </a:lnTo>
                <a:lnTo>
                  <a:pt x="3125391" y="162967"/>
                </a:lnTo>
                <a:lnTo>
                  <a:pt x="3437930" y="141982"/>
                </a:lnTo>
                <a:lnTo>
                  <a:pt x="3750469" y="125462"/>
                </a:lnTo>
                <a:lnTo>
                  <a:pt x="4063008" y="100012"/>
                </a:lnTo>
                <a:lnTo>
                  <a:pt x="4375547" y="83493"/>
                </a:lnTo>
                <a:lnTo>
                  <a:pt x="4688086" y="62508"/>
                </a:lnTo>
                <a:lnTo>
                  <a:pt x="5000625" y="45988"/>
                </a:lnTo>
                <a:lnTo>
                  <a:pt x="5313164" y="20538"/>
                </a:lnTo>
                <a:lnTo>
                  <a:pt x="5625703" y="0"/>
                </a:lnTo>
              </a:path>
            </a:pathLst>
          </a:custGeom>
          <a:noFill/>
          <a:ln w="40184" cap="rnd">
            <a:solidFill>
              <a:srgbClr val="46CDAE"/>
            </a:solidFill>
            <a:round/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6762750" y="2846642"/>
            <a:ext cx="1907334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5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 xmlns:p14="http://schemas.microsoft.com/office/powerpoint/2010/main">
        <p:nvGrpSpPr>
          <p:cNvPr id="123" name="Chart 123"/>
          <p:cNvGrpSpPr/>
          <p:nvPr/>
        </p:nvGrpSpPr>
        <p:grpSpPr>
          <a:xfrm>
            <a:off x="985838" y="1847999"/>
            <a:ext cx="5777507" cy="1464915"/>
            <a:chOff x="985838" y="1847999"/>
            <a:chExt cx="5777507" cy="1464915"/>
          </a:xfrm>
        </p:grpSpPr>
        <p:sp>
          <p:nvSpPr>
            <p:cNvPr id="121" name="Line 121"/>
            <p:cNvSpPr/>
            <p:nvPr/>
          </p:nvSpPr>
          <p:spPr>
            <a:xfrm>
              <a:off x="985838" y="1847999"/>
              <a:ext cx="5625703" cy="1464915"/>
            </a:xfrm>
            <a:custGeom>
              <a:avLst/>
              <a:gdLst/>
              <a:ahLst/>
              <a:cxnLst/>
              <a:rect l="0" t="0" r="r" b="b"/>
              <a:pathLst>
                <a:path w="5625703" h="1464915" fill="none">
                  <a:moveTo>
                    <a:pt x="0" y="1422946"/>
                  </a:moveTo>
                  <a:lnTo>
                    <a:pt x="312539" y="1464915"/>
                  </a:lnTo>
                  <a:lnTo>
                    <a:pt x="625078" y="1464915"/>
                  </a:lnTo>
                  <a:lnTo>
                    <a:pt x="937617" y="1439912"/>
                  </a:lnTo>
                  <a:lnTo>
                    <a:pt x="1250156" y="1427411"/>
                  </a:lnTo>
                  <a:lnTo>
                    <a:pt x="1562695" y="1427411"/>
                  </a:lnTo>
                  <a:lnTo>
                    <a:pt x="1875234" y="1418927"/>
                  </a:lnTo>
                  <a:lnTo>
                    <a:pt x="2187773" y="1380976"/>
                  </a:lnTo>
                  <a:lnTo>
                    <a:pt x="2500312" y="1368475"/>
                  </a:lnTo>
                  <a:lnTo>
                    <a:pt x="2812852" y="1343471"/>
                  </a:lnTo>
                  <a:lnTo>
                    <a:pt x="3125391" y="1314004"/>
                  </a:lnTo>
                  <a:lnTo>
                    <a:pt x="3437930" y="1289000"/>
                  </a:lnTo>
                  <a:lnTo>
                    <a:pt x="3750469" y="1280964"/>
                  </a:lnTo>
                  <a:lnTo>
                    <a:pt x="4063008" y="1280964"/>
                  </a:lnTo>
                  <a:lnTo>
                    <a:pt x="4375547" y="1272480"/>
                  </a:lnTo>
                  <a:lnTo>
                    <a:pt x="4688086" y="1243012"/>
                  </a:lnTo>
                  <a:lnTo>
                    <a:pt x="5000625" y="987623"/>
                  </a:lnTo>
                  <a:lnTo>
                    <a:pt x="5313164" y="523280"/>
                  </a:lnTo>
                  <a:lnTo>
                    <a:pt x="5625703" y="0"/>
                  </a:lnTo>
                </a:path>
              </a:pathLst>
            </a:custGeom>
            <a:noFill/>
            <a:ln w="40184" cap="rnd">
              <a:solidFill>
                <a:srgbClr val="E2489B"/>
              </a:solidFill>
              <a:round/>
            </a:ln>
          </p:spPr>
        </p:sp>
        <p:sp>
          <p:nvSpPr>
            <p:cNvPr id="122" name="Path 122"/>
            <p:cNvSpPr/>
            <p:nvPr/>
          </p:nvSpPr>
          <p:spPr>
            <a:xfrm>
              <a:off x="6709767" y="1857375"/>
              <a:ext cx="53578" cy="1129605"/>
            </a:xfrm>
            <a:custGeom>
              <a:avLst/>
              <a:gdLst/>
              <a:ahLst/>
              <a:cxnLst/>
              <a:rect l="0" t="0" r="r" b="b"/>
              <a:pathLst>
                <a:path w="53578" h="1129605" fill="none">
                  <a:moveTo>
                    <a:pt x="0" y="0"/>
                  </a:moveTo>
                  <a:lnTo>
                    <a:pt x="53578" y="0"/>
                  </a:lnTo>
                  <a:lnTo>
                    <a:pt x="53578" y="1129605"/>
                  </a:lnTo>
                  <a:lnTo>
                    <a:pt x="0" y="1129605"/>
                  </a:lnTo>
                </a:path>
              </a:pathLst>
            </a:custGeom>
            <a:noFill/>
            <a:ln w="13395">
              <a:solidFill>
                <a:srgbClr val="8F8F8F"/>
              </a:solidFill>
              <a:round/>
            </a:ln>
          </p:spPr>
        </p:sp>
      </p:grp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6762750" y="1713167"/>
            <a:ext cx="1907334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6762750" y="2161680"/>
            <a:ext cx="1907334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×2,6</a:t>
            </a:r>
            <a:endParaRPr lang="ru-RU" sz="27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6" name="Rect 126"/>
          <p:cNvSpPr/>
          <p:nvPr/>
        </p:nvSpPr>
        <p:spPr>
          <a:xfrm>
            <a:off x="5557838" y="2687836"/>
            <a:ext cx="553641" cy="535781"/>
          </a:xfrm>
          <a:prstGeom prst="roundRect">
            <a:avLst>
              <a:gd name="adj" fmla="val 20000"/>
            </a:avLst>
          </a:prstGeom>
          <a:noFill/>
          <a:ln w="22324">
            <a:solidFill>
              <a:srgbClr val="46CDAE"/>
            </a:solidFill>
          </a:ln>
        </p:spPr>
      </p:sp>
      <p:sp xmlns:p14="http://schemas.microsoft.com/office/powerpoint/2010/main">
        <p:nvSpPr>
          <p:cNvPr id="127" name="Box 127"/>
          <p:cNvSpPr/>
          <p:nvPr/>
        </p:nvSpPr>
        <p:spPr>
          <a:xfrm>
            <a:off x="1104900" y="1581150"/>
            <a:ext cx="4267200" cy="1266825"/>
          </a:xfrm>
          <a:prstGeom prst="roundRect">
            <a:avLst>
              <a:gd name="adj" fmla="val 8888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8" name="Box 128"/>
          <p:cNvSpPr/>
          <p:nvPr/>
        </p:nvSpPr>
        <p:spPr>
          <a:xfrm>
            <a:off x="1340644" y="2207419"/>
            <a:ext cx="366712" cy="385762"/>
          </a:xfrm>
          <a:prstGeom prst="roundRect">
            <a:avLst>
              <a:gd name="adj" fmla="val 10000"/>
            </a:avLst>
          </a:prstGeom>
          <a:solidFill>
            <a:srgbClr val="5E1C42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29" name="Box 129"/>
          <p:cNvSpPr/>
          <p:nvPr/>
        </p:nvSpPr>
        <p:spPr>
          <a:xfrm>
            <a:off x="1864519" y="1807369"/>
            <a:ext cx="366712" cy="785812"/>
          </a:xfrm>
          <a:prstGeom prst="roundRect">
            <a:avLst>
              <a:gd name="adj" fmla="val 10000"/>
            </a:avLst>
          </a:prstGeom>
          <a:solidFill>
            <a:srgbClr val="5E1C42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30" name="Line 130"/>
          <p:cNvSpPr/>
          <p:nvPr/>
        </p:nvSpPr>
        <p:spPr>
          <a:xfrm>
            <a:off x="1247775" y="2066925"/>
            <a:ext cx="1085850" cy="48"/>
          </a:xfrm>
          <a:custGeom>
            <a:avLst/>
            <a:gdLst/>
            <a:ahLst/>
            <a:cxnLst/>
            <a:rect l="0" t="0" r="r" b="b"/>
            <a:pathLst>
              <a:path w="1085850" h="1" fill="none">
                <a:moveTo>
                  <a:pt x="0" y="0"/>
                </a:moveTo>
                <a:lnTo>
                  <a:pt x="1085850" y="0"/>
                </a:lnTo>
              </a:path>
            </a:pathLst>
          </a:custGeom>
          <a:noFill/>
          <a:ln w="19050">
            <a:solidFill>
              <a:srgbClr val="FFFFFF"/>
            </a:solidFill>
            <a:custDash>
              <a:ds d="350000" sp="250000"/>
            </a:custDash>
          </a:ln>
        </p:spPr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1215390" y="2610688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512K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2" name="Text 132"/>
          <p:cNvSpPr txBox="1"/>
          <p:nvPr/>
        </p:nvSpPr>
        <p:spPr>
          <a:xfrm>
            <a:off x="1739265" y="2610688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1M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3" name="Text 133"/>
          <p:cNvSpPr txBox="1"/>
          <p:nvPr/>
        </p:nvSpPr>
        <p:spPr>
          <a:xfrm>
            <a:off x="2524125" y="1684592"/>
            <a:ext cx="280987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≈24 МиБ — мимо L2 </a:t>
            </a:r>
            <a:r>
              <a:rPr lang="ru-RU" sz="1500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✗</a:t>
            </a:r>
            <a:endParaRPr lang="ru-RU" sz="1500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4" name="Text 134"/>
          <p:cNvSpPr txBox="1"/>
          <p:nvPr/>
        </p:nvSpPr>
        <p:spPr>
          <a:xfrm>
            <a:off x="2524125" y="1991563"/>
            <a:ext cx="280987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L2 P-кластера M2 Pro = 16 МиБ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5" name="Text 135"/>
          <p:cNvSpPr txBox="1"/>
          <p:nvPr/>
        </p:nvSpPr>
        <p:spPr>
          <a:xfrm>
            <a:off x="2524125" y="2322766"/>
            <a:ext cx="280987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≈12 МиБ — в L2 </a:t>
            </a:r>
            <a:r>
              <a:rPr lang="ru-RU" sz="15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lang="ru-RU" sz="15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Picture 13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6" name="Slide Number 13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4" grpId="0" animBg="1"/>
      <p:bldP spid="125" grpId="0" animBg="1"/>
      <p:bldP spid="131" grpId="0" animBg="1"/>
      <p:bldP spid="132" grpId="0" animBg="1"/>
      <p:bldP spid="133" grpId="0" animBg="1"/>
      <p:bldP spid="134" grpId="0" animBg="1"/>
      <p:bldP spid="135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РАЗМЕР И ПАМЯТЬ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УЗЛОВАЯ ТАБЛИЦА: КАЖДЫЙ КЛЮЧ — ОТДЕЛЬНЫЙ new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522857"/>
            <a:ext cx="346233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vector&lt;uint64_t&gt;</a:t>
            </a:r>
            <a:endParaRPr lang="ru-RU" sz="165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 xmlns:p14="http://schemas.microsoft.com/office/powerpoint/2010/main">
        <p:nvGrpSpPr>
          <p:cNvPr id="112" name="Chart 112"/>
          <p:cNvGrpSpPr/>
          <p:nvPr/>
        </p:nvGrpSpPr>
        <p:grpSpPr>
          <a:xfrm>
            <a:off x="566738" y="1914525"/>
            <a:ext cx="3067050" cy="381000"/>
            <a:chOff x="566738" y="1914525"/>
            <a:chExt cx="3067050" cy="381000"/>
          </a:xfrm>
        </p:grpSpPr>
        <p:sp>
          <p:nvSpPr>
            <p:cNvPr id="104" name="Rect 104"/>
            <p:cNvSpPr/>
            <p:nvPr/>
          </p:nvSpPr>
          <p:spPr>
            <a:xfrm>
              <a:off x="566738" y="1914525"/>
              <a:ext cx="3067050" cy="381000"/>
            </a:xfrm>
            <a:prstGeom prst="roundRect">
              <a:avLst>
                <a:gd name="adj" fmla="val 12500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950119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1333500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1716881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2100262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483644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2867025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3250406" y="1914525"/>
              <a:ext cx="48" cy="381000"/>
            </a:xfrm>
            <a:custGeom>
              <a:avLst/>
              <a:gdLst/>
              <a:ahLst/>
              <a:cxnLst/>
              <a:rect l="0" t="0" r="r" b="b"/>
              <a:pathLst>
                <a:path w="1" h="381000" fill="none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4288">
              <a:solidFill>
                <a:srgbClr val="46CDAE"/>
              </a:solidFill>
            </a:ln>
          </p:spPr>
        </p:sp>
      </p:grp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2413254"/>
            <a:ext cx="3462338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 Б на ключ, подряд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 аллокаций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4286250" y="1522857"/>
            <a:ext cx="444341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E248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unordered_set</a:t>
            </a:r>
            <a:endParaRPr lang="ru-RU" sz="1650" b="1" i="0" dirty="0">
              <a:solidFill>
                <a:srgbClr val="E2489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15" name="nodes_scatt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91000" y="1857375"/>
            <a:ext cx="4381500" cy="2424112"/>
          </a:xfrm>
          <a:prstGeom prst="rect">
            <a:avLst/>
          </a:prstGeom>
        </p:spPr>
      </p:pic>
      <p:sp xmlns:p14="http://schemas.microsoft.com/office/powerpoint/2010/main">
        <p:nvSpPr>
          <p:cNvPr id="116" name="Line 116"/>
          <p:cNvSpPr/>
          <p:nvPr/>
        </p:nvSpPr>
        <p:spPr>
          <a:xfrm>
            <a:off x="585788" y="3238500"/>
            <a:ext cx="133350" cy="1047750"/>
          </a:xfrm>
          <a:custGeom>
            <a:avLst/>
            <a:gdLst/>
            <a:ahLst/>
            <a:cxnLst/>
            <a:rect l="0" t="0" r="r" b="b"/>
            <a:pathLst>
              <a:path w="133350" h="1047750" fill="none">
                <a:moveTo>
                  <a:pt x="0" y="0"/>
                </a:moveTo>
                <a:lnTo>
                  <a:pt x="0" y="390525"/>
                </a:lnTo>
                <a:lnTo>
                  <a:pt x="133350" y="523875"/>
                </a:lnTo>
                <a:lnTo>
                  <a:pt x="0" y="657225"/>
                </a:lnTo>
                <a:lnTo>
                  <a:pt x="0" y="1047750"/>
                </a:lnTo>
              </a:path>
            </a:pathLst>
          </a:custGeom>
          <a:noFill/>
          <a:ln w="38100">
            <a:solidFill>
              <a:srgbClr val="46CDAE"/>
            </a:solidFill>
            <a:round/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857250" y="3240091"/>
            <a:ext cx="3266122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425" b="0" i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«Discontiguous data structures are the root of all (performance) evil»</a:t>
            </a:r>
            <a:endParaRPr lang="ru-RU" sz="1425" b="0" i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857250" y="4048963"/>
            <a:ext cx="326612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Chandler Carruth, CppCon 2014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9" name="Picture 118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9" name="Slide Number 119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000" fill="hold"/>
                                        <p:tgtEl>
                                          <p:spTgt spid="1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24" repeatCount="indefinite" fill="hold" display="0">
                  <p:stCondLst>
                    <p:cond delay="indefinite"/>
                  </p:stCondLst>
                </p:cTn>
                <p:tgtEl>
                  <p:spTgt spid="115"/>
                </p:tgtEl>
              </p:cMediaNode>
            </p:video>
          </p:childTnLst>
        </p:cTn>
      </p:par>
    </p:tnLst>
    <p:bldLst>
      <p:bldP spid="114" grpId="0" animBg="1"/>
      <p:bldP spid="117" grpId="0" animBg="1"/>
      <p:bldP spid="118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РАЗМЕР И ПАМЯТЬ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ЦЕНА ШАГА — ОТ 1,7 ДО 100 НС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393412"/>
            <a:ext cx="1906414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Время ≈ N ×</a:t>
            </a:r>
            <a:endParaRPr lang="ru-RU" sz="22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2538636" y="1393412"/>
            <a:ext cx="1012563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шагов</a:t>
            </a:r>
            <a:endParaRPr lang="ru-RU" sz="22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2523232" y="1791538"/>
            <a:ext cx="1044371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видит Big-O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3652317" y="1393412"/>
            <a:ext cx="204939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×</a:t>
            </a:r>
            <a:endParaRPr lang="ru-RU" sz="22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3966418" y="1393412"/>
            <a:ext cx="1682989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цена шага</a:t>
            </a:r>
            <a:endParaRPr lang="ru-RU" sz="225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3998193" y="1791538"/>
            <a:ext cx="1617457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решает процессор</a:t>
            </a:r>
            <a:endParaRPr lang="ru-RU" sz="12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2251329"/>
            <a:ext cx="98583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L1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Fill 110"/>
          <p:cNvSpPr/>
          <p:nvPr/>
        </p:nvSpPr>
        <p:spPr>
          <a:xfrm>
            <a:off x="1571625" y="2276475"/>
            <a:ext cx="47625" cy="266700"/>
          </a:xfrm>
          <a:prstGeom prst="roundRect">
            <a:avLst>
              <a:gd name="adj" fmla="val 40000"/>
            </a:avLst>
          </a:prstGeom>
          <a:solidFill>
            <a:srgbClr val="5A5A5A"/>
          </a:solidFill>
          <a:ln>
            <a:noFill/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1724025" y="2251329"/>
            <a:ext cx="1990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≈1,7 нс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57212" y="2670429"/>
            <a:ext cx="98583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L2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Fill 113"/>
          <p:cNvSpPr/>
          <p:nvPr/>
        </p:nvSpPr>
        <p:spPr>
          <a:xfrm>
            <a:off x="1571625" y="2695575"/>
            <a:ext cx="138112" cy="266700"/>
          </a:xfrm>
          <a:prstGeom prst="roundRect">
            <a:avLst>
              <a:gd name="adj" fmla="val 20689"/>
            </a:avLst>
          </a:prstGeom>
          <a:solidFill>
            <a:srgbClr val="8F8F8F"/>
          </a:solidFill>
          <a:ln>
            <a:noFill/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1814512" y="2670429"/>
            <a:ext cx="199072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≈6,5 нс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3089529"/>
            <a:ext cx="110775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память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Fill 116"/>
          <p:cNvSpPr/>
          <p:nvPr/>
        </p:nvSpPr>
        <p:spPr>
          <a:xfrm>
            <a:off x="1571625" y="3114675"/>
            <a:ext cx="2143125" cy="2667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3810000" y="3089529"/>
            <a:ext cx="10096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≈100 нс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557212" y="3664087"/>
            <a:ext cx="424719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строка кэша 128 Б = </a:t>
            </a:r>
            <a:r>
              <a:rPr lang="ru-RU" sz="1275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16 ключей</a:t>
            </a: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за одно чтение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 xmlns:p14="http://schemas.microsoft.com/office/powerpoint/2010/main">
        <p:nvGrpSpPr>
          <p:cNvPr id="135" name="Chart 135"/>
          <p:cNvGrpSpPr/>
          <p:nvPr/>
        </p:nvGrpSpPr>
        <p:grpSpPr>
          <a:xfrm>
            <a:off x="557212" y="3981450"/>
            <a:ext cx="3333750" cy="190500"/>
            <a:chOff x="557212" y="3981450"/>
            <a:chExt cx="3333750" cy="190500"/>
          </a:xfrm>
        </p:grpSpPr>
        <p:sp>
          <p:nvSpPr>
            <p:cNvPr id="119" name="Rect 119"/>
            <p:cNvSpPr/>
            <p:nvPr/>
          </p:nvSpPr>
          <p:spPr>
            <a:xfrm>
              <a:off x="5572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0" name="Rect 120"/>
            <p:cNvSpPr/>
            <p:nvPr/>
          </p:nvSpPr>
          <p:spPr>
            <a:xfrm>
              <a:off x="7667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1" name="Rect 121"/>
            <p:cNvSpPr/>
            <p:nvPr/>
          </p:nvSpPr>
          <p:spPr>
            <a:xfrm>
              <a:off x="9763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2" name="Rect 122"/>
            <p:cNvSpPr/>
            <p:nvPr/>
          </p:nvSpPr>
          <p:spPr>
            <a:xfrm>
              <a:off x="11858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3" name="Rect 123"/>
            <p:cNvSpPr/>
            <p:nvPr/>
          </p:nvSpPr>
          <p:spPr>
            <a:xfrm>
              <a:off x="13954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4" name="Rect 124"/>
            <p:cNvSpPr/>
            <p:nvPr/>
          </p:nvSpPr>
          <p:spPr>
            <a:xfrm>
              <a:off x="16049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5" name="Rect 125"/>
            <p:cNvSpPr/>
            <p:nvPr/>
          </p:nvSpPr>
          <p:spPr>
            <a:xfrm>
              <a:off x="18145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6" name="Rect 126"/>
            <p:cNvSpPr/>
            <p:nvPr/>
          </p:nvSpPr>
          <p:spPr>
            <a:xfrm>
              <a:off x="20240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7" name="Rect 127"/>
            <p:cNvSpPr/>
            <p:nvPr/>
          </p:nvSpPr>
          <p:spPr>
            <a:xfrm>
              <a:off x="22336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8" name="Rect 128"/>
            <p:cNvSpPr/>
            <p:nvPr/>
          </p:nvSpPr>
          <p:spPr>
            <a:xfrm>
              <a:off x="24431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29" name="Rect 129"/>
            <p:cNvSpPr/>
            <p:nvPr/>
          </p:nvSpPr>
          <p:spPr>
            <a:xfrm>
              <a:off x="26527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30" name="Rect 130"/>
            <p:cNvSpPr/>
            <p:nvPr/>
          </p:nvSpPr>
          <p:spPr>
            <a:xfrm>
              <a:off x="28622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31" name="Rect 131"/>
            <p:cNvSpPr/>
            <p:nvPr/>
          </p:nvSpPr>
          <p:spPr>
            <a:xfrm>
              <a:off x="30718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32" name="Rect 132"/>
            <p:cNvSpPr/>
            <p:nvPr/>
          </p:nvSpPr>
          <p:spPr>
            <a:xfrm>
              <a:off x="32813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33" name="Rect 133"/>
            <p:cNvSpPr/>
            <p:nvPr/>
          </p:nvSpPr>
          <p:spPr>
            <a:xfrm>
              <a:off x="349091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  <p:sp>
          <p:nvSpPr>
            <p:cNvPr id="134" name="Rect 134"/>
            <p:cNvSpPr/>
            <p:nvPr/>
          </p:nvSpPr>
          <p:spPr>
            <a:xfrm>
              <a:off x="3700462" y="3981450"/>
              <a:ext cx="190500" cy="190500"/>
            </a:xfrm>
            <a:prstGeom prst="roundRect">
              <a:avLst>
                <a:gd name="adj" fmla="val 15000"/>
              </a:avLst>
            </a:prstGeom>
            <a:solidFill>
              <a:srgbClr val="46CDAE"/>
            </a:solidFill>
            <a:ln>
              <a:noFill/>
            </a:ln>
          </p:spPr>
        </p:sp>
      </p:grpSp>
      <p:pic>
        <p:nvPicPr>
          <p:cNvPr id="136" name="memory_fligh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10125" y="2238375"/>
            <a:ext cx="3762375" cy="1838325"/>
          </a:xfrm>
          <a:prstGeom prst="rect">
            <a:avLst/>
          </a:prstGeom>
        </p:spPr>
      </p:pic>
      <p:pic>
        <p:nvPicPr>
          <p:cNvPr id="137" name="Picture 136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7" name="Slide Number 13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4" dur="6000" fill="hold"/>
                                        <p:tgtEl>
                                          <p:spTgt spid="1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7" repeatCount="indefinite" fill="hold" display="0">
                  <p:stCondLst>
                    <p:cond delay="indefinite"/>
                  </p:stCondLst>
                </p:cTn>
                <p:tgtEl>
                  <p:spTgt spid="136"/>
                </p:tgtEl>
              </p:cMediaNode>
            </p:video>
          </p:childTnLst>
        </p:cTn>
      </p:par>
    </p:tnLst>
    <p:bldLst>
      <p:bldP spid="109" grpId="0" animBg="1"/>
      <p:bldP spid="111" grpId="0" animBg="1"/>
      <p:bldP spid="112" grpId="0" animBg="1"/>
      <p:bldP spid="114" grpId="0" animBg="1"/>
      <p:bldP spid="115" grpId="0" animBg="1"/>
      <p:bldP spid="117" grpId="0" animBg="1"/>
      <p:bldP spid="118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РАЗМЕР И ПАМЯТЬ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МИЛЛИОН ЭЛЕМЕНТОВ — МИЛЛИОН ВЫЗОВОВ new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0482"/>
            <a:ext cx="8299037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Сколько вызовов new: 0, 1 000 или 1 000 000?</a:t>
            </a:r>
            <a:endParaRPr lang="ru-RU" sz="18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2035931"/>
            <a:ext cx="2657856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65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2490216"/>
            <a:ext cx="2657856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</a:t>
            </a:r>
            <a:endParaRPr lang="ru-RU" sz="6000" b="1" i="0" spc="-112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3321187"/>
            <a:ext cx="2657856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работает на месте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3295650" y="2035931"/>
            <a:ext cx="277558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65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3295650" y="2490216"/>
            <a:ext cx="2867025" cy="1543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≈1</a:t>
            </a:r>
            <a:r>
              <a:rPr lang="ru-RU" sz="3000" b="1" i="0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млн</a:t>
            </a:r>
            <a:endParaRPr lang="ru-RU" sz="3000" b="1" i="0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3295650" y="3321187"/>
            <a:ext cx="2775585" cy="44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≈42 МБ памяти</a:t>
            </a:r>
            <a:b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75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+ миллион delete</a:t>
            </a:r>
            <a:endParaRPr lang="ru-RU" sz="1275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6191250" y="2035931"/>
            <a:ext cx="2495979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flat_hash_set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6191250" y="2490216"/>
            <a:ext cx="2495979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6000" b="1" i="0" spc="-112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191250" y="3321187"/>
            <a:ext cx="2495979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одна таблица на всё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Picture 11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3" name="Slide Number 11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РЕАЛИЗАЦИЯ ХЕША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ПЛОСКАЯ ТАБЛИЦА: КЛЮЧИ ПРЯМО В МАССИВЕ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517332"/>
            <a:ext cx="277558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E248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unordered_set</a:t>
            </a:r>
            <a:endParaRPr lang="ru-RU" sz="1500" b="1" i="0" dirty="0">
              <a:solidFill>
                <a:srgbClr val="E2489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 xmlns:p14="http://schemas.microsoft.com/office/powerpoint/2010/main">
        <p:nvGrpSpPr>
          <p:cNvPr id="119" name="Chart 119"/>
          <p:cNvGrpSpPr/>
          <p:nvPr/>
        </p:nvGrpSpPr>
        <p:grpSpPr>
          <a:xfrm>
            <a:off x="564583" y="1912373"/>
            <a:ext cx="2233272" cy="1083789"/>
            <a:chOff x="564583" y="1912373"/>
            <a:chExt cx="2233272" cy="1083789"/>
          </a:xfrm>
        </p:grpSpPr>
        <p:sp>
          <p:nvSpPr>
            <p:cNvPr id="104" name="Rect 104"/>
            <p:cNvSpPr/>
            <p:nvPr/>
          </p:nvSpPr>
          <p:spPr>
            <a:xfrm>
              <a:off x="564583" y="1912373"/>
              <a:ext cx="1761558" cy="250672"/>
            </a:xfrm>
            <a:prstGeom prst="roundRect">
              <a:avLst>
                <a:gd name="adj" fmla="val 11764"/>
              </a:avLst>
            </a:prstGeom>
            <a:solidFill>
              <a:srgbClr val="5E1C42"/>
            </a:solidFill>
            <a:ln w="14741">
              <a:solidFill>
                <a:srgbClr val="E2489B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855719" y="1912373"/>
              <a:ext cx="48" cy="250672"/>
            </a:xfrm>
            <a:custGeom>
              <a:avLst/>
              <a:gdLst/>
              <a:ahLst/>
              <a:cxnLst/>
              <a:rect l="0" t="0" r="r" b="b"/>
              <a:pathLst>
                <a:path w="1" h="250672" fill="none">
                  <a:moveTo>
                    <a:pt x="0" y="0"/>
                  </a:moveTo>
                  <a:lnTo>
                    <a:pt x="0" y="250672"/>
                  </a:lnTo>
                </a:path>
              </a:pathLst>
            </a:custGeom>
            <a:noFill/>
            <a:ln w="11056">
              <a:solidFill>
                <a:srgbClr val="E2489B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1150541" y="1912373"/>
              <a:ext cx="48" cy="250672"/>
            </a:xfrm>
            <a:custGeom>
              <a:avLst/>
              <a:gdLst/>
              <a:ahLst/>
              <a:cxnLst/>
              <a:rect l="0" t="0" r="r" b="b"/>
              <a:pathLst>
                <a:path w="1" h="250672" fill="none">
                  <a:moveTo>
                    <a:pt x="0" y="0"/>
                  </a:moveTo>
                  <a:lnTo>
                    <a:pt x="0" y="250672"/>
                  </a:lnTo>
                </a:path>
              </a:pathLst>
            </a:custGeom>
            <a:noFill/>
            <a:ln w="11056">
              <a:solidFill>
                <a:srgbClr val="E2489B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1445362" y="1912373"/>
              <a:ext cx="48" cy="250672"/>
            </a:xfrm>
            <a:custGeom>
              <a:avLst/>
              <a:gdLst/>
              <a:ahLst/>
              <a:cxnLst/>
              <a:rect l="0" t="0" r="r" b="b"/>
              <a:pathLst>
                <a:path w="1" h="250672" fill="none">
                  <a:moveTo>
                    <a:pt x="0" y="0"/>
                  </a:moveTo>
                  <a:lnTo>
                    <a:pt x="0" y="250672"/>
                  </a:lnTo>
                </a:path>
              </a:pathLst>
            </a:custGeom>
            <a:noFill/>
            <a:ln w="11056">
              <a:solidFill>
                <a:srgbClr val="E2489B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740183" y="1912373"/>
              <a:ext cx="48" cy="250672"/>
            </a:xfrm>
            <a:custGeom>
              <a:avLst/>
              <a:gdLst/>
              <a:ahLst/>
              <a:cxnLst/>
              <a:rect l="0" t="0" r="r" b="b"/>
              <a:pathLst>
                <a:path w="1" h="250672" fill="none">
                  <a:moveTo>
                    <a:pt x="0" y="0"/>
                  </a:moveTo>
                  <a:lnTo>
                    <a:pt x="0" y="250672"/>
                  </a:lnTo>
                </a:path>
              </a:pathLst>
            </a:custGeom>
            <a:noFill/>
            <a:ln w="11056">
              <a:solidFill>
                <a:srgbClr val="E2489B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035005" y="1912373"/>
              <a:ext cx="48" cy="250672"/>
            </a:xfrm>
            <a:custGeom>
              <a:avLst/>
              <a:gdLst/>
              <a:ahLst/>
              <a:cxnLst/>
              <a:rect l="0" t="0" r="r" b="b"/>
              <a:pathLst>
                <a:path w="1" h="250672" fill="none">
                  <a:moveTo>
                    <a:pt x="0" y="0"/>
                  </a:moveTo>
                  <a:lnTo>
                    <a:pt x="0" y="250672"/>
                  </a:lnTo>
                </a:path>
              </a:pathLst>
            </a:custGeom>
            <a:noFill/>
            <a:ln w="11056">
              <a:solidFill>
                <a:srgbClr val="E2489B"/>
              </a:solidFill>
            </a:ln>
          </p:spPr>
        </p:sp>
        <p:sp>
          <p:nvSpPr>
            <p:cNvPr id="110" name="Rect 110"/>
            <p:cNvSpPr/>
            <p:nvPr/>
          </p:nvSpPr>
          <p:spPr>
            <a:xfrm>
              <a:off x="586695" y="2553799"/>
              <a:ext cx="471714" cy="235927"/>
            </a:xfrm>
            <a:prstGeom prst="roundRect">
              <a:avLst>
                <a:gd name="adj" fmla="val 15625"/>
              </a:avLst>
            </a:prstGeom>
            <a:solidFill>
              <a:srgbClr val="000000"/>
            </a:solidFill>
            <a:ln w="14741">
              <a:solidFill>
                <a:srgbClr val="E2489B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708308" y="2037709"/>
              <a:ext cx="106873" cy="493972"/>
            </a:xfrm>
            <a:custGeom>
              <a:avLst/>
              <a:gdLst/>
              <a:ahLst/>
              <a:cxnLst/>
              <a:rect l="0" t="0" r="r" b="b"/>
              <a:pathLst>
                <a:path w="106873" h="493972" fill="none">
                  <a:moveTo>
                    <a:pt x="0" y="0"/>
                  </a:moveTo>
                  <a:lnTo>
                    <a:pt x="106873" y="493972"/>
                  </a:lnTo>
                </a:path>
              </a:pathLst>
            </a:custGeom>
            <a:noFill/>
            <a:ln w="14741" cap="rnd">
              <a:solidFill>
                <a:srgbClr val="E2489B"/>
              </a:solidFill>
              <a:tailEnd type="arrow" w="med" len="med"/>
            </a:ln>
          </p:spPr>
        </p:sp>
        <p:sp>
          <p:nvSpPr>
            <p:cNvPr id="112" name="Dot 112"/>
            <p:cNvSpPr/>
            <p:nvPr/>
          </p:nvSpPr>
          <p:spPr>
            <a:xfrm>
              <a:off x="678826" y="2008218"/>
              <a:ext cx="58964" cy="58964"/>
            </a:xfrm>
            <a:prstGeom prst="ellipse">
              <a:avLst/>
            </a:prstGeom>
            <a:solidFill>
              <a:srgbClr val="E2489B"/>
            </a:solidFill>
            <a:ln>
              <a:noFill/>
            </a:ln>
          </p:spPr>
        </p:sp>
        <p:sp>
          <p:nvSpPr>
            <p:cNvPr id="113" name="Rect 113"/>
            <p:cNvSpPr/>
            <p:nvPr/>
          </p:nvSpPr>
          <p:spPr>
            <a:xfrm>
              <a:off x="1382713" y="2760235"/>
              <a:ext cx="471714" cy="235927"/>
            </a:xfrm>
            <a:prstGeom prst="roundRect">
              <a:avLst>
                <a:gd name="adj" fmla="val 15625"/>
              </a:avLst>
            </a:prstGeom>
            <a:solidFill>
              <a:srgbClr val="000000"/>
            </a:solidFill>
            <a:ln w="14741">
              <a:solidFill>
                <a:srgbClr val="E2489B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1297951" y="2037709"/>
              <a:ext cx="291136" cy="700408"/>
            </a:xfrm>
            <a:custGeom>
              <a:avLst/>
              <a:gdLst/>
              <a:ahLst/>
              <a:cxnLst/>
              <a:rect l="0" t="0" r="r" b="b"/>
              <a:pathLst>
                <a:path w="291136" h="700408" fill="none">
                  <a:moveTo>
                    <a:pt x="0" y="0"/>
                  </a:moveTo>
                  <a:lnTo>
                    <a:pt x="291136" y="700408"/>
                  </a:lnTo>
                </a:path>
              </a:pathLst>
            </a:custGeom>
            <a:noFill/>
            <a:ln w="14741" cap="rnd">
              <a:solidFill>
                <a:srgbClr val="E2489B"/>
              </a:solidFill>
              <a:tailEnd type="arrow" w="med" len="med"/>
            </a:ln>
          </p:spPr>
        </p:sp>
        <p:sp>
          <p:nvSpPr>
            <p:cNvPr id="115" name="Dot 115"/>
            <p:cNvSpPr/>
            <p:nvPr/>
          </p:nvSpPr>
          <p:spPr>
            <a:xfrm>
              <a:off x="1268469" y="2008218"/>
              <a:ext cx="58964" cy="58964"/>
            </a:xfrm>
            <a:prstGeom prst="ellipse">
              <a:avLst/>
            </a:prstGeom>
            <a:solidFill>
              <a:srgbClr val="E2489B"/>
            </a:solidFill>
            <a:ln>
              <a:noFill/>
            </a:ln>
          </p:spPr>
        </p:sp>
        <p:sp>
          <p:nvSpPr>
            <p:cNvPr id="116" name="Rect 116"/>
            <p:cNvSpPr/>
            <p:nvPr/>
          </p:nvSpPr>
          <p:spPr>
            <a:xfrm>
              <a:off x="2326141" y="2457954"/>
              <a:ext cx="471714" cy="235927"/>
            </a:xfrm>
            <a:prstGeom prst="roundRect">
              <a:avLst>
                <a:gd name="adj" fmla="val 15625"/>
              </a:avLst>
            </a:prstGeom>
            <a:solidFill>
              <a:srgbClr val="000000"/>
            </a:solidFill>
            <a:ln w="14741">
              <a:solidFill>
                <a:srgbClr val="E2489B"/>
              </a:solidFill>
            </a:ln>
          </p:spPr>
        </p:sp>
        <p:sp>
          <p:nvSpPr>
            <p:cNvPr id="117" name="Line 117"/>
            <p:cNvSpPr/>
            <p:nvPr/>
          </p:nvSpPr>
          <p:spPr>
            <a:xfrm>
              <a:off x="2182416" y="2037709"/>
              <a:ext cx="327989" cy="398127"/>
            </a:xfrm>
            <a:custGeom>
              <a:avLst/>
              <a:gdLst/>
              <a:ahLst/>
              <a:cxnLst/>
              <a:rect l="0" t="0" r="r" b="b"/>
              <a:pathLst>
                <a:path w="327989" h="398127" fill="none">
                  <a:moveTo>
                    <a:pt x="0" y="0"/>
                  </a:moveTo>
                  <a:lnTo>
                    <a:pt x="327989" y="398127"/>
                  </a:lnTo>
                </a:path>
              </a:pathLst>
            </a:custGeom>
            <a:noFill/>
            <a:ln w="14741" cap="rnd">
              <a:solidFill>
                <a:srgbClr val="E2489B"/>
              </a:solidFill>
              <a:tailEnd type="arrow" w="med" len="med"/>
            </a:ln>
          </p:spPr>
        </p:sp>
        <p:sp>
          <p:nvSpPr>
            <p:cNvPr id="118" name="Dot 118"/>
            <p:cNvSpPr/>
            <p:nvPr/>
          </p:nvSpPr>
          <p:spPr>
            <a:xfrm>
              <a:off x="2152933" y="2008218"/>
              <a:ext cx="58964" cy="58964"/>
            </a:xfrm>
            <a:prstGeom prst="ellipse">
              <a:avLst/>
            </a:prstGeom>
            <a:solidFill>
              <a:srgbClr val="E2489B"/>
            </a:solidFill>
            <a:ln>
              <a:noFill/>
            </a:ln>
          </p:spPr>
        </p:sp>
      </p:grp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64428" y="2525458"/>
            <a:ext cx="514207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1359765" y="2735008"/>
            <a:ext cx="514207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2302740" y="2430208"/>
            <a:ext cx="514207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557212" y="3134563"/>
            <a:ext cx="277558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свой new на каждый ключ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4000500" y="1498854"/>
            <a:ext cx="473773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flat_hash_set </a:t>
            </a:r>
            <a:r>
              <a:rPr lang="ru-RU" sz="15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· Swiss Table</a:t>
            </a:r>
            <a:endParaRPr lang="ru-RU" sz="15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5" name="flat_prob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00500" y="1857375"/>
            <a:ext cx="4572000" cy="2338388"/>
          </a:xfrm>
          <a:prstGeom prst="rect">
            <a:avLst/>
          </a:prstGeom>
        </p:spPr>
      </p:pic>
      <p:pic>
        <p:nvPicPr>
          <p:cNvPr id="126" name="Picture 125" descr="tpl_pl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" y="3486150"/>
            <a:ext cx="266700" cy="266700"/>
          </a:xfrm>
          <a:prstGeom prst="rect">
            <a:avLst/>
          </a:prstGeom>
        </p:spPr>
      </p:pic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933450" y="3474539"/>
            <a:ext cx="248126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одна аллокация на всю таблицу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Picture 127" descr="tpl_min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12" y="4010025"/>
            <a:ext cx="266700" cy="266700"/>
          </a:xfrm>
          <a:prstGeom prst="rect">
            <a:avLst/>
          </a:prstGeom>
        </p:spPr>
      </p:pic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933450" y="3998414"/>
            <a:ext cx="248126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ссылки не переживают рост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4000500" y="4254637"/>
            <a:ext cx="4443412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так же:</a:t>
            </a: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map в Go ≥ 1.24, HashMap в Rust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1" name="Picture 130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1" name="Slide Number 13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6000" fill="hold"/>
                                        <p:tgtEl>
                                          <p:spTgt spid="1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50" repeatCount="indefinite" fill="hold" display="0">
                  <p:stCondLst>
                    <p:cond delay="indefinite"/>
                  </p:stCondLst>
                </p:cTn>
                <p:tgtEl>
                  <p:spTgt spid="125"/>
                </p:tgtEl>
              </p:cMediaNode>
            </p:video>
          </p:childTnLst>
        </p:cTn>
      </p:par>
    </p:tnLst>
    <p:bldLst>
      <p:bldP spid="103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7" grpId="0" animBg="1"/>
      <p:bldP spid="129" grpId="0" animBg="1"/>
      <p:bldP spid="13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РЕАЛИЗАЦИЯ ХЕША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flat_hash_set В 1,7 РАЗА БЫСТРЕЕ СОРТИРОВКИ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нс на элемент · 1M уникальных id · M2 Pro · меньше — лучше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708404"/>
            <a:ext cx="174783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Fill 105"/>
          <p:cNvSpPr/>
          <p:nvPr/>
        </p:nvSpPr>
        <p:spPr>
          <a:xfrm>
            <a:off x="2333625" y="1790700"/>
            <a:ext cx="3905250" cy="381000"/>
          </a:xfrm>
          <a:prstGeom prst="roundRect">
            <a:avLst>
              <a:gd name="adj" fmla="val 12500"/>
            </a:avLst>
          </a:prstGeom>
          <a:solidFill>
            <a:srgbClr val="E2489B"/>
          </a:solidFill>
          <a:ln>
            <a:noFill/>
          </a:ln>
        </p:spPr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6353175" y="1756448"/>
            <a:ext cx="120586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51,3</a:t>
            </a:r>
            <a:endParaRPr lang="ru-RU" sz="21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232279"/>
            <a:ext cx="174783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5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Fill 108"/>
          <p:cNvSpPr/>
          <p:nvPr/>
        </p:nvSpPr>
        <p:spPr>
          <a:xfrm>
            <a:off x="2333625" y="2314575"/>
            <a:ext cx="1514475" cy="381000"/>
          </a:xfrm>
          <a:prstGeom prst="roundRect">
            <a:avLst>
              <a:gd name="adj" fmla="val 12500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3962400" y="2280323"/>
            <a:ext cx="120586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19,9</a:t>
            </a:r>
            <a:endParaRPr lang="ru-RU" sz="21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7212" y="2756154"/>
            <a:ext cx="174783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flat_hash_set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Fill 111"/>
          <p:cNvSpPr/>
          <p:nvPr/>
        </p:nvSpPr>
        <p:spPr>
          <a:xfrm>
            <a:off x="2333625" y="2838450"/>
            <a:ext cx="890588" cy="381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3338512" y="2804198"/>
            <a:ext cx="120586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11,7</a:t>
            </a:r>
            <a:endParaRPr lang="ru-RU" sz="21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159216" y="2650808"/>
            <a:ext cx="3413284" cy="971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7500"/>
              </a:lnSpc>
              <a:spcBef>
                <a:spcPts val="0"/>
              </a:spcBef>
              <a:buNone/>
            </a:pPr>
            <a:r>
              <a:rPr lang="ru-RU" sz="7500" b="1" i="0" spc="-15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×1,7</a:t>
            </a:r>
            <a:endParaRPr lang="ru-RU" sz="7500" b="1" i="0" spc="-15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159216" y="3610813"/>
            <a:ext cx="341328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flat против sort + unique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3280029"/>
            <a:ext cx="174783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radix + unique</a:t>
            </a:r>
            <a:endParaRPr lang="ru-RU" sz="1500" b="0" i="0" dirty="0">
              <a:solidFill>
                <a:srgbClr val="9B87F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Fill 116"/>
          <p:cNvSpPr/>
          <p:nvPr/>
        </p:nvSpPr>
        <p:spPr>
          <a:xfrm>
            <a:off x="2333625" y="3438525"/>
            <a:ext cx="523875" cy="228600"/>
          </a:xfrm>
          <a:prstGeom prst="roundRect">
            <a:avLst>
              <a:gd name="adj" fmla="val 20833"/>
            </a:avLst>
          </a:prstGeom>
          <a:solidFill>
            <a:srgbClr val="9B87F5"/>
          </a:solidFill>
          <a:ln>
            <a:noFill/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2971800" y="3328073"/>
            <a:ext cx="120586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6,9</a:t>
            </a:r>
            <a:endParaRPr lang="ru-RU" sz="21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Fill 118"/>
          <p:cNvSpPr/>
          <p:nvPr/>
        </p:nvSpPr>
        <p:spPr>
          <a:xfrm>
            <a:off x="557212" y="4057650"/>
            <a:ext cx="304800" cy="304800"/>
          </a:xfrm>
          <a:prstGeom prst="ellipse">
            <a:avLst/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552450" y="4013454"/>
            <a:ext cx="314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lang="ru-RU" sz="15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971550" y="4073662"/>
            <a:ext cx="5424488" cy="44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 проходов по байту ключа, без сравнений — только для целых ключей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" name="Picture 1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1" name="Slide Number 12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6" grpId="0" animBg="1"/>
      <p:bldP spid="107" grpId="0" animBg="1"/>
      <p:bldP spid="109" grpId="0" animBg="1"/>
      <p:bldP spid="110" grpId="0" animBg="1"/>
      <p:bldP spid="112" grpId="0" animBg="1"/>
      <p:bldP spid="113" grpId="0" animBg="1"/>
      <p:bldP spid="114" grpId="0" animBg="1"/>
      <p:bldP spid="115" grpId="0" animBg="1"/>
      <p:bldP spid="117" grpId="0" animBg="1"/>
      <p:bldP spid="119" grpId="0" animBg="1"/>
      <p:bldP spid="120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СТАВКА №2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· РАУНД 3 ИЗ 4 · ДАННЫЕ И ТИКЕТ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СОРТИРОВКА ИЛИ ХЕШ?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277188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точка отсчёта — ставка №1: миллион id, все разные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508379"/>
            <a:ext cx="17240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5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Fill 105"/>
          <p:cNvSpPr/>
          <p:nvPr/>
        </p:nvSpPr>
        <p:spPr>
          <a:xfrm>
            <a:off x="2286000" y="1600200"/>
            <a:ext cx="1428750" cy="285750"/>
          </a:xfrm>
          <a:prstGeom prst="roundRect">
            <a:avLst>
              <a:gd name="adj" fmla="val 16666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3810000" y="1534782"/>
            <a:ext cx="10096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1937004"/>
            <a:ext cx="17240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Fill 108"/>
          <p:cNvSpPr/>
          <p:nvPr/>
        </p:nvSpPr>
        <p:spPr>
          <a:xfrm>
            <a:off x="2286000" y="2028825"/>
            <a:ext cx="3643312" cy="285750"/>
          </a:xfrm>
          <a:prstGeom prst="roundRect">
            <a:avLst>
              <a:gd name="adj" fmla="val 16666"/>
            </a:avLst>
          </a:prstGeom>
          <a:solidFill>
            <a:srgbClr val="E2489B"/>
          </a:solidFill>
          <a:ln>
            <a:noFill/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6024562" y="1963407"/>
            <a:ext cx="10096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51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6974205" y="1764220"/>
            <a:ext cx="159829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345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×2,6</a:t>
            </a:r>
            <a:endParaRPr lang="ru-RU" sz="30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2756992"/>
            <a:ext cx="5424488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225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Тот же миллион.</a:t>
            </a:r>
            <a:br>
              <a:rPr lang="ru-RU" sz="27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27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Уникальных — </a:t>
            </a:r>
            <a:r>
              <a:rPr lang="ru-RU" sz="27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1%</a:t>
            </a:r>
            <a:r>
              <a:rPr lang="ru-RU" sz="27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ru-RU" sz="27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57212" y="3709492"/>
            <a:ext cx="49339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225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Кто впереди?</a:t>
            </a:r>
            <a:endParaRPr lang="ru-RU" sz="27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Box 113"/>
          <p:cNvSpPr/>
          <p:nvPr/>
        </p:nvSpPr>
        <p:spPr>
          <a:xfrm>
            <a:off x="5534025" y="2867025"/>
            <a:ext cx="1409700" cy="131445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 w="19050">
            <a:solidFill>
              <a:srgbClr val="46CDAE"/>
            </a:solidFill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519738" y="3308642"/>
            <a:ext cx="1438275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5" name="Box 115"/>
          <p:cNvSpPr/>
          <p:nvPr/>
        </p:nvSpPr>
        <p:spPr>
          <a:xfrm>
            <a:off x="7167562" y="2867025"/>
            <a:ext cx="1409700" cy="1314450"/>
          </a:xfrm>
          <a:prstGeom prst="roundRect">
            <a:avLst>
              <a:gd name="adj" fmla="val 8571"/>
            </a:avLst>
          </a:prstGeom>
          <a:solidFill>
            <a:srgbClr val="000000"/>
          </a:solidFill>
          <a:ln w="19050">
            <a:solidFill>
              <a:srgbClr val="E2489B"/>
            </a:solidFill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7153275" y="3308642"/>
            <a:ext cx="1438275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хеш</a:t>
            </a:r>
            <a:endParaRPr lang="ru-RU" sz="3600" b="1" i="0" spc="-38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7" name="Picture 11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7" name="Slide Number 11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6" grpId="0" animBg="1"/>
      <p:bldP spid="107" grpId="0" animBg="1"/>
      <p:bldP spid="109" grpId="0" animBg="1"/>
      <p:bldP spid="110" grpId="0" animBg="1"/>
      <p:bldP spid="111" grpId="0" animBg="1"/>
      <p:bldP spid="112" grpId="0" animBg="1"/>
      <p:bldP spid="114" grpId="0" animBg="1"/>
      <p:bldP spid="116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ДАННЫЕ И ТИКЕТ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ПОБЕДИТЕЛЯ НАЗНАЧАЮТ ДАННЫЕ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334338"/>
            <a:ext cx="59150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нс на элемент, лог. шкала · ниже — лучше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 xmlns:p14="http://schemas.microsoft.com/office/powerpoint/2010/main">
        <p:nvGrpSpPr>
          <p:cNvPr id="108" name="Chart 108"/>
          <p:cNvGrpSpPr/>
          <p:nvPr/>
        </p:nvGrpSpPr>
        <p:grpSpPr>
          <a:xfrm>
            <a:off x="914400" y="1861840"/>
            <a:ext cx="5625703" cy="1451122"/>
            <a:chOff x="914400" y="1861840"/>
            <a:chExt cx="5625703" cy="1451122"/>
          </a:xfrm>
        </p:grpSpPr>
        <p:sp>
          <p:nvSpPr>
            <p:cNvPr id="104" name="Line 104"/>
            <p:cNvSpPr/>
            <p:nvPr/>
          </p:nvSpPr>
          <p:spPr>
            <a:xfrm>
              <a:off x="914400" y="2844105"/>
              <a:ext cx="5625703" cy="48"/>
            </a:xfrm>
            <a:custGeom>
              <a:avLst/>
              <a:gdLst/>
              <a:ahLst/>
              <a:cxnLst/>
              <a:rect l="0" t="0" r="r" b="b"/>
              <a:pathLst>
                <a:path w="5625703" h="1" fill="none">
                  <a:moveTo>
                    <a:pt x="0" y="0"/>
                  </a:moveTo>
                  <a:lnTo>
                    <a:pt x="5625703" y="0"/>
                  </a:lnTo>
                </a:path>
              </a:pathLst>
            </a:custGeom>
            <a:noFill/>
            <a:ln w="8930">
              <a:solidFill>
                <a:srgbClr val="333333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914400" y="2330648"/>
              <a:ext cx="5625703" cy="48"/>
            </a:xfrm>
            <a:custGeom>
              <a:avLst/>
              <a:gdLst/>
              <a:ahLst/>
              <a:cxnLst/>
              <a:rect l="0" t="0" r="r" b="b"/>
              <a:pathLst>
                <a:path w="5625703" h="1" fill="none">
                  <a:moveTo>
                    <a:pt x="0" y="0"/>
                  </a:moveTo>
                  <a:lnTo>
                    <a:pt x="5625703" y="0"/>
                  </a:lnTo>
                </a:path>
              </a:pathLst>
            </a:custGeom>
            <a:noFill/>
            <a:ln w="8930">
              <a:solidFill>
                <a:srgbClr val="333333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914400" y="1861840"/>
              <a:ext cx="5625703" cy="48"/>
            </a:xfrm>
            <a:custGeom>
              <a:avLst/>
              <a:gdLst/>
              <a:ahLst/>
              <a:cxnLst/>
              <a:rect l="0" t="0" r="r" b="b"/>
              <a:pathLst>
                <a:path w="5625703" h="1" fill="none">
                  <a:moveTo>
                    <a:pt x="0" y="0"/>
                  </a:moveTo>
                  <a:lnTo>
                    <a:pt x="5625703" y="0"/>
                  </a:lnTo>
                </a:path>
              </a:pathLst>
            </a:custGeom>
            <a:noFill/>
            <a:ln w="8930">
              <a:solidFill>
                <a:srgbClr val="333333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914400" y="3312914"/>
              <a:ext cx="5625703" cy="48"/>
            </a:xfrm>
            <a:custGeom>
              <a:avLst/>
              <a:gdLst/>
              <a:ahLst/>
              <a:cxnLst/>
              <a:rect l="0" t="0" r="r" b="b"/>
              <a:pathLst>
                <a:path w="5625703" h="1" fill="none">
                  <a:moveTo>
                    <a:pt x="0" y="0"/>
                  </a:moveTo>
                  <a:lnTo>
                    <a:pt x="5625703" y="0"/>
                  </a:lnTo>
                </a:path>
              </a:pathLst>
            </a:custGeom>
            <a:noFill/>
            <a:ln w="13395">
              <a:solidFill>
                <a:srgbClr val="8F8F8F"/>
              </a:solidFill>
            </a:ln>
          </p:spPr>
        </p:sp>
      </p:grp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36245" y="3210763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436245" y="2739276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436245" y="2224926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36245" y="1758201"/>
            <a:ext cx="42100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36734" y="3401263"/>
            <a:ext cx="110775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все равны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2026920" y="3401263"/>
            <a:ext cx="81343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1%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3365182" y="3401263"/>
            <a:ext cx="81343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10%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4703445" y="3401263"/>
            <a:ext cx="81343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50%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6062662" y="3401263"/>
            <a:ext cx="77152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100%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6858000" y="3401263"/>
            <a:ext cx="1809226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доля уникальных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 xmlns:p14="http://schemas.microsoft.com/office/powerpoint/2010/main">
        <p:nvGrpSpPr>
          <p:cNvPr id="124" name="Chart 124"/>
          <p:cNvGrpSpPr/>
          <p:nvPr/>
        </p:nvGrpSpPr>
        <p:grpSpPr>
          <a:xfrm>
            <a:off x="1092994" y="1630561"/>
            <a:ext cx="5357812" cy="1604665"/>
            <a:chOff x="1092994" y="1630561"/>
            <a:chExt cx="5357812" cy="1604665"/>
          </a:xfrm>
        </p:grpSpPr>
        <p:sp>
          <p:nvSpPr>
            <p:cNvPr id="119" name="Line 119"/>
            <p:cNvSpPr/>
            <p:nvPr/>
          </p:nvSpPr>
          <p:spPr>
            <a:xfrm>
              <a:off x="1092994" y="2027932"/>
              <a:ext cx="5357812" cy="1207294"/>
            </a:xfrm>
            <a:custGeom>
              <a:avLst/>
              <a:gdLst/>
              <a:ahLst/>
              <a:cxnLst/>
              <a:rect l="0" t="0" r="r" b="b"/>
              <a:pathLst>
                <a:path w="5357812" h="1207294" fill="none">
                  <a:moveTo>
                    <a:pt x="0" y="1207294"/>
                  </a:moveTo>
                  <a:lnTo>
                    <a:pt x="1339453" y="225028"/>
                  </a:lnTo>
                  <a:lnTo>
                    <a:pt x="2678906" y="57150"/>
                  </a:lnTo>
                  <a:lnTo>
                    <a:pt x="4018359" y="0"/>
                  </a:lnTo>
                  <a:lnTo>
                    <a:pt x="5357812" y="12055"/>
                  </a:lnTo>
                </a:path>
              </a:pathLst>
            </a:custGeom>
            <a:noFill/>
            <a:ln w="35719" cap="rnd">
              <a:solidFill>
                <a:srgbClr val="46CDAE"/>
              </a:solidFill>
              <a:round/>
            </a:ln>
          </p:spPr>
        </p:sp>
        <p:sp>
          <p:nvSpPr>
            <p:cNvPr id="120" name="Line 120"/>
            <p:cNvSpPr/>
            <p:nvPr/>
          </p:nvSpPr>
          <p:spPr>
            <a:xfrm>
              <a:off x="1092994" y="1630561"/>
              <a:ext cx="5357812" cy="1387673"/>
            </a:xfrm>
            <a:custGeom>
              <a:avLst/>
              <a:gdLst/>
              <a:ahLst/>
              <a:cxnLst/>
              <a:rect l="0" t="0" r="r" b="b"/>
              <a:pathLst>
                <a:path w="5357812" h="1387673" fill="none">
                  <a:moveTo>
                    <a:pt x="0" y="1387673"/>
                  </a:moveTo>
                  <a:lnTo>
                    <a:pt x="1339453" y="1183184"/>
                  </a:lnTo>
                  <a:lnTo>
                    <a:pt x="2678906" y="884039"/>
                  </a:lnTo>
                  <a:lnTo>
                    <a:pt x="4018359" y="343793"/>
                  </a:lnTo>
                  <a:lnTo>
                    <a:pt x="5357812" y="0"/>
                  </a:lnTo>
                </a:path>
              </a:pathLst>
            </a:custGeom>
            <a:noFill/>
            <a:ln w="35719" cap="rnd">
              <a:solidFill>
                <a:srgbClr val="E2489B"/>
              </a:solidFill>
              <a:round/>
            </a:ln>
          </p:spPr>
        </p:sp>
        <p:sp>
          <p:nvSpPr>
            <p:cNvPr id="121" name="Line 121"/>
            <p:cNvSpPr/>
            <p:nvPr/>
          </p:nvSpPr>
          <p:spPr>
            <a:xfrm>
              <a:off x="2432447" y="2303859"/>
              <a:ext cx="48" cy="455414"/>
            </a:xfrm>
            <a:custGeom>
              <a:avLst/>
              <a:gdLst/>
              <a:ahLst/>
              <a:cxnLst/>
              <a:rect l="0" t="0" r="r" b="b"/>
              <a:pathLst>
                <a:path w="1" h="455414" fill="none">
                  <a:moveTo>
                    <a:pt x="0" y="0"/>
                  </a:moveTo>
                  <a:lnTo>
                    <a:pt x="0" y="455414"/>
                  </a:lnTo>
                </a:path>
              </a:pathLst>
            </a:custGeom>
            <a:noFill/>
            <a:ln w="13395">
              <a:solidFill>
                <a:srgbClr val="FFFFFF"/>
              </a:solidFill>
              <a:custDash>
                <a:ds d="200000" sp="200000"/>
              </a:custDash>
            </a:ln>
          </p:spPr>
        </p:sp>
        <p:sp>
          <p:nvSpPr>
            <p:cNvPr id="122" name="Dot 122"/>
            <p:cNvSpPr/>
            <p:nvPr/>
          </p:nvSpPr>
          <p:spPr>
            <a:xfrm>
              <a:off x="2383334" y="2203847"/>
              <a:ext cx="98227" cy="98227"/>
            </a:xfrm>
            <a:prstGeom prst="ellipse">
              <a:avLst/>
            </a:prstGeom>
            <a:solidFill>
              <a:srgbClr val="46CDAE"/>
            </a:solidFill>
            <a:ln w="13395">
              <a:solidFill>
                <a:srgbClr val="000000"/>
              </a:solidFill>
            </a:ln>
          </p:spPr>
        </p:sp>
        <p:sp>
          <p:nvSpPr>
            <p:cNvPr id="123" name="Dot 123"/>
            <p:cNvSpPr/>
            <p:nvPr/>
          </p:nvSpPr>
          <p:spPr>
            <a:xfrm>
              <a:off x="2383334" y="2764631"/>
              <a:ext cx="98227" cy="98227"/>
            </a:xfrm>
            <a:prstGeom prst="ellipse">
              <a:avLst/>
            </a:prstGeom>
            <a:solidFill>
              <a:srgbClr val="E2489B"/>
            </a:solidFill>
            <a:ln w="13395">
              <a:solidFill>
                <a:srgbClr val="000000"/>
              </a:solidFill>
            </a:ln>
          </p:spPr>
        </p:sp>
      </p:grp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6762750" y="1528515"/>
            <a:ext cx="190733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35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6762750" y="1899990"/>
            <a:ext cx="190733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35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7" name="Box 127"/>
          <p:cNvSpPr/>
          <p:nvPr/>
        </p:nvSpPr>
        <p:spPr>
          <a:xfrm>
            <a:off x="1774031" y="3721894"/>
            <a:ext cx="1414462" cy="366712"/>
          </a:xfrm>
          <a:prstGeom prst="roundRect">
            <a:avLst>
              <a:gd name="adj" fmla="val 20000"/>
            </a:avLst>
          </a:prstGeom>
          <a:solidFill>
            <a:srgbClr val="5E1C42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28" name="Text 128"/>
          <p:cNvSpPr txBox="1"/>
          <p:nvPr/>
        </p:nvSpPr>
        <p:spPr>
          <a:xfrm>
            <a:off x="1776412" y="3659943"/>
            <a:ext cx="14097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хеш ×3,7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 xmlns:p14="http://schemas.microsoft.com/office/powerpoint/2010/main">
        <p:nvGrpSpPr>
          <p:cNvPr id="134" name="Chart 134"/>
          <p:cNvGrpSpPr/>
          <p:nvPr/>
        </p:nvGrpSpPr>
        <p:grpSpPr>
          <a:xfrm>
            <a:off x="5062240" y="1581448"/>
            <a:ext cx="1437680" cy="507653"/>
            <a:chOff x="5062240" y="1581448"/>
            <a:chExt cx="1437680" cy="507653"/>
          </a:xfrm>
        </p:grpSpPr>
        <p:sp>
          <p:nvSpPr>
            <p:cNvPr id="129" name="Dot 129"/>
            <p:cNvSpPr/>
            <p:nvPr/>
          </p:nvSpPr>
          <p:spPr>
            <a:xfrm>
              <a:off x="5062240" y="1978819"/>
              <a:ext cx="98227" cy="98227"/>
            </a:xfrm>
            <a:prstGeom prst="ellipse">
              <a:avLst/>
            </a:prstGeom>
            <a:solidFill>
              <a:srgbClr val="46CDAE"/>
            </a:solidFill>
            <a:ln w="13395">
              <a:solidFill>
                <a:srgbClr val="000000"/>
              </a:solidFill>
            </a:ln>
          </p:spPr>
        </p:sp>
        <p:sp>
          <p:nvSpPr>
            <p:cNvPr id="130" name="Dot 130"/>
            <p:cNvSpPr/>
            <p:nvPr/>
          </p:nvSpPr>
          <p:spPr>
            <a:xfrm>
              <a:off x="5062240" y="1925241"/>
              <a:ext cx="98227" cy="98227"/>
            </a:xfrm>
            <a:prstGeom prst="ellipse">
              <a:avLst/>
            </a:prstGeom>
            <a:solidFill>
              <a:srgbClr val="E2489B"/>
            </a:solidFill>
            <a:ln w="13395">
              <a:solidFill>
                <a:srgbClr val="000000"/>
              </a:solidFill>
            </a:ln>
          </p:spPr>
        </p:sp>
        <p:sp>
          <p:nvSpPr>
            <p:cNvPr id="131" name="Line 131"/>
            <p:cNvSpPr/>
            <p:nvPr/>
          </p:nvSpPr>
          <p:spPr>
            <a:xfrm>
              <a:off x="6450806" y="1687711"/>
              <a:ext cx="48" cy="294680"/>
            </a:xfrm>
            <a:custGeom>
              <a:avLst/>
              <a:gdLst/>
              <a:ahLst/>
              <a:cxnLst/>
              <a:rect l="0" t="0" r="r" b="b"/>
              <a:pathLst>
                <a:path w="1" h="294680" fill="none">
                  <a:moveTo>
                    <a:pt x="0" y="0"/>
                  </a:moveTo>
                  <a:lnTo>
                    <a:pt x="0" y="294680"/>
                  </a:lnTo>
                </a:path>
              </a:pathLst>
            </a:custGeom>
            <a:noFill/>
            <a:ln w="13395">
              <a:solidFill>
                <a:srgbClr val="FFFFFF"/>
              </a:solidFill>
              <a:custDash>
                <a:ds d="200000" sp="200000"/>
              </a:custDash>
            </a:ln>
          </p:spPr>
        </p:sp>
        <p:sp>
          <p:nvSpPr>
            <p:cNvPr id="132" name="Dot 132"/>
            <p:cNvSpPr/>
            <p:nvPr/>
          </p:nvSpPr>
          <p:spPr>
            <a:xfrm>
              <a:off x="6401693" y="1990874"/>
              <a:ext cx="98227" cy="98227"/>
            </a:xfrm>
            <a:prstGeom prst="ellipse">
              <a:avLst/>
            </a:prstGeom>
            <a:solidFill>
              <a:srgbClr val="46CDAE"/>
            </a:solidFill>
            <a:ln w="13395">
              <a:solidFill>
                <a:srgbClr val="000000"/>
              </a:solidFill>
            </a:ln>
          </p:spPr>
        </p:sp>
        <p:sp>
          <p:nvSpPr>
            <p:cNvPr id="133" name="Dot 133"/>
            <p:cNvSpPr/>
            <p:nvPr/>
          </p:nvSpPr>
          <p:spPr>
            <a:xfrm>
              <a:off x="6401693" y="1581448"/>
              <a:ext cx="98227" cy="98227"/>
            </a:xfrm>
            <a:prstGeom prst="ellipse">
              <a:avLst/>
            </a:prstGeom>
            <a:solidFill>
              <a:srgbClr val="E2489B"/>
            </a:solidFill>
            <a:ln w="13395">
              <a:solidFill>
                <a:srgbClr val="000000"/>
              </a:solidFill>
            </a:ln>
          </p:spPr>
        </p:sp>
      </p:grpSp>
      <p:sp xmlns:p14="http://schemas.microsoft.com/office/powerpoint/2010/main">
        <p:nvSpPr>
          <p:cNvPr id="135" name="Text 135"/>
          <p:cNvSpPr txBox="1"/>
          <p:nvPr/>
        </p:nvSpPr>
        <p:spPr>
          <a:xfrm>
            <a:off x="4458176" y="3671640"/>
            <a:ext cx="130397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почти ничья</a:t>
            </a:r>
            <a:b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35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 против 23</a:t>
            </a:r>
            <a:endParaRPr lang="ru-RU" sz="135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6" name="Box 136"/>
          <p:cNvSpPr/>
          <p:nvPr/>
        </p:nvSpPr>
        <p:spPr>
          <a:xfrm>
            <a:off x="5741194" y="3721894"/>
            <a:ext cx="1414462" cy="366712"/>
          </a:xfrm>
          <a:prstGeom prst="roundRect">
            <a:avLst>
              <a:gd name="adj" fmla="val 20000"/>
            </a:avLst>
          </a:prstGeom>
          <a:solidFill>
            <a:srgbClr val="174F45"/>
          </a:solidFill>
          <a:ln w="14288">
            <a:solidFill>
              <a:srgbClr val="46CDAE"/>
            </a:solidFill>
          </a:ln>
        </p:spPr>
      </p:sp>
      <p:sp xmlns:p14="http://schemas.microsoft.com/office/powerpoint/2010/main">
        <p:nvSpPr>
          <p:cNvPr id="137" name="Text 137"/>
          <p:cNvSpPr txBox="1"/>
          <p:nvPr/>
        </p:nvSpPr>
        <p:spPr>
          <a:xfrm>
            <a:off x="5743575" y="3659943"/>
            <a:ext cx="14097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sort ×2,6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 xmlns:p14="http://schemas.microsoft.com/office/powerpoint/2010/main">
        <p:nvGrpSpPr>
          <p:cNvPr id="140" name="Chart 140"/>
          <p:cNvGrpSpPr/>
          <p:nvPr/>
        </p:nvGrpSpPr>
        <p:grpSpPr>
          <a:xfrm>
            <a:off x="1092994" y="2150715"/>
            <a:ext cx="5357812" cy="773311"/>
            <a:chOff x="1092994" y="2150715"/>
            <a:chExt cx="5357812" cy="773311"/>
          </a:xfrm>
        </p:grpSpPr>
        <p:sp>
          <p:nvSpPr>
            <p:cNvPr id="138" name="Line 138"/>
            <p:cNvSpPr/>
            <p:nvPr/>
          </p:nvSpPr>
          <p:spPr>
            <a:xfrm>
              <a:off x="1092994" y="2150715"/>
              <a:ext cx="5357812" cy="773311"/>
            </a:xfrm>
            <a:custGeom>
              <a:avLst/>
              <a:gdLst/>
              <a:ahLst/>
              <a:cxnLst/>
              <a:rect l="0" t="0" r="r" b="b"/>
              <a:pathLst>
                <a:path w="5357812" h="773311" fill="none">
                  <a:moveTo>
                    <a:pt x="0" y="773311"/>
                  </a:moveTo>
                  <a:lnTo>
                    <a:pt x="1339453" y="0"/>
                  </a:lnTo>
                  <a:lnTo>
                    <a:pt x="2678906" y="36612"/>
                  </a:lnTo>
                  <a:lnTo>
                    <a:pt x="4018359" y="175915"/>
                  </a:lnTo>
                  <a:lnTo>
                    <a:pt x="5357812" y="339775"/>
                  </a:lnTo>
                </a:path>
              </a:pathLst>
            </a:custGeom>
            <a:noFill/>
            <a:ln w="17859" cap="rnd">
              <a:solidFill>
                <a:srgbClr val="9B87F5"/>
              </a:solidFill>
              <a:round/>
            </a:ln>
          </p:spPr>
        </p:sp>
        <p:sp>
          <p:nvSpPr>
            <p:cNvPr id="139" name="Line 139"/>
            <p:cNvSpPr/>
            <p:nvPr/>
          </p:nvSpPr>
          <p:spPr>
            <a:xfrm>
              <a:off x="1092994" y="2260997"/>
              <a:ext cx="5357812" cy="601861"/>
            </a:xfrm>
            <a:custGeom>
              <a:avLst/>
              <a:gdLst/>
              <a:ahLst/>
              <a:cxnLst/>
              <a:rect l="0" t="0" r="r" b="b"/>
              <a:pathLst>
                <a:path w="5357812" h="601861" fill="none">
                  <a:moveTo>
                    <a:pt x="0" y="601861"/>
                  </a:moveTo>
                  <a:lnTo>
                    <a:pt x="1339453" y="507653"/>
                  </a:lnTo>
                  <a:lnTo>
                    <a:pt x="2678906" y="319236"/>
                  </a:lnTo>
                  <a:lnTo>
                    <a:pt x="4018359" y="0"/>
                  </a:lnTo>
                  <a:lnTo>
                    <a:pt x="5357812" y="0"/>
                  </a:lnTo>
                </a:path>
              </a:pathLst>
            </a:custGeom>
            <a:noFill/>
            <a:ln w="35719" cap="rnd">
              <a:solidFill>
                <a:srgbClr val="FFFFFF"/>
              </a:solidFill>
              <a:round/>
            </a:ln>
          </p:spPr>
        </p:sp>
      </p:grpSp>
      <p:sp xmlns:p14="http://schemas.microsoft.com/office/powerpoint/2010/main">
        <p:nvSpPr>
          <p:cNvPr id="141" name="Text 141"/>
          <p:cNvSpPr txBox="1"/>
          <p:nvPr/>
        </p:nvSpPr>
        <p:spPr>
          <a:xfrm>
            <a:off x="6762750" y="2147640"/>
            <a:ext cx="190733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flat_hash_set</a:t>
            </a:r>
            <a:endParaRPr lang="ru-RU" sz="13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42" name="Text 142"/>
          <p:cNvSpPr txBox="1"/>
          <p:nvPr/>
        </p:nvSpPr>
        <p:spPr>
          <a:xfrm>
            <a:off x="6762750" y="2395290"/>
            <a:ext cx="190733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radix + unique</a:t>
            </a:r>
            <a:endParaRPr lang="ru-RU" sz="1350" b="0" i="0" dirty="0">
              <a:solidFill>
                <a:srgbClr val="9B87F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43" name="Picture 14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43" name="Slide Number 14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6" grpId="0" animBg="1"/>
      <p:bldP spid="128" grpId="0" animBg="1"/>
      <p:bldP spid="135" grpId="0" animBg="1"/>
      <p:bldP spid="137" grpId="0" animBg="1"/>
      <p:bldP spid="141" grpId="0" animBg="1"/>
      <p:bldP spid="142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ДАННЫЕ И ТИКЕТ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ТРЕБОВАНИЕ В ТИКЕТЕ МЕНЯЕТ ПОБЕДИТЕЛЯ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372438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что нужно на выходе · нс на элемент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Line 104"/>
          <p:cNvSpPr/>
          <p:nvPr/>
        </p:nvSpPr>
        <p:spPr>
          <a:xfrm>
            <a:off x="557212" y="16073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1687182"/>
            <a:ext cx="542448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Уникальные, порядок любой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1987687"/>
            <a:ext cx="542448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sort 20,2 · хеш 22,6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Box 107"/>
          <p:cNvSpPr/>
          <p:nvPr/>
        </p:nvSpPr>
        <p:spPr>
          <a:xfrm>
            <a:off x="6593681" y="1740694"/>
            <a:ext cx="1985962" cy="442912"/>
          </a:xfrm>
          <a:prstGeom prst="roundRect">
            <a:avLst>
              <a:gd name="adj" fmla="val 16666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6596062" y="1668132"/>
            <a:ext cx="19812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 близко</a:t>
            </a:r>
            <a:endParaRPr lang="ru-RU" sz="18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Line 109"/>
          <p:cNvSpPr/>
          <p:nvPr/>
        </p:nvSpPr>
        <p:spPr>
          <a:xfrm>
            <a:off x="557212" y="23407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7212" y="2420607"/>
            <a:ext cx="542448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Отсортированные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2721112"/>
            <a:ext cx="542448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sort 20,2 · хеш 32,6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Box 112"/>
          <p:cNvSpPr/>
          <p:nvPr/>
        </p:nvSpPr>
        <p:spPr>
          <a:xfrm>
            <a:off x="6593681" y="2474119"/>
            <a:ext cx="1985962" cy="442912"/>
          </a:xfrm>
          <a:prstGeom prst="roundRect">
            <a:avLst>
              <a:gd name="adj" fmla="val 16666"/>
            </a:avLst>
          </a:prstGeom>
          <a:solidFill>
            <a:srgbClr val="174F45"/>
          </a:solidFill>
          <a:ln w="14288">
            <a:solidFill>
              <a:srgbClr val="46CDAE"/>
            </a:solidFill>
          </a:ln>
        </p:spPr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596062" y="2401557"/>
            <a:ext cx="19812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sort ×1,6</a:t>
            </a:r>
            <a:endParaRPr lang="ru-RU" sz="18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4" name="Line 114"/>
          <p:cNvSpPr/>
          <p:nvPr/>
        </p:nvSpPr>
        <p:spPr>
          <a:xfrm>
            <a:off x="557212" y="30741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3154032"/>
            <a:ext cx="542448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 порядке первого появления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557212" y="3454537"/>
            <a:ext cx="542448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sort 74,6 · хеш 22,0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7" name="Box 117"/>
          <p:cNvSpPr/>
          <p:nvPr/>
        </p:nvSpPr>
        <p:spPr>
          <a:xfrm>
            <a:off x="6593681" y="3207544"/>
            <a:ext cx="1985962" cy="442912"/>
          </a:xfrm>
          <a:prstGeom prst="roundRect">
            <a:avLst>
              <a:gd name="adj" fmla="val 16666"/>
            </a:avLst>
          </a:prstGeom>
          <a:solidFill>
            <a:srgbClr val="5E1C42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6596062" y="3134982"/>
            <a:ext cx="19812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хеш ×3,4</a:t>
            </a:r>
            <a:endParaRPr lang="ru-RU" sz="18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Box 119"/>
          <p:cNvSpPr/>
          <p:nvPr/>
        </p:nvSpPr>
        <p:spPr>
          <a:xfrm>
            <a:off x="566738" y="3848100"/>
            <a:ext cx="8010525" cy="600075"/>
          </a:xfrm>
          <a:prstGeom prst="roundRect">
            <a:avLst>
              <a:gd name="adj" fmla="val 15384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747712" y="3902078"/>
            <a:ext cx="77914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«Порядок любой» = любой </a:t>
            </a:r>
            <a:r>
              <a:rPr lang="ru-RU" sz="1425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каждый раз</a:t>
            </a:r>
            <a:r>
              <a:rPr lang="ru-RU" sz="14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</a:t>
            </a:r>
            <a:br>
              <a:rPr lang="ru-RU" sz="14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4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flat_hash_set, Set в Swift и map в Go меняют его от запуска к запуску</a:t>
            </a:r>
            <a:endParaRPr lang="ru-RU" sz="142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1" name="Picture 12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1" name="Slide Number 12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8" grpId="0" animBg="1"/>
      <p:bldP spid="110" grpId="0" animBg="1"/>
      <p:bldP spid="111" grpId="0" animBg="1"/>
      <p:bldP spid="113" grpId="0" animBg="1"/>
      <p:bldP spid="115" grpId="0" animBg="1"/>
      <p:bldP spid="116" grpId="0" animBg="1"/>
      <p:bldP spid="118" grpId="0" animBg="1"/>
      <p:bldP spid="12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ДАННЫЕ И ТИКЕТ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ОТСОРТИРОВАННЫЙ ВХОД: sort + unique В 8 РАЗ БЫСТРЕЕ ХЕША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0063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те же ключи и повторы, другой порядок входа · нс на элемент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Line 104"/>
          <p:cNvSpPr/>
          <p:nvPr/>
        </p:nvSpPr>
        <p:spPr>
          <a:xfrm>
            <a:off x="557212" y="17216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1830057"/>
            <a:ext cx="542448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Случайный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2130562"/>
            <a:ext cx="542448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sort 20,2 · хеш 22,6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Box 107"/>
          <p:cNvSpPr/>
          <p:nvPr/>
        </p:nvSpPr>
        <p:spPr>
          <a:xfrm>
            <a:off x="6593681" y="1883569"/>
            <a:ext cx="1985962" cy="442912"/>
          </a:xfrm>
          <a:prstGeom prst="roundRect">
            <a:avLst>
              <a:gd name="adj" fmla="val 16666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6596062" y="1811007"/>
            <a:ext cx="19812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 близко</a:t>
            </a:r>
            <a:endParaRPr lang="ru-RU" sz="18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Line 109"/>
          <p:cNvSpPr/>
          <p:nvPr/>
        </p:nvSpPr>
        <p:spPr>
          <a:xfrm>
            <a:off x="557212" y="25026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7212" y="2611107"/>
            <a:ext cx="542448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Сериями одинаковых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2911612"/>
            <a:ext cx="542448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sort 20,5 · хеш 15,5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Box 112"/>
          <p:cNvSpPr/>
          <p:nvPr/>
        </p:nvSpPr>
        <p:spPr>
          <a:xfrm>
            <a:off x="6593681" y="2664619"/>
            <a:ext cx="1985962" cy="442912"/>
          </a:xfrm>
          <a:prstGeom prst="roundRect">
            <a:avLst>
              <a:gd name="adj" fmla="val 16666"/>
            </a:avLst>
          </a:prstGeom>
          <a:solidFill>
            <a:srgbClr val="5E1C42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596062" y="2592057"/>
            <a:ext cx="19812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хеш ×1,3</a:t>
            </a:r>
            <a:endParaRPr lang="ru-RU" sz="18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4" name="Line 114"/>
          <p:cNvSpPr/>
          <p:nvPr/>
        </p:nvSpPr>
        <p:spPr>
          <a:xfrm>
            <a:off x="557212" y="32837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3392157"/>
            <a:ext cx="4443412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Уже отсортированный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Fill 116"/>
          <p:cNvSpPr/>
          <p:nvPr/>
        </p:nvSpPr>
        <p:spPr>
          <a:xfrm>
            <a:off x="3667125" y="3409950"/>
            <a:ext cx="304800" cy="304800"/>
          </a:xfrm>
          <a:prstGeom prst="ellipse">
            <a:avLst/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3662362" y="3365754"/>
            <a:ext cx="314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15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557212" y="3692662"/>
            <a:ext cx="542448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sort 2,0 · хеш 16,5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Fill 119"/>
          <p:cNvSpPr/>
          <p:nvPr/>
        </p:nvSpPr>
        <p:spPr>
          <a:xfrm>
            <a:off x="6586538" y="3438525"/>
            <a:ext cx="2000250" cy="457200"/>
          </a:xfrm>
          <a:prstGeom prst="roundRect">
            <a:avLst>
              <a:gd name="adj" fmla="val 16666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6581775" y="3366173"/>
            <a:ext cx="20097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×8</a:t>
            </a:r>
            <a:endParaRPr lang="ru-RU" sz="21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557212" y="4073662"/>
            <a:ext cx="5669756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libc++: ≈2 сравнения на элемент вместо ≈22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6041755" y="4073662"/>
            <a:ext cx="2545032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libstdc++ так не делает</a:t>
            </a:r>
            <a:endParaRPr lang="ru-RU" sz="1275" b="0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Picture 12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3" name="Slide Number 12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8" grpId="0" animBg="1"/>
      <p:bldP spid="110" grpId="0" animBg="1"/>
      <p:bldP spid="111" grpId="0" animBg="1"/>
      <p:bldP spid="113" grpId="0" animBg="1"/>
      <p:bldP spid="115" grpId="0" animBg="1"/>
      <p:bldP spid="117" grpId="0" animBg="1"/>
      <p:bldP spid="118" grpId="0" animBg="1"/>
      <p:bldP spid="120" grpId="0" animBg="1"/>
      <p:bldP spid="121" grpId="0" animBg="1"/>
      <p:bldP spid="122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ДАННЫЕ И ТИКЕТ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ЛУЧШИЙ ОТВЕТ: ОТСОРТИРОВАТЬ ДЕЛЬТУ И СЛИТЬ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 xmlns:p14="http://schemas.microsoft.com/office/powerpoint/2010/main">
        <p:nvGrpSpPr>
          <p:cNvPr id="106" name="Chart 106"/>
          <p:cNvGrpSpPr/>
          <p:nvPr/>
        </p:nvGrpSpPr>
        <p:grpSpPr>
          <a:xfrm>
            <a:off x="557212" y="1476375"/>
            <a:ext cx="6010275" cy="619125"/>
            <a:chOff x="557212" y="1476375"/>
            <a:chExt cx="6010275" cy="619125"/>
          </a:xfrm>
        </p:grpSpPr>
        <p:sp>
          <p:nvSpPr>
            <p:cNvPr id="103" name="Line 103"/>
            <p:cNvSpPr/>
            <p:nvPr/>
          </p:nvSpPr>
          <p:spPr>
            <a:xfrm>
              <a:off x="557212" y="1476375"/>
              <a:ext cx="1952625" cy="619125"/>
            </a:xfrm>
            <a:custGeom>
              <a:avLst/>
              <a:gdLst/>
              <a:ahLst/>
              <a:cxnLst/>
              <a:rect l="0" t="0" r="r" b="b"/>
              <a:pathLst>
                <a:path w="1952625" h="619125">
                  <a:moveTo>
                    <a:pt x="0" y="0"/>
                  </a:moveTo>
                  <a:lnTo>
                    <a:pt x="1714500" y="0"/>
                  </a:lnTo>
                  <a:lnTo>
                    <a:pt x="1952625" y="309562"/>
                  </a:lnTo>
                  <a:lnTo>
                    <a:pt x="1714500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46CDAE"/>
            </a:solidFill>
            <a:ln>
              <a:noFill/>
            </a:ln>
          </p:spPr>
        </p:sp>
        <p:sp>
          <p:nvSpPr>
            <p:cNvPr id="104" name="Line 104"/>
            <p:cNvSpPr/>
            <p:nvPr/>
          </p:nvSpPr>
          <p:spPr>
            <a:xfrm>
              <a:off x="2443162" y="1476375"/>
              <a:ext cx="1952625" cy="619125"/>
            </a:xfrm>
            <a:custGeom>
              <a:avLst/>
              <a:gdLst/>
              <a:ahLst/>
              <a:cxnLst/>
              <a:rect l="0" t="0" r="r" b="b"/>
              <a:pathLst>
                <a:path w="1952625" h="619125">
                  <a:moveTo>
                    <a:pt x="0" y="0"/>
                  </a:moveTo>
                  <a:lnTo>
                    <a:pt x="1714500" y="0"/>
                  </a:lnTo>
                  <a:lnTo>
                    <a:pt x="1952625" y="309562"/>
                  </a:lnTo>
                  <a:lnTo>
                    <a:pt x="1714500" y="619125"/>
                  </a:lnTo>
                  <a:lnTo>
                    <a:pt x="0" y="619125"/>
                  </a:lnTo>
                  <a:lnTo>
                    <a:pt x="238125" y="309562"/>
                  </a:lnTo>
                  <a:close/>
                </a:path>
              </a:pathLst>
            </a:custGeom>
            <a:solidFill>
              <a:srgbClr val="46CDAE"/>
            </a:solidFill>
            <a:ln>
              <a:noFill/>
            </a:ln>
          </p:spPr>
        </p:sp>
        <p:sp>
          <p:nvSpPr>
            <p:cNvPr id="105" name="Line 105"/>
            <p:cNvSpPr/>
            <p:nvPr/>
          </p:nvSpPr>
          <p:spPr>
            <a:xfrm>
              <a:off x="4329112" y="1476375"/>
              <a:ext cx="2238375" cy="619125"/>
            </a:xfrm>
            <a:custGeom>
              <a:avLst/>
              <a:gdLst/>
              <a:ahLst/>
              <a:cxnLst/>
              <a:rect l="0" t="0" r="r" b="b"/>
              <a:pathLst>
                <a:path w="2238375" h="619125">
                  <a:moveTo>
                    <a:pt x="0" y="0"/>
                  </a:moveTo>
                  <a:lnTo>
                    <a:pt x="2000250" y="0"/>
                  </a:lnTo>
                  <a:lnTo>
                    <a:pt x="2238375" y="309562"/>
                  </a:lnTo>
                  <a:lnTo>
                    <a:pt x="2000250" y="619125"/>
                  </a:lnTo>
                  <a:lnTo>
                    <a:pt x="0" y="619125"/>
                  </a:lnTo>
                  <a:lnTo>
                    <a:pt x="238125" y="309562"/>
                  </a:lnTo>
                  <a:close/>
                </a:path>
              </a:pathLst>
            </a:custGeom>
            <a:solidFill>
              <a:srgbClr val="46CDAE"/>
            </a:solidFill>
            <a:ln>
              <a:noFill/>
            </a:ln>
          </p:spPr>
        </p:sp>
      </p:grp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714375" y="1619002"/>
            <a:ext cx="159829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25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</a:t>
            </a:r>
            <a:br>
              <a:rPr lang="ru-RU" sz="13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1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дельты 64K</a:t>
            </a:r>
            <a:endParaRPr lang="ru-RU" sz="112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2786062" y="1642815"/>
            <a:ext cx="150018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unique</a:t>
            </a:r>
            <a:endParaRPr lang="ru-RU" sz="13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691062" y="1619002"/>
            <a:ext cx="179451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25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слить</a:t>
            </a:r>
            <a:br>
              <a:rPr lang="ru-RU" sz="13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1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 локальными 1M</a:t>
            </a:r>
            <a:endParaRPr lang="ru-RU" sz="112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Box 110"/>
          <p:cNvSpPr/>
          <p:nvPr/>
        </p:nvSpPr>
        <p:spPr>
          <a:xfrm>
            <a:off x="6738938" y="1485900"/>
            <a:ext cx="1838325" cy="600075"/>
          </a:xfrm>
          <a:prstGeom prst="roundRect">
            <a:avLst>
              <a:gd name="adj" fmla="val 18461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6724650" y="1617917"/>
            <a:ext cx="18669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Уникальные id</a:t>
            </a:r>
            <a:endParaRPr lang="ru-RU" sz="15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2" name="Fill 112"/>
          <p:cNvSpPr/>
          <p:nvPr/>
        </p:nvSpPr>
        <p:spPr>
          <a:xfrm>
            <a:off x="557212" y="2333625"/>
            <a:ext cx="8029575" cy="1238250"/>
          </a:xfrm>
          <a:prstGeom prst="roundRect">
            <a:avLst>
              <a:gd name="adj" fmla="val 9230"/>
            </a:avLst>
          </a:prstGeom>
          <a:solidFill>
            <a:srgbClr val="121212"/>
          </a:solidFill>
          <a:ln>
            <a:noFill/>
          </a:ln>
        </p:spPr>
      </p:sp>
      <p:sp xmlns:p14="http://schemas.microsoft.com/office/powerpoint/2010/main">
        <p:nvSpPr>
          <p:cNvPr id="113" name="Fill 113"/>
          <p:cNvSpPr/>
          <p:nvPr/>
        </p:nvSpPr>
        <p:spPr>
          <a:xfrm>
            <a:off x="671512" y="2752725"/>
            <a:ext cx="6191250" cy="276225"/>
          </a:xfrm>
          <a:prstGeom prst="roundRect">
            <a:avLst>
              <a:gd name="adj" fmla="val 13793"/>
            </a:avLst>
          </a:prstGeom>
          <a:solidFill>
            <a:srgbClr val="0B2B26"/>
          </a:solidFill>
          <a:ln>
            <a:noFill/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785812" y="2445258"/>
            <a:ext cx="7753350" cy="847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75"/>
              </a:lnSpc>
              <a:spcBef>
                <a:spcPts val="0"/>
              </a:spcBef>
              <a:buNone/>
            </a:pPr>
            <a:r>
              <a:rPr lang="ru-RU" sz="135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std::sort(D.begin(), D.end());</a:t>
            </a:r>
            <a:br>
              <a:rPr lang="ru-RU" sz="135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350" b="0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D.erase(std::unique(D.begin(), D.end()), D.end());</a:t>
            </a:r>
            <a:br>
              <a:rPr lang="ru-RU" sz="1350" b="0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35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std::set_union(L.begin(), L.end(), D.begin(), D.end(), out);</a:t>
            </a:r>
            <a:endParaRPr lang="ru-RU" sz="135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57838" y="3275600"/>
            <a:ext cx="2919412" cy="2047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462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без unique дубли дельты останутся</a:t>
            </a:r>
            <a:endParaRPr lang="ru-RU" sz="1125" b="0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557212" y="3810429"/>
            <a:ext cx="4443412" cy="638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875"/>
              </a:lnSpc>
              <a:spcBef>
                <a:spcPts val="0"/>
              </a:spcBef>
              <a:buNone/>
            </a:pPr>
            <a:r>
              <a:rPr lang="ru-RU" sz="4875" b="1" i="0" spc="-112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×3,5–6,6</a:t>
            </a:r>
            <a:endParaRPr lang="ru-RU" sz="4875" b="1" i="0" spc="-112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4762500" y="3794379"/>
            <a:ext cx="395287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быстрее sort + unique на x86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[домерить на iPhone]</a:t>
            </a:r>
            <a:endParaRPr lang="ru-RU" sz="1500" b="0" i="0" dirty="0">
              <a:solidFill>
                <a:srgbClr val="F2C1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Picture 1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8" name="Slide Number 118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5" grpId="0" animBg="1"/>
      <p:bldP spid="116" grpId="0" animBg="1"/>
      <p:bldP spid="117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Title 101"/>
          <p:cNvSpPr txBox="1"/>
          <p:nvPr/>
        </p:nvSpPr>
        <p:spPr>
          <a:xfrm>
            <a:off x="557212" y="49796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МОЙ БЕНЧМАРК ВРАЛ — НА ДВУХ ПРОЦЕССОРАХ ПО-РАЗНОМУ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2" name="Text 102"/>
          <p:cNvSpPr txBox="1"/>
          <p:nvPr/>
        </p:nvSpPr>
        <p:spPr>
          <a:xfrm>
            <a:off x="557473" y="1284122"/>
            <a:ext cx="6373656" cy="2085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93"/>
              </a:lnSpc>
              <a:spcBef>
                <a:spcPts val="0"/>
              </a:spcBef>
              <a:buNone/>
            </a:pPr>
            <a:r>
              <a:rPr lang="ru-RU" sz="1194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 · 1024 id · M2 Pro · нс на элемент</a:t>
            </a:r>
            <a:endParaRPr lang="ru-RU" sz="1194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473" y="1624243"/>
            <a:ext cx="2078428" cy="7297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5597"/>
              </a:lnSpc>
              <a:spcBef>
                <a:spcPts val="0"/>
              </a:spcBef>
              <a:buNone/>
            </a:pPr>
            <a:r>
              <a:rPr lang="ru-RU" sz="5597" b="1" i="0" spc="-112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6,8</a:t>
            </a:r>
            <a:endParaRPr lang="ru-RU" sz="5597" b="1" i="0" spc="-112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1898548" y="1642109"/>
            <a:ext cx="2761760" cy="492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66"/>
              </a:lnSpc>
              <a:spcBef>
                <a:spcPts val="0"/>
              </a:spcBef>
              <a:buNone/>
            </a:pPr>
            <a:r>
              <a:rPr lang="ru-RU" sz="1493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один массив в цикле</a:t>
            </a:r>
            <a:br>
              <a:rPr lang="ru-RU" sz="1493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493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подозрительно быстро</a:t>
            </a:r>
            <a:endParaRPr lang="ru-RU" sz="1493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4789202" y="1624243"/>
            <a:ext cx="2078428" cy="7297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5597"/>
              </a:lnSpc>
              <a:spcBef>
                <a:spcPts val="0"/>
              </a:spcBef>
              <a:buNone/>
            </a:pPr>
            <a:r>
              <a:rPr lang="ru-RU" sz="5597" b="1" i="0" spc="-112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14,4</a:t>
            </a:r>
            <a:endParaRPr lang="ru-RU" sz="5597" b="1" i="0" spc="-112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6684713" y="1642109"/>
            <a:ext cx="1946642" cy="4928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66"/>
              </a:lnSpc>
              <a:spcBef>
                <a:spcPts val="0"/>
              </a:spcBef>
              <a:buNone/>
            </a:pPr>
            <a:r>
              <a:rPr lang="ru-RU" sz="1493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64 разных</a:t>
            </a:r>
            <a:br>
              <a:rPr lang="ru-RU" sz="1493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493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массива</a:t>
            </a:r>
            <a:endParaRPr lang="ru-RU" sz="1493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473" y="2503486"/>
            <a:ext cx="8257699" cy="279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52"/>
              </a:lnSpc>
              <a:spcBef>
                <a:spcPts val="0"/>
              </a:spcBef>
              <a:buNone/>
            </a:pPr>
            <a:r>
              <a:rPr lang="ru-RU" sz="1642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Гипотеза:</a:t>
            </a:r>
            <a:r>
              <a:rPr lang="ru-RU" sz="1642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предсказатель ветвлений выучил вход</a:t>
            </a:r>
            <a:endParaRPr lang="ru-RU" sz="1642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473" y="2825723"/>
            <a:ext cx="8257699" cy="279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52"/>
              </a:lnSpc>
              <a:spcBef>
                <a:spcPts val="0"/>
              </a:spcBef>
              <a:buNone/>
            </a:pPr>
            <a:r>
              <a:rPr lang="ru-RU" sz="1642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Контроль:</a:t>
            </a:r>
            <a:r>
              <a:rPr lang="ru-RU" sz="1642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64 одинаковые копии</a:t>
            </a:r>
            <a:endParaRPr lang="ru-RU" sz="1642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Box 109"/>
          <p:cNvSpPr/>
          <p:nvPr/>
        </p:nvSpPr>
        <p:spPr>
          <a:xfrm>
            <a:off x="566951" y="3283052"/>
            <a:ext cx="3866843" cy="786637"/>
          </a:xfrm>
          <a:prstGeom prst="roundRect">
            <a:avLst>
              <a:gd name="adj" fmla="val 14117"/>
            </a:avLst>
          </a:prstGeom>
          <a:solidFill>
            <a:srgbClr val="000000"/>
          </a:solidFill>
          <a:ln w="18955">
            <a:solidFill>
              <a:srgbClr val="FFFFFF"/>
            </a:solidFill>
          </a:ln>
        </p:spPr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747025" y="3371762"/>
            <a:ext cx="3648859" cy="5117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40"/>
              </a:lnSpc>
              <a:spcBef>
                <a:spcPts val="0"/>
              </a:spcBef>
              <a:buNone/>
            </a:pPr>
            <a:r>
              <a:rPr lang="ru-RU" sz="1493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x86: копии быстрые</a:t>
            </a:r>
            <a:br>
              <a:rPr lang="ru-RU" sz="1493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493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→ предсказатель</a:t>
            </a:r>
            <a:endParaRPr lang="ru-RU" sz="1493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1" name="Box 111"/>
          <p:cNvSpPr/>
          <p:nvPr/>
        </p:nvSpPr>
        <p:spPr>
          <a:xfrm>
            <a:off x="4670732" y="3283052"/>
            <a:ext cx="3866843" cy="786637"/>
          </a:xfrm>
          <a:prstGeom prst="roundRect">
            <a:avLst>
              <a:gd name="adj" fmla="val 14117"/>
            </a:avLst>
          </a:prstGeom>
          <a:solidFill>
            <a:srgbClr val="000000"/>
          </a:solidFill>
          <a:ln w="18955">
            <a:solidFill>
              <a:srgbClr val="FFFFFF"/>
            </a:solidFill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850806" y="3371762"/>
            <a:ext cx="3648859" cy="5117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40"/>
              </a:lnSpc>
              <a:spcBef>
                <a:spcPts val="0"/>
              </a:spcBef>
              <a:buNone/>
            </a:pPr>
            <a:r>
              <a:rPr lang="ru-RU" sz="1493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M2: копии медленные</a:t>
            </a:r>
            <a:br>
              <a:rPr lang="ru-RU" sz="1493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493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→ что-то адресное</a:t>
            </a:r>
            <a:endParaRPr lang="ru-RU" sz="1493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Fill 113"/>
          <p:cNvSpPr/>
          <p:nvPr/>
        </p:nvSpPr>
        <p:spPr>
          <a:xfrm>
            <a:off x="557473" y="4211853"/>
            <a:ext cx="3885798" cy="360147"/>
          </a:xfrm>
          <a:prstGeom prst="roundRect">
            <a:avLst>
              <a:gd name="adj" fmla="val 21052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52735" y="4139444"/>
            <a:ext cx="3895275" cy="37910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836"/>
              </a:lnSpc>
              <a:spcBef>
                <a:spcPts val="0"/>
              </a:spcBef>
              <a:buNone/>
            </a:pPr>
            <a:r>
              <a:rPr lang="ru-RU" sz="1493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Цена ошибки: </a:t>
            </a:r>
            <a:r>
              <a:rPr lang="ru-RU" sz="1493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[3 дня]</a:t>
            </a:r>
            <a:r>
              <a:rPr lang="ru-RU" sz="1493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замеров</a:t>
            </a:r>
            <a:endParaRPr lang="ru-RU" sz="1493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Picture 1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5" name="Slide Number 11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8" grpId="0" animBg="1"/>
      <p:bldP spid="110" grpId="0" animBg="1"/>
      <p:bldP spid="112" grpId="0" animBg="1"/>
      <p:bldP spid="11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ПРОЦЕССОР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ОДНА СТРОЧКА ПРИОРИТЕТА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Fill 103"/>
          <p:cNvSpPr/>
          <p:nvPr/>
        </p:nvSpPr>
        <p:spPr>
          <a:xfrm>
            <a:off x="557212" y="1343025"/>
            <a:ext cx="342900" cy="342900"/>
          </a:xfrm>
          <a:prstGeom prst="ellipse">
            <a:avLst/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2450" y="1292981"/>
            <a:ext cx="3524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lang="ru-RU" sz="16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1023938" y="1326642"/>
            <a:ext cx="59150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Task(priority: .utility)</a:t>
            </a:r>
            <a:endParaRPr lang="ru-RU" sz="240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1820113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 = 512K, U = N/2 · в клетке: sort / хеш, нс на элемент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2419350" y="2084642"/>
            <a:ext cx="2971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userInitiated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5459" y="2093595"/>
            <a:ext cx="3069908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.utility</a:t>
            </a:r>
            <a:endParaRPr lang="ru-RU" sz="150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2515857"/>
            <a:ext cx="1890712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7212" y="3277857"/>
            <a:ext cx="1890712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Box 111"/>
          <p:cNvSpPr/>
          <p:nvPr/>
        </p:nvSpPr>
        <p:spPr>
          <a:xfrm>
            <a:off x="2483644" y="2388394"/>
            <a:ext cx="2843212" cy="604838"/>
          </a:xfrm>
          <a:prstGeom prst="roundRect">
            <a:avLst>
              <a:gd name="adj" fmla="val 18461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2667000" y="2556129"/>
            <a:ext cx="25793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≈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19,6 / 18,7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Box 113"/>
          <p:cNvSpPr/>
          <p:nvPr/>
        </p:nvSpPr>
        <p:spPr>
          <a:xfrm>
            <a:off x="2483644" y="3150394"/>
            <a:ext cx="2843212" cy="604838"/>
          </a:xfrm>
          <a:prstGeom prst="roundRect">
            <a:avLst>
              <a:gd name="adj" fmla="val 18461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2667000" y="3318129"/>
            <a:ext cx="25793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≈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19,6 / 18,2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Box 115"/>
          <p:cNvSpPr/>
          <p:nvPr/>
        </p:nvSpPr>
        <p:spPr>
          <a:xfrm>
            <a:off x="5641181" y="2388394"/>
            <a:ext cx="2938462" cy="604838"/>
          </a:xfrm>
          <a:prstGeom prst="roundRect">
            <a:avLst>
              <a:gd name="adj" fmla="val 18461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5824538" y="2556129"/>
            <a:ext cx="267747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≈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20,1 / 21,0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7" name="Box 117"/>
          <p:cNvSpPr/>
          <p:nvPr/>
        </p:nvSpPr>
        <p:spPr>
          <a:xfrm>
            <a:off x="5643562" y="3152775"/>
            <a:ext cx="2933700" cy="600075"/>
          </a:xfrm>
          <a:prstGeom prst="roundRect">
            <a:avLst>
              <a:gd name="adj" fmla="val 18461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5824538" y="3237586"/>
            <a:ext cx="27146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925"/>
              </a:lnSpc>
              <a:spcBef>
                <a:spcPts val="0"/>
              </a:spcBef>
              <a:buNone/>
            </a:pPr>
            <a:r>
              <a:rPr lang="ru-RU" sz="21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×1,9 </a:t>
            </a:r>
            <a:r>
              <a:rPr lang="ru-RU" sz="135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55,3 / 105,3</a:t>
            </a:r>
            <a:endParaRPr lang="ru-RU" sz="1350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557212" y="3984879"/>
            <a:ext cx="82990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Mac, 1M: ×1,3 → ×1,8 — </a:t>
            </a: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ядро, судя по всему, то же: P</a:t>
            </a:r>
            <a:endParaRPr lang="ru-RU" sz="1500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Picture 1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0" name="Slide Number 12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4" grpId="0" animBg="1"/>
      <p:bldP spid="116" grpId="0" animBg="1"/>
      <p:bldP spid="118" grpId="0" animBg="1"/>
      <p:bldP spid="11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Text 101"/>
          <p:cNvSpPr txBox="1"/>
          <p:nvPr/>
        </p:nvSpPr>
        <p:spPr>
          <a:xfrm>
            <a:off x="558546" y="568473"/>
            <a:ext cx="4808317" cy="3712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77"/>
              </a:lnSpc>
              <a:spcBef>
                <a:spcPts val="0"/>
              </a:spcBef>
              <a:buNone/>
            </a:pPr>
            <a:r>
              <a:rPr lang="ru-RU" sz="2193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Task(priority: .utility)</a:t>
            </a:r>
            <a:endParaRPr lang="ru-RU" sz="2193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102" name="Picture 101" descr="phon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589" y="1128205"/>
            <a:ext cx="1763668" cy="3443795"/>
          </a:xfrm>
          <a:prstGeom prst="rect">
            <a:avLst/>
          </a:prstGeom>
        </p:spPr>
      </p:pic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689429" y="2461056"/>
            <a:ext cx="1461988" cy="7982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35"/>
              </a:lnSpc>
              <a:spcBef>
                <a:spcPts val="0"/>
              </a:spcBef>
              <a:buNone/>
            </a:pPr>
            <a:r>
              <a:rPr lang="ru-RU" sz="1169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[видео с iPhone, 8–12 с: userInitiated → utility]</a:t>
            </a:r>
            <a:endParaRPr lang="ru-RU" sz="1169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8546" y="1707895"/>
            <a:ext cx="4808317" cy="14109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0964"/>
              </a:lnSpc>
              <a:spcBef>
                <a:spcPts val="0"/>
              </a:spcBef>
              <a:buNone/>
            </a:pPr>
            <a:r>
              <a:rPr lang="ru-RU" sz="10964" b="1" i="0" spc="-219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×3,3</a:t>
            </a:r>
            <a:endParaRPr lang="ru-RU" sz="10964" b="1" i="0" spc="-219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8546" y="3203003"/>
            <a:ext cx="4808317" cy="3248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12"/>
              </a:lnSpc>
              <a:spcBef>
                <a:spcPts val="0"/>
              </a:spcBef>
              <a:buNone/>
            </a:pPr>
            <a:r>
              <a:rPr lang="ru-RU" sz="19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сортировка быстрее хеша</a:t>
            </a:r>
            <a:endParaRPr lang="ru-RU" sz="19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8546" y="3554271"/>
            <a:ext cx="4808317" cy="259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00"/>
              </a:lnSpc>
              <a:spcBef>
                <a:spcPts val="0"/>
              </a:spcBef>
              <a:buNone/>
            </a:pPr>
            <a:r>
              <a:rPr lang="ru-RU" sz="1462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тот же iPhone, тот же код, миллион id</a:t>
            </a:r>
            <a:endParaRPr lang="ru-RU" sz="1462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Picture 10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07" name="Slide Number 10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nimBg="1"/>
      <p:bldP spid="106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ПРОЦЕССОР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СТУПЕНЬКИ КЭША ВЫДАЮТ ЯДРО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2787"/>
            <a:ext cx="2088832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MacBook Pro · M2 Pro</a:t>
            </a:r>
            <a:endParaRPr lang="ru-RU" sz="13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 xmlns:p14="http://schemas.microsoft.com/office/powerpoint/2010/main">
        <p:nvGrpSpPr>
          <p:cNvPr id="112" name="Chart 112"/>
          <p:cNvGrpSpPr/>
          <p:nvPr/>
        </p:nvGrpSpPr>
        <p:grpSpPr>
          <a:xfrm>
            <a:off x="1128712" y="2047875"/>
            <a:ext cx="3086148" cy="1000125"/>
            <a:chOff x="1128712" y="2047875"/>
            <a:chExt cx="3086148" cy="1000125"/>
          </a:xfrm>
        </p:grpSpPr>
        <p:sp>
          <p:nvSpPr>
            <p:cNvPr id="104" name="Line 104"/>
            <p:cNvSpPr/>
            <p:nvPr/>
          </p:nvSpPr>
          <p:spPr>
            <a:xfrm>
              <a:off x="1128712" y="2533650"/>
              <a:ext cx="3086100" cy="48"/>
            </a:xfrm>
            <a:custGeom>
              <a:avLst/>
              <a:gdLst/>
              <a:ahLst/>
              <a:cxnLst/>
              <a:rect l="0" t="0" r="r" b="b"/>
              <a:pathLst>
                <a:path w="3086100" h="1" fill="none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4762">
              <a:solidFill>
                <a:srgbClr val="333333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128712" y="2047875"/>
              <a:ext cx="3086100" cy="48"/>
            </a:xfrm>
            <a:custGeom>
              <a:avLst/>
              <a:gdLst/>
              <a:ahLst/>
              <a:cxnLst/>
              <a:rect l="0" t="0" r="r" b="b"/>
              <a:pathLst>
                <a:path w="3086100" h="1" fill="none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4762">
              <a:solidFill>
                <a:srgbClr val="333333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1128712" y="3019425"/>
              <a:ext cx="3086100" cy="48"/>
            </a:xfrm>
            <a:custGeom>
              <a:avLst/>
              <a:gdLst/>
              <a:ahLst/>
              <a:cxnLst/>
              <a:rect l="0" t="0" r="r" b="b"/>
              <a:pathLst>
                <a:path w="3086100" h="1" fill="none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1128712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900238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671762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3700462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4214812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</p:grpSp>
      <p:sp xmlns:p14="http://schemas.microsoft.com/office/powerpoint/2010/main">
        <p:nvSpPr>
          <p:cNvPr id="113" name="Fill 113"/>
          <p:cNvSpPr/>
          <p:nvPr/>
        </p:nvSpPr>
        <p:spPr>
          <a:xfrm>
            <a:off x="1638300" y="1633538"/>
            <a:ext cx="9525" cy="1385888"/>
          </a:xfrm>
          <a:prstGeom prst="rect">
            <a:avLst/>
          </a:prstGeom>
          <a:solidFill>
            <a:srgbClr val="4A4A4A"/>
          </a:solidFill>
          <a:ln>
            <a:noFill/>
          </a:ln>
        </p:spPr>
      </p:sp>
      <p:sp xmlns:p14="http://schemas.microsoft.com/office/powerpoint/2010/main">
        <p:nvSpPr>
          <p:cNvPr id="114" name="Fill 114"/>
          <p:cNvSpPr/>
          <p:nvPr/>
        </p:nvSpPr>
        <p:spPr>
          <a:xfrm>
            <a:off x="3181350" y="1633538"/>
            <a:ext cx="9525" cy="1385888"/>
          </a:xfrm>
          <a:prstGeom prst="rect">
            <a:avLst/>
          </a:prstGeom>
          <a:solidFill>
            <a:srgbClr val="4A4A4A"/>
          </a:solidFill>
          <a:ln>
            <a:noFill/>
          </a:ln>
        </p:spPr>
      </p:sp>
      <p:sp xmlns:p14="http://schemas.microsoft.com/office/powerpoint/2010/main">
        <p:nvSpPr>
          <p:cNvPr id="115" name="Fill 115"/>
          <p:cNvSpPr/>
          <p:nvPr/>
        </p:nvSpPr>
        <p:spPr>
          <a:xfrm>
            <a:off x="1895475" y="1633538"/>
            <a:ext cx="9525" cy="1385888"/>
          </a:xfrm>
          <a:prstGeom prst="rect">
            <a:avLst/>
          </a:prstGeom>
          <a:solidFill>
            <a:srgbClr val="4A4A4A"/>
          </a:solidFill>
          <a:ln>
            <a:noFill/>
          </a:ln>
        </p:spPr>
      </p:sp>
      <p:sp xmlns:p14="http://schemas.microsoft.com/office/powerpoint/2010/main">
        <p:nvSpPr>
          <p:cNvPr id="116" name="Fill 116"/>
          <p:cNvSpPr/>
          <p:nvPr/>
        </p:nvSpPr>
        <p:spPr>
          <a:xfrm>
            <a:off x="3695700" y="1633538"/>
            <a:ext cx="9525" cy="1385888"/>
          </a:xfrm>
          <a:prstGeom prst="rect">
            <a:avLst/>
          </a:prstGeom>
          <a:solidFill>
            <a:srgbClr val="4A4A4A"/>
          </a:solidFill>
          <a:ln>
            <a:noFill/>
          </a:ln>
        </p:spPr>
      </p:sp>
      <p:sp xmlns:p14="http://schemas.microsoft.com/office/powerpoint/2010/main">
        <p:nvSpPr>
          <p:cNvPr id="117" name="Line 117"/>
          <p:cNvSpPr/>
          <p:nvPr/>
        </p:nvSpPr>
        <p:spPr>
          <a:xfrm>
            <a:off x="1128712" y="1849279"/>
            <a:ext cx="3086100" cy="866299"/>
          </a:xfrm>
          <a:custGeom>
            <a:avLst/>
            <a:gdLst/>
            <a:ahLst/>
            <a:cxnLst/>
            <a:rect l="0" t="0" r="r" b="b"/>
            <a:pathLst>
              <a:path w="3086100" h="866299" fill="none">
                <a:moveTo>
                  <a:pt x="0" y="866299"/>
                </a:moveTo>
                <a:lnTo>
                  <a:pt x="150019" y="794861"/>
                </a:lnTo>
                <a:lnTo>
                  <a:pt x="255746" y="798671"/>
                </a:lnTo>
                <a:lnTo>
                  <a:pt x="405765" y="810101"/>
                </a:lnTo>
                <a:lnTo>
                  <a:pt x="515779" y="798671"/>
                </a:lnTo>
                <a:lnTo>
                  <a:pt x="665798" y="603885"/>
                </a:lnTo>
                <a:lnTo>
                  <a:pt x="771525" y="603885"/>
                </a:lnTo>
                <a:lnTo>
                  <a:pt x="921544" y="551021"/>
                </a:lnTo>
                <a:lnTo>
                  <a:pt x="1027271" y="554831"/>
                </a:lnTo>
                <a:lnTo>
                  <a:pt x="1177290" y="607695"/>
                </a:lnTo>
                <a:lnTo>
                  <a:pt x="1287304" y="577691"/>
                </a:lnTo>
                <a:lnTo>
                  <a:pt x="1437322" y="551021"/>
                </a:lnTo>
                <a:lnTo>
                  <a:pt x="1543050" y="611029"/>
                </a:lnTo>
                <a:lnTo>
                  <a:pt x="1693069" y="611029"/>
                </a:lnTo>
                <a:lnTo>
                  <a:pt x="1798796" y="622459"/>
                </a:lnTo>
                <a:lnTo>
                  <a:pt x="1948815" y="450056"/>
                </a:lnTo>
                <a:lnTo>
                  <a:pt x="2058829" y="160973"/>
                </a:lnTo>
                <a:lnTo>
                  <a:pt x="2208848" y="67151"/>
                </a:lnTo>
                <a:lnTo>
                  <a:pt x="2314575" y="40957"/>
                </a:lnTo>
                <a:lnTo>
                  <a:pt x="2464594" y="37148"/>
                </a:lnTo>
                <a:lnTo>
                  <a:pt x="2570321" y="14764"/>
                </a:lnTo>
                <a:lnTo>
                  <a:pt x="2720340" y="7144"/>
                </a:lnTo>
                <a:lnTo>
                  <a:pt x="2830354" y="44767"/>
                </a:lnTo>
                <a:lnTo>
                  <a:pt x="2980372" y="0"/>
                </a:lnTo>
                <a:lnTo>
                  <a:pt x="3086100" y="7144"/>
                </a:lnTo>
              </a:path>
            </a:pathLst>
          </a:custGeom>
          <a:noFill/>
          <a:ln w="28575">
            <a:solidFill>
              <a:srgbClr val="8F8F8F"/>
            </a:solidFill>
            <a:custDash>
              <a:ds d="233333" sp="166666"/>
            </a:custDash>
            <a:round/>
          </a:ln>
        </p:spPr>
      </p:sp>
      <p:sp xmlns:p14="http://schemas.microsoft.com/office/powerpoint/2010/main">
        <p:nvSpPr>
          <p:cNvPr id="118" name="Line 118"/>
          <p:cNvSpPr/>
          <p:nvPr/>
        </p:nvSpPr>
        <p:spPr>
          <a:xfrm>
            <a:off x="1128712" y="2036445"/>
            <a:ext cx="3086100" cy="866775"/>
          </a:xfrm>
          <a:custGeom>
            <a:avLst/>
            <a:gdLst/>
            <a:ahLst/>
            <a:cxnLst/>
            <a:rect l="0" t="0" r="r" b="b"/>
            <a:pathLst>
              <a:path w="3086100" h="866775" fill="none">
                <a:moveTo>
                  <a:pt x="0" y="866775"/>
                </a:moveTo>
                <a:lnTo>
                  <a:pt x="150019" y="859155"/>
                </a:lnTo>
                <a:lnTo>
                  <a:pt x="255746" y="862965"/>
                </a:lnTo>
                <a:lnTo>
                  <a:pt x="405765" y="862965"/>
                </a:lnTo>
                <a:lnTo>
                  <a:pt x="515779" y="859155"/>
                </a:lnTo>
                <a:lnTo>
                  <a:pt x="665798" y="859155"/>
                </a:lnTo>
                <a:lnTo>
                  <a:pt x="771525" y="859155"/>
                </a:lnTo>
                <a:lnTo>
                  <a:pt x="921544" y="619125"/>
                </a:lnTo>
                <a:lnTo>
                  <a:pt x="1027271" y="592931"/>
                </a:lnTo>
                <a:lnTo>
                  <a:pt x="1177290" y="589121"/>
                </a:lnTo>
                <a:lnTo>
                  <a:pt x="1287304" y="596741"/>
                </a:lnTo>
                <a:lnTo>
                  <a:pt x="1437322" y="589121"/>
                </a:lnTo>
                <a:lnTo>
                  <a:pt x="1543050" y="589121"/>
                </a:lnTo>
                <a:lnTo>
                  <a:pt x="1693069" y="589121"/>
                </a:lnTo>
                <a:lnTo>
                  <a:pt x="1798796" y="589121"/>
                </a:lnTo>
                <a:lnTo>
                  <a:pt x="1948815" y="589121"/>
                </a:lnTo>
                <a:lnTo>
                  <a:pt x="2058829" y="589121"/>
                </a:lnTo>
                <a:lnTo>
                  <a:pt x="2208848" y="562927"/>
                </a:lnTo>
                <a:lnTo>
                  <a:pt x="2314575" y="513874"/>
                </a:lnTo>
                <a:lnTo>
                  <a:pt x="2464594" y="202882"/>
                </a:lnTo>
                <a:lnTo>
                  <a:pt x="2570321" y="56674"/>
                </a:lnTo>
                <a:lnTo>
                  <a:pt x="2720340" y="33814"/>
                </a:lnTo>
                <a:lnTo>
                  <a:pt x="2830354" y="15240"/>
                </a:lnTo>
                <a:lnTo>
                  <a:pt x="2980372" y="0"/>
                </a:lnTo>
                <a:lnTo>
                  <a:pt x="3086100" y="3810"/>
                </a:lnTo>
              </a:path>
            </a:pathLst>
          </a:custGeom>
          <a:noFill/>
          <a:ln w="28575" cap="rnd">
            <a:solidFill>
              <a:srgbClr val="FFFFFF"/>
            </a:solidFill>
            <a:round/>
          </a:ln>
        </p:spPr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514350" y="1989725"/>
            <a:ext cx="519112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125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100 нс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14350" y="2485025"/>
            <a:ext cx="519112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125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10 нс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514350" y="2980325"/>
            <a:ext cx="519112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125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 нс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869156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16К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1640681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128К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2412206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1М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3440906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16М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3955256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64М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1938338" y="1625394"/>
            <a:ext cx="1156811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 L1 128 КиБ</a:t>
            </a:r>
            <a:endParaRPr lang="ru-RU" sz="11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8" name="Text 128"/>
          <p:cNvSpPr txBox="1"/>
          <p:nvPr/>
        </p:nvSpPr>
        <p:spPr>
          <a:xfrm>
            <a:off x="3729038" y="1625394"/>
            <a:ext cx="999839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 L2 16 МиБ</a:t>
            </a:r>
            <a:endParaRPr lang="ru-RU" sz="11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642938" y="1801606"/>
            <a:ext cx="962025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L1 64 КиБ</a:t>
            </a:r>
            <a:endParaRPr lang="ru-RU" sz="1125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2243138" y="1801606"/>
            <a:ext cx="904875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L2 4 МиБ</a:t>
            </a:r>
            <a:endParaRPr lang="ru-RU" sz="1125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2147888" y="2680287"/>
            <a:ext cx="120586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userInitiated</a:t>
            </a:r>
            <a:endParaRPr lang="ru-RU" sz="112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2" name="Text 132"/>
          <p:cNvSpPr txBox="1"/>
          <p:nvPr/>
        </p:nvSpPr>
        <p:spPr>
          <a:xfrm>
            <a:off x="1985962" y="2184987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1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  <a:endParaRPr lang="ru-RU" sz="1125" b="1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3" name="Text 133"/>
          <p:cNvSpPr txBox="1"/>
          <p:nvPr/>
        </p:nvSpPr>
        <p:spPr>
          <a:xfrm>
            <a:off x="4776788" y="1422787"/>
            <a:ext cx="3952875" cy="2247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iPhone </a:t>
            </a:r>
            <a:r>
              <a:rPr lang="ru-RU" sz="1350" b="1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[модель iPhone]</a:t>
            </a:r>
            <a:endParaRPr lang="ru-RU" sz="1350" b="1" i="0" dirty="0">
              <a:solidFill>
                <a:srgbClr val="F2C1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 xmlns:p14="http://schemas.microsoft.com/office/powerpoint/2010/main">
        <p:nvGrpSpPr>
          <p:cNvPr id="142" name="Chart 142"/>
          <p:cNvGrpSpPr/>
          <p:nvPr/>
        </p:nvGrpSpPr>
        <p:grpSpPr>
          <a:xfrm>
            <a:off x="5348288" y="2047875"/>
            <a:ext cx="3086148" cy="1000125"/>
            <a:chOff x="5348288" y="2047875"/>
            <a:chExt cx="3086148" cy="1000125"/>
          </a:xfrm>
        </p:grpSpPr>
        <p:sp>
          <p:nvSpPr>
            <p:cNvPr id="134" name="Line 134"/>
            <p:cNvSpPr/>
            <p:nvPr/>
          </p:nvSpPr>
          <p:spPr>
            <a:xfrm>
              <a:off x="5348288" y="2533650"/>
              <a:ext cx="3086100" cy="48"/>
            </a:xfrm>
            <a:custGeom>
              <a:avLst/>
              <a:gdLst/>
              <a:ahLst/>
              <a:cxnLst/>
              <a:rect l="0" t="0" r="r" b="b"/>
              <a:pathLst>
                <a:path w="3086100" h="1" fill="none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4762">
              <a:solidFill>
                <a:srgbClr val="333333"/>
              </a:solidFill>
            </a:ln>
          </p:spPr>
        </p:sp>
        <p:sp>
          <p:nvSpPr>
            <p:cNvPr id="135" name="Line 135"/>
            <p:cNvSpPr/>
            <p:nvPr/>
          </p:nvSpPr>
          <p:spPr>
            <a:xfrm>
              <a:off x="5348288" y="2047875"/>
              <a:ext cx="3086100" cy="48"/>
            </a:xfrm>
            <a:custGeom>
              <a:avLst/>
              <a:gdLst/>
              <a:ahLst/>
              <a:cxnLst/>
              <a:rect l="0" t="0" r="r" b="b"/>
              <a:pathLst>
                <a:path w="3086100" h="1" fill="none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4762">
              <a:solidFill>
                <a:srgbClr val="333333"/>
              </a:solidFill>
            </a:ln>
          </p:spPr>
        </p:sp>
        <p:sp>
          <p:nvSpPr>
            <p:cNvPr id="136" name="Line 136"/>
            <p:cNvSpPr/>
            <p:nvPr/>
          </p:nvSpPr>
          <p:spPr>
            <a:xfrm>
              <a:off x="5348288" y="3019425"/>
              <a:ext cx="3086100" cy="48"/>
            </a:xfrm>
            <a:custGeom>
              <a:avLst/>
              <a:gdLst/>
              <a:ahLst/>
              <a:cxnLst/>
              <a:rect l="0" t="0" r="r" b="b"/>
              <a:pathLst>
                <a:path w="3086100" h="1" fill="none">
                  <a:moveTo>
                    <a:pt x="0" y="0"/>
                  </a:moveTo>
                  <a:lnTo>
                    <a:pt x="3086100" y="0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37" name="Line 137"/>
            <p:cNvSpPr/>
            <p:nvPr/>
          </p:nvSpPr>
          <p:spPr>
            <a:xfrm>
              <a:off x="5348288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38" name="Line 138"/>
            <p:cNvSpPr/>
            <p:nvPr/>
          </p:nvSpPr>
          <p:spPr>
            <a:xfrm>
              <a:off x="6119812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39" name="Line 139"/>
            <p:cNvSpPr/>
            <p:nvPr/>
          </p:nvSpPr>
          <p:spPr>
            <a:xfrm>
              <a:off x="6891338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40" name="Line 140"/>
            <p:cNvSpPr/>
            <p:nvPr/>
          </p:nvSpPr>
          <p:spPr>
            <a:xfrm>
              <a:off x="7920038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  <p:sp>
          <p:nvSpPr>
            <p:cNvPr id="141" name="Line 141"/>
            <p:cNvSpPr/>
            <p:nvPr/>
          </p:nvSpPr>
          <p:spPr>
            <a:xfrm>
              <a:off x="8434388" y="3019425"/>
              <a:ext cx="48" cy="28575"/>
            </a:xfrm>
            <a:custGeom>
              <a:avLst/>
              <a:gdLst/>
              <a:ahLst/>
              <a:cxnLst/>
              <a:rect l="0" t="0" r="r" b="b"/>
              <a:pathLst>
                <a:path w="1" h="28575" fill="none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9525">
              <a:solidFill>
                <a:srgbClr val="8F8F8F"/>
              </a:solidFill>
            </a:ln>
          </p:spPr>
        </p:sp>
      </p:grpSp>
      <p:sp xmlns:p14="http://schemas.microsoft.com/office/powerpoint/2010/main">
        <p:nvSpPr>
          <p:cNvPr id="143" name="Box 143"/>
          <p:cNvSpPr/>
          <p:nvPr/>
        </p:nvSpPr>
        <p:spPr>
          <a:xfrm>
            <a:off x="5391150" y="1671638"/>
            <a:ext cx="1800225" cy="304800"/>
          </a:xfrm>
          <a:prstGeom prst="roundRect">
            <a:avLst>
              <a:gd name="adj" fmla="val 12121"/>
            </a:avLst>
          </a:prstGeom>
          <a:solidFill>
            <a:srgbClr val="000000"/>
          </a:solidFill>
          <a:ln w="9525">
            <a:solidFill>
              <a:srgbClr val="F2C14E"/>
            </a:solidFill>
            <a:prstDash val="dash"/>
          </a:ln>
        </p:spPr>
      </p:sp>
      <p:sp xmlns:p14="http://schemas.microsoft.com/office/powerpoint/2010/main">
        <p:nvSpPr>
          <p:cNvPr id="144" name="Text 144"/>
          <p:cNvSpPr txBox="1"/>
          <p:nvPr/>
        </p:nvSpPr>
        <p:spPr>
          <a:xfrm>
            <a:off x="5453062" y="1680296"/>
            <a:ext cx="1733550" cy="3162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buNone/>
            </a:pPr>
            <a:r>
              <a:rPr lang="ru-RU" sz="975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[вертикали L1/L2 P и E — из sysctl этого iPhone]</a:t>
            </a:r>
            <a:endParaRPr lang="ru-RU" sz="975" b="0" i="0" dirty="0">
              <a:solidFill>
                <a:srgbClr val="F2C1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 xmlns:p14="http://schemas.microsoft.com/office/powerpoint/2010/main">
        <p:nvGrpSpPr>
          <p:cNvPr id="148" name="Chart 148"/>
          <p:cNvGrpSpPr/>
          <p:nvPr/>
        </p:nvGrpSpPr>
        <p:grpSpPr>
          <a:xfrm>
            <a:off x="5348288" y="1721644"/>
            <a:ext cx="3086100" cy="1181576"/>
            <a:chOff x="5348288" y="1721644"/>
            <a:chExt cx="3086100" cy="1181576"/>
          </a:xfrm>
        </p:grpSpPr>
        <p:sp>
          <p:nvSpPr>
            <p:cNvPr id="145" name="Line 145"/>
            <p:cNvSpPr/>
            <p:nvPr/>
          </p:nvSpPr>
          <p:spPr>
            <a:xfrm>
              <a:off x="5348288" y="1721644"/>
              <a:ext cx="3086100" cy="847725"/>
            </a:xfrm>
            <a:custGeom>
              <a:avLst/>
              <a:gdLst/>
              <a:ahLst/>
              <a:cxnLst/>
              <a:rect l="0" t="0" r="r" b="b"/>
              <a:pathLst>
                <a:path w="3086100" h="847725" fill="none">
                  <a:moveTo>
                    <a:pt x="0" y="847725"/>
                  </a:moveTo>
                  <a:lnTo>
                    <a:pt x="150019" y="847725"/>
                  </a:lnTo>
                  <a:lnTo>
                    <a:pt x="255746" y="847725"/>
                  </a:lnTo>
                  <a:lnTo>
                    <a:pt x="405765" y="847725"/>
                  </a:lnTo>
                  <a:lnTo>
                    <a:pt x="515779" y="847725"/>
                  </a:lnTo>
                  <a:lnTo>
                    <a:pt x="665797" y="622459"/>
                  </a:lnTo>
                  <a:lnTo>
                    <a:pt x="771525" y="588645"/>
                  </a:lnTo>
                  <a:lnTo>
                    <a:pt x="921544" y="630079"/>
                  </a:lnTo>
                  <a:lnTo>
                    <a:pt x="1027271" y="618649"/>
                  </a:lnTo>
                  <a:lnTo>
                    <a:pt x="1177290" y="614839"/>
                  </a:lnTo>
                  <a:lnTo>
                    <a:pt x="1287304" y="614839"/>
                  </a:lnTo>
                  <a:lnTo>
                    <a:pt x="1437322" y="611505"/>
                  </a:lnTo>
                  <a:lnTo>
                    <a:pt x="1543050" y="614839"/>
                  </a:lnTo>
                  <a:lnTo>
                    <a:pt x="1693069" y="614839"/>
                  </a:lnTo>
                  <a:lnTo>
                    <a:pt x="1798796" y="600075"/>
                  </a:lnTo>
                  <a:lnTo>
                    <a:pt x="1948815" y="510064"/>
                  </a:lnTo>
                  <a:lnTo>
                    <a:pt x="2058829" y="442436"/>
                  </a:lnTo>
                  <a:lnTo>
                    <a:pt x="2208848" y="382429"/>
                  </a:lnTo>
                  <a:lnTo>
                    <a:pt x="2314575" y="356235"/>
                  </a:lnTo>
                  <a:lnTo>
                    <a:pt x="2464594" y="314801"/>
                  </a:lnTo>
                  <a:lnTo>
                    <a:pt x="2570321" y="194786"/>
                  </a:lnTo>
                  <a:lnTo>
                    <a:pt x="2720340" y="123825"/>
                  </a:lnTo>
                  <a:lnTo>
                    <a:pt x="2830354" y="70961"/>
                  </a:lnTo>
                  <a:lnTo>
                    <a:pt x="2980372" y="18574"/>
                  </a:lnTo>
                  <a:lnTo>
                    <a:pt x="3086100" y="0"/>
                  </a:lnTo>
                </a:path>
              </a:pathLst>
            </a:custGeom>
            <a:noFill/>
            <a:ln w="28575">
              <a:solidFill>
                <a:srgbClr val="8F8F8F"/>
              </a:solidFill>
              <a:custDash>
                <a:ds d="233333" sp="166666"/>
              </a:custDash>
              <a:round/>
            </a:ln>
          </p:spPr>
        </p:sp>
        <p:sp>
          <p:nvSpPr>
            <p:cNvPr id="146" name="Line 146"/>
            <p:cNvSpPr/>
            <p:nvPr/>
          </p:nvSpPr>
          <p:spPr>
            <a:xfrm>
              <a:off x="5348288" y="2107882"/>
              <a:ext cx="3086100" cy="795338"/>
            </a:xfrm>
            <a:custGeom>
              <a:avLst/>
              <a:gdLst/>
              <a:ahLst/>
              <a:cxnLst/>
              <a:rect l="0" t="0" r="r" b="b"/>
              <a:pathLst>
                <a:path w="3086100" h="795338" fill="none">
                  <a:moveTo>
                    <a:pt x="0" y="791527"/>
                  </a:moveTo>
                  <a:lnTo>
                    <a:pt x="150019" y="791527"/>
                  </a:lnTo>
                  <a:lnTo>
                    <a:pt x="255746" y="791527"/>
                  </a:lnTo>
                  <a:lnTo>
                    <a:pt x="405765" y="791527"/>
                  </a:lnTo>
                  <a:lnTo>
                    <a:pt x="515779" y="791527"/>
                  </a:lnTo>
                  <a:lnTo>
                    <a:pt x="665797" y="795338"/>
                  </a:lnTo>
                  <a:lnTo>
                    <a:pt x="771525" y="795338"/>
                  </a:lnTo>
                  <a:lnTo>
                    <a:pt x="921544" y="540067"/>
                  </a:lnTo>
                  <a:lnTo>
                    <a:pt x="1027271" y="532447"/>
                  </a:lnTo>
                  <a:lnTo>
                    <a:pt x="1177290" y="532447"/>
                  </a:lnTo>
                  <a:lnTo>
                    <a:pt x="1287304" y="532447"/>
                  </a:lnTo>
                  <a:lnTo>
                    <a:pt x="1437322" y="532447"/>
                  </a:lnTo>
                  <a:lnTo>
                    <a:pt x="1543050" y="532447"/>
                  </a:lnTo>
                  <a:lnTo>
                    <a:pt x="1693069" y="532447"/>
                  </a:lnTo>
                  <a:lnTo>
                    <a:pt x="1798796" y="532447"/>
                  </a:lnTo>
                  <a:lnTo>
                    <a:pt x="1948815" y="521494"/>
                  </a:lnTo>
                  <a:lnTo>
                    <a:pt x="2058829" y="510064"/>
                  </a:lnTo>
                  <a:lnTo>
                    <a:pt x="2208848" y="495300"/>
                  </a:lnTo>
                  <a:lnTo>
                    <a:pt x="2314575" y="491490"/>
                  </a:lnTo>
                  <a:lnTo>
                    <a:pt x="2464594" y="453866"/>
                  </a:lnTo>
                  <a:lnTo>
                    <a:pt x="2570321" y="401479"/>
                  </a:lnTo>
                  <a:lnTo>
                    <a:pt x="2720340" y="277654"/>
                  </a:lnTo>
                  <a:lnTo>
                    <a:pt x="2830354" y="142399"/>
                  </a:lnTo>
                  <a:lnTo>
                    <a:pt x="2980372" y="37624"/>
                  </a:lnTo>
                  <a:lnTo>
                    <a:pt x="308610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147" name="Line 147"/>
            <p:cNvSpPr/>
            <p:nvPr/>
          </p:nvSpPr>
          <p:spPr>
            <a:xfrm>
              <a:off x="5348288" y="2047875"/>
              <a:ext cx="3086100" cy="776288"/>
            </a:xfrm>
            <a:custGeom>
              <a:avLst/>
              <a:gdLst/>
              <a:ahLst/>
              <a:cxnLst/>
              <a:rect l="0" t="0" r="r" b="b"/>
              <a:pathLst>
                <a:path w="3086100" h="776288" fill="none">
                  <a:moveTo>
                    <a:pt x="0" y="776288"/>
                  </a:moveTo>
                  <a:lnTo>
                    <a:pt x="150019" y="776288"/>
                  </a:lnTo>
                  <a:lnTo>
                    <a:pt x="255746" y="776288"/>
                  </a:lnTo>
                  <a:lnTo>
                    <a:pt x="405765" y="776288"/>
                  </a:lnTo>
                  <a:lnTo>
                    <a:pt x="515779" y="769144"/>
                  </a:lnTo>
                  <a:lnTo>
                    <a:pt x="665797" y="543878"/>
                  </a:lnTo>
                  <a:lnTo>
                    <a:pt x="771525" y="547688"/>
                  </a:lnTo>
                  <a:lnTo>
                    <a:pt x="921544" y="547688"/>
                  </a:lnTo>
                  <a:lnTo>
                    <a:pt x="1027271" y="547688"/>
                  </a:lnTo>
                  <a:lnTo>
                    <a:pt x="1177290" y="547688"/>
                  </a:lnTo>
                  <a:lnTo>
                    <a:pt x="1287304" y="543878"/>
                  </a:lnTo>
                  <a:lnTo>
                    <a:pt x="1437322" y="547688"/>
                  </a:lnTo>
                  <a:lnTo>
                    <a:pt x="1543050" y="536258"/>
                  </a:lnTo>
                  <a:lnTo>
                    <a:pt x="1693069" y="360045"/>
                  </a:lnTo>
                  <a:lnTo>
                    <a:pt x="1798796" y="529114"/>
                  </a:lnTo>
                  <a:lnTo>
                    <a:pt x="1948815" y="495300"/>
                  </a:lnTo>
                  <a:lnTo>
                    <a:pt x="2058829" y="349091"/>
                  </a:lnTo>
                  <a:lnTo>
                    <a:pt x="2208848" y="273844"/>
                  </a:lnTo>
                  <a:lnTo>
                    <a:pt x="2314575" y="243840"/>
                  </a:lnTo>
                  <a:lnTo>
                    <a:pt x="2464594" y="183833"/>
                  </a:lnTo>
                  <a:lnTo>
                    <a:pt x="2570321" y="131445"/>
                  </a:lnTo>
                  <a:lnTo>
                    <a:pt x="2720340" y="78581"/>
                  </a:lnTo>
                  <a:lnTo>
                    <a:pt x="2830354" y="52388"/>
                  </a:lnTo>
                  <a:lnTo>
                    <a:pt x="2980372" y="18574"/>
                  </a:lnTo>
                  <a:lnTo>
                    <a:pt x="3086100" y="0"/>
                  </a:lnTo>
                </a:path>
              </a:pathLst>
            </a:custGeom>
            <a:noFill/>
            <a:ln w="28575" cap="rnd">
              <a:solidFill>
                <a:srgbClr val="46CDAE"/>
              </a:solidFill>
              <a:round/>
            </a:ln>
          </p:spPr>
        </p:sp>
      </p:grpSp>
      <p:sp xmlns:p14="http://schemas.microsoft.com/office/powerpoint/2010/main">
        <p:nvSpPr>
          <p:cNvPr id="149" name="Text 149"/>
          <p:cNvSpPr txBox="1"/>
          <p:nvPr/>
        </p:nvSpPr>
        <p:spPr>
          <a:xfrm>
            <a:off x="4733925" y="1989725"/>
            <a:ext cx="519112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125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100 нс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0" name="Text 150"/>
          <p:cNvSpPr txBox="1"/>
          <p:nvPr/>
        </p:nvSpPr>
        <p:spPr>
          <a:xfrm>
            <a:off x="4733925" y="2485025"/>
            <a:ext cx="519112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125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10 нс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1" name="Text 151"/>
          <p:cNvSpPr txBox="1"/>
          <p:nvPr/>
        </p:nvSpPr>
        <p:spPr>
          <a:xfrm>
            <a:off x="4733925" y="2980325"/>
            <a:ext cx="519112" cy="1619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125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 нс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2" name="Text 152"/>
          <p:cNvSpPr txBox="1"/>
          <p:nvPr/>
        </p:nvSpPr>
        <p:spPr>
          <a:xfrm>
            <a:off x="5088731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16К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3" name="Text 153"/>
          <p:cNvSpPr txBox="1"/>
          <p:nvPr/>
        </p:nvSpPr>
        <p:spPr>
          <a:xfrm>
            <a:off x="5860256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128К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4" name="Text 154"/>
          <p:cNvSpPr txBox="1"/>
          <p:nvPr/>
        </p:nvSpPr>
        <p:spPr>
          <a:xfrm>
            <a:off x="6631781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1М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5" name="Text 155"/>
          <p:cNvSpPr txBox="1"/>
          <p:nvPr/>
        </p:nvSpPr>
        <p:spPr>
          <a:xfrm>
            <a:off x="7660481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16М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6" name="Text 156"/>
          <p:cNvSpPr txBox="1"/>
          <p:nvPr/>
        </p:nvSpPr>
        <p:spPr>
          <a:xfrm>
            <a:off x="8174831" y="3089862"/>
            <a:ext cx="519112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64М</a:t>
            </a:r>
            <a:endParaRPr lang="ru-RU" sz="112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7" name="Text 157"/>
          <p:cNvSpPr txBox="1"/>
          <p:nvPr/>
        </p:nvSpPr>
        <p:spPr>
          <a:xfrm>
            <a:off x="6205538" y="2118312"/>
            <a:ext cx="1009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1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  <a:endParaRPr lang="ru-RU" sz="1125" b="1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8" name="Text 158"/>
          <p:cNvSpPr txBox="1"/>
          <p:nvPr/>
        </p:nvSpPr>
        <p:spPr>
          <a:xfrm>
            <a:off x="5395912" y="2613612"/>
            <a:ext cx="61722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utility</a:t>
            </a:r>
            <a:endParaRPr lang="ru-RU" sz="1125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59" name="Text 159"/>
          <p:cNvSpPr txBox="1"/>
          <p:nvPr/>
        </p:nvSpPr>
        <p:spPr>
          <a:xfrm>
            <a:off x="6338888" y="2680287"/>
            <a:ext cx="1205865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12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userInitiated</a:t>
            </a:r>
            <a:endParaRPr lang="ru-RU" sz="112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60" name="Box 160"/>
          <p:cNvSpPr/>
          <p:nvPr/>
        </p:nvSpPr>
        <p:spPr>
          <a:xfrm>
            <a:off x="566738" y="3533775"/>
            <a:ext cx="8010525" cy="457200"/>
          </a:xfrm>
          <a:prstGeom prst="roundRect">
            <a:avLst>
              <a:gd name="adj" fmla="val 20000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61" name="Text 161"/>
          <p:cNvSpPr txBox="1"/>
          <p:nvPr/>
        </p:nvSpPr>
        <p:spPr>
          <a:xfrm>
            <a:off x="747712" y="3581571"/>
            <a:ext cx="77914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5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«Не срочно» на телефоне = другой процессор</a:t>
            </a:r>
            <a:endParaRPr lang="ru-RU" sz="19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62" name="Text 162"/>
          <p:cNvSpPr txBox="1"/>
          <p:nvPr/>
        </p:nvSpPr>
        <p:spPr>
          <a:xfrm>
            <a:off x="557212" y="4130812"/>
            <a:ext cx="7386638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512K на iPhone в .utility: sort медленнее ×2,8, хеш — ×5,8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Picture 16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63" name="Slide Number 163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31" grpId="0" animBg="1"/>
      <p:bldP spid="129" grpId="0" animBg="1"/>
      <p:bldP spid="130" grpId="0" animBg="1"/>
      <p:bldP spid="132" grpId="0" animBg="1"/>
      <p:bldP spid="133" grpId="0" animBg="1"/>
      <p:bldP spid="144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1" grpId="0" animBg="1"/>
      <p:bldP spid="162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РАУНД </a:t>
            </a:r>
            <a:r>
              <a:rPr lang="ru-RU" sz="1099" b="0" i="0" spc="94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ИЗ 4 · ПРОЦЕССОР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ОДИН БЕНЧМАРК — ТРИ ОТВЕТА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0063"/>
            <a:ext cx="91154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N, U = N/2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1473994" y="1375029"/>
            <a:ext cx="2481262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CI · Linux x86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1473994" y="1610563"/>
            <a:ext cx="24812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GCC, libstdc++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3953351" y="1375029"/>
            <a:ext cx="2285048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 разработчика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3953351" y="1610563"/>
            <a:ext cx="228504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M2 Pro, userInitiated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6237708" y="1365504"/>
            <a:ext cx="2397871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 </a:t>
            </a:r>
            <a:r>
              <a:rPr lang="ru-RU" sz="150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.utility</a:t>
            </a:r>
            <a:endParaRPr lang="ru-RU" sz="150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6237708" y="1610563"/>
            <a:ext cx="2397871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[модель iPhone]</a:t>
            </a:r>
            <a:endParaRPr lang="ru-RU" sz="12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557212" y="1893056"/>
            <a:ext cx="91154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64K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2416931"/>
            <a:ext cx="91154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256K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57212" y="2940806"/>
            <a:ext cx="91154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512K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3464681"/>
            <a:ext cx="91154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1M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Fill 114"/>
          <p:cNvSpPr/>
          <p:nvPr/>
        </p:nvSpPr>
        <p:spPr>
          <a:xfrm>
            <a:off x="1524000" y="2000250"/>
            <a:ext cx="2381250" cy="457200"/>
          </a:xfrm>
          <a:prstGeom prst="roundRect">
            <a:avLst>
              <a:gd name="adj" fmla="val 14583"/>
            </a:avLst>
          </a:prstGeom>
          <a:solidFill>
            <a:srgbClr val="5E1C42"/>
          </a:solidFill>
          <a:ln>
            <a:noFill/>
          </a:ln>
        </p:spPr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1519238" y="2027492"/>
            <a:ext cx="23907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хеш</a:t>
            </a:r>
            <a:b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125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[×1,42 или ×1,72]</a:t>
            </a:r>
            <a:endParaRPr lang="ru-RU" sz="1125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Fill 116"/>
          <p:cNvSpPr/>
          <p:nvPr/>
        </p:nvSpPr>
        <p:spPr>
          <a:xfrm>
            <a:off x="1524000" y="2524125"/>
            <a:ext cx="2381250" cy="457200"/>
          </a:xfrm>
          <a:prstGeom prst="roundRect">
            <a:avLst>
              <a:gd name="adj" fmla="val 14583"/>
            </a:avLst>
          </a:prstGeom>
          <a:solidFill>
            <a:srgbClr val="5E1C42"/>
          </a:solidFill>
          <a:ln>
            <a:noFill/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1519238" y="2551366"/>
            <a:ext cx="23907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хеш</a:t>
            </a:r>
            <a:b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125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[×1,27 или ×1,37]</a:t>
            </a:r>
            <a:endParaRPr lang="ru-RU" sz="1125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8" name="Fill 118"/>
          <p:cNvSpPr/>
          <p:nvPr/>
        </p:nvSpPr>
        <p:spPr>
          <a:xfrm>
            <a:off x="1524000" y="3048000"/>
            <a:ext cx="2381250" cy="457200"/>
          </a:xfrm>
          <a:prstGeom prst="roundRect">
            <a:avLst>
              <a:gd name="adj" fmla="val 14583"/>
            </a:avLst>
          </a:prstGeom>
          <a:solidFill>
            <a:srgbClr val="5E1C42"/>
          </a:solidFill>
          <a:ln>
            <a:noFill/>
          </a:ln>
        </p:spPr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1519238" y="3075242"/>
            <a:ext cx="23907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хеш</a:t>
            </a:r>
            <a:b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125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[×1,20 или ×1,25]</a:t>
            </a:r>
            <a:endParaRPr lang="ru-RU" sz="1125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0" name="Box 120"/>
          <p:cNvSpPr/>
          <p:nvPr/>
        </p:nvSpPr>
        <p:spPr>
          <a:xfrm>
            <a:off x="1531144" y="3579019"/>
            <a:ext cx="2366962" cy="442912"/>
          </a:xfrm>
          <a:prstGeom prst="roundRect">
            <a:avLst>
              <a:gd name="adj" fmla="val 14583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1519238" y="3599116"/>
            <a:ext cx="239077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≈ ничья</a:t>
            </a:r>
            <a:b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125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[хеш ×1,15 или ×1,18]</a:t>
            </a:r>
            <a:endParaRPr lang="ru-RU" sz="1125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2" name="Box 122"/>
          <p:cNvSpPr/>
          <p:nvPr/>
        </p:nvSpPr>
        <p:spPr>
          <a:xfrm>
            <a:off x="4007644" y="2007394"/>
            <a:ext cx="2176462" cy="442912"/>
          </a:xfrm>
          <a:prstGeom prst="roundRect">
            <a:avLst>
              <a:gd name="adj" fmla="val 14583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3995738" y="1879854"/>
            <a:ext cx="22002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≈</a:t>
            </a:r>
            <a:endParaRPr lang="ru-RU" sz="15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4" name="Box 124"/>
          <p:cNvSpPr/>
          <p:nvPr/>
        </p:nvSpPr>
        <p:spPr>
          <a:xfrm>
            <a:off x="4007644" y="2531269"/>
            <a:ext cx="2176462" cy="442912"/>
          </a:xfrm>
          <a:prstGeom prst="roundRect">
            <a:avLst>
              <a:gd name="adj" fmla="val 14583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3995738" y="2403729"/>
            <a:ext cx="22002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≈</a:t>
            </a:r>
            <a:endParaRPr lang="ru-RU" sz="15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6" name="Box 126"/>
          <p:cNvSpPr/>
          <p:nvPr/>
        </p:nvSpPr>
        <p:spPr>
          <a:xfrm>
            <a:off x="4007644" y="3055144"/>
            <a:ext cx="2176462" cy="442912"/>
          </a:xfrm>
          <a:prstGeom prst="roundRect">
            <a:avLst>
              <a:gd name="adj" fmla="val 14583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3995738" y="2927604"/>
            <a:ext cx="22002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≈</a:t>
            </a:r>
            <a:endParaRPr lang="ru-RU" sz="15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8" name="Fill 128"/>
          <p:cNvSpPr/>
          <p:nvPr/>
        </p:nvSpPr>
        <p:spPr>
          <a:xfrm>
            <a:off x="4000500" y="3571875"/>
            <a:ext cx="2190750" cy="457200"/>
          </a:xfrm>
          <a:prstGeom prst="roundRect">
            <a:avLst>
              <a:gd name="adj" fmla="val 14583"/>
            </a:avLst>
          </a:prstGeom>
          <a:solidFill>
            <a:srgbClr val="174F45"/>
          </a:solidFill>
          <a:ln>
            <a:noFill/>
          </a:ln>
        </p:spPr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3995738" y="3464681"/>
            <a:ext cx="22002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×1,3*</a:t>
            </a:r>
            <a:endParaRPr lang="ru-RU" sz="165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0" name="Box 130"/>
          <p:cNvSpPr/>
          <p:nvPr/>
        </p:nvSpPr>
        <p:spPr>
          <a:xfrm>
            <a:off x="6293644" y="2007394"/>
            <a:ext cx="2286000" cy="442912"/>
          </a:xfrm>
          <a:prstGeom prst="roundRect">
            <a:avLst>
              <a:gd name="adj" fmla="val 14583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6281738" y="1879854"/>
            <a:ext cx="230981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≈</a:t>
            </a:r>
            <a:endParaRPr lang="ru-RU" sz="15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2" name="Fill 132"/>
          <p:cNvSpPr/>
          <p:nvPr/>
        </p:nvSpPr>
        <p:spPr>
          <a:xfrm>
            <a:off x="6286500" y="2524125"/>
            <a:ext cx="2300288" cy="457200"/>
          </a:xfrm>
          <a:prstGeom prst="roundRect">
            <a:avLst>
              <a:gd name="adj" fmla="val 14583"/>
            </a:avLst>
          </a:prstGeom>
          <a:solidFill>
            <a:srgbClr val="174F45"/>
          </a:solidFill>
          <a:ln>
            <a:noFill/>
          </a:ln>
        </p:spPr>
      </p:sp>
      <p:sp xmlns:p14="http://schemas.microsoft.com/office/powerpoint/2010/main">
        <p:nvSpPr>
          <p:cNvPr id="133" name="Text 133"/>
          <p:cNvSpPr txBox="1"/>
          <p:nvPr/>
        </p:nvSpPr>
        <p:spPr>
          <a:xfrm>
            <a:off x="6281738" y="2416931"/>
            <a:ext cx="230981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×1,3</a:t>
            </a:r>
            <a:endParaRPr lang="ru-RU" sz="165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4" name="Fill 134"/>
          <p:cNvSpPr/>
          <p:nvPr/>
        </p:nvSpPr>
        <p:spPr>
          <a:xfrm>
            <a:off x="6286500" y="3048000"/>
            <a:ext cx="2300288" cy="457200"/>
          </a:xfrm>
          <a:prstGeom prst="roundRect">
            <a:avLst>
              <a:gd name="adj" fmla="val 14583"/>
            </a:avLst>
          </a:prstGeom>
          <a:solidFill>
            <a:srgbClr val="23806D"/>
          </a:solidFill>
          <a:ln>
            <a:noFill/>
          </a:ln>
        </p:spPr>
      </p:sp>
      <p:sp xmlns:p14="http://schemas.microsoft.com/office/powerpoint/2010/main">
        <p:nvSpPr>
          <p:cNvPr id="135" name="Text 135"/>
          <p:cNvSpPr txBox="1"/>
          <p:nvPr/>
        </p:nvSpPr>
        <p:spPr>
          <a:xfrm>
            <a:off x="6281738" y="2940806"/>
            <a:ext cx="230981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×1,9</a:t>
            </a:r>
            <a:endParaRPr lang="ru-RU" sz="165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6" name="Fill 136"/>
          <p:cNvSpPr/>
          <p:nvPr/>
        </p:nvSpPr>
        <p:spPr>
          <a:xfrm>
            <a:off x="6286500" y="3571875"/>
            <a:ext cx="2300288" cy="457200"/>
          </a:xfrm>
          <a:prstGeom prst="roundRect">
            <a:avLst>
              <a:gd name="adj" fmla="val 14583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37" name="Text 137"/>
          <p:cNvSpPr txBox="1"/>
          <p:nvPr/>
        </p:nvSpPr>
        <p:spPr>
          <a:xfrm>
            <a:off x="6281738" y="3486321"/>
            <a:ext cx="230981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×3,3</a:t>
            </a:r>
            <a:endParaRPr lang="ru-RU" sz="19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8" name="Text 138"/>
          <p:cNvSpPr txBox="1"/>
          <p:nvPr/>
        </p:nvSpPr>
        <p:spPr>
          <a:xfrm>
            <a:off x="557212" y="4175379"/>
            <a:ext cx="78771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CI на x86 → прод на Graviton: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другие кэши, другие соседи</a:t>
            </a:r>
            <a:endParaRPr lang="ru-RU" sz="1500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Picture 13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9" name="Slide Number 139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31" grpId="0" animBg="1"/>
      <p:bldP spid="133" grpId="0" animBg="1"/>
      <p:bldP spid="135" grpId="0" animBg="1"/>
      <p:bldP spid="137" grpId="0" animBg="1"/>
      <p:bldP spid="106" grpId="0" animBg="1"/>
      <p:bldP spid="107" grpId="0" animBg="1"/>
      <p:bldP spid="123" grpId="0" animBg="1"/>
      <p:bldP spid="125" grpId="0" animBg="1"/>
      <p:bldP spid="127" grpId="0" animBg="1"/>
      <p:bldP spid="129" grpId="0" animBg="1"/>
      <p:bldP spid="138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ПОСЛЕ ЧЕТЫРЁХ РАУНДОВ · ЧТО ЭТО СТОИЛО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ЦЕНА APPROVE ЖИВЁТ В ХВОСТЕ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16806"/>
            <a:ext cx="5424488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Обычный пользователь, тысячи id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6090809" y="1379944"/>
            <a:ext cx="2495979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&lt; 1 мс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5" name="Line 105"/>
          <p:cNvSpPr/>
          <p:nvPr/>
        </p:nvSpPr>
        <p:spPr>
          <a:xfrm>
            <a:off x="557212" y="19121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2035931"/>
            <a:ext cx="5424488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Долгоживущий аккаунт, 512K id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334463"/>
            <a:ext cx="542448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iPhone, .utility · sort ≈29 мс, хеш ≈55 мс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212" y="2676287"/>
            <a:ext cx="8299037" cy="7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5625"/>
              </a:lnSpc>
              <a:spcBef>
                <a:spcPts val="0"/>
              </a:spcBef>
              <a:buNone/>
            </a:pPr>
            <a:r>
              <a:rPr lang="ru-RU" sz="5625" b="1" i="0" spc="-112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+26 мс +12 МиБ</a:t>
            </a:r>
            <a:endParaRPr lang="ru-RU" sz="5625" b="1" i="0" spc="-112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3394329"/>
            <a:ext cx="82990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на одну синхронизацию · на тестовом 1M: +137 мс</a:t>
            </a:r>
            <a:endParaRPr lang="ru-RU" sz="1500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Box 110"/>
          <p:cNvSpPr/>
          <p:nvPr/>
        </p:nvSpPr>
        <p:spPr>
          <a:xfrm>
            <a:off x="566738" y="3771900"/>
            <a:ext cx="8010525" cy="695325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747712" y="3822954"/>
            <a:ext cx="77914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 проде: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[что поехало в прод]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· этап — </a:t>
            </a:r>
            <a:r>
              <a:rPr lang="ru-RU" sz="1500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[доля этапа в синхронизации]</a:t>
            </a:r>
            <a:br>
              <a:rPr lang="ru-RU" sz="1500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Иначе: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сразу мерить на телефоне в .utility и начать со слияния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Picture 1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2" name="Slide Number 11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6" grpId="0" animBg="1"/>
      <p:bldP spid="107" grpId="0" animBg="1"/>
      <p:bldP spid="108" grpId="0" animBg="1"/>
      <p:bldP spid="109" grpId="0" animBg="1"/>
      <p:bldP spid="111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ПОСЛЕ ЧЕТЫРЁХ РАУНДОВ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ПРАВИЛО ВЫБОРА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383220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1047750" y="1357817"/>
            <a:ext cx="77790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Мало уникальных или нужен порядок появления</a:t>
            </a:r>
            <a:b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75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→ хеш-таблица, лучше плоская</a:t>
            </a:r>
            <a:endParaRPr lang="ru-RU" sz="1575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1935670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1047750" y="1910267"/>
            <a:ext cx="77790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Часть входа уже отсортирована</a:t>
            </a:r>
            <a:b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75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→ отсортировать остальное, убрать повторы, слить</a:t>
            </a:r>
            <a:endParaRPr lang="ru-RU" sz="1575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488121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1047750" y="2462717"/>
            <a:ext cx="77790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Целые ключи, почти все разные, больше кэша</a:t>
            </a:r>
            <a:b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75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→ radix или плоская; узловая — последней</a:t>
            </a:r>
            <a:endParaRPr lang="ru-RU" sz="1575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3040571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1047750" y="3015167"/>
            <a:ext cx="77790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Код живёт не там, где мерили</a:t>
            </a:r>
            <a:b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75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→ цена шага другая</a:t>
            </a:r>
            <a:endParaRPr lang="ru-RU" sz="1575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3593021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1047750" y="3567617"/>
            <a:ext cx="7779068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Сомневаетесь</a:t>
            </a:r>
            <a:b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75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→ меряйте</a:t>
            </a:r>
            <a:endParaRPr lang="ru-RU" sz="1575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4154024"/>
            <a:ext cx="7877175" cy="3038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42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Big-O считает шаги, а не их цену</a:t>
            </a:r>
            <a:endParaRPr lang="ru-RU" sz="195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4" name="Picture 1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4" name="Slide Number 114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ПОСЛЕ ЧЕТЫРЁХ РАУНДОВ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КОД-РЕВЬЮ, ВТОРНИК, 17:40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Fill 103"/>
          <p:cNvSpPr/>
          <p:nvPr/>
        </p:nvSpPr>
        <p:spPr>
          <a:xfrm>
            <a:off x="557212" y="1381125"/>
            <a:ext cx="5048250" cy="1190625"/>
          </a:xfrm>
          <a:prstGeom prst="roundRect">
            <a:avLst>
              <a:gd name="adj" fmla="val 9600"/>
            </a:avLst>
          </a:prstGeom>
          <a:solidFill>
            <a:srgbClr val="121212"/>
          </a:solidFill>
          <a:ln>
            <a:noFill/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714375" y="1467422"/>
            <a:ext cx="4843462" cy="1019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05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dedup ids after offline sync</a:t>
            </a:r>
            <a:br>
              <a:rPr lang="ru-RU" sz="1050" b="0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05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std::sort(ids.begin(), ids.end());</a:t>
            </a:r>
            <a:br>
              <a:rPr lang="ru-RU" sz="105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05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ids.erase(std::unique(…), ids.end());</a:t>
            </a:r>
            <a:br>
              <a:rPr lang="ru-RU" sz="1050" b="0" i="0" dirty="0">
                <a:solidFill>
                  <a:srgbClr val="F08A7A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050" b="0" i="0" dirty="0">
                <a:solidFill>
                  <a:srgbClr val="7BD8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std::unordered_set&lt;uint64_t&gt; s(…);</a:t>
            </a:r>
            <a:br>
              <a:rPr lang="ru-RU" sz="1050" b="0" i="0" dirty="0">
                <a:solidFill>
                  <a:srgbClr val="7BD88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050" b="0" i="0" dirty="0">
                <a:solidFill>
                  <a:srgbClr val="7BD8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 ids.assign(s.begin(), s.end());</a:t>
            </a:r>
            <a:endParaRPr lang="ru-RU" sz="1050" b="0" i="0" dirty="0">
              <a:solidFill>
                <a:srgbClr val="7BD8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857875" y="1420063"/>
            <a:ext cx="283935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Никита, три года спустя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Box 106"/>
          <p:cNvSpPr/>
          <p:nvPr/>
        </p:nvSpPr>
        <p:spPr>
          <a:xfrm>
            <a:off x="5867400" y="1704975"/>
            <a:ext cx="2709862" cy="552450"/>
          </a:xfrm>
          <a:prstGeom prst="roundRect">
            <a:avLst>
              <a:gd name="adj" fmla="val 13333"/>
            </a:avLst>
          </a:prstGeom>
          <a:noFill/>
          <a:ln w="19050">
            <a:solidFill>
              <a:srgbClr val="E2489B"/>
            </a:solidFill>
          </a:ln>
        </p:spPr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867400" y="1590846"/>
            <a:ext cx="2709862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20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Changes requested</a:t>
            </a:r>
            <a:endParaRPr lang="ru-RU" sz="1950" b="1" i="0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212" y="2837955"/>
            <a:ext cx="3905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27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952500" y="2803779"/>
            <a:ext cx="2186940" cy="704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Контракт</a:t>
            </a:r>
            <a:b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выход был отсортирован — кто на это опирается?</a:t>
            </a:r>
            <a:endParaRPr lang="ru-RU" sz="1200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3238500" y="2837955"/>
            <a:ext cx="3905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lang="ru-RU" sz="27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3633788" y="2803779"/>
            <a:ext cx="2186940" cy="933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Данные</a:t>
            </a:r>
            <a:b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какие N и повторы? локальные уже отсортированы</a:t>
            </a:r>
            <a:endParaRPr lang="ru-RU" sz="1200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919788" y="2837955"/>
            <a:ext cx="3905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lang="ru-RU" sz="27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315075" y="2803779"/>
            <a:ext cx="2368439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Где исполняется</a:t>
            </a:r>
            <a:b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какое железо и какой QoS?</a:t>
            </a:r>
            <a:endParaRPr lang="ru-RU" sz="1200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4" name="Box 114"/>
          <p:cNvSpPr/>
          <p:nvPr/>
        </p:nvSpPr>
        <p:spPr>
          <a:xfrm>
            <a:off x="564356" y="3912394"/>
            <a:ext cx="2538412" cy="557212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4288">
            <a:solidFill>
              <a:srgbClr val="46CDAE"/>
            </a:solidFill>
          </a:ln>
        </p:spPr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700088" y="3969839"/>
            <a:ext cx="2362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75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</a:t>
            </a:r>
            <a:r>
              <a:rPr lang="ru-RU" sz="127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— прав на телефоне в фоне</a:t>
            </a:r>
            <a:endParaRPr lang="ru-RU" sz="127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Box 116"/>
          <p:cNvSpPr/>
          <p:nvPr/>
        </p:nvSpPr>
        <p:spPr>
          <a:xfrm>
            <a:off x="3302794" y="3912394"/>
            <a:ext cx="2538412" cy="557212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3438525" y="3969839"/>
            <a:ext cx="2362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75" b="1" i="0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</a:t>
            </a:r>
            <a:r>
              <a:rPr lang="ru-RU" sz="127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— прав с плоской таблицей и повторами</a:t>
            </a:r>
            <a:endParaRPr lang="ru-RU" sz="127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8" name="Box 118"/>
          <p:cNvSpPr/>
          <p:nvPr/>
        </p:nvSpPr>
        <p:spPr>
          <a:xfrm>
            <a:off x="6043612" y="3914775"/>
            <a:ext cx="2533650" cy="552450"/>
          </a:xfrm>
          <a:prstGeom prst="roundRect">
            <a:avLst>
              <a:gd name="adj" fmla="val 20000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6176962" y="3969839"/>
            <a:ext cx="23622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75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 — прав с первой минуты</a:t>
            </a:r>
            <a:endParaRPr lang="ru-RU" sz="1275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Picture 11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0" name="Slide Number 12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5" grpId="0" animBg="1"/>
      <p:bldP spid="117" grpId="0" animBg="1"/>
      <p:bldP spid="11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Title 101"/>
          <p:cNvSpPr txBox="1"/>
          <p:nvPr/>
        </p:nvSpPr>
        <p:spPr>
          <a:xfrm>
            <a:off x="557212" y="49796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ПОСЛЕ ЧЕТЫРЁХ РАУНДОВ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2" name="Text 102"/>
          <p:cNvSpPr txBox="1"/>
          <p:nvPr/>
        </p:nvSpPr>
        <p:spPr>
          <a:xfrm>
            <a:off x="557212" y="1457401"/>
            <a:ext cx="1495425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410"/>
              </a:lnSpc>
              <a:spcBef>
                <a:spcPts val="0"/>
              </a:spcBef>
              <a:buNone/>
            </a:pPr>
            <a:r>
              <a:rPr lang="ru-RU" sz="42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×2,6</a:t>
            </a:r>
            <a:endParaRPr lang="ru-RU" sz="42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2039188"/>
            <a:ext cx="14954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</a:t>
            </a:r>
            <a:br>
              <a:rPr lang="ru-RU" sz="12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память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2081212" y="1457401"/>
            <a:ext cx="1495425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410"/>
              </a:lnSpc>
              <a:spcBef>
                <a:spcPts val="0"/>
              </a:spcBef>
              <a:buNone/>
            </a:pPr>
            <a:r>
              <a:rPr lang="ru-RU" sz="42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×1,7</a:t>
            </a:r>
            <a:endParaRPr lang="ru-RU" sz="42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2081212" y="2039188"/>
            <a:ext cx="14954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flat</a:t>
            </a:r>
            <a:br>
              <a:rPr lang="ru-RU" sz="1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реализация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3605212" y="1457401"/>
            <a:ext cx="1495425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410"/>
              </a:lnSpc>
              <a:spcBef>
                <a:spcPts val="0"/>
              </a:spcBef>
              <a:buNone/>
            </a:pPr>
            <a:r>
              <a:rPr lang="ru-RU" sz="4200" b="1" i="0" spc="-38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×3,7</a:t>
            </a:r>
            <a:endParaRPr lang="ru-RU" sz="4200" b="1" i="0" spc="-38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3605212" y="2039188"/>
            <a:ext cx="149542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хеш</a:t>
            </a:r>
            <a:br>
              <a:rPr lang="ru-RU" sz="1200" b="1" i="0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данные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129212" y="1457401"/>
            <a:ext cx="1500188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410"/>
              </a:lnSpc>
              <a:spcBef>
                <a:spcPts val="0"/>
              </a:spcBef>
              <a:buNone/>
            </a:pPr>
            <a:r>
              <a:rPr lang="ru-RU" sz="42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×3,3</a:t>
            </a:r>
            <a:endParaRPr lang="ru-RU" sz="42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129212" y="2039188"/>
            <a:ext cx="150018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</a:t>
            </a:r>
            <a:br>
              <a:rPr lang="ru-RU" sz="12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процессор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0" name="Picture 109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333500"/>
            <a:ext cx="1428750" cy="1428750"/>
          </a:xfrm>
          <a:prstGeom prst="rect">
            <a:avLst/>
          </a:prstGeom>
        </p:spPr>
      </p:pic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6483668" y="2831392"/>
            <a:ext cx="2088832" cy="4833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219"/>
              </a:lnSpc>
              <a:spcBef>
                <a:spcPts val="0"/>
              </a:spcBef>
              <a:buNone/>
            </a:pPr>
            <a:r>
              <a:rPr lang="ru-RU" sz="975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github.com/Neoron95/</a:t>
            </a:r>
            <a:br>
              <a:rPr lang="ru-RU" sz="975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975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conference-hardfest-algorithms</a:t>
            </a:r>
            <a:endParaRPr lang="ru-RU" sz="975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57212" y="2737104"/>
            <a:ext cx="611124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iOS: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перф-тест на телефоне, в той очереди, где живёт код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Бэкенд: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на том железе, где прод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3614242"/>
            <a:ext cx="8299037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225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Ваш алгоритм не выбирал процессор.</a:t>
            </a:r>
            <a:br>
              <a:rPr lang="ru-RU" sz="27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ru-RU" sz="27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Проверьте, какой ему достался.</a:t>
            </a:r>
            <a:endParaRPr lang="ru-RU" sz="27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4" name="Picture 11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4" name="Slide Number 114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 xmlns:p14="http://schemas.microsoft.com/office/powerpoint/2010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3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ckup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19500" cy="5143500"/>
          </a:xfrm>
          <a:prstGeom prst="rect">
            <a:avLst/>
          </a:prstGeom>
        </p:spPr>
      </p:pic>
      <p:sp xmlns:p14="http://schemas.microsoft.com/office/powerpoint/2010/main">
        <p:nvSpPr>
          <p:cNvPr id="101" name="Text 101"/>
          <p:cNvSpPr txBox="1"/>
          <p:nvPr/>
        </p:nvSpPr>
        <p:spPr>
          <a:xfrm>
            <a:off x="4095750" y="1367599"/>
            <a:ext cx="3462338" cy="638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875"/>
              </a:lnSpc>
              <a:spcBef>
                <a:spcPts val="0"/>
              </a:spcBef>
              <a:buNone/>
            </a:pPr>
            <a:r>
              <a:rPr lang="ru-RU" sz="45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BACKUP</a:t>
            </a:r>
            <a:endParaRPr lang="ru-RU" sz="45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2" name="Text 102"/>
          <p:cNvSpPr txBox="1"/>
          <p:nvPr/>
        </p:nvSpPr>
        <p:spPr>
          <a:xfrm>
            <a:off x="4095750" y="1988306"/>
            <a:ext cx="4654344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для вопросов · ответ — в заметках</a:t>
            </a:r>
            <a:endParaRPr lang="ru-RU" sz="165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4095750" y="2458288"/>
            <a:ext cx="230505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Где мерили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29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Кто выбирает ядро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Плотные rowid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31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Слияние дельты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32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Другие языки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33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«Бенчмарк врал»: 3×3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34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Приоритет background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Точка перехода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36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Дрейф под нагрузкой</a:t>
            </a:r>
            <a:endParaRPr lang="ru-RU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6429375" y="2458288"/>
            <a:ext cx="2250710" cy="1695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37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libstdc++ и libc++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38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Рабочий набор и кэш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39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sort + unique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40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Узловая таблица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41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Radix sort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42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reserve(N)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43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Честный замер</a:t>
            </a:r>
            <a:b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44</a:t>
            </a:r>
            <a:r>
              <a:rPr lang="ru-RU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Шаги и их цена</a:t>
            </a:r>
            <a:endParaRPr lang="ru-RU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Picture 10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05" name="Slide Number 10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ГДЕ МЕРИЛИ: У КАЖДОЙ МАШИНЫ СВОИ ЯДРА И КЭШИ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1866424" y="1416806"/>
            <a:ext cx="1696402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1866424" y="1705813"/>
            <a:ext cx="169640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[модель iPhone]</a:t>
            </a:r>
            <a:endParaRPr lang="ru-RU" sz="12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3542824" y="1416806"/>
            <a:ext cx="1696402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3542824" y="1705813"/>
            <a:ext cx="169640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M2 Pro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219224" y="1416806"/>
            <a:ext cx="1696402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x86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219224" y="1705813"/>
            <a:ext cx="169640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Xeon 2,1 ГГц · VM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6895124" y="1416806"/>
            <a:ext cx="1730740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GitHub CI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6895124" y="1705813"/>
            <a:ext cx="173074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macOS-раннер · VM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Line 111"/>
          <p:cNvSpPr/>
          <p:nvPr/>
        </p:nvSpPr>
        <p:spPr>
          <a:xfrm>
            <a:off x="557212" y="20264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57212" y="2229688"/>
            <a:ext cx="130397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ядра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Fill 113"/>
          <p:cNvSpPr/>
          <p:nvPr/>
        </p:nvSpPr>
        <p:spPr>
          <a:xfrm>
            <a:off x="2000250" y="2124075"/>
            <a:ext cx="1428750" cy="457200"/>
          </a:xfrm>
          <a:prstGeom prst="roundRect">
            <a:avLst>
              <a:gd name="adj" fmla="val 16666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1995488" y="2038521"/>
            <a:ext cx="14382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 + E</a:t>
            </a:r>
            <a:endParaRPr lang="ru-RU" sz="19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5" name="Fill 115"/>
          <p:cNvSpPr/>
          <p:nvPr/>
        </p:nvSpPr>
        <p:spPr>
          <a:xfrm>
            <a:off x="3676650" y="2124075"/>
            <a:ext cx="1428750" cy="457200"/>
          </a:xfrm>
          <a:prstGeom prst="roundRect">
            <a:avLst>
              <a:gd name="adj" fmla="val 16666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3671888" y="2038521"/>
            <a:ext cx="1438275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60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 + E</a:t>
            </a:r>
            <a:endParaRPr lang="ru-RU" sz="19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7" name="Box 117"/>
          <p:cNvSpPr/>
          <p:nvPr/>
        </p:nvSpPr>
        <p:spPr>
          <a:xfrm>
            <a:off x="5360194" y="2131219"/>
            <a:ext cx="1414462" cy="442912"/>
          </a:xfrm>
          <a:prstGeom prst="roundRect">
            <a:avLst>
              <a:gd name="adj" fmla="val 16666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5362575" y="2045456"/>
            <a:ext cx="14097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тип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Box 119"/>
          <p:cNvSpPr/>
          <p:nvPr/>
        </p:nvSpPr>
        <p:spPr>
          <a:xfrm>
            <a:off x="7050881" y="2131219"/>
            <a:ext cx="1414462" cy="442912"/>
          </a:xfrm>
          <a:prstGeom prst="roundRect">
            <a:avLst>
              <a:gd name="adj" fmla="val 16666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7053262" y="2045456"/>
            <a:ext cx="140970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375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тип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1" name="Line 121"/>
          <p:cNvSpPr/>
          <p:nvPr/>
        </p:nvSpPr>
        <p:spPr>
          <a:xfrm>
            <a:off x="557212" y="270271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557212" y="2905963"/>
            <a:ext cx="130397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кэш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1866424" y="2815476"/>
            <a:ext cx="1696402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[L1/L2 P- и E-ядер iPhone из sysctl]</a:t>
            </a:r>
            <a:endParaRPr lang="ru-RU" sz="12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3542824" y="2803779"/>
            <a:ext cx="1696402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P: L2 16 МиБ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E: L2 4 МиБ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5219224" y="2901201"/>
            <a:ext cx="1696402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75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[L3 из lscpu]</a:t>
            </a:r>
            <a:endParaRPr lang="ru-RU" sz="12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6895124" y="2899029"/>
            <a:ext cx="173074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L2 12 МиБ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7" name="Line 127"/>
          <p:cNvSpPr/>
          <p:nvPr/>
        </p:nvSpPr>
        <p:spPr>
          <a:xfrm>
            <a:off x="557212" y="34075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8" name="Box 128"/>
          <p:cNvSpPr/>
          <p:nvPr/>
        </p:nvSpPr>
        <p:spPr>
          <a:xfrm>
            <a:off x="566738" y="3676650"/>
            <a:ext cx="8010525" cy="790575"/>
          </a:xfrm>
          <a:prstGeom prst="roundRect">
            <a:avLst>
              <a:gd name="adj" fmla="val 14117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747712" y="3732466"/>
            <a:ext cx="77914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32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Mac-раннер в CI видит </a:t>
            </a: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один тип ядер</a:t>
            </a:r>
            <a:r>
              <a:rPr lang="ru-RU" sz="150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: QoS не уведёт поток на E-ядро —</a:t>
            </a:r>
            <a:br>
              <a:rPr lang="ru-RU" sz="150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50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мой эффект в hosted CI </a:t>
            </a: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не воспроизвести</a:t>
            </a:r>
            <a:endParaRPr lang="ru-RU" sz="15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30" name="Picture 12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0" name="Slide Number 130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utility → E-ЯДРО: НЕ ЗАКОН XNU, А МОЙ ЗАМЕР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0063"/>
            <a:ext cx="375666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XNU · Edge-планировщик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753857"/>
            <a:ext cx="385476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utility — на любые ядра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2051304"/>
            <a:ext cx="38547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решает закрытый CLPC</a:t>
            </a:r>
            <a:endParaRPr lang="ru-RU" sz="1500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6" name="Line 106"/>
          <p:cNvSpPr/>
          <p:nvPr/>
        </p:nvSpPr>
        <p:spPr>
          <a:xfrm>
            <a:off x="557212" y="2474119"/>
            <a:ext cx="3714750" cy="48"/>
          </a:xfrm>
          <a:custGeom>
            <a:avLst/>
            <a:gdLst/>
            <a:ahLst/>
            <a:cxnLst/>
            <a:rect l="0" t="0" r="r" b="b"/>
            <a:pathLst>
              <a:path w="3714750" h="1" fill="none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592057"/>
            <a:ext cx="385476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background — на P никогда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212" y="2892562"/>
            <a:ext cx="3854768" cy="44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«would never recommend execution</a:t>
            </a:r>
            <a:b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75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on the P-cores»</a:t>
            </a:r>
            <a:endParaRPr lang="ru-RU" sz="1275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667250" y="1420063"/>
            <a:ext cx="4065699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МОЙ ЗАМЕР</a:t>
            </a:r>
            <a:endParaRPr lang="ru-RU" sz="12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6112192" y="1702556"/>
            <a:ext cx="120586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7412355" y="1702556"/>
            <a:ext cx="120586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988492" y="1982038"/>
            <a:ext cx="159829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[модель iPhone]</a:t>
            </a:r>
            <a:endParaRPr lang="ru-RU" sz="12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4667250" y="2389442"/>
            <a:ext cx="135302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utility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4667250" y="3132392"/>
            <a:ext cx="135302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background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Box 115"/>
          <p:cNvSpPr/>
          <p:nvPr/>
        </p:nvSpPr>
        <p:spPr>
          <a:xfrm>
            <a:off x="6150769" y="2245519"/>
            <a:ext cx="1128712" cy="604838"/>
          </a:xfrm>
          <a:prstGeom prst="roundRect">
            <a:avLst>
              <a:gd name="adj" fmla="val 18461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6138862" y="2322805"/>
            <a:ext cx="1152525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7" name="Box 117"/>
          <p:cNvSpPr/>
          <p:nvPr/>
        </p:nvSpPr>
        <p:spPr>
          <a:xfrm>
            <a:off x="7453312" y="2247900"/>
            <a:ext cx="1123950" cy="600075"/>
          </a:xfrm>
          <a:prstGeom prst="roundRect">
            <a:avLst>
              <a:gd name="adj" fmla="val 18461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7439025" y="2322805"/>
            <a:ext cx="1152525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</a:t>
            </a:r>
            <a:endParaRPr lang="ru-RU" sz="3600" b="1" i="0" spc="-38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9" name="Box 119"/>
          <p:cNvSpPr/>
          <p:nvPr/>
        </p:nvSpPr>
        <p:spPr>
          <a:xfrm>
            <a:off x="6150769" y="2988469"/>
            <a:ext cx="1128712" cy="604838"/>
          </a:xfrm>
          <a:prstGeom prst="roundRect">
            <a:avLst>
              <a:gd name="adj" fmla="val 18461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6138862" y="3065755"/>
            <a:ext cx="1152525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1" name="Box 121"/>
          <p:cNvSpPr/>
          <p:nvPr/>
        </p:nvSpPr>
        <p:spPr>
          <a:xfrm>
            <a:off x="7450931" y="2988469"/>
            <a:ext cx="1128712" cy="604838"/>
          </a:xfrm>
          <a:prstGeom prst="roundRect">
            <a:avLst>
              <a:gd name="adj" fmla="val 18461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7439025" y="3065755"/>
            <a:ext cx="1152525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3" name="Line 123"/>
          <p:cNvSpPr/>
          <p:nvPr/>
        </p:nvSpPr>
        <p:spPr>
          <a:xfrm>
            <a:off x="557212" y="38742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557212" y="4026656"/>
            <a:ext cx="8299037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На вашем устройстве может быть иначе — </a:t>
            </a:r>
            <a:r>
              <a:rPr lang="ru-RU" sz="165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проверьте</a:t>
            </a:r>
            <a:endParaRPr lang="ru-RU" sz="165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5" name="Picture 1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5" name="Slide Number 12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ПЛОТНЫЕ rowid: НА x86 ХЕШ ВПЕРЕДИ В 1,7 РАЗА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68961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x86 · N = 2^20, U = N/2 · нс на элемент: libstdc++ / libc++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2909888" y="1665542"/>
            <a:ext cx="199072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5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4862512" y="1665542"/>
            <a:ext cx="199072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Line 106"/>
          <p:cNvSpPr/>
          <p:nvPr/>
        </p:nvSpPr>
        <p:spPr>
          <a:xfrm>
            <a:off x="557212" y="20073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121656"/>
            <a:ext cx="2481262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случайные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2909888" y="2127504"/>
            <a:ext cx="19907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86,4 / 89,0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862512" y="2127504"/>
            <a:ext cx="19907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85,6 / 88,7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Box 110"/>
          <p:cNvSpPr/>
          <p:nvPr/>
        </p:nvSpPr>
        <p:spPr>
          <a:xfrm>
            <a:off x="6974681" y="2083594"/>
            <a:ext cx="1604962" cy="385762"/>
          </a:xfrm>
          <a:prstGeom prst="roundRect">
            <a:avLst>
              <a:gd name="adj" fmla="val 19047"/>
            </a:avLst>
          </a:prstGeom>
          <a:noFill/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6977062" y="2026406"/>
            <a:ext cx="16002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925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≈ ничья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Line 112"/>
          <p:cNvSpPr/>
          <p:nvPr/>
        </p:nvSpPr>
        <p:spPr>
          <a:xfrm>
            <a:off x="557212" y="25598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2674106"/>
            <a:ext cx="2481262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плотные rowid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2909888" y="2679954"/>
            <a:ext cx="19907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87,8 / 89,8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Fill 115"/>
          <p:cNvSpPr/>
          <p:nvPr/>
        </p:nvSpPr>
        <p:spPr>
          <a:xfrm>
            <a:off x="5000625" y="2628900"/>
            <a:ext cx="1714500" cy="400050"/>
          </a:xfrm>
          <a:prstGeom prst="roundRect">
            <a:avLst>
              <a:gd name="adj" fmla="val 16666"/>
            </a:avLst>
          </a:prstGeom>
          <a:solidFill>
            <a:srgbClr val="5E1C42"/>
          </a:solidFill>
          <a:ln>
            <a:noFill/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4862512" y="2679954"/>
            <a:ext cx="19907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52,8 / 53,3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7" name="Box 117"/>
          <p:cNvSpPr/>
          <p:nvPr/>
        </p:nvSpPr>
        <p:spPr>
          <a:xfrm>
            <a:off x="6974681" y="2636044"/>
            <a:ext cx="1604962" cy="385762"/>
          </a:xfrm>
          <a:prstGeom prst="roundRect">
            <a:avLst>
              <a:gd name="adj" fmla="val 19047"/>
            </a:avLst>
          </a:prstGeom>
          <a:solidFill>
            <a:srgbClr val="5E1C42"/>
          </a:solidFill>
          <a:ln w="14288">
            <a:solidFill>
              <a:srgbClr val="E2489B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6977062" y="2592057"/>
            <a:ext cx="1600200" cy="3905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92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хеш ×1,7</a:t>
            </a:r>
            <a:endParaRPr lang="ru-RU" sz="18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Line 119"/>
          <p:cNvSpPr/>
          <p:nvPr/>
        </p:nvSpPr>
        <p:spPr>
          <a:xfrm>
            <a:off x="557212" y="31122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57212" y="3217031"/>
            <a:ext cx="2481262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2880598" y="3232404"/>
            <a:ext cx="400192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[снять до 14.10]</a:t>
            </a:r>
            <a:endParaRPr lang="ru-RU" sz="1500" b="0" i="0" dirty="0">
              <a:solidFill>
                <a:srgbClr val="F2C1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2" name="Line 122"/>
          <p:cNvSpPr/>
          <p:nvPr/>
        </p:nvSpPr>
        <p:spPr>
          <a:xfrm>
            <a:off x="557212" y="365521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3" name="Box 123"/>
          <p:cNvSpPr/>
          <p:nvPr/>
        </p:nvSpPr>
        <p:spPr>
          <a:xfrm>
            <a:off x="566738" y="3819525"/>
            <a:ext cx="8010525" cy="695325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747712" y="3899154"/>
            <a:ext cx="5669756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Обратный край — libc++, id с шагом 2^k:</a:t>
            </a:r>
            <a:b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шаг 2^20 → все id в одной ячейке</a:t>
            </a:r>
            <a:endParaRPr lang="ru-RU" sz="1500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6096524" y="3937292"/>
            <a:ext cx="2299764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×1 500</a:t>
            </a:r>
            <a:endParaRPr lang="ru-RU" sz="3600" b="1" i="0" spc="-38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6" name="Picture 12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6" name="Slide Number 12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ДЕЛЬТА + СЛИЯНИЕ: В 3,5–6,6 РАЗА БЫСТРЕЕ sort + unique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68961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x86 · 2^20 отсортированных id + дельта 2^16 · libstdc++ / libc++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4241244" y="1658188"/>
            <a:ext cx="2137886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нс на элемент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6382726" y="1658188"/>
            <a:ext cx="225071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быстрее sort + unique, раз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Line 106"/>
          <p:cNvSpPr/>
          <p:nvPr/>
        </p:nvSpPr>
        <p:spPr>
          <a:xfrm>
            <a:off x="557212" y="19121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1965579"/>
            <a:ext cx="38547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sort + unique всего входа</a:t>
            </a:r>
            <a:endParaRPr lang="ru-RU" sz="1500" b="0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4241244" y="1965579"/>
            <a:ext cx="213788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42,4 / 31,2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6382726" y="1965579"/>
            <a:ext cx="22507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Line 110"/>
          <p:cNvSpPr/>
          <p:nvPr/>
        </p:nvSpPr>
        <p:spPr>
          <a:xfrm>
            <a:off x="557212" y="232171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2375154"/>
            <a:ext cx="38547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241244" y="2375154"/>
            <a:ext cx="213788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240,8 / 247,0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382726" y="2375154"/>
            <a:ext cx="22507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0,18 / 0,13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4" name="Line 114"/>
          <p:cNvSpPr/>
          <p:nvPr/>
        </p:nvSpPr>
        <p:spPr>
          <a:xfrm>
            <a:off x="557212" y="27312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2784729"/>
            <a:ext cx="38547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flat_hash_set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4241244" y="2784729"/>
            <a:ext cx="213788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39,3 / 36,4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6382726" y="2784729"/>
            <a:ext cx="225071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1,1 / 0,9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Box 118"/>
          <p:cNvSpPr/>
          <p:nvPr/>
        </p:nvSpPr>
        <p:spPr>
          <a:xfrm>
            <a:off x="566738" y="3228975"/>
            <a:ext cx="8010525" cy="695325"/>
          </a:xfrm>
          <a:prstGeom prst="roundRect">
            <a:avLst>
              <a:gd name="adj" fmla="val 16000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747712" y="3308604"/>
            <a:ext cx="414909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sort(Δ) + unique(Δ) + set_union</a:t>
            </a:r>
            <a:endParaRPr lang="ru-RU" sz="15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747712" y="3585162"/>
            <a:ext cx="414909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12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без unique(Δ) дубли дельты останутся</a:t>
            </a:r>
            <a:endParaRPr lang="ru-RU" sz="112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4241244" y="3435020"/>
            <a:ext cx="2137886" cy="295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175"/>
              </a:lnSpc>
              <a:spcBef>
                <a:spcPts val="0"/>
              </a:spcBef>
              <a:buNone/>
            </a:pPr>
            <a:r>
              <a:rPr lang="ru-RU" sz="1800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6,4 / 8,9</a:t>
            </a:r>
            <a:endParaRPr lang="ru-RU" sz="1800" b="1" i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6424612" y="3356267"/>
            <a:ext cx="2166938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6,6 / 3,5</a:t>
            </a:r>
            <a:endParaRPr lang="ru-RU" sz="3600" b="1" i="0" spc="-38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557212" y="4070604"/>
            <a:ext cx="385476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iPhone, </a:t>
            </a:r>
            <a:r>
              <a:rPr lang="ru-RU" sz="1500" b="0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.utility</a:t>
            </a:r>
            <a:endParaRPr lang="ru-RU" sz="1500" b="0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4207454" y="4080129"/>
            <a:ext cx="445812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2C14E"/>
                </a:solidFill>
                <a:latin typeface="Montserrat"/>
                <a:ea typeface="Montserrat"/>
                <a:cs typeface="Montserrat"/>
                <a:sym typeface="Montserrat"/>
              </a:rPr>
              <a:t>[домерить на iPhone]</a:t>
            </a:r>
            <a:endParaRPr lang="ru-RU" sz="1500" b="0" i="0" dirty="0">
              <a:solidFill>
                <a:srgbClr val="F2C1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Picture 1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5" name="Slide Number 12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УЗЕЛ НА КЛЮЧ — ТОЛЬКО В C++ И Java/Kotlin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Box 103"/>
          <p:cNvSpPr/>
          <p:nvPr/>
        </p:nvSpPr>
        <p:spPr>
          <a:xfrm>
            <a:off x="566738" y="1438275"/>
            <a:ext cx="3600450" cy="2552700"/>
          </a:xfrm>
          <a:prstGeom prst="roundRect">
            <a:avLst>
              <a:gd name="adj" fmla="val 4444"/>
            </a:avLst>
          </a:prstGeom>
          <a:solidFill>
            <a:srgbClr val="5E1C42"/>
          </a:solidFill>
          <a:ln w="19050">
            <a:solidFill>
              <a:srgbClr val="E2489B"/>
            </a:solidFill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747712" y="1562938"/>
            <a:ext cx="336423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узел на каждый ключ</a:t>
            </a:r>
            <a:endParaRPr lang="ru-RU" sz="12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747712" y="1908467"/>
            <a:ext cx="3364230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C++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747712" y="2397262"/>
            <a:ext cx="3364230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std::unordered_set</a:t>
            </a:r>
            <a:endParaRPr lang="ru-RU" sz="1275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747712" y="2857957"/>
            <a:ext cx="3364230" cy="4133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105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Java / Kotlin</a:t>
            </a:r>
            <a:endParaRPr lang="ru-RU" sz="27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747712" y="3264989"/>
            <a:ext cx="336423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HashSet&lt;Long&gt;, distinct()</a:t>
            </a:r>
            <a:br>
              <a:rPr lang="ru-RU" sz="1275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 боксинг: 2 объекта на id</a:t>
            </a:r>
            <a:endParaRPr lang="ru-RU" sz="12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476750" y="1420063"/>
            <a:ext cx="426191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без узла на ключ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4476750" y="1712081"/>
            <a:ext cx="143827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Swift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905500" y="1740037"/>
            <a:ext cx="2790301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открытая адресация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Line 112"/>
          <p:cNvSpPr/>
          <p:nvPr/>
        </p:nvSpPr>
        <p:spPr>
          <a:xfrm>
            <a:off x="4476750" y="2083594"/>
            <a:ext cx="4110038" cy="48"/>
          </a:xfrm>
          <a:custGeom>
            <a:avLst/>
            <a:gdLst/>
            <a:ahLst/>
            <a:cxnLst/>
            <a:rect l="0" t="0" r="r" b="b"/>
            <a:pathLst>
              <a:path w="4110038" h="1" fill="none">
                <a:moveTo>
                  <a:pt x="0" y="0"/>
                </a:moveTo>
                <a:lnTo>
                  <a:pt x="4110038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4476750" y="2169281"/>
            <a:ext cx="143827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 ≥ 1.24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905500" y="2197237"/>
            <a:ext cx="2790301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Swiss table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Line 115"/>
          <p:cNvSpPr/>
          <p:nvPr/>
        </p:nvSpPr>
        <p:spPr>
          <a:xfrm>
            <a:off x="4476750" y="2540794"/>
            <a:ext cx="4110038" cy="48"/>
          </a:xfrm>
          <a:custGeom>
            <a:avLst/>
            <a:gdLst/>
            <a:ahLst/>
            <a:cxnLst/>
            <a:rect l="0" t="0" r="r" b="b"/>
            <a:pathLst>
              <a:path w="4110038" h="1" fill="none">
                <a:moveTo>
                  <a:pt x="0" y="0"/>
                </a:moveTo>
                <a:lnTo>
                  <a:pt x="4110038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4476750" y="2626481"/>
            <a:ext cx="143827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Rust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5905500" y="2654437"/>
            <a:ext cx="2790301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Swiss table (hashbrown)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Line 118"/>
          <p:cNvSpPr/>
          <p:nvPr/>
        </p:nvSpPr>
        <p:spPr>
          <a:xfrm>
            <a:off x="4476750" y="2997994"/>
            <a:ext cx="4110038" cy="48"/>
          </a:xfrm>
          <a:custGeom>
            <a:avLst/>
            <a:gdLst/>
            <a:ahLst/>
            <a:cxnLst/>
            <a:rect l="0" t="0" r="r" b="b"/>
            <a:pathLst>
              <a:path w="4110038" h="1" fill="none">
                <a:moveTo>
                  <a:pt x="0" y="0"/>
                </a:moveTo>
                <a:lnTo>
                  <a:pt x="4110038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4476750" y="3083681"/>
            <a:ext cx="143827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Python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905500" y="3111637"/>
            <a:ext cx="2790301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плоская, но int — объект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1" name="Line 121"/>
          <p:cNvSpPr/>
          <p:nvPr/>
        </p:nvSpPr>
        <p:spPr>
          <a:xfrm>
            <a:off x="4476750" y="3455194"/>
            <a:ext cx="4110038" cy="48"/>
          </a:xfrm>
          <a:custGeom>
            <a:avLst/>
            <a:gdLst/>
            <a:ahLst/>
            <a:cxnLst/>
            <a:rect l="0" t="0" r="r" b="b"/>
            <a:pathLst>
              <a:path w="4110038" h="1" fill="none">
                <a:moveTo>
                  <a:pt x="0" y="0"/>
                </a:moveTo>
                <a:lnTo>
                  <a:pt x="4110038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4476750" y="3540881"/>
            <a:ext cx="1438275" cy="2809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62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C#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5905500" y="3568837"/>
            <a:ext cx="2790301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цепочки в массивах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557212" y="4182313"/>
            <a:ext cx="68961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 исходникам стандартных библиотек — не замеры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5" name="Picture 1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5" name="Slide Number 12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БЕНЧМАРК ВРАЛ: ПРИЧИНА НА x86 И НА M2 РАЗНАЯ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738663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· 1024 id, U = 512 · нс на элемент · </a:t>
            </a: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бирюзовым</a:t>
            </a: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— подозрительно быстро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3295174" y="1671390"/>
            <a:ext cx="169640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один массив</a:t>
            </a:r>
            <a:b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 цикле</a:t>
            </a:r>
            <a:endParaRPr lang="ru-RU" sz="13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008245" y="1671390"/>
            <a:ext cx="179451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64 одинаковые</a:t>
            </a:r>
            <a:b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копии</a:t>
            </a:r>
            <a:endParaRPr lang="ru-RU" sz="13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6817781" y="1671390"/>
            <a:ext cx="1809226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64 разных</a:t>
            </a:r>
            <a:b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3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массива</a:t>
            </a:r>
            <a:endParaRPr lang="ru-RU" sz="13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Line 107"/>
          <p:cNvSpPr/>
          <p:nvPr/>
        </p:nvSpPr>
        <p:spPr>
          <a:xfrm>
            <a:off x="557212" y="21883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212" y="2274056"/>
            <a:ext cx="277558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x86 Xeon</a:t>
            </a:r>
            <a:b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libstdc++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3295174" y="2313394"/>
            <a:ext cx="1696402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6,3</a:t>
            </a:r>
            <a:endParaRPr lang="ru-RU" sz="24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0" name="Box 110"/>
          <p:cNvSpPr/>
          <p:nvPr/>
        </p:nvSpPr>
        <p:spPr>
          <a:xfrm>
            <a:off x="5150644" y="2264569"/>
            <a:ext cx="1509712" cy="519112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008245" y="2313394"/>
            <a:ext cx="179451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5,7</a:t>
            </a:r>
            <a:endParaRPr lang="ru-RU" sz="24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817781" y="2313394"/>
            <a:ext cx="1809226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27,1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Line 113"/>
          <p:cNvSpPr/>
          <p:nvPr/>
        </p:nvSpPr>
        <p:spPr>
          <a:xfrm>
            <a:off x="557212" y="28741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57212" y="2959856"/>
            <a:ext cx="277558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M2 Pro · Linux VM</a:t>
            </a:r>
            <a:b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libstdc++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3295174" y="2999194"/>
            <a:ext cx="1696402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4,8</a:t>
            </a:r>
            <a:endParaRPr lang="ru-RU" sz="24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6" name="Box 116"/>
          <p:cNvSpPr/>
          <p:nvPr/>
        </p:nvSpPr>
        <p:spPr>
          <a:xfrm>
            <a:off x="5150644" y="2950369"/>
            <a:ext cx="1509712" cy="519112"/>
          </a:xfrm>
          <a:prstGeom prst="roundRect">
            <a:avLst>
              <a:gd name="adj" fmla="val 21428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5008245" y="2999194"/>
            <a:ext cx="179451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15,4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6817781" y="2999194"/>
            <a:ext cx="1809226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14,6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Line 119"/>
          <p:cNvSpPr/>
          <p:nvPr/>
        </p:nvSpPr>
        <p:spPr>
          <a:xfrm>
            <a:off x="557212" y="35599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57212" y="3645656"/>
            <a:ext cx="277558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M2 Pro · macOS</a:t>
            </a:r>
            <a:b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3295174" y="3684994"/>
            <a:ext cx="1696402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6,8</a:t>
            </a:r>
            <a:endParaRPr lang="ru-RU" sz="24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5008245" y="3684994"/>
            <a:ext cx="1794510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endParaRPr lang="ru-RU" sz="2400" b="1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6817781" y="3684994"/>
            <a:ext cx="1809226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14,4</a:t>
            </a:r>
            <a:endParaRPr lang="ru-RU" sz="24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4" name="Line 124"/>
          <p:cNvSpPr/>
          <p:nvPr/>
        </p:nvSpPr>
        <p:spPr>
          <a:xfrm>
            <a:off x="557212" y="42457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557212" y="4299204"/>
            <a:ext cx="405098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x86: </a:t>
            </a:r>
            <a:r>
              <a:rPr lang="ru-RU" sz="15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→ предсказатель</a:t>
            </a:r>
            <a:endParaRPr lang="ru-RU" sz="15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4681538" y="4299204"/>
            <a:ext cx="405098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M2: </a:t>
            </a:r>
            <a:r>
              <a:rPr lang="ru-RU" sz="1500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→ что-то адресное</a:t>
            </a:r>
            <a:endParaRPr lang="ru-RU" sz="1500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Picture 12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7" name="Slide Number 12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 background СОРТИРОВКА ВПЕРЕДИ И НА Mac, И НА iPhone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68961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 = 512K, U = N/2 · в клетке: sort / хеш, нс на элемент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2419350" y="1684592"/>
            <a:ext cx="2971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Mac · M2 Pro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5459" y="1684592"/>
            <a:ext cx="3069908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 </a:t>
            </a:r>
            <a:r>
              <a:rPr lang="ru-RU" sz="15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[модель iPhone]</a:t>
            </a:r>
            <a:endParaRPr lang="ru-RU" sz="15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2113216"/>
            <a:ext cx="191452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userInitiated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779966"/>
            <a:ext cx="191452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utility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212" y="3446716"/>
            <a:ext cx="191452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background</a:t>
            </a:r>
            <a:endParaRPr lang="ru-RU" sz="15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Box 109"/>
          <p:cNvSpPr/>
          <p:nvPr/>
        </p:nvSpPr>
        <p:spPr>
          <a:xfrm>
            <a:off x="2483644" y="2007394"/>
            <a:ext cx="2843212" cy="538162"/>
          </a:xfrm>
          <a:prstGeom prst="roundRect">
            <a:avLst>
              <a:gd name="adj" fmla="val 20689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2667000" y="2137029"/>
            <a:ext cx="25793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≈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19,6 / 18,7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1" name="Box 111"/>
          <p:cNvSpPr/>
          <p:nvPr/>
        </p:nvSpPr>
        <p:spPr>
          <a:xfrm>
            <a:off x="5641181" y="2007394"/>
            <a:ext cx="2938462" cy="538162"/>
          </a:xfrm>
          <a:prstGeom prst="roundRect">
            <a:avLst>
              <a:gd name="adj" fmla="val 20689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5824538" y="2137029"/>
            <a:ext cx="2677478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≈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19,6 / 18,2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Box 113"/>
          <p:cNvSpPr/>
          <p:nvPr/>
        </p:nvSpPr>
        <p:spPr>
          <a:xfrm>
            <a:off x="2483644" y="2674144"/>
            <a:ext cx="2843212" cy="538162"/>
          </a:xfrm>
          <a:prstGeom prst="roundRect">
            <a:avLst>
              <a:gd name="adj" fmla="val 20689"/>
            </a:avLst>
          </a:prstGeom>
          <a:solidFill>
            <a:srgbClr val="000000"/>
          </a:solidFill>
          <a:ln w="14288">
            <a:solidFill>
              <a:srgbClr val="FFFFFF"/>
            </a:solidFill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2667000" y="2803779"/>
            <a:ext cx="257937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≈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20,1 / 21,0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Box 115"/>
          <p:cNvSpPr/>
          <p:nvPr/>
        </p:nvSpPr>
        <p:spPr>
          <a:xfrm>
            <a:off x="5641181" y="2674144"/>
            <a:ext cx="2938462" cy="538162"/>
          </a:xfrm>
          <a:prstGeom prst="roundRect">
            <a:avLst>
              <a:gd name="adj" fmla="val 20689"/>
            </a:avLst>
          </a:prstGeom>
          <a:solidFill>
            <a:srgbClr val="000000"/>
          </a:solidFill>
          <a:ln w="14288">
            <a:solidFill>
              <a:srgbClr val="46CDAE"/>
            </a:solidFill>
          </a:ln>
        </p:spPr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5824538" y="2710034"/>
            <a:ext cx="27146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925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×1,9 </a:t>
            </a:r>
            <a:r>
              <a:rPr lang="ru-RU" sz="127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55,3 / 105,3</a:t>
            </a:r>
            <a:endParaRPr lang="ru-RU" sz="127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Box 117"/>
          <p:cNvSpPr/>
          <p:nvPr/>
        </p:nvSpPr>
        <p:spPr>
          <a:xfrm>
            <a:off x="2486025" y="3343275"/>
            <a:ext cx="2838450" cy="533400"/>
          </a:xfrm>
          <a:prstGeom prst="roundRect">
            <a:avLst>
              <a:gd name="adj" fmla="val 20689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2667000" y="3376784"/>
            <a:ext cx="26193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925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×1,9 </a:t>
            </a:r>
            <a:r>
              <a:rPr lang="ru-RU" sz="127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92,6 / 178,4</a:t>
            </a:r>
            <a:endParaRPr lang="ru-RU" sz="127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9" name="Box 119"/>
          <p:cNvSpPr/>
          <p:nvPr/>
        </p:nvSpPr>
        <p:spPr>
          <a:xfrm>
            <a:off x="5643562" y="3343275"/>
            <a:ext cx="2933700" cy="533400"/>
          </a:xfrm>
          <a:prstGeom prst="roundRect">
            <a:avLst>
              <a:gd name="adj" fmla="val 20689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824538" y="3376784"/>
            <a:ext cx="27146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925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sort ×1,3 </a:t>
            </a:r>
            <a:r>
              <a:rPr lang="ru-RU" sz="127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145,6 / 195,2</a:t>
            </a:r>
            <a:endParaRPr lang="ru-RU" sz="127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557212" y="4108704"/>
            <a:ext cx="82990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Apple относит синхронизацию к </a:t>
            </a:r>
            <a:r>
              <a:rPr lang="ru-RU" sz="1500" b="0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— там </a:t>
            </a:r>
            <a:r>
              <a:rPr lang="ru-RU" sz="1500" b="0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sort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впереди на обоих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Picture 12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2" name="Slide Number 12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ТОЧКА ПЕРЕХОДА НА КАЖДОЙ СИСТЕМЕ СВОЯ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14207" y="1417892"/>
            <a:ext cx="200053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x86 · Linux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14207" y="1667713"/>
            <a:ext cx="2000536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Xeon · GCC 13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14207" y="2289467"/>
            <a:ext cx="2000536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×2,07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14207" y="3270504"/>
            <a:ext cx="200053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= 16 и с 2M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2552557" y="1417892"/>
            <a:ext cx="200053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M2 Pro · Linux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2552557" y="1667713"/>
            <a:ext cx="2000536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VM · GCC 11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2552557" y="2289467"/>
            <a:ext cx="2000536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×2,67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2552557" y="3270504"/>
            <a:ext cx="200053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≤ 128 и с 2M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4590907" y="1417892"/>
            <a:ext cx="200053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M2 Pro · macOS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590907" y="1667713"/>
            <a:ext cx="2000536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clang 21 · libc++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4590907" y="2289467"/>
            <a:ext cx="2000536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×2,59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4590907" y="3270504"/>
            <a:ext cx="200053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≤ 256 и с 1M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6629257" y="1417892"/>
            <a:ext cx="200053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</a:t>
            </a:r>
            <a:endParaRPr lang="ru-RU" sz="15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6629257" y="1667713"/>
            <a:ext cx="2000536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[модель iPhone]</a:t>
            </a:r>
            <a:endParaRPr lang="ru-RU" sz="1200" b="0" i="0" dirty="0">
              <a:solidFill>
                <a:srgbClr val="F2C14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6629257" y="2289467"/>
            <a:ext cx="2000536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×2,53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6629257" y="3270504"/>
            <a:ext cx="2000536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≤ 256 и с 1M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Line 119"/>
          <p:cNvSpPr/>
          <p:nvPr/>
        </p:nvSpPr>
        <p:spPr>
          <a:xfrm>
            <a:off x="557212" y="19502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557212" y="2010613"/>
            <a:ext cx="8299037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все id разные, N = 2^20: </a:t>
            </a: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быстрее </a:t>
            </a:r>
            <a:r>
              <a:rPr lang="ru-RU" sz="12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в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Line 121"/>
          <p:cNvSpPr/>
          <p:nvPr/>
        </p:nvSpPr>
        <p:spPr>
          <a:xfrm>
            <a:off x="557212" y="28646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557212" y="2963113"/>
            <a:ext cx="8299037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половина — повторы (U = N/2): sort впереди при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3" name="Box 123"/>
          <p:cNvSpPr/>
          <p:nvPr/>
        </p:nvSpPr>
        <p:spPr>
          <a:xfrm>
            <a:off x="566738" y="3771900"/>
            <a:ext cx="8010525" cy="695325"/>
          </a:xfrm>
          <a:prstGeom prst="roundRect">
            <a:avLst>
              <a:gd name="adj" fmla="val 16000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747712" y="3846766"/>
            <a:ext cx="77914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2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Сравниваю системы целиком: </a:t>
            </a:r>
            <a:r>
              <a:rPr lang="ru-RU" sz="15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железо, ОС, компилятор и библиотека</a:t>
            </a:r>
            <a:r>
              <a:rPr lang="ru-RU" sz="1500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меняются вместе</a:t>
            </a:r>
            <a:endParaRPr lang="ru-RU" sz="1500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25" name="Picture 12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5" name="Slide Number 12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ДВЕ МИНУТЫ ПОД НАГРУЗКОЙ: ПОРЯДОК НЕ ИЗМЕНИЛСЯ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68961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iPhone </a:t>
            </a:r>
            <a:r>
              <a:rPr lang="ru-RU" sz="1200" b="0" i="0" dirty="0">
                <a:solidFill>
                  <a:srgbClr val="F2C14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[модель iPhone]</a:t>
            </a: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· N = 256K, U = N/2 · нс на элемент, ниже — лучше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 xmlns:p14="http://schemas.microsoft.com/office/powerpoint/2010/main">
        <p:nvGrpSpPr>
          <p:cNvPr id="119" name="Chart 119"/>
          <p:cNvGrpSpPr/>
          <p:nvPr/>
        </p:nvGrpSpPr>
        <p:grpSpPr>
          <a:xfrm>
            <a:off x="1428750" y="1943100"/>
            <a:ext cx="4343400" cy="1914573"/>
            <a:chOff x="1428750" y="1943100"/>
            <a:chExt cx="4343400" cy="1914573"/>
          </a:xfrm>
        </p:grpSpPr>
        <p:sp>
          <p:nvSpPr>
            <p:cNvPr id="104" name="Line 104"/>
            <p:cNvSpPr/>
            <p:nvPr/>
          </p:nvSpPr>
          <p:spPr>
            <a:xfrm>
              <a:off x="1428750" y="3543300"/>
              <a:ext cx="4343400" cy="48"/>
            </a:xfrm>
            <a:custGeom>
              <a:avLst/>
              <a:gdLst/>
              <a:ahLst/>
              <a:cxnLst/>
              <a:rect l="0" t="0" r="r" b="b"/>
              <a:pathLst>
                <a:path w="4343400" h="1" fill="none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428750" y="3009900"/>
              <a:ext cx="4343400" cy="48"/>
            </a:xfrm>
            <a:custGeom>
              <a:avLst/>
              <a:gdLst/>
              <a:ahLst/>
              <a:cxnLst/>
              <a:rect l="0" t="0" r="r" b="b"/>
              <a:pathLst>
                <a:path w="4343400" h="1" fill="none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1428750" y="2476500"/>
              <a:ext cx="4343400" cy="48"/>
            </a:xfrm>
            <a:custGeom>
              <a:avLst/>
              <a:gdLst/>
              <a:ahLst/>
              <a:cxnLst/>
              <a:rect l="0" t="0" r="r" b="b"/>
              <a:pathLst>
                <a:path w="4343400" h="1" fill="none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1428750" y="1943100"/>
              <a:ext cx="4343400" cy="48"/>
            </a:xfrm>
            <a:custGeom>
              <a:avLst/>
              <a:gdLst/>
              <a:ahLst/>
              <a:cxnLst/>
              <a:rect l="0" t="0" r="r" b="b"/>
              <a:pathLst>
                <a:path w="4343400" h="1" fill="none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9525">
              <a:solidFill>
                <a:srgbClr val="333333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428750" y="3857625"/>
              <a:ext cx="4343400" cy="48"/>
            </a:xfrm>
            <a:custGeom>
              <a:avLst/>
              <a:gdLst/>
              <a:ahLst/>
              <a:cxnLst/>
              <a:rect l="0" t="0" r="r" b="b"/>
              <a:pathLst>
                <a:path w="4343400" h="1" fill="none">
                  <a:moveTo>
                    <a:pt x="0" y="0"/>
                  </a:moveTo>
                  <a:lnTo>
                    <a:pt x="4343400" y="0"/>
                  </a:lnTo>
                </a:path>
              </a:pathLst>
            </a:custGeom>
            <a:noFill/>
            <a:ln w="14288">
              <a:solidFill>
                <a:srgbClr val="8F8F8F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1700212" y="2316480"/>
              <a:ext cx="3800475" cy="1333500"/>
            </a:xfrm>
            <a:custGeom>
              <a:avLst/>
              <a:gdLst/>
              <a:ahLst/>
              <a:cxnLst/>
              <a:rect l="0" t="0" r="r" b="b"/>
              <a:pathLst>
                <a:path w="3800475" h="1333500" fill="none">
                  <a:moveTo>
                    <a:pt x="0" y="1333500"/>
                  </a:moveTo>
                  <a:lnTo>
                    <a:pt x="1628775" y="746760"/>
                  </a:lnTo>
                  <a:lnTo>
                    <a:pt x="3257550" y="426720"/>
                  </a:lnTo>
                  <a:lnTo>
                    <a:pt x="3800475" y="0"/>
                  </a:lnTo>
                </a:path>
              </a:pathLst>
            </a:custGeom>
            <a:noFill/>
            <a:ln w="28575" cap="rnd">
              <a:solidFill>
                <a:srgbClr val="E2489B"/>
              </a:solidFill>
              <a:round/>
            </a:ln>
          </p:spPr>
        </p:sp>
        <p:sp>
          <p:nvSpPr>
            <p:cNvPr id="110" name="Dot 110"/>
            <p:cNvSpPr/>
            <p:nvPr/>
          </p:nvSpPr>
          <p:spPr>
            <a:xfrm>
              <a:off x="1647825" y="3597592"/>
              <a:ext cx="104775" cy="104775"/>
            </a:xfrm>
            <a:prstGeom prst="ellipse">
              <a:avLst/>
            </a:prstGeom>
            <a:solidFill>
              <a:srgbClr val="E2489B"/>
            </a:solidFill>
            <a:ln w="14288">
              <a:solidFill>
                <a:srgbClr val="000000"/>
              </a:solidFill>
            </a:ln>
          </p:spPr>
        </p:sp>
        <p:sp>
          <p:nvSpPr>
            <p:cNvPr id="111" name="Dot 111"/>
            <p:cNvSpPr/>
            <p:nvPr/>
          </p:nvSpPr>
          <p:spPr>
            <a:xfrm>
              <a:off x="3276600" y="3010852"/>
              <a:ext cx="104775" cy="104775"/>
            </a:xfrm>
            <a:prstGeom prst="ellipse">
              <a:avLst/>
            </a:prstGeom>
            <a:solidFill>
              <a:srgbClr val="E2489B"/>
            </a:solidFill>
            <a:ln w="14288">
              <a:solidFill>
                <a:srgbClr val="000000"/>
              </a:solidFill>
            </a:ln>
          </p:spPr>
        </p:sp>
        <p:sp>
          <p:nvSpPr>
            <p:cNvPr id="112" name="Dot 112"/>
            <p:cNvSpPr/>
            <p:nvPr/>
          </p:nvSpPr>
          <p:spPr>
            <a:xfrm>
              <a:off x="4905375" y="2690812"/>
              <a:ext cx="104775" cy="104775"/>
            </a:xfrm>
            <a:prstGeom prst="ellipse">
              <a:avLst/>
            </a:prstGeom>
            <a:solidFill>
              <a:srgbClr val="E2489B"/>
            </a:solidFill>
            <a:ln w="14288">
              <a:solidFill>
                <a:srgbClr val="000000"/>
              </a:solidFill>
            </a:ln>
          </p:spPr>
        </p:sp>
        <p:sp>
          <p:nvSpPr>
            <p:cNvPr id="113" name="Dot 113"/>
            <p:cNvSpPr/>
            <p:nvPr/>
          </p:nvSpPr>
          <p:spPr>
            <a:xfrm>
              <a:off x="5448300" y="2264092"/>
              <a:ext cx="104775" cy="104775"/>
            </a:xfrm>
            <a:prstGeom prst="ellipse">
              <a:avLst/>
            </a:prstGeom>
            <a:solidFill>
              <a:srgbClr val="E2489B"/>
            </a:solidFill>
            <a:ln w="14288">
              <a:solidFill>
                <a:srgbClr val="000000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1700212" y="1996440"/>
              <a:ext cx="3800475" cy="1013460"/>
            </a:xfrm>
            <a:custGeom>
              <a:avLst/>
              <a:gdLst/>
              <a:ahLst/>
              <a:cxnLst/>
              <a:rect l="0" t="0" r="r" b="b"/>
              <a:pathLst>
                <a:path w="3800475" h="1013460" fill="none">
                  <a:moveTo>
                    <a:pt x="0" y="1013460"/>
                  </a:moveTo>
                  <a:lnTo>
                    <a:pt x="1628775" y="1013460"/>
                  </a:lnTo>
                  <a:lnTo>
                    <a:pt x="3257550" y="213360"/>
                  </a:lnTo>
                  <a:lnTo>
                    <a:pt x="3800475" y="0"/>
                  </a:lnTo>
                </a:path>
              </a:pathLst>
            </a:custGeom>
            <a:noFill/>
            <a:ln w="28575" cap="rnd">
              <a:solidFill>
                <a:srgbClr val="46CDAE"/>
              </a:solidFill>
              <a:round/>
            </a:ln>
          </p:spPr>
        </p:sp>
        <p:sp>
          <p:nvSpPr>
            <p:cNvPr id="115" name="Dot 115"/>
            <p:cNvSpPr/>
            <p:nvPr/>
          </p:nvSpPr>
          <p:spPr>
            <a:xfrm>
              <a:off x="1647825" y="2957512"/>
              <a:ext cx="104775" cy="104775"/>
            </a:xfrm>
            <a:prstGeom prst="ellipse">
              <a:avLst/>
            </a:prstGeom>
            <a:solidFill>
              <a:srgbClr val="46CDAE"/>
            </a:solidFill>
            <a:ln w="14288">
              <a:solidFill>
                <a:srgbClr val="000000"/>
              </a:solidFill>
            </a:ln>
          </p:spPr>
        </p:sp>
        <p:sp>
          <p:nvSpPr>
            <p:cNvPr id="116" name="Dot 116"/>
            <p:cNvSpPr/>
            <p:nvPr/>
          </p:nvSpPr>
          <p:spPr>
            <a:xfrm>
              <a:off x="3276600" y="2957512"/>
              <a:ext cx="104775" cy="104775"/>
            </a:xfrm>
            <a:prstGeom prst="ellipse">
              <a:avLst/>
            </a:prstGeom>
            <a:solidFill>
              <a:srgbClr val="46CDAE"/>
            </a:solidFill>
            <a:ln w="14288">
              <a:solidFill>
                <a:srgbClr val="000000"/>
              </a:solidFill>
            </a:ln>
          </p:spPr>
        </p:sp>
        <p:sp>
          <p:nvSpPr>
            <p:cNvPr id="117" name="Dot 117"/>
            <p:cNvSpPr/>
            <p:nvPr/>
          </p:nvSpPr>
          <p:spPr>
            <a:xfrm>
              <a:off x="4905375" y="2157412"/>
              <a:ext cx="104775" cy="104775"/>
            </a:xfrm>
            <a:prstGeom prst="ellipse">
              <a:avLst/>
            </a:prstGeom>
            <a:solidFill>
              <a:srgbClr val="46CDAE"/>
            </a:solidFill>
            <a:ln w="14288">
              <a:solidFill>
                <a:srgbClr val="000000"/>
              </a:solidFill>
            </a:ln>
          </p:spPr>
        </p:sp>
        <p:sp>
          <p:nvSpPr>
            <p:cNvPr id="118" name="Dot 118"/>
            <p:cNvSpPr/>
            <p:nvPr/>
          </p:nvSpPr>
          <p:spPr>
            <a:xfrm>
              <a:off x="5448300" y="1944052"/>
              <a:ext cx="104775" cy="104775"/>
            </a:xfrm>
            <a:prstGeom prst="ellipse">
              <a:avLst/>
            </a:prstGeom>
            <a:solidFill>
              <a:srgbClr val="46CDAE"/>
            </a:solidFill>
            <a:ln w="14288">
              <a:solidFill>
                <a:srgbClr val="000000"/>
              </a:solidFill>
            </a:ln>
          </p:spPr>
        </p:sp>
      </p:grp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498634" y="2870454"/>
            <a:ext cx="105870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19,0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498634" y="3508629"/>
            <a:ext cx="105870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17,8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5634038" y="1827467"/>
            <a:ext cx="6172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20,9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5634038" y="2203704"/>
            <a:ext cx="61722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20,3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1022032" y="3906088"/>
            <a:ext cx="81343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 с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3193732" y="3906088"/>
            <a:ext cx="81343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60 с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5365432" y="3906088"/>
            <a:ext cx="81343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120 с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6858000" y="1751267"/>
            <a:ext cx="180922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5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8" name="Text 128"/>
          <p:cNvSpPr txBox="1"/>
          <p:nvPr/>
        </p:nvSpPr>
        <p:spPr>
          <a:xfrm>
            <a:off x="6858000" y="2041817"/>
            <a:ext cx="1809226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+10%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6858000" y="2751392"/>
            <a:ext cx="1809226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6858000" y="3041942"/>
            <a:ext cx="1809226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+14%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557212" y="4223004"/>
            <a:ext cx="82990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thermalState всё время nominal — причина дрейфа не установлена</a:t>
            </a:r>
            <a:endParaRPr lang="ru-RU" sz="1500" b="0" i="0" dirty="0">
              <a:solidFill>
                <a:srgbClr val="8F8F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Picture 13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2" name="Slide Number 13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ТА ЖЕ МАШИНА, ДРУГАЯ БИБЛИОТЕКА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239088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один x86 · одинаковые входы · N = 2^20 · нс на элемент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4049316" y="1506207"/>
            <a:ext cx="223599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libstdc++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4049316" y="1801063"/>
            <a:ext cx="223599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GCC · Linux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6397228" y="1506207"/>
            <a:ext cx="223599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libc++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6397228" y="1801063"/>
            <a:ext cx="223599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Apple · Android NDK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Line 108"/>
          <p:cNvSpPr/>
          <p:nvPr/>
        </p:nvSpPr>
        <p:spPr>
          <a:xfrm>
            <a:off x="557212" y="20835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2288343"/>
            <a:ext cx="356044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025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</a:t>
            </a: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все ключи равны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4049316" y="2222792"/>
            <a:ext cx="2235994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7,8</a:t>
            </a:r>
            <a:endParaRPr lang="ru-RU" sz="3600" b="1" i="0" spc="-38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1" name="Box 111"/>
          <p:cNvSpPr/>
          <p:nvPr/>
        </p:nvSpPr>
        <p:spPr>
          <a:xfrm>
            <a:off x="6453188" y="2152650"/>
            <a:ext cx="2124075" cy="581025"/>
          </a:xfrm>
          <a:prstGeom prst="roundRect">
            <a:avLst>
              <a:gd name="adj" fmla="val 19047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438900" y="2222792"/>
            <a:ext cx="2152650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1,2</a:t>
            </a:r>
            <a:endParaRPr lang="ru-RU" sz="3600" b="1" i="0" spc="-38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3" name="Line 113"/>
          <p:cNvSpPr/>
          <p:nvPr/>
        </p:nvSpPr>
        <p:spPr>
          <a:xfrm>
            <a:off x="557212" y="282654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57212" y="2889504"/>
            <a:ext cx="3658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unordered_set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1M уникальных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4049316" y="2868282"/>
            <a:ext cx="223599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146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6397228" y="2868282"/>
            <a:ext cx="223599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139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Line 117"/>
          <p:cNvSpPr/>
          <p:nvPr/>
        </p:nvSpPr>
        <p:spPr>
          <a:xfrm>
            <a:off x="557212" y="325516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557212" y="3318129"/>
            <a:ext cx="3658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узел </a:t>
            </a:r>
            <a:r>
              <a:rPr lang="ru-RU" sz="1500" b="0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unordered_set</a:t>
            </a:r>
            <a:endParaRPr lang="ru-RU" sz="1500" b="0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4049316" y="3296907"/>
            <a:ext cx="223599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16 Б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6397228" y="3296907"/>
            <a:ext cx="223599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24 Б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Line 121"/>
          <p:cNvSpPr/>
          <p:nvPr/>
        </p:nvSpPr>
        <p:spPr>
          <a:xfrm>
            <a:off x="557212" y="36837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557212" y="3746754"/>
            <a:ext cx="3658552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std::sort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4049316" y="3746754"/>
            <a:ext cx="223599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introsort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6397228" y="3746754"/>
            <a:ext cx="2235994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 идеи pdqsort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5" name="Box 125"/>
          <p:cNvSpPr/>
          <p:nvPr/>
        </p:nvSpPr>
        <p:spPr>
          <a:xfrm>
            <a:off x="566738" y="4143375"/>
            <a:ext cx="8010525" cy="419100"/>
          </a:xfrm>
          <a:prstGeom prst="roundRect">
            <a:avLst>
              <a:gd name="adj" fmla="val 21739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747712" y="4203954"/>
            <a:ext cx="7791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 Apple </a:t>
            </a:r>
            <a:r>
              <a:rPr lang="ru-RU" sz="1500" b="0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std::sort</a:t>
            </a: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— из системной libc++: </a:t>
            </a: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 выбирает версия ОС</a:t>
            </a:r>
            <a:endParaRPr lang="ru-RU" sz="15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Picture 12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7" name="Slide Number 127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ОТ 512K К 1M ХЕШ ДОРОЖАЕТ В 1,4 РАЗА, СОРТИРОВКА — НА 3%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372438"/>
            <a:ext cx="46529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нс на элемент · U = N/2 · M2 Pro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610563"/>
            <a:ext cx="130397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1738312" y="1610563"/>
            <a:ext cx="150018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2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3119438" y="1610563"/>
            <a:ext cx="150018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2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7" name="Line 107"/>
          <p:cNvSpPr/>
          <p:nvPr/>
        </p:nvSpPr>
        <p:spPr>
          <a:xfrm>
            <a:off x="557212" y="1874044"/>
            <a:ext cx="4205288" cy="48"/>
          </a:xfrm>
          <a:custGeom>
            <a:avLst/>
            <a:gdLst/>
            <a:ahLst/>
            <a:cxnLst/>
            <a:rect l="0" t="0" r="r" b="b"/>
            <a:pathLst>
              <a:path w="4205288" h="1" fill="none">
                <a:moveTo>
                  <a:pt x="0" y="0"/>
                </a:moveTo>
                <a:lnTo>
                  <a:pt x="4205288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08" name="Box 108"/>
          <p:cNvSpPr/>
          <p:nvPr/>
        </p:nvSpPr>
        <p:spPr>
          <a:xfrm>
            <a:off x="564356" y="2683669"/>
            <a:ext cx="4191000" cy="728662"/>
          </a:xfrm>
          <a:prstGeom prst="roundRect">
            <a:avLst>
              <a:gd name="adj" fmla="val 10256"/>
            </a:avLst>
          </a:prstGeom>
          <a:solidFill>
            <a:srgbClr val="0B2B26"/>
          </a:solidFill>
          <a:ln w="14288">
            <a:solidFill>
              <a:srgbClr val="46CDAE"/>
            </a:solidFill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690562" y="1883531"/>
            <a:ext cx="120586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1K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1738312" y="1883531"/>
            <a:ext cx="150018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14,4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3266599" y="1883531"/>
            <a:ext cx="135302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13,3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90562" y="2264531"/>
            <a:ext cx="120586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64K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1738312" y="2264531"/>
            <a:ext cx="150018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17,8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3266599" y="2264531"/>
            <a:ext cx="135302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17,5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690562" y="2645531"/>
            <a:ext cx="120586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512K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1738312" y="2645531"/>
            <a:ext cx="150018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19,6</a:t>
            </a:r>
            <a:endParaRPr lang="ru-RU" sz="165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3266599" y="2645531"/>
            <a:ext cx="135302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18,7</a:t>
            </a:r>
            <a:endParaRPr lang="ru-RU" sz="1650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690562" y="3007481"/>
            <a:ext cx="120586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1M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1738312" y="3007481"/>
            <a:ext cx="150018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20,1</a:t>
            </a:r>
            <a:endParaRPr lang="ru-RU" sz="165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3266599" y="3007481"/>
            <a:ext cx="135302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26,3</a:t>
            </a:r>
            <a:endParaRPr lang="ru-RU" sz="1650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690562" y="3407531"/>
            <a:ext cx="120586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4M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1738312" y="3407531"/>
            <a:ext cx="1500188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21,5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3266599" y="3407531"/>
            <a:ext cx="1353026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6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55,7</a:t>
            </a:r>
            <a:endParaRPr lang="ru-RU" sz="165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4" name="Line 124"/>
          <p:cNvSpPr/>
          <p:nvPr/>
        </p:nvSpPr>
        <p:spPr>
          <a:xfrm>
            <a:off x="557212" y="3874294"/>
            <a:ext cx="4205288" cy="48"/>
          </a:xfrm>
          <a:custGeom>
            <a:avLst/>
            <a:gdLst/>
            <a:ahLst/>
            <a:cxnLst/>
            <a:rect l="0" t="0" r="r" b="b"/>
            <a:pathLst>
              <a:path w="4205288" h="1" fill="none">
                <a:moveTo>
                  <a:pt x="0" y="0"/>
                </a:moveTo>
                <a:lnTo>
                  <a:pt x="4205288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690562" y="4087063"/>
            <a:ext cx="120586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512K → 1M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1738312" y="3956342"/>
            <a:ext cx="1500188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+3%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2972276" y="3956342"/>
            <a:ext cx="1647349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×1,4</a:t>
            </a:r>
            <a:endParaRPr lang="ru-RU" sz="3600" b="1" i="0" spc="-38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8" name="Box 128"/>
          <p:cNvSpPr/>
          <p:nvPr/>
        </p:nvSpPr>
        <p:spPr>
          <a:xfrm>
            <a:off x="5248275" y="1438275"/>
            <a:ext cx="3328988" cy="283845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5486400" y="1629613"/>
            <a:ext cx="297180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рабочий набор хеша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5486400" y="1860137"/>
            <a:ext cx="29718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32·U + 8·N</a:t>
            </a:r>
            <a:endParaRPr lang="ru-RU" sz="225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5486400" y="2410330"/>
            <a:ext cx="305276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512K</a:t>
            </a: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≈12 МиБ </a:t>
            </a:r>
            <a:r>
              <a:rPr lang="ru-RU" sz="1575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✓ в L2</a:t>
            </a:r>
            <a:endParaRPr lang="ru-RU" sz="1575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2" name="Text 132"/>
          <p:cNvSpPr txBox="1"/>
          <p:nvPr/>
        </p:nvSpPr>
        <p:spPr>
          <a:xfrm>
            <a:off x="5486400" y="2791330"/>
            <a:ext cx="305276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8F8F8F"/>
                </a:solidFill>
                <a:latin typeface="Montserrat"/>
                <a:ea typeface="Montserrat"/>
                <a:cs typeface="Montserrat"/>
                <a:sym typeface="Montserrat"/>
              </a:rPr>
              <a:t>1M</a:t>
            </a: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≈24 МиБ </a:t>
            </a:r>
            <a:r>
              <a:rPr lang="ru-RU" sz="1575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✗ мимо L2</a:t>
            </a:r>
            <a:endParaRPr lang="ru-RU" sz="1575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3" name="Text 133"/>
          <p:cNvSpPr txBox="1"/>
          <p:nvPr/>
        </p:nvSpPr>
        <p:spPr>
          <a:xfrm>
            <a:off x="5486400" y="3210763"/>
            <a:ext cx="30527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L2 P-кластера M2 Pro = 16 МиБ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4" name="Line 134"/>
          <p:cNvSpPr/>
          <p:nvPr/>
        </p:nvSpPr>
        <p:spPr>
          <a:xfrm>
            <a:off x="5486400" y="3588544"/>
            <a:ext cx="2857500" cy="48"/>
          </a:xfrm>
          <a:custGeom>
            <a:avLst/>
            <a:gdLst/>
            <a:ahLst/>
            <a:cxnLst/>
            <a:rect l="0" t="0" r="r" b="b"/>
            <a:pathLst>
              <a:path w="2857500" h="1" fill="none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35" name="Text 135"/>
          <p:cNvSpPr txBox="1"/>
          <p:nvPr/>
        </p:nvSpPr>
        <p:spPr>
          <a:xfrm>
            <a:off x="5486400" y="3684089"/>
            <a:ext cx="305276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Арифметика, а не счётчики:</a:t>
            </a:r>
            <a:b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причина — гипотеза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Picture 13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6" name="Slide Number 13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СОРТИРОВКА: ОДИН ПЛОТНЫЙ БУФЕР И НИ ОДНОЙ АЛЛОКАЦИИ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 xmlns:p14="http://schemas.microsoft.com/office/powerpoint/2010/main">
        <p:nvGrpSpPr>
          <p:cNvPr id="127" name="Chart 127"/>
          <p:cNvGrpSpPr/>
          <p:nvPr/>
        </p:nvGrpSpPr>
        <p:grpSpPr>
          <a:xfrm>
            <a:off x="2867025" y="1438275"/>
            <a:ext cx="5391150" cy="2171700"/>
            <a:chOff x="2867025" y="1438275"/>
            <a:chExt cx="5391150" cy="2171700"/>
          </a:xfrm>
        </p:grpSpPr>
        <p:sp>
          <p:nvSpPr>
            <p:cNvPr id="103" name="Rect 103"/>
            <p:cNvSpPr/>
            <p:nvPr/>
          </p:nvSpPr>
          <p:spPr>
            <a:xfrm>
              <a:off x="28670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4" name="Rect 104"/>
            <p:cNvSpPr/>
            <p:nvPr/>
          </p:nvSpPr>
          <p:spPr>
            <a:xfrm>
              <a:off x="35528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5" name="Rect 105"/>
            <p:cNvSpPr/>
            <p:nvPr/>
          </p:nvSpPr>
          <p:spPr>
            <a:xfrm>
              <a:off x="42386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6" name="Rect 106"/>
            <p:cNvSpPr/>
            <p:nvPr/>
          </p:nvSpPr>
          <p:spPr>
            <a:xfrm>
              <a:off x="49244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7" name="Rect 107"/>
            <p:cNvSpPr/>
            <p:nvPr/>
          </p:nvSpPr>
          <p:spPr>
            <a:xfrm>
              <a:off x="56102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8" name="Rect 108"/>
            <p:cNvSpPr/>
            <p:nvPr/>
          </p:nvSpPr>
          <p:spPr>
            <a:xfrm>
              <a:off x="62960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9" name="Rect 109"/>
            <p:cNvSpPr/>
            <p:nvPr/>
          </p:nvSpPr>
          <p:spPr>
            <a:xfrm>
              <a:off x="69818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10" name="Rect 110"/>
            <p:cNvSpPr/>
            <p:nvPr/>
          </p:nvSpPr>
          <p:spPr>
            <a:xfrm>
              <a:off x="7667625" y="14382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11" name="Rect 111"/>
            <p:cNvSpPr/>
            <p:nvPr/>
          </p:nvSpPr>
          <p:spPr>
            <a:xfrm>
              <a:off x="28670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2" name="Rect 112"/>
            <p:cNvSpPr/>
            <p:nvPr/>
          </p:nvSpPr>
          <p:spPr>
            <a:xfrm>
              <a:off x="35528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3" name="Rect 113"/>
            <p:cNvSpPr/>
            <p:nvPr/>
          </p:nvSpPr>
          <p:spPr>
            <a:xfrm>
              <a:off x="42386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4" name="Rect 114"/>
            <p:cNvSpPr/>
            <p:nvPr/>
          </p:nvSpPr>
          <p:spPr>
            <a:xfrm>
              <a:off x="49244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5" name="Rect 115"/>
            <p:cNvSpPr/>
            <p:nvPr/>
          </p:nvSpPr>
          <p:spPr>
            <a:xfrm>
              <a:off x="56102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6" name="Rect 116"/>
            <p:cNvSpPr/>
            <p:nvPr/>
          </p:nvSpPr>
          <p:spPr>
            <a:xfrm>
              <a:off x="62960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7" name="Rect 117"/>
            <p:cNvSpPr/>
            <p:nvPr/>
          </p:nvSpPr>
          <p:spPr>
            <a:xfrm>
              <a:off x="69818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8" name="Rect 118"/>
            <p:cNvSpPr/>
            <p:nvPr/>
          </p:nvSpPr>
          <p:spPr>
            <a:xfrm>
              <a:off x="7667625" y="22764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174F45"/>
            </a:solidFill>
            <a:ln w="19050">
              <a:solidFill>
                <a:srgbClr val="46CDAE"/>
              </a:solidFill>
            </a:ln>
          </p:spPr>
        </p:sp>
        <p:sp>
          <p:nvSpPr>
            <p:cNvPr id="119" name="Rect 119"/>
            <p:cNvSpPr/>
            <p:nvPr/>
          </p:nvSpPr>
          <p:spPr>
            <a:xfrm>
              <a:off x="28670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46CDAE"/>
            </a:solidFill>
            <a:ln w="19050">
              <a:solidFill>
                <a:srgbClr val="46CDAE"/>
              </a:solidFill>
            </a:ln>
          </p:spPr>
        </p:sp>
        <p:sp>
          <p:nvSpPr>
            <p:cNvPr id="120" name="Rect 120"/>
            <p:cNvSpPr/>
            <p:nvPr/>
          </p:nvSpPr>
          <p:spPr>
            <a:xfrm>
              <a:off x="35528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46CDAE"/>
            </a:solidFill>
            <a:ln w="19050">
              <a:solidFill>
                <a:srgbClr val="46CDAE"/>
              </a:solidFill>
            </a:ln>
          </p:spPr>
        </p:sp>
        <p:sp>
          <p:nvSpPr>
            <p:cNvPr id="121" name="Rect 121"/>
            <p:cNvSpPr/>
            <p:nvPr/>
          </p:nvSpPr>
          <p:spPr>
            <a:xfrm>
              <a:off x="42386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46CDAE"/>
            </a:solidFill>
            <a:ln w="19050">
              <a:solidFill>
                <a:srgbClr val="46CDAE"/>
              </a:solidFill>
            </a:ln>
          </p:spPr>
        </p:sp>
        <p:sp>
          <p:nvSpPr>
            <p:cNvPr id="122" name="Rect 122"/>
            <p:cNvSpPr/>
            <p:nvPr/>
          </p:nvSpPr>
          <p:spPr>
            <a:xfrm>
              <a:off x="49244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46CDAE"/>
            </a:solidFill>
            <a:ln w="19050">
              <a:solidFill>
                <a:srgbClr val="46CDAE"/>
              </a:solidFill>
            </a:ln>
          </p:spPr>
        </p:sp>
        <p:sp>
          <p:nvSpPr>
            <p:cNvPr id="123" name="Rect 123"/>
            <p:cNvSpPr/>
            <p:nvPr/>
          </p:nvSpPr>
          <p:spPr>
            <a:xfrm>
              <a:off x="56102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5A5A5A"/>
              </a:solidFill>
              <a:custDash>
                <a:ds d="250000" sp="200000"/>
              </a:custDash>
            </a:ln>
          </p:spPr>
        </p:sp>
        <p:sp>
          <p:nvSpPr>
            <p:cNvPr id="124" name="Rect 124"/>
            <p:cNvSpPr/>
            <p:nvPr/>
          </p:nvSpPr>
          <p:spPr>
            <a:xfrm>
              <a:off x="62960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5A5A5A"/>
              </a:solidFill>
              <a:custDash>
                <a:ds d="250000" sp="200000"/>
              </a:custDash>
            </a:ln>
          </p:spPr>
        </p:sp>
        <p:sp>
          <p:nvSpPr>
            <p:cNvPr id="125" name="Rect 125"/>
            <p:cNvSpPr/>
            <p:nvPr/>
          </p:nvSpPr>
          <p:spPr>
            <a:xfrm>
              <a:off x="69818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5A5A5A"/>
              </a:solidFill>
              <a:custDash>
                <a:ds d="250000" sp="200000"/>
              </a:custDash>
            </a:ln>
          </p:spPr>
        </p:sp>
        <p:sp>
          <p:nvSpPr>
            <p:cNvPr id="126" name="Rect 126"/>
            <p:cNvSpPr/>
            <p:nvPr/>
          </p:nvSpPr>
          <p:spPr>
            <a:xfrm>
              <a:off x="7667625" y="3114675"/>
              <a:ext cx="590550" cy="495300"/>
            </a:xfrm>
            <a:prstGeom prst="roundRect">
              <a:avLst>
                <a:gd name="adj" fmla="val 13461"/>
              </a:avLst>
            </a:prstGeom>
            <a:solidFill>
              <a:srgbClr val="000000"/>
            </a:solidFill>
            <a:ln w="19050">
              <a:solidFill>
                <a:srgbClr val="5A5A5A"/>
              </a:solidFill>
              <a:custDash>
                <a:ds d="250000" sp="200000"/>
              </a:custDash>
            </a:ln>
          </p:spPr>
        </p:sp>
      </p:grpSp>
      <p:sp xmlns:p14="http://schemas.microsoft.com/office/powerpoint/2010/main">
        <p:nvSpPr>
          <p:cNvPr id="128" name="Text 128"/>
          <p:cNvSpPr txBox="1"/>
          <p:nvPr/>
        </p:nvSpPr>
        <p:spPr>
          <a:xfrm>
            <a:off x="28340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35198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42056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48914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2" name="Text 132"/>
          <p:cNvSpPr txBox="1"/>
          <p:nvPr/>
        </p:nvSpPr>
        <p:spPr>
          <a:xfrm>
            <a:off x="55772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3" name="Text 133"/>
          <p:cNvSpPr txBox="1"/>
          <p:nvPr/>
        </p:nvSpPr>
        <p:spPr>
          <a:xfrm>
            <a:off x="62630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4" name="Text 134"/>
          <p:cNvSpPr txBox="1"/>
          <p:nvPr/>
        </p:nvSpPr>
        <p:spPr>
          <a:xfrm>
            <a:off x="69488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5" name="Text 135"/>
          <p:cNvSpPr txBox="1"/>
          <p:nvPr/>
        </p:nvSpPr>
        <p:spPr>
          <a:xfrm>
            <a:off x="7634668" y="13243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6" name="Text 136"/>
          <p:cNvSpPr txBox="1"/>
          <p:nvPr/>
        </p:nvSpPr>
        <p:spPr>
          <a:xfrm>
            <a:off x="28340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7" name="Text 137"/>
          <p:cNvSpPr txBox="1"/>
          <p:nvPr/>
        </p:nvSpPr>
        <p:spPr>
          <a:xfrm>
            <a:off x="35198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8" name="Text 138"/>
          <p:cNvSpPr txBox="1"/>
          <p:nvPr/>
        </p:nvSpPr>
        <p:spPr>
          <a:xfrm>
            <a:off x="42056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39" name="Text 139"/>
          <p:cNvSpPr txBox="1"/>
          <p:nvPr/>
        </p:nvSpPr>
        <p:spPr>
          <a:xfrm>
            <a:off x="48914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0" name="Text 140"/>
          <p:cNvSpPr txBox="1"/>
          <p:nvPr/>
        </p:nvSpPr>
        <p:spPr>
          <a:xfrm>
            <a:off x="55772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1" name="Text 141"/>
          <p:cNvSpPr txBox="1"/>
          <p:nvPr/>
        </p:nvSpPr>
        <p:spPr>
          <a:xfrm>
            <a:off x="62630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2" name="Text 142"/>
          <p:cNvSpPr txBox="1"/>
          <p:nvPr/>
        </p:nvSpPr>
        <p:spPr>
          <a:xfrm>
            <a:off x="69488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3" name="Text 143"/>
          <p:cNvSpPr txBox="1"/>
          <p:nvPr/>
        </p:nvSpPr>
        <p:spPr>
          <a:xfrm>
            <a:off x="7634668" y="21625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4" name="Text 144"/>
          <p:cNvSpPr txBox="1"/>
          <p:nvPr/>
        </p:nvSpPr>
        <p:spPr>
          <a:xfrm>
            <a:off x="28340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lang="ru-RU" sz="195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5" name="Text 145"/>
          <p:cNvSpPr txBox="1"/>
          <p:nvPr/>
        </p:nvSpPr>
        <p:spPr>
          <a:xfrm>
            <a:off x="35198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lang="ru-RU" sz="195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6" name="Text 146"/>
          <p:cNvSpPr txBox="1"/>
          <p:nvPr/>
        </p:nvSpPr>
        <p:spPr>
          <a:xfrm>
            <a:off x="42056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lang="ru-RU" sz="195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7" name="Text 147"/>
          <p:cNvSpPr txBox="1"/>
          <p:nvPr/>
        </p:nvSpPr>
        <p:spPr>
          <a:xfrm>
            <a:off x="48914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</a:t>
            </a:r>
            <a:endParaRPr lang="ru-RU" sz="195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8" name="Text 148"/>
          <p:cNvSpPr txBox="1"/>
          <p:nvPr/>
        </p:nvSpPr>
        <p:spPr>
          <a:xfrm>
            <a:off x="55772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lang="ru-RU" sz="1950" b="1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9" name="Text 149"/>
          <p:cNvSpPr txBox="1"/>
          <p:nvPr/>
        </p:nvSpPr>
        <p:spPr>
          <a:xfrm>
            <a:off x="62630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lang="ru-RU" sz="1950" b="1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0" name="Text 150"/>
          <p:cNvSpPr txBox="1"/>
          <p:nvPr/>
        </p:nvSpPr>
        <p:spPr>
          <a:xfrm>
            <a:off x="69488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lang="ru-RU" sz="1950" b="1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1" name="Text 151"/>
          <p:cNvSpPr txBox="1"/>
          <p:nvPr/>
        </p:nvSpPr>
        <p:spPr>
          <a:xfrm>
            <a:off x="7634668" y="3000756"/>
            <a:ext cx="656463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0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</a:t>
            </a:r>
            <a:endParaRPr lang="ru-RU" sz="1950" b="1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2" name="Text 152"/>
          <p:cNvSpPr txBox="1"/>
          <p:nvPr/>
        </p:nvSpPr>
        <p:spPr>
          <a:xfrm>
            <a:off x="557212" y="1449057"/>
            <a:ext cx="218694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вход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3" name="Text 153"/>
          <p:cNvSpPr txBox="1"/>
          <p:nvPr/>
        </p:nvSpPr>
        <p:spPr>
          <a:xfrm>
            <a:off x="557212" y="1715338"/>
            <a:ext cx="218694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 чисел, 4 разных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4" name="Text 154"/>
          <p:cNvSpPr txBox="1"/>
          <p:nvPr/>
        </p:nvSpPr>
        <p:spPr>
          <a:xfrm>
            <a:off x="557212" y="2284857"/>
            <a:ext cx="227171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std::sort</a:t>
            </a:r>
            <a:endParaRPr lang="ru-RU" sz="165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5" name="Text 155"/>
          <p:cNvSpPr txBox="1"/>
          <p:nvPr/>
        </p:nvSpPr>
        <p:spPr>
          <a:xfrm>
            <a:off x="557212" y="2553538"/>
            <a:ext cx="227171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одинаковые — рядом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6" name="Text 156"/>
          <p:cNvSpPr txBox="1"/>
          <p:nvPr/>
        </p:nvSpPr>
        <p:spPr>
          <a:xfrm>
            <a:off x="557212" y="3123057"/>
            <a:ext cx="227171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46CDA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unique+erase</a:t>
            </a:r>
            <a:endParaRPr lang="ru-RU" sz="1650" b="1" i="0" dirty="0">
              <a:solidFill>
                <a:srgbClr val="46CDAE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7" name="Text 157"/>
          <p:cNvSpPr txBox="1"/>
          <p:nvPr/>
        </p:nvSpPr>
        <p:spPr>
          <a:xfrm>
            <a:off x="557212" y="3391738"/>
            <a:ext cx="227171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хвост отрезан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8" name="Line 158"/>
          <p:cNvSpPr/>
          <p:nvPr/>
        </p:nvSpPr>
        <p:spPr>
          <a:xfrm>
            <a:off x="557212" y="384571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59" name="Text 159"/>
          <p:cNvSpPr txBox="1"/>
          <p:nvPr/>
        </p:nvSpPr>
        <p:spPr>
          <a:xfrm>
            <a:off x="557212" y="3994442"/>
            <a:ext cx="3700462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 аллокаций</a:t>
            </a:r>
            <a:endParaRPr lang="ru-RU" sz="3600" b="1" i="0" spc="-38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60" name="Text 160"/>
          <p:cNvSpPr txBox="1"/>
          <p:nvPr/>
        </p:nvSpPr>
        <p:spPr>
          <a:xfrm>
            <a:off x="4286250" y="3961066"/>
            <a:ext cx="4443412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875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~log₂N проходов по всем N —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один буфер, </a:t>
            </a:r>
            <a:r>
              <a:rPr lang="ru-RU" sz="15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подряд</a:t>
            </a:r>
            <a:endParaRPr lang="ru-RU" sz="15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Picture 16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61" name="Slide Number 161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УЗЛОВАЯ ХЕШ-ТАБЛИЦА: КАЖДЫЙ КЛЮЧ — СВОЙ new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 xmlns:p14="http://schemas.microsoft.com/office/powerpoint/2010/main">
        <p:nvGrpSpPr>
          <p:cNvPr id="121" name="Chart 121"/>
          <p:cNvGrpSpPr/>
          <p:nvPr/>
        </p:nvGrpSpPr>
        <p:grpSpPr>
          <a:xfrm>
            <a:off x="566738" y="1485900"/>
            <a:ext cx="7996237" cy="2695575"/>
            <a:chOff x="566738" y="1485900"/>
            <a:chExt cx="7996237" cy="2695575"/>
          </a:xfrm>
        </p:grpSpPr>
        <p:sp>
          <p:nvSpPr>
            <p:cNvPr id="103" name="Rect 103"/>
            <p:cNvSpPr/>
            <p:nvPr/>
          </p:nvSpPr>
          <p:spPr>
            <a:xfrm>
              <a:off x="566738" y="1485900"/>
              <a:ext cx="933450" cy="514350"/>
            </a:xfrm>
            <a:prstGeom prst="roundRect">
              <a:avLst>
                <a:gd name="adj" fmla="val 14814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4" name="Rect 104"/>
            <p:cNvSpPr/>
            <p:nvPr/>
          </p:nvSpPr>
          <p:spPr>
            <a:xfrm>
              <a:off x="1962150" y="1485900"/>
              <a:ext cx="2171700" cy="514350"/>
            </a:xfrm>
            <a:prstGeom prst="roundRect">
              <a:avLst>
                <a:gd name="adj" fmla="val 14814"/>
              </a:avLst>
            </a:prstGeom>
            <a:solidFill>
              <a:srgbClr val="000000"/>
            </a:solidFill>
            <a:ln w="19050">
              <a:solidFill>
                <a:srgbClr val="E2489B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557338" y="1743075"/>
              <a:ext cx="338138" cy="48"/>
            </a:xfrm>
            <a:custGeom>
              <a:avLst/>
              <a:gdLst/>
              <a:ahLst/>
              <a:cxnLst/>
              <a:rect l="0" t="0" r="r" b="b"/>
              <a:pathLst>
                <a:path w="338138" h="1" fill="none">
                  <a:moveTo>
                    <a:pt x="0" y="0"/>
                  </a:moveTo>
                  <a:lnTo>
                    <a:pt x="338138" y="0"/>
                  </a:lnTo>
                </a:path>
              </a:pathLst>
            </a:custGeom>
            <a:noFill/>
            <a:ln w="23812">
              <a:solidFill>
                <a:srgbClr val="FFFFFF"/>
              </a:solidFill>
              <a:tailEnd type="arrow" w="med" len="med"/>
            </a:ln>
          </p:spPr>
        </p:sp>
        <p:sp>
          <p:nvSpPr>
            <p:cNvPr id="106" name="Line 106"/>
            <p:cNvSpPr/>
            <p:nvPr/>
          </p:nvSpPr>
          <p:spPr>
            <a:xfrm>
              <a:off x="4191000" y="1743075"/>
              <a:ext cx="323850" cy="48"/>
            </a:xfrm>
            <a:custGeom>
              <a:avLst/>
              <a:gdLst/>
              <a:ahLst/>
              <a:cxnLst/>
              <a:rect l="0" t="0" r="r" b="b"/>
              <a:pathLst>
                <a:path w="323850" h="1" fill="none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3812">
              <a:solidFill>
                <a:srgbClr val="FFFFFF"/>
              </a:solidFill>
              <a:tailEnd type="arrow" w="med" len="med"/>
            </a:ln>
          </p:spPr>
        </p:sp>
        <p:sp>
          <p:nvSpPr>
            <p:cNvPr id="107" name="Rect 107"/>
            <p:cNvSpPr/>
            <p:nvPr/>
          </p:nvSpPr>
          <p:spPr>
            <a:xfrm>
              <a:off x="4581525" y="1485900"/>
              <a:ext cx="3981450" cy="514350"/>
            </a:xfrm>
            <a:prstGeom prst="roundRect">
              <a:avLst>
                <a:gd name="adj" fmla="val 11111"/>
              </a:avLst>
            </a:prstGeom>
            <a:solidFill>
              <a:srgbClr val="5E1C42"/>
            </a:solidFill>
            <a:ln w="19050">
              <a:solidFill>
                <a:srgbClr val="E2489B"/>
              </a:solidFill>
            </a:ln>
          </p:spPr>
        </p:sp>
        <p:sp>
          <p:nvSpPr>
            <p:cNvPr id="108" name="Rect 108"/>
            <p:cNvSpPr/>
            <p:nvPr/>
          </p:nvSpPr>
          <p:spPr>
            <a:xfrm>
              <a:off x="5572125" y="1485900"/>
              <a:ext cx="500062" cy="514350"/>
            </a:xfrm>
            <a:prstGeom prst="rect">
              <a:avLst/>
            </a:prstGeom>
            <a:solidFill>
              <a:srgbClr val="E2489B"/>
            </a:solidFill>
            <a:ln w="19050">
              <a:solidFill>
                <a:srgbClr val="E2489B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5072062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5572125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6072188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6572250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7072312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4" name="Line 114"/>
            <p:cNvSpPr/>
            <p:nvPr/>
          </p:nvSpPr>
          <p:spPr>
            <a:xfrm>
              <a:off x="7572375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8072438" y="1485900"/>
              <a:ext cx="48" cy="514350"/>
            </a:xfrm>
            <a:custGeom>
              <a:avLst/>
              <a:gdLst/>
              <a:ahLst/>
              <a:cxnLst/>
              <a:rect l="0" t="0" r="r" b="b"/>
              <a:pathLst>
                <a:path w="1" h="514350" fill="none">
                  <a:moveTo>
                    <a:pt x="0" y="0"/>
                  </a:moveTo>
                  <a:lnTo>
                    <a:pt x="0" y="514350"/>
                  </a:lnTo>
                </a:path>
              </a:pathLst>
            </a:custGeom>
            <a:noFill/>
            <a:ln w="14288">
              <a:solidFill>
                <a:srgbClr val="E2489B"/>
              </a:solidFill>
            </a:ln>
          </p:spPr>
        </p:sp>
        <p:sp>
          <p:nvSpPr>
            <p:cNvPr id="116" name="Line 116"/>
            <p:cNvSpPr/>
            <p:nvPr/>
          </p:nvSpPr>
          <p:spPr>
            <a:xfrm>
              <a:off x="5822156" y="1743075"/>
              <a:ext cx="48" cy="971550"/>
            </a:xfrm>
            <a:custGeom>
              <a:avLst/>
              <a:gdLst/>
              <a:ahLst/>
              <a:cxnLst/>
              <a:rect l="0" t="0" r="r" b="b"/>
              <a:pathLst>
                <a:path w="1" h="971550" fill="none">
                  <a:moveTo>
                    <a:pt x="0" y="0"/>
                  </a:moveTo>
                  <a:lnTo>
                    <a:pt x="0" y="971550"/>
                  </a:lnTo>
                </a:path>
              </a:pathLst>
            </a:custGeom>
            <a:noFill/>
            <a:ln w="23812">
              <a:solidFill>
                <a:srgbClr val="E2489B"/>
              </a:solidFill>
              <a:tailEnd type="arrow" w="med" len="med"/>
            </a:ln>
          </p:spPr>
        </p:sp>
        <p:sp>
          <p:nvSpPr>
            <p:cNvPr id="117" name="Dot 117"/>
            <p:cNvSpPr/>
            <p:nvPr/>
          </p:nvSpPr>
          <p:spPr>
            <a:xfrm>
              <a:off x="5779294" y="1700212"/>
              <a:ext cx="85725" cy="857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118" name="Rect 118"/>
            <p:cNvSpPr/>
            <p:nvPr/>
          </p:nvSpPr>
          <p:spPr>
            <a:xfrm>
              <a:off x="4972050" y="2771775"/>
              <a:ext cx="1695450" cy="457200"/>
            </a:xfrm>
            <a:prstGeom prst="roundRect">
              <a:avLst>
                <a:gd name="adj" fmla="val 14583"/>
              </a:avLst>
            </a:prstGeom>
            <a:solidFill>
              <a:srgbClr val="000000"/>
            </a:solidFill>
            <a:ln w="19050">
              <a:solidFill>
                <a:srgbClr val="E2489B"/>
              </a:solidFill>
            </a:ln>
          </p:spPr>
        </p:sp>
        <p:sp>
          <p:nvSpPr>
            <p:cNvPr id="119" name="Rect 119"/>
            <p:cNvSpPr/>
            <p:nvPr/>
          </p:nvSpPr>
          <p:spPr>
            <a:xfrm>
              <a:off x="6867525" y="3724275"/>
              <a:ext cx="1695450" cy="457200"/>
            </a:xfrm>
            <a:prstGeom prst="roundRect">
              <a:avLst>
                <a:gd name="adj" fmla="val 14583"/>
              </a:avLst>
            </a:prstGeom>
            <a:solidFill>
              <a:srgbClr val="000000"/>
            </a:solidFill>
            <a:ln w="19050">
              <a:solidFill>
                <a:srgbClr val="E2489B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6696075" y="3000375"/>
              <a:ext cx="1019175" cy="666750"/>
            </a:xfrm>
            <a:custGeom>
              <a:avLst/>
              <a:gdLst/>
              <a:ahLst/>
              <a:cxnLst/>
              <a:rect l="0" t="0" r="r" b="b"/>
              <a:pathLst>
                <a:path w="1019175" h="666750" fill="none">
                  <a:moveTo>
                    <a:pt x="0" y="0"/>
                  </a:moveTo>
                  <a:lnTo>
                    <a:pt x="1019175" y="0"/>
                  </a:lnTo>
                  <a:lnTo>
                    <a:pt x="1019175" y="666750"/>
                  </a:lnTo>
                </a:path>
              </a:pathLst>
            </a:custGeom>
            <a:noFill/>
            <a:ln w="23812">
              <a:solidFill>
                <a:srgbClr val="E2489B"/>
              </a:solidFill>
              <a:round/>
              <a:tailEnd type="arrow" w="med" len="med"/>
            </a:ln>
          </p:spPr>
        </p:sp>
      </p:grp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528638" y="1362456"/>
            <a:ext cx="1009650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20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lang="ru-RU" sz="195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1905476" y="1326832"/>
            <a:ext cx="2285048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420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hash(42) % 8</a:t>
            </a:r>
            <a:endParaRPr lang="ru-RU" sz="15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4" name="Text 124"/>
          <p:cNvSpPr txBox="1"/>
          <p:nvPr/>
        </p:nvSpPr>
        <p:spPr>
          <a:xfrm>
            <a:off x="528638" y="2058238"/>
            <a:ext cx="10096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ключ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1905476" y="2058238"/>
            <a:ext cx="228504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номер ячейки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6167438" y="2058238"/>
            <a:ext cx="2505789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 ячеек-указателей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4922520" y="2641282"/>
            <a:ext cx="179451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 </a:t>
            </a:r>
            <a:r>
              <a:rPr lang="ru-RU" sz="1500" b="1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next</a:t>
            </a:r>
            <a:endParaRPr lang="ru-RU" sz="1500" b="1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8" name="Text 128"/>
          <p:cNvSpPr txBox="1"/>
          <p:nvPr/>
        </p:nvSpPr>
        <p:spPr>
          <a:xfrm>
            <a:off x="6817995" y="3593782"/>
            <a:ext cx="179451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37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 </a:t>
            </a:r>
            <a:r>
              <a:rPr lang="ru-RU" sz="1500" b="1" i="0" dirty="0">
                <a:solidFill>
                  <a:srgbClr val="8F8F8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next</a:t>
            </a:r>
            <a:endParaRPr lang="ru-RU" sz="1500" b="1" i="0" dirty="0">
              <a:solidFill>
                <a:srgbClr val="8F8F8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4086701" y="3848938"/>
            <a:ext cx="262842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коллизия → цепочка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557212" y="2784767"/>
            <a:ext cx="4443412" cy="4991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780"/>
              </a:lnSpc>
              <a:spcBef>
                <a:spcPts val="0"/>
              </a:spcBef>
              <a:buNone/>
            </a:pPr>
            <a:r>
              <a:rPr lang="ru-RU" sz="3600" b="1" i="0" spc="-38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 ключ = 1 new</a:t>
            </a:r>
            <a:endParaRPr lang="ru-RU" sz="3600" b="1" i="0" spc="-38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557212" y="3384804"/>
            <a:ext cx="434530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каждый узел — отдельный кусок памяти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шаг по цепочке — переход по указателю</a:t>
            </a:r>
            <a:endParaRPr lang="ru-RU" sz="1500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Picture 13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2" name="Slide Number 132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Radix sort: СОРТИРОВКА БЕЗ СРАВНЕНИЙ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 xmlns:p14="http://schemas.microsoft.com/office/powerpoint/2010/main">
        <p:nvGrpSpPr>
          <p:cNvPr id="137" name="Chart 137"/>
          <p:cNvGrpSpPr/>
          <p:nvPr/>
        </p:nvGrpSpPr>
        <p:grpSpPr>
          <a:xfrm>
            <a:off x="566738" y="1514475"/>
            <a:ext cx="7905750" cy="2286000"/>
            <a:chOff x="566738" y="1514475"/>
            <a:chExt cx="7905750" cy="2286000"/>
          </a:xfrm>
        </p:grpSpPr>
        <p:sp>
          <p:nvSpPr>
            <p:cNvPr id="103" name="Rect 103"/>
            <p:cNvSpPr/>
            <p:nvPr/>
          </p:nvSpPr>
          <p:spPr>
            <a:xfrm>
              <a:off x="566738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4" name="Rect 104"/>
            <p:cNvSpPr/>
            <p:nvPr/>
          </p:nvSpPr>
          <p:spPr>
            <a:xfrm>
              <a:off x="1166812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5" name="Rect 105"/>
            <p:cNvSpPr/>
            <p:nvPr/>
          </p:nvSpPr>
          <p:spPr>
            <a:xfrm>
              <a:off x="1766888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6" name="Rect 106"/>
            <p:cNvSpPr/>
            <p:nvPr/>
          </p:nvSpPr>
          <p:spPr>
            <a:xfrm>
              <a:off x="2366962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FFFFFF"/>
              </a:solidFill>
            </a:ln>
          </p:spPr>
        </p:sp>
        <p:sp>
          <p:nvSpPr>
            <p:cNvPr id="107" name="Rect 107"/>
            <p:cNvSpPr/>
            <p:nvPr/>
          </p:nvSpPr>
          <p:spPr>
            <a:xfrm>
              <a:off x="3419475" y="1514475"/>
              <a:ext cx="647700" cy="971550"/>
            </a:xfrm>
            <a:prstGeom prst="roundRect">
              <a:avLst>
                <a:gd name="adj" fmla="val 11764"/>
              </a:avLst>
            </a:prstGeom>
            <a:solidFill>
              <a:srgbClr val="2E2654"/>
            </a:solidFill>
            <a:ln w="19050">
              <a:solidFill>
                <a:srgbClr val="9B87F5"/>
              </a:solidFill>
              <a:custDash>
                <a:ds d="300000" sp="200000"/>
              </a:custDash>
            </a:ln>
          </p:spPr>
        </p:sp>
        <p:sp>
          <p:nvSpPr>
            <p:cNvPr id="108" name="Rect 108"/>
            <p:cNvSpPr/>
            <p:nvPr/>
          </p:nvSpPr>
          <p:spPr>
            <a:xfrm>
              <a:off x="3476625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09" name="Rect 109"/>
            <p:cNvSpPr/>
            <p:nvPr/>
          </p:nvSpPr>
          <p:spPr>
            <a:xfrm>
              <a:off x="4162425" y="1514475"/>
              <a:ext cx="647700" cy="971550"/>
            </a:xfrm>
            <a:prstGeom prst="roundRect">
              <a:avLst>
                <a:gd name="adj" fmla="val 11764"/>
              </a:avLst>
            </a:prstGeom>
            <a:solidFill>
              <a:srgbClr val="2E2654"/>
            </a:solidFill>
            <a:ln w="19050">
              <a:solidFill>
                <a:srgbClr val="9B87F5"/>
              </a:solidFill>
              <a:custDash>
                <a:ds d="300000" sp="200000"/>
              </a:custDash>
            </a:ln>
          </p:spPr>
        </p:sp>
        <p:sp>
          <p:nvSpPr>
            <p:cNvPr id="110" name="Rect 110"/>
            <p:cNvSpPr/>
            <p:nvPr/>
          </p:nvSpPr>
          <p:spPr>
            <a:xfrm>
              <a:off x="4219575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1" name="Rect 111"/>
            <p:cNvSpPr/>
            <p:nvPr/>
          </p:nvSpPr>
          <p:spPr>
            <a:xfrm>
              <a:off x="4905375" y="1514475"/>
              <a:ext cx="647700" cy="971550"/>
            </a:xfrm>
            <a:prstGeom prst="roundRect">
              <a:avLst>
                <a:gd name="adj" fmla="val 11764"/>
              </a:avLst>
            </a:prstGeom>
            <a:solidFill>
              <a:srgbClr val="2E2654"/>
            </a:solidFill>
            <a:ln w="19050">
              <a:solidFill>
                <a:srgbClr val="9B87F5"/>
              </a:solidFill>
              <a:custDash>
                <a:ds d="300000" sp="200000"/>
              </a:custDash>
            </a:ln>
          </p:spPr>
        </p:sp>
        <p:sp>
          <p:nvSpPr>
            <p:cNvPr id="112" name="Rect 112"/>
            <p:cNvSpPr/>
            <p:nvPr/>
          </p:nvSpPr>
          <p:spPr>
            <a:xfrm>
              <a:off x="4962525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3" name="Rect 113"/>
            <p:cNvSpPr/>
            <p:nvPr/>
          </p:nvSpPr>
          <p:spPr>
            <a:xfrm>
              <a:off x="4962525" y="21431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4" name="Rect 114"/>
            <p:cNvSpPr/>
            <p:nvPr/>
          </p:nvSpPr>
          <p:spPr>
            <a:xfrm>
              <a:off x="6138862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5" name="Rect 115"/>
            <p:cNvSpPr/>
            <p:nvPr/>
          </p:nvSpPr>
          <p:spPr>
            <a:xfrm>
              <a:off x="6738938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6" name="Rect 116"/>
            <p:cNvSpPr/>
            <p:nvPr/>
          </p:nvSpPr>
          <p:spPr>
            <a:xfrm>
              <a:off x="7339012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7" name="Rect 117"/>
            <p:cNvSpPr/>
            <p:nvPr/>
          </p:nvSpPr>
          <p:spPr>
            <a:xfrm>
              <a:off x="7939088" y="180022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18" name="Line 118"/>
            <p:cNvSpPr/>
            <p:nvPr/>
          </p:nvSpPr>
          <p:spPr>
            <a:xfrm>
              <a:off x="2976562" y="1943100"/>
              <a:ext cx="376238" cy="48"/>
            </a:xfrm>
            <a:custGeom>
              <a:avLst/>
              <a:gdLst/>
              <a:ahLst/>
              <a:cxnLst/>
              <a:rect l="0" t="0" r="r" b="b"/>
              <a:pathLst>
                <a:path w="376238" h="1" fill="none">
                  <a:moveTo>
                    <a:pt x="0" y="0"/>
                  </a:moveTo>
                  <a:lnTo>
                    <a:pt x="376238" y="0"/>
                  </a:lnTo>
                </a:path>
              </a:pathLst>
            </a:custGeom>
            <a:noFill/>
            <a:ln w="23812">
              <a:solidFill>
                <a:srgbClr val="9B87F5"/>
              </a:solidFill>
              <a:tailEnd type="arrow" w="med" len="med"/>
            </a:ln>
          </p:spPr>
        </p:sp>
        <p:sp>
          <p:nvSpPr>
            <p:cNvPr id="119" name="Line 119"/>
            <p:cNvSpPr/>
            <p:nvPr/>
          </p:nvSpPr>
          <p:spPr>
            <a:xfrm>
              <a:off x="5629275" y="1943100"/>
              <a:ext cx="442912" cy="48"/>
            </a:xfrm>
            <a:custGeom>
              <a:avLst/>
              <a:gdLst/>
              <a:ahLst/>
              <a:cxnLst/>
              <a:rect l="0" t="0" r="r" b="b"/>
              <a:pathLst>
                <a:path w="442912" h="1" fill="none">
                  <a:moveTo>
                    <a:pt x="0" y="0"/>
                  </a:moveTo>
                  <a:lnTo>
                    <a:pt x="442912" y="0"/>
                  </a:lnTo>
                </a:path>
              </a:pathLst>
            </a:custGeom>
            <a:noFill/>
            <a:ln w="23812">
              <a:solidFill>
                <a:srgbClr val="9B87F5"/>
              </a:solidFill>
              <a:tailEnd type="arrow" w="med" len="med"/>
            </a:ln>
          </p:spPr>
        </p:sp>
        <p:sp>
          <p:nvSpPr>
            <p:cNvPr id="120" name="Rect 120"/>
            <p:cNvSpPr/>
            <p:nvPr/>
          </p:nvSpPr>
          <p:spPr>
            <a:xfrm>
              <a:off x="566738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1" name="Rect 121"/>
            <p:cNvSpPr/>
            <p:nvPr/>
          </p:nvSpPr>
          <p:spPr>
            <a:xfrm>
              <a:off x="1166812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2" name="Rect 122"/>
            <p:cNvSpPr/>
            <p:nvPr/>
          </p:nvSpPr>
          <p:spPr>
            <a:xfrm>
              <a:off x="1766888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3" name="Rect 123"/>
            <p:cNvSpPr/>
            <p:nvPr/>
          </p:nvSpPr>
          <p:spPr>
            <a:xfrm>
              <a:off x="2366962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4" name="Rect 124"/>
            <p:cNvSpPr/>
            <p:nvPr/>
          </p:nvSpPr>
          <p:spPr>
            <a:xfrm>
              <a:off x="3419475" y="2828925"/>
              <a:ext cx="647700" cy="971550"/>
            </a:xfrm>
            <a:prstGeom prst="roundRect">
              <a:avLst>
                <a:gd name="adj" fmla="val 11764"/>
              </a:avLst>
            </a:prstGeom>
            <a:solidFill>
              <a:srgbClr val="2E2654"/>
            </a:solidFill>
            <a:ln w="19050">
              <a:solidFill>
                <a:srgbClr val="9B87F5"/>
              </a:solidFill>
              <a:custDash>
                <a:ds d="300000" sp="200000"/>
              </a:custDash>
            </a:ln>
          </p:spPr>
        </p:sp>
        <p:sp>
          <p:nvSpPr>
            <p:cNvPr id="125" name="Rect 125"/>
            <p:cNvSpPr/>
            <p:nvPr/>
          </p:nvSpPr>
          <p:spPr>
            <a:xfrm>
              <a:off x="3476625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6" name="Rect 126"/>
            <p:cNvSpPr/>
            <p:nvPr/>
          </p:nvSpPr>
          <p:spPr>
            <a:xfrm>
              <a:off x="4162425" y="2828925"/>
              <a:ext cx="647700" cy="971550"/>
            </a:xfrm>
            <a:prstGeom prst="roundRect">
              <a:avLst>
                <a:gd name="adj" fmla="val 11764"/>
              </a:avLst>
            </a:prstGeom>
            <a:solidFill>
              <a:srgbClr val="2E2654"/>
            </a:solidFill>
            <a:ln w="19050">
              <a:solidFill>
                <a:srgbClr val="9B87F5"/>
              </a:solidFill>
              <a:custDash>
                <a:ds d="300000" sp="200000"/>
              </a:custDash>
            </a:ln>
          </p:spPr>
        </p:sp>
        <p:sp>
          <p:nvSpPr>
            <p:cNvPr id="127" name="Rect 127"/>
            <p:cNvSpPr/>
            <p:nvPr/>
          </p:nvSpPr>
          <p:spPr>
            <a:xfrm>
              <a:off x="4219575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8" name="Rect 128"/>
            <p:cNvSpPr/>
            <p:nvPr/>
          </p:nvSpPr>
          <p:spPr>
            <a:xfrm>
              <a:off x="4219575" y="34575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29" name="Rect 129"/>
            <p:cNvSpPr/>
            <p:nvPr/>
          </p:nvSpPr>
          <p:spPr>
            <a:xfrm>
              <a:off x="4905375" y="2828925"/>
              <a:ext cx="647700" cy="971550"/>
            </a:xfrm>
            <a:prstGeom prst="roundRect">
              <a:avLst>
                <a:gd name="adj" fmla="val 11764"/>
              </a:avLst>
            </a:prstGeom>
            <a:solidFill>
              <a:srgbClr val="2E2654"/>
            </a:solidFill>
            <a:ln w="19050">
              <a:solidFill>
                <a:srgbClr val="9B87F5"/>
              </a:solidFill>
              <a:custDash>
                <a:ds d="300000" sp="200000"/>
              </a:custDash>
            </a:ln>
          </p:spPr>
        </p:sp>
        <p:sp>
          <p:nvSpPr>
            <p:cNvPr id="130" name="Rect 130"/>
            <p:cNvSpPr/>
            <p:nvPr/>
          </p:nvSpPr>
          <p:spPr>
            <a:xfrm>
              <a:off x="4962525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000000"/>
            </a:solidFill>
            <a:ln w="19050">
              <a:solidFill>
                <a:srgbClr val="9B87F5"/>
              </a:solidFill>
            </a:ln>
          </p:spPr>
        </p:sp>
        <p:sp>
          <p:nvSpPr>
            <p:cNvPr id="131" name="Rect 131"/>
            <p:cNvSpPr/>
            <p:nvPr/>
          </p:nvSpPr>
          <p:spPr>
            <a:xfrm>
              <a:off x="6138862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9B87F5"/>
            </a:solidFill>
            <a:ln w="19050">
              <a:solidFill>
                <a:srgbClr val="9B87F5"/>
              </a:solidFill>
            </a:ln>
          </p:spPr>
        </p:sp>
        <p:sp>
          <p:nvSpPr>
            <p:cNvPr id="132" name="Rect 132"/>
            <p:cNvSpPr/>
            <p:nvPr/>
          </p:nvSpPr>
          <p:spPr>
            <a:xfrm>
              <a:off x="6738938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9B87F5"/>
            </a:solidFill>
            <a:ln w="19050">
              <a:solidFill>
                <a:srgbClr val="9B87F5"/>
              </a:solidFill>
            </a:ln>
          </p:spPr>
        </p:sp>
        <p:sp>
          <p:nvSpPr>
            <p:cNvPr id="133" name="Rect 133"/>
            <p:cNvSpPr/>
            <p:nvPr/>
          </p:nvSpPr>
          <p:spPr>
            <a:xfrm>
              <a:off x="7339012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9B87F5"/>
            </a:solidFill>
            <a:ln w="19050">
              <a:solidFill>
                <a:srgbClr val="9B87F5"/>
              </a:solidFill>
            </a:ln>
          </p:spPr>
        </p:sp>
        <p:sp>
          <p:nvSpPr>
            <p:cNvPr id="134" name="Rect 134"/>
            <p:cNvSpPr/>
            <p:nvPr/>
          </p:nvSpPr>
          <p:spPr>
            <a:xfrm>
              <a:off x="7939088" y="3114675"/>
              <a:ext cx="533400" cy="285750"/>
            </a:xfrm>
            <a:prstGeom prst="roundRect">
              <a:avLst>
                <a:gd name="adj" fmla="val 16666"/>
              </a:avLst>
            </a:prstGeom>
            <a:solidFill>
              <a:srgbClr val="9B87F5"/>
            </a:solidFill>
            <a:ln w="19050">
              <a:solidFill>
                <a:srgbClr val="9B87F5"/>
              </a:solidFill>
            </a:ln>
          </p:spPr>
        </p:sp>
        <p:sp>
          <p:nvSpPr>
            <p:cNvPr id="135" name="Line 135"/>
            <p:cNvSpPr/>
            <p:nvPr/>
          </p:nvSpPr>
          <p:spPr>
            <a:xfrm>
              <a:off x="2976562" y="3257550"/>
              <a:ext cx="376238" cy="48"/>
            </a:xfrm>
            <a:custGeom>
              <a:avLst/>
              <a:gdLst/>
              <a:ahLst/>
              <a:cxnLst/>
              <a:rect l="0" t="0" r="r" b="b"/>
              <a:pathLst>
                <a:path w="376238" h="1" fill="none">
                  <a:moveTo>
                    <a:pt x="0" y="0"/>
                  </a:moveTo>
                  <a:lnTo>
                    <a:pt x="376238" y="0"/>
                  </a:lnTo>
                </a:path>
              </a:pathLst>
            </a:custGeom>
            <a:noFill/>
            <a:ln w="23812">
              <a:solidFill>
                <a:srgbClr val="9B87F5"/>
              </a:solidFill>
              <a:tailEnd type="arrow" w="med" len="med"/>
            </a:ln>
          </p:spPr>
        </p:sp>
        <p:sp>
          <p:nvSpPr>
            <p:cNvPr id="136" name="Line 136"/>
            <p:cNvSpPr/>
            <p:nvPr/>
          </p:nvSpPr>
          <p:spPr>
            <a:xfrm>
              <a:off x="5629275" y="3257550"/>
              <a:ext cx="442912" cy="48"/>
            </a:xfrm>
            <a:custGeom>
              <a:avLst/>
              <a:gdLst/>
              <a:ahLst/>
              <a:cxnLst/>
              <a:rect l="0" t="0" r="r" b="b"/>
              <a:pathLst>
                <a:path w="442912" h="1" fill="none">
                  <a:moveTo>
                    <a:pt x="0" y="0"/>
                  </a:moveTo>
                  <a:lnTo>
                    <a:pt x="442912" y="0"/>
                  </a:lnTo>
                </a:path>
              </a:pathLst>
            </a:custGeom>
            <a:noFill/>
            <a:ln w="23812">
              <a:solidFill>
                <a:srgbClr val="9B87F5"/>
              </a:solidFill>
              <a:tailEnd type="arrow" w="med" len="med"/>
            </a:ln>
          </p:spPr>
        </p:sp>
      </p:grpSp>
      <p:sp xmlns:p14="http://schemas.microsoft.com/office/powerpoint/2010/main">
        <p:nvSpPr>
          <p:cNvPr id="138" name="Text 138"/>
          <p:cNvSpPr txBox="1"/>
          <p:nvPr/>
        </p:nvSpPr>
        <p:spPr>
          <a:xfrm>
            <a:off x="557212" y="1277188"/>
            <a:ext cx="277558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вход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9" name="Text 139"/>
          <p:cNvSpPr txBox="1"/>
          <p:nvPr/>
        </p:nvSpPr>
        <p:spPr>
          <a:xfrm>
            <a:off x="3409950" y="1277188"/>
            <a:ext cx="269081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проход 1 · младший полубайт</a:t>
            </a:r>
            <a:endParaRPr lang="ru-RU" sz="1200" b="0" i="0" dirty="0">
              <a:solidFill>
                <a:srgbClr val="9B87F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40" name="Text 140"/>
          <p:cNvSpPr txBox="1"/>
          <p:nvPr/>
        </p:nvSpPr>
        <p:spPr>
          <a:xfrm>
            <a:off x="6129338" y="1277188"/>
            <a:ext cx="24812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после 1-го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41" name="Text 141"/>
          <p:cNvSpPr txBox="1"/>
          <p:nvPr/>
        </p:nvSpPr>
        <p:spPr>
          <a:xfrm>
            <a:off x="534638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2" name="Text 142"/>
          <p:cNvSpPr txBox="1"/>
          <p:nvPr/>
        </p:nvSpPr>
        <p:spPr>
          <a:xfrm>
            <a:off x="1134713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0x03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3" name="Text 143"/>
          <p:cNvSpPr txBox="1"/>
          <p:nvPr/>
        </p:nvSpPr>
        <p:spPr>
          <a:xfrm>
            <a:off x="1734788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0x2A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4" name="Text 144"/>
          <p:cNvSpPr txBox="1"/>
          <p:nvPr/>
        </p:nvSpPr>
        <p:spPr>
          <a:xfrm>
            <a:off x="2334863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0x11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5" name="Text 145"/>
          <p:cNvSpPr txBox="1"/>
          <p:nvPr/>
        </p:nvSpPr>
        <p:spPr>
          <a:xfrm>
            <a:off x="3385661" y="1549146"/>
            <a:ext cx="71532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9B87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·1</a:t>
            </a:r>
            <a:endParaRPr lang="ru-RU" sz="1200" b="1" i="0" dirty="0">
              <a:solidFill>
                <a:srgbClr val="9B87F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6" name="Text 146"/>
          <p:cNvSpPr txBox="1"/>
          <p:nvPr/>
        </p:nvSpPr>
        <p:spPr>
          <a:xfrm>
            <a:off x="3444526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0x11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7" name="Text 147"/>
          <p:cNvSpPr txBox="1"/>
          <p:nvPr/>
        </p:nvSpPr>
        <p:spPr>
          <a:xfrm>
            <a:off x="4128611" y="1549146"/>
            <a:ext cx="71532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9B87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·3</a:t>
            </a:r>
            <a:endParaRPr lang="ru-RU" sz="1200" b="1" i="0" dirty="0">
              <a:solidFill>
                <a:srgbClr val="9B87F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8" name="Text 148"/>
          <p:cNvSpPr txBox="1"/>
          <p:nvPr/>
        </p:nvSpPr>
        <p:spPr>
          <a:xfrm>
            <a:off x="4187476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0x03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49" name="Text 149"/>
          <p:cNvSpPr txBox="1"/>
          <p:nvPr/>
        </p:nvSpPr>
        <p:spPr>
          <a:xfrm>
            <a:off x="4871561" y="1549146"/>
            <a:ext cx="71532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9B87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·A</a:t>
            </a:r>
            <a:endParaRPr lang="ru-RU" sz="1200" b="1" i="0" dirty="0">
              <a:solidFill>
                <a:srgbClr val="9B87F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0" name="Text 150"/>
          <p:cNvSpPr txBox="1"/>
          <p:nvPr/>
        </p:nvSpPr>
        <p:spPr>
          <a:xfrm>
            <a:off x="4930426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1" name="Text 151"/>
          <p:cNvSpPr txBox="1"/>
          <p:nvPr/>
        </p:nvSpPr>
        <p:spPr>
          <a:xfrm>
            <a:off x="4930426" y="20730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0x2A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2" name="Text 152"/>
          <p:cNvSpPr txBox="1"/>
          <p:nvPr/>
        </p:nvSpPr>
        <p:spPr>
          <a:xfrm>
            <a:off x="6106763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0x11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3" name="Text 153"/>
          <p:cNvSpPr txBox="1"/>
          <p:nvPr/>
        </p:nvSpPr>
        <p:spPr>
          <a:xfrm>
            <a:off x="6706838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0x03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4" name="Text 154"/>
          <p:cNvSpPr txBox="1"/>
          <p:nvPr/>
        </p:nvSpPr>
        <p:spPr>
          <a:xfrm>
            <a:off x="7306913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5" name="Text 155"/>
          <p:cNvSpPr txBox="1"/>
          <p:nvPr/>
        </p:nvSpPr>
        <p:spPr>
          <a:xfrm>
            <a:off x="7906988" y="173012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0x2A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56" name="Text 156"/>
          <p:cNvSpPr txBox="1"/>
          <p:nvPr/>
        </p:nvSpPr>
        <p:spPr>
          <a:xfrm>
            <a:off x="557212" y="2591638"/>
            <a:ext cx="2775585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после 1-го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7" name="Text 157"/>
          <p:cNvSpPr txBox="1"/>
          <p:nvPr/>
        </p:nvSpPr>
        <p:spPr>
          <a:xfrm>
            <a:off x="3409950" y="2591638"/>
            <a:ext cx="269081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проход 2 · старший полубайт</a:t>
            </a:r>
            <a:endParaRPr lang="ru-RU" sz="1200" b="0" i="0" dirty="0">
              <a:solidFill>
                <a:srgbClr val="9B87F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8" name="Text 158"/>
          <p:cNvSpPr txBox="1"/>
          <p:nvPr/>
        </p:nvSpPr>
        <p:spPr>
          <a:xfrm>
            <a:off x="6129338" y="2591638"/>
            <a:ext cx="24812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9B87F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отсортировано</a:t>
            </a:r>
            <a:endParaRPr lang="ru-RU" sz="1200" b="0" i="0" dirty="0">
              <a:solidFill>
                <a:srgbClr val="9B87F5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59" name="Text 159"/>
          <p:cNvSpPr txBox="1"/>
          <p:nvPr/>
        </p:nvSpPr>
        <p:spPr>
          <a:xfrm>
            <a:off x="534638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0x11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0" name="Text 160"/>
          <p:cNvSpPr txBox="1"/>
          <p:nvPr/>
        </p:nvSpPr>
        <p:spPr>
          <a:xfrm>
            <a:off x="1134713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0x03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1" name="Text 161"/>
          <p:cNvSpPr txBox="1"/>
          <p:nvPr/>
        </p:nvSpPr>
        <p:spPr>
          <a:xfrm>
            <a:off x="1734788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2" name="Text 162"/>
          <p:cNvSpPr txBox="1"/>
          <p:nvPr/>
        </p:nvSpPr>
        <p:spPr>
          <a:xfrm>
            <a:off x="2334863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0x2A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3" name="Text 163"/>
          <p:cNvSpPr txBox="1"/>
          <p:nvPr/>
        </p:nvSpPr>
        <p:spPr>
          <a:xfrm>
            <a:off x="3385661" y="2863596"/>
            <a:ext cx="71532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9B87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0·</a:t>
            </a:r>
            <a:endParaRPr lang="ru-RU" sz="1200" b="1" i="0" dirty="0">
              <a:solidFill>
                <a:srgbClr val="9B87F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4" name="Text 164"/>
          <p:cNvSpPr txBox="1"/>
          <p:nvPr/>
        </p:nvSpPr>
        <p:spPr>
          <a:xfrm>
            <a:off x="3444526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0x03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5" name="Text 165"/>
          <p:cNvSpPr txBox="1"/>
          <p:nvPr/>
        </p:nvSpPr>
        <p:spPr>
          <a:xfrm>
            <a:off x="4128611" y="2863596"/>
            <a:ext cx="71532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9B87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1·</a:t>
            </a:r>
            <a:endParaRPr lang="ru-RU" sz="1200" b="1" i="0" dirty="0">
              <a:solidFill>
                <a:srgbClr val="9B87F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6" name="Text 166"/>
          <p:cNvSpPr txBox="1"/>
          <p:nvPr/>
        </p:nvSpPr>
        <p:spPr>
          <a:xfrm>
            <a:off x="4187476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0x11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7" name="Text 167"/>
          <p:cNvSpPr txBox="1"/>
          <p:nvPr/>
        </p:nvSpPr>
        <p:spPr>
          <a:xfrm>
            <a:off x="4187476" y="33874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8" name="Text 168"/>
          <p:cNvSpPr txBox="1"/>
          <p:nvPr/>
        </p:nvSpPr>
        <p:spPr>
          <a:xfrm>
            <a:off x="4871561" y="2863596"/>
            <a:ext cx="71532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9B87F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2·</a:t>
            </a:r>
            <a:endParaRPr lang="ru-RU" sz="1200" b="1" i="0" dirty="0">
              <a:solidFill>
                <a:srgbClr val="9B87F5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69" name="Text 169"/>
          <p:cNvSpPr txBox="1"/>
          <p:nvPr/>
        </p:nvSpPr>
        <p:spPr>
          <a:xfrm>
            <a:off x="4930426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0x2A</a:t>
            </a:r>
            <a:endParaRPr lang="ru-RU" sz="12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70" name="Text 170"/>
          <p:cNvSpPr txBox="1"/>
          <p:nvPr/>
        </p:nvSpPr>
        <p:spPr>
          <a:xfrm>
            <a:off x="6106763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0x03</a:t>
            </a:r>
            <a:endParaRPr lang="ru-RU" sz="120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71" name="Text 171"/>
          <p:cNvSpPr txBox="1"/>
          <p:nvPr/>
        </p:nvSpPr>
        <p:spPr>
          <a:xfrm>
            <a:off x="6706838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0x11</a:t>
            </a:r>
            <a:endParaRPr lang="ru-RU" sz="120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72" name="Text 172"/>
          <p:cNvSpPr txBox="1"/>
          <p:nvPr/>
        </p:nvSpPr>
        <p:spPr>
          <a:xfrm>
            <a:off x="7306913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0x1A</a:t>
            </a:r>
            <a:endParaRPr lang="ru-RU" sz="120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73" name="Text 173"/>
          <p:cNvSpPr txBox="1"/>
          <p:nvPr/>
        </p:nvSpPr>
        <p:spPr>
          <a:xfrm>
            <a:off x="7906988" y="3044571"/>
            <a:ext cx="597598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0x2A</a:t>
            </a:r>
            <a:endParaRPr lang="ru-RU" sz="120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74" name="Line 174"/>
          <p:cNvSpPr/>
          <p:nvPr/>
        </p:nvSpPr>
        <p:spPr>
          <a:xfrm>
            <a:off x="557212" y="3960019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75" name="Text 175"/>
          <p:cNvSpPr txBox="1"/>
          <p:nvPr/>
        </p:nvSpPr>
        <p:spPr>
          <a:xfrm>
            <a:off x="557212" y="4095255"/>
            <a:ext cx="238315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700" b="1" i="0" dirty="0">
                <a:solidFill>
                  <a:srgbClr val="9B8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</a:t>
            </a: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сравнений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76" name="Text 176"/>
          <p:cNvSpPr txBox="1"/>
          <p:nvPr/>
        </p:nvSpPr>
        <p:spPr>
          <a:xfrm>
            <a:off x="3048000" y="4095255"/>
            <a:ext cx="238315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буфер на </a:t>
            </a:r>
            <a:r>
              <a:rPr lang="ru-RU" sz="2700" b="1" i="0" dirty="0">
                <a:solidFill>
                  <a:srgbClr val="9B87F5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</a:t>
            </a:r>
            <a:endParaRPr lang="ru-RU" sz="2700" b="1" i="0" dirty="0">
              <a:solidFill>
                <a:srgbClr val="9B87F5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77" name="Text 177"/>
          <p:cNvSpPr txBox="1"/>
          <p:nvPr/>
        </p:nvSpPr>
        <p:spPr>
          <a:xfrm>
            <a:off x="5524500" y="4064756"/>
            <a:ext cx="3168015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только </a:t>
            </a:r>
            <a:r>
              <a:rPr lang="ru-RU" sz="1650" b="1" i="0" dirty="0">
                <a:solidFill>
                  <a:srgbClr val="9B87F5"/>
                </a:solidFill>
                <a:latin typeface="Montserrat"/>
                <a:ea typeface="Montserrat"/>
                <a:cs typeface="Montserrat"/>
                <a:sym typeface="Montserrat"/>
              </a:rPr>
              <a:t>целые</a:t>
            </a: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ключи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Picture 17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78" name="Slide Number 178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reserve(N) — ТОЖЕ РЕШЕНИЕ, И ОНО СТОИТ ПАМЯТИ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01013"/>
            <a:ext cx="640556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flat_hash_set · N = 2^20 · 1% уникальных · нс на элемент · M2 Pro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Box 104"/>
          <p:cNvSpPr/>
          <p:nvPr/>
        </p:nvSpPr>
        <p:spPr>
          <a:xfrm>
            <a:off x="566738" y="1743075"/>
            <a:ext cx="2647950" cy="188595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785812" y="1879854"/>
            <a:ext cx="238315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 </a:t>
            </a: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reserve(N)</a:t>
            </a:r>
            <a:endParaRPr lang="ru-RU" sz="15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785812" y="2375916"/>
            <a:ext cx="2383155" cy="1543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3,6 </a:t>
            </a:r>
            <a:r>
              <a:rPr lang="ru-RU" sz="21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нс</a:t>
            </a:r>
            <a:endParaRPr lang="ru-RU" sz="21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785812" y="3225937"/>
            <a:ext cx="2383155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18,9 МБ таблицы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8" name="Box 108"/>
          <p:cNvSpPr/>
          <p:nvPr/>
        </p:nvSpPr>
        <p:spPr>
          <a:xfrm>
            <a:off x="3424238" y="1743075"/>
            <a:ext cx="2647950" cy="1885950"/>
          </a:xfrm>
          <a:prstGeom prst="roundRect">
            <a:avLst>
              <a:gd name="adj" fmla="val 6000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3643312" y="1879854"/>
            <a:ext cx="238315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без </a:t>
            </a:r>
            <a:r>
              <a:rPr lang="ru-RU" sz="1500" b="1" i="0" dirty="0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reserve</a:t>
            </a:r>
            <a:endParaRPr lang="ru-RU" sz="1500" b="1" i="0" dirty="0">
              <a:solidFill>
                <a:srgbClr val="00000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3643312" y="2375916"/>
            <a:ext cx="2383155" cy="1543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2,9 </a:t>
            </a:r>
            <a:r>
              <a:rPr lang="ru-RU" sz="210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нс</a:t>
            </a:r>
            <a:endParaRPr lang="ru-RU" sz="210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3643312" y="3225937"/>
            <a:ext cx="2383155" cy="2295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658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0,3 МБ таблицы</a:t>
            </a:r>
            <a:endParaRPr lang="ru-RU" sz="1275" b="0" i="0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6287024" y="1966341"/>
            <a:ext cx="2299764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×64</a:t>
            </a:r>
            <a:endParaRPr lang="ru-RU" sz="6000" b="1" i="0" spc="-112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6287024" y="2753982"/>
            <a:ext cx="229976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памяти</a:t>
            </a:r>
            <a:endParaRPr lang="ru-RU" sz="1800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6287024" y="3086938"/>
            <a:ext cx="229976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 точным байтам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3951694"/>
            <a:ext cx="7877175" cy="3695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6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 мы знаем, </a:t>
            </a:r>
            <a:r>
              <a:rPr lang="ru-RU" sz="240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U — нет</a:t>
            </a:r>
            <a:endParaRPr lang="ru-RU" sz="240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Picture 1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6" name="Slide Number 11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ЧЕСТНЫЙ ЗАМЕР — ВОСЕМЬ ПРОВЕРОК ДО ВЫВОДА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20606"/>
            <a:ext cx="3952875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cap="all" spc="75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Одинаковая задача</a:t>
            </a:r>
            <a:endParaRPr lang="ru-RU" sz="1125" b="0" i="0" cap="all" spc="75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688687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938212" y="1682753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Контракт — до таймера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557212" y="2050637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938212" y="2044703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Все проходят проверку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557212" y="2496931"/>
            <a:ext cx="3952875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cap="all" spc="75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Проверенные код и входы</a:t>
            </a:r>
            <a:endParaRPr lang="ru-RU" sz="1125" b="0" i="0" cap="all" spc="75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2765012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938212" y="2759078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Разные входы, не один массив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3126962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938212" y="3121028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Свои N и доля уникальных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4762500" y="1420606"/>
            <a:ext cx="3952875" cy="1976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406"/>
              </a:lnSpc>
              <a:spcBef>
                <a:spcPts val="0"/>
              </a:spcBef>
              <a:buNone/>
            </a:pPr>
            <a:r>
              <a:rPr lang="ru-RU" sz="1125" b="0" i="0" cap="all" spc="75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Повторения и условия</a:t>
            </a:r>
            <a:endParaRPr lang="ru-RU" sz="1125" b="0" i="0" cap="all" spc="75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4762500" y="1688687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143500" y="1682753"/>
            <a:ext cx="3835241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Чередование, медиана,</a:t>
            </a:r>
            <a:b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разброс, две сессии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4762500" y="2307812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5143500" y="2301878"/>
            <a:ext cx="3835241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Компилятор, библиотека</a:t>
            </a:r>
            <a:b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 ОС — в логе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4762500" y="2926937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7</a:t>
            </a:r>
            <a:endParaRPr lang="ru-RU" sz="22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5143500" y="2921003"/>
            <a:ext cx="3835241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Устройство: модель, QoS,</a:t>
            </a:r>
            <a:b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ru-RU" sz="1425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заряд, нагрев</a:t>
            </a:r>
            <a:endParaRPr lang="ru-RU" sz="1425" b="0" i="0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0" name="Box 120"/>
          <p:cNvSpPr/>
          <p:nvPr/>
        </p:nvSpPr>
        <p:spPr>
          <a:xfrm>
            <a:off x="566738" y="3686175"/>
            <a:ext cx="8010525" cy="647700"/>
          </a:xfrm>
          <a:prstGeom prst="roundRect">
            <a:avLst>
              <a:gd name="adj" fmla="val 17142"/>
            </a:avLst>
          </a:prstGeom>
          <a:solidFill>
            <a:srgbClr val="46CDAE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785812" y="3758517"/>
            <a:ext cx="4443412" cy="193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73"/>
              </a:lnSpc>
              <a:spcBef>
                <a:spcPts val="0"/>
              </a:spcBef>
              <a:buNone/>
            </a:pPr>
            <a:r>
              <a:rPr lang="ru-RU" sz="1125" b="0" i="0" cap="all" spc="75" dirty="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Выводы в пределах данных</a:t>
            </a:r>
            <a:endParaRPr lang="ru-RU" sz="1125" b="0" i="0" cap="all" spc="75" dirty="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785812" y="3974687"/>
            <a:ext cx="3524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22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8</a:t>
            </a:r>
            <a:endParaRPr lang="ru-RU" sz="22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1166812" y="3931406"/>
            <a:ext cx="73723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Факт отдельно от гипотезы о причине</a:t>
            </a:r>
            <a:endParaRPr lang="ru-RU" sz="1650" b="1" i="0" dirty="0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4" name="Picture 12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24" name="Slide Number 124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BACKUP · ДЛЯ ВОПРОСОВ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ШАГОВ У ХЕША МЕНЬШЕ, НО КАЖДЫЙ — АЛЛОКАЦИЯ ИЛИ ПРЫЖОК ПО УЗЛУ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Fill 103"/>
          <p:cNvSpPr/>
          <p:nvPr/>
        </p:nvSpPr>
        <p:spPr>
          <a:xfrm>
            <a:off x="557212" y="1428750"/>
            <a:ext cx="3810000" cy="47625"/>
          </a:xfrm>
          <a:prstGeom prst="roundRect">
            <a:avLst>
              <a:gd name="adj" fmla="val 50000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582407"/>
            <a:ext cx="39528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sort + unique</a:t>
            </a:r>
            <a:endParaRPr lang="ru-RU" sz="18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2029587"/>
            <a:ext cx="557212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500"/>
              </a:lnSpc>
              <a:spcBef>
                <a:spcPts val="0"/>
              </a:spcBef>
              <a:buNone/>
            </a:pPr>
            <a:r>
              <a:rPr lang="ru-RU" sz="45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0</a:t>
            </a:r>
            <a:endParaRPr lang="ru-RU" sz="45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1143000" y="2121656"/>
            <a:ext cx="3266122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аллокаций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689479"/>
            <a:ext cx="395287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~N·log₂N сравнений и перестановок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один плотный буфер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8" name="Fill 108"/>
          <p:cNvSpPr/>
          <p:nvPr/>
        </p:nvSpPr>
        <p:spPr>
          <a:xfrm>
            <a:off x="4776788" y="1428750"/>
            <a:ext cx="3810000" cy="47625"/>
          </a:xfrm>
          <a:prstGeom prst="roundRect">
            <a:avLst>
              <a:gd name="adj" fmla="val 50000"/>
            </a:avLst>
          </a:prstGeom>
          <a:solidFill>
            <a:srgbClr val="E2489B"/>
          </a:solidFill>
          <a:ln>
            <a:noFill/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776788" y="1582407"/>
            <a:ext cx="39528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unordered_set</a:t>
            </a:r>
            <a:endParaRPr lang="ru-RU" sz="18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4776788" y="2029587"/>
            <a:ext cx="557212" cy="590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4500"/>
              </a:lnSpc>
              <a:spcBef>
                <a:spcPts val="0"/>
              </a:spcBef>
              <a:buNone/>
            </a:pPr>
            <a:r>
              <a:rPr lang="ru-RU" sz="4500" b="1" i="0" dirty="0">
                <a:solidFill>
                  <a:srgbClr val="E2489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</a:t>
            </a:r>
            <a:endParaRPr lang="ru-RU" sz="4500" b="1" i="0" dirty="0">
              <a:solidFill>
                <a:srgbClr val="E2489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362575" y="1988306"/>
            <a:ext cx="3349514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аллокаций</a:t>
            </a:r>
            <a:b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65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 U освобождений</a:t>
            </a:r>
            <a:endParaRPr lang="ru-RU" sz="165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776788" y="2689479"/>
            <a:ext cx="3952875" cy="552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хеш, ячейки, узлы, сравнения</a:t>
            </a:r>
            <a:b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5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обход таблицы при выгрузке</a:t>
            </a:r>
            <a:endParaRPr lang="ru-RU" sz="1500" b="0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Line 113"/>
          <p:cNvSpPr/>
          <p:nvPr/>
        </p:nvSpPr>
        <p:spPr>
          <a:xfrm>
            <a:off x="557212" y="3455194"/>
            <a:ext cx="8029575" cy="48"/>
          </a:xfrm>
          <a:custGeom>
            <a:avLst/>
            <a:gdLst/>
            <a:ahLst/>
            <a:cxnLst/>
            <a:rect l="0" t="0" r="r" b="b"/>
            <a:pathLst>
              <a:path w="8029575" h="1" fill="none">
                <a:moveTo>
                  <a:pt x="0" y="0"/>
                </a:moveTo>
                <a:lnTo>
                  <a:pt x="8029575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557212" y="3572713"/>
            <a:ext cx="738663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 — сколько элементов на входе, U — сколько из них уникальных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557212" y="3857796"/>
            <a:ext cx="8299037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70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log₂ 10⁶ ≈ 20: </a:t>
            </a:r>
            <a:r>
              <a:rPr lang="ru-RU" sz="1950" b="0" i="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вопрос не в числе шагов, а </a:t>
            </a:r>
            <a:r>
              <a:rPr lang="ru-RU" sz="19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 цене каждого</a:t>
            </a:r>
            <a:endParaRPr lang="ru-RU" sz="19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6" name="Picture 11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6" name="Slide Number 11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АРХИВ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УДАЛИТЕ ДУБЛИКАТЫ. ДВА СПОСОБА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Fill 103"/>
          <p:cNvSpPr/>
          <p:nvPr/>
        </p:nvSpPr>
        <p:spPr>
          <a:xfrm>
            <a:off x="557212" y="1285875"/>
            <a:ext cx="3919538" cy="47625"/>
          </a:xfrm>
          <a:prstGeom prst="roundRect">
            <a:avLst>
              <a:gd name="adj" fmla="val 50000"/>
            </a:avLst>
          </a:prstGeom>
          <a:solidFill>
            <a:srgbClr val="46CDAE"/>
          </a:solidFill>
          <a:ln>
            <a:noFill/>
          </a:ln>
        </p:spPr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557212" y="1430007"/>
            <a:ext cx="4065699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Сортировка</a:t>
            </a:r>
            <a:endParaRPr lang="ru-RU" sz="18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1745932"/>
            <a:ext cx="406569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O(n log n)</a:t>
            </a:r>
            <a:endParaRPr lang="ru-RU" sz="1500" b="1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6" name="Fill 106"/>
          <p:cNvSpPr/>
          <p:nvPr/>
        </p:nvSpPr>
        <p:spPr>
          <a:xfrm>
            <a:off x="557212" y="2133600"/>
            <a:ext cx="3919538" cy="142875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>
            <a:noFill/>
          </a:ln>
        </p:spPr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728662" y="2273046"/>
            <a:ext cx="37242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std::sort(v.begin(), v.end());</a:t>
            </a:r>
            <a:b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v.erase(std::unique(v.begin(), v.end()),</a:t>
            </a:r>
            <a:b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v.end());</a:t>
            </a:r>
            <a:endParaRPr lang="ru-RU" sz="12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08" name="Fill 108"/>
          <p:cNvSpPr/>
          <p:nvPr/>
        </p:nvSpPr>
        <p:spPr>
          <a:xfrm>
            <a:off x="4667250" y="1285875"/>
            <a:ext cx="3919538" cy="47625"/>
          </a:xfrm>
          <a:prstGeom prst="roundRect">
            <a:avLst>
              <a:gd name="adj" fmla="val 50000"/>
            </a:avLst>
          </a:prstGeom>
          <a:solidFill>
            <a:srgbClr val="E2489B"/>
          </a:solidFill>
          <a:ln>
            <a:noFill/>
          </a:ln>
        </p:spPr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4667250" y="1430007"/>
            <a:ext cx="4065699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250"/>
              </a:lnSpc>
              <a:spcBef>
                <a:spcPts val="0"/>
              </a:spcBef>
              <a:buNone/>
            </a:pPr>
            <a:r>
              <a:rPr lang="ru-RU" sz="18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Хеш-таблица</a:t>
            </a:r>
            <a:endParaRPr lang="ru-RU" sz="18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4667250" y="1727454"/>
            <a:ext cx="406569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500" b="1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O(n) </a:t>
            </a:r>
            <a:r>
              <a:rPr lang="ru-RU" sz="1275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ожидаемо</a:t>
            </a:r>
            <a:endParaRPr lang="ru-RU" sz="1275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1" name="Fill 111"/>
          <p:cNvSpPr/>
          <p:nvPr/>
        </p:nvSpPr>
        <p:spPr>
          <a:xfrm>
            <a:off x="4667250" y="2133600"/>
            <a:ext cx="3919538" cy="1428750"/>
          </a:xfrm>
          <a:prstGeom prst="roundRect">
            <a:avLst>
              <a:gd name="adj" fmla="val 8000"/>
            </a:avLst>
          </a:prstGeom>
          <a:solidFill>
            <a:srgbClr val="121212"/>
          </a:solidFill>
          <a:ln>
            <a:noFill/>
          </a:ln>
        </p:spPr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4838700" y="2273046"/>
            <a:ext cx="3724275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95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std::unordered_set&lt;uint64_t&gt; s;</a:t>
            </a:r>
            <a:b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s.reserve(v.size());</a:t>
            </a:r>
            <a:b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(auto x : v) s.insert(x);</a:t>
            </a:r>
            <a:b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ru-RU" sz="1200" b="0" i="0" dirty="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v.assign(s.begin(), s.end());</a:t>
            </a:r>
            <a:endParaRPr lang="ru-RU" sz="1200" b="0" i="0" dirty="0">
              <a:solidFill>
                <a:srgbClr val="FFFF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3797389"/>
            <a:ext cx="7877175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24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log₂ 10⁶ ≈ 20 </a:t>
            </a:r>
            <a:r>
              <a:rPr lang="ru-RU" sz="165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— кажется, выбор очевиден</a:t>
            </a:r>
            <a:endParaRPr lang="ru-RU" sz="165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14" name="Picture 11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4" name="Slide Number 114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АРХИВ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341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Big-O СЧИТАЕТ ШАГИ, А НЕ ИХ ЦЕНУ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 xmlns:p14="http://schemas.microsoft.com/office/powerpoint/2010/main">
        <p:nvGrpSpPr>
          <p:cNvPr id="111" name="Chart 111"/>
          <p:cNvGrpSpPr/>
          <p:nvPr/>
        </p:nvGrpSpPr>
        <p:grpSpPr>
          <a:xfrm>
            <a:off x="957262" y="1453515"/>
            <a:ext cx="4057650" cy="1623108"/>
            <a:chOff x="957262" y="1453515"/>
            <a:chExt cx="4057650" cy="1623108"/>
          </a:xfrm>
        </p:grpSpPr>
        <p:sp>
          <p:nvSpPr>
            <p:cNvPr id="103" name="Line 103"/>
            <p:cNvSpPr/>
            <p:nvPr/>
          </p:nvSpPr>
          <p:spPr>
            <a:xfrm>
              <a:off x="957262" y="2533650"/>
              <a:ext cx="4057650" cy="48"/>
            </a:xfrm>
            <a:custGeom>
              <a:avLst/>
              <a:gdLst/>
              <a:ahLst/>
              <a:cxnLst/>
              <a:rect l="0" t="0" r="r" b="b"/>
              <a:pathLst>
                <a:path w="4057650" h="1" fill="none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1430">
              <a:solidFill>
                <a:srgbClr val="333333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957262" y="1996440"/>
              <a:ext cx="4057650" cy="48"/>
            </a:xfrm>
            <a:custGeom>
              <a:avLst/>
              <a:gdLst/>
              <a:ahLst/>
              <a:cxnLst/>
              <a:rect l="0" t="0" r="r" b="b"/>
              <a:pathLst>
                <a:path w="4057650" h="1" fill="none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1430">
              <a:solidFill>
                <a:srgbClr val="333333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957262" y="1453515"/>
              <a:ext cx="4057650" cy="48"/>
            </a:xfrm>
            <a:custGeom>
              <a:avLst/>
              <a:gdLst/>
              <a:ahLst/>
              <a:cxnLst/>
              <a:rect l="0" t="0" r="r" b="b"/>
              <a:pathLst>
                <a:path w="4057650" h="1" fill="none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1430">
              <a:solidFill>
                <a:srgbClr val="333333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957262" y="3076575"/>
              <a:ext cx="4057650" cy="48"/>
            </a:xfrm>
            <a:custGeom>
              <a:avLst/>
              <a:gdLst/>
              <a:ahLst/>
              <a:cxnLst/>
              <a:rect l="0" t="0" r="r" b="b"/>
              <a:pathLst>
                <a:path w="4057650" h="1" fill="none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7145">
              <a:solidFill>
                <a:srgbClr val="8F8F8F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957262" y="1453515"/>
              <a:ext cx="48" cy="1623060"/>
            </a:xfrm>
            <a:custGeom>
              <a:avLst/>
              <a:gdLst/>
              <a:ahLst/>
              <a:cxnLst/>
              <a:rect l="0" t="0" r="r" b="b"/>
              <a:pathLst>
                <a:path w="1" h="1623060" fill="none">
                  <a:moveTo>
                    <a:pt x="0" y="16230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8F8F8F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962978" y="1459230"/>
              <a:ext cx="2800350" cy="1617345"/>
            </a:xfrm>
            <a:custGeom>
              <a:avLst/>
              <a:gdLst/>
              <a:ahLst/>
              <a:cxnLst/>
              <a:rect l="0" t="0" r="r" b="b"/>
              <a:pathLst>
                <a:path w="2800350" h="1617345" fill="none">
                  <a:moveTo>
                    <a:pt x="0" y="1617345"/>
                  </a:moveTo>
                  <a:lnTo>
                    <a:pt x="40005" y="1617345"/>
                  </a:lnTo>
                  <a:lnTo>
                    <a:pt x="80010" y="1617345"/>
                  </a:lnTo>
                  <a:lnTo>
                    <a:pt x="120015" y="1611630"/>
                  </a:lnTo>
                  <a:lnTo>
                    <a:pt x="160020" y="1611630"/>
                  </a:lnTo>
                  <a:lnTo>
                    <a:pt x="200025" y="1605915"/>
                  </a:lnTo>
                  <a:lnTo>
                    <a:pt x="240030" y="1605915"/>
                  </a:lnTo>
                  <a:lnTo>
                    <a:pt x="280035" y="1600200"/>
                  </a:lnTo>
                  <a:lnTo>
                    <a:pt x="325755" y="1594485"/>
                  </a:lnTo>
                  <a:lnTo>
                    <a:pt x="365760" y="1588770"/>
                  </a:lnTo>
                  <a:lnTo>
                    <a:pt x="405765" y="1583055"/>
                  </a:lnTo>
                  <a:lnTo>
                    <a:pt x="445770" y="1577340"/>
                  </a:lnTo>
                  <a:lnTo>
                    <a:pt x="485775" y="1565910"/>
                  </a:lnTo>
                  <a:lnTo>
                    <a:pt x="525780" y="1560195"/>
                  </a:lnTo>
                  <a:lnTo>
                    <a:pt x="565785" y="1548765"/>
                  </a:lnTo>
                  <a:lnTo>
                    <a:pt x="605790" y="1543050"/>
                  </a:lnTo>
                  <a:lnTo>
                    <a:pt x="645795" y="1531620"/>
                  </a:lnTo>
                  <a:lnTo>
                    <a:pt x="685800" y="1520190"/>
                  </a:lnTo>
                  <a:lnTo>
                    <a:pt x="731520" y="1508760"/>
                  </a:lnTo>
                  <a:lnTo>
                    <a:pt x="771525" y="1491615"/>
                  </a:lnTo>
                  <a:lnTo>
                    <a:pt x="811530" y="1480185"/>
                  </a:lnTo>
                  <a:lnTo>
                    <a:pt x="851535" y="1468755"/>
                  </a:lnTo>
                  <a:lnTo>
                    <a:pt x="891540" y="1451610"/>
                  </a:lnTo>
                  <a:lnTo>
                    <a:pt x="931545" y="1434465"/>
                  </a:lnTo>
                  <a:lnTo>
                    <a:pt x="971550" y="1423035"/>
                  </a:lnTo>
                  <a:lnTo>
                    <a:pt x="1011555" y="1405890"/>
                  </a:lnTo>
                  <a:lnTo>
                    <a:pt x="1051560" y="1388745"/>
                  </a:lnTo>
                  <a:lnTo>
                    <a:pt x="1091565" y="1371600"/>
                  </a:lnTo>
                  <a:lnTo>
                    <a:pt x="1137285" y="1348740"/>
                  </a:lnTo>
                  <a:lnTo>
                    <a:pt x="1177290" y="1331595"/>
                  </a:lnTo>
                  <a:lnTo>
                    <a:pt x="1217295" y="1308735"/>
                  </a:lnTo>
                  <a:lnTo>
                    <a:pt x="1257300" y="1291590"/>
                  </a:lnTo>
                  <a:lnTo>
                    <a:pt x="1297305" y="1268730"/>
                  </a:lnTo>
                  <a:lnTo>
                    <a:pt x="1337310" y="1245870"/>
                  </a:lnTo>
                  <a:lnTo>
                    <a:pt x="1377315" y="1223010"/>
                  </a:lnTo>
                  <a:lnTo>
                    <a:pt x="1417320" y="1200150"/>
                  </a:lnTo>
                  <a:lnTo>
                    <a:pt x="1457325" y="1177290"/>
                  </a:lnTo>
                  <a:lnTo>
                    <a:pt x="1497330" y="1154430"/>
                  </a:lnTo>
                  <a:lnTo>
                    <a:pt x="1543050" y="1125855"/>
                  </a:lnTo>
                  <a:lnTo>
                    <a:pt x="1583055" y="1102995"/>
                  </a:lnTo>
                  <a:lnTo>
                    <a:pt x="1623060" y="1074420"/>
                  </a:lnTo>
                  <a:lnTo>
                    <a:pt x="1663065" y="1045845"/>
                  </a:lnTo>
                  <a:lnTo>
                    <a:pt x="1703070" y="1017270"/>
                  </a:lnTo>
                  <a:lnTo>
                    <a:pt x="1743075" y="988695"/>
                  </a:lnTo>
                  <a:lnTo>
                    <a:pt x="1783080" y="960120"/>
                  </a:lnTo>
                  <a:lnTo>
                    <a:pt x="1823085" y="931545"/>
                  </a:lnTo>
                  <a:lnTo>
                    <a:pt x="1863090" y="897255"/>
                  </a:lnTo>
                  <a:lnTo>
                    <a:pt x="1903095" y="868680"/>
                  </a:lnTo>
                  <a:lnTo>
                    <a:pt x="1948815" y="834390"/>
                  </a:lnTo>
                  <a:lnTo>
                    <a:pt x="1988820" y="800100"/>
                  </a:lnTo>
                  <a:lnTo>
                    <a:pt x="2028825" y="765810"/>
                  </a:lnTo>
                  <a:lnTo>
                    <a:pt x="2068830" y="737235"/>
                  </a:lnTo>
                  <a:lnTo>
                    <a:pt x="2108835" y="697230"/>
                  </a:lnTo>
                  <a:lnTo>
                    <a:pt x="2148840" y="662940"/>
                  </a:lnTo>
                  <a:lnTo>
                    <a:pt x="2188845" y="628650"/>
                  </a:lnTo>
                  <a:lnTo>
                    <a:pt x="2228850" y="588645"/>
                  </a:lnTo>
                  <a:lnTo>
                    <a:pt x="2268855" y="554355"/>
                  </a:lnTo>
                  <a:lnTo>
                    <a:pt x="2308860" y="514350"/>
                  </a:lnTo>
                  <a:lnTo>
                    <a:pt x="2354580" y="474345"/>
                  </a:lnTo>
                  <a:lnTo>
                    <a:pt x="2394585" y="434340"/>
                  </a:lnTo>
                  <a:lnTo>
                    <a:pt x="2434590" y="394335"/>
                  </a:lnTo>
                  <a:lnTo>
                    <a:pt x="2474595" y="354330"/>
                  </a:lnTo>
                  <a:lnTo>
                    <a:pt x="2514600" y="314325"/>
                  </a:lnTo>
                  <a:lnTo>
                    <a:pt x="2554605" y="268605"/>
                  </a:lnTo>
                  <a:lnTo>
                    <a:pt x="2594610" y="228600"/>
                  </a:lnTo>
                  <a:lnTo>
                    <a:pt x="2634615" y="182880"/>
                  </a:lnTo>
                  <a:lnTo>
                    <a:pt x="2674620" y="137160"/>
                  </a:lnTo>
                  <a:lnTo>
                    <a:pt x="2714625" y="97155"/>
                  </a:lnTo>
                  <a:lnTo>
                    <a:pt x="2760345" y="51435"/>
                  </a:lnTo>
                  <a:lnTo>
                    <a:pt x="2800350" y="0"/>
                  </a:lnTo>
                </a:path>
              </a:pathLst>
            </a:custGeom>
            <a:noFill/>
            <a:ln w="28575">
              <a:solidFill>
                <a:srgbClr val="8F8F8F"/>
              </a:solidFill>
              <a:custDash>
                <a:ds d="240000" sp="179999"/>
              </a:custDash>
              <a:round/>
            </a:ln>
          </p:spPr>
        </p:sp>
        <p:sp>
          <p:nvSpPr>
            <p:cNvPr id="109" name="Line 109"/>
            <p:cNvSpPr/>
            <p:nvPr/>
          </p:nvSpPr>
          <p:spPr>
            <a:xfrm>
              <a:off x="962978" y="1744980"/>
              <a:ext cx="4017645" cy="1331595"/>
            </a:xfrm>
            <a:custGeom>
              <a:avLst/>
              <a:gdLst/>
              <a:ahLst/>
              <a:cxnLst/>
              <a:rect l="0" t="0" r="r" b="b"/>
              <a:pathLst>
                <a:path w="4017645" h="1331595" fill="none">
                  <a:moveTo>
                    <a:pt x="0" y="1331595"/>
                  </a:moveTo>
                  <a:lnTo>
                    <a:pt x="40005" y="1325880"/>
                  </a:lnTo>
                  <a:lnTo>
                    <a:pt x="80010" y="1320165"/>
                  </a:lnTo>
                  <a:lnTo>
                    <a:pt x="120015" y="1308735"/>
                  </a:lnTo>
                  <a:lnTo>
                    <a:pt x="160020" y="1303020"/>
                  </a:lnTo>
                  <a:lnTo>
                    <a:pt x="200025" y="1291590"/>
                  </a:lnTo>
                  <a:lnTo>
                    <a:pt x="240030" y="1280160"/>
                  </a:lnTo>
                  <a:lnTo>
                    <a:pt x="280035" y="1274445"/>
                  </a:lnTo>
                  <a:lnTo>
                    <a:pt x="325755" y="1263015"/>
                  </a:lnTo>
                  <a:lnTo>
                    <a:pt x="365760" y="1251585"/>
                  </a:lnTo>
                  <a:lnTo>
                    <a:pt x="405765" y="1240155"/>
                  </a:lnTo>
                  <a:lnTo>
                    <a:pt x="445770" y="1228725"/>
                  </a:lnTo>
                  <a:lnTo>
                    <a:pt x="485775" y="1217295"/>
                  </a:lnTo>
                  <a:lnTo>
                    <a:pt x="525780" y="1205865"/>
                  </a:lnTo>
                  <a:lnTo>
                    <a:pt x="565785" y="1194435"/>
                  </a:lnTo>
                  <a:lnTo>
                    <a:pt x="605790" y="1183005"/>
                  </a:lnTo>
                  <a:lnTo>
                    <a:pt x="645795" y="1171575"/>
                  </a:lnTo>
                  <a:lnTo>
                    <a:pt x="685800" y="1160145"/>
                  </a:lnTo>
                  <a:lnTo>
                    <a:pt x="731520" y="1148715"/>
                  </a:lnTo>
                  <a:lnTo>
                    <a:pt x="771525" y="1137285"/>
                  </a:lnTo>
                  <a:lnTo>
                    <a:pt x="811530" y="1125855"/>
                  </a:lnTo>
                  <a:lnTo>
                    <a:pt x="851535" y="1108710"/>
                  </a:lnTo>
                  <a:lnTo>
                    <a:pt x="891540" y="1097280"/>
                  </a:lnTo>
                  <a:lnTo>
                    <a:pt x="931545" y="1085850"/>
                  </a:lnTo>
                  <a:lnTo>
                    <a:pt x="971550" y="1074420"/>
                  </a:lnTo>
                  <a:lnTo>
                    <a:pt x="1011555" y="1062990"/>
                  </a:lnTo>
                  <a:lnTo>
                    <a:pt x="1051560" y="1045845"/>
                  </a:lnTo>
                  <a:lnTo>
                    <a:pt x="1091565" y="1034415"/>
                  </a:lnTo>
                  <a:lnTo>
                    <a:pt x="1137285" y="1022985"/>
                  </a:lnTo>
                  <a:lnTo>
                    <a:pt x="1177290" y="1011555"/>
                  </a:lnTo>
                  <a:lnTo>
                    <a:pt x="1217295" y="994410"/>
                  </a:lnTo>
                  <a:lnTo>
                    <a:pt x="1257300" y="982980"/>
                  </a:lnTo>
                  <a:lnTo>
                    <a:pt x="1297305" y="971550"/>
                  </a:lnTo>
                  <a:lnTo>
                    <a:pt x="1337310" y="954405"/>
                  </a:lnTo>
                  <a:lnTo>
                    <a:pt x="1377315" y="942975"/>
                  </a:lnTo>
                  <a:lnTo>
                    <a:pt x="1417320" y="931545"/>
                  </a:lnTo>
                  <a:lnTo>
                    <a:pt x="1457325" y="914400"/>
                  </a:lnTo>
                  <a:lnTo>
                    <a:pt x="1497330" y="902970"/>
                  </a:lnTo>
                  <a:lnTo>
                    <a:pt x="1543050" y="891540"/>
                  </a:lnTo>
                  <a:lnTo>
                    <a:pt x="1583055" y="874395"/>
                  </a:lnTo>
                  <a:lnTo>
                    <a:pt x="1623060" y="862965"/>
                  </a:lnTo>
                  <a:lnTo>
                    <a:pt x="1663065" y="851535"/>
                  </a:lnTo>
                  <a:lnTo>
                    <a:pt x="1703070" y="834390"/>
                  </a:lnTo>
                  <a:lnTo>
                    <a:pt x="1743075" y="822960"/>
                  </a:lnTo>
                  <a:lnTo>
                    <a:pt x="1783080" y="805815"/>
                  </a:lnTo>
                  <a:lnTo>
                    <a:pt x="1823085" y="794385"/>
                  </a:lnTo>
                  <a:lnTo>
                    <a:pt x="1863090" y="777240"/>
                  </a:lnTo>
                  <a:lnTo>
                    <a:pt x="1903095" y="765810"/>
                  </a:lnTo>
                  <a:lnTo>
                    <a:pt x="1948815" y="754380"/>
                  </a:lnTo>
                  <a:lnTo>
                    <a:pt x="1988820" y="737235"/>
                  </a:lnTo>
                  <a:lnTo>
                    <a:pt x="2028825" y="725805"/>
                  </a:lnTo>
                  <a:lnTo>
                    <a:pt x="2068830" y="708660"/>
                  </a:lnTo>
                  <a:lnTo>
                    <a:pt x="2108835" y="697230"/>
                  </a:lnTo>
                  <a:lnTo>
                    <a:pt x="2148840" y="680085"/>
                  </a:lnTo>
                  <a:lnTo>
                    <a:pt x="2188845" y="668655"/>
                  </a:lnTo>
                  <a:lnTo>
                    <a:pt x="2228850" y="651510"/>
                  </a:lnTo>
                  <a:lnTo>
                    <a:pt x="2268855" y="640080"/>
                  </a:lnTo>
                  <a:lnTo>
                    <a:pt x="2308860" y="622935"/>
                  </a:lnTo>
                  <a:lnTo>
                    <a:pt x="2354580" y="611505"/>
                  </a:lnTo>
                  <a:lnTo>
                    <a:pt x="2394585" y="594360"/>
                  </a:lnTo>
                  <a:lnTo>
                    <a:pt x="2434590" y="582930"/>
                  </a:lnTo>
                  <a:lnTo>
                    <a:pt x="2474595" y="565785"/>
                  </a:lnTo>
                  <a:lnTo>
                    <a:pt x="2514600" y="554355"/>
                  </a:lnTo>
                  <a:lnTo>
                    <a:pt x="2554605" y="537210"/>
                  </a:lnTo>
                  <a:lnTo>
                    <a:pt x="2594610" y="525780"/>
                  </a:lnTo>
                  <a:lnTo>
                    <a:pt x="2634615" y="508635"/>
                  </a:lnTo>
                  <a:lnTo>
                    <a:pt x="2674620" y="491490"/>
                  </a:lnTo>
                  <a:lnTo>
                    <a:pt x="2714625" y="480060"/>
                  </a:lnTo>
                  <a:lnTo>
                    <a:pt x="2760345" y="462915"/>
                  </a:lnTo>
                  <a:lnTo>
                    <a:pt x="2800350" y="451485"/>
                  </a:lnTo>
                  <a:lnTo>
                    <a:pt x="2840355" y="434340"/>
                  </a:lnTo>
                  <a:lnTo>
                    <a:pt x="2880360" y="422910"/>
                  </a:lnTo>
                  <a:lnTo>
                    <a:pt x="2920365" y="405765"/>
                  </a:lnTo>
                  <a:lnTo>
                    <a:pt x="2960370" y="388620"/>
                  </a:lnTo>
                  <a:lnTo>
                    <a:pt x="3000375" y="377190"/>
                  </a:lnTo>
                  <a:lnTo>
                    <a:pt x="3040380" y="360045"/>
                  </a:lnTo>
                  <a:lnTo>
                    <a:pt x="3080385" y="348615"/>
                  </a:lnTo>
                  <a:lnTo>
                    <a:pt x="3120390" y="331470"/>
                  </a:lnTo>
                  <a:lnTo>
                    <a:pt x="3166110" y="314325"/>
                  </a:lnTo>
                  <a:lnTo>
                    <a:pt x="3206115" y="302895"/>
                  </a:lnTo>
                  <a:lnTo>
                    <a:pt x="3246120" y="285750"/>
                  </a:lnTo>
                  <a:lnTo>
                    <a:pt x="3286125" y="274320"/>
                  </a:lnTo>
                  <a:lnTo>
                    <a:pt x="3326130" y="257175"/>
                  </a:lnTo>
                  <a:lnTo>
                    <a:pt x="3366135" y="240030"/>
                  </a:lnTo>
                  <a:lnTo>
                    <a:pt x="3406140" y="228600"/>
                  </a:lnTo>
                  <a:lnTo>
                    <a:pt x="3446145" y="211455"/>
                  </a:lnTo>
                  <a:lnTo>
                    <a:pt x="3486150" y="194310"/>
                  </a:lnTo>
                  <a:lnTo>
                    <a:pt x="3526155" y="182880"/>
                  </a:lnTo>
                  <a:lnTo>
                    <a:pt x="3571875" y="165735"/>
                  </a:lnTo>
                  <a:lnTo>
                    <a:pt x="3611880" y="148590"/>
                  </a:lnTo>
                  <a:lnTo>
                    <a:pt x="3651885" y="137160"/>
                  </a:lnTo>
                  <a:lnTo>
                    <a:pt x="3691890" y="120015"/>
                  </a:lnTo>
                  <a:lnTo>
                    <a:pt x="3731895" y="102870"/>
                  </a:lnTo>
                  <a:lnTo>
                    <a:pt x="3771900" y="91440"/>
                  </a:lnTo>
                  <a:lnTo>
                    <a:pt x="3811905" y="74295"/>
                  </a:lnTo>
                  <a:lnTo>
                    <a:pt x="3851910" y="57150"/>
                  </a:lnTo>
                  <a:lnTo>
                    <a:pt x="3891915" y="45720"/>
                  </a:lnTo>
                  <a:lnTo>
                    <a:pt x="3931920" y="28575"/>
                  </a:lnTo>
                  <a:lnTo>
                    <a:pt x="3977640" y="11430"/>
                  </a:lnTo>
                  <a:lnTo>
                    <a:pt x="4017645" y="0"/>
                  </a:lnTo>
                </a:path>
              </a:pathLst>
            </a:custGeom>
            <a:noFill/>
            <a:ln w="28575" cap="rnd">
              <a:solidFill>
                <a:srgbClr val="46CDAE"/>
              </a:solidFill>
              <a:round/>
            </a:ln>
          </p:spPr>
        </p:sp>
        <p:sp>
          <p:nvSpPr>
            <p:cNvPr id="110" name="Line 110"/>
            <p:cNvSpPr/>
            <p:nvPr/>
          </p:nvSpPr>
          <p:spPr>
            <a:xfrm>
              <a:off x="962978" y="2945130"/>
              <a:ext cx="4017645" cy="131445"/>
            </a:xfrm>
            <a:custGeom>
              <a:avLst/>
              <a:gdLst/>
              <a:ahLst/>
              <a:cxnLst/>
              <a:rect l="0" t="0" r="r" b="b"/>
              <a:pathLst>
                <a:path w="4017645" h="131445" fill="none">
                  <a:moveTo>
                    <a:pt x="0" y="131445"/>
                  </a:moveTo>
                  <a:lnTo>
                    <a:pt x="40005" y="131445"/>
                  </a:lnTo>
                  <a:lnTo>
                    <a:pt x="80010" y="131445"/>
                  </a:lnTo>
                  <a:lnTo>
                    <a:pt x="120015" y="125730"/>
                  </a:lnTo>
                  <a:lnTo>
                    <a:pt x="160020" y="125730"/>
                  </a:lnTo>
                  <a:lnTo>
                    <a:pt x="200025" y="125730"/>
                  </a:lnTo>
                  <a:lnTo>
                    <a:pt x="240030" y="125730"/>
                  </a:lnTo>
                  <a:lnTo>
                    <a:pt x="280035" y="120015"/>
                  </a:lnTo>
                  <a:lnTo>
                    <a:pt x="325755" y="120015"/>
                  </a:lnTo>
                  <a:lnTo>
                    <a:pt x="365760" y="120015"/>
                  </a:lnTo>
                  <a:lnTo>
                    <a:pt x="405765" y="120015"/>
                  </a:lnTo>
                  <a:lnTo>
                    <a:pt x="445770" y="114300"/>
                  </a:lnTo>
                  <a:lnTo>
                    <a:pt x="485775" y="114300"/>
                  </a:lnTo>
                  <a:lnTo>
                    <a:pt x="525780" y="114300"/>
                  </a:lnTo>
                  <a:lnTo>
                    <a:pt x="565785" y="114300"/>
                  </a:lnTo>
                  <a:lnTo>
                    <a:pt x="605790" y="108585"/>
                  </a:lnTo>
                  <a:lnTo>
                    <a:pt x="645795" y="108585"/>
                  </a:lnTo>
                  <a:lnTo>
                    <a:pt x="685800" y="108585"/>
                  </a:lnTo>
                  <a:lnTo>
                    <a:pt x="731520" y="108585"/>
                  </a:lnTo>
                  <a:lnTo>
                    <a:pt x="771525" y="102870"/>
                  </a:lnTo>
                  <a:lnTo>
                    <a:pt x="811530" y="102870"/>
                  </a:lnTo>
                  <a:lnTo>
                    <a:pt x="851535" y="102870"/>
                  </a:lnTo>
                  <a:lnTo>
                    <a:pt x="891540" y="102870"/>
                  </a:lnTo>
                  <a:lnTo>
                    <a:pt x="931545" y="102870"/>
                  </a:lnTo>
                  <a:lnTo>
                    <a:pt x="971550" y="97155"/>
                  </a:lnTo>
                  <a:lnTo>
                    <a:pt x="1011555" y="97155"/>
                  </a:lnTo>
                  <a:lnTo>
                    <a:pt x="1051560" y="97155"/>
                  </a:lnTo>
                  <a:lnTo>
                    <a:pt x="1091565" y="97155"/>
                  </a:lnTo>
                  <a:lnTo>
                    <a:pt x="1137285" y="91440"/>
                  </a:lnTo>
                  <a:lnTo>
                    <a:pt x="1177290" y="91440"/>
                  </a:lnTo>
                  <a:lnTo>
                    <a:pt x="1217295" y="91440"/>
                  </a:lnTo>
                  <a:lnTo>
                    <a:pt x="1257300" y="91440"/>
                  </a:lnTo>
                  <a:lnTo>
                    <a:pt x="1297305" y="85725"/>
                  </a:lnTo>
                  <a:lnTo>
                    <a:pt x="1337310" y="85725"/>
                  </a:lnTo>
                  <a:lnTo>
                    <a:pt x="1377315" y="85725"/>
                  </a:lnTo>
                  <a:lnTo>
                    <a:pt x="1417320" y="85725"/>
                  </a:lnTo>
                  <a:lnTo>
                    <a:pt x="1457325" y="80010"/>
                  </a:lnTo>
                  <a:lnTo>
                    <a:pt x="1497330" y="80010"/>
                  </a:lnTo>
                  <a:lnTo>
                    <a:pt x="1543050" y="80010"/>
                  </a:lnTo>
                  <a:lnTo>
                    <a:pt x="1583055" y="80010"/>
                  </a:lnTo>
                  <a:lnTo>
                    <a:pt x="1623060" y="80010"/>
                  </a:lnTo>
                  <a:lnTo>
                    <a:pt x="1663065" y="74295"/>
                  </a:lnTo>
                  <a:lnTo>
                    <a:pt x="1703070" y="74295"/>
                  </a:lnTo>
                  <a:lnTo>
                    <a:pt x="1743075" y="74295"/>
                  </a:lnTo>
                  <a:lnTo>
                    <a:pt x="1783080" y="74295"/>
                  </a:lnTo>
                  <a:lnTo>
                    <a:pt x="1823085" y="68580"/>
                  </a:lnTo>
                  <a:lnTo>
                    <a:pt x="1863090" y="68580"/>
                  </a:lnTo>
                  <a:lnTo>
                    <a:pt x="1903095" y="68580"/>
                  </a:lnTo>
                  <a:lnTo>
                    <a:pt x="1948815" y="68580"/>
                  </a:lnTo>
                  <a:lnTo>
                    <a:pt x="1988820" y="62865"/>
                  </a:lnTo>
                  <a:lnTo>
                    <a:pt x="2028825" y="62865"/>
                  </a:lnTo>
                  <a:lnTo>
                    <a:pt x="2068830" y="62865"/>
                  </a:lnTo>
                  <a:lnTo>
                    <a:pt x="2108835" y="62865"/>
                  </a:lnTo>
                  <a:lnTo>
                    <a:pt x="2148840" y="57150"/>
                  </a:lnTo>
                  <a:lnTo>
                    <a:pt x="2188845" y="57150"/>
                  </a:lnTo>
                  <a:lnTo>
                    <a:pt x="2228850" y="57150"/>
                  </a:lnTo>
                  <a:lnTo>
                    <a:pt x="2268855" y="57150"/>
                  </a:lnTo>
                  <a:lnTo>
                    <a:pt x="2308860" y="51435"/>
                  </a:lnTo>
                  <a:lnTo>
                    <a:pt x="2354580" y="51435"/>
                  </a:lnTo>
                  <a:lnTo>
                    <a:pt x="2394585" y="51435"/>
                  </a:lnTo>
                  <a:lnTo>
                    <a:pt x="2434590" y="51435"/>
                  </a:lnTo>
                  <a:lnTo>
                    <a:pt x="2474595" y="51435"/>
                  </a:lnTo>
                  <a:lnTo>
                    <a:pt x="2514600" y="45720"/>
                  </a:lnTo>
                  <a:lnTo>
                    <a:pt x="2554605" y="45720"/>
                  </a:lnTo>
                  <a:lnTo>
                    <a:pt x="2594610" y="45720"/>
                  </a:lnTo>
                  <a:lnTo>
                    <a:pt x="2634615" y="45720"/>
                  </a:lnTo>
                  <a:lnTo>
                    <a:pt x="2674620" y="40005"/>
                  </a:lnTo>
                  <a:lnTo>
                    <a:pt x="2714625" y="40005"/>
                  </a:lnTo>
                  <a:lnTo>
                    <a:pt x="2760345" y="40005"/>
                  </a:lnTo>
                  <a:lnTo>
                    <a:pt x="2800350" y="40005"/>
                  </a:lnTo>
                  <a:lnTo>
                    <a:pt x="2840355" y="34290"/>
                  </a:lnTo>
                  <a:lnTo>
                    <a:pt x="2880360" y="34290"/>
                  </a:lnTo>
                  <a:lnTo>
                    <a:pt x="2920365" y="34290"/>
                  </a:lnTo>
                  <a:lnTo>
                    <a:pt x="2960370" y="34290"/>
                  </a:lnTo>
                  <a:lnTo>
                    <a:pt x="3000375" y="28575"/>
                  </a:lnTo>
                  <a:lnTo>
                    <a:pt x="3040380" y="28575"/>
                  </a:lnTo>
                  <a:lnTo>
                    <a:pt x="3080385" y="28575"/>
                  </a:lnTo>
                  <a:lnTo>
                    <a:pt x="3120390" y="28575"/>
                  </a:lnTo>
                  <a:lnTo>
                    <a:pt x="3166110" y="28575"/>
                  </a:lnTo>
                  <a:lnTo>
                    <a:pt x="3206115" y="22860"/>
                  </a:lnTo>
                  <a:lnTo>
                    <a:pt x="3246120" y="22860"/>
                  </a:lnTo>
                  <a:lnTo>
                    <a:pt x="3286125" y="22860"/>
                  </a:lnTo>
                  <a:lnTo>
                    <a:pt x="3326130" y="22860"/>
                  </a:lnTo>
                  <a:lnTo>
                    <a:pt x="3366135" y="17145"/>
                  </a:lnTo>
                  <a:lnTo>
                    <a:pt x="3406140" y="17145"/>
                  </a:lnTo>
                  <a:lnTo>
                    <a:pt x="3446145" y="17145"/>
                  </a:lnTo>
                  <a:lnTo>
                    <a:pt x="3486150" y="17145"/>
                  </a:lnTo>
                  <a:lnTo>
                    <a:pt x="3526155" y="11430"/>
                  </a:lnTo>
                  <a:lnTo>
                    <a:pt x="3571875" y="11430"/>
                  </a:lnTo>
                  <a:lnTo>
                    <a:pt x="3611880" y="11430"/>
                  </a:lnTo>
                  <a:lnTo>
                    <a:pt x="3651885" y="11430"/>
                  </a:lnTo>
                  <a:lnTo>
                    <a:pt x="3691890" y="5715"/>
                  </a:lnTo>
                  <a:lnTo>
                    <a:pt x="3731895" y="5715"/>
                  </a:lnTo>
                  <a:lnTo>
                    <a:pt x="3771900" y="5715"/>
                  </a:lnTo>
                  <a:lnTo>
                    <a:pt x="3811905" y="5715"/>
                  </a:lnTo>
                  <a:lnTo>
                    <a:pt x="3851910" y="0"/>
                  </a:lnTo>
                  <a:lnTo>
                    <a:pt x="3891915" y="0"/>
                  </a:lnTo>
                  <a:lnTo>
                    <a:pt x="3931920" y="0"/>
                  </a:lnTo>
                  <a:lnTo>
                    <a:pt x="3977640" y="0"/>
                  </a:lnTo>
                  <a:lnTo>
                    <a:pt x="4017645" y="0"/>
                  </a:lnTo>
                </a:path>
              </a:pathLst>
            </a:custGeom>
            <a:noFill/>
            <a:ln w="28575" cap="rnd">
              <a:solidFill>
                <a:srgbClr val="E2489B"/>
              </a:solidFill>
              <a:round/>
            </a:ln>
          </p:spPr>
        </p:sp>
      </p:grp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371189" y="1348626"/>
            <a:ext cx="528923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12K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371189" y="1891551"/>
            <a:ext cx="528923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371189" y="2429713"/>
            <a:ext cx="528923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4K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5" name="Text 115"/>
          <p:cNvSpPr txBox="1"/>
          <p:nvPr/>
        </p:nvSpPr>
        <p:spPr>
          <a:xfrm>
            <a:off x="371189" y="2972638"/>
            <a:ext cx="528923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6" name="Text 116"/>
          <p:cNvSpPr txBox="1"/>
          <p:nvPr/>
        </p:nvSpPr>
        <p:spPr>
          <a:xfrm>
            <a:off x="2677478" y="3101226"/>
            <a:ext cx="61722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500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7" name="Text 117"/>
          <p:cNvSpPr txBox="1"/>
          <p:nvPr/>
        </p:nvSpPr>
        <p:spPr>
          <a:xfrm>
            <a:off x="4002405" y="3101226"/>
            <a:ext cx="110775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 = 1000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18" name="Text 118"/>
          <p:cNvSpPr txBox="1"/>
          <p:nvPr/>
        </p:nvSpPr>
        <p:spPr>
          <a:xfrm>
            <a:off x="3691318" y="2681040"/>
            <a:ext cx="132359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E2489B"/>
                </a:solidFill>
                <a:latin typeface="Montserrat"/>
                <a:ea typeface="Montserrat"/>
                <a:cs typeface="Montserrat"/>
                <a:sym typeface="Montserrat"/>
              </a:rPr>
              <a:t>O(N)</a:t>
            </a:r>
            <a:endParaRPr lang="ru-RU" sz="1350" b="1" i="0" dirty="0">
              <a:solidFill>
                <a:srgbClr val="E2489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9" name="Text 119"/>
          <p:cNvSpPr txBox="1"/>
          <p:nvPr/>
        </p:nvSpPr>
        <p:spPr>
          <a:xfrm>
            <a:off x="3500438" y="2233365"/>
            <a:ext cx="15001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650"/>
              </a:lnSpc>
              <a:spcBef>
                <a:spcPts val="0"/>
              </a:spcBef>
              <a:buNone/>
            </a:pPr>
            <a:r>
              <a:rPr lang="ru-RU" sz="1350" b="1" i="0" dirty="0">
                <a:solidFill>
                  <a:srgbClr val="46CDAE"/>
                </a:solidFill>
                <a:latin typeface="Montserrat"/>
                <a:ea typeface="Montserrat"/>
                <a:cs typeface="Montserrat"/>
                <a:sym typeface="Montserrat"/>
              </a:rPr>
              <a:t>O(N log N)</a:t>
            </a:r>
            <a:endParaRPr lang="ru-RU" sz="1350" b="1" i="0" dirty="0">
              <a:solidFill>
                <a:srgbClr val="46CDA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0" name="Text 120"/>
          <p:cNvSpPr txBox="1"/>
          <p:nvPr/>
        </p:nvSpPr>
        <p:spPr>
          <a:xfrm>
            <a:off x="3838575" y="1486738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O(N²) — за край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1" name="Text 121"/>
          <p:cNvSpPr txBox="1"/>
          <p:nvPr/>
        </p:nvSpPr>
        <p:spPr>
          <a:xfrm>
            <a:off x="5381625" y="1401013"/>
            <a:ext cx="1107758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2" name="Text 122"/>
          <p:cNvSpPr txBox="1"/>
          <p:nvPr/>
        </p:nvSpPr>
        <p:spPr>
          <a:xfrm>
            <a:off x="6370796" y="1401013"/>
            <a:ext cx="105870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E2489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O(N)</a:t>
            </a:r>
            <a:endParaRPr lang="ru-RU" sz="1200" b="0" i="0" dirty="0">
              <a:solidFill>
                <a:srgbClr val="E2489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3" name="Text 123"/>
          <p:cNvSpPr txBox="1"/>
          <p:nvPr/>
        </p:nvSpPr>
        <p:spPr>
          <a:xfrm>
            <a:off x="7366206" y="1401013"/>
            <a:ext cx="1220581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O(N log N)</a:t>
            </a:r>
            <a:endParaRPr lang="ru-RU" sz="1200" b="0" i="0" dirty="0">
              <a:solidFill>
                <a:srgbClr val="46CDA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24" name="Line 124"/>
          <p:cNvSpPr/>
          <p:nvPr/>
        </p:nvSpPr>
        <p:spPr>
          <a:xfrm>
            <a:off x="5381625" y="1654969"/>
            <a:ext cx="3205162" cy="48"/>
          </a:xfrm>
          <a:custGeom>
            <a:avLst/>
            <a:gdLst/>
            <a:ahLst/>
            <a:cxnLst/>
            <a:rect l="0" t="0" r="r" b="b"/>
            <a:pathLst>
              <a:path w="3205162" h="1" fill="none">
                <a:moveTo>
                  <a:pt x="0" y="0"/>
                </a:moveTo>
                <a:lnTo>
                  <a:pt x="3205162" y="0"/>
                </a:lnTo>
              </a:path>
            </a:pathLst>
          </a:custGeom>
          <a:noFill/>
          <a:ln w="14288">
            <a:solidFill>
              <a:srgbClr val="333333"/>
            </a:solidFill>
          </a:ln>
        </p:spPr>
      </p:sp>
      <p:sp xmlns:p14="http://schemas.microsoft.com/office/powerpoint/2010/main">
        <p:nvSpPr>
          <p:cNvPr id="125" name="Text 125"/>
          <p:cNvSpPr txBox="1"/>
          <p:nvPr/>
        </p:nvSpPr>
        <p:spPr>
          <a:xfrm>
            <a:off x="5381625" y="1696288"/>
            <a:ext cx="110775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1 000</a:t>
            </a:r>
            <a:endParaRPr lang="ru-RU" sz="12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6" name="Text 126"/>
          <p:cNvSpPr txBox="1"/>
          <p:nvPr/>
        </p:nvSpPr>
        <p:spPr>
          <a:xfrm>
            <a:off x="6370796" y="1696288"/>
            <a:ext cx="105870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1 000</a:t>
            </a:r>
            <a:endParaRPr lang="ru-RU" sz="12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7" name="Text 127"/>
          <p:cNvSpPr txBox="1"/>
          <p:nvPr/>
        </p:nvSpPr>
        <p:spPr>
          <a:xfrm>
            <a:off x="7366206" y="1696288"/>
            <a:ext cx="1220581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10 000</a:t>
            </a:r>
            <a:endParaRPr lang="ru-RU" sz="12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8" name="Text 128"/>
          <p:cNvSpPr txBox="1"/>
          <p:nvPr/>
        </p:nvSpPr>
        <p:spPr>
          <a:xfrm>
            <a:off x="5381625" y="2029663"/>
            <a:ext cx="110775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1 000 000</a:t>
            </a:r>
            <a:endParaRPr lang="ru-RU" sz="12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29" name="Text 129"/>
          <p:cNvSpPr txBox="1"/>
          <p:nvPr/>
        </p:nvSpPr>
        <p:spPr>
          <a:xfrm>
            <a:off x="6370796" y="2029663"/>
            <a:ext cx="105870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1 000 000</a:t>
            </a:r>
            <a:endParaRPr lang="ru-RU" sz="12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0" name="Text 130"/>
          <p:cNvSpPr txBox="1"/>
          <p:nvPr/>
        </p:nvSpPr>
        <p:spPr>
          <a:xfrm>
            <a:off x="7366206" y="2029663"/>
            <a:ext cx="1220581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r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200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20 000 000</a:t>
            </a:r>
            <a:endParaRPr lang="ru-RU" sz="1200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31" name="Text 131"/>
          <p:cNvSpPr txBox="1"/>
          <p:nvPr/>
        </p:nvSpPr>
        <p:spPr>
          <a:xfrm>
            <a:off x="5381625" y="2585466"/>
            <a:ext cx="3329892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6000"/>
              </a:lnSpc>
              <a:spcBef>
                <a:spcPts val="0"/>
              </a:spcBef>
              <a:buNone/>
            </a:pPr>
            <a:r>
              <a:rPr lang="ru-RU" sz="6000" b="1" i="0" spc="-112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×20</a:t>
            </a:r>
            <a:endParaRPr lang="ru-RU" sz="6000" b="1" i="0" spc="-112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2" name="Text 132"/>
          <p:cNvSpPr txBox="1"/>
          <p:nvPr/>
        </p:nvSpPr>
        <p:spPr>
          <a:xfrm>
            <a:off x="5381625" y="3315538"/>
            <a:ext cx="3329892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00" b="0" i="0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между O(N) и O(N log N) на миллионе</a:t>
            </a:r>
            <a:endParaRPr lang="ru-RU" sz="1200" b="0" i="0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33" name="Box 133"/>
          <p:cNvSpPr/>
          <p:nvPr/>
        </p:nvSpPr>
        <p:spPr>
          <a:xfrm>
            <a:off x="566738" y="3724275"/>
            <a:ext cx="8010525" cy="628650"/>
          </a:xfrm>
          <a:prstGeom prst="roundRect">
            <a:avLst>
              <a:gd name="adj" fmla="val 17647"/>
            </a:avLst>
          </a:prstGeom>
          <a:solidFill>
            <a:srgbClr val="000000"/>
          </a:solidFill>
          <a:ln w="19050">
            <a:solidFill>
              <a:srgbClr val="FFFFFF"/>
            </a:solidFill>
          </a:ln>
        </p:spPr>
      </p:sp>
      <p:sp xmlns:p14="http://schemas.microsoft.com/office/powerpoint/2010/main">
        <p:nvSpPr>
          <p:cNvPr id="134" name="Text 134"/>
          <p:cNvSpPr txBox="1"/>
          <p:nvPr/>
        </p:nvSpPr>
        <p:spPr>
          <a:xfrm>
            <a:off x="785812" y="3819696"/>
            <a:ext cx="505777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850"/>
              </a:lnSpc>
              <a:spcBef>
                <a:spcPts val="0"/>
              </a:spcBef>
              <a:buNone/>
            </a:pPr>
            <a:r>
              <a:rPr lang="ru-RU" sz="195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Время ≈ N × шагов × </a:t>
            </a:r>
            <a:r>
              <a:rPr lang="ru-RU" sz="195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цена шага</a:t>
            </a:r>
            <a:endParaRPr lang="ru-RU" sz="195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35" name="Text 135"/>
          <p:cNvSpPr txBox="1"/>
          <p:nvPr/>
        </p:nvSpPr>
        <p:spPr>
          <a:xfrm>
            <a:off x="5857875" y="3846014"/>
            <a:ext cx="2677478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500"/>
              </a:lnSpc>
              <a:spcBef>
                <a:spcPts val="0"/>
              </a:spcBef>
              <a:buNone/>
            </a:pP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шаг стоит от 1 до 100 нс —</a:t>
            </a:r>
            <a:b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275" b="0" i="0" dirty="0">
                <a:solidFill>
                  <a:srgbClr val="C8C8C8"/>
                </a:solidFill>
                <a:latin typeface="Montserrat"/>
                <a:ea typeface="Montserrat"/>
                <a:cs typeface="Montserrat"/>
                <a:sym typeface="Montserrat"/>
              </a:rPr>
              <a:t>два порядка</a:t>
            </a:r>
            <a:endParaRPr lang="ru-RU" sz="1275" b="0" i="0" dirty="0">
              <a:solidFill>
                <a:srgbClr val="C8C8C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6" name="Picture 13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36" name="Slide Number 136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 xmlns:p14="http://schemas.microsoft.com/office/powerpoint/2010/main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 xmlns:p14="http://schemas.microsoft.com/office/powerpoint/2010/main">
        <p:nvSpPr>
          <p:cNvPr id="101" name="Kicker 101"/>
          <p:cNvSpPr txBox="1"/>
          <p:nvPr/>
        </p:nvSpPr>
        <p:spPr>
          <a:xfrm>
            <a:off x="557212" y="36195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buNone/>
            </a:pPr>
            <a:r>
              <a:rPr lang="ru-RU" sz="1099" b="0" i="0" spc="94" dirty="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АРХИВ</a:t>
            </a:r>
            <a:endParaRPr lang="ru-RU" sz="1099" b="0" i="0" spc="94" dirty="0">
              <a:solidFill>
                <a:srgbClr val="8F8F8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 xmlns:p14="http://schemas.microsoft.com/office/powerpoint/2010/main">
        <p:nvSpPr>
          <p:cNvPr id="102" name="Title 102"/>
          <p:cNvSpPr txBox="1"/>
          <p:nvPr/>
        </p:nvSpPr>
        <p:spPr>
          <a:xfrm>
            <a:off x="557212" y="555114"/>
            <a:ext cx="6781800" cy="6544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464"/>
              </a:lnSpc>
              <a:spcBef>
                <a:spcPts val="0"/>
              </a:spcBef>
              <a:buNone/>
            </a:pPr>
            <a:r>
              <a:rPr lang="ru-RU" sz="2200" b="1" i="0" dirty="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ПРЕЖДЕ ЧЕМ ВЫБИРАТЬ КОНТЕЙНЕР — ШЕСТЬ ВОПРОСОВ</a:t>
            </a:r>
            <a:endParaRPr lang="ru-RU" sz="2200" b="1" i="0" dirty="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3" name="Text 103"/>
          <p:cNvSpPr txBox="1"/>
          <p:nvPr/>
        </p:nvSpPr>
        <p:spPr>
          <a:xfrm>
            <a:off x="557212" y="1440370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4" name="Text 104"/>
          <p:cNvSpPr txBox="1"/>
          <p:nvPr/>
        </p:nvSpPr>
        <p:spPr>
          <a:xfrm>
            <a:off x="1047750" y="1457830"/>
            <a:ext cx="77937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Что нужно на выходе: порядок, сортировка, исходник?</a:t>
            </a:r>
            <a:endParaRPr lang="ru-RU" sz="15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5" name="Text 105"/>
          <p:cNvSpPr txBox="1"/>
          <p:nvPr/>
        </p:nvSpPr>
        <p:spPr>
          <a:xfrm>
            <a:off x="557212" y="1964246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6" name="Text 106"/>
          <p:cNvSpPr txBox="1"/>
          <p:nvPr/>
        </p:nvSpPr>
        <p:spPr>
          <a:xfrm>
            <a:off x="1047750" y="1981705"/>
            <a:ext cx="77937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Какие у вас N и доля уникальных?</a:t>
            </a:r>
            <a:endParaRPr lang="ru-RU" sz="15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7" name="Text 107"/>
          <p:cNvSpPr txBox="1"/>
          <p:nvPr/>
        </p:nvSpPr>
        <p:spPr>
          <a:xfrm>
            <a:off x="557212" y="2488121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08" name="Text 108"/>
          <p:cNvSpPr txBox="1"/>
          <p:nvPr/>
        </p:nvSpPr>
        <p:spPr>
          <a:xfrm>
            <a:off x="1047750" y="2505580"/>
            <a:ext cx="77937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Какой именно контейнер, а не «хеш вообще»?</a:t>
            </a:r>
            <a:endParaRPr lang="ru-RU" sz="15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09" name="Text 109"/>
          <p:cNvSpPr txBox="1"/>
          <p:nvPr/>
        </p:nvSpPr>
        <p:spPr>
          <a:xfrm>
            <a:off x="557212" y="3011996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4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0" name="Text 110"/>
          <p:cNvSpPr txBox="1"/>
          <p:nvPr/>
        </p:nvSpPr>
        <p:spPr>
          <a:xfrm>
            <a:off x="1047750" y="3029455"/>
            <a:ext cx="77937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Какая система и связка компилятора с библиотекой?</a:t>
            </a:r>
            <a:endParaRPr lang="ru-RU" sz="15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1" name="Text 111"/>
          <p:cNvSpPr txBox="1"/>
          <p:nvPr/>
        </p:nvSpPr>
        <p:spPr>
          <a:xfrm>
            <a:off x="557212" y="3535871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5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2" name="Text 112"/>
          <p:cNvSpPr txBox="1"/>
          <p:nvPr/>
        </p:nvSpPr>
        <p:spPr>
          <a:xfrm>
            <a:off x="1047750" y="3553330"/>
            <a:ext cx="77937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Первый запрос или длительная нагрузка, какой приоритет?</a:t>
            </a:r>
            <a:endParaRPr lang="ru-RU" sz="15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 xmlns:p14="http://schemas.microsoft.com/office/powerpoint/2010/main">
        <p:nvSpPr>
          <p:cNvPr id="113" name="Text 113"/>
          <p:cNvSpPr txBox="1"/>
          <p:nvPr/>
        </p:nvSpPr>
        <p:spPr>
          <a:xfrm>
            <a:off x="557212" y="4059746"/>
            <a:ext cx="461962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3000" b="1" i="0" dirty="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</a:t>
            </a:r>
            <a:endParaRPr lang="ru-RU" sz="3000" b="1" i="0" dirty="0">
              <a:solidFill>
                <a:srgbClr val="46CDAE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 xmlns:p14="http://schemas.microsoft.com/office/powerpoint/2010/main">
        <p:nvSpPr>
          <p:cNvPr id="114" name="Text 114"/>
          <p:cNvSpPr txBox="1"/>
          <p:nvPr/>
        </p:nvSpPr>
        <p:spPr>
          <a:xfrm>
            <a:off x="1047750" y="4077205"/>
            <a:ext cx="77937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buNone/>
            </a:pPr>
            <a:r>
              <a:rPr lang="ru-RU" sz="1575" b="1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Какую долю всего этапа занимает эта операция?</a:t>
            </a:r>
            <a:endParaRPr lang="ru-RU" sz="1575" b="1" i="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Picture 1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325" y="685800"/>
            <a:ext cx="1095375" cy="376238"/>
          </a:xfrm>
          <a:prstGeom prst="rect">
            <a:avLst/>
          </a:prstGeom>
        </p:spPr>
      </p:pic>
      <p:sp xmlns:p14="http://schemas.microsoft.com/office/powerpoint/2010/main">
        <p:nvSpPr>
          <p:cNvPr id="115" name="Slide Number 115"/>
          <p:cNvSpPr txBox="1"/>
          <p:nvPr>
            <p:ph idx="12" type="sldNum"/>
          </p:nvPr>
        </p:nvSpPr>
        <p:spPr>
          <a:xfrm>
            <a:off x="8384301" y="4448489"/>
            <a:ext cx="51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ru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Никита Нагорнов</dc:creator>
  <dc:title>O(n) проиграл O(n log n) — HardFest 2026</dc:title>
</cp:coreProperties>
</file>