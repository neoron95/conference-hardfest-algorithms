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Default Extension="mp4" ContentType="video/mp4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07783662a4fbc" /><Relationship Type="http://schemas.openxmlformats.org/officeDocument/2006/relationships/extended-properties" Target="/docProps/app.xml" Id="R38be027825a34614" /><Relationship Type="http://schemas.openxmlformats.org/officeDocument/2006/relationships/officeDocument" Target="/ppt/presentation.xml" Id="Re1d0298cf10e4955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5783c1145864b08"/>
  </p:sldMasterIdLst>
  <p:notesMasterIdLst>
    <p:notesMasterId xmlns:r="http://schemas.openxmlformats.org/officeDocument/2006/relationships" r:id="Rb19742f916854dad"/>
  </p:notesMasterIdLst>
  <p:sldIdLst>
    <p:sldId xmlns:r="http://schemas.openxmlformats.org/officeDocument/2006/relationships" id="256" r:id="Re4d320cc0cb049dd"/>
    <p:sldId xmlns:r="http://schemas.openxmlformats.org/officeDocument/2006/relationships" id="257" r:id="Re5c37ff38faf4b4b"/>
    <p:sldId xmlns:r="http://schemas.openxmlformats.org/officeDocument/2006/relationships" id="258" r:id="Rf00f5262d10c49e8"/>
    <p:sldId xmlns:r="http://schemas.openxmlformats.org/officeDocument/2006/relationships" id="259" r:id="R7ee13f58b1334deb"/>
    <p:sldId xmlns:r="http://schemas.openxmlformats.org/officeDocument/2006/relationships" id="260" r:id="Rb1ff3b751ea541b7"/>
    <p:sldId xmlns:r="http://schemas.openxmlformats.org/officeDocument/2006/relationships" id="261" r:id="R98785221a81f4d2d"/>
    <p:sldId xmlns:r="http://schemas.openxmlformats.org/officeDocument/2006/relationships" id="262" r:id="Rc70d86f8f8594027"/>
    <p:sldId xmlns:r="http://schemas.openxmlformats.org/officeDocument/2006/relationships" id="263" r:id="R01a154d71d9c4b58"/>
    <p:sldId xmlns:r="http://schemas.openxmlformats.org/officeDocument/2006/relationships" id="264" r:id="R9596b3207a7148a1"/>
    <p:sldId xmlns:r="http://schemas.openxmlformats.org/officeDocument/2006/relationships" id="265" r:id="Rba277b0ca7674492"/>
    <p:sldId xmlns:r="http://schemas.openxmlformats.org/officeDocument/2006/relationships" id="266" r:id="R80f024536d944f41"/>
    <p:sldId xmlns:r="http://schemas.openxmlformats.org/officeDocument/2006/relationships" id="267" r:id="Raa4d8dfec7a04dcd"/>
    <p:sldId xmlns:r="http://schemas.openxmlformats.org/officeDocument/2006/relationships" id="268" r:id="Rf9d5aaa61fb74d03"/>
    <p:sldId xmlns:r="http://schemas.openxmlformats.org/officeDocument/2006/relationships" id="269" r:id="R0f09cd2da6544b90"/>
    <p:sldId xmlns:r="http://schemas.openxmlformats.org/officeDocument/2006/relationships" id="270" r:id="R3123e7ac94e34d5b"/>
    <p:sldId xmlns:r="http://schemas.openxmlformats.org/officeDocument/2006/relationships" id="271" r:id="R2c7f68a30e524c4c"/>
    <p:sldId xmlns:r="http://schemas.openxmlformats.org/officeDocument/2006/relationships" id="272" r:id="R375966e5b5ae4610"/>
    <p:sldId xmlns:r="http://schemas.openxmlformats.org/officeDocument/2006/relationships" id="273" r:id="Refa2d3ffcd6f4091"/>
    <p:sldId xmlns:r="http://schemas.openxmlformats.org/officeDocument/2006/relationships" id="274" r:id="R544bba54a6db41dc"/>
    <p:sldId xmlns:r="http://schemas.openxmlformats.org/officeDocument/2006/relationships" id="275" r:id="Rf5056be5e215472d"/>
    <p:sldId xmlns:r="http://schemas.openxmlformats.org/officeDocument/2006/relationships" id="276" r:id="R963b1cdc26604d83"/>
    <p:sldId xmlns:r="http://schemas.openxmlformats.org/officeDocument/2006/relationships" id="277" r:id="Rcba6dfce3fe743f4"/>
    <p:sldId xmlns:r="http://schemas.openxmlformats.org/officeDocument/2006/relationships" id="278" r:id="R6ead88d2b8d440c8"/>
    <p:sldId xmlns:r="http://schemas.openxmlformats.org/officeDocument/2006/relationships" id="279" r:id="R52d498d52f3244e5"/>
    <p:sldId xmlns:r="http://schemas.openxmlformats.org/officeDocument/2006/relationships" id="280" r:id="R041117c1c77e4a94"/>
    <p:sldId xmlns:r="http://schemas.openxmlformats.org/officeDocument/2006/relationships" id="281" r:id="R54ef409b3a18468a"/>
    <p:sldId xmlns:r="http://schemas.openxmlformats.org/officeDocument/2006/relationships" id="282" r:id="Ra5e21ba9359b4168"/>
    <p:sldId xmlns:r="http://schemas.openxmlformats.org/officeDocument/2006/relationships" id="283" r:id="R2aa7ece1520848fd"/>
    <p:sldId xmlns:r="http://schemas.openxmlformats.org/officeDocument/2006/relationships" id="284" r:id="R551aec7e2c8449db"/>
    <p:sldId xmlns:r="http://schemas.openxmlformats.org/officeDocument/2006/relationships" id="285" r:id="R5f48d974ad0e4367"/>
    <p:sldId xmlns:r="http://schemas.openxmlformats.org/officeDocument/2006/relationships" id="286" r:id="Rce2ee26c6d1444f7"/>
    <p:sldId xmlns:r="http://schemas.openxmlformats.org/officeDocument/2006/relationships" id="287" r:id="R0e27611b422c4253"/>
    <p:sldId xmlns:r="http://schemas.openxmlformats.org/officeDocument/2006/relationships" id="288" r:id="R8468eb5fcd6d4f01"/>
    <p:sldId xmlns:r="http://schemas.openxmlformats.org/officeDocument/2006/relationships" id="289" r:id="R2168a53a660543a4"/>
    <p:sldId xmlns:r="http://schemas.openxmlformats.org/officeDocument/2006/relationships" id="290" r:id="R7e1ab72ee35a49f7"/>
    <p:sldId xmlns:r="http://schemas.openxmlformats.org/officeDocument/2006/relationships" id="291" r:id="R366fdb1e93bf40c4"/>
    <p:sldId xmlns:r="http://schemas.openxmlformats.org/officeDocument/2006/relationships" id="292" r:id="R00beecd9c17048c9"/>
    <p:sldId xmlns:r="http://schemas.openxmlformats.org/officeDocument/2006/relationships" id="293" r:id="R336445e093354642"/>
    <p:sldId xmlns:r="http://schemas.openxmlformats.org/officeDocument/2006/relationships" id="294" r:id="Rd62de076f9f24e6b"/>
    <p:sldId xmlns:r="http://schemas.openxmlformats.org/officeDocument/2006/relationships" id="295" r:id="Rd7dd8d8f22e64f37"/>
    <p:sldId xmlns:r="http://schemas.openxmlformats.org/officeDocument/2006/relationships" id="296" r:id="R5fec83a3bf594d64"/>
    <p:sldId xmlns:r="http://schemas.openxmlformats.org/officeDocument/2006/relationships" id="297" r:id="Rd5e772c2af2449e1"/>
    <p:sldId xmlns:r="http://schemas.openxmlformats.org/officeDocument/2006/relationships" id="298" r:id="Rf177852fcb004290"/>
    <p:sldId xmlns:r="http://schemas.openxmlformats.org/officeDocument/2006/relationships" id="299" r:id="R3d58eb765f2a47aa"/>
    <p:sldId xmlns:r="http://schemas.openxmlformats.org/officeDocument/2006/relationships" id="300" r:id="Rd896b30e04ee468c"/>
    <p:sldId xmlns:r="http://schemas.openxmlformats.org/officeDocument/2006/relationships" id="301" r:id="Ra4819eb654d341e2"/>
    <p:sldId xmlns:r="http://schemas.openxmlformats.org/officeDocument/2006/relationships" id="302" r:id="Rf52bd767ec6a4eec"/>
    <p:sldId xmlns:r="http://schemas.openxmlformats.org/officeDocument/2006/relationships" id="303" r:id="R228d8d42e23b43b4"/>
    <p:sldId xmlns:r="http://schemas.openxmlformats.org/officeDocument/2006/relationships" id="304" r:id="Rae871acd33cc4e94"/>
    <p:sldId xmlns:r="http://schemas.openxmlformats.org/officeDocument/2006/relationships" id="305" r:id="R36c03ceed5db4bf3"/>
    <p:sldId xmlns:r="http://schemas.openxmlformats.org/officeDocument/2006/relationships" id="306" r:id="Rcc64ebd2a8134ff0"/>
    <p:sldId xmlns:r="http://schemas.openxmlformats.org/officeDocument/2006/relationships" id="307" r:id="R51ef28ac69884f38"/>
  </p:sldIdLst>
  <p:sldSz cx="9144000" cy="5143500"/>
  <p:notesSz cx="6858000" cy="9144000"/>
  <p:embeddedFontLst xmlns:r="http://schemas.openxmlformats.org/officeDocument/2006/relationships">
    <p:embeddedFont>
      <p:font typeface="Montserrat SemiBold"/>
      <p:regular r:id="rIdHFfont58"/>
      <p:bold r:id="rIdHFfont59"/>
      <p:italic r:id="rIdHFfont60"/>
      <p:boldItalic r:id="rIdHFfont61"/>
    </p:embeddedFont>
    <p:embeddedFont>
      <p:font typeface="Montserrat"/>
      <p:regular r:id="rIdHFfont62"/>
      <p:bold r:id="rIdHFfont63"/>
      <p:italic r:id="rIdHFfont64"/>
      <p:boldItalic r:id="rIdHFfont65"/>
    </p:embeddedFont>
    <p:embeddedFont>
      <p:font typeface="Geologica Light"/>
      <p:regular r:id="rIdHFfont66"/>
      <p:bold r:id="rIdHFfont67"/>
    </p:embeddedFont>
    <p:embeddedFont>
      <p:font typeface="Montserrat ExtraBold"/>
      <p:bold r:id="rIdHFfont68"/>
      <p:boldItalic r:id="rIdHFfont69"/>
    </p:embeddedFont>
  </p:embeddedFontLst>
  <p:extLst>
    <p:ext uri="{521415D9-36F7-43E2-AB2F-B90AF26B5E84}">
      <ns0:sectionLst xmlns:ns0="http://schemas.microsoft.com/office/powerpoint/2010/main">
        <ns0:section name="Расследование: диф, задача, первая ставка" id="{DAA9EDA5-C71F-5C56-996D-29B6D53F7318}">
          <ns0:sldIdLst>
            <ns0:sldId id="256"/>
            <ns0:sldId id="257"/>
            <ns0:sldId id="258"/>
            <ns0:sldId id="259"/>
            <ns0:sldId id="260"/>
            <ns0:sldId id="261"/>
            <ns0:sldId id="262"/>
            <ns0:sldId id="263"/>
          </ns0:sldIdLst>
        </ns0:section>
        <ns0:section name="Стоимость операций: размер, память, реализация" id="{6DAA842E-197B-59EF-A1EF-762DE104CEEB}">
          <ns0:sldIdLst>
            <ns0:sldId id="264"/>
            <ns0:sldId id="265"/>
            <ns0:sldId id="266"/>
            <ns0:sldId id="267"/>
            <ns0:sldId id="268"/>
          </ns0:sldIdLst>
        </ns0:section>
        <ns0:section name="Условия задачи: повторы, контракт, порядок входа" id="{5538C895-191E-5418-933C-0B44E38FBF41}">
          <ns0:sldIdLst>
            <ns0:sldId id="269"/>
            <ns0:sldId id="270"/>
            <ns0:sldId id="271"/>
            <ns0:sldId id="272"/>
          </ns0:sldIdLst>
        </ns0:section>
        <ns0:section name="Проверка собственного бенчмарка" id="{462ADCA8-8898-599B-B4C8-AB4D7987F6C8}">
          <ns0:sldIdLst>
            <ns0:sldId id="273"/>
          </ns0:sldIdLst>
        </ns0:section>
        <ns0:section name="Среда исполнения: QoS, ядра и CI" id="{EB86BAFE-056F-563E-ACA7-959934106C69}">
          <ns0:sldIdLst>
            <ns0:sldId id="274"/>
            <ns0:sldId id="275"/>
            <ns0:sldId id="276"/>
            <ns0:sldId id="277"/>
            <ns0:sldId id="278"/>
          </ns0:sldIdLst>
        </ns0:section>
        <ns0:section name="Развязка: решение, применение, ревью" id="{4DAB199E-5A5F-5B51-9A2C-BB17FED83ABE}">
          <ns0:sldIdLst>
            <ns0:sldId id="279"/>
            <ns0:sldId id="280"/>
            <ns0:sldId id="281"/>
            <ns0:sldId id="282"/>
            <ns0:sldId id="283"/>
          </ns0:sldIdLst>
        </ns0:section>
        <ns0:section name="Дополнительные модули и ответы на вопросы" id="{099A4C7A-571A-5C7C-BC5B-3749402F9598}">
          <ns0:sldIdLst>
            <ns0:sldId id="284"/>
            <ns0:sldId id="285"/>
            <ns0:sldId id="286"/>
            <ns0:sldId id="287"/>
            <ns0:sldId id="288"/>
            <ns0:sldId id="289"/>
            <ns0:sldId id="290"/>
            <ns0:sldId id="291"/>
            <ns0:sldId id="292"/>
            <ns0:sldId id="293"/>
            <ns0:sldId id="294"/>
            <ns0:sldId id="295"/>
            <ns0:sldId id="296"/>
            <ns0:sldId id="297"/>
            <ns0:sldId id="298"/>
            <ns0:sldId id="299"/>
            <ns0:sldId id="300"/>
            <ns0:sldId id="301"/>
            <ns0:sldId id="302"/>
            <ns0:sldId id="303"/>
            <ns0:sldId id="304"/>
          </ns0:sldIdLst>
        </ns0:section>
        <ns0:section name="Архив, скрыт при показе" id="{9D54CDA7-9659-5CB0-AD33-42CACDFCF710}">
          <ns0:sldIdLst>
            <ns0:sldId id="305"/>
            <ns0:sldId id="306"/>
            <ns0:sldId id="307"/>
          </ns0:sldIdLst>
        </ns0:section>
      </ns0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b2c52a32390479c"/><Relationship Type="http://schemas.openxmlformats.org/officeDocument/2006/relationships/slideMaster" Target="/ppt/slideMasters/slideMaster1.xml" Id="R95783c1145864b08"/><Relationship Type="http://schemas.openxmlformats.org/officeDocument/2006/relationships/notesMaster" Target="/ppt/notesMasters/notesMaster1.xml" Id="Rb19742f916854dad"/><Relationship Type="http://schemas.openxmlformats.org/officeDocument/2006/relationships/presProps" Target="/ppt/presProps.xml" Id="Rf644e5fb74fc4b7c"/><Relationship Type="http://schemas.openxmlformats.org/officeDocument/2006/relationships/tableStyles" Target="/ppt/tableStyles.xml" Id="R9e28dea32f0e4a91"/><Relationship Type="http://schemas.openxmlformats.org/officeDocument/2006/relationships/slide" Target="/ppt/slides/slide1.xml" Id="Re4d320cc0cb049dd"/><Relationship Type="http://schemas.openxmlformats.org/officeDocument/2006/relationships/slide" Target="/ppt/slides/slide2.xml" Id="Re5c37ff38faf4b4b"/><Relationship Type="http://schemas.openxmlformats.org/officeDocument/2006/relationships/slide" Target="/ppt/slides/slide3.xml" Id="Rf00f5262d10c49e8"/><Relationship Type="http://schemas.openxmlformats.org/officeDocument/2006/relationships/slide" Target="/ppt/slides/slide4.xml" Id="R7ee13f58b1334deb"/><Relationship Type="http://schemas.openxmlformats.org/officeDocument/2006/relationships/slide" Target="/ppt/slides/slide5.xml" Id="Rb1ff3b751ea541b7"/><Relationship Type="http://schemas.openxmlformats.org/officeDocument/2006/relationships/slide" Target="/ppt/slides/slide6.xml" Id="R98785221a81f4d2d"/><Relationship Type="http://schemas.openxmlformats.org/officeDocument/2006/relationships/slide" Target="/ppt/slides/slide7.xml" Id="Rc70d86f8f8594027"/><Relationship Type="http://schemas.openxmlformats.org/officeDocument/2006/relationships/slide" Target="/ppt/slides/slide8.xml" Id="R01a154d71d9c4b58"/><Relationship Type="http://schemas.openxmlformats.org/officeDocument/2006/relationships/slide" Target="/ppt/slides/slide9.xml" Id="R9596b3207a7148a1"/><Relationship Type="http://schemas.openxmlformats.org/officeDocument/2006/relationships/slide" Target="/ppt/slides/slide10.xml" Id="Rba277b0ca7674492"/><Relationship Type="http://schemas.openxmlformats.org/officeDocument/2006/relationships/slide" Target="/ppt/slides/slide11.xml" Id="R80f024536d944f41"/><Relationship Type="http://schemas.openxmlformats.org/officeDocument/2006/relationships/slide" Target="/ppt/slides/slide12.xml" Id="Raa4d8dfec7a04dcd"/><Relationship Type="http://schemas.openxmlformats.org/officeDocument/2006/relationships/slide" Target="/ppt/slides/slide13.xml" Id="Rf9d5aaa61fb74d03"/><Relationship Type="http://schemas.openxmlformats.org/officeDocument/2006/relationships/slide" Target="/ppt/slides/slide14.xml" Id="R0f09cd2da6544b90"/><Relationship Type="http://schemas.openxmlformats.org/officeDocument/2006/relationships/slide" Target="/ppt/slides/slide15.xml" Id="R3123e7ac94e34d5b"/><Relationship Type="http://schemas.openxmlformats.org/officeDocument/2006/relationships/slide" Target="/ppt/slides/slide16.xml" Id="R2c7f68a30e524c4c"/><Relationship Type="http://schemas.openxmlformats.org/officeDocument/2006/relationships/slide" Target="/ppt/slides/slide17.xml" Id="R375966e5b5ae4610"/><Relationship Type="http://schemas.openxmlformats.org/officeDocument/2006/relationships/slide" Target="/ppt/slides/slide18.xml" Id="Refa2d3ffcd6f4091"/><Relationship Type="http://schemas.openxmlformats.org/officeDocument/2006/relationships/slide" Target="/ppt/slides/slide19.xml" Id="R544bba54a6db41dc"/><Relationship Type="http://schemas.openxmlformats.org/officeDocument/2006/relationships/slide" Target="/ppt/slides/slide20.xml" Id="Rf5056be5e215472d"/><Relationship Type="http://schemas.openxmlformats.org/officeDocument/2006/relationships/slide" Target="/ppt/slides/slide21.xml" Id="R963b1cdc26604d83"/><Relationship Type="http://schemas.openxmlformats.org/officeDocument/2006/relationships/slide" Target="/ppt/slides/slide22.xml" Id="Rcba6dfce3fe743f4"/><Relationship Type="http://schemas.openxmlformats.org/officeDocument/2006/relationships/slide" Target="/ppt/slides/slide23.xml" Id="R6ead88d2b8d440c8"/><Relationship Type="http://schemas.openxmlformats.org/officeDocument/2006/relationships/slide" Target="/ppt/slides/slide24.xml" Id="R52d498d52f3244e5"/><Relationship Type="http://schemas.openxmlformats.org/officeDocument/2006/relationships/slide" Target="/ppt/slides/slide25.xml" Id="R041117c1c77e4a94"/><Relationship Type="http://schemas.openxmlformats.org/officeDocument/2006/relationships/slide" Target="/ppt/slides/slide26.xml" Id="R54ef409b3a18468a"/><Relationship Type="http://schemas.openxmlformats.org/officeDocument/2006/relationships/slide" Target="/ppt/slides/slide27.xml" Id="Ra5e21ba9359b4168"/><Relationship Type="http://schemas.openxmlformats.org/officeDocument/2006/relationships/slide" Target="/ppt/slides/slide28.xml" Id="R2aa7ece1520848fd"/><Relationship Type="http://schemas.openxmlformats.org/officeDocument/2006/relationships/slide" Target="/ppt/slides/slide29.xml" Id="R551aec7e2c8449db"/><Relationship Type="http://schemas.openxmlformats.org/officeDocument/2006/relationships/slide" Target="/ppt/slides/slide30.xml" Id="R5f48d974ad0e4367"/><Relationship Type="http://schemas.openxmlformats.org/officeDocument/2006/relationships/slide" Target="/ppt/slides/slide31.xml" Id="Rce2ee26c6d1444f7"/><Relationship Type="http://schemas.openxmlformats.org/officeDocument/2006/relationships/slide" Target="/ppt/slides/slide32.xml" Id="R0e27611b422c4253"/><Relationship Type="http://schemas.openxmlformats.org/officeDocument/2006/relationships/slide" Target="/ppt/slides/slide33.xml" Id="R8468eb5fcd6d4f01"/><Relationship Type="http://schemas.openxmlformats.org/officeDocument/2006/relationships/slide" Target="/ppt/slides/slide34.xml" Id="R2168a53a660543a4"/><Relationship Type="http://schemas.openxmlformats.org/officeDocument/2006/relationships/slide" Target="/ppt/slides/slide35.xml" Id="R7e1ab72ee35a49f7"/><Relationship Type="http://schemas.openxmlformats.org/officeDocument/2006/relationships/slide" Target="/ppt/slides/slide36.xml" Id="R366fdb1e93bf40c4"/><Relationship Type="http://schemas.openxmlformats.org/officeDocument/2006/relationships/slide" Target="/ppt/slides/slide37.xml" Id="R00beecd9c17048c9"/><Relationship Type="http://schemas.openxmlformats.org/officeDocument/2006/relationships/slide" Target="/ppt/slides/slide38.xml" Id="R336445e093354642"/><Relationship Type="http://schemas.openxmlformats.org/officeDocument/2006/relationships/slide" Target="/ppt/slides/slide39.xml" Id="Rd62de076f9f24e6b"/><Relationship Type="http://schemas.openxmlformats.org/officeDocument/2006/relationships/slide" Target="/ppt/slides/slide40.xml" Id="Rd7dd8d8f22e64f37"/><Relationship Type="http://schemas.openxmlformats.org/officeDocument/2006/relationships/slide" Target="/ppt/slides/slide41.xml" Id="R5fec83a3bf594d64"/><Relationship Type="http://schemas.openxmlformats.org/officeDocument/2006/relationships/slide" Target="/ppt/slides/slide42.xml" Id="Rd5e772c2af2449e1"/><Relationship Type="http://schemas.openxmlformats.org/officeDocument/2006/relationships/slide" Target="/ppt/slides/slide43.xml" Id="Rf177852fcb004290"/><Relationship Type="http://schemas.openxmlformats.org/officeDocument/2006/relationships/slide" Target="/ppt/slides/slide44.xml" Id="R3d58eb765f2a47aa"/><Relationship Type="http://schemas.openxmlformats.org/officeDocument/2006/relationships/slide" Target="/ppt/slides/slide45.xml" Id="Rd896b30e04ee468c"/><Relationship Type="http://schemas.openxmlformats.org/officeDocument/2006/relationships/slide" Target="/ppt/slides/slide46.xml" Id="Ra4819eb654d341e2"/><Relationship Type="http://schemas.openxmlformats.org/officeDocument/2006/relationships/slide" Target="/ppt/slides/slide47.xml" Id="Rf52bd767ec6a4eec"/><Relationship Type="http://schemas.openxmlformats.org/officeDocument/2006/relationships/slide" Target="/ppt/slides/slide48.xml" Id="R228d8d42e23b43b4"/><Relationship Type="http://schemas.openxmlformats.org/officeDocument/2006/relationships/slide" Target="/ppt/slides/slide49.xml" Id="Rae871acd33cc4e94"/><Relationship Type="http://schemas.openxmlformats.org/officeDocument/2006/relationships/slide" Target="/ppt/slides/slide50.xml" Id="R36c03ceed5db4bf3"/><Relationship Type="http://schemas.openxmlformats.org/officeDocument/2006/relationships/slide" Target="/ppt/slides/slide51.xml" Id="Rcc64ebd2a8134ff0"/><Relationship Type="http://schemas.openxmlformats.org/officeDocument/2006/relationships/slide" Target="/ppt/slides/slide52.xml" Id="R51ef28ac69884f38"/><Relationship Id="rIdHFfont58" Type="http://schemas.openxmlformats.org/officeDocument/2006/relationships/font" Target="fonts/MontserratSemiBold-regular.fntdata"/><Relationship Id="rIdHFfont59" Type="http://schemas.openxmlformats.org/officeDocument/2006/relationships/font" Target="fonts/MontserratSemiBold-bold.fntdata"/><Relationship Id="rIdHFfont60" Type="http://schemas.openxmlformats.org/officeDocument/2006/relationships/font" Target="fonts/MontserratSemiBold-italic.fntdata"/><Relationship Id="rIdHFfont61" Type="http://schemas.openxmlformats.org/officeDocument/2006/relationships/font" Target="fonts/MontserratSemiBold-boldItalic.fntdata"/><Relationship Id="rIdHFfont62" Type="http://schemas.openxmlformats.org/officeDocument/2006/relationships/font" Target="fonts/Montserrat-regular.fntdata"/><Relationship Id="rIdHFfont63" Type="http://schemas.openxmlformats.org/officeDocument/2006/relationships/font" Target="fonts/Montserrat-bold.fntdata"/><Relationship Id="rIdHFfont64" Type="http://schemas.openxmlformats.org/officeDocument/2006/relationships/font" Target="fonts/Montserrat-italic.fntdata"/><Relationship Id="rIdHFfont65" Type="http://schemas.openxmlformats.org/officeDocument/2006/relationships/font" Target="fonts/Montserrat-boldItalic.fntdata"/><Relationship Id="rIdHFfont66" Type="http://schemas.openxmlformats.org/officeDocument/2006/relationships/font" Target="fonts/GeologicaLight-regular.fntdata"/><Relationship Id="rIdHFfont67" Type="http://schemas.openxmlformats.org/officeDocument/2006/relationships/font" Target="fonts/GeologicaLight-bold.fntdata"/><Relationship Id="rIdHFfont68" Type="http://schemas.openxmlformats.org/officeDocument/2006/relationships/font" Target="fonts/MontserratExtraBold-bold.fntdata"/><Relationship Id="rIdHFfont69" Type="http://schemas.openxmlformats.org/officeDocument/2006/relationships/font" Target="fonts/MontserratExtraBold-boldItalic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b6b5914a44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bbdc048524ab2" /><Relationship Type="http://schemas.openxmlformats.org/officeDocument/2006/relationships/notesMaster" Target="/ppt/notesMasters/notesMaster1.xml" Id="R11721a888003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9e2bcb1dc476f" /><Relationship Type="http://schemas.openxmlformats.org/officeDocument/2006/relationships/notesMaster" Target="/ppt/notesMasters/notesMaster1.xml" Id="Rf19dd5e7b483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51d0f57f494099" /><Relationship Type="http://schemas.openxmlformats.org/officeDocument/2006/relationships/notesMaster" Target="/ppt/notesMasters/notesMaster1.xml" Id="R1e6fa5920f434f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74b4b522b4e21" /><Relationship Type="http://schemas.openxmlformats.org/officeDocument/2006/relationships/notesMaster" Target="/ppt/notesMasters/notesMaster1.xml" Id="R347725daa26f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0ff57f28a403e" /><Relationship Type="http://schemas.openxmlformats.org/officeDocument/2006/relationships/notesMaster" Target="/ppt/notesMasters/notesMaster1.xml" Id="R2e08dfb8f6a640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eed2ffa74a46d9" /><Relationship Type="http://schemas.openxmlformats.org/officeDocument/2006/relationships/notesMaster" Target="/ppt/notesMasters/notesMaster1.xml" Id="Re302b1bf6473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fcf4547c945c0" /><Relationship Type="http://schemas.openxmlformats.org/officeDocument/2006/relationships/notesMaster" Target="/ppt/notesMasters/notesMaster1.xml" Id="R707b81af1f0e46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1020e251f041be" /><Relationship Type="http://schemas.openxmlformats.org/officeDocument/2006/relationships/notesMaster" Target="/ppt/notesMasters/notesMaster1.xml" Id="R5843d898022c42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e4e7aa754248ae" /><Relationship Type="http://schemas.openxmlformats.org/officeDocument/2006/relationships/notesMaster" Target="/ppt/notesMasters/notesMaster1.xml" Id="R01bc070e4cb249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58639c5a304b0e" /><Relationship Type="http://schemas.openxmlformats.org/officeDocument/2006/relationships/notesMaster" Target="/ppt/notesMasters/notesMaster1.xml" Id="R11a7bccb454c41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e6b89acd541fa" /><Relationship Type="http://schemas.openxmlformats.org/officeDocument/2006/relationships/notesMaster" Target="/ppt/notesMasters/notesMaster1.xml" Id="Rd468c0231b544f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df306ead4f4b5c" /><Relationship Type="http://schemas.openxmlformats.org/officeDocument/2006/relationships/notesMaster" Target="/ppt/notesMasters/notesMaster1.xml" Id="R4e4c89b35fcc4c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205cb9f33b45d9" /><Relationship Type="http://schemas.openxmlformats.org/officeDocument/2006/relationships/notesMaster" Target="/ppt/notesMasters/notesMaster1.xml" Id="R40759ffeed46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f66f656aa14c09" /><Relationship Type="http://schemas.openxmlformats.org/officeDocument/2006/relationships/notesMaster" Target="/ppt/notesMasters/notesMaster1.xml" Id="Rf790a0d78ccc4f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46ddbbef934dce" /><Relationship Type="http://schemas.openxmlformats.org/officeDocument/2006/relationships/notesMaster" Target="/ppt/notesMasters/notesMaster1.xml" Id="R5f2bf19187fc49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27a3c1b78c493a" /><Relationship Type="http://schemas.openxmlformats.org/officeDocument/2006/relationships/notesMaster" Target="/ppt/notesMasters/notesMaster1.xml" Id="Rf07928fd30ea4c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e87ed790164a7d" /><Relationship Type="http://schemas.openxmlformats.org/officeDocument/2006/relationships/notesMaster" Target="/ppt/notesMasters/notesMaster1.xml" Id="R4a7cf6d7d4544a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d2a1d931aa43fe" /><Relationship Type="http://schemas.openxmlformats.org/officeDocument/2006/relationships/notesMaster" Target="/ppt/notesMasters/notesMaster1.xml" Id="R9c3b1fb0a23347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ea61bce5ad4528" /><Relationship Type="http://schemas.openxmlformats.org/officeDocument/2006/relationships/notesMaster" Target="/ppt/notesMasters/notesMaster1.xml" Id="R4a6ee04907f44c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5ce4c470f54cce" /><Relationship Type="http://schemas.openxmlformats.org/officeDocument/2006/relationships/notesMaster" Target="/ppt/notesMasters/notesMaster1.xml" Id="R5068691f0ec049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57d8140a784344" /><Relationship Type="http://schemas.openxmlformats.org/officeDocument/2006/relationships/notesMaster" Target="/ppt/notesMasters/notesMaster1.xml" Id="R9119f30651684c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a88080cdd64415" /><Relationship Type="http://schemas.openxmlformats.org/officeDocument/2006/relationships/notesMaster" Target="/ppt/notesMasters/notesMaster1.xml" Id="Rd3efbdd3307941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5fc4ca263348a6" /><Relationship Type="http://schemas.openxmlformats.org/officeDocument/2006/relationships/notesMaster" Target="/ppt/notesMasters/notesMaster1.xml" Id="R978184089e1546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d93f96011b04c53" /><Relationship Type="http://schemas.openxmlformats.org/officeDocument/2006/relationships/notesMaster" Target="/ppt/notesMasters/notesMaster1.xml" Id="R6a2c36a49d274c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7efe5d34e343b3" /><Relationship Type="http://schemas.openxmlformats.org/officeDocument/2006/relationships/notesMaster" Target="/ppt/notesMasters/notesMaster1.xml" Id="R2c3cf019deec4a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3d2099bcb8491e" /><Relationship Type="http://schemas.openxmlformats.org/officeDocument/2006/relationships/notesMaster" Target="/ppt/notesMasters/notesMaster1.xml" Id="R9f16a636bdb746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a60a79aaa746c1" /><Relationship Type="http://schemas.openxmlformats.org/officeDocument/2006/relationships/notesMaster" Target="/ppt/notesMasters/notesMaster1.xml" Id="R5c9f08af8cfd42e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ea0f1c4aa946e2" /><Relationship Type="http://schemas.openxmlformats.org/officeDocument/2006/relationships/notesMaster" Target="/ppt/notesMasters/notesMaster1.xml" Id="Rbafb0299a2df47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ef753816cb41be" /><Relationship Type="http://schemas.openxmlformats.org/officeDocument/2006/relationships/notesMaster" Target="/ppt/notesMasters/notesMaster1.xml" Id="R19251995dbe84e0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e08834f41244724" /><Relationship Type="http://schemas.openxmlformats.org/officeDocument/2006/relationships/notesMaster" Target="/ppt/notesMasters/notesMaster1.xml" Id="Rf746f90ae96042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dd362fae9b04ea5" /><Relationship Type="http://schemas.openxmlformats.org/officeDocument/2006/relationships/notesMaster" Target="/ppt/notesMasters/notesMaster1.xml" Id="R7662797dc36f48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d1fcf3b2e94e63" /><Relationship Type="http://schemas.openxmlformats.org/officeDocument/2006/relationships/notesMaster" Target="/ppt/notesMasters/notesMaster1.xml" Id="R6d9810ea15434cc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a80d28960e4d6d" /><Relationship Type="http://schemas.openxmlformats.org/officeDocument/2006/relationships/notesMaster" Target="/ppt/notesMasters/notesMaster1.xml" Id="R6f8828dde44845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6a2b17d9524d44" /><Relationship Type="http://schemas.openxmlformats.org/officeDocument/2006/relationships/notesMaster" Target="/ppt/notesMasters/notesMaster1.xml" Id="Re1baa490b313429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37dee3ccf534616" /><Relationship Type="http://schemas.openxmlformats.org/officeDocument/2006/relationships/notesMaster" Target="/ppt/notesMasters/notesMaster1.xml" Id="R1932020752aa46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f5c93597ef24afa" /><Relationship Type="http://schemas.openxmlformats.org/officeDocument/2006/relationships/notesMaster" Target="/ppt/notesMasters/notesMaster1.xml" Id="Rca0a6b1ff551499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c40adc864a3443a" /><Relationship Type="http://schemas.openxmlformats.org/officeDocument/2006/relationships/notesMaster" Target="/ppt/notesMasters/notesMaster1.xml" Id="R887a828861d74f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c3a75409df4a4c" /><Relationship Type="http://schemas.openxmlformats.org/officeDocument/2006/relationships/notesMaster" Target="/ppt/notesMasters/notesMaster1.xml" Id="R9958fdfc33d8497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efe2cf9a704996" /><Relationship Type="http://schemas.openxmlformats.org/officeDocument/2006/relationships/notesMaster" Target="/ppt/notesMasters/notesMaster1.xml" Id="R243e4dfc184b4e8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089e0b575344d68" /><Relationship Type="http://schemas.openxmlformats.org/officeDocument/2006/relationships/notesMaster" Target="/ppt/notesMasters/notesMaster1.xml" Id="Rceaa0262fcac4cd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a92ca731fc740f0" /><Relationship Type="http://schemas.openxmlformats.org/officeDocument/2006/relationships/notesMaster" Target="/ppt/notesMasters/notesMaster1.xml" Id="Rac09176d002146f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2962b5bd7f143c0" /><Relationship Type="http://schemas.openxmlformats.org/officeDocument/2006/relationships/notesMaster" Target="/ppt/notesMasters/notesMaster1.xml" Id="R6b78f37e29c74b5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85029a617194b52" /><Relationship Type="http://schemas.openxmlformats.org/officeDocument/2006/relationships/notesMaster" Target="/ppt/notesMasters/notesMaster1.xml" Id="Re849e56dafac4dc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ba4761dbf2344bf" /><Relationship Type="http://schemas.openxmlformats.org/officeDocument/2006/relationships/notesMaster" Target="/ppt/notesMasters/notesMaster1.xml" Id="R72d518f689ab40e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a3c6d9977324ac5" /><Relationship Type="http://schemas.openxmlformats.org/officeDocument/2006/relationships/notesMaster" Target="/ppt/notesMasters/notesMaster1.xml" Id="Refad4d70bb8a426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5031161a7f94400" /><Relationship Type="http://schemas.openxmlformats.org/officeDocument/2006/relationships/notesMaster" Target="/ppt/notesMasters/notesMaster1.xml" Id="R4c44b5c4f74c48e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c8c4cc371094a0e" /><Relationship Type="http://schemas.openxmlformats.org/officeDocument/2006/relationships/notesMaster" Target="/ppt/notesMasters/notesMaster1.xml" Id="R3169fa512f194fa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fa84779523b47b2" /><Relationship Type="http://schemas.openxmlformats.org/officeDocument/2006/relationships/notesMaster" Target="/ppt/notesMasters/notesMaster1.xml" Id="R15068abf3e5049b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d26c0b6ad3e4f89" /><Relationship Type="http://schemas.openxmlformats.org/officeDocument/2006/relationships/notesMaster" Target="/ppt/notesMasters/notesMaster1.xml" Id="R4613d330197946d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4328eacbcad4888" /><Relationship Type="http://schemas.openxmlformats.org/officeDocument/2006/relationships/notesMaster" Target="/ppt/notesMasters/notesMaster1.xml" Id="R90c90f4ed58e4ad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3fdc2b1d2384988" /><Relationship Type="http://schemas.openxmlformats.org/officeDocument/2006/relationships/notesMaster" Target="/ppt/notesMasters/notesMaster1.xml" Id="Rbd09d635f804430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71fc7db6cd24c38" /><Relationship Type="http://schemas.openxmlformats.org/officeDocument/2006/relationships/notesMaster" Target="/ppt/notesMasters/notesMaster1.xml" Id="Rfd04f03aad28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[пауза 2 с, смотрю в зал]</a:t>
            </a:r>
          </a:p>
          <a:p xmlns:a="http://schemas.openxmlformats.org/drawingml/2006/main">
            <a:r>
              <a:t>Всем привет! Сегодня разберём оптимизацию, которую очень хочется одобрить. Реальную задачу я упростил, замеры сделал на тестовых данных.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Материалы доклада: https://github.com/Neoron95/conference-hardfest-algorithms . Кейс обезличен, детали упрощены; эксперименты на тестовых данных.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Давайте знакомиться. Я Никита Нагорнов, старший iOS-разработчик в «Исходном коде». Прошёл путь от олимпиадного программирования и разработки компиляторов до перекрашивания кнопок на айфонах.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Сегодня как раз попробуем подружить эти две части моей жизни: алгоритмы из учебника и код, который действительно бежит на телефоне.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Биография и портрет: пользовательский референс /Users/nagornov/Downloads/IphoneLLV-v2-c-заметками.pptx, слайд 2. Публичный кейс текущего доклада с перечисленными проектами не связывается.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вы хоть раз ускоряли обработку массива и потом спрашивали «что это было?» — нам по пути. Возьмём одну задачу: какие данные, как устроена память и что с этим делает процессор?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Обещание доклада: вопросы к перф-изменению, метод сравнения на своих данных и в целевой среде.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Вторник, семнадцать сорок. На ревью маленький диф. Было: отсортировать массив, убрать повторы. Стало: сложить всё в хеш-таблицу и выгрузить обратно. И всё это укладывается в две строчки.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«Линейно вместо n log n». Кто потянулся бы к approve? [поднимаю руку, пауза 4 с] Мой внутренний олимпиадник уже нажал approve. [щелчок]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Давайте проверим, с чем он согласился. Разработчик, CI и телефон могут получить разные ответы на один и тот же вопрос.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Публичный пример кода. В эксперименте reserve добавлен; производственный результат не заявляется.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устройстве лежат id записей. С сервера приехала дельта, а в ней повторы: ретраи, перекрытия страниц. Нужно собрать массив уникальных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Запомним три детали. [щелчок] Локальные id уже отсортированы и уникальны. [щелчок] Ключ — шестидесятичетырёхбитное число. [щелчок] Работа несрочная,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результата уточним отдельно. Пока это выглядит фоном. Потом каждая деталь пригодится. А в тестовых сериях возьмём случайные id: у последовательных чисел расклад может отличаться.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Самостоятельная упрощённая задача: L sorted unique; D может содержать повторы; числовые id. Отдельные тестовые серии фиксируют другие свойства входа.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Давайте сделаем ставку. A — sort плюс unique. B — стандартная хеш-таблица. [щелчок] У первого n log n, у второго в среднем n. Только сравнение и вставка стоят по-разному.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Миллион числовых id, все разные, один поток, порядок результата любой. [щелчок] Что первым отправите на замер? Здесь выбираем первый опыт.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за сортировку? [поднимаю руку, пауза 3 с]</a:t>
            </a:r>
          </a:p>
          <a:p xmlns:a="http://schemas.openxmlformats.org/drawingml/2006/main">
            <a:r>
              <a:t>Кто за хеш? [поднимаю руку, пауза 3 с]</a:t>
            </a:r>
          </a:p>
          <a:p xmlns:a="http://schemas.openxmlformats.org/drawingml/2006/main">
            <a:r>
              <a:t>Кто сначала спросил бы про условия? [поднимаю руку, пауза 3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[если есть рука C: один ответ, не дольше 8 с] Запомните свой выбор и вопрос.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Базовая серия: N=U=2^20, случайные uint64_t, порядок результата не важен. O(n) — средняя оценка unordered_set.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 что, смотрим на секундомер. Тот же миллион уникальных id, MacBook на M2 Pro. Короче столбик — быстрее.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Сортировка — около двадцати наносекунд на элемент. [щелчок] Узловая таблица — около пятидесяти одной. [пауза 2 с] [щелчок] Сортировка быстрее в два и шесть десятых раза.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Линейная оценка никуда не делась. Только весь путь через эту таблицу оказался дороже. Красивой оценки для выбора уже не хватило.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Похожий опыт показывал Даниэль Лемир, причины разбирал Чендлер Каррут на CppCon. Я решил повторить расследование и добраться до телефона.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Пройдём четыре раунда: память, устройство таблицы, данные и процессор. Сначала покажу, что попало под секундомер.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prep/research/apple.md; prep/research/bench.md. Mac M2 Pro, libc++; N=U=2^20. Полная операция. Атрибуция: https://lemire.me/blog/2017/05/23/counting-exactly-the-number-of-distinct-elements-sorted-arrays-vs-hash-sets/ ; Chandler Carruth, CppCon 2014, Efficiency with Algorithms, Performance with Data Structures.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Меряем задачу целиком: получили вход, вернули уникальные id. У таблицы в таймере reserve, вставки, выгрузка и уничтожение. Деструктор тоже работает, просто прячется за закрывающей скобкой.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Копию входа готовим до таймера. Результат сверяем с эталоном: ничего не потеряли, ничего не добавили. Здесь порядок любой. Свежая копия, кстати, не означает холодный кэш.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коротком дифе reserve не было. В бенчмарке я его добавил: заранее сообщаем таблице размер, даём ей нормальные условия.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bench/dedup_bench.cpp и bench/results/summary.md. Копирование входа вне таймера; reserve, insert, output и деструктор внутри; проверка результата вне таймера.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Начнём с размера. Теперь половина id уникальные. Растим массив от шестнадцати элементов до четырёх миллионов.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 горизонтали количество элементов, по вертикали время на элемент. Ниже — быстрее. Сортировка постепенно дорожает: больше элементов, больше сравнений.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Добавим узловую таблицу. На средних размерах она рядом. После полумиллиона цена резко растёт. Она всё ещё линейная в среднем. Откуда ступенька?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Посчитаем память. На полумиллионе входных id таблица занимает примерно двенадцать мебибайт, на миллионе — двадцать четыре. Плюс сам вход: четыре и восемь. Общий L2 производительных ядер M2 Pro — шестнадцать.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Уже тесновато: за кэш борются таблица, вход и остальная работа. Это возможное объяснение перегиба; промахи мы здесь отдельно не считали. Но сам перегиб видно хорошо. Если вставка дорожает вместе с размером, считать все вставки по фиксированной цене уже опасно. Давайте заглянем в таблицу и посмотрим, что занимает столько места.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prep/research/apple.md; исходная серия curve, M2 Pro, U/N=0,5. Рабочий набор: таблица примерно12/24 МиБ плюс вход4/8 МиБ на 512K/1M. L2 16 МиБ общий для кластера P. Излом — косвенное свидетельство; резидентность и вклад промахов кэша не измерены напрямую.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Слева обычный вектор. Ключи рядом, по восемь байт. Sort и unique работают прямо на этом буфере.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Справа узловая таблица. В ячейке указатель, по нему находим узел. В узле ключ, ещё указатель и служебные данные. Полезный груз — восемь байт. Остальное — доставка и упаковка. Почти как заказать один кабель. При коллизии следующий адрес узнаём только после чтения текущего узла.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Каждый новый уникальный ключ просит отдельное выделение памяти. Миллион разных ключей — примерно миллион new, потом миллион delete. Вот вам цена «одной вставки». У сортировки такого хозяйства на каждый ключ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этой упаковки есть смысл: ссылки на элементы переживают рост таблицы. Полезная гарантия. Но наше временное множество сейчас будет выброшено, а за гарантию мы уже заплатили. Теперь посмотрим, сколько стоит доставка.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prep/research/cpp.md §2; bench/dedup_bench.cpp. N=U=2^20; счётчики аллокаций и суммы запросов аллокатору отличаются от RSS. Размер узла зависит от стандартной библиотеки.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Число действий мы прикинули. Теперь цена: что процессор делает, пока ждёт память?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Слева адреса известны заранее. Можно отправить несколько запросов и заняться другой работой. А строка кэша из компактного массива приносит сразу несколько соседних ключей.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Справа следующий адрес лежит внутри текущего узла. Сначала дождись данных, прочитай адрес, потом отправь запрос. Представьте маршрут, где следующая остановка написана только на предыдущей. Заранее построить весь путь не получится.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Независимые чтения можно перекрыть. Зависимые ждут друг друга. Даже одинаковое число промахов может дать разное время: в одном случае ожидания перекрылись, в другом сложились. Задержка никуда не исчезает. В первом случае процессор прячет её за другой работой, во втором каждый раз упирается в ожидание.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Big-O нам нужен, но цены этих ожиданий в нём нет. Запомним эту разницу: на телефоне она ещё вернётся.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prep/research/apple.md; Ulrich Drepper, What Every Programmer Should Know About Memory, §3.3.2: https://people.freebsd.org/~lstewart/articles/cpumemory.pdf . Иллюстрация зависимости адресов, не измеренная декомпозиция ускорения сортировки.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так дорого обходятся узлы, давайте попробуем без 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Слева уже знакомая цепочка: ячейка, указатель, узел. [щелчок] Справа Swiss Table. Ключи лежат в массиве слотов. Рядом короткие метки: пусто или кусочек хеша. Проверили группу меток, нашли кандидатов — и только теперь читаем полные ключи.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Плюс — вся таблица размещается одним выделением памяти. Минус — при росте элементы переезжают, ссылки уже не сохраняются. Для нашего временного множества обмен выглядит разумно. Отказываемся от гарантии, которая здесь не нужна, и получаем более компактную структуру.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Такое устройство разбирал Мэтт Кулукундис на CppCon. Здесь я использую Abseil.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Средняя сложность прежняя. Давайте проверим, что изменилось на секундомере.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prep/research/cpp.md §5; Abseil Swiss Tables design: https://abseil.io/about/design/swisstables ; Matt Kulukundis, CppCon 2017. Диаграмма организации таблицы; SIMD-группы зависят от архитектуры.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Возвращаем миллион уникальных числовых id и M2 Pro. [щелчок] Знакомые столбики: сортировка и узловая таблица.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вот плоская — около двенадцати наносекунд на элемент. [пауза 1 с] [щелчок] Быстрее сортировки в один и семь десятых раза. [пауза 2 с] Сторонники хеша, можно выдохнуть: реванш получился.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Рядом radix, поразрядная сортировка: около семи. Числовой ключ позволяет разбирать его по байтам. Вместо сравнений получаем другой алгоритм и платим дополнительным буфером.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Итак, слово «хеш-таблица» само по себе нам мало помогло. Две таблицы с одинаковой средней сложностью дали противоположные ответы. Поменяли контейнер, а задача и вход остались теми же. Поэтому и разбираться нужно в конкретной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в нашей задаче были повторы. А пока мы давали таблицам миллион разных ключей. Давайте вернём повторы и ещё раз сделаем ставку.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prep/research/apple.md; Mac M2 Pro, libc++; N=U=2^20:19,9/51,3/11,7/6,9нс/элемент. ×1,7 — flat против sort. Radix — отдельная реализация для uint64_t.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меняем данные. [щелчок] В первой ставке все id были разные.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Оставим миллион элементов, а уникальных будет один процент. Кто впереди: сортировка или узловая таблица?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за сортировку? [поднимаю руку, пауза 3 с]</a:t>
            </a:r>
          </a:p>
          <a:p xmlns:a="http://schemas.openxmlformats.org/drawingml/2006/main">
            <a:r>
              <a:t>Кто за хеш? [поднимаю руку, пауза 3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входе всё ещё миллион. А новых узлов? Проверяем.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Доля уникальных относится к тестовым входам; свойства реальных пользователей не заявляются.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[щелчок] Хеш. Быстрее сортировки в три и семь десятых раза.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случилось? Новых узлов всего десять тысяч. Миллион элементов по-прежнему проходит через таблицу, но большую часть мы уже видели. Заново выделять под них память не надо. Проверка всё равно выполняется, но дорогая часть создания структуры нужна гораздо реже.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Теперь все id разные. Сортировка снова впереди — примерно в два с половиной раза. Вход остался миллион, а новых узлов стало в сто раз больше.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Сортировка тоже чувствительна к повторам: её время меняется. Но таблице приходится заново оплатить миллион узлов, служебные байты и работу аллокатора. И мы снова получаем дорогой вариант.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Вот почему вопрос «сколько элементов?» полезен, но недостаточен. Нужен ещё один: сколько среди них разных значений? Миллион вставок ещё не означает миллион новых узлов.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 теперь уточним, какой результат вообще обещали вернуть.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Исходная серия доли уникальных, Mac M2 Pro, N=2^20. U/N=1%:sort12,0,unordered3,2;100%:sort19,8,unordered51,6нс/элемент. Reserve(N) фиксирован: при малом U массив бакетов остаётся большим. Полная серия в share-full.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«Массив без повторов» звучит однозначно. Пока не спросишь про порядок.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Первый вариант: порядок любой. В этой серии сортировка и таблица близки.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Второй: выход должен быть отсортирован. Таблица теперь ещё и сортирует уникальные значения, начинает отставать. Помните наш диф? Старый код возвращал отсортированный массив. Новый молча убрал это свойство. Мы уже поменяли поведение, а обсуждали только скорость.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Третий вариант: порядок первого появления. Хеш впереди больше чем втрое. Таблица отвечает, встречали ли этот id, а результат записываем по ходу входа. Сортировке приходится восстанавливать исходные позиции.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всех трёх задач выход без повторов. Но работа разная. Сравнить две реализации разных задач — отличный способ получить красивый и бесполезный график.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 «любой порядок» нужно проверить у следующего потребителя. Может, он как раз рассчитывает на стабильную последовательность. Давайте сначала договоримся, что возвращаем. Быстро получить другой результат — вполне достижимая цель. Только коллеге и пользователю от такой оптимизации, скорее всего, будет мало радости.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 и cpp.md §9. Mac M2 Pro,N=2^20,U/N=0,5. Первое появление: дляsort пары(ключ,индекс) и вторая сортировка; это конкретный вариант, не нижняя граница дляsort. Порядок обходаset не часть контракта.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считали разные значения. Теперь поменяем их порядок.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Случайный вход — знакомая картина. Собрали одинаковые id в серии — хешу стало легче. Размер и число уникальных те же, поменялась последовательность обращений. Тот же мешок чисел разложили по-другому — и получили другую цену обработки.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 если весь массив уже отсортирован? [пауза 3 с] [щелчок] В этой серии sort плюс unique быстрее хеша примерно в восемь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Зачем сортировать отсортированное? Libc++ замечает благоприятное разбиение и быстро заканчивает сортировкой вставками. [щелчок] У libstdc++ такой картины нет. Даже за словом sort скрываются разные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Локальные id в нашей задаче уже отсортированы. Правда, это только часть входа. Чуть позже используем сделанную работу, а сейчас проверим кое-что ещё. Эти красивые цифры вообще отвечают на наш вопрос?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prep/research/apple.md; bench/results/summary.md,E4. Mac M2 Pro,libc++;N=2^20,U/N=0,5. Перестановки одинаковых ключей и кратностей. Эвристика std::sort зависит от библиотеки; коэффициент не универсален.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я сам наступил на грабли. Бенчмарк работал, результат проходил проверку, цифры повторялись. Я думал, что устроил экзамен. А выдавал один и тот же билет.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macOS сортировка маленького массива: один и тот же вход — примерно семь наносекунд на элемент. Шестьдесят четыре разных входа — четырнадцать. Вдвое дороже.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Перед каждым запуском я восстанавливал исходный массив. Уже отсортированные данные второй раз не сортировал. Повторялись именно исходные значения между запусками.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Возникло подозрение: процессор успевает привыкнуть к последовательности ветвлений. Но похожую картину может дать кэш. Как их различить? В обоих случаях один повторяемый массив выглядит быстрым. Но память реагирует на адреса, а история ветвлений зависит и от содержимого. Нужен контроль, который поможет разделить эти объяснения. Сделаем одинаковые копии: значения прежние, адреса другие. Если дело в истории ветвлений, быстрый результат может сохраниться. Если в адресах и размещении — копии могут стать дороже.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x86 быстрый результат сохранился. Повторение содержимого действительно влияет. А контроль на M2 уже запускался в Linux-виртуалке и повёл себя иначе. Там размещение и кэш остаются возможными объяснениями. Эти окружения в одно доказательство не склеим.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Одни и те же горячие данные — нормальный сценарий, если продукт так работает. Но если каждый раз приезжает новый массив, надо проверить и его. Красивые повторяемые цифры ещё не означают, что мы задали секундомеру нужный вопрос.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Иллюстрация билетов: ImageGen, условный образ повторяемости входов. bench/results/summary.md,E5; prep/research/apple.md. M2 native macOS6,8/14,4 — наблюдение; контроль с одинаковыми копиями на M2 выполнен в Linux VM. Нельзя считать его контролем нативной macOS. На x86 контрольE5 дополнен одним буфером 8 КиБ. Гипотезы не приписываются чипу как установленная причина.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оставим алгоритмы и входы в покое. Поменяем режим выполнения.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Помните несрочную работу? В бенчмарке я выставляю QoS самому C++-потоку — вот этим API. Utility означает «не горит». Номер любимого ядра мы при этом не бронировали: конкретное исполнение выбирает планировщик. И проверяем мы именно поток этого бенчмарка.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Берём полмиллиона id, половина уникальные. [щелчок] На Mac с высоким QoS результаты близкие. На iPhone тоже близкие, хеш немного впереди. Mac в utility — опять рядом.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теперь iPhone в utility. Сортировка — около пятидесяти пяти наносекунд на элемент. Хеш — около ста пяти. [пауза 2 с] Лидер поменялся. Сортировка быстрее почти вдвое.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только сообщили системе другое намерение. Обе реализации замедлились, но таблица потеряла больше.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миллионе элементов эффект виден и у Mac: преимущество сортировки выросло примерно с 1,3 до 1,8 раза. Единого правила «utility всегда делает вот так» у нас нет. Зато есть причина включить режим в условия замера. Посмотрим на большой вход на телефоне.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 §5–6. API pthread_set_qos_class_self_np; N=2^19,U/N=0,5. iPhone 14 Pro,A16 Bionic. ВысокийQoS19,6/18,2;utility55,3/105,3нс/элемент: смена лидера на 512K. Mac M2 Pro при 1M: изменения разрыва×1,3/×1,8. SwiftTask не измерялся. SE-0304: https://github.com/swiftlang/swift-evolution/blob/main/proposals/0304-structured-concurrency.md . Task может наследовать actor isolation; await может повысить приоритет.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Тот же iPhone четырнадцать Pro. Теперь миллион id, половина уникальные, utility. Показываю готовую тестовую серию.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Сортировка — около пятидесяти семи наносекунд на элемент. Узловая таблица — около ста восьмидесяти восьми.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В три и три десятых раза. [пауза 3 с, смотрю в зал]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полумиллионе мы увидели смену лидера. Здесь видим, насколько дорогой стала таблица на большом входе.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Код прежний, средняя сложность прежняя. Давайте наконец заглянем в процессор. Что именно досталось нашей работе?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Исходная серия iPhone 14 Pro,A16 Bionic,pthreadQoS utility,N=2^20,U/N=0,5. sort57,4/uset187,7нс/элемент;187,7/57,4=3,27≈3,3. Парная серия другогоQoS на 1M здесь не заявлена. Модель: https://support.apple.com/en-my/111849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говорим «мой процессор», легко представить одинаковые ядра с разной частотой.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Здесь схема Mac M2 Pro. У Apple Silicon есть производительные P-ядра и энергоэффективные E-ядра. Разные ресурсы, разные кэши. Числа на схеме относятся к Mac; на iPhone размеры другие. Сейчас смотрим на принцип. E — это не просто P, которому убавили частоту.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Куда отправить работу, решает планировщик. Наш приоритет сообщает пожелание. Если мы назвали модель телефона, это ещё не полный ответ на вопрос, какие ресурсы получила работа.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Как увидеть разницу? Если меняется частота, чтение может стать дороже — линия задержки поднимется. Если меняется ёмкость кэша, сдвинется объём, после которого чтения подорожали.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разные признаки. Одного слова utility для объяснения мало. Попробуем найти отпечаток ядра через память.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Объясняющая схема. Размеркэша может сдвигать границу; частота особенно влияет на высоту внутриL1/L2, дляDRAM простая пропорция неприменима. P/E-модельiPhone 14 Pro: https://support.apple.com/en-my/111849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Можно спросить у памяти. Устроим отдельный опыт: каждое чтение сообщает адрес следующего. Чтения вынуждены ждать друг друга. А объём памяти, по которому ходим, постепенно увеличиваем.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Получается лестница задержек; метод описывал Ульрих Дреппер. Сначала iPhone. По горизонтали объём, по вертикали время одного зависимого чтения.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Маленький набор помещается в ближайший кэш. Добавляем данные, места перестаёт хватать, чтения становятся дороже. Поэтому смотрим на ступеньки: они показывают масштаб памяти, доступной этой нагрузке.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userInitiated границы одни, при background — другие. Это согласуется с разными кэшами P- и E-ядер.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легко перепутать два эффекта. Замедлили ядро — чтения стали дороже, линия поднялась. Но объём данных, который помещается в кэш, от одной частоты не изменился. Нам интересны именно границы. Представьте полку: медленнее брать с неё книги — одно, а меньше книг на неё помещается — другое. По одному времени чтения эти случаи легко спутать. Поэтому увеличиваем набор и смотрим, где заканчивается полка.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Добавляем utility. Его изломы ближе к background, чем к высокому QoS. Это косвенный признак другого типа ядра в данном опыте.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Справа Mac: у высокого и фонового QoS тоже разные изломы.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не трассировали сам дедуп. Это отдельная нагрузка на память, поэтому точную причину его разрыва ещё не доказали. Но получили согласующуюся картину: режим влияет на доступные ресурсы, а зависимые ожидания особенно болезненны для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Получается, мало сказать «померил на айфоне». Надо спросить: в каком режиме? Давайте соберём ответы наших машин.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prep/research/apple.md §1–2; методDrepper. Отдельный pointer-chasing тест. Изломы — косвенный признак типа ядра, не CPU-трасса дедупа. userInitiated не равно foreground приложения. Версия iOS и размеры кэшей телефона не подставлены. iPhone utility содержит фактические особенности исходной линии.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у одного дифа три собеседника: разработчик, CI и телефон. Входы одинаковые, окружения разные.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Возьмём двести пятьдесят шесть тысяч id и миллион. На x86 с Linux таблица впереди на меньшем размере, на миллионе времена близкие. На iPhone в utility оба раза быстрее сортировка.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Промежуточные размеры подтверждают картину. На x86 таблица сохраняет преимущество, на телефоне сортировка получает его с ростом входа.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А вот Mac разработчика: средние размеры близкие, большой вход помогает сортировке.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 кому верить? Каждая машина честно померила свою работу. Это не соревнование общей скорости устройств. Мы сравниваем две реализации внутри каждого из этих окружений. У них разные кэши, библиотеки, планировщик и режим выполнения.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 не врёт. Он честно отвечает про свою машину. [пауза 2 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Перф-тест полезен: можно поймать изменение в контролируемом окружении. Но переносить его рейтинг алгоритмов на пользователя автоматически нельзя. На сервере та же история: разработчик, раннер и прод могут получить разное железо.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Теперь вернёмся к задаче. Что мы выберем после этого расследования?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bench/results/summary.md,E2 и E2b; prep/research/apple.md. x86/Linux/libstdc++: повтор1,64/1,29/1,12/≈1,02(sort/uset) на 64K/256K/512K/1M. M2, libc++ и iPhone utility — исходные серии. Таблица рейтингов внутри машин, не общей скорости платформ.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столько времени выбирали победителя, а одна полезная деталь лежала в самом условии: локальные id уже отсортированы и уникальны.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Зачем сортировать их ещё раз? Эту работу до нас уже сделали. Сортируем только дельту, убираем повторы в ней. Потом идём двумя указателями по двум отсортированным последовательностям: берём меньший id, равные выдаём один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Unique по дельте обязателен. Set_union сам по себе не удаляет все повторы внутри входов. Локальная часть уже уникальна, дельту надо привести к тому же условию.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x86 в наших конфигурациях это быстрее полной сортировки минимум в три с половиной раза. Диапазон на экране зависит от библиотеки и реализации. На iPhone эту серию не снимали.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нашей задачи я начал бы со слияния. Используем то, что известно о входе, и не подключаем новую библиотеку контейнеров. А хеш и radix оставим для других условий. Иногда самое приятное ускорение — работа, которую удалось вообще не делать.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bench/results/summary.md,E8; bench/dedup_bench.cpp. L=2^20sorted unique,D=2^16,U/N delta=0,5. Δ sort+unique перед set_union. ×3,5–6,6 — разные библиотечные связки x86, не серия наiPhone.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Давайте переведём наносекунды в миллисекунды.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На полумиллионе id этот iPhone в utility тратит около двадцати девяти миллисекунд на сортировку и пятьдесят пять на узловую таблицу.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Разница — двадцать шесть миллисекунд на один дедуп. И примерно двенадцать мебибайт дополнительной памяти таблицы. Это цена этапа в лаборатории, а не ускорение всей синхронизации. Память здесь — оценка дополнительной 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Для нашей задачи следующий кандидат — слияние локальных id с подготовленной дельтой. Теперь проверим его на целевом устройстве и в нужном режиме.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 что из этого можно забрать в другой стек?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Лабораторная оценка из qos/x33:55,3×2^19≈29мс;105,3×2^19≈55мс;57,4×2^20≈60мс;187,7×2^20≈197мс. +12 МиБ — оценка структуры таблицы, не измеренный RSS. Не вся синхронизация и не продуктовый выкат.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вы пишете на другом языке, вопросы остаются.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Сначала загляните в свой контейнер. Java HashSet с числовыми объектами добавляет узлы и аллокации. Современный map в Go и HashMap в Rust устроены плоско. Swift Set и Python set используют открытую адресацию, но ключи и хешеры у них свои.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Потом данные: сколько их, сколько повторов, в каком порядке приходят? Название set ещё не описывает всю нашу задачу.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И исполнение. На сервере: тот ли процессор, та ли библиотека, нет ли соседней нагрузки? На телефоне: кто выполняет работу и с каким приоритетом?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Коэффициент из C++-серии автоматически сюда не переносится. Проверяем в своей среде. И возвращаемся на ревью.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Применение метода, без новых измерений. prep/research/beyond.md; SE-0304. Контейнеры, actor isolation, executor и QoS различаются. CPU в CI не обязан повторять целевую платформу.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Снова вторник, семнадцать сорок. Тот же диф. Посмотрите на него и за пять секунд придумайте один комментарий коллеге. [пауза 5 с, смотрю в зал]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Мой внутренний олимпиадник всё ещё любит линейную сложность. Просто теперь одного его голоса мало.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Первое: что обещаем вернуть? Раньше массив был отсортирован. Сейчас получаем порядок обхода таблицы. Кто дальше использует этот результат?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Второе: какие данные? Размеры, повторы, исходный порядок. Локальные id уже отсортированы — можем отсортировать только дельту и слить?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Третье: где бежит? На каком железе и в каком режиме сняли замер? Похоже ли это на условия пользователя?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Вспомните свой выбор. У сортировки появились условия, у хеша тоже. А третий вариант теперь превратился в конкретные вопросы. Можно не угадывать победителя по двум строкам. Узнать контракт, выбрать настоящий вход, назвать среду — и только потом получить число, которое поможет принять решение. Тогда спор про алгоритмы становится проверяемым.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Ответы стоит приложить к перф-изменению в PR. Коллега сможет повторить опыт и понять границы вывода. Хорошее ревью помогает задать секундомеру вопрос, из которого получится решение.</a:t>
            </a:r>
          </a:p>
          <a:p xmlns:a="http://schemas.openxmlformats.org/drawingml/2006/main">
            <a:r>
              <a:t>[→ следующий слайд]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Возврат к исходному публичному дифу. Пауза 5 секунд на собственный комментарий. Выводы привязаны к контракту, данным и окружению.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Код, бенчмарк и данные — по QR.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конференции откройте один свой перф-тест. Какой вход он повторяет? Где бежит? На телефоне — тот ли режим? На сервере — то ли окружение? Начните с этих вопросов. Если условия отличаются от реальной задачи, вы уже нашли первый следующий опыт. Для этого не нужно переписывать весь продукт.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[щелчок] [пауза 2 с]</a:t>
            </a:r>
          </a:p>
          <a:p xmlns:a="http://schemas.openxmlformats.org/drawingml/2006/main">
            <a:r>
              <a:t>Ваш алгоритм не выбирал процессор. Проверьте, какой ему достался. [пауза 2 с] Спасибо!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 и условия</a:t>
            </a:r>
          </a:p>
          <a:p xmlns:a="http://schemas.openxmlformats.org/drawingml/2006/main">
            <a:r>
              <a:t>QR: https://github.com/Neoron95/conference-hardfest-algorithms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Слайды после этого — запас для вопросов, в основной хронометраж не входят. Номер на экране — фактический номер слайда. Модули: 30 radixmin, 31 learned-table, 32 nb-lang. Дополнительно: 33 allocs, 34 decision, 35 share-full. Темы вопросов из qa.md:</a:t>
            </a:r>
          </a:p>
          <a:p xmlns:a="http://schemas.openxmlformats.org/drawingml/2006/main">
            <a:r>
              <a:t>1 nb-where — «Какой iPhone? Где мерили? У нас CI на Mac-раннерах» (M1, M10, V7, P8) · 2 nb-kernel — «В XNU написано обратное» (I1, I9, H16) · 3 nb-dense — «rowid плотные, а мерили случайные» (M5, C8) · 4 nb-merge — «Почему не слить дельту?» (X1, C5, C10) · 5 nb-lang — «А в Java, Go, Rust, Swift, Python?» (B1–B3, B9, S1, X12) · 6 learned-table — «Почему на M2 не предсказатель?» (H15, H17) · 7 qos-bg — «Почему utility, а не background?» (I4, H13) · 8 systems — точка перехода на четырёх системах · 9 drift — две минуты под нагрузкой · 10 stdlib — libstdc++ против libc++ · 11 cachecost — рабочий набор против L2 · 12 sortmin, 13 hashtable, 14 radixmin — устройство алгоритмов за минуту · 15 reserve — «Почему reserve(N), а не под U?» (C12) · 16 checklist — восемь проверок честного замера · 17 sums — из чего складывается работа.</a:t>
            </a:r>
          </a:p>
          <a:p xmlns:a="http://schemas.openxmlformats.org/drawingml/2006/main">
            <a:r>
              <a:t>Схема любого ответа: сразу признать верное → точная формулировка → вывод держится → мостик: «на каком железе и в каком приоритете мерили».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Сырые данные, харнесс и условия замеров — github.com/Neoron95/conference-hardfest-algorithms · архив (скрыт): twoways, bigo, questions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«Перед следующей ставкой разберём кандидата, которого разрешило устройство нашего ключа».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Поразрядная сортировка раскладывает элементы по одной части ключа. Здесь младший полубайт, затем старший. Важное условие: внутри группы сохраняется порядок предыдущего прохода. Уже разобранные младшие части остаются упорядочены, когда переходим к старшим.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измеренной реализации шестидесятичетырёхбитный ключ обрабатывается восемью проходами по байтам. Вместо дерева сравнений получаем фиксированные проходы, счётчики и копирование. Цена — дополнительный буфер размером со вход.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Числовой ключ дал нам эту возможность. Но короткий массив, ограничение памяти или другой тип ключа могут изменить выбор. Одного названия radix тоже недостаточно.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«Вернёмся к дельте. Следующая ставка — как на знакомый выбор влияют повторы».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«Вот два отдельных опыта, которые помогают сузить объяснение».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Слева x86. Один восстановленный вход и одинаковые копии — около десяти наносекунд. Разные входы — около сорока семи.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могло ли дело быть в адресах? В четвёртой строке разные значения проходят через один буфер. Адреса одинаковые, результат всё равно дорогой. Повторяемость содержимого здесь влияет сильнее, чем смена буфера.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Справа другой процессор. Нативная macOS показывает знакомое удорожание на разных входах. Отдельный контроль в Linux-виртуалке: одинаковые копии тоже медленнее одного восстановленного массива. Причина для M2 остаётся гипотезой.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Эти опыты помогают разделить возможные объяснения. При этом мы сохраняем границу между окружениями и не склеиваем их в одно доказательство.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«Теперь входы фиксируем. Следующая переменная — режим исполнения самого потока».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«Вот несколько разных способов хранить одно множество».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C++ unordered_set и Java HashSet есть отдельные узлы. В Java числовой ключ Long может добавить объект. Go с версии один двадцать четыре и Rust HashMap используют плоскую организацию.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Swift и Python открытая адресация, но свои хешеры и представление значений. Число в Python обычно является объектом. В C# цепочки хранятся в массивах: слово «цепочка» ещё не означает отдельную аллокацию на ключ.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даёт кандидатов для проверки, а не готовые коэффициенты. Сначала узнаём устройство своего контейнера. Затем ставим вопрос к своим данным и среде. Название set — лишь начало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«Представьте тот же диф в вашем языке. Какой комментарий оставили бы коллеге?»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──────────</a:t>
            </a:r>
          </a:p>
          <a:p xmlns:a="http://schemas.openxmlformats.org/drawingml/2006/main">
            <a:r>
              <a:t>Источники: prep/research/bench.md; cpp.md; apple.md; beyond.md; bench/results/summary.md.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Последний счёт раунда: вызовы new. Вопрос вам, про себя: сколько раз unordered_set позовёт аллокатор на миллионе ключей? Ноль, тысячу или миллион? [пауза 3 с]</a:t>
            </a:r>
          </a:p>
          <a:p xmlns:a="http://schemas.openxmlformats.org/drawingml/2006/main">
            <a:r>
              <a:t>[щелчок] Сортировка: ноль, работает на месте.</a:t>
            </a:r>
          </a:p>
          <a:p xmlns:a="http://schemas.openxmlformats.org/drawingml/2006/main">
            <a:r>
              <a:t>[щелчок] Хеш-таблица: миллион. Узел на каждый ключ, плюс массив ячеек. С округлением это около сорока мегабайт. Расширению уведомлений на iPhone дают около двадцати четырёх, дальше его убивают — как OOM-killer на сервере. И платят за узлы дважды: миллион delete прячется за закрывающей фигурной скобкой.</a:t>
            </a:r>
          </a:p>
          <a:p xmlns:a="http://schemas.openxmlformats.org/drawingml/2006/main">
            <a:r>
              <a:t>[щелчок] Плоская таблица, о ней через минуту: один new на всё.</a:t>
            </a:r>
          </a:p>
          <a:p xmlns:a="http://schemas.openxmlformats.org/drawingml/2006/main">
            <a:r>
              <a:t>[пауза] Итог раунда: шагов у хеша меньше, но каждый — аллокация и прыжок по куче. Значит, уберём узлы.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0:50, к концу 9:00.</a:t>
            </a:r>
          </a:p>
          <a:p xmlns:a="http://schemas.openxmlformats.org/drawingml/2006/main">
            <a:r>
              <a:t>Щелчки: 1 — sort + unique, 0, работает на месте; 2 — unordered_set, ≈1 млн, ≈42 МБ памяти+ миллион delete; 3 — flat_hash_set, 1, одна таблица на всё.</a:t>
            </a:r>
          </a:p>
          <a:p xmlns:a="http://schemas.openxmlformats.org/drawingml/2006/main">
            <a:r>
              <a:t>Если отстаю (−20 с): Вопрос риторический, без паузы; выбросить расширение уведомлений и x86. Оставить: ноль / миллион / один и «миллион delete за закрывающей скобкой».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1 048 577 вызовов = 2^20 узлов + массив ячеек; 33 554 432 Б запрошено (cpp.md §2.3). У Apple 24 → 32 Б, заголовка нет (apple.md §3.1, §3.4). Разбросаны не адреса — аллокатор раздаёт их почти подряд, — а порядок обхода.</a:t>
            </a:r>
          </a:p>
          <a:p xmlns:a="http://schemas.openxmlformats.org/drawingml/2006/main">
            <a:r>
              <a:t>— Фазы на x86 (bench.md E11, U = N, обе библиотеки): reserve и вставки ≈43%, выгрузка ≈26%, деструктор 28–30%. На M2 по фазам не раскладывал. «Сорок мегабайт здесь, двадцать четыре на prod?» — разные U: здесь все id разные, там половина — повторы.</a:t>
            </a:r>
          </a:p>
          <a:p xmlns:a="http://schemas.openxmlformats.org/drawingml/2006/main">
            <a:r>
              <a:t>— «Пул-аллокатор или pmr?» (qa C9): не мерил. monotonic_buffer_resource уберёт malloc и free, но не прыжки по узлам; ожидаю ближе к сортировке, не к flat — гипотеза. Share extension (~120 МБ) в пример не брать (errata P1-7).</a:t>
            </a:r>
          </a:p>
          <a:p xmlns:a="http://schemas.openxmlformats.org/drawingml/2006/main"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 xmlns:a="http://schemas.openxmlformats.org/drawingml/2006/main">
            <a:r>
              <a:t>Условия и источники (были в подвале слайда): N = U = 2²⁰, все id разные — как в голосовании · libc++ · вызовы посчитаны подменой operator new</a:t>
            </a:r>
          </a:p>
          <a:p xmlns:a="http://schemas.openxmlformats.org/drawingml/2006/main">
            <a:r>
              <a:t>С экрана убрано: unordered_set: запрошено 33,6 МБ, с округлением malloc ≈42 МБ; Notification Service Extension ~24 МБ, виджет ~30 МБ — наблюдаемые лимиты jetsam; x86: деструктор ≈30% времени; МБ = 10⁶ байт; N = U = 2²⁰, вызовы посчитаны подменой operator new (libc++)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Правило вместо нотации.</a:t>
            </a:r>
          </a:p>
          <a:p xmlns:a="http://schemas.openxmlformats.org/drawingml/2006/main">
            <a:r>
              <a:t>[щелчок] Первое. Уникальных мало или нужен порядок первого появления — хеш-таблица, лучше плоская.</a:t>
            </a:r>
          </a:p>
          <a:p xmlns:a="http://schemas.openxmlformats.org/drawingml/2006/main">
            <a:r>
              <a:t>[щелчок] Второе. Часть входа уже отсортирована — не трогайте её: остальное отсортируйте, схлопните и слейте.</a:t>
            </a:r>
          </a:p>
          <a:p xmlns:a="http://schemas.openxmlformats.org/drawingml/2006/main">
            <a:r>
              <a:t>[щелчок] Третье. Целые ключи, почти все разные, данных больше кэша — radix или плоская таблица. Узловая — последней.</a:t>
            </a:r>
          </a:p>
          <a:p xmlns:a="http://schemas.openxmlformats.org/drawingml/2006/main">
            <a:r>
              <a:t>[щелчок] Четвёртое, для всех. Код живёт не там, где мерили, — значит, цена шага другая. На телефоне в фоне — другое ядро. На бэкенде — ARM вместо x86 или контейнер, у которого кэш делят соседи.</a:t>
            </a:r>
          </a:p>
          <a:p xmlns:a="http://schemas.openxmlformats.org/drawingml/2006/main">
            <a:r>
              <a:t>[щелчок] И пятое, самое короткое: сомневаетесь — меряйте.</a:t>
            </a:r>
          </a:p>
          <a:p xmlns:a="http://schemas.openxmlformats.org/drawingml/2006/main">
            <a:r>
              <a:t>[пауза] Big-O нужен: он спасает от квадратичных катастроф. Но между двумя разумными алгоритмами он не выбирает: он считает шаги, а не их цену. [пауза] Вернёмся во вторник.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1:00, к концу 23:40.</a:t>
            </a:r>
          </a:p>
          <a:p xmlns:a="http://schemas.openxmlformats.org/drawingml/2006/main">
            <a:r>
              <a:t>Щелчки: 1 — 1, Мало уникальных или нужен порядок появления→ хеш-таблица, лучше плоска; 2 — 2, Часть входа уже отсортирована→ отсортировать остальное, убрать повторы; 3 — 3, Целые ключи, почти все разные, больше кэша→ radix или плоская; узловая; 4 — 4, Код живёт не там, где мерили→ цена шага другая; 5 — 5, Сомневаетесь→ меряйте.</a:t>
            </a:r>
          </a:p>
          <a:p xmlns:a="http://schemas.openxmlformats.org/drawingml/2006/main">
            <a:r>
              <a:t>Если отстаю (−25 с): Правила 1–3 не читать: «Первые три — про данные и контракт, они на слайде». Четвёртое целиком, пятое и «Big-O считает шаги, а не их цену».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Финальное состояние (все пять правил и строка про Big-O) держать 5 секунд: его фотографируют.</a:t>
            </a:r>
          </a:p>
          <a:p xmlns:a="http://schemas.openxmlformats.org/drawingml/2006/main">
            <a:r>
              <a:t>• Правило 4, числа со слайда cores (iPhone, отношение к userInitiated): utility ≈1,3× в L1 и на 64 МБ, до ≈5× на 8–16 МБ; background — до ≈15× на 4–32 МБ (errata P1-14; с графика ±10%, сверить с сырыми данными). CPU-лимит, то есть квота CFS, сам по себе тормозит оба алгоритма одинаково; цену шага меняют соседи по L3 — гипотеза, я мерил без соседей (qa B10). Не говорить «Graviton — это как E-ядро».</a:t>
            </a:r>
          </a:p>
          <a:p xmlns:a="http://schemas.openxmlformats.org/drawingml/2006/main">
            <a:r>
              <a:t>• Правило 1: при 1% уникальных flat с reserve(N) медленнее узловой таблицы (3,6 против 3,2 нс/эл) и берёт в 64 раза больше памяти (errata P2-19, backup reserve). Правило 3: radix и flat мерились на M2 Pro в userInitiated (6,9 и 11,7 против 19,9) и на x86 (bench.md E1: radix ≈40, flat ≈43, sort ≈84, unordered_set ≈260 нс/эл); на iPhone в .utility — не мерил (qa P7). Правило 2 — слайд merge: на x86 в 3,5–6,6 раза быстрее sort + unique; unique по дельте обязателен.</a:t>
            </a:r>
          </a:p>
          <a:p xmlns:a="http://schemas.openxmlformats.org/drawingml/2006/main">
            <a:r>
              <a:t>• «Postgres сам выбирает между HashAggregate и Sort» (qa B7): да, по оценке числа различных значений и work_mem — по данным и памяти, ровно по этому правилу; про ядро он тоже не знает. «Кнут: преждевременная оптимизация»: правило не про то, чтобы оптимизировать дедуп, а про то, чтобы не выбирать контейнер по нотации.</a:t>
            </a:r>
          </a:p>
          <a:p xmlns:a="http://schemas.openxmlformats.org/drawingml/2006/main">
            <a:r>
              <a:t>Условия и источники (были в подвале слайда): Никита Нагорнов · github.com/Neoron95/conference-hardfest-algorithms · слайд 24</a:t>
            </a:r>
          </a:p>
          <a:p xmlns:a="http://schemas.openxmlformats.org/drawingml/2006/main">
            <a:r>
              <a:t>С экрана убрано: Четвёртое подробнее: iPhone в .utility — чтение памяти до 5× дороже · ARM-инстанс вместо x86 · контейнер, где L3 делят соседи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[щелчок] Хеш. И сразу в три и семь десятых раза: уникальных всего десять тысяч, их узлы помещаются в кэш. [пауза 1 с] [одной фразой: угадало ли большинство]</a:t>
            </a:r>
          </a:p>
          <a:p xmlns:a="http://schemas.openxmlformats.org/drawingml/2006/main">
            <a:r>
              <a:t>Теперь вся сетка: слева все id одинаковые, справа все разные. Шкала по вертикали логарифмическая, ниже — лучше.</a:t>
            </a:r>
          </a:p>
          <a:p xmlns:a="http://schemas.openxmlformats.org/drawingml/2006/main">
            <a:r>
              <a:t>Синяя сортировка почти горизонтальна: от двенадцати до двадцати при стократной разнице в числе уникальных. Она в любом случае переставляет весь миллион.</a:t>
            </a:r>
          </a:p>
          <a:p xmlns:a="http://schemas.openxmlformats.org/drawingml/2006/main">
            <a:r>
              <a:t>[щелчок] Оранжевая хеш-таблица её пересекает. При половине повторов — почти ничья, двадцать против двадцати трёх. А когда все разные, хеш позади в два с половиной раза.</a:t>
            </a:r>
          </a:p>
          <a:p xmlns:a="http://schemas.openxmlformats.org/drawingml/2006/main">
            <a:r>
              <a:t>[щелчок] Зелёная плоская внизу почти везде.</a:t>
            </a:r>
          </a:p>
          <a:p xmlns:a="http://schemas.openxmlformats.org/drawingml/2006/main">
            <a:r>
              <a:t>[смотрю в зал] Так что и сортировка, и хеш правы — каждый в своей клетке. Победителя назначают данные.</a:t>
            </a:r>
          </a:p>
          <a:p xmlns:a="http://schemas.openxmlformats.org/drawingml/2006/main">
            <a:r>
              <a:t>Второе условие прячется не в данных, а в тикете.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Тайминг: 1:00, к концу 12:30.</a:t>
            </a:r>
          </a:p>
          <a:p xmlns:a="http://schemas.openxmlformats.org/drawingml/2006/main">
            <a:r>
              <a:t>Щелчки: 1 — [график], unordered_set, sort + unique, хеш ×3,7; 2 — [график], почти ничья20 против 23, sort ×2,6; 3 — [график], flat_hash_set, radix + unique.</a:t>
            </a:r>
          </a:p>
          <a:p xmlns:a="http://schemas.openxmlformats.org/drawingml/2006/main">
            <a:r>
              <a:t>Если отстаю (−20 с): Оси одной фразой: «слева все одинаковые, справа все разные». Выбросить «от двенадцати до двадцати…» и «Она в любом случае переставляет весь миллион». Оставить: «хеш, в три и семь десятых раза», почти ничья на половине, позади на всех разных, «победителя назначают данные».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Точки (M2 Pro, сессия Б, с графика ±2%): все равны — sort 1,2 · uset 2,0 · flat 2,9; 1% — 12,0 · 3,2 · 3,6; 50% — 20,3 · 23,0; 100% — 19,8 · 51,6 (errata §4.1). При 1% узловая быстрее flat: flat с reserve(N) платит за таблицу в 18,9 МБ на десять тысяч ключей (backup reserve) — поэтому «почти везде». Десять тысяч узлов по 32 Б — около 320 КБ.</a:t>
            </a:r>
          </a:p>
          <a:p xmlns:a="http://schemas.openxmlformats.org/drawingml/2006/main">
            <a:r>
              <a:t>— x86, повтор (bench.md E3): при 1% хеш быстрее сортировки в 6–8 раз, при 100% сортировка быстрее в 3,0–3,2 раза — направление то же, размах больше. Radix на x86 вровень с flat.</a:t>
            </a:r>
          </a:p>
          <a:p xmlns:a="http://schemas.openxmlformats.org/drawingml/2006/main">
            <a:r>
              <a:t>— «20 против 23, а на кривой было 26?» (qa M3): разные сессии; хеш на этой точке гуляет 22,6–26,3, сортировка — на полпроцента. Поэтому 50% подписано «почти ничья».</a:t>
            </a:r>
          </a:p>
          <a:p xmlns:a="http://schemas.openxmlformats.org/drawingml/2006/main">
            <a:r>
              <a:t>Условия и источники (были в подвале слайда): N = 2²⁰ · M2 Pro, macOS, libc++, userInitiated · id — случайные 64-битные · сессия Б  · flat и radix — только M2 Pro, userInitiated · «все равны» = U = 1 · ось X — категории, не шкала</a:t>
            </a:r>
          </a:p>
          <a:p xmlns:a="http://schemas.openxmlformats.org/drawingml/2006/main">
            <a:r>
              <a:t>С экрана убрано: N = 2²⁰ · M2 Pro, macOS, libc++, userInitiated · id — случайные 64-битные · сессия Б  · flat и radix — только M2 Pro, userInitiated · «все равны» = U = 1 · ось X — категории, не шкала; значения: 1% — хеш ×3,7; 50% — 20,3 против 23,0 (почти ничья); 100% — sort ×2,6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модель телефона, ОС, инструменты, физическое или виртуальное ядро.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 Версия iOS, полный номер сборки DedupBench и его флаги не сохранены в доступных материалах исходной серии. Не заполнять эти поля выдуманными значениями и не обещать, что полный мобильный паспорт лежит в репозитории.</a:t>
            </a:r>
          </a:p>
          <a:p xmlns:a="http://schemas.openxmlformats.org/drawingml/2006/main">
            <a:r>
              <a:t>• Mac — M2 Pro, macOS 27, исходная подпись Xcode 27.0/Apple clang 21.0.0, libc++, -O3. Конфигурация числа P/E ядер не сохранена; не выбирать 6P/8P по модели. Сохранённый sysctl: P L1D 128 КиБ/L2 16 МиБ; E L1D 64 КиБ/L2 4 МиБ; hw.cachelinesize 128 Б.</a:t>
            </a:r>
          </a:p>
          <a:p xmlns:a="http://schemas.openxmlformats.org/drawingml/2006/main">
            <a:r>
              <a:t>• Исходная x86-серия — Xeon в VM, GCC 13. Независимый повтор bench/results/env.txt: GCC 13.3/libstdc++, Clang 18.1/libc++, базовый x86-64 -O3, taskset -c 2; PMU недоступен. Объявленный L3 VM не доказывает фактически доступный кэш.</a:t>
            </a:r>
          </a:p>
          <a:p xmlns:a="http://schemas.openxmlformats.org/drawingml/2006/main">
            <a:r>
              <a:t>• Hosted macOS-раннеры обсуждались как отдельный пример VM: конфигурация раннера меняется во времени, точный CPU/perflevel проверить у конкретного запуска. Один виртуальный perflevel не гарантирует постоянного физического P-ядра и не исключает влияние QoS через хост.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• UserInitiated — приоритет, не состояние приложения. Utility и реальный background процесса различаются. BGAppRefreshTask не измерялся; соответствие лаборатории продукту не утверждать.</a:t>
            </a:r>
          </a:p>
          <a:p xmlns:a="http://schemas.openxmlformats.org/drawingml/2006/main">
            <a:r>
              <a:t>Источники: prep/research/apple.md §2, §6–7; bench/README.md; bench/results/env.txt; SE-0304.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XNU, гарантии QoS и соответствие Swift Task.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Apple формулирует влияние QoS на размещение: https://developer.apple.com/news/?id=vk3m204o (22.06.2020). Контроллер производительности задаёт рекомендации, исходники Edge допускают utility на всех CPU. Это описание модели планирования, не гарантия ядра для отдельного запуска.</a:t>
            </a:r>
          </a:p>
          <a:p xmlns:a="http://schemas.openxmlformats.org/drawingml/2006/main">
            <a:r>
              <a:t>• XNU xnu-12377.121.6, osfmk/kern/sched_clutch.c, стр. 6604–6612: https://github.com/apple-oss-distributions/xnu/blob/xnu-12377.121.6/osfmk/kern/sched_clutch.c#L6604-L6612 . Ограничение BG/Maintenance: performance controller would never recommend execution on the P-cores. На слайде пересказ, не универсальный закон будущих чипов и версий iOS.</a:t>
            </a:r>
          </a:p>
          <a:p xmlns:a="http://schemas.openxmlformats.org/drawingml/2006/main">
            <a:r>
              <a:t>• Цитата старого AMP «utility и bg только на E» относится к коду под !CONFIG_SCHED_EDGE. Не выдавать её за действующее правило текущего Edge. Нельзя подтвердить активный планировщик iPhone без сохранённого паспорта той версии iOS.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</a:t>
            </a:r>
          </a:p>
          <a:p xmlns:a="http://schemas.openxmlformats.org/drawingml/2006/main">
            <a:r>
              <a:t>• Кривые отдельного memory probe дают косвенное свидетельство: utility на iPhone по изломам ближе к background. Сам дедуп не трассировали; размещение его потока не измерено. Линии Mac utility в материалах нет, поэтому «Mac utility — P» не является сохранённым результатом этого probe.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• Приоритет потока, тип ядра и роль процесса — разные условия. Не переносить данные utility в BGAppRefreshTask автоматически. Thread affinity на Apple silicon не поддерживается: https://developer.apple.com/forums/thread/703361 .</a:t>
            </a:r>
          </a:p>
          <a:p xmlns:a="http://schemas.openxmlformats.org/drawingml/2006/main">
            <a:r>
              <a:t>Источники: prep/research/apple.md §1, §5; исходный cores; SE-0304.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Вопрос: «В кейсе rowid из SQLite — плотные, а мерили вы случайные 64-битные» (qa M5, Б2), «std::hash для целых — тождество» (C8).</a:t>
            </a:r>
          </a:p>
          <a:p xmlns:a="http://schemas.openxmlformats.org/drawingml/2006/main">
            <a:r>
              <a:t>Ответ: Справедливо. Случайные id выбраны намеренно, чтобы раскладка не зависела от удачи. На плотных id узловой таблице везёт: std::hash — тождество, коллизий ноль. На x86-повторе при половине дублей unordered_set на плотных в 1,65 раза быстрее, чем на случайных, и обгоняет сортировку в 1,7 раза; при всех уникальных — 320 против 68 нс/эл, в 4,7 раза. Radix делает 3 прохода вместо 8. Sort и flat от раскладки не зависят. Значит, на rowid победитель может смениться — это ровно тезис раунда 3. Серия на iPhone — серия на телефоне не выполнялась; не снял — так и сказать.</a:t>
            </a:r>
          </a:p>
          <a:p xmlns:a="http://schemas.openxmlformats.org/drawingml/2006/main">
            <a:r>
              <a:t>Обратный край: id с общими нулевыми младшими битами (снежинки с нулевым счётчиком, кратные 1024) в libc++ после reserve(2^k) сваливаются в одну цепочку: шаг 1024 — 64 ячейки из 65 536, вставка ×70; шаг 2^20 — ×1 500. libstdc++ простой модуль это скрывает, Abseil и boost перемешивают хеш. Проверьте гистограмму цепочек на своих id.</a:t>
            </a:r>
          </a:p>
          <a:p xmlns:a="http://schemas.openxmlformats.org/drawingml/2006/main">
            <a:r>
              <a:t>Мостик: для rowid лучший кандидат вообще не хеш и не sort, а слияние отсортированной дельты (следующий слайд) или битовая карта.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x86-повтор на отдельной VM: Xeon 2,1 ГГц; GCC 13 / libstdc++ и Clang 18 / libc++; медиана сессий · ловушка — тест cluster.cpp, x86, reserve(N) · все серии доклада сняты на случайных 64-битных id</a:t>
            </a:r>
          </a:p>
          <a:p xmlns:a="http://schemas.openxmlformats.org/drawingml/2006/main">
            <a:r>
              <a:t>С экрана убрано: x86-повтор, серия E7, плотные id — перемешаны. radix + unique: случайные 38,0 / 40,3, плотные 21,6 / 22,1; flat_hash_set: случайные 34,7 / 36,9, плотные 35,5 / 36,9 (нс/эл, libstdc++ / libc++). Ловушка libc++: id с шагом 2^k, std::hash — тождество: ячейка = младшие k бит id. 65 536 id: плотные 1..N — занято 65 536 ячеек, 40 нс на вставку (libstdc++: 39); шаг 1024 — 64 ячейки, 2 762 нс · ×70 (libstdc++: 41); шаг 2^20 — 1 ячейка, 60 540 нс · ×1 500 (libstdc++: 38). iPhone · userInitiated и .utility · 512K и 1M · случайные и плотные id: серия на телефоне не выполнялась. Для rowid победитель может смениться. Лучший кандидат — не хеш и не sort, а слияние дельты или битовая карта.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Вопросы: «Почему не отсортировать только дельту и слить?» (qa X1), «set_union не убирает дубли дельты» (C5), «std::flat_set — это flat_hash_set?» (C10).</a:t>
            </a:r>
          </a:p>
          <a:p xmlns:a="http://schemas.openxmlformats.org/drawingml/2006/main">
            <a:r>
              <a:t>Ответ: Для нашей задачи это правильный ответ, он же на слайде merge. Сортируем дельту, схлопываем в ней повторы и сливаем с отсортированными локальными id через set_union или inplace_merge + unique. Без unique по дельте set_union оставит её дубли: из второго диапазона он берёт max(n − m, 0) копий — на 1,06 млн осталось 32 966 дублей. На x86 это в 3,5–6,6 раза быстрее sort + unique и в 4–6 раз быстрее flat_hash_set. libc++ в sort + unique быстрее libstdc++ (31 против 42): вход уже на 94% отсортирован. iPhone: Серия на телефоне не снималась; не домерил — «на телефоне ещё не мерил, цифры появятся в репозитории», не «будет так же».</a:t>
            </a:r>
          </a:p>
          <a:p xmlns:a="http://schemas.openxmlformats.org/drawingml/2006/main">
            <a:r>
              <a:t>std::flat_set — не хеш-таблица, а отсортированный вектор; его insert(range) в libc++ — ровно этот рецепт: отсортировать хвост, inplace_merge, unique.</a:t>
            </a:r>
          </a:p>
          <a:p xmlns:a="http://schemas.openxmlformats.org/drawingml/2006/main">
            <a:r>
              <a:t>INSERT OR IGNORE в SQLite (X10) — B-дерево и журнал, ожидаю медленнее, не мерил. Битовая карта для плотных rowid (X5): 1M id — 125 КБ, не мерил.</a:t>
            </a:r>
          </a:p>
          <a:p xmlns:a="http://schemas.openxmlformats.org/drawingml/2006/main">
            <a:r>
              <a:t>Мостик: лучший алгоритм использует то, что о данных уже известно, — здесь «SQLite уже отсортировала».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L — 2^20 локальных id (отсортированы, уникальны) + дельта D — 2^16, половина — повторы · x86-повтор на отдельной VM (Xeon 2,1 ГГц; GCC 13, Clang 18), медиана сессий · так вставляет диапазон std::flat_set в libc++</a:t>
            </a:r>
          </a:p>
          <a:p xmlns:a="http://schemas.openxmlformats.org/drawingml/2006/main">
            <a:r>
              <a:t>С экрана убрано: Исходный заголовок: «Сортируем только дельту и сливаем: на x86 в 3,5–6,6 раза быстрее sort + unique». Код: std::sort(D.begin(), D.end()); D.erase(std::unique(D.begin(), D.end()), D.end()); — без этого шага set_union оставит дубли дельты; std::set_union(L.begin(), L.end(), D.begin(), D.end(), std::back_inserter(out)). radix + unique: 41,4 / 39,8 нс/эл, быстрее sort + unique в 1,0 / 0,8 раза. sort(Δ) + unique(Δ) + inplace_merge + unique: 6,7 / 8,6 нс/эл, быстрее в 6,3 / 3,6 раза.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Вопрос: «Почему utility? Apple для синхронизации советует background» (qa I4, errata P1-9).</a:t>
            </a:r>
          </a:p>
          <a:p xmlns:a="http://schemas.openxmlformats.org/drawingml/2006/main">
            <a:r>
              <a:t>Ответ: Да, в Energy Efficiency Guide синхронизация отнесена к background («such as indexing, synchronizing, and backups»). Utility — «не срочно, но результат нужен», им в проектах часто помечают синхронизацию. В background ещё дороже: на iPhone на 512K сортировка 145,6 нс/эл против 195,2 у хеша (×1,3), на Mac — 92,6 против 178,4 (×1,9). Вывод тот же: фон — это другое ядро и другая цена шага.</a:t>
            </a:r>
          </a:p>
          <a:p xmlns:a="http://schemas.openxmlformats.org/drawingml/2006/main">
            <a:r>
              <a:t>«Почему на iPhone в background разрыв меньше, чем в utility?» (H13): причину не мерил. Гипотеза: в background частота E-кластера ещё ниже; сортировка упирается в вычисления и теряет пропорционально больше, а хеш и так ждёт память, задержка которой от частоты ядра почти не зависит. Проверка — счётчики или запись частоты.</a:t>
            </a:r>
          </a:p>
          <a:p xmlns:a="http://schemas.openxmlformats.org/drawingml/2006/main">
            <a:r>
              <a:t>«Поставьте userInitiated» (I3): Apple просит, чтобы без действий пользователя приложение 90% времени работало в utility или ниже; в фоне потолок QoS к тому же режется ролью процесса. «А в настоящем фоне, в BGAppRefreshTask?» (I7): не мерил, ожидаю не лучше utility — гипотеза.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Условия и источники (были в подвале слайда): id случайные 64-битные · одинаковые входы · QoS через pthread_set_qos_class_self_np · Mac: macOS 27, libc++ · iPhone: 14 Pro, A16 Bionic; версия iOS не указана · thermalState nominal · медианы · BGAppRefreshTask не мерил</a:t>
            </a:r>
          </a:p>
          <a:p xmlns:a="http://schemas.openxmlformats.org/drawingml/2006/main">
            <a:r>
              <a:t>С экрана убрано: Исходный заголовок: «В background сортировка впереди и на Mac (×1,9), и на iPhone (×1,3)». Строка utility, N = 1M: Mac — sort 20,7, хеш 37,6 (sort ×1,8); iPhone — 57,4 и 187,7 (sort ×3,3). sort = sort + unique, хеш = unordered_set; «≈» — ничья. Почему в докладе utility, а не background? Apple в Energy Efficiency Guide относит синхронизацию к background: «such as indexing, synchronizing, and backups». Utility — «не срочно, но результат нужен»: им в проектах часто помечают синхронизацию. В background ещё дороже, и сортировка впереди на обоих устройствах.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· без шагов. Вопросы про другие системы и точку перехода.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• Крупные отношения — исходные результаты колоды при N = U = 2^20. x86 ×2,07 — пилот, исходные абсолютные 70 и 146 нс/эл округлены. Независимый повтор bench E1: ×3,1 с libstdc++, ×2,9 с libc++, вывод по направлению тот же. Не выдавать пилот за повтор.</a:t>
            </a:r>
          </a:p>
          <a:p xmlns:a="http://schemas.openxmlformats.org/drawingml/2006/main">
            <a:r>
              <a:t>• Строка x86 при U = N/2 — независимый повтор E2: sort впереди при N = 16 и от 2M; 1M близко, от 64 до 512K хеш или близко. При N = 16 увеличение пула снимает часть обучения: выигрыш sort ×1,75, не ×4 (E2b). Поэтому числа малого N — свойство конкретного харнесса.</a:t>
            </a:r>
          </a:p>
          <a:p xmlns:a="http://schemas.openxmlformats.org/drawingml/2006/main">
            <a:r>
              <a:t>• M2 Pro/Linux — VM 4 vCPU; физическое ядро под vCPU выбирает хост. Порог и отношение взяты из исходного systems; не объяснять VM как отдельный тип P/E.</a:t>
            </a:r>
          </a:p>
          <a:p xmlns:a="http://schemas.openxmlformats.org/drawingml/2006/main">
            <a:r>
              <a:t>• Mac/macOS — исходные userInitiated данные. На 1M возможен диапазон ×1,1–1,3 между сессиями. iPhone — исходная системная серия userInitiated; не смешивать её с utility из x33.</a:t>
            </a:r>
          </a:p>
          <a:p xmlns:a="http://schemas.openxmlformats.org/drawingml/2006/main">
            <a:r>
              <a:t>• iPhone 14 Pro, A16 Bionic. Версия iOS и мобильные сырые данные не сохранены в доступных материалах исходной серии; размеры кэшей iPhone не подставлять из модели. Время — медианы, числа перенесены из существующей колоды. Соответствие устройства между старыми системными сериями не подтверждается сырыми мобильными файлами; число ×2,53 сохраняется как опубликованный результат колоды.</a:t>
            </a:r>
          </a:p>
          <a:p xmlns:a="http://schemas.openxmlformats.org/drawingml/2006/main">
            <a:r>
              <a:t>• Сравниваются системы целиком, одновременно меняются CPU, ОС, компилятор, библиотека и режим. Эти числа не отделяют влияние CPU от остального.</a:t>
            </a:r>
          </a:p>
          <a:p xmlns:a="http://schemas.openxmlformats.org/drawingml/2006/main">
            <a:r>
              <a:t>• Swift Task: priority не задаёт executor. Task наследует actor isolation; созданный из MainActor Task с синхронным C++ вызовом может остаться на MainActor. Ожидание через await task.value может повысить приоритет. Замер через Swift Task не выполнялся. Первоисточник: SE-0304, разделы Task priorities, Priority Escalation, Context inheritance: https://github.com/swiftlang/swift-evolution/blob/main/proposals/0304-structured-concurrency.md . Не рекомендовать Task.detached автоматически: сначала определить реальный executor.</a:t>
            </a:r>
          </a:p>
          <a:p xmlns:a="http://schemas.openxmlformats.org/drawingml/2006/main">
            <a:r>
              <a:t>Источники: исходный systems; bench/results/summary.md E1/E2/E2b; prep/research/bench.md; apple.md.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«А троттлинг? А под длительной нагрузкой?»</a:t>
            </a:r>
          </a:p>
          <a:p xmlns:a="http://schemas.openxmlformats.org/drawingml/2006/main">
            <a:r>
              <a:t>Ответ: две минуты непрерывно, алгоритмы чередуются. Время выросло на 10–14%, хеш начал дорожать раньше, порядок не изменился. thermalState всю серию nominal, поэтому причину дрейфа не называю: nominal не доказывает отсутствие ограничений. Пятая минута — следующий опыт.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Первое окно: сортировка 19,0, хеш 17,8 нс/эл; последнее: 20,9 и 20,3. Рост: 20,9 / 19,0 = +10%, 20,3 / 17,8 = +14%. Хеш впереди во всех четырёх окнах.</a:t>
            </a:r>
          </a:p>
          <a:p xmlns:a="http://schemas.openxmlformats.org/drawingml/2006/main">
            <a:r>
              <a:t>— Хеш дорожает с первой минуты (17,8 → 18,9), сортировка — со второй (19,0 → 19,0 → 20,5).</a:t>
            </a:r>
          </a:p>
          <a:p xmlns:a="http://schemas.openxmlformats.org/drawingml/2006/main">
            <a:r>
              <a:t>— Это 256K при половине дублей и userInitiated: там на переднем плане хеш и так чуть впереди. Короткий запуск и длительная нагрузка — разные режимы; решение принимается для того режима, в котором реально живёт ваш код.</a:t>
            </a:r>
          </a:p>
          <a:p xmlns:a="http://schemas.openxmlformats.org/drawingml/2006/main">
            <a:r>
              <a:t>— Устройство: модель и версия iOS в этой серии не зафиксированы — та же строка, что во всех подписях с iPhone.</a:t>
            </a:r>
          </a:p>
          <a:p xmlns:a="http://schemas.openxmlformats.org/drawingml/2006/main">
            <a:r>
              <a:t>Условия и источники (были в подвале слайда): iPhone модель и версия iOS в этой серии не зафиксированы · медиана по 15-секундным окнам · алгоритмы чередуются · 120 с непрерывной нагрузки · QoS userInitiated · id — случайные 64-битные · заряд 40–80%, без кабеля</a:t>
            </a:r>
          </a:p>
          <a:p xmlns:a="http://schemas.openxmlformats.org/drawingml/2006/main">
            <a:r>
              <a:t>С экрана убрано: Исходный заголовок: «Две минуты под нагрузкой: время выросло на 10–14%, порядок не изменился». Таблица, нс/эл, окна нагрузки 0–15 с / 45–60 с / 90–105 с / 105–120 с: sort + unique 19,0 / 19,0 / 20,5 / 20,9; unordered_set 17,8 / 18,9 / 19,5 / 20,3 (на графике точки — середины окон). Хеш начал дорожать с первой минуты, сортировка — со второй. Короткий запуск и длительная нагрузка — разные режимы; пятиминутная серия — следующий опыт.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«Это же разница Linux против Apple?»</a:t>
            </a:r>
          </a:p>
          <a:p xmlns:a="http://schemas.openxmlformats.org/drawingml/2006/main">
            <a:r>
              <a:t>Ответ: одна машина x86, одинаковые входы, две стандартные библиотеки. Сортировка одинаковых чисел: libstdc++ — восемь наносекунд на элемент, libc++ — одна. Идеи pdqsort пришли в libc++ в LLVM 16, а одинаковые ключи она проходила за линейное время и раньше. Узел unordered_set: 16 байт против 24 — libc++ хранит в узле хеш. macOS, iOS и Android NDK — на libc++; отличается GCC на Linux. Алгоритм выбрали вы, библиотеку — тулчейн.</a:t>
            </a:r>
          </a:p>
          <a:p xmlns:a="http://schemas.openxmlformats.org/drawingml/2006/main">
            <a:r>
              <a:t>И на Apple этот std::sort живёт в системной библиотеке: какой алгоритм исполнится, решает версия ОС, а не Xcode.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Числа воспроизведены при проверке: 8,19 против 0,94 нс/эл (на слайде 7,8 и 1,2 — пилот). unordered_set на 1M уникальных — 146 против 139, разница 5%: в хеше библиотека почти ничего не решает, решают узлы.</a:t>
            </a:r>
          </a:p>
          <a:p xmlns:a="http://schemas.openxmlformats.org/drawingml/2006/main">
            <a:r>
              <a:t>— «libstdc++ экономнее: 16 байт против 24?» (qa C7): по запрошенным байтам да, 25 МБ против 34; по куче нет — glibc кладёт оба узла в чанк 32 Б, у Apple 24 Б тоже округляются до 32.</a:t>
            </a:r>
          </a:p>
          <a:p xmlns:a="http://schemas.openxmlformats.org/drawingml/2006/main">
            <a:r>
              <a:t>— «Какая libc++ сортирует на телефоне — та, что в Xcode?» (qa C4): нет, std::sort для uint64_t со стандартным компаратором вызывает уже инстанцированный __sort из libc++.dylib, а она — часть iOS.</a:t>
            </a:r>
          </a:p>
          <a:p xmlns:a="http://schemas.openxmlformats.org/drawingml/2006/main">
            <a:r>
              <a:t>— Версию, «с которой libc++ распознаёт паттерны», не называть: эвристика «разбиение без обменов → досортировать вставками» есть ещё до LLVM 14, BlockQuickSort и идеи pdqsort — LLVM 16 (errata P0-11).</a:t>
            </a:r>
          </a:p>
          <a:p xmlns:a="http://schemas.openxmlformats.org/drawingml/2006/main">
            <a:r>
              <a:t>Условия и источники (были в подвале слайда): Пилот · один x86, одинаковые входы · GCC 13 / libstdc++ против Clang 18 / libc++ · N = 2^20 · id для unordered_set — случайные 64-битные</a:t>
            </a:r>
          </a:p>
          <a:p xmlns:a="http://schemas.openxmlformats.org/drawingml/2006/main">
            <a:r>
              <a:t>С экрана убрано: Пилот · один x86, одинаковые входы · GCC 13 / libstdc++ против Clang 18 / libc++ · N = 2^20 · id для unordered_set — случайные 64-битные; sort на равных ключах — 7,8 против 1,2 нс/эл; unordered_set — 1M уникальных; узел unordered_set&lt;uint64_t&gt;: 16 Б против 24 Б; macOS, iOS и Android NDK используют libc++; GCC на Linux — libstdc++; версии, флаги и аллокатор тоже часть связки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Таблица за графиком curve.</a:t>
            </a:r>
          </a:p>
          <a:p xmlns:a="http://schemas.openxmlformats.org/drawingml/2006/main">
            <a:r>
              <a:t>Q&amp;A: «Почему ступенька именно там? Откуда двенадцать и двадцать четыре мегабайта?»</a:t>
            </a:r>
          </a:p>
          <a:p xmlns:a="http://schemas.openxmlformats.org/drawingml/2006/main">
            <a:r>
              <a:t>Ответ: сортировка дорожает плавно — плюс один уровень логарифма на каждое удвоение. Хеш-таблица почти не дорожает до полумиллиона, а между 512K и миллионом — ступенька: 18,7 → 26,3, на четырёх миллионах 55,7. Посчитаем рабочий набор. Узел в libc++ — 24 байта, аллокатор Apple округляет его до 32; заголовка перед блоком нет. Плюс по 8 байт на ячейку, а ячеек после reserve(N) — N, вдвое больше, чем ключей. На полумиллионе входа это около 12 мегабайт — влезает в 16 мегабайт L2. На миллионе — около 24, уже нет. Это арифметика, а не измерение причины: чтобы сказать «промахи», нужны счётчики, и это следующий шаг. Но сортировке этот порог безразличен — её буфер читается подряд.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32·U + 8·N (apple.md §3.3, cpp.md §2.4, errata P0-5): 512K (U = 256K): 8 + 4 = 12 МиБ (12,6 МБ); 1M: 16 + 8 = 24 МиБ (25,2 МБ). «А вход?» — ещё 8·N, на 512K это 4 МиБ. Его читают один раз подряд, префетчер ведёт поток, поэтому считаю таблицу. Но 12 + 4 = 16 — впритык, ещё одна причина говорить «гипотеза».</a:t>
            </a:r>
          </a:p>
          <a:p xmlns:a="http://schemas.openxmlformats.org/drawingml/2006/main">
            <a:r>
              <a:t>— «Почему нет счётчиков?» (qa H1): «Согласен, это гипотеза. Следующий шаг — Instruments → CPU Counters, L1D Cache Miss Sampling».</a:t>
            </a:r>
          </a:p>
          <a:p xmlns:a="http://schemas.openxmlformats.org/drawingml/2006/main">
            <a:r>
              <a:t>— «А TLB?» (qa H2): не исключал; 24 МиБ — около 1 500 страниц по 16 КБ. SLC 24 МБ не называть: sysctl его не отдаёт.</a:t>
            </a:r>
          </a:p>
          <a:p xmlns:a="http://schemas.openxmlformats.org/drawingml/2006/main">
            <a:r>
              <a:t>— «22,6 или 26,3?» (qa M3): разные сессии; хеш на этой точке гуляет на 16%, сортировка — на полпроцента. Здесь сессия А, как на curve.</a:t>
            </a:r>
          </a:p>
          <a:p xmlns:a="http://schemas.openxmlformats.org/drawingml/2006/main">
            <a:r>
              <a:t>— 1,4 раза: 26,3 / 18,7 = 1,41; сортировка 20,1 / 19,6 = +2,6%. На 4M сортировка быстрее в 2,6 раза (55,7 / 21,5).</a:t>
            </a:r>
          </a:p>
          <a:p xmlns:a="http://schemas.openxmlformats.org/drawingml/2006/main">
            <a:r>
              <a:t>Условия и источники (были в подвале слайда): нс на элемент · U = N/2 · M2 Pro, macOS, libc++, userInitiated · id — случайные 64-битные · медиана 4 блоков · сессия А  · unordered_set на 1M между сессиями: 22,6–26,3 нс/эл</a:t>
            </a:r>
          </a:p>
          <a:p xmlns:a="http://schemas.openxmlformats.org/drawingml/2006/main">
            <a:r>
              <a:t>С экрана убрано: сортировка дорожает плавно: +1 уровень log N на каждое удвоение. Рабочий набор ≈ 32·U + 8·N: узел libc++ 24 Б, malloc округляет до 32 Б (квант 16 Б, без заголовка), плюс 8 Б на ячейку, а ячеек после reserve(N) — N. 512K (U = 256K) → ≈12 МиБ — помещается в L2 P-кластера (16 МиБ по sysctl); 1M → ≈24 МиБ — уже нет; ступенька — между этими точками. Это арифметика, а не счётчики промахов: причина не измерена напрямую, счётчики — следующий шаг. Альтернативы: TLB, аллокатор.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его заменил nodes.</a:t>
            </a:r>
          </a:p>
          <a:p xmlns:a="http://schemas.openxmlformats.org/drawingml/2006/main">
            <a:r>
              <a:t>Q&amp;A: «А как именно работает sort + unique? Почему без аллокаций?»</a:t>
            </a:r>
          </a:p>
          <a:p xmlns:a="http://schemas.openxmlformats.org/drawingml/2006/main">
            <a:r>
              <a:t>Ответ: восемь чисел, четыре разных. std::sort — introsort, в libc++ с идеями pdqsort: раскладывает всё на «меньше» и «больше» опорного и повторяет в половинах — логарифм N уровней, на каждом проход по всем N. После сортировки одинаковые стоят рядом — std::unique одним проходом сдвигает уникальные влево, erase отрезает хвост. Ни одной аллокации, один буфер, который читается подряд — как книги на одной полке. Слово «подряд» и есть ответ на весь раунд 1.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Идеи pdqsort и BlockQuickSort пришли в libc++ в LLVM 16; introsort — с LLVM 14. На Apple std::sort для целых исполняется из системной libc++, так что алгоритм выбирает версия ОС (cpp.md §4.1, §4.4). libstdc++ — introsort с медианой трёх.</a:t>
            </a:r>
          </a:p>
          <a:p xmlns:a="http://schemas.openxmlformats.org/drawingml/2006/main">
            <a:r>
              <a:t>— Сравнений на случайных 64-битных при N = 2^20: libc++ — 22,2 на элемент, libstdc++ — 25,6; нижняя граница для сортировки сравнениями — 18,56 (cpp.md §7).</a:t>
            </a:r>
          </a:p>
          <a:p xmlns:a="http://schemas.openxmlformats.org/drawingml/2006/main">
            <a:r>
              <a:t>— «0 аллокаций» — в этой реализации: сортируем свежую копию на месте, unique и erase память не просят.</a:t>
            </a:r>
          </a:p>
          <a:p xmlns:a="http://schemas.openxmlformats.org/drawingml/2006/main">
            <a:r>
              <a:t>С экрана убрано: вход: 8 чисел, из них 4 разных. Сортировка — introsort (в libc++ — с идеями pdqsort): опорный элемент, раскладка «меньше / больше», повтор в половинах; ~log₂N уровней, на каждом проход по всем N. std::sort — одинаковые встали рядом. unique — один проход: сравниваем соседей, повтор пропускаем; на месте, без новой памяти. std::unique сдвигает уникальные влево, erase отрезает хвост. Один плотный буфер, который читается подряд.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его заменил nodes.</a:t>
            </a:r>
          </a:p>
          <a:p xmlns:a="http://schemas.openxmlformats.org/drawingml/2006/main">
            <a:r>
              <a:t>Q&amp;A: «Как устроена узловая хеш-таблица?» или «Деление в libc++ дорогое на ARM — может, хеш проиграл из-за него?»</a:t>
            </a:r>
          </a:p>
          <a:p xmlns:a="http://schemas.openxmlformats.org/drawingml/2006/main">
            <a:r>
              <a:t>Ответ: хеш-функция превращает ключ в номер ячейки — как библиотечный каталог превращает название в номер шкафа. Ключ 42, посчитали хеш, взяли остаток от деления на число ячеек — вот шкаф; на слайде учебный пример с восемью. Деталь для знатоков: «остаток от деления» в реальных библиотеках разный. libstdc++ держит простое число ячеек и честно делит. libc++ после reserve под степень двойки берёт маску — младшие биты ключа. В моих замерах деления нет: дорого не оно, а узлы. Коэффициент заполнения по умолчанию 1.0 — reserve(N) выделяет N ячеек; без reserve таблица растёт и перевешивает все узлы. Два разных ключа в одном шкафу — коллизия; узловая реализация решает её цепочкой: в шкафу записка, где лежит первая книга, а в книге — где следующая. Цепочки в среднем короткие, отсюда «O(1)». Для целых std::hash — тождество. В libc++ после reserve под степень двойки номер ячейки — это просто младшие биты id. Для моих случайных id это идеально. Для плотных rowid ещё лучше — коллизий нет вовсе. А id с нулями в младших битах соберутся в одну цепочку. Проверьте гистограмму цепочек. У flat_hash_set из второго раунда свой перемешивающий хешер, absl::Hash, — ему тождество не грозит. Самое важное: каждый узел — отдельный кусок памяти, отдельный вызов new. Стандарт требует, чтобы ссылки на элементы переживали рост таблицы, и узлы — привычный способ это выполнить.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Деление в libc++ появляется только при росте без reserve (как в дифе) или при N, не равном степени двойки; reserve(1048576) даёт ровно 1 048 576 ячеек и маску h &amp; (N−1) (cpp.md §2.2). libstdc++ делит всегда, даже на каждом шаге цепочки: хеш в узле не хранится (cpp.md §3).</a:t>
            </a:r>
          </a:p>
          <a:p xmlns:a="http://schemas.openxmlformats.org/drawingml/2006/main">
            <a:r>
              <a:t>— Id, кратные 1024, в libc++ после reserve(2^k) заняли 64 ячейки из 65 536, вставка медленнее в 70 раз; кратные 2^20 — в 1 500 раз (cpp.md §6, qa C8).</a:t>
            </a:r>
          </a:p>
          <a:p xmlns:a="http://schemas.openxmlformats.org/drawingml/2006/main">
            <a:r>
              <a:t>— Плотные rowid на x86 при U = N: вся операция в 4,7 раза быстрее случайных id (320 → 68 нс/эл). Готовый ответ: «Серии специально на случайных id, чтобы убрать удачу раскладки. Бенчмарк в репозитории — запустите на своих id».</a:t>
            </a:r>
          </a:p>
          <a:p xmlns:a="http://schemas.openxmlformats.org/drawingml/2006/main">
            <a:r>
              <a:t>Условия и источники (были в подвале слайда): Упрощённая схема узловых реализаций (libstdc++, libc++) · учебный hash и 8 ячеек · max_load_factor 1.0, std::hash для целых — тождество · стандарт требует, чтобы ссылки на элементы переживали rehash</a:t>
            </a:r>
          </a:p>
          <a:p xmlns:a="http://schemas.openxmlformats.org/drawingml/2006/main">
            <a:r>
              <a:t>С экрана убрано: Вставка: посчитать хеш → прийти в ячейку → пройти цепочку → если ключа нет, создать узел. В среднем цепочка короткая, поэтому «O(1) на операцию». Но каждый шаг цепочки — переход по указателю. Номер ячейки: в libstdc++ число ячеек простое — остаток от деления; в libc++ тоже простое, но после reserve(2^k) — степень двойки и маска по младшим битам. Коллизия: 42 и 50 попали в одну ячейку — висят цепочкой (узлы «42 · next», «50 · next»). Каждый узел — отдельный кусок памяти, свой вызов new. Ячейки (бакеты) — массив указателей.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</a:t>
            </a:r>
          </a:p>
          <a:p xmlns:a="http://schemas.openxmlformats.org/drawingml/2006/main">
            <a:r>
              <a:t>Q&amp;A: «Почему reserve(N), а не под U? Вы искусственно раздули flat».</a:t>
            </a:r>
          </a:p>
          <a:p xmlns:a="http://schemas.openxmlformats.org/drawingml/2006/main">
            <a:r>
              <a:t>Ответ: я резервировал под N, потому что N известен, а число уникальных — нет. При одном проценте уникальных это в 64 раза больше памяти и медленнее: 3,6 наносекунды на элемент против 2,9 — больше ёмкость, больше инициализации и обхода. Reserve — тоже решение, не бесплатная галочка, и зависит оно от доли уникальных. Оценить U по выборке — отдельный приём.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18 874 344 / 294 912 ≈ 64,0 по точным байтам; 3,6 / 2,9 = 1,24 — на 24% медленнее.</a:t>
            </a:r>
          </a:p>
          <a:p xmlns:a="http://schemas.openxmlformats.org/drawingml/2006/main"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 xmlns:a="http://schemas.openxmlformats.org/drawingml/2006/main">
            <a:r>
              <a:t>— Отсюда правило на decision: «мало уникальных → плоская хеш-таблица, без reserve под весь вход». При 1% уникальных узловая таблица (3,2 нс/эл) даже быстрее flat с reserve(N) (3,6).</a:t>
            </a:r>
          </a:p>
          <a:p xmlns:a="http://schemas.openxmlformats.org/drawingml/2006/main">
            <a:r>
              <a:t>Условия и источники (были в подвале слайда): flat_hash_set · N = 2^20, U/N = 1% · M2 Pro, macOS · нс на элемент · память — сумма запрошенных байт за операцию, МБ = 10^6 байт · id — случайные 64-битные</a:t>
            </a:r>
          </a:p>
          <a:p xmlns:a="http://schemas.openxmlformats.org/drawingml/2006/main">
            <a:r>
              <a:t>С экрана убрано: резерв под N при 1% уникальных сильно превышает число ключей: в 64 раза больше памяти (по точным байтам) и медленнее.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На review сказано: «полный чек-лист — в backup и в репозитории».</a:t>
            </a:r>
          </a:p>
          <a:p xmlns:a="http://schemas.openxmlformats.org/drawingml/2006/main">
            <a:r>
              <a:t>Q&amp;A: «Как вы проверяли, что замер честный?» или «Где полный чек-лист?»</a:t>
            </a:r>
          </a:p>
          <a:p xmlns:a="http://schemas.openxmlformats.org/drawingml/2006/main">
            <a:r>
              <a:t>Ответ: чек-лист — четыре группы, каждая сегодня уже сработала. Одинаковая задача: контракт до таймера, все участники проходят проверку корректности. Проверенные код и входы: разные массивы, а не один повторённый; свои N и доля уникальных. Повторения и условия: чередование, медиана, разброс, вторая сессия — мы видели, что между сессиями одна и та же точка гуляет на шестнадцать процентов: 22,6 против 26,3. Версия компилятора, библиотеки и ОС в логе — на Apple std::sort для целых живёт в системной libc++. Устройство и режим — модель, QoS, Low Power Mode, заряд, нагрев. И выводы в пределах данных: факт отдельно от гипотезы о причине — «узлы не влезли в L2» до счётчиков остаётся гипотезой.</a:t>
            </a:r>
          </a:p>
          <a:p xmlns:a="http://schemas.openxmlformats.org/drawingml/2006/main">
            <a:r>
              <a:t>Сфотографируйте — повторять не буду. [5 секунд]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Пункт 3 — урок learned: один массив в цикле давал сортировке тысячи id 6,8 нс/эл против 14,4 на 64 разных; на x86 виноват предсказатель, на M2 — что-то адресное, до счётчиков не дошёл.</a:t>
            </a:r>
          </a:p>
          <a:p xmlns:a="http://schemas.openxmlformats.org/drawingml/2006/main">
            <a:r>
              <a:t>— Пункт 5: 26,3 / 22,6 = 1,16 — unordered_set на 1M при U = N/2, сессии А и Б; сортировка между сессиями стабильна (20,1 против 20,2).</a:t>
            </a:r>
          </a:p>
          <a:p xmlns:a="http://schemas.openxmlformats.org/drawingml/2006/main">
            <a:r>
              <a:t>— Пункт 7: модель iPhone — конкретная модель, чип и версия iOS; пока её нет на слайдах, доклад нарушает свой же пункт 7 (qa M1).</a:t>
            </a:r>
          </a:p>
          <a:p xmlns:a="http://schemas.openxmlformats.org/drawingml/2006/main">
            <a:r>
              <a:t>С экрана убрано: полные формулировки пунктов: 1. Контракт записан до запуска таймера. 2. Все участники проходят проверку корректности. 3. Разные входы, а не один повторённый массив. 4. Свои N и доля уникальных, а не «случайные int». 5. Повторы, чередование, медиана и разброс, две сессии. 6. Версия компилятора, библиотеки и ОС в логе. 7. Целевое устройство и его состояние: модель, QoS, Low Power Mode, заряд, нагрев. 8. Факт отдельно от гипотезы о причине.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Backup, вне тайминга. В основном потоке эту мысль несёт формула на memory.</a:t>
            </a:r>
          </a:p>
          <a:p xmlns:a="http://schemas.openxmlformats.org/drawingml/2006/main">
            <a:r>
              <a:t>Q&amp;A: «Из чего складывается работа каждого?»</a:t>
            </a:r>
          </a:p>
          <a:p xmlns:a="http://schemas.openxmlformats.org/drawingml/2006/main">
            <a:r>
              <a:t>Ответ: N — сколько чисел на входе, U — сколько разных. Сортировка — около N·log N сравнений и перестановок в одном плотном буфере, без единой аллокации. Хеш — хеши, обращения к ячейкам и узлам, проверки равенства, U аллокаций и U освобождений, обход при выгрузке. Шагов меньше — но какие это шаги.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Под рукой:</a:t>
            </a:r>
          </a:p>
          <a:p xmlns:a="http://schemas.openxmlformats.org/drawingml/2006/main">
            <a:r>
              <a:t>— Точное число действий хеша зависит от коллизий и дублей.</a:t>
            </a:r>
          </a:p>
          <a:p xmlns:a="http://schemas.openxmlformats.org/drawingml/2006/main">
            <a:r>
              <a:t>— Счётчик аллокаций (allocs): при N = U = 2^20 — 1 048 577 вызовов new, запрошено 33,6 МБ в libc++ и 25,2 МБ в libstdc++; с округлением malloc ≈ 42 МБ. Плюс миллион delete в деструкторе.</a:t>
            </a:r>
          </a:p>
          <a:p xmlns:a="http://schemas.openxmlformats.org/drawingml/2006/main">
            <a:r>
              <a:t>— Фазы на x86 (bench.md E11, U = N): reserve и вставки ≈43%, выгрузка ≈26%, деструктор 28–30%.</a:t>
            </a:r>
          </a:p>
          <a:p xmlns:a="http://schemas.openxmlformats.org/drawingml/2006/main">
            <a:r>
              <a:t>С экрана убрано: хеширование, обращения к ячейкам и узлам, проверки равенства (на экране — «хеш, ячейки, узлы, сравнения»); 0 аллокаций — в этой реализации; log₂(1 000 000) ≈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2:00–2:45. Дедупликация — это те самые три строчки из ревью. Два классических способа. Первый — отсортировать: после сортировки одинаковые id стоят рядом, и один проход их схлопывает. Это O(n log n). Второй — хеш-таблица: складываем id в множество, оно само отбрасывает повторы, потом выгружаем обратно. Это в среднем O(n) — линейно. Логарифм миллиона — около двадцати. На бумаге второй способ делает в двадцать раз меньше шагов. Я тоже сначала выбрал бы хеш-таблицу и закрыл тикет. Давайте проверим интуицию — вашу и мою.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Логарифм миллиона — около 20 (на экране: log₂ 10⁶ ≈ 20). Кажется, выбор очевиден.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7:15–8:15. Big-O отвечает на один вопрос: как растёт число шагов, когда растёт вход. Вдвое больше данных — примерно вдвое больше работы для линейной модели, чуть больше для N log N. Это по-настоящему полезно: Big-O спасает от катастрофы, когда данных станет в тысячу раз больше. Но время — это N, умноженное на число шагов, умноженное на цену шага. Big-O знает только средний множитель. Цена шага — от одной наносекунды за сложение в регистре до ста за поход в оперативную память: два порядка. А логарифм миллиона — двадцать. То есть память может перевесить логарифм в пять раз. Весь доклад — про этот последний множитель. → Переход: «Значит, надо посмотреть, из каких шагов состоит каждый соперник. Начнём с сортировки».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Что говорит O. Верхняя оценка роста работы: N log N растёт чуть быстрее линии, N² — за край задолго до конца. Между O(N) и O(N log N) на миллионе — множитель около 20. Big-O знает только средний множитель. Цена шага — от 1 до 100 нс, два порядка; log₂(10⁶) — множитель 20. Память может перевесить логарифм в пять раз.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28:30–29:15. Вернёмся к вашей руке. Кто начал бы с сортировки — на телефоне в фоне она быстрее этого unordered_set. Кто с хеша — flat_hash_set и данные с повторами на его стороне. А кто попросил условие — был прав с первой минуты. Вот эти условия: какой выход нужен, какие N и доля уникальных, какой именно контейнер, какая система и связка инструментов, первый запуск или длительная нагрузка и с каким приоритетом, и какую долю этапа занимает операция. Мне хотелось бы, чтобы после сегодняшнего фраза «так должно быть быстрее» чаще превращалась в «давайте проверим». → Переход: «И одно действие на понедельник».</a:t>
            </a:r>
          </a:p>
          <a:p xmlns:a="http://schemas.openxmlformats.org/drawingml/2006/main">
            <a:r>
              <a:t>━━━━━━━━━━━━━━━━━━━━━━━━</a:t>
            </a:r>
          </a:p>
          <a:p xmlns:a="http://schemas.openxmlformats.org/drawingml/2006/main">
            <a:r>
              <a:t>Щелчки: нет, всё на экране сразу.</a:t>
            </a:r>
          </a:p>
          <a:p xmlns:a="http://schemas.openxmlformats.org/drawingml/2006/main">
            <a:r>
              <a:t>С экрана убрано: Никита Нагорнов · код, сырые данные и условия замеров — в репозитории · Спасибо! Вопросы? (подпись и QR на репозиторий убраны со слайда).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694133e5b48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9bbc162be4b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101dafba047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fdc62e1c345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c60c304a846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1d5e58b94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24A28-3EFE-466D-8773-A5D956D96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D9D878-66D4-42DC-8757-A1504C75FF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9ABE33-59FA-4A18-AF5F-D88565EA4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E1D4E4-AAD4-4099-B665-1CACEBC3B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F7C636-BFF4-47DC-B505-BD7E363226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6C9A86-52E6-42FD-987F-7F053EC4E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0E7D59-EE95-4977-B9A6-81CD4EAC0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301E1-6F2A-4BD6-A1C8-BBEF5A0666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C95F59-B665-4013-A57E-EF19748E6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AA831D-8C34-431E-B25D-3EF51661A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fa5aaadbd4be6" /><Relationship Type="http://schemas.openxmlformats.org/officeDocument/2006/relationships/slideLayout" Target="/ppt/slideLayouts/slideLayout1.xml" Id="Re8f3deec8a2e4c5c" /><Relationship Type="http://schemas.openxmlformats.org/officeDocument/2006/relationships/slideLayout" Target="/ppt/slideLayouts/slideLayout2.xml" Id="R82d1a39a745b4881" /><Relationship Type="http://schemas.openxmlformats.org/officeDocument/2006/relationships/slideLayout" Target="/ppt/slideLayouts/slideLayout3.xml" Id="R98d654934333476c" /><Relationship Type="http://schemas.openxmlformats.org/officeDocument/2006/relationships/slideLayout" Target="/ppt/slideLayouts/slideLayout4.xml" Id="R4029b0d1971c43e7" /><Relationship Type="http://schemas.openxmlformats.org/officeDocument/2006/relationships/slideLayout" Target="/ppt/slideLayouts/slideLayout5.xml" Id="R7cecebc2eed14201" /><Relationship Type="http://schemas.openxmlformats.org/officeDocument/2006/relationships/slideLayout" Target="/ppt/slideLayouts/slideLayout6.xml" Id="Rfe25f9fc5a0a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f3deec8a2e4c5c"/>
    <p:sldLayoutId xmlns:r="http://schemas.openxmlformats.org/officeDocument/2006/relationships" id="2147483650" r:id="R82d1a39a745b4881"/>
    <p:sldLayoutId xmlns:r="http://schemas.openxmlformats.org/officeDocument/2006/relationships" id="2147483651" r:id="R98d654934333476c"/>
    <p:sldLayoutId xmlns:r="http://schemas.openxmlformats.org/officeDocument/2006/relationships" id="2147483652" r:id="R4029b0d1971c43e7"/>
    <p:sldLayoutId xmlns:r="http://schemas.openxmlformats.org/officeDocument/2006/relationships" id="2147483653" r:id="R7cecebc2eed14201"/>
    <p:sldLayoutId xmlns:r="http://schemas.openxmlformats.org/officeDocument/2006/relationships" id="2147483654" r:id="Rfe25f9fc5a0a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224e46d503458f"/><Relationship Type="http://schemas.openxmlformats.org/officeDocument/2006/relationships/image" Target="/ppt/media/image.png" Id="R997f4c29cda1478a"/><Relationship Type="http://schemas.openxmlformats.org/officeDocument/2006/relationships/image" Target="/ppt/media/image2.png" Id="Rd00ffb081d534f07"/><Relationship Type="http://schemas.openxmlformats.org/officeDocument/2006/relationships/notesSlide" Target="/ppt/notesSlides/notesSlide1.xml" Id="R9715524468704114"/><Relationship Id="rIdHFvideo1" Type="http://schemas.openxmlformats.org/officeDocument/2006/relationships/video" Target="../media/hf-animation-1.mp4"/><Relationship Id="rIdHFmedia1" Type="http://schemas.microsoft.com/office/2007/relationships/media" Target="../media/hf-animation-1.mp4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2d921a923f45e8"/><Relationship Type="http://schemas.openxmlformats.org/officeDocument/2006/relationships/image" Target="/ppt/media/image3.png" Id="Rd9ed33d6a3564679"/><Relationship Type="http://schemas.openxmlformats.org/officeDocument/2006/relationships/image" Target="/ppt/media/image4.png" Id="R26d46ec4d9d74ffc"/><Relationship Type="http://schemas.openxmlformats.org/officeDocument/2006/relationships/notesSlide" Target="/ppt/notesSlides/notesSlide2.xml" Id="Rcba3fff9f6d54043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e647a389d734b13"/><Relationship Type="http://schemas.openxmlformats.org/officeDocument/2006/relationships/image" Target="/ppt/media/image5.png" Id="R953382eebfc14c76"/><Relationship Type="http://schemas.openxmlformats.org/officeDocument/2006/relationships/notesSlide" Target="/ppt/notesSlides/notesSlide3.xml" Id="R49d4d7469a7a448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aac2d39a534f6e"/><Relationship Type="http://schemas.openxmlformats.org/officeDocument/2006/relationships/image" Target="/ppt/media/image6.png" Id="R7d1c9bcec0d04026"/><Relationship Type="http://schemas.openxmlformats.org/officeDocument/2006/relationships/notesSlide" Target="/ppt/notesSlides/notesSlide4.xml" Id="Re08b4e73362247a4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6e942d9564b28"/><Relationship Type="http://schemas.openxmlformats.org/officeDocument/2006/relationships/image" Target="/ppt/media/image7.png" Id="R988afd513864442d"/><Relationship Type="http://schemas.openxmlformats.org/officeDocument/2006/relationships/image" Target="/ppt/media/image8.png" Id="R3b93b9b5bd424dbc"/><Relationship Type="http://schemas.openxmlformats.org/officeDocument/2006/relationships/notesSlide" Target="/ppt/notesSlides/notesSlide5.xml" Id="Rdf17d3fa75a84697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df202e34864269"/><Relationship Type="http://schemas.openxmlformats.org/officeDocument/2006/relationships/image" Target="/ppt/media/image9.png" Id="Rc9e411965a9f486d"/><Relationship Type="http://schemas.openxmlformats.org/officeDocument/2006/relationships/notesSlide" Target="/ppt/notesSlides/notesSlide6.xml" Id="R80a8676c6dee4e9c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fc920737e3426a"/><Relationship Type="http://schemas.openxmlformats.org/officeDocument/2006/relationships/image" Target="/ppt/media/image10.png" Id="R47f270d5b8d24b75"/><Relationship Type="http://schemas.openxmlformats.org/officeDocument/2006/relationships/notesSlide" Target="/ppt/notesSlides/notesSlide7.xml" Id="R7b771b8a68f4429c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8947e023464c94"/><Relationship Type="http://schemas.openxmlformats.org/officeDocument/2006/relationships/image" Target="/ppt/media/image11.png" Id="R5e738e1fa80c4d2d"/><Relationship Type="http://schemas.openxmlformats.org/officeDocument/2006/relationships/notesSlide" Target="/ppt/notesSlides/notesSlide8.xml" Id="Rabd54c2cd0ad44f8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1041391318d45d7"/><Relationship Type="http://schemas.openxmlformats.org/officeDocument/2006/relationships/image" Target="/ppt/media/image12.png" Id="Rd8476286f7f64646"/><Relationship Type="http://schemas.openxmlformats.org/officeDocument/2006/relationships/notesSlide" Target="/ppt/notesSlides/notesSlide9.xml" Id="R90688b58f9bd41f8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9f84619884423f"/><Relationship Type="http://schemas.openxmlformats.org/officeDocument/2006/relationships/image" Target="/ppt/media/image13.png" Id="R7c61489337994b26"/><Relationship Type="http://schemas.openxmlformats.org/officeDocument/2006/relationships/image" Target="/ppt/media/image14.png" Id="R63504220201d43f3"/><Relationship Type="http://schemas.openxmlformats.org/officeDocument/2006/relationships/notesSlide" Target="/ppt/notesSlides/notesSlide10.xml" Id="Rae38e3fa74614733"/><Relationship Id="rIdHFvideo2" Type="http://schemas.openxmlformats.org/officeDocument/2006/relationships/video" Target="../media/hf-animation-2.mp4"/><Relationship Id="rIdHFmedia2" Type="http://schemas.microsoft.com/office/2007/relationships/media" Target="../media/hf-animation-2.mp4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b6f9c9883340cf"/><Relationship Type="http://schemas.openxmlformats.org/officeDocument/2006/relationships/image" Target="/ppt/media/image15.png" Id="R7d3f1c50ee0d4e06"/><Relationship Type="http://schemas.openxmlformats.org/officeDocument/2006/relationships/image" Target="/ppt/media/image16.png" Id="Rf5b77a3bafb54c79"/><Relationship Type="http://schemas.openxmlformats.org/officeDocument/2006/relationships/notesSlide" Target="/ppt/notesSlides/notesSlide11.xml" Id="Rceb231cbbd9f4fb2"/><Relationship Id="rIdHFvideo3" Type="http://schemas.openxmlformats.org/officeDocument/2006/relationships/video" Target="../media/hf-animation-3.mp4"/><Relationship Id="rIdHFmedia3" Type="http://schemas.microsoft.com/office/2007/relationships/media" Target="../media/hf-animation-3.mp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88fa31b16d4ffa"/><Relationship Type="http://schemas.openxmlformats.org/officeDocument/2006/relationships/image" Target="/ppt/media/image17.png" Id="Rc93f6389a32f432c"/><Relationship Type="http://schemas.openxmlformats.org/officeDocument/2006/relationships/image" Target="/ppt/media/image18.png" Id="Raadbeebf90a24d2d"/><Relationship Type="http://schemas.openxmlformats.org/officeDocument/2006/relationships/image" Target="/ppt/media/image19.png" Id="R76928162a6264f14"/><Relationship Type="http://schemas.openxmlformats.org/officeDocument/2006/relationships/image" Target="/ppt/media/image20.png" Id="R6cbda67e37cd4636"/><Relationship Type="http://schemas.openxmlformats.org/officeDocument/2006/relationships/notesSlide" Target="/ppt/notesSlides/notesSlide12.xml" Id="Rba504c43c9714184"/><Relationship Id="rIdHFvideo4" Type="http://schemas.openxmlformats.org/officeDocument/2006/relationships/video" Target="../media/hf-animation-4.mp4"/><Relationship Id="rIdHFmedia4" Type="http://schemas.microsoft.com/office/2007/relationships/media" Target="../media/hf-animation-4.mp4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980a41383a4978"/><Relationship Type="http://schemas.openxmlformats.org/officeDocument/2006/relationships/image" Target="/ppt/media/image21.png" Id="Rc43ada1afae440eb"/><Relationship Type="http://schemas.openxmlformats.org/officeDocument/2006/relationships/notesSlide" Target="/ppt/notesSlides/notesSlide13.xml" Id="Rf5ac7d4eb21649f6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bca3d6141fe43c2"/><Relationship Type="http://schemas.openxmlformats.org/officeDocument/2006/relationships/image" Target="/ppt/media/image22.png" Id="R44b7f2fa10ee4a98"/><Relationship Type="http://schemas.openxmlformats.org/officeDocument/2006/relationships/notesSlide" Target="/ppt/notesSlides/notesSlide14.xml" Id="R6ba5b7c5b60d4024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861d572b334b84"/><Relationship Type="http://schemas.openxmlformats.org/officeDocument/2006/relationships/image" Target="/ppt/media/image23.png" Id="R6527d86b2fbb4e5f"/><Relationship Type="http://schemas.openxmlformats.org/officeDocument/2006/relationships/notesSlide" Target="/ppt/notesSlides/notesSlide15.xml" Id="Rd37c390767b8423c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66cfd8fef74465"/><Relationship Type="http://schemas.openxmlformats.org/officeDocument/2006/relationships/image" Target="/ppt/media/image24.png" Id="R3c796a2149bb40e0"/><Relationship Type="http://schemas.openxmlformats.org/officeDocument/2006/relationships/notesSlide" Target="/ppt/notesSlides/notesSlide16.xml" Id="R5e34e21c2bcc49df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1e97322b2744d1"/><Relationship Type="http://schemas.openxmlformats.org/officeDocument/2006/relationships/image" Target="/ppt/media/image25.png" Id="R892a6901d4c5404a"/><Relationship Type="http://schemas.openxmlformats.org/officeDocument/2006/relationships/notesSlide" Target="/ppt/notesSlides/notesSlide17.xml" Id="R39045ea53a9c42db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6283b9a4c24623"/><Relationship Type="http://schemas.openxmlformats.org/officeDocument/2006/relationships/image" Target="/ppt/media/image26.png" Id="R37f569ea6c904464"/><Relationship Type="http://schemas.openxmlformats.org/officeDocument/2006/relationships/image" Target="/ppt/media/image27.png" Id="Rc35c1113013c4526"/><Relationship Type="http://schemas.openxmlformats.org/officeDocument/2006/relationships/notesSlide" Target="/ppt/notesSlides/notesSlide18.xml" Id="R026ed79ebe3240e2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dd2424f74254e0f"/><Relationship Type="http://schemas.openxmlformats.org/officeDocument/2006/relationships/image" Target="/ppt/media/image28.png" Id="Rf737a151f3404dd2"/><Relationship Type="http://schemas.openxmlformats.org/officeDocument/2006/relationships/notesSlide" Target="/ppt/notesSlides/notesSlide19.xml" Id="Rbf33aa2bfd36411f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3eff94dad64905"/><Relationship Type="http://schemas.openxmlformats.org/officeDocument/2006/relationships/image" Target="/ppt/media/image29.png" Id="Reb7e16f298864d86"/><Relationship Type="http://schemas.openxmlformats.org/officeDocument/2006/relationships/notesSlide" Target="/ppt/notesSlides/notesSlide20.xml" Id="Rdb3d3be15d7744c9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123b94993f447dc"/><Relationship Type="http://schemas.openxmlformats.org/officeDocument/2006/relationships/image" Target="/ppt/media/image30.png" Id="Rbbd3e16e9ec24a72"/><Relationship Type="http://schemas.openxmlformats.org/officeDocument/2006/relationships/image" Target="/ppt/media/image31.png" Id="R9aa690f1396943d5"/><Relationship Type="http://schemas.openxmlformats.org/officeDocument/2006/relationships/notesSlide" Target="/ppt/notesSlides/notesSlide21.xml" Id="R388643185e9c4c51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4c0b85479a4344"/><Relationship Type="http://schemas.openxmlformats.org/officeDocument/2006/relationships/image" Target="/ppt/media/image32.png" Id="R698b8935cbb7424c"/><Relationship Type="http://schemas.openxmlformats.org/officeDocument/2006/relationships/notesSlide" Target="/ppt/notesSlides/notesSlide22.xml" Id="R412a982d6aae4e79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0e5c08d33f4b77"/><Relationship Type="http://schemas.openxmlformats.org/officeDocument/2006/relationships/image" Target="/ppt/media/image33.png" Id="Rd66d96c3b7fe48eb"/><Relationship Type="http://schemas.openxmlformats.org/officeDocument/2006/relationships/notesSlide" Target="/ppt/notesSlides/notesSlide23.xml" Id="Re2b514c70f78424c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21e65b8754e4cd7"/><Relationship Type="http://schemas.openxmlformats.org/officeDocument/2006/relationships/image" Target="/ppt/media/image34.png" Id="R9259fed7cd8f43f1"/><Relationship Type="http://schemas.openxmlformats.org/officeDocument/2006/relationships/notesSlide" Target="/ppt/notesSlides/notesSlide24.xml" Id="Rfd79b75bfb274970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0ce662035e4c93"/><Relationship Type="http://schemas.openxmlformats.org/officeDocument/2006/relationships/image" Target="/ppt/media/image35.png" Id="R93fdcb0202204d3a"/><Relationship Type="http://schemas.openxmlformats.org/officeDocument/2006/relationships/notesSlide" Target="/ppt/notesSlides/notesSlide25.xml" Id="R01bbc57a32774a86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cffa2d0a86427e"/><Relationship Type="http://schemas.openxmlformats.org/officeDocument/2006/relationships/image" Target="/ppt/media/image36.png" Id="R41a5b0f487b04fe5"/><Relationship Type="http://schemas.openxmlformats.org/officeDocument/2006/relationships/notesSlide" Target="/ppt/notesSlides/notesSlide26.xml" Id="R6c950ac6b50549a5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5d414e4259c40e1"/><Relationship Type="http://schemas.openxmlformats.org/officeDocument/2006/relationships/image" Target="/ppt/media/image37.png" Id="R635c41f6951c4378"/><Relationship Type="http://schemas.openxmlformats.org/officeDocument/2006/relationships/notesSlide" Target="/ppt/notesSlides/notesSlide27.xml" Id="R39a2a6b4a1794fe8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677763f86f48b6"/><Relationship Type="http://schemas.openxmlformats.org/officeDocument/2006/relationships/image" Target="/ppt/media/image38.png" Id="R87ce31d460ba4709"/><Relationship Type="http://schemas.openxmlformats.org/officeDocument/2006/relationships/image" Target="/ppt/media/image39.png" Id="R0bd47e3cdfed4658"/><Relationship Type="http://schemas.openxmlformats.org/officeDocument/2006/relationships/notesSlide" Target="/ppt/notesSlides/notesSlide28.xml" Id="R301fcfb38c494179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8fca065c3d4e65"/><Relationship Type="http://schemas.openxmlformats.org/officeDocument/2006/relationships/image" Target="/ppt/media/image40.png" Id="Rb1a48178c7624fba"/><Relationship Type="http://schemas.openxmlformats.org/officeDocument/2006/relationships/image" Target="/ppt/media/image41.png" Id="R42e10eac658147a0"/><Relationship Type="http://schemas.openxmlformats.org/officeDocument/2006/relationships/notesSlide" Target="/ppt/notesSlides/notesSlide29.xml" Id="Rfd5d0adcd8004864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0094d60f1e474b"/><Relationship Type="http://schemas.openxmlformats.org/officeDocument/2006/relationships/image" Target="/ppt/media/image42.png" Id="R94b433925e4e4cf2"/><Relationship Type="http://schemas.openxmlformats.org/officeDocument/2006/relationships/notesSlide" Target="/ppt/notesSlides/notesSlide30.xml" Id="R8efe94df2ae44be3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c2a7f8294774791"/><Relationship Type="http://schemas.openxmlformats.org/officeDocument/2006/relationships/image" Target="/ppt/media/image43.png" Id="R56d8654af4af48e5"/><Relationship Type="http://schemas.openxmlformats.org/officeDocument/2006/relationships/notesSlide" Target="/ppt/notesSlides/notesSlide31.xml" Id="R3917d6a373b94269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496da539314ac1"/><Relationship Type="http://schemas.openxmlformats.org/officeDocument/2006/relationships/image" Target="/ppt/media/image44.png" Id="R1042556a1d0a4a42"/><Relationship Type="http://schemas.openxmlformats.org/officeDocument/2006/relationships/notesSlide" Target="/ppt/notesSlides/notesSlide32.xml" Id="R165ccfc1ec184f36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1efd8d0cd04d6d"/><Relationship Type="http://schemas.openxmlformats.org/officeDocument/2006/relationships/image" Target="/ppt/media/image45.png" Id="Rbd28669f61b34ddd"/><Relationship Type="http://schemas.openxmlformats.org/officeDocument/2006/relationships/notesSlide" Target="/ppt/notesSlides/notesSlide33.xml" Id="Rf3e93a9065874049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ab4666e9a6488c"/><Relationship Type="http://schemas.openxmlformats.org/officeDocument/2006/relationships/image" Target="/ppt/media/image46.png" Id="R8b8f00237d064b1c"/><Relationship Type="http://schemas.openxmlformats.org/officeDocument/2006/relationships/notesSlide" Target="/ppt/notesSlides/notesSlide34.xml" Id="R1a7222c6f52443dc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f50fe261cc4193"/><Relationship Type="http://schemas.openxmlformats.org/officeDocument/2006/relationships/image" Target="/ppt/media/image47.png" Id="R3ad65fdced574fa6"/><Relationship Type="http://schemas.openxmlformats.org/officeDocument/2006/relationships/notesSlide" Target="/ppt/notesSlides/notesSlide35.xml" Id="Rf8e8664e73f54950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fcd7b1c3b34df2"/><Relationship Type="http://schemas.openxmlformats.org/officeDocument/2006/relationships/image" Target="/ppt/media/image48.png" Id="R986c0dfac0d04335"/><Relationship Type="http://schemas.openxmlformats.org/officeDocument/2006/relationships/notesSlide" Target="/ppt/notesSlides/notesSlide36.xml" Id="Ra918f5ff17804e28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1b8681cd3b04ba6"/><Relationship Type="http://schemas.openxmlformats.org/officeDocument/2006/relationships/image" Target="/ppt/media/image49.png" Id="R2663c595d0ad4c52"/><Relationship Type="http://schemas.openxmlformats.org/officeDocument/2006/relationships/notesSlide" Target="/ppt/notesSlides/notesSlide37.xml" Id="Rc0c5eee49b8d4210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b99d97017f4ca9"/><Relationship Type="http://schemas.openxmlformats.org/officeDocument/2006/relationships/image" Target="/ppt/media/image50.png" Id="Re316df29779346e6"/><Relationship Type="http://schemas.openxmlformats.org/officeDocument/2006/relationships/notesSlide" Target="/ppt/notesSlides/notesSlide38.xml" Id="R7f21b193784c45cf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45a062734b4965"/><Relationship Type="http://schemas.openxmlformats.org/officeDocument/2006/relationships/image" Target="/ppt/media/image51.png" Id="R679110326b474a95"/><Relationship Type="http://schemas.openxmlformats.org/officeDocument/2006/relationships/notesSlide" Target="/ppt/notesSlides/notesSlide39.xml" Id="R93ddbd4c3fd94a25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9c187812c04349"/><Relationship Type="http://schemas.openxmlformats.org/officeDocument/2006/relationships/image" Target="/ppt/media/image52.png" Id="R43c130c98e134b8e"/><Relationship Type="http://schemas.openxmlformats.org/officeDocument/2006/relationships/notesSlide" Target="/ppt/notesSlides/notesSlide40.xml" Id="Rf7501d8c753446e8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4c8a0f79714444"/><Relationship Type="http://schemas.openxmlformats.org/officeDocument/2006/relationships/image" Target="/ppt/media/image53.png" Id="R53a865743dc04f97"/><Relationship Type="http://schemas.openxmlformats.org/officeDocument/2006/relationships/notesSlide" Target="/ppt/notesSlides/notesSlide41.xml" Id="R59ba87b6f7cd44d6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bac8a80ff34a82"/><Relationship Type="http://schemas.openxmlformats.org/officeDocument/2006/relationships/image" Target="/ppt/media/image54.png" Id="R8ad319ff12654205"/><Relationship Type="http://schemas.openxmlformats.org/officeDocument/2006/relationships/notesSlide" Target="/ppt/notesSlides/notesSlide42.xml" Id="Rf60420149b364551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4779e13eda4691"/><Relationship Type="http://schemas.openxmlformats.org/officeDocument/2006/relationships/image" Target="/ppt/media/image55.png" Id="R4dda731ca65c47d5"/><Relationship Type="http://schemas.openxmlformats.org/officeDocument/2006/relationships/notesSlide" Target="/ppt/notesSlides/notesSlide43.xml" Id="R47582fbf8fb44a9b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37aac798964d71"/><Relationship Type="http://schemas.openxmlformats.org/officeDocument/2006/relationships/image" Target="/ppt/media/image56.png" Id="Re45e172f87db4738"/><Relationship Type="http://schemas.openxmlformats.org/officeDocument/2006/relationships/notesSlide" Target="/ppt/notesSlides/notesSlide44.xml" Id="R5128606cd9e842a5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99f44e940a4b23"/><Relationship Type="http://schemas.openxmlformats.org/officeDocument/2006/relationships/image" Target="/ppt/media/image57.png" Id="R06aaea7fa3f24978"/><Relationship Type="http://schemas.openxmlformats.org/officeDocument/2006/relationships/notesSlide" Target="/ppt/notesSlides/notesSlide45.xml" Id="Rba9d71d8cb8345f3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ad7a78c0684570"/><Relationship Type="http://schemas.openxmlformats.org/officeDocument/2006/relationships/image" Target="/ppt/media/image58.png" Id="R6ce05ced1d99471c"/><Relationship Type="http://schemas.openxmlformats.org/officeDocument/2006/relationships/notesSlide" Target="/ppt/notesSlides/notesSlide46.xml" Id="Rb9409604dc764eba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0e0c9ec5fb429c"/><Relationship Type="http://schemas.openxmlformats.org/officeDocument/2006/relationships/image" Target="/ppt/media/image59.png" Id="R53c07fcc367343dd"/><Relationship Type="http://schemas.openxmlformats.org/officeDocument/2006/relationships/notesSlide" Target="/ppt/notesSlides/notesSlide47.xml" Id="R173b4f21994c456c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52a2b0ac9c41fc"/><Relationship Type="http://schemas.openxmlformats.org/officeDocument/2006/relationships/image" Target="/ppt/media/image60.png" Id="R74321994e49d4997"/><Relationship Type="http://schemas.openxmlformats.org/officeDocument/2006/relationships/notesSlide" Target="/ppt/notesSlides/notesSlide48.xml" Id="R49d4c70026ff4ecc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db253638674c98"/><Relationship Type="http://schemas.openxmlformats.org/officeDocument/2006/relationships/image" Target="/ppt/media/image61.png" Id="R6a2198e4fadf47c7"/><Relationship Type="http://schemas.openxmlformats.org/officeDocument/2006/relationships/notesSlide" Target="/ppt/notesSlides/notesSlide49.xml" Id="R5429a1174ac946af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7a9c30661d4aca"/><Relationship Type="http://schemas.openxmlformats.org/officeDocument/2006/relationships/image" Target="/ppt/media/image62.png" Id="Ra04078e5e22f47d4"/><Relationship Type="http://schemas.openxmlformats.org/officeDocument/2006/relationships/notesSlide" Target="/ppt/notesSlides/notesSlide50.xml" Id="Rf1f0db22ce534d2d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b73a9d40bd4778"/><Relationship Type="http://schemas.openxmlformats.org/officeDocument/2006/relationships/image" Target="/ppt/media/image63.png" Id="R74d301a09fd2411a"/><Relationship Type="http://schemas.openxmlformats.org/officeDocument/2006/relationships/notesSlide" Target="/ppt/notesSlides/notesSlide51.xml" Id="Rcee55aae9fec48af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1c2411e173410b"/><Relationship Type="http://schemas.openxmlformats.org/officeDocument/2006/relationships/image" Target="/ppt/media/image64.png" Id="R303f24d98083437f"/><Relationship Type="http://schemas.openxmlformats.org/officeDocument/2006/relationships/notesSlide" Target="/ppt/notesSlides/notesSlide52.xml" Id="Rdd8a29641d2040f8"/></Relationships>
</file>

<file path=ppt/slides/slide1.xml><?xml version="1.0" encoding="utf-8"?>
<p:sld xmlns:p="http://schemas.openxmlformats.org/presentationml/2006/main">
  <p:cSld name="cov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">
            <a:extLst xmlns:a="http://schemas.openxmlformats.org/drawingml/2006/main">
              <a:ext uri="{FF2B5EF4-FFF2-40B4-BE49-F238E27FC236}">
                <a16:creationId xmlns:a16="http://schemas.microsoft.com/office/drawing/2014/main" id="{74EBB49C-F98E-4AD1-8622-EB7CF61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9564"/>
            <a:ext cx="32941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99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HardFest 2026 · трек «Разработка»</a:t>
            </a:r>
          </a:p>
        </p:txBody>
      </p:sp>
      <p:sp>
        <p:nvSpPr>
          <p:cNvPr id="3" name="hf-2">
            <a:extLst xmlns:a="http://schemas.openxmlformats.org/drawingml/2006/main">
              <a:ext uri="{FF2B5EF4-FFF2-40B4-BE49-F238E27FC236}">
                <a16:creationId xmlns:a16="http://schemas.microsoft.com/office/drawing/2014/main" id="{21E9EED1-5099-4C97-852A-15A655F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20666"/>
            <a:ext cx="419501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75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O(n) ПРОИГРАЛ</a:t>
            </a:r>
          </a:p>
        </p:txBody>
      </p:sp>
      <p:sp>
        <p:nvSpPr>
          <p:cNvPr id="4" name="hf-3">
            <a:extLst xmlns:a="http://schemas.openxmlformats.org/drawingml/2006/main">
              <a:ext uri="{FF2B5EF4-FFF2-40B4-BE49-F238E27FC236}">
                <a16:creationId xmlns:a16="http://schemas.microsoft.com/office/drawing/2014/main" id="{7077DA9C-1368-4B9F-8590-30EE3C8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63591"/>
            <a:ext cx="255418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75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O(n log n)</a:t>
            </a:r>
          </a:p>
        </p:txBody>
      </p:sp>
      <p:sp>
        <p:nvSpPr>
          <p:cNvPr id="5" name="hf-4">
            <a:extLst xmlns:a="http://schemas.openxmlformats.org/drawingml/2006/main">
              <a:ext uri="{FF2B5EF4-FFF2-40B4-BE49-F238E27FC236}">
                <a16:creationId xmlns:a16="http://schemas.microsoft.com/office/drawing/2014/main" id="{A52095B1-0224-4FB5-8CE8-F9D51DD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96845"/>
            <a:ext cx="323790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Ваш алгоритм не выбирал</a:t>
            </a:r>
          </a:p>
        </p:txBody>
      </p:sp>
      <p:sp>
        <p:nvSpPr>
          <p:cNvPr id="6" name="hf-5">
            <a:extLst xmlns:a="http://schemas.openxmlformats.org/drawingml/2006/main">
              <a:ext uri="{FF2B5EF4-FFF2-40B4-BE49-F238E27FC236}">
                <a16:creationId xmlns:a16="http://schemas.microsoft.com/office/drawing/2014/main" id="{9FE97786-C1AD-4968-848F-133654F8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92120"/>
            <a:ext cx="394617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25"/>
              </a:lnSpc>
              <a:buNone/>
            </a:pPr>
            <a:r>
              <a:rPr sz="1800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процессор, на котором работает</a:t>
            </a:r>
          </a:p>
        </p:txBody>
      </p:sp>
      <p:sp>
        <p:nvSpPr>
          <p:cNvPr id="7" name="hf-6">
            <a:extLst xmlns:a="http://schemas.openxmlformats.org/drawingml/2006/main">
              <a:ext uri="{FF2B5EF4-FFF2-40B4-BE49-F238E27FC236}">
                <a16:creationId xmlns:a16="http://schemas.microsoft.com/office/drawing/2014/main" id="{D60FE4B0-2DEC-4658-80B6-B9040AA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75354"/>
            <a:ext cx="18731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Никита Нагорнов</a:t>
            </a:r>
          </a:p>
        </p:txBody>
      </p:sp>
      <p:pic>
        <p:nvPicPr>
          <p:cNvPr id="10" name="hf-7-poster">
            <a:extLst xmlns:a="http://schemas.openxmlformats.org/drawingml/2006/main">
              <a:ext uri="{FF2B5EF4-FFF2-40B4-BE49-F238E27FC236}">
                <a16:creationId xmlns:a16="http://schemas.microsoft.com/office/drawing/2014/main" id="{91B37FEF-9664-4A53-9832-EE7866600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f4c29cda147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49371" y="1524000"/>
            <a:ext cx="3541059" cy="3009900"/>
          </a:xfrm>
          <a:prstGeom xmlns:a="http://schemas.openxmlformats.org/drawingml/2006/main" prst="rect">
            <a:avLst/>
          </a:prstGeom>
        </p:spPr>
      </p:pic>
      <p:pic>
        <p:nvPicPr>
          <p:cNvPr id="8" name="hf-7">
            <a:extLst xmlns:a="http://schemas.openxmlformats.org/drawingml/2006/main">
              <a:ext uri="{FF2B5EF4-FFF2-40B4-BE49-F238E27FC236}">
                <a16:creationId xmlns:a16="http://schemas.microsoft.com/office/drawing/2014/main" id="{91B37FEF-9664-4A53-9832-EE78666002B2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1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1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997f4c29cda147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49371" y="1524000"/>
            <a:ext cx="3541059" cy="3009900"/>
          </a:xfrm>
          <a:prstGeom xmlns:a="http://schemas.openxmlformats.org/drawingml/2006/main" prst="rect">
            <a:avLst/>
          </a:prstGeom>
        </p:spPr>
      </p:pic>
      <p:pic>
        <p:nvPicPr>
          <p:cNvPr id="9" name="hf-8">
            <a:extLst xmlns:a="http://schemas.openxmlformats.org/drawingml/2006/main">
              <a:ext uri="{FF2B5EF4-FFF2-40B4-BE49-F238E27FC236}">
                <a16:creationId xmlns:a16="http://schemas.microsoft.com/office/drawing/2014/main" id="{D434E2BF-6401-4500-8B6A-D6F553D7D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ffb081d534f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38950" y="606893"/>
            <a:ext cx="1809750" cy="6197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5692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>
  <p:cSld name="abou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hf-9">
            <a:extLst xmlns:a="http://schemas.openxmlformats.org/drawingml/2006/main">
              <a:ext uri="{FF2B5EF4-FFF2-40B4-BE49-F238E27FC236}">
                <a16:creationId xmlns:a16="http://schemas.microsoft.com/office/drawing/2014/main" id="{BC74B3A7-F00A-4E2C-A98D-8D0924A2E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d33d6a3564679"/>
          <a:srcRect xmlns:a="http://schemas.openxmlformats.org/drawingml/2006/main" l="0" t="4718" r="0" b="4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3" y="1381125"/>
            <a:ext cx="3095625" cy="3095625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3" name="hf-10">
            <a:extLst xmlns:a="http://schemas.openxmlformats.org/drawingml/2006/main">
              <a:ext uri="{FF2B5EF4-FFF2-40B4-BE49-F238E27FC236}">
                <a16:creationId xmlns:a16="http://schemas.microsoft.com/office/drawing/2014/main" id="{D66F6AB4-4473-4A36-9D07-FC2FD46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1154"/>
            <a:ext cx="226196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НИКИТА</a:t>
            </a:r>
          </a:p>
        </p:txBody>
      </p:sp>
      <p:sp>
        <p:nvSpPr>
          <p:cNvPr id="4" name="hf-11">
            <a:extLst xmlns:a="http://schemas.openxmlformats.org/drawingml/2006/main">
              <a:ext uri="{FF2B5EF4-FFF2-40B4-BE49-F238E27FC236}">
                <a16:creationId xmlns:a16="http://schemas.microsoft.com/office/drawing/2014/main" id="{04E8619B-DC47-492B-9017-DCD4147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63604"/>
            <a:ext cx="298080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37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НАГОРНОВ</a:t>
            </a:r>
          </a:p>
        </p:txBody>
      </p:sp>
      <p:sp>
        <p:nvSpPr>
          <p:cNvPr id="5" name="hf-12">
            <a:extLst xmlns:a="http://schemas.openxmlformats.org/drawingml/2006/main">
              <a:ext uri="{FF2B5EF4-FFF2-40B4-BE49-F238E27FC236}">
                <a16:creationId xmlns:a16="http://schemas.microsoft.com/office/drawing/2014/main" id="{FC205BD6-E95A-4948-9D41-606D88D8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054020"/>
            <a:ext cx="254324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iOS · «Исходный код»</a:t>
            </a:r>
          </a:p>
        </p:txBody>
      </p:sp>
      <p:sp>
        <p:nvSpPr>
          <p:cNvPr id="6" name="hf-13">
            <a:extLst xmlns:a="http://schemas.openxmlformats.org/drawingml/2006/main">
              <a:ext uri="{FF2B5EF4-FFF2-40B4-BE49-F238E27FC236}">
                <a16:creationId xmlns:a16="http://schemas.microsoft.com/office/drawing/2014/main" id="{AAEECF36-9C60-4E41-9CD9-8C3D1BA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765804"/>
            <a:ext cx="36027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Алгоритмы. Компиляторы. Айфоны.</a:t>
            </a:r>
          </a:p>
        </p:txBody>
      </p:sp>
      <p:pic>
        <p:nvPicPr>
          <p:cNvPr id="7" name="hf-14">
            <a:extLst xmlns:a="http://schemas.openxmlformats.org/drawingml/2006/main">
              <a:ext uri="{FF2B5EF4-FFF2-40B4-BE49-F238E27FC236}">
                <a16:creationId xmlns:a16="http://schemas.microsoft.com/office/drawing/2014/main" id="{9DA3B8A1-2BF8-4A6F-8EFC-CE7CF3E11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46ec4d9d74ff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8" name="hf-15">
            <a:extLst xmlns:a="http://schemas.openxmlformats.org/drawingml/2006/main">
              <a:ext uri="{FF2B5EF4-FFF2-40B4-BE49-F238E27FC236}">
                <a16:creationId xmlns:a16="http://schemas.microsoft.com/office/drawing/2014/main" id="{DBE5E3BB-33F9-4684-80B9-1E1E7FAC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938399"/>
      </p:ext>
    </p:extLst>
  </p:cSld>
</p:sld>
</file>

<file path=ppt/slides/slide3.xml><?xml version="1.0" encoding="utf-8"?>
<p:sld xmlns:p="http://schemas.openxmlformats.org/presentationml/2006/main">
  <p:cSld name="audienc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6">
            <a:extLst xmlns:a="http://schemas.openxmlformats.org/drawingml/2006/main">
              <a:ext uri="{FF2B5EF4-FFF2-40B4-BE49-F238E27FC236}">
                <a16:creationId xmlns:a16="http://schemas.microsoft.com/office/drawing/2014/main" id="{D95E678C-C95E-4B81-9E75-DA62A14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27020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ЕСЛИ ВЫ ХОТЬ РАЗ ОПТИМИЗИРОВАЛИ</a:t>
            </a:r>
          </a:p>
        </p:txBody>
      </p:sp>
      <p:sp>
        <p:nvSpPr>
          <p:cNvPr id="3" name="hf-17">
            <a:extLst xmlns:a="http://schemas.openxmlformats.org/drawingml/2006/main">
              <a:ext uri="{FF2B5EF4-FFF2-40B4-BE49-F238E27FC236}">
                <a16:creationId xmlns:a16="http://schemas.microsoft.com/office/drawing/2014/main" id="{7DC3B674-4207-4B29-BD7F-8959F5B1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04796"/>
            <a:ext cx="72523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КОД</a:t>
            </a:r>
          </a:p>
        </p:txBody>
      </p:sp>
      <p:sp>
        <p:nvSpPr>
          <p:cNvPr id="4" name="hf-18">
            <a:extLst xmlns:a="http://schemas.openxmlformats.org/drawingml/2006/main">
              <a:ext uri="{FF2B5EF4-FFF2-40B4-BE49-F238E27FC236}">
                <a16:creationId xmlns:a16="http://schemas.microsoft.com/office/drawing/2014/main" id="{8B7CA5B9-0EC3-46CC-9D32-B4FEB71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75892"/>
            <a:ext cx="2258616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75"/>
              </a:lnSpc>
              <a:buNone/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Пишете код</a:t>
            </a:r>
          </a:p>
        </p:txBody>
      </p:sp>
      <p:sp>
        <p:nvSpPr>
          <p:cNvPr id="5" name="hf-19">
            <a:extLst xmlns:a="http://schemas.openxmlformats.org/drawingml/2006/main">
              <a:ext uri="{FF2B5EF4-FFF2-40B4-BE49-F238E27FC236}">
                <a16:creationId xmlns:a16="http://schemas.microsoft.com/office/drawing/2014/main" id="{1963C3FA-EFA2-4132-B631-8E23C67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42617"/>
            <a:ext cx="2845371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75"/>
              </a:lnSpc>
              <a:buNone/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Делаете ревью</a:t>
            </a:r>
          </a:p>
        </p:txBody>
      </p:sp>
      <p:sp>
        <p:nvSpPr>
          <p:cNvPr id="6" name="hf-20">
            <a:extLst xmlns:a="http://schemas.openxmlformats.org/drawingml/2006/main">
              <a:ext uri="{FF2B5EF4-FFF2-40B4-BE49-F238E27FC236}">
                <a16:creationId xmlns:a16="http://schemas.microsoft.com/office/drawing/2014/main" id="{0B5B81D9-1DF4-4F4B-88AF-60D00DB5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09342"/>
            <a:ext cx="322681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75"/>
              </a:lnSpc>
              <a:buNone/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Мерите скорость</a:t>
            </a:r>
          </a:p>
        </p:txBody>
      </p:sp>
      <p:sp>
        <p:nvSpPr>
          <p:cNvPr id="7" name="hf-21">
            <a:extLst xmlns:a="http://schemas.openxmlformats.org/drawingml/2006/main">
              <a:ext uri="{FF2B5EF4-FFF2-40B4-BE49-F238E27FC236}">
                <a16:creationId xmlns:a16="http://schemas.microsoft.com/office/drawing/2014/main" id="{3F99DB3B-638D-4156-9BF4-9E0F81E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57784"/>
            <a:ext cx="507384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9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Проверим, что значит «стало быстрее»</a:t>
            </a:r>
          </a:p>
        </p:txBody>
      </p:sp>
      <p:pic>
        <p:nvPicPr>
          <p:cNvPr id="8" name="hf-22">
            <a:extLst xmlns:a="http://schemas.openxmlformats.org/drawingml/2006/main">
              <a:ext uri="{FF2B5EF4-FFF2-40B4-BE49-F238E27FC236}">
                <a16:creationId xmlns:a16="http://schemas.microsoft.com/office/drawing/2014/main" id="{6FD71D7A-7D62-4488-909C-00BD4F5B8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382eebfc14c7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9" name="hf-23">
            <a:extLst xmlns:a="http://schemas.openxmlformats.org/drawingml/2006/main">
              <a:ext uri="{FF2B5EF4-FFF2-40B4-BE49-F238E27FC236}">
                <a16:creationId xmlns:a16="http://schemas.microsoft.com/office/drawing/2014/main" id="{9A87B63B-EDB9-4B72-9B65-CED7CB39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5556827"/>
      </p:ext>
    </p:extLst>
  </p:cSld>
</p:sld>
</file>

<file path=ppt/slides/slide4.xml><?xml version="1.0" encoding="utf-8"?>
<p:sld xmlns:p="http://schemas.openxmlformats.org/presentationml/2006/main">
  <p:cSld name="diff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4">
            <a:extLst xmlns:a="http://schemas.openxmlformats.org/drawingml/2006/main">
              <a:ext uri="{FF2B5EF4-FFF2-40B4-BE49-F238E27FC236}">
                <a16:creationId xmlns:a16="http://schemas.microsoft.com/office/drawing/2014/main" id="{71848436-0C17-4A99-80A9-9EE56CD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4948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КОД-РЕВЬЮ, ВТОРНИК, 17:40</a:t>
            </a:r>
          </a:p>
        </p:txBody>
      </p:sp>
      <p:sp>
        <p:nvSpPr>
          <p:cNvPr id="3" name="hf-25">
            <a:extLst xmlns:a="http://schemas.openxmlformats.org/drawingml/2006/main">
              <a:ext uri="{FF2B5EF4-FFF2-40B4-BE49-F238E27FC236}">
                <a16:creationId xmlns:a16="http://schemas.microsoft.com/office/drawing/2014/main" id="{CCE3775D-7E8E-45E8-90F3-F69A2DD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190625"/>
            <a:ext cx="802957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4" name="hf-26">
            <a:extLst xmlns:a="http://schemas.openxmlformats.org/drawingml/2006/main">
              <a:ext uri="{FF2B5EF4-FFF2-40B4-BE49-F238E27FC236}">
                <a16:creationId xmlns:a16="http://schemas.microsoft.com/office/drawing/2014/main" id="{C2E17F04-F967-4608-A390-9AE96081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364933"/>
            <a:ext cx="361257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dedup ids after offline sync</a:t>
            </a:r>
          </a:p>
        </p:txBody>
      </p:sp>
      <p:sp>
        <p:nvSpPr>
          <p:cNvPr id="5" name="hf-27">
            <a:extLst xmlns:a="http://schemas.openxmlformats.org/drawingml/2006/main">
              <a:ext uri="{FF2B5EF4-FFF2-40B4-BE49-F238E27FC236}">
                <a16:creationId xmlns:a16="http://schemas.microsoft.com/office/drawing/2014/main" id="{7C8378D3-BC6F-4D89-8C3A-4DB7D93A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669733"/>
            <a:ext cx="418601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std::sort(ids.begin(), ids.end());</a:t>
            </a:r>
          </a:p>
        </p:txBody>
      </p:sp>
      <p:sp>
        <p:nvSpPr>
          <p:cNvPr id="6" name="hf-28">
            <a:extLst xmlns:a="http://schemas.openxmlformats.org/drawingml/2006/main">
              <a:ext uri="{FF2B5EF4-FFF2-40B4-BE49-F238E27FC236}">
                <a16:creationId xmlns:a16="http://schemas.microsoft.com/office/drawing/2014/main" id="{F7753B02-2C7E-4DDA-A863-A7BFAA4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974533"/>
            <a:ext cx="69385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ids.erase(std::unique(ids.begin(), ids.end()), ids.end());</a:t>
            </a:r>
          </a:p>
        </p:txBody>
      </p:sp>
      <p:sp>
        <p:nvSpPr>
          <p:cNvPr id="7" name="hf-29">
            <a:extLst xmlns:a="http://schemas.openxmlformats.org/drawingml/2006/main">
              <a:ext uri="{FF2B5EF4-FFF2-40B4-BE49-F238E27FC236}">
                <a16:creationId xmlns:a16="http://schemas.microsoft.com/office/drawing/2014/main" id="{154BD26E-C9FE-4599-887B-E285F41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279333"/>
            <a:ext cx="659457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std::unordered_set&lt;uint64_t&gt; s(ids.begin(), ids.end());</a:t>
            </a:r>
          </a:p>
        </p:txBody>
      </p:sp>
      <p:sp>
        <p:nvSpPr>
          <p:cNvPr id="8" name="hf-30">
            <a:extLst xmlns:a="http://schemas.openxmlformats.org/drawingml/2006/main">
              <a:ext uri="{FF2B5EF4-FFF2-40B4-BE49-F238E27FC236}">
                <a16:creationId xmlns:a16="http://schemas.microsoft.com/office/drawing/2014/main" id="{96174E7B-C3B1-4764-A855-B9EF9C3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584132"/>
            <a:ext cx="384199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ids.assign(s.begin(), s.end());</a:t>
            </a:r>
          </a:p>
        </p:txBody>
      </p:sp>
      <p:sp>
        <p:nvSpPr>
          <p:cNvPr id="9" name="hf-31">
            <a:extLst xmlns:a="http://schemas.openxmlformats.org/drawingml/2006/main">
              <a:ext uri="{FF2B5EF4-FFF2-40B4-BE49-F238E27FC236}">
                <a16:creationId xmlns:a16="http://schemas.microsoft.com/office/drawing/2014/main" id="{2AC28C6D-2CA4-4822-8905-1616A9A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47148"/>
            <a:ext cx="506737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1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Коллега:</a:t>
            </a: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«Линейно вместо n log n»</a:t>
            </a:r>
          </a:p>
        </p:txBody>
      </p:sp>
      <p:sp>
        <p:nvSpPr>
          <p:cNvPr id="10" name="hf-32">
            <a:extLst xmlns:a="http://schemas.openxmlformats.org/drawingml/2006/main">
              <a:ext uri="{FF2B5EF4-FFF2-40B4-BE49-F238E27FC236}">
                <a16:creationId xmlns:a16="http://schemas.microsoft.com/office/drawing/2014/main" id="{CF9F8CE4-6D1E-4ED4-9C29-E35E6BE9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43852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1" name="hf-33">
            <a:extLst xmlns:a="http://schemas.openxmlformats.org/drawingml/2006/main">
              <a:ext uri="{FF2B5EF4-FFF2-40B4-BE49-F238E27FC236}">
                <a16:creationId xmlns:a16="http://schemas.microsoft.com/office/drawing/2014/main" id="{346EE504-29DF-4B06-8709-1F9C82DD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149" y="3326987"/>
            <a:ext cx="164767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350"/>
              </a:lnSpc>
              <a:buNone/>
            </a:pPr>
            <a:r>
              <a:rPr sz="22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Approve ✓</a:t>
            </a:r>
          </a:p>
        </p:txBody>
      </p:sp>
      <p:pic>
        <p:nvPicPr>
          <p:cNvPr id="12" name="hf-34">
            <a:extLst xmlns:a="http://schemas.openxmlformats.org/drawingml/2006/main">
              <a:ext uri="{FF2B5EF4-FFF2-40B4-BE49-F238E27FC236}">
                <a16:creationId xmlns:a16="http://schemas.microsoft.com/office/drawing/2014/main" id="{D2450214-78D5-4394-AF8D-DEE5EDE51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c9bcec0d040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3" name="hf-35">
            <a:extLst xmlns:a="http://schemas.openxmlformats.org/drawingml/2006/main">
              <a:ext uri="{FF2B5EF4-FFF2-40B4-BE49-F238E27FC236}">
                <a16:creationId xmlns:a16="http://schemas.microsoft.com/office/drawing/2014/main" id="{7FE4B2D4-5605-403A-A131-5E1C2A1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6565913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5.xml><?xml version="1.0" encoding="utf-8"?>
<p:sld xmlns:p="http://schemas.openxmlformats.org/presentationml/2006/main">
  <p:cSld name="cas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6">
            <a:extLst xmlns:a="http://schemas.openxmlformats.org/drawingml/2006/main">
              <a:ext uri="{FF2B5EF4-FFF2-40B4-BE49-F238E27FC236}">
                <a16:creationId xmlns:a16="http://schemas.microsoft.com/office/drawing/2014/main" id="{C1DA7947-6510-4D71-B216-A86C92B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7539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ЗАДАЧА: СКЛЕИТЬ ЛОКАЛЬНЫЕ id И</a:t>
            </a:r>
          </a:p>
        </p:txBody>
      </p:sp>
      <p:sp>
        <p:nvSpPr>
          <p:cNvPr id="3" name="hf-37">
            <a:extLst xmlns:a="http://schemas.openxmlformats.org/drawingml/2006/main">
              <a:ext uri="{FF2B5EF4-FFF2-40B4-BE49-F238E27FC236}">
                <a16:creationId xmlns:a16="http://schemas.microsoft.com/office/drawing/2014/main" id="{7B330F92-FF7A-4003-A9FF-70A70D1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04796"/>
            <a:ext cx="5529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ДЕЛЬТУ С СЕРВЕРА БЕЗ ПОВТОРОВ</a:t>
            </a:r>
          </a:p>
        </p:txBody>
      </p:sp>
      <p:pic>
        <p:nvPicPr>
          <p:cNvPr id="4" name="hf-38">
            <a:extLst xmlns:a="http://schemas.openxmlformats.org/drawingml/2006/main">
              <a:ext uri="{FF2B5EF4-FFF2-40B4-BE49-F238E27FC236}">
                <a16:creationId xmlns:a16="http://schemas.microsoft.com/office/drawing/2014/main" id="{A48965A1-9B5C-49D0-93DD-55E9B0D2E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afd513864442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57213" y="1524000"/>
            <a:ext cx="409575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hf-39">
            <a:extLst xmlns:a="http://schemas.openxmlformats.org/drawingml/2006/main">
              <a:ext uri="{FF2B5EF4-FFF2-40B4-BE49-F238E27FC236}">
                <a16:creationId xmlns:a16="http://schemas.microsoft.com/office/drawing/2014/main" id="{7800CE72-7D08-4899-9400-766FED72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499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6" name="hf-40">
            <a:extLst xmlns:a="http://schemas.openxmlformats.org/drawingml/2006/main">
              <a:ext uri="{FF2B5EF4-FFF2-40B4-BE49-F238E27FC236}">
                <a16:creationId xmlns:a16="http://schemas.microsoft.com/office/drawing/2014/main" id="{948EE1E7-23C8-4741-A39D-FAC3D71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3629"/>
            <a:ext cx="298593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Локальные id отсортированы</a:t>
            </a:r>
          </a:p>
        </p:txBody>
      </p:sp>
      <p:sp>
        <p:nvSpPr>
          <p:cNvPr id="7" name="hf-41">
            <a:extLst xmlns:a="http://schemas.openxmlformats.org/drawingml/2006/main">
              <a:ext uri="{FF2B5EF4-FFF2-40B4-BE49-F238E27FC236}">
                <a16:creationId xmlns:a16="http://schemas.microsoft.com/office/drawing/2014/main" id="{51A9C8EA-92D3-4987-ADD9-48F82BBD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1279"/>
            <a:ext cx="13294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уникальны</a:t>
            </a:r>
          </a:p>
        </p:txBody>
      </p:sp>
      <p:sp>
        <p:nvSpPr>
          <p:cNvPr id="8" name="hf-42">
            <a:extLst xmlns:a="http://schemas.openxmlformats.org/drawingml/2006/main">
              <a:ext uri="{FF2B5EF4-FFF2-40B4-BE49-F238E27FC236}">
                <a16:creationId xmlns:a16="http://schemas.microsoft.com/office/drawing/2014/main" id="{9D0AB262-1561-4020-BA17-FD6740D3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242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9" name="hf-43">
            <a:extLst xmlns:a="http://schemas.openxmlformats.org/drawingml/2006/main">
              <a:ext uri="{FF2B5EF4-FFF2-40B4-BE49-F238E27FC236}">
                <a16:creationId xmlns:a16="http://schemas.microsoft.com/office/drawing/2014/main" id="{D2C77821-07A7-442B-B9A8-2F171A4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3279"/>
            <a:ext cx="17954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Ключ — </a:t>
            </a: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uint64_t</a:t>
            </a:r>
          </a:p>
        </p:txBody>
      </p:sp>
      <p:sp>
        <p:nvSpPr>
          <p:cNvPr id="10" name="hf-44">
            <a:extLst xmlns:a="http://schemas.openxmlformats.org/drawingml/2006/main">
              <a:ext uri="{FF2B5EF4-FFF2-40B4-BE49-F238E27FC236}">
                <a16:creationId xmlns:a16="http://schemas.microsoft.com/office/drawing/2014/main" id="{F0EE83D9-7A7A-4439-B096-9EE66F1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5967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1" name="hf-45">
            <a:extLst xmlns:a="http://schemas.openxmlformats.org/drawingml/2006/main">
              <a:ext uri="{FF2B5EF4-FFF2-40B4-BE49-F238E27FC236}">
                <a16:creationId xmlns:a16="http://schemas.microsoft.com/office/drawing/2014/main" id="{4035EE3D-63B4-4C87-A934-516DF6C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0907"/>
            <a:ext cx="131876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QoS utility</a:t>
            </a:r>
          </a:p>
        </p:txBody>
      </p:sp>
      <p:sp>
        <p:nvSpPr>
          <p:cNvPr id="12" name="hf-46">
            <a:extLst xmlns:a="http://schemas.openxmlformats.org/drawingml/2006/main">
              <a:ext uri="{FF2B5EF4-FFF2-40B4-BE49-F238E27FC236}">
                <a16:creationId xmlns:a16="http://schemas.microsoft.com/office/drawing/2014/main" id="{FB92333F-456C-413C-A3C7-74C0E7D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72763"/>
            <a:ext cx="10542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«не срочно»</a:t>
            </a:r>
          </a:p>
        </p:txBody>
      </p:sp>
      <p:pic>
        <p:nvPicPr>
          <p:cNvPr id="13" name="hf-47">
            <a:extLst xmlns:a="http://schemas.openxmlformats.org/drawingml/2006/main">
              <a:ext uri="{FF2B5EF4-FFF2-40B4-BE49-F238E27FC236}">
                <a16:creationId xmlns:a16="http://schemas.microsoft.com/office/drawing/2014/main" id="{1DE8955C-E9A3-453E-8085-68A304B89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3b9b5bd424db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4" name="hf-48">
            <a:extLst xmlns:a="http://schemas.openxmlformats.org/drawingml/2006/main">
              <a:ext uri="{FF2B5EF4-FFF2-40B4-BE49-F238E27FC236}">
                <a16:creationId xmlns:a16="http://schemas.microsoft.com/office/drawing/2014/main" id="{D5740452-5DE2-46C0-8533-2C938035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5501702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p="http://schemas.openxmlformats.org/presentationml/2006/main">
  <p:cSld name="vot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9">
            <a:extLst xmlns:a="http://schemas.openxmlformats.org/drawingml/2006/main">
              <a:ext uri="{FF2B5EF4-FFF2-40B4-BE49-F238E27FC236}">
                <a16:creationId xmlns:a16="http://schemas.microsoft.com/office/drawing/2014/main" id="{A53AE953-5FCF-4863-A8C8-3EB4BC86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1062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 log n ПРОТИВ ОЖИДАЕМОГО n</a:t>
            </a:r>
          </a:p>
        </p:txBody>
      </p:sp>
      <p:sp>
        <p:nvSpPr>
          <p:cNvPr id="3" name="hf-50">
            <a:extLst xmlns:a="http://schemas.openxmlformats.org/drawingml/2006/main">
              <a:ext uri="{FF2B5EF4-FFF2-40B4-BE49-F238E27FC236}">
                <a16:creationId xmlns:a16="http://schemas.microsoft.com/office/drawing/2014/main" id="{38F42328-FBCE-4221-9380-B4650E9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45146"/>
            <a:ext cx="35168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15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A</a:t>
            </a:r>
          </a:p>
        </p:txBody>
      </p:sp>
      <p:sp>
        <p:nvSpPr>
          <p:cNvPr id="4" name="hf-51">
            <a:extLst xmlns:a="http://schemas.openxmlformats.org/drawingml/2006/main">
              <a:ext uri="{FF2B5EF4-FFF2-40B4-BE49-F238E27FC236}">
                <a16:creationId xmlns:a16="http://schemas.microsoft.com/office/drawing/2014/main" id="{EA08B4FB-24BC-4971-A643-01A52DC3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59076"/>
            <a:ext cx="2131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4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5" name="hf-52">
            <a:extLst xmlns:a="http://schemas.openxmlformats.org/drawingml/2006/main">
              <a:ext uri="{FF2B5EF4-FFF2-40B4-BE49-F238E27FC236}">
                <a16:creationId xmlns:a16="http://schemas.microsoft.com/office/drawing/2014/main" id="{08B8B7E7-0565-4033-BD0A-03DE594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95943"/>
            <a:ext cx="15481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O(n log n)</a:t>
            </a:r>
          </a:p>
        </p:txBody>
      </p:sp>
      <p:sp>
        <p:nvSpPr>
          <p:cNvPr id="6" name="hf-53">
            <a:extLst xmlns:a="http://schemas.openxmlformats.org/drawingml/2006/main">
              <a:ext uri="{FF2B5EF4-FFF2-40B4-BE49-F238E27FC236}">
                <a16:creationId xmlns:a16="http://schemas.microsoft.com/office/drawing/2014/main" id="{AA2CD84A-5625-45AF-AFB3-17F83D6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45146"/>
            <a:ext cx="34528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150"/>
              </a:lnSpc>
              <a:buNone/>
            </a:pPr>
            <a:r>
              <a:rPr sz="30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B</a:t>
            </a:r>
          </a:p>
        </p:txBody>
      </p:sp>
      <p:sp>
        <p:nvSpPr>
          <p:cNvPr id="7" name="hf-54">
            <a:extLst xmlns:a="http://schemas.openxmlformats.org/drawingml/2006/main">
              <a:ext uri="{FF2B5EF4-FFF2-40B4-BE49-F238E27FC236}">
                <a16:creationId xmlns:a16="http://schemas.microsoft.com/office/drawing/2014/main" id="{18AA1195-F6BE-4D2D-924A-4533234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59076"/>
            <a:ext cx="23496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4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8" name="hf-55">
            <a:extLst xmlns:a="http://schemas.openxmlformats.org/drawingml/2006/main">
              <a:ext uri="{FF2B5EF4-FFF2-40B4-BE49-F238E27FC236}">
                <a16:creationId xmlns:a16="http://schemas.microsoft.com/office/drawing/2014/main" id="{D24EB478-B094-43C4-BFE5-347C6291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95943"/>
            <a:ext cx="214453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O(n) в среднем</a:t>
            </a:r>
          </a:p>
        </p:txBody>
      </p:sp>
      <p:sp>
        <p:nvSpPr>
          <p:cNvPr id="9" name="hf-56">
            <a:extLst xmlns:a="http://schemas.openxmlformats.org/drawingml/2006/main">
              <a:ext uri="{FF2B5EF4-FFF2-40B4-BE49-F238E27FC236}">
                <a16:creationId xmlns:a16="http://schemas.microsoft.com/office/drawing/2014/main" id="{9278DC64-4FE2-480D-B275-674EFD5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05803"/>
            <a:ext cx="574655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150"/>
              </a:lnSpc>
              <a:buNone/>
            </a:pPr>
            <a:r>
              <a:rPr sz="25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Что первым отправим на замер?</a:t>
            </a:r>
          </a:p>
        </p:txBody>
      </p:sp>
      <p:sp>
        <p:nvSpPr>
          <p:cNvPr id="10" name="hf-57">
            <a:extLst xmlns:a="http://schemas.openxmlformats.org/drawingml/2006/main">
              <a:ext uri="{FF2B5EF4-FFF2-40B4-BE49-F238E27FC236}">
                <a16:creationId xmlns:a16="http://schemas.microsoft.com/office/drawing/2014/main" id="{41AE569A-DA62-440C-9F68-33E3799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93702"/>
            <a:ext cx="506298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1M uint64_t · все уникальны · один поток · порядок любой</a:t>
            </a:r>
          </a:p>
        </p:txBody>
      </p:sp>
      <p:pic>
        <p:nvPicPr>
          <p:cNvPr id="11" name="hf-58">
            <a:extLst xmlns:a="http://schemas.openxmlformats.org/drawingml/2006/main">
              <a:ext uri="{FF2B5EF4-FFF2-40B4-BE49-F238E27FC236}">
                <a16:creationId xmlns:a16="http://schemas.microsoft.com/office/drawing/2014/main" id="{2C81EA36-845D-44BF-9DCC-F6325D5EF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411965a9f48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2" name="hf-59">
            <a:extLst xmlns:a="http://schemas.openxmlformats.org/drawingml/2006/main">
              <a:ext uri="{FF2B5EF4-FFF2-40B4-BE49-F238E27FC236}">
                <a16:creationId xmlns:a16="http://schemas.microsoft.com/office/drawing/2014/main" id="{57B2E533-97F3-4A0E-B23B-DD3C2BB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295144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7.xml><?xml version="1.0" encoding="utf-8"?>
<p:sld xmlns:p="http://schemas.openxmlformats.org/presentationml/2006/main">
  <p:cSld name="resul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0">
            <a:extLst xmlns:a="http://schemas.openxmlformats.org/drawingml/2006/main">
              <a:ext uri="{FF2B5EF4-FFF2-40B4-BE49-F238E27FC236}">
                <a16:creationId xmlns:a16="http://schemas.microsoft.com/office/drawing/2014/main" id="{5171C9F4-FC42-464F-B806-F0E2B56F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25611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ПЕРВЫЙ ЗАМЕР</a:t>
            </a:r>
          </a:p>
        </p:txBody>
      </p:sp>
      <p:sp>
        <p:nvSpPr>
          <p:cNvPr id="3" name="hf-61">
            <a:extLst xmlns:a="http://schemas.openxmlformats.org/drawingml/2006/main">
              <a:ext uri="{FF2B5EF4-FFF2-40B4-BE49-F238E27FC236}">
                <a16:creationId xmlns:a16="http://schemas.microsoft.com/office/drawing/2014/main" id="{07D69CAF-F6FA-4EE6-AAA6-F26DBBD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70267"/>
            <a:ext cx="66882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 · 1M уникальных id · Mac M2 Pro · меньше — лучше</a:t>
            </a:r>
          </a:p>
        </p:txBody>
      </p:sp>
      <p:sp>
        <p:nvSpPr>
          <p:cNvPr id="4" name="hf-62">
            <a:extLst xmlns:a="http://schemas.openxmlformats.org/drawingml/2006/main">
              <a:ext uri="{FF2B5EF4-FFF2-40B4-BE49-F238E27FC236}">
                <a16:creationId xmlns:a16="http://schemas.microsoft.com/office/drawing/2014/main" id="{98F04426-3764-415A-84A1-870D2A4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63382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5" name="hf-63">
            <a:extLst xmlns:a="http://schemas.openxmlformats.org/drawingml/2006/main">
              <a:ext uri="{FF2B5EF4-FFF2-40B4-BE49-F238E27FC236}">
                <a16:creationId xmlns:a16="http://schemas.microsoft.com/office/drawing/2014/main" id="{DA8A3270-B003-4E3B-8E9D-026B634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95500"/>
            <a:ext cx="2024063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6" name="hf-64">
            <a:extLst xmlns:a="http://schemas.openxmlformats.org/drawingml/2006/main">
              <a:ext uri="{FF2B5EF4-FFF2-40B4-BE49-F238E27FC236}">
                <a16:creationId xmlns:a16="http://schemas.microsoft.com/office/drawing/2014/main" id="{F6EBC64D-46C0-4EA8-8709-E5F6DCC1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32419"/>
            <a:ext cx="641226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19,9</a:t>
            </a:r>
          </a:p>
        </p:txBody>
      </p:sp>
      <p:sp>
        <p:nvSpPr>
          <p:cNvPr id="7" name="hf-65">
            <a:extLst xmlns:a="http://schemas.openxmlformats.org/drawingml/2006/main">
              <a:ext uri="{FF2B5EF4-FFF2-40B4-BE49-F238E27FC236}">
                <a16:creationId xmlns:a16="http://schemas.microsoft.com/office/drawing/2014/main" id="{D96BF301-C54D-4718-9E16-6514A5A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5882"/>
            <a:ext cx="17765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8" name="hf-66">
            <a:extLst xmlns:a="http://schemas.openxmlformats.org/drawingml/2006/main">
              <a:ext uri="{FF2B5EF4-FFF2-40B4-BE49-F238E27FC236}">
                <a16:creationId xmlns:a16="http://schemas.microsoft.com/office/drawing/2014/main" id="{27CC6FF4-8863-4883-8A28-8944221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48000"/>
            <a:ext cx="52197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9" name="hf-67">
            <a:extLst xmlns:a="http://schemas.openxmlformats.org/drawingml/2006/main">
              <a:ext uri="{FF2B5EF4-FFF2-40B4-BE49-F238E27FC236}">
                <a16:creationId xmlns:a16="http://schemas.microsoft.com/office/drawing/2014/main" id="{7F679049-E94F-4927-A399-1571319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3084919"/>
            <a:ext cx="621357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51,3</a:t>
            </a:r>
          </a:p>
        </p:txBody>
      </p:sp>
      <p:sp>
        <p:nvSpPr>
          <p:cNvPr id="10" name="hf-68">
            <a:extLst xmlns:a="http://schemas.openxmlformats.org/drawingml/2006/main">
              <a:ext uri="{FF2B5EF4-FFF2-40B4-BE49-F238E27FC236}">
                <a16:creationId xmlns:a16="http://schemas.microsoft.com/office/drawing/2014/main" id="{7A6E9331-F380-41F4-B9A9-AD8F60F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696" y="1668399"/>
            <a:ext cx="242195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9000"/>
              </a:lnSpc>
              <a:buNone/>
            </a:pPr>
            <a:r>
              <a:rPr sz="9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×2,6</a:t>
            </a:r>
          </a:p>
        </p:txBody>
      </p:sp>
      <p:pic>
        <p:nvPicPr>
          <p:cNvPr id="11" name="hf-69">
            <a:extLst xmlns:a="http://schemas.openxmlformats.org/drawingml/2006/main">
              <a:ext uri="{FF2B5EF4-FFF2-40B4-BE49-F238E27FC236}">
                <a16:creationId xmlns:a16="http://schemas.microsoft.com/office/drawing/2014/main" id="{E6707ECE-462B-42B8-AFDF-831DBF172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270d5b8d24b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2" name="hf-70">
            <a:extLst xmlns:a="http://schemas.openxmlformats.org/drawingml/2006/main">
              <a:ext uri="{FF2B5EF4-FFF2-40B4-BE49-F238E27FC236}">
                <a16:creationId xmlns:a16="http://schemas.microsoft.com/office/drawing/2014/main" id="{75574300-9650-4A12-B831-ACD74038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522902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8.xml><?xml version="1.0" encoding="utf-8"?>
<p:sld xmlns:p="http://schemas.openxmlformats.org/presentationml/2006/main">
  <p:cSld name="contrac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1">
            <a:extLst xmlns:a="http://schemas.openxmlformats.org/drawingml/2006/main">
              <a:ext uri="{FF2B5EF4-FFF2-40B4-BE49-F238E27FC236}">
                <a16:creationId xmlns:a16="http://schemas.microsoft.com/office/drawing/2014/main" id="{D0BCFCB6-364C-48CE-B119-E77FD75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04331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ПРАВИЛО: В ТАЙМЕРЕ ВСЯ ОПЕРАЦИЯ</a:t>
            </a:r>
          </a:p>
        </p:txBody>
      </p:sp>
      <p:sp>
        <p:nvSpPr>
          <p:cNvPr id="3" name="hf-72">
            <a:extLst xmlns:a="http://schemas.openxmlformats.org/drawingml/2006/main">
              <a:ext uri="{FF2B5EF4-FFF2-40B4-BE49-F238E27FC236}">
                <a16:creationId xmlns:a16="http://schemas.microsoft.com/office/drawing/2014/main" id="{559AAD38-B93E-4C85-B18C-075F34D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80295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4" name="hf-73">
            <a:extLst xmlns:a="http://schemas.openxmlformats.org/drawingml/2006/main">
              <a:ext uri="{FF2B5EF4-FFF2-40B4-BE49-F238E27FC236}">
                <a16:creationId xmlns:a16="http://schemas.microsoft.com/office/drawing/2014/main" id="{204A7EAC-F77D-4551-B367-9A0ECB9C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584008"/>
            <a:ext cx="521828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auto v = input;                </a:t>
            </a: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вне таймера</a:t>
            </a:r>
          </a:p>
        </p:txBody>
      </p:sp>
      <p:sp>
        <p:nvSpPr>
          <p:cNvPr id="5" name="hf-74">
            <a:extLst xmlns:a="http://schemas.openxmlformats.org/drawingml/2006/main">
              <a:ext uri="{FF2B5EF4-FFF2-40B4-BE49-F238E27FC236}">
                <a16:creationId xmlns:a16="http://schemas.microsoft.com/office/drawing/2014/main" id="{A43252A5-51DA-4C2A-BE72-16C8B641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926908"/>
            <a:ext cx="41861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timer.start();</a:t>
            </a: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alg(v); </a:t>
            </a: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timer.stop();</a:t>
            </a:r>
          </a:p>
        </p:txBody>
      </p:sp>
      <p:sp>
        <p:nvSpPr>
          <p:cNvPr id="6" name="hf-75">
            <a:extLst xmlns:a="http://schemas.openxmlformats.org/drawingml/2006/main">
              <a:ext uri="{FF2B5EF4-FFF2-40B4-BE49-F238E27FC236}">
                <a16:creationId xmlns:a16="http://schemas.microsoft.com/office/drawing/2014/main" id="{6228D0DD-F3C5-463F-B689-C147718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269808"/>
            <a:ext cx="521828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(sorted(v) != ref) abort();  </a:t>
            </a:r>
            <a:r>
              <a:rPr sz="1500" b="0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// и в релизе</a:t>
            </a:r>
          </a:p>
        </p:txBody>
      </p:sp>
      <p:sp>
        <p:nvSpPr>
          <p:cNvPr id="7" name="hf-76">
            <a:extLst xmlns:a="http://schemas.openxmlformats.org/drawingml/2006/main">
              <a:ext uri="{FF2B5EF4-FFF2-40B4-BE49-F238E27FC236}">
                <a16:creationId xmlns:a16="http://schemas.microsoft.com/office/drawing/2014/main" id="{9121A907-072B-413D-91E8-26A1FB9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60954"/>
            <a:ext cx="400146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reserve · вставки · выгрузка · деструктор</a:t>
            </a:r>
          </a:p>
        </p:txBody>
      </p:sp>
      <p:sp>
        <p:nvSpPr>
          <p:cNvPr id="8" name="hf-77">
            <a:extLst xmlns:a="http://schemas.openxmlformats.org/drawingml/2006/main">
              <a:ext uri="{FF2B5EF4-FFF2-40B4-BE49-F238E27FC236}">
                <a16:creationId xmlns:a16="http://schemas.microsoft.com/office/drawing/2014/main" id="{EF61C9EC-3991-4CAA-954C-E0983EEB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3714750"/>
            <a:ext cx="133350" cy="714375"/>
          </a:xfrm>
          <a:custGeom xmlns:a="http://schemas.openxmlformats.org/drawingml/2006/main">
            <a:pathLst>
              <a:path w="133350" h="714375">
                <a:moveTo>
                  <a:pt x="0" y="0"/>
                </a:moveTo>
                <a:lnTo>
                  <a:pt x="0" y="228600"/>
                </a:lnTo>
                <a:lnTo>
                  <a:pt x="133350" y="357188"/>
                </a:lnTo>
                <a:lnTo>
                  <a:pt x="0" y="485775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6CDAE"/>
            </a:solidFill>
          </a:ln>
        </p:spPr>
      </p:sp>
      <p:sp>
        <p:nvSpPr>
          <p:cNvPr id="9" name="hf-78">
            <a:extLst xmlns:a="http://schemas.openxmlformats.org/drawingml/2006/main">
              <a:ext uri="{FF2B5EF4-FFF2-40B4-BE49-F238E27FC236}">
                <a16:creationId xmlns:a16="http://schemas.microsoft.com/office/drawing/2014/main" id="{6C4978EA-9878-41A4-A5D2-093E61E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6698"/>
            <a:ext cx="541094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Быстрое, но неправильное решение</a:t>
            </a:r>
          </a:p>
        </p:txBody>
      </p:sp>
      <p:sp>
        <p:nvSpPr>
          <p:cNvPr id="10" name="hf-79">
            <a:extLst xmlns:a="http://schemas.openxmlformats.org/drawingml/2006/main">
              <a:ext uri="{FF2B5EF4-FFF2-40B4-BE49-F238E27FC236}">
                <a16:creationId xmlns:a16="http://schemas.microsoft.com/office/drawing/2014/main" id="{80BFA17D-B340-4E73-94BB-74BDBF9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80548"/>
            <a:ext cx="34591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турнире не участвует</a:t>
            </a:r>
          </a:p>
        </p:txBody>
      </p:sp>
      <p:pic>
        <p:nvPicPr>
          <p:cNvPr id="11" name="hf-80">
            <a:extLst xmlns:a="http://schemas.openxmlformats.org/drawingml/2006/main">
              <a:ext uri="{FF2B5EF4-FFF2-40B4-BE49-F238E27FC236}">
                <a16:creationId xmlns:a16="http://schemas.microsoft.com/office/drawing/2014/main" id="{EBEE0209-AE34-4BBB-A391-36ADC0BF5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38e1fa80c4d2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2" name="hf-81">
            <a:extLst xmlns:a="http://schemas.openxmlformats.org/drawingml/2006/main">
              <a:ext uri="{FF2B5EF4-FFF2-40B4-BE49-F238E27FC236}">
                <a16:creationId xmlns:a16="http://schemas.microsoft.com/office/drawing/2014/main" id="{D299F5DF-0846-4C0A-96D7-114FEF7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53499252"/>
      </p:ext>
    </p:extLst>
  </p:cSld>
</p:sld>
</file>

<file path=ppt/slides/slide9.xml><?xml version="1.0" encoding="utf-8"?>
<p:sld xmlns:p="http://schemas.openxmlformats.org/presentationml/2006/main">
  <p:cSld name="curv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2">
            <a:extLst xmlns:a="http://schemas.openxmlformats.org/drawingml/2006/main">
              <a:ext uri="{FF2B5EF4-FFF2-40B4-BE49-F238E27FC236}">
                <a16:creationId xmlns:a16="http://schemas.microsoft.com/office/drawing/2014/main" id="{6F2DD1B2-928D-455E-A4B9-65A2986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83">
            <a:extLst xmlns:a="http://schemas.openxmlformats.org/drawingml/2006/main">
              <a:ext uri="{FF2B5EF4-FFF2-40B4-BE49-F238E27FC236}">
                <a16:creationId xmlns:a16="http://schemas.microsoft.com/office/drawing/2014/main" id="{121C8C02-797D-4D80-98EC-DACCEAE0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453866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ХЕШ ДОРОЖАЕТ ПОСЛЕ 512K</a:t>
            </a:r>
          </a:p>
        </p:txBody>
      </p:sp>
      <p:sp>
        <p:nvSpPr>
          <p:cNvPr id="4" name="hf-84">
            <a:extLst xmlns:a="http://schemas.openxmlformats.org/drawingml/2006/main">
              <a:ext uri="{FF2B5EF4-FFF2-40B4-BE49-F238E27FC236}">
                <a16:creationId xmlns:a16="http://schemas.microsoft.com/office/drawing/2014/main" id="{77EF7230-E585-4C21-81E4-C2ADB8EC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6102"/>
            <a:ext cx="4392885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88"/>
              </a:lnSpc>
              <a:buNone/>
            </a:pPr>
            <a:r>
              <a:rPr sz="135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M2 Pro · U = N/2 · нс на элемент · ниже — лучше</a:t>
            </a:r>
          </a:p>
        </p:txBody>
      </p:sp>
      <p:sp>
        <p:nvSpPr>
          <p:cNvPr id="5" name="hf-85">
            <a:extLst xmlns:a="http://schemas.openxmlformats.org/drawingml/2006/main">
              <a:ext uri="{FF2B5EF4-FFF2-40B4-BE49-F238E27FC236}">
                <a16:creationId xmlns:a16="http://schemas.microsoft.com/office/drawing/2014/main" id="{E00FD85A-F801-4763-B504-FF967315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1637717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6" name="hf-86">
            <a:extLst xmlns:a="http://schemas.openxmlformats.org/drawingml/2006/main">
              <a:ext uri="{FF2B5EF4-FFF2-40B4-BE49-F238E27FC236}">
                <a16:creationId xmlns:a16="http://schemas.microsoft.com/office/drawing/2014/main" id="{CCE274F8-DB2F-4196-9809-8CE21E7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2206301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7" name="hf-87">
            <a:extLst xmlns:a="http://schemas.openxmlformats.org/drawingml/2006/main">
              <a:ext uri="{FF2B5EF4-FFF2-40B4-BE49-F238E27FC236}">
                <a16:creationId xmlns:a16="http://schemas.microsoft.com/office/drawing/2014/main" id="{F526FC33-5605-44D4-8010-DD62003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2774885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8" name="hf-88">
            <a:extLst xmlns:a="http://schemas.openxmlformats.org/drawingml/2006/main">
              <a:ext uri="{FF2B5EF4-FFF2-40B4-BE49-F238E27FC236}">
                <a16:creationId xmlns:a16="http://schemas.microsoft.com/office/drawing/2014/main" id="{67B4DBB6-437D-4F49-AE87-52ECB1E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3343469"/>
            <a:ext cx="5697141" cy="953"/>
          </a:xfrm>
          <a:custGeom xmlns:a="http://schemas.openxmlformats.org/drawingml/2006/main">
            <a:pathLst>
              <a:path w="5697141" h="476">
                <a:moveTo>
                  <a:pt x="0" y="0"/>
                </a:moveTo>
                <a:lnTo>
                  <a:pt x="5697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9" name="hf-89">
            <a:extLst xmlns:a="http://schemas.openxmlformats.org/drawingml/2006/main">
              <a:ext uri="{FF2B5EF4-FFF2-40B4-BE49-F238E27FC236}">
                <a16:creationId xmlns:a16="http://schemas.microsoft.com/office/drawing/2014/main" id="{7BBF3A5C-1C83-4FF4-BE55-CD9DCA3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8379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60</a:t>
            </a:r>
          </a:p>
        </p:txBody>
      </p:sp>
      <p:sp>
        <p:nvSpPr>
          <p:cNvPr id="10" name="hf-90">
            <a:extLst xmlns:a="http://schemas.openxmlformats.org/drawingml/2006/main">
              <a:ext uri="{FF2B5EF4-FFF2-40B4-BE49-F238E27FC236}">
                <a16:creationId xmlns:a16="http://schemas.microsoft.com/office/drawing/2014/main" id="{A804861C-A982-41F1-813B-F4BC3A3A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03" y="2075117"/>
            <a:ext cx="31469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40</a:t>
            </a:r>
          </a:p>
        </p:txBody>
      </p:sp>
      <p:sp>
        <p:nvSpPr>
          <p:cNvPr id="11" name="hf-91">
            <a:extLst xmlns:a="http://schemas.openxmlformats.org/drawingml/2006/main">
              <a:ext uri="{FF2B5EF4-FFF2-40B4-BE49-F238E27FC236}">
                <a16:creationId xmlns:a16="http://schemas.microsoft.com/office/drawing/2014/main" id="{02B7363B-E4BA-41C2-BF8F-52873A1E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58" y="2641854"/>
            <a:ext cx="29624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12" name="hf-92">
            <a:extLst xmlns:a="http://schemas.openxmlformats.org/drawingml/2006/main">
              <a:ext uri="{FF2B5EF4-FFF2-40B4-BE49-F238E27FC236}">
                <a16:creationId xmlns:a16="http://schemas.microsoft.com/office/drawing/2014/main" id="{20F64AA4-F4E0-4718-BB88-EFA92235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35" y="3213354"/>
            <a:ext cx="18536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0</a:t>
            </a:r>
          </a:p>
        </p:txBody>
      </p:sp>
      <p:sp>
        <p:nvSpPr>
          <p:cNvPr id="13" name="hf-93">
            <a:extLst xmlns:a="http://schemas.openxmlformats.org/drawingml/2006/main">
              <a:ext uri="{FF2B5EF4-FFF2-40B4-BE49-F238E27FC236}">
                <a16:creationId xmlns:a16="http://schemas.microsoft.com/office/drawing/2014/main" id="{BED76CF4-487A-4A94-AD47-07126C2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43" y="3418142"/>
            <a:ext cx="2491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14" name="hf-94">
            <a:extLst xmlns:a="http://schemas.openxmlformats.org/drawingml/2006/main">
              <a:ext uri="{FF2B5EF4-FFF2-40B4-BE49-F238E27FC236}">
                <a16:creationId xmlns:a16="http://schemas.microsoft.com/office/drawing/2014/main" id="{CDDD8BF9-9965-4F2D-B98A-9D789CFB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20" y="3418142"/>
            <a:ext cx="2686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1K</a:t>
            </a:r>
          </a:p>
        </p:txBody>
      </p:sp>
      <p:sp>
        <p:nvSpPr>
          <p:cNvPr id="15" name="hf-95">
            <a:extLst xmlns:a="http://schemas.openxmlformats.org/drawingml/2006/main">
              <a:ext uri="{FF2B5EF4-FFF2-40B4-BE49-F238E27FC236}">
                <a16:creationId xmlns:a16="http://schemas.microsoft.com/office/drawing/2014/main" id="{73E98088-C406-447B-A4F4-99A6F5A1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64" y="3418142"/>
            <a:ext cx="4449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6" name="hf-96">
            <a:extLst xmlns:a="http://schemas.openxmlformats.org/drawingml/2006/main">
              <a:ext uri="{FF2B5EF4-FFF2-40B4-BE49-F238E27FC236}">
                <a16:creationId xmlns:a16="http://schemas.microsoft.com/office/drawing/2014/main" id="{82001E53-7DE1-47CD-9736-1ABDF63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295" y="3418142"/>
            <a:ext cx="4907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512K</a:t>
            </a:r>
          </a:p>
        </p:txBody>
      </p:sp>
      <p:sp>
        <p:nvSpPr>
          <p:cNvPr id="17" name="hf-97">
            <a:extLst xmlns:a="http://schemas.openxmlformats.org/drawingml/2006/main">
              <a:ext uri="{FF2B5EF4-FFF2-40B4-BE49-F238E27FC236}">
                <a16:creationId xmlns:a16="http://schemas.microsoft.com/office/drawing/2014/main" id="{07886A8B-424E-43B2-BDF1-4B47CBF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676" y="3418142"/>
            <a:ext cx="36842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4M</a:t>
            </a:r>
          </a:p>
        </p:txBody>
      </p:sp>
      <p:sp>
        <p:nvSpPr>
          <p:cNvPr id="18" name="hf-98">
            <a:extLst xmlns:a="http://schemas.openxmlformats.org/drawingml/2006/main">
              <a:ext uri="{FF2B5EF4-FFF2-40B4-BE49-F238E27FC236}">
                <a16:creationId xmlns:a16="http://schemas.microsoft.com/office/drawing/2014/main" id="{F795BD11-7154-433C-BD5D-173C0BF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31" y="3703892"/>
            <a:ext cx="139228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N, лог. шкала</a:t>
            </a:r>
          </a:p>
        </p:txBody>
      </p:sp>
      <p:sp>
        <p:nvSpPr>
          <p:cNvPr id="19" name="hf-99">
            <a:extLst xmlns:a="http://schemas.openxmlformats.org/drawingml/2006/main">
              <a:ext uri="{FF2B5EF4-FFF2-40B4-BE49-F238E27FC236}">
                <a16:creationId xmlns:a16="http://schemas.microsoft.com/office/drawing/2014/main" id="{5EC3A979-9458-4047-AC24-3F2791E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2732431"/>
            <a:ext cx="5625703" cy="522339"/>
          </a:xfrm>
          <a:custGeom xmlns:a="http://schemas.openxmlformats.org/drawingml/2006/main">
            <a:pathLst>
              <a:path w="5625703" h="522339">
                <a:moveTo>
                  <a:pt x="0" y="522339"/>
                </a:moveTo>
                <a:lnTo>
                  <a:pt x="312539" y="504524"/>
                </a:lnTo>
                <a:lnTo>
                  <a:pt x="625078" y="451077"/>
                </a:lnTo>
                <a:lnTo>
                  <a:pt x="937617" y="347974"/>
                </a:lnTo>
                <a:lnTo>
                  <a:pt x="1250156" y="262686"/>
                </a:lnTo>
                <a:lnTo>
                  <a:pt x="1562695" y="223643"/>
                </a:lnTo>
                <a:lnTo>
                  <a:pt x="1875234" y="202416"/>
                </a:lnTo>
                <a:lnTo>
                  <a:pt x="2187773" y="177398"/>
                </a:lnTo>
                <a:lnTo>
                  <a:pt x="2500313" y="156171"/>
                </a:lnTo>
                <a:lnTo>
                  <a:pt x="2812852" y="152760"/>
                </a:lnTo>
                <a:lnTo>
                  <a:pt x="3125391" y="138355"/>
                </a:lnTo>
                <a:lnTo>
                  <a:pt x="3437930" y="120540"/>
                </a:lnTo>
                <a:lnTo>
                  <a:pt x="3750469" y="106515"/>
                </a:lnTo>
                <a:lnTo>
                  <a:pt x="4063008" y="84909"/>
                </a:lnTo>
                <a:lnTo>
                  <a:pt x="4375547" y="70884"/>
                </a:lnTo>
                <a:lnTo>
                  <a:pt x="4688086" y="53068"/>
                </a:lnTo>
                <a:lnTo>
                  <a:pt x="5000625" y="39043"/>
                </a:lnTo>
                <a:lnTo>
                  <a:pt x="5313164" y="17437"/>
                </a:ln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184">
            <a:solidFill>
              <a:srgbClr val="46CDAE"/>
            </a:solidFill>
          </a:ln>
        </p:spPr>
      </p:sp>
      <p:sp>
        <p:nvSpPr>
          <p:cNvPr id="20" name="hf-100">
            <a:extLst xmlns:a="http://schemas.openxmlformats.org/drawingml/2006/main">
              <a:ext uri="{FF2B5EF4-FFF2-40B4-BE49-F238E27FC236}">
                <a16:creationId xmlns:a16="http://schemas.microsoft.com/office/drawing/2014/main" id="{ED4B2AAF-FBB2-48E1-98F7-53A173DD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8517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1" name="hf-101">
            <a:extLst xmlns:a="http://schemas.openxmlformats.org/drawingml/2006/main">
              <a:ext uri="{FF2B5EF4-FFF2-40B4-BE49-F238E27FC236}">
                <a16:creationId xmlns:a16="http://schemas.microsoft.com/office/drawing/2014/main" id="{4E2BD1D6-62D7-4632-BDA8-325D743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1758636"/>
            <a:ext cx="5625703" cy="1243683"/>
          </a:xfrm>
          <a:custGeom xmlns:a="http://schemas.openxmlformats.org/drawingml/2006/main">
            <a:pathLst>
              <a:path w="5625703" h="1243683">
                <a:moveTo>
                  <a:pt x="0" y="1208052"/>
                </a:moveTo>
                <a:lnTo>
                  <a:pt x="312539" y="1243683"/>
                </a:lnTo>
                <a:lnTo>
                  <a:pt x="625078" y="1243683"/>
                </a:lnTo>
                <a:lnTo>
                  <a:pt x="937617" y="1222456"/>
                </a:lnTo>
                <a:lnTo>
                  <a:pt x="1250156" y="1211842"/>
                </a:lnTo>
                <a:lnTo>
                  <a:pt x="1562695" y="1211842"/>
                </a:lnTo>
                <a:lnTo>
                  <a:pt x="1875234" y="1204640"/>
                </a:lnTo>
                <a:lnTo>
                  <a:pt x="2187773" y="1172421"/>
                </a:lnTo>
                <a:lnTo>
                  <a:pt x="2500313" y="1161807"/>
                </a:lnTo>
                <a:lnTo>
                  <a:pt x="2812852" y="1140580"/>
                </a:lnTo>
                <a:lnTo>
                  <a:pt x="3125391" y="1115562"/>
                </a:lnTo>
                <a:lnTo>
                  <a:pt x="3437930" y="1094335"/>
                </a:lnTo>
                <a:lnTo>
                  <a:pt x="3750469" y="1087512"/>
                </a:lnTo>
                <a:lnTo>
                  <a:pt x="4063008" y="1087512"/>
                </a:lnTo>
                <a:lnTo>
                  <a:pt x="4375547" y="1080310"/>
                </a:lnTo>
                <a:lnTo>
                  <a:pt x="4688086" y="1055292"/>
                </a:lnTo>
                <a:lnTo>
                  <a:pt x="5000625" y="838472"/>
                </a:lnTo>
                <a:lnTo>
                  <a:pt x="5313164" y="444254"/>
                </a:ln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184">
            <a:solidFill>
              <a:srgbClr val="E2489B"/>
            </a:solidFill>
          </a:ln>
        </p:spPr>
      </p:sp>
      <p:sp>
        <p:nvSpPr>
          <p:cNvPr id="22" name="hf-102">
            <a:extLst xmlns:a="http://schemas.openxmlformats.org/drawingml/2006/main">
              <a:ext uri="{FF2B5EF4-FFF2-40B4-BE49-F238E27FC236}">
                <a16:creationId xmlns:a16="http://schemas.microsoft.com/office/drawing/2014/main" id="{C78F0EBD-C2BC-48F0-872F-181B0EDC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67" y="1766596"/>
            <a:ext cx="53578" cy="959012"/>
          </a:xfrm>
          <a:custGeom xmlns:a="http://schemas.openxmlformats.org/drawingml/2006/main">
            <a:pathLst>
              <a:path w="53578" h="959012">
                <a:moveTo>
                  <a:pt x="0" y="0"/>
                </a:moveTo>
                <a:lnTo>
                  <a:pt x="19324" y="0"/>
                </a:lnTo>
                <a:lnTo>
                  <a:pt x="38649" y="0"/>
                </a:lnTo>
                <a:lnTo>
                  <a:pt x="53578" y="3731"/>
                </a:lnTo>
                <a:lnTo>
                  <a:pt x="53578" y="20137"/>
                </a:lnTo>
                <a:lnTo>
                  <a:pt x="53578" y="36543"/>
                </a:lnTo>
                <a:lnTo>
                  <a:pt x="53578" y="52949"/>
                </a:lnTo>
                <a:lnTo>
                  <a:pt x="53578" y="69355"/>
                </a:lnTo>
                <a:lnTo>
                  <a:pt x="53578" y="85761"/>
                </a:lnTo>
                <a:lnTo>
                  <a:pt x="53578" y="102167"/>
                </a:lnTo>
                <a:lnTo>
                  <a:pt x="53578" y="118573"/>
                </a:lnTo>
                <a:lnTo>
                  <a:pt x="53578" y="134980"/>
                </a:lnTo>
                <a:lnTo>
                  <a:pt x="53578" y="151386"/>
                </a:lnTo>
                <a:lnTo>
                  <a:pt x="53578" y="167792"/>
                </a:lnTo>
                <a:lnTo>
                  <a:pt x="53578" y="184198"/>
                </a:lnTo>
                <a:lnTo>
                  <a:pt x="53578" y="200604"/>
                </a:lnTo>
                <a:lnTo>
                  <a:pt x="53578" y="217010"/>
                </a:lnTo>
                <a:lnTo>
                  <a:pt x="53578" y="233416"/>
                </a:lnTo>
                <a:lnTo>
                  <a:pt x="53578" y="249822"/>
                </a:lnTo>
                <a:lnTo>
                  <a:pt x="53578" y="266228"/>
                </a:lnTo>
                <a:lnTo>
                  <a:pt x="53578" y="282634"/>
                </a:lnTo>
                <a:lnTo>
                  <a:pt x="53578" y="299040"/>
                </a:lnTo>
                <a:lnTo>
                  <a:pt x="53578" y="315446"/>
                </a:lnTo>
                <a:lnTo>
                  <a:pt x="53578" y="331852"/>
                </a:lnTo>
                <a:lnTo>
                  <a:pt x="53578" y="348258"/>
                </a:lnTo>
                <a:lnTo>
                  <a:pt x="53578" y="364664"/>
                </a:lnTo>
                <a:lnTo>
                  <a:pt x="53578" y="381070"/>
                </a:lnTo>
                <a:lnTo>
                  <a:pt x="53578" y="397476"/>
                </a:lnTo>
                <a:lnTo>
                  <a:pt x="53578" y="413882"/>
                </a:lnTo>
                <a:lnTo>
                  <a:pt x="53578" y="430288"/>
                </a:lnTo>
                <a:lnTo>
                  <a:pt x="53578" y="446694"/>
                </a:lnTo>
                <a:lnTo>
                  <a:pt x="53578" y="463100"/>
                </a:lnTo>
                <a:lnTo>
                  <a:pt x="53578" y="479506"/>
                </a:lnTo>
                <a:lnTo>
                  <a:pt x="53578" y="495912"/>
                </a:lnTo>
                <a:lnTo>
                  <a:pt x="53578" y="512318"/>
                </a:lnTo>
                <a:lnTo>
                  <a:pt x="53578" y="528724"/>
                </a:lnTo>
                <a:lnTo>
                  <a:pt x="53578" y="545130"/>
                </a:lnTo>
                <a:lnTo>
                  <a:pt x="53578" y="561536"/>
                </a:lnTo>
                <a:lnTo>
                  <a:pt x="53578" y="577942"/>
                </a:lnTo>
                <a:lnTo>
                  <a:pt x="53578" y="594348"/>
                </a:lnTo>
                <a:lnTo>
                  <a:pt x="53578" y="610754"/>
                </a:lnTo>
                <a:lnTo>
                  <a:pt x="53578" y="627160"/>
                </a:lnTo>
                <a:lnTo>
                  <a:pt x="53578" y="643566"/>
                </a:lnTo>
                <a:lnTo>
                  <a:pt x="53578" y="659972"/>
                </a:lnTo>
                <a:lnTo>
                  <a:pt x="53578" y="676378"/>
                </a:lnTo>
                <a:lnTo>
                  <a:pt x="53578" y="692784"/>
                </a:lnTo>
                <a:lnTo>
                  <a:pt x="53578" y="709190"/>
                </a:lnTo>
                <a:lnTo>
                  <a:pt x="53578" y="725596"/>
                </a:lnTo>
                <a:lnTo>
                  <a:pt x="53578" y="742002"/>
                </a:lnTo>
                <a:lnTo>
                  <a:pt x="53578" y="758408"/>
                </a:lnTo>
                <a:lnTo>
                  <a:pt x="53578" y="774814"/>
                </a:lnTo>
                <a:lnTo>
                  <a:pt x="53578" y="791220"/>
                </a:lnTo>
                <a:lnTo>
                  <a:pt x="53578" y="807626"/>
                </a:lnTo>
                <a:lnTo>
                  <a:pt x="53578" y="824032"/>
                </a:lnTo>
                <a:lnTo>
                  <a:pt x="53578" y="840438"/>
                </a:lnTo>
                <a:lnTo>
                  <a:pt x="53578" y="856845"/>
                </a:lnTo>
                <a:lnTo>
                  <a:pt x="53578" y="873251"/>
                </a:lnTo>
                <a:lnTo>
                  <a:pt x="53578" y="889657"/>
                </a:lnTo>
                <a:lnTo>
                  <a:pt x="53578" y="906063"/>
                </a:lnTo>
                <a:lnTo>
                  <a:pt x="53578" y="922469"/>
                </a:lnTo>
                <a:lnTo>
                  <a:pt x="53578" y="938875"/>
                </a:lnTo>
                <a:lnTo>
                  <a:pt x="53578" y="955281"/>
                </a:lnTo>
                <a:lnTo>
                  <a:pt x="38649" y="959012"/>
                </a:lnTo>
                <a:lnTo>
                  <a:pt x="19324" y="959012"/>
                </a:lnTo>
                <a:lnTo>
                  <a:pt x="0" y="959012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23" name="hf-103">
            <a:extLst xmlns:a="http://schemas.openxmlformats.org/drawingml/2006/main">
              <a:ext uri="{FF2B5EF4-FFF2-40B4-BE49-F238E27FC236}">
                <a16:creationId xmlns:a16="http://schemas.microsoft.com/office/drawing/2014/main" id="{E6AAAF87-6BB3-463E-95F3-5161FA21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41729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24" name="hf-104">
            <a:extLst xmlns:a="http://schemas.openxmlformats.org/drawingml/2006/main">
              <a:ext uri="{FF2B5EF4-FFF2-40B4-BE49-F238E27FC236}">
                <a16:creationId xmlns:a16="http://schemas.microsoft.com/office/drawing/2014/main" id="{8191A945-A19B-4F6F-81BB-EC4CB0B5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5467"/>
            <a:ext cx="78945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×2,6</a:t>
            </a:r>
          </a:p>
        </p:txBody>
      </p:sp>
      <p:sp>
        <p:nvSpPr>
          <p:cNvPr id="25" name="hf-105">
            <a:extLst xmlns:a="http://schemas.openxmlformats.org/drawingml/2006/main">
              <a:ext uri="{FF2B5EF4-FFF2-40B4-BE49-F238E27FC236}">
                <a16:creationId xmlns:a16="http://schemas.microsoft.com/office/drawing/2014/main" id="{6EA44E85-C0A0-4BC4-8523-1251FB7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2471640"/>
            <a:ext cx="553641" cy="454867"/>
          </a:xfrm>
          <a:prstGeom xmlns:a="http://schemas.openxmlformats.org/drawingml/2006/main" prst="roundRect">
            <a:avLst>
              <a:gd name="adj" fmla="val 25128"/>
            </a:avLst>
          </a:prstGeom>
          <a:noFill xmlns:a="http://schemas.openxmlformats.org/drawingml/2006/main"/>
          <a:ln xmlns:a="http://schemas.openxmlformats.org/drawingml/2006/main" w="22324">
            <a:solidFill>
              <a:srgbClr val="46CDAE"/>
            </a:solidFill>
          </a:ln>
        </p:spPr>
      </p:sp>
      <p:sp>
        <p:nvSpPr>
          <p:cNvPr id="26" name="hf-106">
            <a:extLst xmlns:a="http://schemas.openxmlformats.org/drawingml/2006/main">
              <a:ext uri="{FF2B5EF4-FFF2-40B4-BE49-F238E27FC236}">
                <a16:creationId xmlns:a16="http://schemas.microsoft.com/office/drawing/2014/main" id="{AAAA76A6-18C3-4D37-AB4D-00E828E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38352"/>
            <a:ext cx="4385146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25"/>
              </a:lnSpc>
              <a:buNone/>
            </a:pPr>
            <a:r>
              <a:rPr sz="13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Таблица + вход: 512K ≈12 + 4 МиБ · 1M ≈24 + 8 МиБ</a:t>
            </a:r>
          </a:p>
        </p:txBody>
      </p:sp>
      <p:sp>
        <p:nvSpPr>
          <p:cNvPr id="27" name="hf-107">
            <a:extLst xmlns:a="http://schemas.openxmlformats.org/drawingml/2006/main">
              <a:ext uri="{FF2B5EF4-FFF2-40B4-BE49-F238E27FC236}">
                <a16:creationId xmlns:a16="http://schemas.microsoft.com/office/drawing/2014/main" id="{ABC3FFFC-96E2-4073-A361-6AC86308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77576"/>
            <a:ext cx="575756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L2 P-кластера M2 Pro: 16 МиБ. Гипотеза о кэше, промахи не измерены</a:t>
            </a:r>
          </a:p>
        </p:txBody>
      </p:sp>
      <p:pic>
        <p:nvPicPr>
          <p:cNvPr id="28" name="hf-108">
            <a:extLst xmlns:a="http://schemas.openxmlformats.org/drawingml/2006/main">
              <a:ext uri="{FF2B5EF4-FFF2-40B4-BE49-F238E27FC236}">
                <a16:creationId xmlns:a16="http://schemas.microsoft.com/office/drawing/2014/main" id="{97F8A634-3A2D-4928-BABF-F123D1ED7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76286f7f6464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9" name="hf-109">
            <a:extLst xmlns:a="http://schemas.openxmlformats.org/drawingml/2006/main">
              <a:ext uri="{FF2B5EF4-FFF2-40B4-BE49-F238E27FC236}">
                <a16:creationId xmlns:a16="http://schemas.microsoft.com/office/drawing/2014/main" id="{15EA46DB-0329-471C-A922-57ACBFFB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5623456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0.xml><?xml version="1.0" encoding="utf-8"?>
<p:sld xmlns:p="http://schemas.openxmlformats.org/presentationml/2006/main">
  <p:cSld name="node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0">
            <a:extLst xmlns:a="http://schemas.openxmlformats.org/drawingml/2006/main">
              <a:ext uri="{FF2B5EF4-FFF2-40B4-BE49-F238E27FC236}">
                <a16:creationId xmlns:a16="http://schemas.microsoft.com/office/drawing/2014/main" id="{4F4B474C-5A12-433E-9497-274E67B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218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УЗЛЫ СТОЯТ АЛЛОКАЦИЙ И ПРЫЖКОВ</a:t>
            </a:r>
          </a:p>
        </p:txBody>
      </p:sp>
      <p:sp>
        <p:nvSpPr>
          <p:cNvPr id="3" name="hf-111">
            <a:extLst xmlns:a="http://schemas.openxmlformats.org/drawingml/2006/main">
              <a:ext uri="{FF2B5EF4-FFF2-40B4-BE49-F238E27FC236}">
                <a16:creationId xmlns:a16="http://schemas.microsoft.com/office/drawing/2014/main" id="{79A622EA-D796-408C-9C80-8F8C3300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3931"/>
            <a:ext cx="15070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 + unique</a:t>
            </a:r>
          </a:p>
        </p:txBody>
      </p:sp>
      <p:sp>
        <p:nvSpPr>
          <p:cNvPr id="4" name="hf-112">
            <a:extLst xmlns:a="http://schemas.openxmlformats.org/drawingml/2006/main">
              <a:ext uri="{FF2B5EF4-FFF2-40B4-BE49-F238E27FC236}">
                <a16:creationId xmlns:a16="http://schemas.microsoft.com/office/drawing/2014/main" id="{78010986-BB1D-42C8-AEE3-8F8EC815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32192"/>
            <a:ext cx="166605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vector&lt;uint64_t&gt;</a:t>
            </a:r>
          </a:p>
        </p:txBody>
      </p:sp>
      <p:sp>
        <p:nvSpPr>
          <p:cNvPr id="5" name="hf-113">
            <a:extLst xmlns:a="http://schemas.openxmlformats.org/drawingml/2006/main">
              <a:ext uri="{FF2B5EF4-FFF2-40B4-BE49-F238E27FC236}">
                <a16:creationId xmlns:a16="http://schemas.microsoft.com/office/drawing/2014/main" id="{962173A9-0C55-452A-841E-CF4EB3CF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866900"/>
            <a:ext cx="30670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6" name="hf-114">
            <a:extLst xmlns:a="http://schemas.openxmlformats.org/drawingml/2006/main">
              <a:ext uri="{FF2B5EF4-FFF2-40B4-BE49-F238E27FC236}">
                <a16:creationId xmlns:a16="http://schemas.microsoft.com/office/drawing/2014/main" id="{E295BA3A-2BCB-479F-8171-F36025F6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9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7" name="hf-115">
            <a:extLst xmlns:a="http://schemas.openxmlformats.org/drawingml/2006/main">
              <a:ext uri="{FF2B5EF4-FFF2-40B4-BE49-F238E27FC236}">
                <a16:creationId xmlns:a16="http://schemas.microsoft.com/office/drawing/2014/main" id="{1CE2346B-23EF-454B-84B4-7EF30FAC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8" name="hf-116">
            <a:extLst xmlns:a="http://schemas.openxmlformats.org/drawingml/2006/main">
              <a:ext uri="{FF2B5EF4-FFF2-40B4-BE49-F238E27FC236}">
                <a16:creationId xmlns:a16="http://schemas.microsoft.com/office/drawing/2014/main" id="{A24C4429-16F0-4DDE-9346-4394F4F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881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9" name="hf-117">
            <a:extLst xmlns:a="http://schemas.openxmlformats.org/drawingml/2006/main">
              <a:ext uri="{FF2B5EF4-FFF2-40B4-BE49-F238E27FC236}">
                <a16:creationId xmlns:a16="http://schemas.microsoft.com/office/drawing/2014/main" id="{56356F41-8EF4-435A-A785-F23FBAD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3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0" name="hf-118">
            <a:extLst xmlns:a="http://schemas.openxmlformats.org/drawingml/2006/main">
              <a:ext uri="{FF2B5EF4-FFF2-40B4-BE49-F238E27FC236}">
                <a16:creationId xmlns:a16="http://schemas.microsoft.com/office/drawing/2014/main" id="{2247AB2D-3186-4FC8-9D18-CBBE4ADF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644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1" name="hf-119">
            <a:extLst xmlns:a="http://schemas.openxmlformats.org/drawingml/2006/main">
              <a:ext uri="{FF2B5EF4-FFF2-40B4-BE49-F238E27FC236}">
                <a16:creationId xmlns:a16="http://schemas.microsoft.com/office/drawing/2014/main" id="{0E4D7E36-25BA-4DCF-AE63-F2C2A9C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2" name="hf-120">
            <a:extLst xmlns:a="http://schemas.openxmlformats.org/drawingml/2006/main">
              <a:ext uri="{FF2B5EF4-FFF2-40B4-BE49-F238E27FC236}">
                <a16:creationId xmlns:a16="http://schemas.microsoft.com/office/drawing/2014/main" id="{456AF68A-9202-4E81-B165-CAECB2C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406" y="1866900"/>
            <a:ext cx="953" cy="381000"/>
          </a:xfrm>
          <a:custGeom xmlns:a="http://schemas.openxmlformats.org/drawingml/2006/main">
            <a:pathLst>
              <a:path w="476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3" name="hf-121">
            <a:extLst xmlns:a="http://schemas.openxmlformats.org/drawingml/2006/main">
              <a:ext uri="{FF2B5EF4-FFF2-40B4-BE49-F238E27FC236}">
                <a16:creationId xmlns:a16="http://schemas.microsoft.com/office/drawing/2014/main" id="{8B8ECA00-143E-4101-A189-A04641D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69293"/>
            <a:ext cx="22458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Б на ключ, подряд</a:t>
            </a:r>
          </a:p>
        </p:txBody>
      </p:sp>
      <p:pic>
        <p:nvPicPr>
          <p:cNvPr id="24" name="hf-122-poster">
            <a:extLst xmlns:a="http://schemas.openxmlformats.org/drawingml/2006/main">
              <a:ext uri="{FF2B5EF4-FFF2-40B4-BE49-F238E27FC236}">
                <a16:creationId xmlns:a16="http://schemas.microsoft.com/office/drawing/2014/main" id="{E4F3736E-BA7D-46EB-B70F-7F52DA87D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1489337994b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2416" y="1428750"/>
            <a:ext cx="4046293" cy="2238375"/>
          </a:xfrm>
          <a:prstGeom xmlns:a="http://schemas.openxmlformats.org/drawingml/2006/main" prst="rect">
            <a:avLst/>
          </a:prstGeom>
        </p:spPr>
      </p:pic>
      <p:pic>
        <p:nvPicPr>
          <p:cNvPr id="14" name="hf-122">
            <a:extLst xmlns:a="http://schemas.openxmlformats.org/drawingml/2006/main">
              <a:ext uri="{FF2B5EF4-FFF2-40B4-BE49-F238E27FC236}">
                <a16:creationId xmlns:a16="http://schemas.microsoft.com/office/drawing/2014/main" id="{E4F3736E-BA7D-46EB-B70F-7F52DA87D2F9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2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2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7c61489337994b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82416" y="1428750"/>
            <a:ext cx="4046293" cy="2238375"/>
          </a:xfrm>
          <a:prstGeom xmlns:a="http://schemas.openxmlformats.org/drawingml/2006/main" prst="rect">
            <a:avLst/>
          </a:prstGeom>
        </p:spPr>
      </p:pic>
      <p:sp>
        <p:nvSpPr>
          <p:cNvPr id="15" name="hf-123">
            <a:extLst xmlns:a="http://schemas.openxmlformats.org/drawingml/2006/main">
              <a:ext uri="{FF2B5EF4-FFF2-40B4-BE49-F238E27FC236}">
                <a16:creationId xmlns:a16="http://schemas.microsoft.com/office/drawing/2014/main" id="{316714D9-8B82-4A1F-B1AC-4116AECD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73931"/>
            <a:ext cx="16572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16" name="hf-124">
            <a:extLst xmlns:a="http://schemas.openxmlformats.org/drawingml/2006/main">
              <a:ext uri="{FF2B5EF4-FFF2-40B4-BE49-F238E27FC236}">
                <a16:creationId xmlns:a16="http://schemas.microsoft.com/office/drawing/2014/main" id="{AC4E1C26-15B2-4647-97BA-8A6CD1E6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40793"/>
            <a:ext cx="27727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Узлы: адрес следующего</a:t>
            </a:r>
          </a:p>
        </p:txBody>
      </p:sp>
      <p:sp>
        <p:nvSpPr>
          <p:cNvPr id="17" name="hf-125">
            <a:extLst xmlns:a="http://schemas.openxmlformats.org/drawingml/2006/main">
              <a:ext uri="{FF2B5EF4-FFF2-40B4-BE49-F238E27FC236}">
                <a16:creationId xmlns:a16="http://schemas.microsoft.com/office/drawing/2014/main" id="{72B966A6-5B21-4420-AF62-2D485CA1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17018"/>
            <a:ext cx="343182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узнаём после чтения текущего</a:t>
            </a:r>
          </a:p>
        </p:txBody>
      </p:sp>
      <p:sp>
        <p:nvSpPr>
          <p:cNvPr id="18" name="hf-126">
            <a:extLst xmlns:a="http://schemas.openxmlformats.org/drawingml/2006/main">
              <a:ext uri="{FF2B5EF4-FFF2-40B4-BE49-F238E27FC236}">
                <a16:creationId xmlns:a16="http://schemas.microsoft.com/office/drawing/2014/main" id="{4C015D37-8C7E-4F9F-A26B-5A94E01A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01904"/>
            <a:ext cx="1613371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125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 new</a:t>
            </a:r>
          </a:p>
        </p:txBody>
      </p:sp>
      <p:sp>
        <p:nvSpPr>
          <p:cNvPr id="19" name="hf-127">
            <a:extLst xmlns:a="http://schemas.openxmlformats.org/drawingml/2006/main">
              <a:ext uri="{FF2B5EF4-FFF2-40B4-BE49-F238E27FC236}">
                <a16:creationId xmlns:a16="http://schemas.microsoft.com/office/drawing/2014/main" id="{3CA58036-8A7C-49B6-9BC8-9794AFB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01904"/>
            <a:ext cx="2959894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125"/>
              </a:lnSpc>
              <a:buNone/>
            </a:pPr>
            <a:r>
              <a:rPr sz="37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≈1 млн new</a:t>
            </a:r>
          </a:p>
        </p:txBody>
      </p:sp>
      <p:sp>
        <p:nvSpPr>
          <p:cNvPr id="20" name="hf-128">
            <a:extLst xmlns:a="http://schemas.openxmlformats.org/drawingml/2006/main">
              <a:ext uri="{FF2B5EF4-FFF2-40B4-BE49-F238E27FC236}">
                <a16:creationId xmlns:a16="http://schemas.microsoft.com/office/drawing/2014/main" id="{C26A97A5-A18B-45B4-9082-DE6E0B2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32542"/>
            <a:ext cx="2851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Вход готов. N = U = 2²⁰, libc++</a:t>
            </a:r>
          </a:p>
        </p:txBody>
      </p:sp>
      <p:sp>
        <p:nvSpPr>
          <p:cNvPr id="21" name="hf-129">
            <a:extLst xmlns:a="http://schemas.openxmlformats.org/drawingml/2006/main">
              <a:ext uri="{FF2B5EF4-FFF2-40B4-BE49-F238E27FC236}">
                <a16:creationId xmlns:a16="http://schemas.microsoft.com/office/drawing/2014/main" id="{7335A2CA-2816-4365-8A8C-F41F3DB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2542"/>
            <a:ext cx="231814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Узлы + массив бакетов</a:t>
            </a:r>
          </a:p>
        </p:txBody>
      </p:sp>
      <p:pic>
        <p:nvPicPr>
          <p:cNvPr id="22" name="hf-130">
            <a:extLst xmlns:a="http://schemas.openxmlformats.org/drawingml/2006/main">
              <a:ext uri="{FF2B5EF4-FFF2-40B4-BE49-F238E27FC236}">
                <a16:creationId xmlns:a16="http://schemas.microsoft.com/office/drawing/2014/main" id="{A54B052C-6794-4452-A626-0CC4FCD6A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04220201d43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3" name="hf-131">
            <a:extLst xmlns:a="http://schemas.openxmlformats.org/drawingml/2006/main">
              <a:ext uri="{FF2B5EF4-FFF2-40B4-BE49-F238E27FC236}">
                <a16:creationId xmlns:a16="http://schemas.microsoft.com/office/drawing/2014/main" id="{A3EE7411-1EB2-42EC-AB16-C4419D12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430388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7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p="http://schemas.openxmlformats.org/presentationml/2006/main">
  <p:cSld name="memory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32">
            <a:extLst xmlns:a="http://schemas.openxmlformats.org/drawingml/2006/main">
              <a:ext uri="{FF2B5EF4-FFF2-40B4-BE49-F238E27FC236}">
                <a16:creationId xmlns:a16="http://schemas.microsoft.com/office/drawing/2014/main" id="{9E9A6E5F-A2D6-4CD7-9AEB-C978D3E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8222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ПРОЦЕССОР МОЖЕТ ЖДАТЬ КАЖДЫЙ ШАГ</a:t>
            </a:r>
          </a:p>
        </p:txBody>
      </p:sp>
      <p:pic>
        <p:nvPicPr>
          <p:cNvPr id="7" name="hf-133-poster">
            <a:extLst xmlns:a="http://schemas.openxmlformats.org/drawingml/2006/main">
              <a:ext uri="{FF2B5EF4-FFF2-40B4-BE49-F238E27FC236}">
                <a16:creationId xmlns:a16="http://schemas.microsoft.com/office/drawing/2014/main" id="{8465195C-A0D3-48BC-A436-E98DF1ED7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f1c50ee0d4e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7250" y="1048082"/>
            <a:ext cx="7429500" cy="3628360"/>
          </a:xfrm>
          <a:prstGeom xmlns:a="http://schemas.openxmlformats.org/drawingml/2006/main" prst="rect">
            <a:avLst/>
          </a:prstGeom>
        </p:spPr>
      </p:pic>
      <p:pic>
        <p:nvPicPr>
          <p:cNvPr id="3" name="hf-133">
            <a:extLst xmlns:a="http://schemas.openxmlformats.org/drawingml/2006/main">
              <a:ext uri="{FF2B5EF4-FFF2-40B4-BE49-F238E27FC236}">
                <a16:creationId xmlns:a16="http://schemas.microsoft.com/office/drawing/2014/main" id="{8465195C-A0D3-48BC-A436-E98DF1ED7445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3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3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7d3f1c50ee0d4e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7250" y="1048082"/>
            <a:ext cx="7429500" cy="3628360"/>
          </a:xfrm>
          <a:prstGeom xmlns:a="http://schemas.openxmlformats.org/drawingml/2006/main" prst="rect">
            <a:avLst/>
          </a:prstGeom>
        </p:spPr>
      </p:pic>
      <p:sp>
        <p:nvSpPr>
          <p:cNvPr id="4" name="hf-134">
            <a:extLst xmlns:a="http://schemas.openxmlformats.org/drawingml/2006/main">
              <a:ext uri="{FF2B5EF4-FFF2-40B4-BE49-F238E27FC236}">
                <a16:creationId xmlns:a16="http://schemas.microsoft.com/office/drawing/2014/main" id="{B9856DE1-D554-480A-A1A0-9AED0669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416428"/>
            <a:ext cx="656622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Независимые чтения перекрываются. Зависимые ждут друг друга</a:t>
            </a:r>
          </a:p>
        </p:txBody>
      </p:sp>
      <p:pic>
        <p:nvPicPr>
          <p:cNvPr id="5" name="hf-135">
            <a:extLst xmlns:a="http://schemas.openxmlformats.org/drawingml/2006/main">
              <a:ext uri="{FF2B5EF4-FFF2-40B4-BE49-F238E27FC236}">
                <a16:creationId xmlns:a16="http://schemas.microsoft.com/office/drawing/2014/main" id="{54221644-B96B-4E5B-8E67-68EBE2004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77a3bafb54c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6" name="hf-136">
            <a:extLst xmlns:a="http://schemas.openxmlformats.org/drawingml/2006/main">
              <a:ext uri="{FF2B5EF4-FFF2-40B4-BE49-F238E27FC236}">
                <a16:creationId xmlns:a16="http://schemas.microsoft.com/office/drawing/2014/main" id="{7F358DF4-8940-40F0-AAE7-3D6F632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5167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</p:bldLst>
  </p:timing>
</p:sld>
</file>

<file path=ppt/slides/slide12.xml><?xml version="1.0" encoding="utf-8"?>
<p:sld xmlns:p="http://schemas.openxmlformats.org/presentationml/2006/main">
  <p:cSld name="flat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37">
            <a:extLst xmlns:a="http://schemas.openxmlformats.org/drawingml/2006/main">
              <a:ext uri="{FF2B5EF4-FFF2-40B4-BE49-F238E27FC236}">
                <a16:creationId xmlns:a16="http://schemas.microsoft.com/office/drawing/2014/main" id="{CA6F942D-6ED2-48B7-B818-DC378960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09056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РЕАЛИЗАЦИЯ ХЕША</a:t>
            </a:r>
          </a:p>
        </p:txBody>
      </p:sp>
      <p:sp>
        <p:nvSpPr>
          <p:cNvPr id="3" name="hf-138">
            <a:extLst xmlns:a="http://schemas.openxmlformats.org/drawingml/2006/main">
              <a:ext uri="{FF2B5EF4-FFF2-40B4-BE49-F238E27FC236}">
                <a16:creationId xmlns:a16="http://schemas.microsoft.com/office/drawing/2014/main" id="{F6EFAE13-3841-4EBB-8443-4900C89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41828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ПЛОСКАЯ ТАБЛИЦА: КЛЮЧИ В МАССИВЕ</a:t>
            </a:r>
          </a:p>
        </p:txBody>
      </p:sp>
      <p:sp>
        <p:nvSpPr>
          <p:cNvPr id="4" name="hf-139">
            <a:extLst xmlns:a="http://schemas.openxmlformats.org/drawingml/2006/main">
              <a:ext uri="{FF2B5EF4-FFF2-40B4-BE49-F238E27FC236}">
                <a16:creationId xmlns:a16="http://schemas.microsoft.com/office/drawing/2014/main" id="{E9349DBF-FD83-418A-8CF2-7D00C775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16806"/>
            <a:ext cx="16572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5" name="hf-140">
            <a:extLst xmlns:a="http://schemas.openxmlformats.org/drawingml/2006/main">
              <a:ext uri="{FF2B5EF4-FFF2-40B4-BE49-F238E27FC236}">
                <a16:creationId xmlns:a16="http://schemas.microsoft.com/office/drawing/2014/main" id="{F00918C0-C72D-4826-AED5-BC79C55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48" y="1914213"/>
            <a:ext cx="2201915" cy="313243"/>
          </a:xfrm>
          <a:prstGeom xmlns:a="http://schemas.openxmlformats.org/drawingml/2006/main" prst="roundRect">
            <a:avLst>
              <a:gd name="adj" fmla="val 12163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6" name="hf-141">
            <a:extLst xmlns:a="http://schemas.openxmlformats.org/drawingml/2006/main">
              <a:ext uri="{FF2B5EF4-FFF2-40B4-BE49-F238E27FC236}">
                <a16:creationId xmlns:a16="http://schemas.microsoft.com/office/drawing/2014/main" id="{BD403FAC-43F9-4C78-9009-B2C7C248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63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7" name="hf-142">
            <a:extLst xmlns:a="http://schemas.openxmlformats.org/drawingml/2006/main">
              <a:ext uri="{FF2B5EF4-FFF2-40B4-BE49-F238E27FC236}">
                <a16:creationId xmlns:a16="http://schemas.microsoft.com/office/drawing/2014/main" id="{1BCF820F-DBEB-4A3B-AC57-C21036FF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85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8" name="hf-143">
            <a:extLst xmlns:a="http://schemas.openxmlformats.org/drawingml/2006/main">
              <a:ext uri="{FF2B5EF4-FFF2-40B4-BE49-F238E27FC236}">
                <a16:creationId xmlns:a16="http://schemas.microsoft.com/office/drawing/2014/main" id="{980C881E-5C59-48B2-B573-C30374A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06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9" name="hf-144">
            <a:extLst xmlns:a="http://schemas.openxmlformats.org/drawingml/2006/main">
              <a:ext uri="{FF2B5EF4-FFF2-40B4-BE49-F238E27FC236}">
                <a16:creationId xmlns:a16="http://schemas.microsoft.com/office/drawing/2014/main" id="{3D80B1A9-374F-46BB-9DE4-C383C2AC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27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10" name="hf-145">
            <a:extLst xmlns:a="http://schemas.openxmlformats.org/drawingml/2006/main">
              <a:ext uri="{FF2B5EF4-FFF2-40B4-BE49-F238E27FC236}">
                <a16:creationId xmlns:a16="http://schemas.microsoft.com/office/drawing/2014/main" id="{BCD2235B-0534-4901-BB3F-CD77621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449" y="1914213"/>
            <a:ext cx="953" cy="313243"/>
          </a:xfrm>
          <a:custGeom xmlns:a="http://schemas.openxmlformats.org/drawingml/2006/main">
            <a:pathLst>
              <a:path w="476" h="313243">
                <a:moveTo>
                  <a:pt x="0" y="0"/>
                </a:moveTo>
                <a:lnTo>
                  <a:pt x="0" y="313243"/>
                </a:lnTo>
              </a:path>
            </a:pathLst>
          </a:custGeom>
          <a:noFill xmlns:a="http://schemas.openxmlformats.org/drawingml/2006/main"/>
          <a:ln xmlns:a="http://schemas.openxmlformats.org/drawingml/2006/main" w="13820">
            <a:solidFill>
              <a:srgbClr val="E2489B"/>
            </a:solidFill>
          </a:ln>
        </p:spPr>
      </p:sp>
      <p:sp>
        <p:nvSpPr>
          <p:cNvPr id="11" name="hf-146">
            <a:extLst xmlns:a="http://schemas.openxmlformats.org/drawingml/2006/main">
              <a:ext uri="{FF2B5EF4-FFF2-40B4-BE49-F238E27FC236}">
                <a16:creationId xmlns:a16="http://schemas.microsoft.com/office/drawing/2014/main" id="{84505053-564B-4C5A-81F3-61EDD0CB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88" y="2715747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2" name="hf-147">
            <a:extLst xmlns:a="http://schemas.openxmlformats.org/drawingml/2006/main">
              <a:ext uri="{FF2B5EF4-FFF2-40B4-BE49-F238E27FC236}">
                <a16:creationId xmlns:a16="http://schemas.microsoft.com/office/drawing/2014/main" id="{A473049C-D1AD-46A9-834C-F2524FA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03" y="2070835"/>
            <a:ext cx="133589" cy="617273"/>
          </a:xfrm>
          <a:custGeom xmlns:a="http://schemas.openxmlformats.org/drawingml/2006/main">
            <a:pathLst>
              <a:path w="133589" h="617273">
                <a:moveTo>
                  <a:pt x="0" y="0"/>
                </a:moveTo>
                <a:lnTo>
                  <a:pt x="133589" y="617273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3" name="hf-148">
            <a:extLst xmlns:a="http://schemas.openxmlformats.org/drawingml/2006/main">
              <a:ext uri="{FF2B5EF4-FFF2-40B4-BE49-F238E27FC236}">
                <a16:creationId xmlns:a16="http://schemas.microsoft.com/office/drawing/2014/main" id="{E177A53B-5726-4B2C-B140-58F69BD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50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14" name="hf-149">
            <a:extLst xmlns:a="http://schemas.openxmlformats.org/drawingml/2006/main">
              <a:ext uri="{FF2B5EF4-FFF2-40B4-BE49-F238E27FC236}">
                <a16:creationId xmlns:a16="http://schemas.microsoft.com/office/drawing/2014/main" id="{94055596-150E-4679-8801-2F27272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95" y="2973712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5" name="hf-150">
            <a:extLst xmlns:a="http://schemas.openxmlformats.org/drawingml/2006/main">
              <a:ext uri="{FF2B5EF4-FFF2-40B4-BE49-F238E27FC236}">
                <a16:creationId xmlns:a16="http://schemas.microsoft.com/office/drawing/2014/main" id="{7F132BDF-4B5D-4D73-BDD5-D797709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45" y="2070835"/>
            <a:ext cx="363915" cy="875238"/>
          </a:xfrm>
          <a:custGeom xmlns:a="http://schemas.openxmlformats.org/drawingml/2006/main">
            <a:pathLst>
              <a:path w="363915" h="875238">
                <a:moveTo>
                  <a:pt x="0" y="0"/>
                </a:moveTo>
                <a:lnTo>
                  <a:pt x="363915" y="875238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6" name="hf-151">
            <a:extLst xmlns:a="http://schemas.openxmlformats.org/drawingml/2006/main">
              <a:ext uri="{FF2B5EF4-FFF2-40B4-BE49-F238E27FC236}">
                <a16:creationId xmlns:a16="http://schemas.microsoft.com/office/drawing/2014/main" id="{52653513-B90A-43A0-A2BC-DD1E74C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93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17" name="hf-152">
            <a:extLst xmlns:a="http://schemas.openxmlformats.org/drawingml/2006/main">
              <a:ext uri="{FF2B5EF4-FFF2-40B4-BE49-F238E27FC236}">
                <a16:creationId xmlns:a16="http://schemas.microsoft.com/office/drawing/2014/main" id="{D3ECA7B3-CC90-41F9-8426-1831781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63" y="2595978"/>
            <a:ext cx="589634" cy="294817"/>
          </a:xfrm>
          <a:prstGeom xmlns:a="http://schemas.openxmlformats.org/drawingml/2006/main" prst="roundRect">
            <a:avLst>
              <a:gd name="adj" fmla="val 1615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8" name="hf-153">
            <a:extLst xmlns:a="http://schemas.openxmlformats.org/drawingml/2006/main">
              <a:ext uri="{FF2B5EF4-FFF2-40B4-BE49-F238E27FC236}">
                <a16:creationId xmlns:a16="http://schemas.microsoft.com/office/drawing/2014/main" id="{43B7600F-02F5-4C99-B5A6-5E9D862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09" y="2070835"/>
            <a:ext cx="409980" cy="497504"/>
          </a:xfrm>
          <a:custGeom xmlns:a="http://schemas.openxmlformats.org/drawingml/2006/main">
            <a:pathLst>
              <a:path w="409980" h="497504">
                <a:moveTo>
                  <a:pt x="0" y="0"/>
                </a:moveTo>
                <a:lnTo>
                  <a:pt x="409980" y="497504"/>
                </a:lnTo>
              </a:path>
            </a:pathLst>
          </a:custGeom>
          <a:noFill xmlns:a="http://schemas.openxmlformats.org/drawingml/2006/main"/>
          <a:ln xmlns:a="http://schemas.openxmlformats.org/drawingml/2006/main" w="18426">
            <a:solidFill>
              <a:srgbClr val="E2489B"/>
            </a:solidFill>
          </a:ln>
        </p:spPr>
      </p:sp>
      <p:sp>
        <p:nvSpPr>
          <p:cNvPr id="19" name="hf-154">
            <a:extLst xmlns:a="http://schemas.openxmlformats.org/drawingml/2006/main">
              <a:ext uri="{FF2B5EF4-FFF2-40B4-BE49-F238E27FC236}">
                <a16:creationId xmlns:a16="http://schemas.microsoft.com/office/drawing/2014/main" id="{87A67693-0699-4185-9F5B-C7E238D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857" y="2033982"/>
            <a:ext cx="73704" cy="7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4607">
            <a:noFill/>
          </a:ln>
        </p:spPr>
      </p:sp>
      <p:sp>
        <p:nvSpPr>
          <p:cNvPr id="20" name="hf-155">
            <a:extLst xmlns:a="http://schemas.openxmlformats.org/drawingml/2006/main">
              <a:ext uri="{FF2B5EF4-FFF2-40B4-BE49-F238E27FC236}">
                <a16:creationId xmlns:a16="http://schemas.microsoft.com/office/drawing/2014/main" id="{3135AAEA-A008-4F66-9D09-F8AB48C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3" y="2722817"/>
            <a:ext cx="2973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42</a:t>
            </a:r>
          </a:p>
        </p:txBody>
      </p:sp>
      <p:sp>
        <p:nvSpPr>
          <p:cNvPr id="21" name="hf-156">
            <a:extLst xmlns:a="http://schemas.openxmlformats.org/drawingml/2006/main">
              <a:ext uri="{FF2B5EF4-FFF2-40B4-BE49-F238E27FC236}">
                <a16:creationId xmlns:a16="http://schemas.microsoft.com/office/drawing/2014/main" id="{E055F194-A82D-44C6-A2A0-CF69D3F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18" y="2979992"/>
            <a:ext cx="29661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50</a:t>
            </a:r>
          </a:p>
        </p:txBody>
      </p:sp>
      <p:sp>
        <p:nvSpPr>
          <p:cNvPr id="22" name="hf-157">
            <a:extLst xmlns:a="http://schemas.openxmlformats.org/drawingml/2006/main">
              <a:ext uri="{FF2B5EF4-FFF2-40B4-BE49-F238E27FC236}">
                <a16:creationId xmlns:a16="http://schemas.microsoft.com/office/drawing/2014/main" id="{0C08A8D7-B557-4C8C-B806-A051F66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319" y="2598992"/>
            <a:ext cx="17308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23" name="hf-158">
            <a:extLst xmlns:a="http://schemas.openxmlformats.org/drawingml/2006/main">
              <a:ext uri="{FF2B5EF4-FFF2-40B4-BE49-F238E27FC236}">
                <a16:creationId xmlns:a16="http://schemas.microsoft.com/office/drawing/2014/main" id="{AF2D9CB9-3FE9-4EEC-AEBB-F9EDB2F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32429"/>
            <a:ext cx="27021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Свой new на каждый ключ</a:t>
            </a:r>
          </a:p>
        </p:txBody>
      </p:sp>
      <p:pic>
        <p:nvPicPr>
          <p:cNvPr id="34" name="hf-159-poster">
            <a:extLst xmlns:a="http://schemas.openxmlformats.org/drawingml/2006/main">
              <a:ext uri="{FF2B5EF4-FFF2-40B4-BE49-F238E27FC236}">
                <a16:creationId xmlns:a16="http://schemas.microsoft.com/office/drawing/2014/main" id="{8C767EA6-CFA6-4C92-AE86-5CEAEDE38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f6389a32f432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1572419"/>
            <a:ext cx="4572000" cy="2336800"/>
          </a:xfrm>
          <a:prstGeom xmlns:a="http://schemas.openxmlformats.org/drawingml/2006/main" prst="rect">
            <a:avLst/>
          </a:prstGeom>
        </p:spPr>
      </p:pic>
      <p:pic>
        <p:nvPicPr>
          <p:cNvPr id="24" name="hf-159">
            <a:extLst xmlns:a="http://schemas.openxmlformats.org/drawingml/2006/main">
              <a:ext uri="{FF2B5EF4-FFF2-40B4-BE49-F238E27FC236}">
                <a16:creationId xmlns:a16="http://schemas.microsoft.com/office/drawing/2014/main" id="{8C767EA6-CFA6-4C92-AE86-5CEAEDE383F6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HFvideo4"/>
            <p:extLst>
              <p:ext uri="{DAA4B4D4-6D71-4841-9C94-3DE7FCFB1B01}">
                <ns3:media xmlns:ns3="http://schemas.microsoft.com/office/powerpoint/2010/main" xmlns:ns4="http://schemas.openxmlformats.org/officeDocument/2006/relationships" ns4:embed="rIdHFmedia4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c93f6389a32f432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1572419"/>
            <a:ext cx="4572000" cy="2336800"/>
          </a:xfrm>
          <a:prstGeom xmlns:a="http://schemas.openxmlformats.org/drawingml/2006/main" prst="rect">
            <a:avLst/>
          </a:prstGeom>
        </p:spPr>
      </p:pic>
      <p:sp>
        <p:nvSpPr>
          <p:cNvPr id="25" name="hf-160">
            <a:extLst xmlns:a="http://schemas.openxmlformats.org/drawingml/2006/main">
              <a:ext uri="{FF2B5EF4-FFF2-40B4-BE49-F238E27FC236}">
                <a16:creationId xmlns:a16="http://schemas.microsoft.com/office/drawing/2014/main" id="{74BFFC59-AEA5-4EB0-8A8F-F66BDD8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16806"/>
            <a:ext cx="286055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flat_hash_set </a:t>
            </a:r>
            <a:r>
              <a:rPr sz="165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· Swiss Table</a:t>
            </a:r>
          </a:p>
        </p:txBody>
      </p:sp>
      <p:sp>
        <p:nvSpPr>
          <p:cNvPr id="26" name="hf-161">
            <a:extLst xmlns:a="http://schemas.openxmlformats.org/drawingml/2006/main">
              <a:ext uri="{FF2B5EF4-FFF2-40B4-BE49-F238E27FC236}">
                <a16:creationId xmlns:a16="http://schemas.microsoft.com/office/drawing/2014/main" id="{5D9246EE-7E94-4428-99C7-1F290E6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1928813"/>
            <a:ext cx="152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7" name="hf-162">
            <a:extLst xmlns:a="http://schemas.openxmlformats.org/drawingml/2006/main">
              <a:ext uri="{FF2B5EF4-FFF2-40B4-BE49-F238E27FC236}">
                <a16:creationId xmlns:a16="http://schemas.microsoft.com/office/drawing/2014/main" id="{9F7033EA-7645-4D41-86EE-AC02D48A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2046542"/>
            <a:ext cx="13457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Байты-метки</a:t>
            </a:r>
          </a:p>
        </p:txBody>
      </p:sp>
      <p:pic>
        <p:nvPicPr>
          <p:cNvPr id="28" name="hf-163">
            <a:extLst xmlns:a="http://schemas.openxmlformats.org/drawingml/2006/main">
              <a:ext uri="{FF2B5EF4-FFF2-40B4-BE49-F238E27FC236}">
                <a16:creationId xmlns:a16="http://schemas.microsoft.com/office/drawing/2014/main" id="{703CB9E1-114A-454C-B26B-2D8624C22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beebf90a24d2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373856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hf-164">
            <a:extLst xmlns:a="http://schemas.openxmlformats.org/drawingml/2006/main">
              <a:ext uri="{FF2B5EF4-FFF2-40B4-BE49-F238E27FC236}">
                <a16:creationId xmlns:a16="http://schemas.microsoft.com/office/drawing/2014/main" id="{9C4C2BEC-85A4-40CB-B8AE-4F4AE34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22942"/>
            <a:ext cx="32903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Одна аллокация на всю таблицу</a:t>
            </a:r>
          </a:p>
        </p:txBody>
      </p:sp>
      <p:pic>
        <p:nvPicPr>
          <p:cNvPr id="30" name="hf-165">
            <a:extLst xmlns:a="http://schemas.openxmlformats.org/drawingml/2006/main">
              <a:ext uri="{FF2B5EF4-FFF2-40B4-BE49-F238E27FC236}">
                <a16:creationId xmlns:a16="http://schemas.microsoft.com/office/drawing/2014/main" id="{388A56AA-BA99-4A62-A86A-7CC0559C5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28162a6264f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00500" y="409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hf-166">
            <a:extLst xmlns:a="http://schemas.openxmlformats.org/drawingml/2006/main">
              <a:ext uri="{FF2B5EF4-FFF2-40B4-BE49-F238E27FC236}">
                <a16:creationId xmlns:a16="http://schemas.microsoft.com/office/drawing/2014/main" id="{D905B6BD-25D5-47CD-B0AD-FBF76D32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80129"/>
            <a:ext cx="29095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Ссылки не переживают рост</a:t>
            </a:r>
          </a:p>
        </p:txBody>
      </p:sp>
      <p:pic>
        <p:nvPicPr>
          <p:cNvPr id="32" name="hf-167">
            <a:extLst xmlns:a="http://schemas.openxmlformats.org/drawingml/2006/main">
              <a:ext uri="{FF2B5EF4-FFF2-40B4-BE49-F238E27FC236}">
                <a16:creationId xmlns:a16="http://schemas.microsoft.com/office/drawing/2014/main" id="{89DF303E-C9EA-47A0-841E-E31793B67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a67e37cd46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3" name="hf-168">
            <a:extLst xmlns:a="http://schemas.openxmlformats.org/drawingml/2006/main">
              <a:ext uri="{FF2B5EF4-FFF2-40B4-BE49-F238E27FC236}">
                <a16:creationId xmlns:a16="http://schemas.microsoft.com/office/drawing/2014/main" id="{184AC346-9A82-4283-AA5A-025EB5E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0782196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1" dur="600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98" repeatCount="indefinite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4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13.xml><?xml version="1.0" encoding="utf-8"?>
<p:sld xmlns:p="http://schemas.openxmlformats.org/presentationml/2006/main">
  <p:cSld name="fla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69">
            <a:extLst xmlns:a="http://schemas.openxmlformats.org/drawingml/2006/main">
              <a:ext uri="{FF2B5EF4-FFF2-40B4-BE49-F238E27FC236}">
                <a16:creationId xmlns:a16="http://schemas.microsoft.com/office/drawing/2014/main" id="{34FAB2BA-25DD-4B80-AC35-755E4FA7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9773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ТРИ РЕАЛИЗАЦИИ, ОДИН ВХОД</a:t>
            </a:r>
          </a:p>
        </p:txBody>
      </p:sp>
      <p:sp>
        <p:nvSpPr>
          <p:cNvPr id="3" name="hf-170">
            <a:extLst xmlns:a="http://schemas.openxmlformats.org/drawingml/2006/main">
              <a:ext uri="{FF2B5EF4-FFF2-40B4-BE49-F238E27FC236}">
                <a16:creationId xmlns:a16="http://schemas.microsoft.com/office/drawing/2014/main" id="{5C6CA1C2-3004-4334-A036-6DB3C844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5017"/>
            <a:ext cx="622734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нс на элемент · 1M уникальных id · M2 Pro · меньше — лучше</a:t>
            </a:r>
          </a:p>
        </p:txBody>
      </p:sp>
      <p:sp>
        <p:nvSpPr>
          <p:cNvPr id="4" name="hf-171">
            <a:extLst xmlns:a="http://schemas.openxmlformats.org/drawingml/2006/main">
              <a:ext uri="{FF2B5EF4-FFF2-40B4-BE49-F238E27FC236}">
                <a16:creationId xmlns:a16="http://schemas.microsoft.com/office/drawing/2014/main" id="{DFA6D2E7-1572-4982-AF9E-183724C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08404"/>
            <a:ext cx="148999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5" name="hf-172">
            <a:extLst xmlns:a="http://schemas.openxmlformats.org/drawingml/2006/main">
              <a:ext uri="{FF2B5EF4-FFF2-40B4-BE49-F238E27FC236}">
                <a16:creationId xmlns:a16="http://schemas.microsoft.com/office/drawing/2014/main" id="{774A12F0-2EBE-4414-9ADA-B9CD609A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90700"/>
            <a:ext cx="39052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6" name="hf-173">
            <a:extLst xmlns:a="http://schemas.openxmlformats.org/drawingml/2006/main">
              <a:ext uri="{FF2B5EF4-FFF2-40B4-BE49-F238E27FC236}">
                <a16:creationId xmlns:a16="http://schemas.microsoft.com/office/drawing/2014/main" id="{DE8547E4-34F4-4E8D-91CC-F1E690FB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6448"/>
            <a:ext cx="5508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51,3</a:t>
            </a:r>
          </a:p>
        </p:txBody>
      </p:sp>
      <p:sp>
        <p:nvSpPr>
          <p:cNvPr id="7" name="hf-174">
            <a:extLst xmlns:a="http://schemas.openxmlformats.org/drawingml/2006/main">
              <a:ext uri="{FF2B5EF4-FFF2-40B4-BE49-F238E27FC236}">
                <a16:creationId xmlns:a16="http://schemas.microsoft.com/office/drawing/2014/main" id="{64DF7588-181A-4F88-BFF8-F3E59FE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32279"/>
            <a:ext cx="135396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8" name="hf-175">
            <a:extLst xmlns:a="http://schemas.openxmlformats.org/drawingml/2006/main">
              <a:ext uri="{FF2B5EF4-FFF2-40B4-BE49-F238E27FC236}">
                <a16:creationId xmlns:a16="http://schemas.microsoft.com/office/drawing/2014/main" id="{723D5196-6AA9-4CBF-8A61-51E3969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151447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9" name="hf-176">
            <a:extLst xmlns:a="http://schemas.openxmlformats.org/drawingml/2006/main">
              <a:ext uri="{FF2B5EF4-FFF2-40B4-BE49-F238E27FC236}">
                <a16:creationId xmlns:a16="http://schemas.microsoft.com/office/drawing/2014/main" id="{D44454A7-2454-404C-9BF4-B4C8E17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80323"/>
            <a:ext cx="56822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19,9</a:t>
            </a:r>
          </a:p>
        </p:txBody>
      </p:sp>
      <p:sp>
        <p:nvSpPr>
          <p:cNvPr id="10" name="hf-177">
            <a:extLst xmlns:a="http://schemas.openxmlformats.org/drawingml/2006/main">
              <a:ext uri="{FF2B5EF4-FFF2-40B4-BE49-F238E27FC236}">
                <a16:creationId xmlns:a16="http://schemas.microsoft.com/office/drawing/2014/main" id="{E58196CB-B03D-4B6B-B5D0-235919B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56154"/>
            <a:ext cx="13494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11" name="hf-178">
            <a:extLst xmlns:a="http://schemas.openxmlformats.org/drawingml/2006/main">
              <a:ext uri="{FF2B5EF4-FFF2-40B4-BE49-F238E27FC236}">
                <a16:creationId xmlns:a16="http://schemas.microsoft.com/office/drawing/2014/main" id="{156A01D8-DBA9-4890-AACB-AFCE84D5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890588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hf-179">
            <a:extLst xmlns:a="http://schemas.openxmlformats.org/drawingml/2006/main">
              <a:ext uri="{FF2B5EF4-FFF2-40B4-BE49-F238E27FC236}">
                <a16:creationId xmlns:a16="http://schemas.microsoft.com/office/drawing/2014/main" id="{A963C2EF-5F9C-40E9-A0FA-40400D9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2804198"/>
            <a:ext cx="497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11,7</a:t>
            </a:r>
          </a:p>
        </p:txBody>
      </p:sp>
      <p:sp>
        <p:nvSpPr>
          <p:cNvPr id="13" name="hf-180">
            <a:extLst xmlns:a="http://schemas.openxmlformats.org/drawingml/2006/main">
              <a:ext uri="{FF2B5EF4-FFF2-40B4-BE49-F238E27FC236}">
                <a16:creationId xmlns:a16="http://schemas.microsoft.com/office/drawing/2014/main" id="{C822FB46-EBE4-43AA-A26D-C0EA4F5F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904" y="2650808"/>
            <a:ext cx="1800746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7500"/>
              </a:lnSpc>
              <a:buNone/>
            </a:pPr>
            <a:r>
              <a:rPr sz="75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×1,7</a:t>
            </a:r>
          </a:p>
        </p:txBody>
      </p:sp>
      <p:sp>
        <p:nvSpPr>
          <p:cNvPr id="14" name="hf-181">
            <a:extLst xmlns:a="http://schemas.openxmlformats.org/drawingml/2006/main">
              <a:ext uri="{FF2B5EF4-FFF2-40B4-BE49-F238E27FC236}">
                <a16:creationId xmlns:a16="http://schemas.microsoft.com/office/drawing/2014/main" id="{252142C2-ACD7-45B5-BBB5-4623342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473" y="3608642"/>
            <a:ext cx="251117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 SemiBold"/>
                <a:ea typeface="Montserrat SemiBold"/>
                <a:cs typeface="Montserrat SemiBold"/>
              </a:rPr>
              <a:t>flat против sort + unique</a:t>
            </a:r>
          </a:p>
        </p:txBody>
      </p:sp>
      <p:sp>
        <p:nvSpPr>
          <p:cNvPr id="15" name="hf-182">
            <a:extLst xmlns:a="http://schemas.openxmlformats.org/drawingml/2006/main">
              <a:ext uri="{FF2B5EF4-FFF2-40B4-BE49-F238E27FC236}">
                <a16:creationId xmlns:a16="http://schemas.microsoft.com/office/drawing/2014/main" id="{A091A98C-129E-4910-A92F-091D0C9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27742"/>
            <a:ext cx="23536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9B87F5"/>
                </a:solidFill>
                <a:latin typeface="Montserrat"/>
                <a:ea typeface="Montserrat"/>
                <a:cs typeface="Montserrat"/>
              </a:rPr>
              <a:t>radix + unique: 6,9 нс/эл</a:t>
            </a:r>
          </a:p>
        </p:txBody>
      </p:sp>
      <p:sp>
        <p:nvSpPr>
          <p:cNvPr id="16" name="hf-183">
            <a:extLst xmlns:a="http://schemas.openxmlformats.org/drawingml/2006/main">
              <a:ext uri="{FF2B5EF4-FFF2-40B4-BE49-F238E27FC236}">
                <a16:creationId xmlns:a16="http://schemas.microsoft.com/office/drawing/2014/main" id="{CBCAB5D7-5531-4FF0-A870-B3D66095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84917"/>
            <a:ext cx="510517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Только целые ключи. Дополнительный буфер на N</a:t>
            </a:r>
          </a:p>
        </p:txBody>
      </p:sp>
      <p:pic>
        <p:nvPicPr>
          <p:cNvPr id="17" name="hf-184">
            <a:extLst xmlns:a="http://schemas.openxmlformats.org/drawingml/2006/main">
              <a:ext uri="{FF2B5EF4-FFF2-40B4-BE49-F238E27FC236}">
                <a16:creationId xmlns:a16="http://schemas.microsoft.com/office/drawing/2014/main" id="{A7FEDF59-7074-4BE3-8100-54541B0F3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ada1afae440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185">
            <a:extLst xmlns:a="http://schemas.openxmlformats.org/drawingml/2006/main">
              <a:ext uri="{FF2B5EF4-FFF2-40B4-BE49-F238E27FC236}">
                <a16:creationId xmlns:a16="http://schemas.microsoft.com/office/drawing/2014/main" id="{E84D979E-A90E-49A1-A52B-53AF1EC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293362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p="http://schemas.openxmlformats.org/presentationml/2006/main">
  <p:cSld name="share-q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86">
            <a:extLst xmlns:a="http://schemas.openxmlformats.org/drawingml/2006/main">
              <a:ext uri="{FF2B5EF4-FFF2-40B4-BE49-F238E27FC236}">
                <a16:creationId xmlns:a16="http://schemas.microsoft.com/office/drawing/2014/main" id="{1D310D26-BF8A-467A-B148-81C206AE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403986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СТАВКА №2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· РАУНД 3 ИЗ 4 · ДАННЫЕ И ТИКЕТ</a:t>
            </a:r>
          </a:p>
        </p:txBody>
      </p:sp>
      <p:sp>
        <p:nvSpPr>
          <p:cNvPr id="3" name="hf-187">
            <a:extLst xmlns:a="http://schemas.openxmlformats.org/drawingml/2006/main">
              <a:ext uri="{FF2B5EF4-FFF2-40B4-BE49-F238E27FC236}">
                <a16:creationId xmlns:a16="http://schemas.microsoft.com/office/drawing/2014/main" id="{60132673-A3A5-419F-950F-87FD9C2E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388225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ИЛИ ХЕШ?</a:t>
            </a:r>
          </a:p>
        </p:txBody>
      </p:sp>
      <p:sp>
        <p:nvSpPr>
          <p:cNvPr id="4" name="hf-188">
            <a:extLst xmlns:a="http://schemas.openxmlformats.org/drawingml/2006/main">
              <a:ext uri="{FF2B5EF4-FFF2-40B4-BE49-F238E27FC236}">
                <a16:creationId xmlns:a16="http://schemas.microsoft.com/office/drawing/2014/main" id="{6C4CC579-7F5C-4417-9E70-E1681CE5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7188"/>
            <a:ext cx="424442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точка отсчёта — ставка №1: миллион id, все разные</a:t>
            </a:r>
          </a:p>
        </p:txBody>
      </p:sp>
      <p:sp>
        <p:nvSpPr>
          <p:cNvPr id="5" name="hf-189">
            <a:extLst xmlns:a="http://schemas.openxmlformats.org/drawingml/2006/main">
              <a:ext uri="{FF2B5EF4-FFF2-40B4-BE49-F238E27FC236}">
                <a16:creationId xmlns:a16="http://schemas.microsoft.com/office/drawing/2014/main" id="{8E66A784-C514-43B2-BD69-E525DB3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08379"/>
            <a:ext cx="135396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6" name="hf-190">
            <a:extLst xmlns:a="http://schemas.openxmlformats.org/drawingml/2006/main">
              <a:ext uri="{FF2B5EF4-FFF2-40B4-BE49-F238E27FC236}">
                <a16:creationId xmlns:a16="http://schemas.microsoft.com/office/drawing/2014/main" id="{1980DE2B-A993-4587-BB9A-542323B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428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7" name="hf-191">
            <a:extLst xmlns:a="http://schemas.openxmlformats.org/drawingml/2006/main">
              <a:ext uri="{FF2B5EF4-FFF2-40B4-BE49-F238E27FC236}">
                <a16:creationId xmlns:a16="http://schemas.microsoft.com/office/drawing/2014/main" id="{7FFBFC21-7B0E-44F4-AA3A-83D352C6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34782"/>
            <a:ext cx="34401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8" name="hf-192">
            <a:extLst xmlns:a="http://schemas.openxmlformats.org/drawingml/2006/main">
              <a:ext uri="{FF2B5EF4-FFF2-40B4-BE49-F238E27FC236}">
                <a16:creationId xmlns:a16="http://schemas.microsoft.com/office/drawing/2014/main" id="{D8025E1C-A21A-441C-A5F4-0D6E8C2F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37004"/>
            <a:ext cx="148999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9" name="hf-193">
            <a:extLst xmlns:a="http://schemas.openxmlformats.org/drawingml/2006/main">
              <a:ext uri="{FF2B5EF4-FFF2-40B4-BE49-F238E27FC236}">
                <a16:creationId xmlns:a16="http://schemas.microsoft.com/office/drawing/2014/main" id="{9DEC3214-2560-42C0-8B4F-A6A719F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28825"/>
            <a:ext cx="3643313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0" name="hf-194">
            <a:extLst xmlns:a="http://schemas.openxmlformats.org/drawingml/2006/main">
              <a:ext uri="{FF2B5EF4-FFF2-40B4-BE49-F238E27FC236}">
                <a16:creationId xmlns:a16="http://schemas.microsoft.com/office/drawing/2014/main" id="{F61173D4-5BA2-4E84-9AFB-341ECFDF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1963407"/>
            <a:ext cx="27771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</a:t>
            </a:r>
          </a:p>
        </p:txBody>
      </p:sp>
      <p:sp>
        <p:nvSpPr>
          <p:cNvPr id="11" name="hf-195">
            <a:extLst xmlns:a="http://schemas.openxmlformats.org/drawingml/2006/main">
              <a:ext uri="{FF2B5EF4-FFF2-40B4-BE49-F238E27FC236}">
                <a16:creationId xmlns:a16="http://schemas.microsoft.com/office/drawing/2014/main" id="{64186142-B917-49FB-A4B9-3CEF94A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683" y="1764221"/>
            <a:ext cx="85196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×2,6</a:t>
            </a:r>
          </a:p>
        </p:txBody>
      </p:sp>
      <p:sp>
        <p:nvSpPr>
          <p:cNvPr id="12" name="hf-196">
            <a:extLst xmlns:a="http://schemas.openxmlformats.org/drawingml/2006/main">
              <a:ext uri="{FF2B5EF4-FFF2-40B4-BE49-F238E27FC236}">
                <a16:creationId xmlns:a16="http://schemas.microsoft.com/office/drawing/2014/main" id="{FEB1B8F2-A724-4BE4-9AC3-91613C64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56992"/>
            <a:ext cx="31550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Тот же миллион.</a:t>
            </a:r>
          </a:p>
        </p:txBody>
      </p:sp>
      <p:sp>
        <p:nvSpPr>
          <p:cNvPr id="13" name="hf-197">
            <a:extLst xmlns:a="http://schemas.openxmlformats.org/drawingml/2006/main">
              <a:ext uri="{FF2B5EF4-FFF2-40B4-BE49-F238E27FC236}">
                <a16:creationId xmlns:a16="http://schemas.microsoft.com/office/drawing/2014/main" id="{5D30EC58-58A3-4F42-9A2E-321B280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66567"/>
            <a:ext cx="34424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Уникальных — </a:t>
            </a:r>
            <a:r>
              <a:rPr sz="27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1%</a:t>
            </a:r>
            <a:r>
              <a:rPr sz="27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14" name="hf-198">
            <a:extLst xmlns:a="http://schemas.openxmlformats.org/drawingml/2006/main">
              <a:ext uri="{FF2B5EF4-FFF2-40B4-BE49-F238E27FC236}">
                <a16:creationId xmlns:a16="http://schemas.microsoft.com/office/drawing/2014/main" id="{94C1B394-48F1-4C26-91F2-33B673F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09492"/>
            <a:ext cx="260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225"/>
              </a:lnSpc>
              <a:buNone/>
            </a:pPr>
            <a:r>
              <a:rPr sz="27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Кто впереди?</a:t>
            </a:r>
          </a:p>
        </p:txBody>
      </p:sp>
      <p:sp>
        <p:nvSpPr>
          <p:cNvPr id="15" name="hf-199">
            <a:extLst xmlns:a="http://schemas.openxmlformats.org/drawingml/2006/main">
              <a:ext uri="{FF2B5EF4-FFF2-40B4-BE49-F238E27FC236}">
                <a16:creationId xmlns:a16="http://schemas.microsoft.com/office/drawing/2014/main" id="{3606D3B0-6B38-4F5F-BEC5-68984938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1428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6" name="hf-200">
            <a:extLst xmlns:a="http://schemas.openxmlformats.org/drawingml/2006/main">
              <a:ext uri="{FF2B5EF4-FFF2-40B4-BE49-F238E27FC236}">
                <a16:creationId xmlns:a16="http://schemas.microsoft.com/office/drawing/2014/main" id="{2585FBDF-D31D-48C9-B294-164B6931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964" y="3308642"/>
            <a:ext cx="1006971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sort</a:t>
            </a:r>
          </a:p>
        </p:txBody>
      </p:sp>
      <p:sp>
        <p:nvSpPr>
          <p:cNvPr id="17" name="hf-201">
            <a:extLst xmlns:a="http://schemas.openxmlformats.org/drawingml/2006/main">
              <a:ext uri="{FF2B5EF4-FFF2-40B4-BE49-F238E27FC236}">
                <a16:creationId xmlns:a16="http://schemas.microsoft.com/office/drawing/2014/main" id="{4B525CC2-9055-412E-8276-87158DA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038" y="2857500"/>
            <a:ext cx="1428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8" name="hf-202">
            <a:extLst xmlns:a="http://schemas.openxmlformats.org/drawingml/2006/main">
              <a:ext uri="{FF2B5EF4-FFF2-40B4-BE49-F238E27FC236}">
                <a16:creationId xmlns:a16="http://schemas.microsoft.com/office/drawing/2014/main" id="{C28C8021-7625-46E8-8103-43EE8CD2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248" y="3308642"/>
            <a:ext cx="1069479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хеш</a:t>
            </a:r>
          </a:p>
        </p:txBody>
      </p:sp>
      <p:pic>
        <p:nvPicPr>
          <p:cNvPr id="19" name="hf-203">
            <a:extLst xmlns:a="http://schemas.openxmlformats.org/drawingml/2006/main">
              <a:ext uri="{FF2B5EF4-FFF2-40B4-BE49-F238E27FC236}">
                <a16:creationId xmlns:a16="http://schemas.microsoft.com/office/drawing/2014/main" id="{8C61E27D-6B10-4374-ABD9-504A9ED14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7f2fa10ee4a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0" name="hf-204">
            <a:extLst xmlns:a="http://schemas.openxmlformats.org/drawingml/2006/main">
              <a:ext uri="{FF2B5EF4-FFF2-40B4-BE49-F238E27FC236}">
                <a16:creationId xmlns:a16="http://schemas.microsoft.com/office/drawing/2014/main" id="{9AE1F1F7-985A-4CEF-9795-22345BC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390154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</p:bldLst>
  </p:timing>
</p:sld>
</file>

<file path=ppt/slides/slide15.xml><?xml version="1.0" encoding="utf-8"?>
<p:sld xmlns:p="http://schemas.openxmlformats.org/presentationml/2006/main">
  <p:cSld name="shar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05">
            <a:extLst xmlns:a="http://schemas.openxmlformats.org/drawingml/2006/main">
              <a:ext uri="{FF2B5EF4-FFF2-40B4-BE49-F238E27FC236}">
                <a16:creationId xmlns:a16="http://schemas.microsoft.com/office/drawing/2014/main" id="{FB0A3872-AEBB-4D44-9E26-7ADAC16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762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 НАЗНАЧАЮТ ДАННЫЕ</a:t>
            </a:r>
          </a:p>
        </p:txBody>
      </p:sp>
      <p:sp>
        <p:nvSpPr>
          <p:cNvPr id="3" name="hf-206">
            <a:extLst xmlns:a="http://schemas.openxmlformats.org/drawingml/2006/main">
              <a:ext uri="{FF2B5EF4-FFF2-40B4-BE49-F238E27FC236}">
                <a16:creationId xmlns:a16="http://schemas.microsoft.com/office/drawing/2014/main" id="{6713568A-B442-4F42-9402-EE390505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175004"/>
            <a:ext cx="49370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нс на элемент · N = 2²⁰ · M2 Pro · меньше — лучше</a:t>
            </a:r>
          </a:p>
        </p:txBody>
      </p:sp>
      <p:sp>
        <p:nvSpPr>
          <p:cNvPr id="4" name="hf-207">
            <a:extLst xmlns:a="http://schemas.openxmlformats.org/drawingml/2006/main">
              <a:ext uri="{FF2B5EF4-FFF2-40B4-BE49-F238E27FC236}">
                <a16:creationId xmlns:a16="http://schemas.microsoft.com/office/drawing/2014/main" id="{9C4F4289-1969-4FC8-8D3D-156AA07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2179"/>
            <a:ext cx="47773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Одинаковая линейная шкала полос: 0–60 нс/эл</a:t>
            </a:r>
          </a:p>
        </p:txBody>
      </p:sp>
      <p:sp>
        <p:nvSpPr>
          <p:cNvPr id="5" name="hf-208">
            <a:extLst xmlns:a="http://schemas.openxmlformats.org/drawingml/2006/main">
              <a:ext uri="{FF2B5EF4-FFF2-40B4-BE49-F238E27FC236}">
                <a16:creationId xmlns:a16="http://schemas.microsoft.com/office/drawing/2014/main" id="{2E37161E-60AB-4F1F-9D6F-F5990FA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52771"/>
            <a:ext cx="20935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1% уникальных</a:t>
            </a:r>
          </a:p>
        </p:txBody>
      </p:sp>
      <p:sp>
        <p:nvSpPr>
          <p:cNvPr id="6" name="hf-209">
            <a:extLst xmlns:a="http://schemas.openxmlformats.org/drawingml/2006/main">
              <a:ext uri="{FF2B5EF4-FFF2-40B4-BE49-F238E27FC236}">
                <a16:creationId xmlns:a16="http://schemas.microsoft.com/office/drawing/2014/main" id="{414912CD-2B30-4C62-8B3D-D744568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98929"/>
            <a:ext cx="14899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7" name="hf-210">
            <a:extLst xmlns:a="http://schemas.openxmlformats.org/drawingml/2006/main">
              <a:ext uri="{FF2B5EF4-FFF2-40B4-BE49-F238E27FC236}">
                <a16:creationId xmlns:a16="http://schemas.microsoft.com/office/drawing/2014/main" id="{D0329AFA-FD25-4DE1-97BB-06A120F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274290" cy="304800"/>
          </a:xfrm>
          <a:prstGeom xmlns:a="http://schemas.openxmlformats.org/drawingml/2006/main" prst="roundRect">
            <a:avLst>
              <a:gd name="adj" fmla="val 17363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8" name="hf-211">
            <a:extLst xmlns:a="http://schemas.openxmlformats.org/drawingml/2006/main">
              <a:ext uri="{FF2B5EF4-FFF2-40B4-BE49-F238E27FC236}">
                <a16:creationId xmlns:a16="http://schemas.microsoft.com/office/drawing/2014/main" id="{B1BD8300-52D0-4172-958D-81C810A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33771"/>
            <a:ext cx="4172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3,2</a:t>
            </a:r>
          </a:p>
        </p:txBody>
      </p:sp>
      <p:sp>
        <p:nvSpPr>
          <p:cNvPr id="9" name="hf-212">
            <a:extLst xmlns:a="http://schemas.openxmlformats.org/drawingml/2006/main">
              <a:ext uri="{FF2B5EF4-FFF2-40B4-BE49-F238E27FC236}">
                <a16:creationId xmlns:a16="http://schemas.microsoft.com/office/drawing/2014/main" id="{CDE206C2-369C-466B-8B06-2323BB6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27554"/>
            <a:ext cx="135396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0" name="hf-213">
            <a:extLst xmlns:a="http://schemas.openxmlformats.org/drawingml/2006/main">
              <a:ext uri="{FF2B5EF4-FFF2-40B4-BE49-F238E27FC236}">
                <a16:creationId xmlns:a16="http://schemas.microsoft.com/office/drawing/2014/main" id="{05D48CAD-517C-491B-839D-4402100B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10287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1" name="hf-214">
            <a:extLst xmlns:a="http://schemas.openxmlformats.org/drawingml/2006/main">
              <a:ext uri="{FF2B5EF4-FFF2-40B4-BE49-F238E27FC236}">
                <a16:creationId xmlns:a16="http://schemas.microsoft.com/office/drawing/2014/main" id="{9067A954-6F30-439F-9085-49D6CC0F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396"/>
            <a:ext cx="5326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12,0</a:t>
            </a:r>
          </a:p>
        </p:txBody>
      </p:sp>
      <p:sp>
        <p:nvSpPr>
          <p:cNvPr id="12" name="hf-215">
            <a:extLst xmlns:a="http://schemas.openxmlformats.org/drawingml/2006/main">
              <a:ext uri="{FF2B5EF4-FFF2-40B4-BE49-F238E27FC236}">
                <a16:creationId xmlns:a16="http://schemas.microsoft.com/office/drawing/2014/main" id="{9FF5895D-258F-4600-94F0-F76E4DB6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2087404"/>
            <a:ext cx="2269331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37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хеш ×3,7</a:t>
            </a:r>
          </a:p>
        </p:txBody>
      </p:sp>
      <p:sp>
        <p:nvSpPr>
          <p:cNvPr id="13" name="hf-216">
            <a:extLst xmlns:a="http://schemas.openxmlformats.org/drawingml/2006/main">
              <a:ext uri="{FF2B5EF4-FFF2-40B4-BE49-F238E27FC236}">
                <a16:creationId xmlns:a16="http://schemas.microsoft.com/office/drawing/2014/main" id="{E3E02623-5E5C-4612-B8DE-C2754057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86271"/>
            <a:ext cx="24296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100% уникальных</a:t>
            </a:r>
          </a:p>
        </p:txBody>
      </p:sp>
      <p:sp>
        <p:nvSpPr>
          <p:cNvPr id="14" name="hf-217">
            <a:extLst xmlns:a="http://schemas.openxmlformats.org/drawingml/2006/main">
              <a:ext uri="{FF2B5EF4-FFF2-40B4-BE49-F238E27FC236}">
                <a16:creationId xmlns:a16="http://schemas.microsoft.com/office/drawing/2014/main" id="{4A25120C-2796-4B21-9294-F99E3F02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80054"/>
            <a:ext cx="135396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5" name="hf-218">
            <a:extLst xmlns:a="http://schemas.openxmlformats.org/drawingml/2006/main">
              <a:ext uri="{FF2B5EF4-FFF2-40B4-BE49-F238E27FC236}">
                <a16:creationId xmlns:a16="http://schemas.microsoft.com/office/drawing/2014/main" id="{CAB5DB5B-9F27-4626-B384-664115F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69731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6" name="hf-219">
            <a:extLst xmlns:a="http://schemas.openxmlformats.org/drawingml/2006/main">
              <a:ext uri="{FF2B5EF4-FFF2-40B4-BE49-F238E27FC236}">
                <a16:creationId xmlns:a16="http://schemas.microsoft.com/office/drawing/2014/main" id="{26A01B07-091F-4C7A-B18A-FE8A476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14896"/>
            <a:ext cx="53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19,8</a:t>
            </a:r>
          </a:p>
        </p:txBody>
      </p:sp>
      <p:sp>
        <p:nvSpPr>
          <p:cNvPr id="17" name="hf-220">
            <a:extLst xmlns:a="http://schemas.openxmlformats.org/drawingml/2006/main">
              <a:ext uri="{FF2B5EF4-FFF2-40B4-BE49-F238E27FC236}">
                <a16:creationId xmlns:a16="http://schemas.microsoft.com/office/drawing/2014/main" id="{875D791E-5E81-4343-80CB-D79D93B2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08679"/>
            <a:ext cx="14899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8" name="hf-221">
            <a:extLst xmlns:a="http://schemas.openxmlformats.org/drawingml/2006/main">
              <a:ext uri="{FF2B5EF4-FFF2-40B4-BE49-F238E27FC236}">
                <a16:creationId xmlns:a16="http://schemas.microsoft.com/office/drawing/2014/main" id="{4DD06229-71F0-4DCF-8097-53B9E72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52875"/>
            <a:ext cx="442339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9" name="hf-222">
            <a:extLst xmlns:a="http://schemas.openxmlformats.org/drawingml/2006/main">
              <a:ext uri="{FF2B5EF4-FFF2-40B4-BE49-F238E27FC236}">
                <a16:creationId xmlns:a16="http://schemas.microsoft.com/office/drawing/2014/main" id="{CFAF93A7-D8BC-4497-848D-97502DD0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13" y="3943521"/>
            <a:ext cx="52119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51,6</a:t>
            </a:r>
          </a:p>
        </p:txBody>
      </p:sp>
      <p:sp>
        <p:nvSpPr>
          <p:cNvPr id="20" name="hf-223">
            <a:extLst xmlns:a="http://schemas.openxmlformats.org/drawingml/2006/main">
              <a:ext uri="{FF2B5EF4-FFF2-40B4-BE49-F238E27FC236}">
                <a16:creationId xmlns:a16="http://schemas.microsoft.com/office/drawing/2014/main" id="{98351018-ECFB-440F-BC55-102BE79B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423" y="3087529"/>
            <a:ext cx="2222227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37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sort ×2,6</a:t>
            </a:r>
          </a:p>
        </p:txBody>
      </p:sp>
      <p:pic>
        <p:nvPicPr>
          <p:cNvPr id="21" name="hf-224">
            <a:extLst xmlns:a="http://schemas.openxmlformats.org/drawingml/2006/main">
              <a:ext uri="{FF2B5EF4-FFF2-40B4-BE49-F238E27FC236}">
                <a16:creationId xmlns:a16="http://schemas.microsoft.com/office/drawing/2014/main" id="{74FFF357-7FC8-4DE1-8999-C2EC4A96A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7d86b2fbb4e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225">
            <a:extLst xmlns:a="http://schemas.openxmlformats.org/drawingml/2006/main">
              <a:ext uri="{FF2B5EF4-FFF2-40B4-BE49-F238E27FC236}">
                <a16:creationId xmlns:a16="http://schemas.microsoft.com/office/drawing/2014/main" id="{E1CAC35A-FF6D-4822-A68C-8884D51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284949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6.xml><?xml version="1.0" encoding="utf-8"?>
<p:sld xmlns:p="http://schemas.openxmlformats.org/presentationml/2006/main">
  <p:cSld name="outcontrac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26">
            <a:extLst xmlns:a="http://schemas.openxmlformats.org/drawingml/2006/main">
              <a:ext uri="{FF2B5EF4-FFF2-40B4-BE49-F238E27FC236}">
                <a16:creationId xmlns:a16="http://schemas.microsoft.com/office/drawing/2014/main" id="{8BAF6639-A6F3-44A5-9D41-2A824E1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0411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ТРЕБОВАНИЕ В ТИКЕТЕ МЕНЯЕТ</a:t>
            </a:r>
          </a:p>
        </p:txBody>
      </p:sp>
      <p:sp>
        <p:nvSpPr>
          <p:cNvPr id="3" name="hf-227">
            <a:extLst xmlns:a="http://schemas.openxmlformats.org/drawingml/2006/main">
              <a:ext uri="{FF2B5EF4-FFF2-40B4-BE49-F238E27FC236}">
                <a16:creationId xmlns:a16="http://schemas.microsoft.com/office/drawing/2014/main" id="{DDCD0BA7-6D26-4E61-9EB1-42C3804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04796"/>
            <a:ext cx="217452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</a:t>
            </a:r>
          </a:p>
        </p:txBody>
      </p:sp>
      <p:sp>
        <p:nvSpPr>
          <p:cNvPr id="4" name="hf-228">
            <a:extLst xmlns:a="http://schemas.openxmlformats.org/drawingml/2006/main">
              <a:ext uri="{FF2B5EF4-FFF2-40B4-BE49-F238E27FC236}">
                <a16:creationId xmlns:a16="http://schemas.microsoft.com/office/drawing/2014/main" id="{E3A2C8F9-A23D-4E00-AD74-BA7EB747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22642"/>
            <a:ext cx="373774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 · N = 2²⁰ · U = N/2 · нс/элемент</a:t>
            </a:r>
          </a:p>
        </p:txBody>
      </p:sp>
      <p:sp>
        <p:nvSpPr>
          <p:cNvPr id="5" name="hf-229">
            <a:extLst xmlns:a="http://schemas.openxmlformats.org/drawingml/2006/main">
              <a:ext uri="{FF2B5EF4-FFF2-40B4-BE49-F238E27FC236}">
                <a16:creationId xmlns:a16="http://schemas.microsoft.com/office/drawing/2014/main" id="{F3377F07-8F42-47C3-B2A9-101BC16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002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6" name="hf-230">
            <a:extLst xmlns:a="http://schemas.openxmlformats.org/drawingml/2006/main">
              <a:ext uri="{FF2B5EF4-FFF2-40B4-BE49-F238E27FC236}">
                <a16:creationId xmlns:a16="http://schemas.microsoft.com/office/drawing/2014/main" id="{E9D2FDE9-6F79-46FB-BF30-8431B20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87182"/>
            <a:ext cx="361942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Уникальные, порядок любой</a:t>
            </a:r>
          </a:p>
        </p:txBody>
      </p:sp>
      <p:sp>
        <p:nvSpPr>
          <p:cNvPr id="7" name="hf-231">
            <a:extLst xmlns:a="http://schemas.openxmlformats.org/drawingml/2006/main">
              <a:ext uri="{FF2B5EF4-FFF2-40B4-BE49-F238E27FC236}">
                <a16:creationId xmlns:a16="http://schemas.microsoft.com/office/drawing/2014/main" id="{BC00225D-531A-4D1D-A75B-1E298AD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84629"/>
            <a:ext cx="18207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22,6</a:t>
            </a:r>
          </a:p>
        </p:txBody>
      </p:sp>
      <p:sp>
        <p:nvSpPr>
          <p:cNvPr id="8" name="hf-232">
            <a:extLst xmlns:a="http://schemas.openxmlformats.org/drawingml/2006/main">
              <a:ext uri="{FF2B5EF4-FFF2-40B4-BE49-F238E27FC236}">
                <a16:creationId xmlns:a16="http://schemas.microsoft.com/office/drawing/2014/main" id="{4157F0F8-7A40-45EA-B411-563BFA36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73355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hf-233">
            <a:extLst xmlns:a="http://schemas.openxmlformats.org/drawingml/2006/main">
              <a:ext uri="{FF2B5EF4-FFF2-40B4-BE49-F238E27FC236}">
                <a16:creationId xmlns:a16="http://schemas.microsoft.com/office/drawing/2014/main" id="{DF9E0BB2-7C15-4BEE-A40B-3EBF19F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877" y="1668132"/>
            <a:ext cx="114672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близко</a:t>
            </a:r>
          </a:p>
        </p:txBody>
      </p:sp>
      <p:sp>
        <p:nvSpPr>
          <p:cNvPr id="10" name="hf-234">
            <a:extLst xmlns:a="http://schemas.openxmlformats.org/drawingml/2006/main">
              <a:ext uri="{FF2B5EF4-FFF2-40B4-BE49-F238E27FC236}">
                <a16:creationId xmlns:a16="http://schemas.microsoft.com/office/drawing/2014/main" id="{12E49525-47FE-443E-8AAA-C5246CA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336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1" name="hf-235">
            <a:extLst xmlns:a="http://schemas.openxmlformats.org/drawingml/2006/main">
              <a:ext uri="{FF2B5EF4-FFF2-40B4-BE49-F238E27FC236}">
                <a16:creationId xmlns:a16="http://schemas.microsoft.com/office/drawing/2014/main" id="{511FE337-E039-4934-A0D8-D2226F4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20607"/>
            <a:ext cx="230430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Отсортированные</a:t>
            </a:r>
          </a:p>
        </p:txBody>
      </p:sp>
      <p:sp>
        <p:nvSpPr>
          <p:cNvPr id="12" name="hf-236">
            <a:extLst xmlns:a="http://schemas.openxmlformats.org/drawingml/2006/main">
              <a:ext uri="{FF2B5EF4-FFF2-40B4-BE49-F238E27FC236}">
                <a16:creationId xmlns:a16="http://schemas.microsoft.com/office/drawing/2014/main" id="{3FC1069A-CDD2-4E40-B1DE-B14F4D8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8054"/>
            <a:ext cx="181912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32,6</a:t>
            </a:r>
          </a:p>
        </p:txBody>
      </p:sp>
      <p:sp>
        <p:nvSpPr>
          <p:cNvPr id="13" name="hf-237">
            <a:extLst xmlns:a="http://schemas.openxmlformats.org/drawingml/2006/main">
              <a:ext uri="{FF2B5EF4-FFF2-40B4-BE49-F238E27FC236}">
                <a16:creationId xmlns:a16="http://schemas.microsoft.com/office/drawing/2014/main" id="{D5972AD6-A1C5-4624-9D47-A2ACA2C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4669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4" name="hf-238">
            <a:extLst xmlns:a="http://schemas.openxmlformats.org/drawingml/2006/main">
              <a:ext uri="{FF2B5EF4-FFF2-40B4-BE49-F238E27FC236}">
                <a16:creationId xmlns:a16="http://schemas.microsoft.com/office/drawing/2014/main" id="{66471564-2F94-4CEE-A4DE-B750E72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343" y="2401557"/>
            <a:ext cx="1023789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×1,6</a:t>
            </a:r>
          </a:p>
        </p:txBody>
      </p:sp>
      <p:sp>
        <p:nvSpPr>
          <p:cNvPr id="15" name="hf-239">
            <a:extLst xmlns:a="http://schemas.openxmlformats.org/drawingml/2006/main">
              <a:ext uri="{FF2B5EF4-FFF2-40B4-BE49-F238E27FC236}">
                <a16:creationId xmlns:a16="http://schemas.microsoft.com/office/drawing/2014/main" id="{F2251AD8-8B3D-4755-A2B5-557B61A4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670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6" name="hf-240">
            <a:extLst xmlns:a="http://schemas.openxmlformats.org/drawingml/2006/main">
              <a:ext uri="{FF2B5EF4-FFF2-40B4-BE49-F238E27FC236}">
                <a16:creationId xmlns:a16="http://schemas.microsoft.com/office/drawing/2014/main" id="{BBAF9291-F75E-4E99-B5BD-20E9A1C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54032"/>
            <a:ext cx="37980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 порядке первого появления</a:t>
            </a:r>
          </a:p>
        </p:txBody>
      </p:sp>
      <p:sp>
        <p:nvSpPr>
          <p:cNvPr id="17" name="hf-241">
            <a:extLst xmlns:a="http://schemas.openxmlformats.org/drawingml/2006/main">
              <a:ext uri="{FF2B5EF4-FFF2-40B4-BE49-F238E27FC236}">
                <a16:creationId xmlns:a16="http://schemas.microsoft.com/office/drawing/2014/main" id="{A5CCAC97-48C5-4F01-A067-3FDBD13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51479"/>
            <a:ext cx="183229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74,6 · хеш 22,0</a:t>
            </a:r>
          </a:p>
        </p:txBody>
      </p:sp>
      <p:sp>
        <p:nvSpPr>
          <p:cNvPr id="18" name="hf-242">
            <a:extLst xmlns:a="http://schemas.openxmlformats.org/drawingml/2006/main">
              <a:ext uri="{FF2B5EF4-FFF2-40B4-BE49-F238E27FC236}">
                <a16:creationId xmlns:a16="http://schemas.microsoft.com/office/drawing/2014/main" id="{4C633AD0-E7D9-4AC0-A6C0-AD6D53B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2004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9" name="hf-243">
            <a:extLst xmlns:a="http://schemas.openxmlformats.org/drawingml/2006/main">
              <a:ext uri="{FF2B5EF4-FFF2-40B4-BE49-F238E27FC236}">
                <a16:creationId xmlns:a16="http://schemas.microsoft.com/office/drawing/2014/main" id="{1A0164B6-11F9-4160-B3C4-D36F4EF5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92" y="3134982"/>
            <a:ext cx="111249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×3,4</a:t>
            </a:r>
          </a:p>
        </p:txBody>
      </p:sp>
      <p:sp>
        <p:nvSpPr>
          <p:cNvPr id="20" name="hf-244">
            <a:extLst xmlns:a="http://schemas.openxmlformats.org/drawingml/2006/main">
              <a:ext uri="{FF2B5EF4-FFF2-40B4-BE49-F238E27FC236}">
                <a16:creationId xmlns:a16="http://schemas.microsoft.com/office/drawing/2014/main" id="{0B30BF69-B8C3-41D7-BB32-EE2AFDC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01757"/>
            <a:ext cx="368148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Тот же набор ≠ тот же порядок</a:t>
            </a:r>
          </a:p>
        </p:txBody>
      </p:sp>
      <p:pic>
        <p:nvPicPr>
          <p:cNvPr id="21" name="hf-245">
            <a:extLst xmlns:a="http://schemas.openxmlformats.org/drawingml/2006/main">
              <a:ext uri="{FF2B5EF4-FFF2-40B4-BE49-F238E27FC236}">
                <a16:creationId xmlns:a16="http://schemas.microsoft.com/office/drawing/2014/main" id="{770D2FAA-3F4C-4630-97A9-6DD52E42E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96a2149bb40e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246">
            <a:extLst xmlns:a="http://schemas.openxmlformats.org/drawingml/2006/main">
              <a:ext uri="{FF2B5EF4-FFF2-40B4-BE49-F238E27FC236}">
                <a16:creationId xmlns:a16="http://schemas.microsoft.com/office/drawing/2014/main" id="{475D3CEF-18C8-45E7-9623-9D396E6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326874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7.xml><?xml version="1.0" encoding="utf-8"?>
<p:sld xmlns:p="http://schemas.openxmlformats.org/presentationml/2006/main">
  <p:cSld name="inputord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47">
            <a:extLst xmlns:a="http://schemas.openxmlformats.org/drawingml/2006/main">
              <a:ext uri="{FF2B5EF4-FFF2-40B4-BE49-F238E27FC236}">
                <a16:creationId xmlns:a16="http://schemas.microsoft.com/office/drawing/2014/main" id="{C940FEEB-2A70-47AD-8602-557FEDC9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24271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ПОРЯДОК ТОГО ЖЕ ВХОДА</a:t>
            </a:r>
          </a:p>
        </p:txBody>
      </p:sp>
      <p:sp>
        <p:nvSpPr>
          <p:cNvPr id="3" name="hf-248">
            <a:extLst xmlns:a="http://schemas.openxmlformats.org/drawingml/2006/main">
              <a:ext uri="{FF2B5EF4-FFF2-40B4-BE49-F238E27FC236}">
                <a16:creationId xmlns:a16="http://schemas.microsoft.com/office/drawing/2014/main" id="{34F3FDC5-C76F-478A-B37B-C7A8266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17892"/>
            <a:ext cx="447079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 · libc++ · N = 2²⁰ · U = N/2 · нс/элемент</a:t>
            </a:r>
          </a:p>
        </p:txBody>
      </p:sp>
      <p:sp>
        <p:nvSpPr>
          <p:cNvPr id="4" name="hf-249">
            <a:extLst xmlns:a="http://schemas.openxmlformats.org/drawingml/2006/main">
              <a:ext uri="{FF2B5EF4-FFF2-40B4-BE49-F238E27FC236}">
                <a16:creationId xmlns:a16="http://schemas.microsoft.com/office/drawing/2014/main" id="{DC314937-746A-45C5-A9F1-219234D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145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5" name="hf-250">
            <a:extLst xmlns:a="http://schemas.openxmlformats.org/drawingml/2006/main">
              <a:ext uri="{FF2B5EF4-FFF2-40B4-BE49-F238E27FC236}">
                <a16:creationId xmlns:a16="http://schemas.microsoft.com/office/drawing/2014/main" id="{51760D3B-8A09-4E0D-9E5D-18E1214A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30057"/>
            <a:ext cx="144809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Случайный</a:t>
            </a:r>
          </a:p>
        </p:txBody>
      </p:sp>
      <p:sp>
        <p:nvSpPr>
          <p:cNvPr id="6" name="hf-251">
            <a:extLst xmlns:a="http://schemas.openxmlformats.org/drawingml/2006/main">
              <a:ext uri="{FF2B5EF4-FFF2-40B4-BE49-F238E27FC236}">
                <a16:creationId xmlns:a16="http://schemas.microsoft.com/office/drawing/2014/main" id="{4BD5ADBE-8859-4E3B-9116-34D9093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27504"/>
            <a:ext cx="18207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20,2 · хеш 22,6</a:t>
            </a:r>
          </a:p>
        </p:txBody>
      </p:sp>
      <p:sp>
        <p:nvSpPr>
          <p:cNvPr id="7" name="hf-252">
            <a:extLst xmlns:a="http://schemas.openxmlformats.org/drawingml/2006/main">
              <a:ext uri="{FF2B5EF4-FFF2-40B4-BE49-F238E27FC236}">
                <a16:creationId xmlns:a16="http://schemas.microsoft.com/office/drawing/2014/main" id="{29971113-6493-4064-BF2C-02DBC3D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87642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8" name="hf-253">
            <a:extLst xmlns:a="http://schemas.openxmlformats.org/drawingml/2006/main">
              <a:ext uri="{FF2B5EF4-FFF2-40B4-BE49-F238E27FC236}">
                <a16:creationId xmlns:a16="http://schemas.microsoft.com/office/drawing/2014/main" id="{09547CFF-FFB9-4ADE-BCFF-B0807085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877" y="1811007"/>
            <a:ext cx="114672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близко</a:t>
            </a:r>
          </a:p>
        </p:txBody>
      </p:sp>
      <p:sp>
        <p:nvSpPr>
          <p:cNvPr id="9" name="hf-254">
            <a:extLst xmlns:a="http://schemas.openxmlformats.org/drawingml/2006/main">
              <a:ext uri="{FF2B5EF4-FFF2-40B4-BE49-F238E27FC236}">
                <a16:creationId xmlns:a16="http://schemas.microsoft.com/office/drawing/2014/main" id="{7A4D4404-8D8D-46BD-92EA-B35EC21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55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255">
            <a:extLst xmlns:a="http://schemas.openxmlformats.org/drawingml/2006/main">
              <a:ext uri="{FF2B5EF4-FFF2-40B4-BE49-F238E27FC236}">
                <a16:creationId xmlns:a16="http://schemas.microsoft.com/office/drawing/2014/main" id="{E9736CC1-8C87-4291-A94D-CAAF37A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11107"/>
            <a:ext cx="273330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Сериями одинаковых</a:t>
            </a:r>
          </a:p>
        </p:txBody>
      </p:sp>
      <p:sp>
        <p:nvSpPr>
          <p:cNvPr id="11" name="hf-256">
            <a:extLst xmlns:a="http://schemas.openxmlformats.org/drawingml/2006/main">
              <a:ext uri="{FF2B5EF4-FFF2-40B4-BE49-F238E27FC236}">
                <a16:creationId xmlns:a16="http://schemas.microsoft.com/office/drawing/2014/main" id="{5B51A8DD-5D6C-4B2D-8073-85C4030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08554"/>
            <a:ext cx="17703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20,5 · хеш 15,5</a:t>
            </a:r>
          </a:p>
        </p:txBody>
      </p:sp>
      <p:sp>
        <p:nvSpPr>
          <p:cNvPr id="12" name="hf-257">
            <a:extLst xmlns:a="http://schemas.openxmlformats.org/drawingml/2006/main">
              <a:ext uri="{FF2B5EF4-FFF2-40B4-BE49-F238E27FC236}">
                <a16:creationId xmlns:a16="http://schemas.microsoft.com/office/drawing/2014/main" id="{E7C4E362-FD09-42D7-BD97-83F8880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6574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3" name="hf-258">
            <a:extLst xmlns:a="http://schemas.openxmlformats.org/drawingml/2006/main">
              <a:ext uri="{FF2B5EF4-FFF2-40B4-BE49-F238E27FC236}">
                <a16:creationId xmlns:a16="http://schemas.microsoft.com/office/drawing/2014/main" id="{61A72E4D-5A80-4880-B742-A4C4EEC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735" y="2592057"/>
            <a:ext cx="104693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×1,3</a:t>
            </a:r>
          </a:p>
        </p:txBody>
      </p:sp>
      <p:sp>
        <p:nvSpPr>
          <p:cNvPr id="14" name="hf-259">
            <a:extLst xmlns:a="http://schemas.openxmlformats.org/drawingml/2006/main">
              <a:ext uri="{FF2B5EF4-FFF2-40B4-BE49-F238E27FC236}">
                <a16:creationId xmlns:a16="http://schemas.microsoft.com/office/drawing/2014/main" id="{A50CCDC5-DC0A-4D0D-A011-FCED3EE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766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260">
            <a:extLst xmlns:a="http://schemas.openxmlformats.org/drawingml/2006/main">
              <a:ext uri="{FF2B5EF4-FFF2-40B4-BE49-F238E27FC236}">
                <a16:creationId xmlns:a16="http://schemas.microsoft.com/office/drawing/2014/main" id="{0EDF30D3-AE69-4EF5-9FF5-9DF37C73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92157"/>
            <a:ext cx="283130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Уже отсортированный</a:t>
            </a:r>
          </a:p>
        </p:txBody>
      </p:sp>
      <p:sp>
        <p:nvSpPr>
          <p:cNvPr id="16" name="hf-261">
            <a:extLst xmlns:a="http://schemas.openxmlformats.org/drawingml/2006/main">
              <a:ext uri="{FF2B5EF4-FFF2-40B4-BE49-F238E27FC236}">
                <a16:creationId xmlns:a16="http://schemas.microsoft.com/office/drawing/2014/main" id="{DB04F24B-E216-4D3A-BED7-7BE4068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099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17" name="hf-262">
            <a:extLst xmlns:a="http://schemas.openxmlformats.org/drawingml/2006/main">
              <a:ext uri="{FF2B5EF4-FFF2-40B4-BE49-F238E27FC236}">
                <a16:creationId xmlns:a16="http://schemas.microsoft.com/office/drawing/2014/main" id="{4115444A-8BC3-4288-AC6C-19B9588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9" y="3365754"/>
            <a:ext cx="1342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8" name="hf-263">
            <a:extLst xmlns:a="http://schemas.openxmlformats.org/drawingml/2006/main">
              <a:ext uri="{FF2B5EF4-FFF2-40B4-BE49-F238E27FC236}">
                <a16:creationId xmlns:a16="http://schemas.microsoft.com/office/drawing/2014/main" id="{3AACBC82-ABEC-47F0-82A9-4A0CE14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89604"/>
            <a:ext cx="16751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sort 2,0 · хеш 16,5</a:t>
            </a:r>
          </a:p>
        </p:txBody>
      </p:sp>
      <p:sp>
        <p:nvSpPr>
          <p:cNvPr id="19" name="hf-264">
            <a:extLst xmlns:a="http://schemas.openxmlformats.org/drawingml/2006/main">
              <a:ext uri="{FF2B5EF4-FFF2-40B4-BE49-F238E27FC236}">
                <a16:creationId xmlns:a16="http://schemas.microsoft.com/office/drawing/2014/main" id="{FA83AAF4-1A90-4DE6-9D39-85FBE97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43852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20" name="hf-265">
            <a:extLst xmlns:a="http://schemas.openxmlformats.org/drawingml/2006/main">
              <a:ext uri="{FF2B5EF4-FFF2-40B4-BE49-F238E27FC236}">
                <a16:creationId xmlns:a16="http://schemas.microsoft.com/office/drawing/2014/main" id="{4C2165FB-CDC9-4623-8B20-58F17F0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86" y="3366173"/>
            <a:ext cx="104090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1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×8</a:t>
            </a:r>
          </a:p>
        </p:txBody>
      </p:sp>
      <p:sp>
        <p:nvSpPr>
          <p:cNvPr id="21" name="hf-266">
            <a:extLst xmlns:a="http://schemas.openxmlformats.org/drawingml/2006/main">
              <a:ext uri="{FF2B5EF4-FFF2-40B4-BE49-F238E27FC236}">
                <a16:creationId xmlns:a16="http://schemas.microsoft.com/office/drawing/2014/main" id="{01B8B37B-3BB7-4E41-AC6E-4822DCA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70604"/>
            <a:ext cx="435203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libc++: ≈2 сравнения на элемент вместо ≈22</a:t>
            </a:r>
          </a:p>
        </p:txBody>
      </p:sp>
      <p:sp>
        <p:nvSpPr>
          <p:cNvPr id="22" name="hf-267">
            <a:extLst xmlns:a="http://schemas.openxmlformats.org/drawingml/2006/main">
              <a:ext uri="{FF2B5EF4-FFF2-40B4-BE49-F238E27FC236}">
                <a16:creationId xmlns:a16="http://schemas.microsoft.com/office/drawing/2014/main" id="{6D477B68-3E7B-42F5-B429-030B26E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761" y="4070604"/>
            <a:ext cx="229217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libstdc++ так не делает</a:t>
            </a:r>
          </a:p>
        </p:txBody>
      </p:sp>
      <p:pic>
        <p:nvPicPr>
          <p:cNvPr id="23" name="hf-268">
            <a:extLst xmlns:a="http://schemas.openxmlformats.org/drawingml/2006/main">
              <a:ext uri="{FF2B5EF4-FFF2-40B4-BE49-F238E27FC236}">
                <a16:creationId xmlns:a16="http://schemas.microsoft.com/office/drawing/2014/main" id="{CF717ED3-8D7F-4CCF-85A6-31F8859DB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a6901d4c540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4" name="hf-269">
            <a:extLst xmlns:a="http://schemas.openxmlformats.org/drawingml/2006/main">
              <a:ext uri="{FF2B5EF4-FFF2-40B4-BE49-F238E27FC236}">
                <a16:creationId xmlns:a16="http://schemas.microsoft.com/office/drawing/2014/main" id="{A733BBDA-521E-4C57-A395-F00205D6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5690743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p="http://schemas.openxmlformats.org/presentationml/2006/main">
  <p:cSld name="learned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70">
            <a:extLst xmlns:a="http://schemas.openxmlformats.org/drawingml/2006/main">
              <a:ext uri="{FF2B5EF4-FFF2-40B4-BE49-F238E27FC236}">
                <a16:creationId xmlns:a16="http://schemas.microsoft.com/office/drawing/2014/main" id="{2A987571-DE7E-419B-A63A-552BA54F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365365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ОДИН И ТОТ ЖЕ БИЛЕТ</a:t>
            </a:r>
          </a:p>
        </p:txBody>
      </p:sp>
      <p:sp>
        <p:nvSpPr>
          <p:cNvPr id="3" name="hf-271">
            <a:extLst xmlns:a="http://schemas.openxmlformats.org/drawingml/2006/main">
              <a:ext uri="{FF2B5EF4-FFF2-40B4-BE49-F238E27FC236}">
                <a16:creationId xmlns:a16="http://schemas.microsoft.com/office/drawing/2014/main" id="{06542217-A3CE-416F-8CDA-2474790D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28477"/>
            <a:ext cx="4659139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88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sort + unique · 1024 id · macOS, M2 Pro · нс/элемент</a:t>
            </a:r>
          </a:p>
        </p:txBody>
      </p:sp>
      <p:sp>
        <p:nvSpPr>
          <p:cNvPr id="4" name="hf-272">
            <a:extLst xmlns:a="http://schemas.openxmlformats.org/drawingml/2006/main">
              <a:ext uri="{FF2B5EF4-FFF2-40B4-BE49-F238E27FC236}">
                <a16:creationId xmlns:a16="http://schemas.microsoft.com/office/drawing/2014/main" id="{5FA211C6-F557-43EF-A1FC-27403F11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13078"/>
            <a:ext cx="1044848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5400"/>
              </a:lnSpc>
              <a:buNone/>
            </a:pPr>
            <a:r>
              <a:rPr sz="48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6,8</a:t>
            </a:r>
          </a:p>
        </p:txBody>
      </p:sp>
      <p:sp>
        <p:nvSpPr>
          <p:cNvPr id="5" name="hf-273">
            <a:extLst xmlns:a="http://schemas.openxmlformats.org/drawingml/2006/main">
              <a:ext uri="{FF2B5EF4-FFF2-40B4-BE49-F238E27FC236}">
                <a16:creationId xmlns:a16="http://schemas.microsoft.com/office/drawing/2014/main" id="{110FAE2A-A9D3-4179-BE1C-B78C0C0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3078"/>
            <a:ext cx="134488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5400"/>
              </a:lnSpc>
              <a:buNone/>
            </a:pPr>
            <a:r>
              <a:rPr sz="48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14,4</a:t>
            </a:r>
          </a:p>
        </p:txBody>
      </p:sp>
      <p:sp>
        <p:nvSpPr>
          <p:cNvPr id="6" name="hf-274">
            <a:extLst xmlns:a="http://schemas.openxmlformats.org/drawingml/2006/main">
              <a:ext uri="{FF2B5EF4-FFF2-40B4-BE49-F238E27FC236}">
                <a16:creationId xmlns:a16="http://schemas.microsoft.com/office/drawing/2014/main" id="{4A4F8E14-7BB8-4B90-B911-0B36D7C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31206"/>
            <a:ext cx="214230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и тот же вход</a:t>
            </a:r>
          </a:p>
        </p:txBody>
      </p:sp>
      <p:sp>
        <p:nvSpPr>
          <p:cNvPr id="7" name="hf-275">
            <a:extLst xmlns:a="http://schemas.openxmlformats.org/drawingml/2006/main">
              <a:ext uri="{FF2B5EF4-FFF2-40B4-BE49-F238E27FC236}">
                <a16:creationId xmlns:a16="http://schemas.microsoft.com/office/drawing/2014/main" id="{AF4FFE91-E96C-4C02-8567-8C939A5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1206"/>
            <a:ext cx="185157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64 разных входа</a:t>
            </a:r>
          </a:p>
        </p:txBody>
      </p:sp>
      <p:pic>
        <p:nvPicPr>
          <p:cNvPr id="8" name="hf-276">
            <a:extLst xmlns:a="http://schemas.openxmlformats.org/drawingml/2006/main">
              <a:ext uri="{FF2B5EF4-FFF2-40B4-BE49-F238E27FC236}">
                <a16:creationId xmlns:a16="http://schemas.microsoft.com/office/drawing/2014/main" id="{BD1A5DD5-A369-4727-ABA7-1AA8A25A9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569ea6c90446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071688" y="2628900"/>
            <a:ext cx="5000625" cy="1666875"/>
          </a:xfrm>
          <a:prstGeom xmlns:a="http://schemas.openxmlformats.org/drawingml/2006/main" prst="rect">
            <a:avLst/>
          </a:prstGeom>
        </p:spPr>
      </p:pic>
      <p:sp>
        <p:nvSpPr>
          <p:cNvPr id="9" name="hf-277">
            <a:extLst xmlns:a="http://schemas.openxmlformats.org/drawingml/2006/main">
              <a:ext uri="{FF2B5EF4-FFF2-40B4-BE49-F238E27FC236}">
                <a16:creationId xmlns:a16="http://schemas.microsoft.com/office/drawing/2014/main" id="{254C60A0-2143-49FD-A1C4-0103BFF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17168"/>
            <a:ext cx="45638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Проверяйте входы, а не только результат</a:t>
            </a:r>
          </a:p>
        </p:txBody>
      </p:sp>
      <p:pic>
        <p:nvPicPr>
          <p:cNvPr id="10" name="hf-278">
            <a:extLst xmlns:a="http://schemas.openxmlformats.org/drawingml/2006/main">
              <a:ext uri="{FF2B5EF4-FFF2-40B4-BE49-F238E27FC236}">
                <a16:creationId xmlns:a16="http://schemas.microsoft.com/office/drawing/2014/main" id="{C2F5AAE5-D3A6-4849-9E05-5CCE271BA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c1113013c45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1" name="hf-279">
            <a:extLst xmlns:a="http://schemas.openxmlformats.org/drawingml/2006/main">
              <a:ext uri="{FF2B5EF4-FFF2-40B4-BE49-F238E27FC236}">
                <a16:creationId xmlns:a16="http://schemas.microsoft.com/office/drawing/2014/main" id="{5290800D-0BEC-4792-A059-42FAF64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82864238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19.xml><?xml version="1.0" encoding="utf-8"?>
<p:sld xmlns:p="http://schemas.openxmlformats.org/presentationml/2006/main">
  <p:cSld name="qo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280">
            <a:extLst xmlns:a="http://schemas.openxmlformats.org/drawingml/2006/main">
              <a:ext uri="{FF2B5EF4-FFF2-40B4-BE49-F238E27FC236}">
                <a16:creationId xmlns:a16="http://schemas.microsoft.com/office/drawing/2014/main" id="{4D229D52-9C13-48F0-B740-4ACB733C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44212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ПРОЦЕССОР</a:t>
            </a:r>
          </a:p>
        </p:txBody>
      </p:sp>
      <p:sp>
        <p:nvSpPr>
          <p:cNvPr id="3" name="hf-281">
            <a:extLst xmlns:a="http://schemas.openxmlformats.org/drawingml/2006/main">
              <a:ext uri="{FF2B5EF4-FFF2-40B4-BE49-F238E27FC236}">
                <a16:creationId xmlns:a16="http://schemas.microsoft.com/office/drawing/2014/main" id="{BCEBA62E-475C-4FF4-9CA8-03EE5D41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57071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МЕНЯЕМ QoS ПОТОКА — МЕНЯЕТСЯ</a:t>
            </a:r>
          </a:p>
        </p:txBody>
      </p:sp>
      <p:sp>
        <p:nvSpPr>
          <p:cNvPr id="4" name="hf-282">
            <a:extLst xmlns:a="http://schemas.openxmlformats.org/drawingml/2006/main">
              <a:ext uri="{FF2B5EF4-FFF2-40B4-BE49-F238E27FC236}">
                <a16:creationId xmlns:a16="http://schemas.microsoft.com/office/drawing/2014/main" id="{CDA38EA2-8F61-4F97-B3B9-3F16DE2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82187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РЕЗУЛЬТАТ</a:t>
            </a:r>
          </a:p>
        </p:txBody>
      </p:sp>
      <p:sp>
        <p:nvSpPr>
          <p:cNvPr id="5" name="hf-283">
            <a:extLst xmlns:a="http://schemas.openxmlformats.org/drawingml/2006/main">
              <a:ext uri="{FF2B5EF4-FFF2-40B4-BE49-F238E27FC236}">
                <a16:creationId xmlns:a16="http://schemas.microsoft.com/office/drawing/2014/main" id="{8B149A76-9900-4E88-A449-8D1CDE5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48775"/>
            <a:ext cx="427203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38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pthread_set_qos_class_self_np(</a:t>
            </a:r>
          </a:p>
        </p:txBody>
      </p:sp>
      <p:sp>
        <p:nvSpPr>
          <p:cNvPr id="6" name="hf-284">
            <a:extLst xmlns:a="http://schemas.openxmlformats.org/drawingml/2006/main">
              <a:ext uri="{FF2B5EF4-FFF2-40B4-BE49-F238E27FC236}">
                <a16:creationId xmlns:a16="http://schemas.microsoft.com/office/drawing/2014/main" id="{FA76D0B5-701E-4A5A-80FC-0AE9F3E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53575"/>
            <a:ext cx="371006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838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    QOS_CLASS_UTILITY, 0);</a:t>
            </a:r>
          </a:p>
        </p:txBody>
      </p:sp>
      <p:sp>
        <p:nvSpPr>
          <p:cNvPr id="7" name="hf-285">
            <a:extLst xmlns:a="http://schemas.openxmlformats.org/drawingml/2006/main">
              <a:ext uri="{FF2B5EF4-FFF2-40B4-BE49-F238E27FC236}">
                <a16:creationId xmlns:a16="http://schemas.microsoft.com/office/drawing/2014/main" id="{4C18B1C3-C44C-4016-968D-20D8B7D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05295"/>
            <a:ext cx="5856461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512K id · половина уникальных · sort / unordered_set, нс на элемент</a:t>
            </a:r>
          </a:p>
        </p:txBody>
      </p:sp>
      <p:sp>
        <p:nvSpPr>
          <p:cNvPr id="8" name="hf-286">
            <a:extLst xmlns:a="http://schemas.openxmlformats.org/drawingml/2006/main">
              <a:ext uri="{FF2B5EF4-FFF2-40B4-BE49-F238E27FC236}">
                <a16:creationId xmlns:a16="http://schemas.microsoft.com/office/drawing/2014/main" id="{79E59B32-8E84-4E9C-8EF2-DF43DFA5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315" y="2184111"/>
            <a:ext cx="13689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9" name="hf-287">
            <a:extLst xmlns:a="http://schemas.openxmlformats.org/drawingml/2006/main">
              <a:ext uri="{FF2B5EF4-FFF2-40B4-BE49-F238E27FC236}">
                <a16:creationId xmlns:a16="http://schemas.microsoft.com/office/drawing/2014/main" id="{8295464E-BEE2-4128-A8AC-D943B97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411" y="2184111"/>
            <a:ext cx="64554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10" name="hf-288">
            <a:extLst xmlns:a="http://schemas.openxmlformats.org/drawingml/2006/main">
              <a:ext uri="{FF2B5EF4-FFF2-40B4-BE49-F238E27FC236}">
                <a16:creationId xmlns:a16="http://schemas.microsoft.com/office/drawing/2014/main" id="{46D30495-6849-41D1-950C-08B38CC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25395"/>
            <a:ext cx="54731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</a:t>
            </a:r>
          </a:p>
        </p:txBody>
      </p:sp>
      <p:sp>
        <p:nvSpPr>
          <p:cNvPr id="11" name="hf-289">
            <a:extLst xmlns:a="http://schemas.openxmlformats.org/drawingml/2006/main">
              <a:ext uri="{FF2B5EF4-FFF2-40B4-BE49-F238E27FC236}">
                <a16:creationId xmlns:a16="http://schemas.microsoft.com/office/drawing/2014/main" id="{AAC9328B-96E4-496E-8A21-4BC11FB0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05420"/>
            <a:ext cx="63668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12" name="hf-290">
            <a:extLst xmlns:a="http://schemas.openxmlformats.org/drawingml/2006/main">
              <a:ext uri="{FF2B5EF4-FFF2-40B4-BE49-F238E27FC236}">
                <a16:creationId xmlns:a16="http://schemas.microsoft.com/office/drawing/2014/main" id="{3B3CFC4F-AC2C-41B0-8B04-1A254D0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79511"/>
            <a:ext cx="146402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13" name="hf-291">
            <a:extLst xmlns:a="http://schemas.openxmlformats.org/drawingml/2006/main">
              <a:ext uri="{FF2B5EF4-FFF2-40B4-BE49-F238E27FC236}">
                <a16:creationId xmlns:a16="http://schemas.microsoft.com/office/drawing/2014/main" id="{6E0F1B85-0B51-4692-8909-8077B44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53145"/>
            <a:ext cx="90576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14" name="hf-292">
            <a:extLst xmlns:a="http://schemas.openxmlformats.org/drawingml/2006/main">
              <a:ext uri="{FF2B5EF4-FFF2-40B4-BE49-F238E27FC236}">
                <a16:creationId xmlns:a16="http://schemas.microsoft.com/office/drawing/2014/main" id="{3EB19816-B433-4F63-995B-BCF3F2C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569602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5" name="hf-293">
            <a:extLst xmlns:a="http://schemas.openxmlformats.org/drawingml/2006/main">
              <a:ext uri="{FF2B5EF4-FFF2-40B4-BE49-F238E27FC236}">
                <a16:creationId xmlns:a16="http://schemas.microsoft.com/office/drawing/2014/main" id="{1C523F74-C73E-4FA6-8045-12EC9AD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59910"/>
            <a:ext cx="942231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19,6 / 18,7</a:t>
            </a:r>
          </a:p>
        </p:txBody>
      </p:sp>
      <p:sp>
        <p:nvSpPr>
          <p:cNvPr id="16" name="hf-294">
            <a:extLst xmlns:a="http://schemas.openxmlformats.org/drawingml/2006/main">
              <a:ext uri="{FF2B5EF4-FFF2-40B4-BE49-F238E27FC236}">
                <a16:creationId xmlns:a16="http://schemas.microsoft.com/office/drawing/2014/main" id="{9E95354F-1B7D-4A7D-9BE5-DD6CE3F1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69602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7" name="hf-295">
            <a:extLst xmlns:a="http://schemas.openxmlformats.org/drawingml/2006/main">
              <a:ext uri="{FF2B5EF4-FFF2-40B4-BE49-F238E27FC236}">
                <a16:creationId xmlns:a16="http://schemas.microsoft.com/office/drawing/2014/main" id="{4BF84848-EE4F-4DA8-B921-A26B282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9910"/>
            <a:ext cx="943049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20,1 / 21,0</a:t>
            </a:r>
          </a:p>
        </p:txBody>
      </p:sp>
      <p:sp>
        <p:nvSpPr>
          <p:cNvPr id="18" name="hf-296">
            <a:extLst xmlns:a="http://schemas.openxmlformats.org/drawingml/2006/main">
              <a:ext uri="{FF2B5EF4-FFF2-40B4-BE49-F238E27FC236}">
                <a16:creationId xmlns:a16="http://schemas.microsoft.com/office/drawing/2014/main" id="{7D4A8EB6-DEC0-4421-97D2-10A9F27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36377"/>
            <a:ext cx="1016496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9" name="hf-297">
            <a:extLst xmlns:a="http://schemas.openxmlformats.org/drawingml/2006/main">
              <a:ext uri="{FF2B5EF4-FFF2-40B4-BE49-F238E27FC236}">
                <a16:creationId xmlns:a16="http://schemas.microsoft.com/office/drawing/2014/main" id="{A028912E-7D36-469C-9FB2-3511DE0F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26685"/>
            <a:ext cx="942529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19,6 / 18,2</a:t>
            </a:r>
          </a:p>
        </p:txBody>
      </p:sp>
      <p:sp>
        <p:nvSpPr>
          <p:cNvPr id="20" name="hf-298">
            <a:extLst xmlns:a="http://schemas.openxmlformats.org/drawingml/2006/main">
              <a:ext uri="{FF2B5EF4-FFF2-40B4-BE49-F238E27FC236}">
                <a16:creationId xmlns:a16="http://schemas.microsoft.com/office/drawing/2014/main" id="{D359D58A-53CE-402D-AB70-77097274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3062288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hf-299">
            <a:extLst xmlns:a="http://schemas.openxmlformats.org/drawingml/2006/main">
              <a:ext uri="{FF2B5EF4-FFF2-40B4-BE49-F238E27FC236}">
                <a16:creationId xmlns:a16="http://schemas.microsoft.com/office/drawing/2014/main" id="{5FD3CC19-D91E-4844-ADD6-D9C2D2B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36377"/>
            <a:ext cx="904503" cy="275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16"/>
              </a:lnSpc>
              <a:buNone/>
            </a:pPr>
            <a:r>
              <a:rPr sz="1613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sort ×1,9</a:t>
            </a:r>
          </a:p>
        </p:txBody>
      </p:sp>
      <p:sp>
        <p:nvSpPr>
          <p:cNvPr id="22" name="hf-300">
            <a:extLst xmlns:a="http://schemas.openxmlformats.org/drawingml/2006/main">
              <a:ext uri="{FF2B5EF4-FFF2-40B4-BE49-F238E27FC236}">
                <a16:creationId xmlns:a16="http://schemas.microsoft.com/office/drawing/2014/main" id="{32D7950F-7000-4D93-9030-7BBB477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6685"/>
            <a:ext cx="108674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48"/>
              </a:lnSpc>
              <a:buNone/>
            </a:pPr>
            <a:r>
              <a:rPr sz="1575" b="0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55,3 / 105,3</a:t>
            </a:r>
          </a:p>
        </p:txBody>
      </p:sp>
      <p:sp>
        <p:nvSpPr>
          <p:cNvPr id="23" name="hf-301">
            <a:extLst xmlns:a="http://schemas.openxmlformats.org/drawingml/2006/main">
              <a:ext uri="{FF2B5EF4-FFF2-40B4-BE49-F238E27FC236}">
                <a16:creationId xmlns:a16="http://schemas.microsoft.com/office/drawing/2014/main" id="{FEF17F56-9CC1-43A9-9BB1-3D6B88D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43073"/>
            <a:ext cx="5149155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Mac, 1M: преимущество sort тоже выросло — ×1,3 → ×1,8</a:t>
            </a:r>
          </a:p>
        </p:txBody>
      </p:sp>
      <p:pic>
        <p:nvPicPr>
          <p:cNvPr id="24" name="hf-302">
            <a:extLst xmlns:a="http://schemas.openxmlformats.org/drawingml/2006/main">
              <a:ext uri="{FF2B5EF4-FFF2-40B4-BE49-F238E27FC236}">
                <a16:creationId xmlns:a16="http://schemas.microsoft.com/office/drawing/2014/main" id="{48838B37-9284-4C14-B21A-594C72E48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7a151f3404dd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303">
            <a:extLst xmlns:a="http://schemas.openxmlformats.org/drawingml/2006/main">
              <a:ext uri="{FF2B5EF4-FFF2-40B4-BE49-F238E27FC236}">
                <a16:creationId xmlns:a16="http://schemas.microsoft.com/office/drawing/2014/main" id="{6A2EF05B-D9F2-4F0A-91B6-1F0A0427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71210918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p="http://schemas.openxmlformats.org/presentationml/2006/main">
  <p:cSld name="x33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04">
            <a:extLst xmlns:a="http://schemas.openxmlformats.org/drawingml/2006/main">
              <a:ext uri="{FF2B5EF4-FFF2-40B4-BE49-F238E27FC236}">
                <a16:creationId xmlns:a16="http://schemas.microsoft.com/office/drawing/2014/main" id="{C9F2E247-4A2E-4E5B-A30B-2ED2D03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828532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НА МИЛЛИОНЕ id СОРТИРОВКА ВПЕРЕДИ В</a:t>
            </a:r>
          </a:p>
        </p:txBody>
      </p:sp>
      <p:sp>
        <p:nvSpPr>
          <p:cNvPr id="3" name="hf-305">
            <a:extLst xmlns:a="http://schemas.openxmlformats.org/drawingml/2006/main">
              <a:ext uri="{FF2B5EF4-FFF2-40B4-BE49-F238E27FC236}">
                <a16:creationId xmlns:a16="http://schemas.microsoft.com/office/drawing/2014/main" id="{4DC9C690-458B-455F-B744-E424FE2C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04796"/>
            <a:ext cx="139414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3,3 РАЗА</a:t>
            </a:r>
          </a:p>
        </p:txBody>
      </p:sp>
      <p:sp>
        <p:nvSpPr>
          <p:cNvPr id="4" name="hf-306">
            <a:extLst xmlns:a="http://schemas.openxmlformats.org/drawingml/2006/main">
              <a:ext uri="{FF2B5EF4-FFF2-40B4-BE49-F238E27FC236}">
                <a16:creationId xmlns:a16="http://schemas.microsoft.com/office/drawing/2014/main" id="{59328DAB-8CB8-4E0E-9944-352037B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02506"/>
            <a:ext cx="4096717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 · A16 Bionic · QoS utility</a:t>
            </a:r>
          </a:p>
        </p:txBody>
      </p:sp>
      <p:sp>
        <p:nvSpPr>
          <p:cNvPr id="5" name="hf-307">
            <a:extLst xmlns:a="http://schemas.openxmlformats.org/drawingml/2006/main">
              <a:ext uri="{FF2B5EF4-FFF2-40B4-BE49-F238E27FC236}">
                <a16:creationId xmlns:a16="http://schemas.microsoft.com/office/drawing/2014/main" id="{5A7DCCF3-0BDF-4D55-B455-DB48855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7238"/>
            <a:ext cx="262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/ элемент · меньше — лучше</a:t>
            </a:r>
          </a:p>
        </p:txBody>
      </p:sp>
      <p:sp>
        <p:nvSpPr>
          <p:cNvPr id="6" name="hf-308">
            <a:extLst xmlns:a="http://schemas.openxmlformats.org/drawingml/2006/main">
              <a:ext uri="{FF2B5EF4-FFF2-40B4-BE49-F238E27FC236}">
                <a16:creationId xmlns:a16="http://schemas.microsoft.com/office/drawing/2014/main" id="{97EBB075-B8FE-4138-B51E-8ED11CB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97831"/>
            <a:ext cx="148359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309">
            <a:extLst xmlns:a="http://schemas.openxmlformats.org/drawingml/2006/main">
              <a:ext uri="{FF2B5EF4-FFF2-40B4-BE49-F238E27FC236}">
                <a16:creationId xmlns:a16="http://schemas.microsoft.com/office/drawing/2014/main" id="{ED888362-06D2-4125-8AE0-FD6C79B7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992" y="1980571"/>
            <a:ext cx="822945" cy="39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92"/>
              </a:lnSpc>
              <a:buNone/>
            </a:pPr>
            <a:r>
              <a:rPr sz="28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57,4</a:t>
            </a:r>
          </a:p>
        </p:txBody>
      </p:sp>
      <p:sp>
        <p:nvSpPr>
          <p:cNvPr id="8" name="hf-310">
            <a:extLst xmlns:a="http://schemas.openxmlformats.org/drawingml/2006/main">
              <a:ext uri="{FF2B5EF4-FFF2-40B4-BE49-F238E27FC236}">
                <a16:creationId xmlns:a16="http://schemas.microsoft.com/office/drawing/2014/main" id="{43449E14-0B40-47AB-A5B4-B5968932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947738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9" name="hf-311">
            <a:extLst xmlns:a="http://schemas.openxmlformats.org/drawingml/2006/main">
              <a:ext uri="{FF2B5EF4-FFF2-40B4-BE49-F238E27FC236}">
                <a16:creationId xmlns:a16="http://schemas.microsoft.com/office/drawing/2014/main" id="{30B2DC43-E534-4651-9C0A-CCC2107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0318"/>
            <a:ext cx="163331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0" name="hf-312">
            <a:extLst xmlns:a="http://schemas.openxmlformats.org/drawingml/2006/main">
              <a:ext uri="{FF2B5EF4-FFF2-40B4-BE49-F238E27FC236}">
                <a16:creationId xmlns:a16="http://schemas.microsoft.com/office/drawing/2014/main" id="{C996AD93-985F-45CE-B108-36BBA16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856" y="2833059"/>
            <a:ext cx="958081" cy="39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92"/>
              </a:lnSpc>
              <a:buNone/>
            </a:pPr>
            <a:r>
              <a:rPr sz="285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187,7</a:t>
            </a:r>
          </a:p>
        </p:txBody>
      </p:sp>
      <p:sp>
        <p:nvSpPr>
          <p:cNvPr id="11" name="hf-313">
            <a:extLst xmlns:a="http://schemas.openxmlformats.org/drawingml/2006/main">
              <a:ext uri="{FF2B5EF4-FFF2-40B4-BE49-F238E27FC236}">
                <a16:creationId xmlns:a16="http://schemas.microsoft.com/office/drawing/2014/main" id="{F5C64922-FA6B-4E36-964C-8BE0D56A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5638"/>
            <a:ext cx="3095625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2" name="hf-314">
            <a:extLst xmlns:a="http://schemas.openxmlformats.org/drawingml/2006/main">
              <a:ext uri="{FF2B5EF4-FFF2-40B4-BE49-F238E27FC236}">
                <a16:creationId xmlns:a16="http://schemas.microsoft.com/office/drawing/2014/main" id="{35E16DBF-B137-40FD-B7BB-DE486FA8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19811"/>
            <a:ext cx="269044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0125"/>
              </a:lnSpc>
              <a:buNone/>
            </a:pPr>
            <a:r>
              <a:rPr sz="10125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×3,3</a:t>
            </a:r>
          </a:p>
        </p:txBody>
      </p:sp>
      <p:sp>
        <p:nvSpPr>
          <p:cNvPr id="13" name="hf-315">
            <a:extLst xmlns:a="http://schemas.openxmlformats.org/drawingml/2006/main">
              <a:ext uri="{FF2B5EF4-FFF2-40B4-BE49-F238E27FC236}">
                <a16:creationId xmlns:a16="http://schemas.microsoft.com/office/drawing/2014/main" id="{01302EA6-EA13-44ED-8B2C-C41FC980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34995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14" name="hf-316">
            <a:extLst xmlns:a="http://schemas.openxmlformats.org/drawingml/2006/main">
              <a:ext uri="{FF2B5EF4-FFF2-40B4-BE49-F238E27FC236}">
                <a16:creationId xmlns:a16="http://schemas.microsoft.com/office/drawing/2014/main" id="{CF72C4BB-EE98-4A03-9CB9-298478BF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20745"/>
            <a:ext cx="28804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быстрее unordered_set</a:t>
            </a:r>
          </a:p>
        </p:txBody>
      </p:sp>
      <p:sp>
        <p:nvSpPr>
          <p:cNvPr id="15" name="hf-317">
            <a:extLst xmlns:a="http://schemas.openxmlformats.org/drawingml/2006/main">
              <a:ext uri="{FF2B5EF4-FFF2-40B4-BE49-F238E27FC236}">
                <a16:creationId xmlns:a16="http://schemas.microsoft.com/office/drawing/2014/main" id="{CCCF03C5-BE49-4A7D-B2C1-E779C047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04973"/>
            <a:ext cx="469247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1M id · половина уникальных · одинаковые входы</a:t>
            </a:r>
          </a:p>
        </p:txBody>
      </p:sp>
      <p:pic>
        <p:nvPicPr>
          <p:cNvPr id="16" name="hf-318">
            <a:extLst xmlns:a="http://schemas.openxmlformats.org/drawingml/2006/main">
              <a:ext uri="{FF2B5EF4-FFF2-40B4-BE49-F238E27FC236}">
                <a16:creationId xmlns:a16="http://schemas.microsoft.com/office/drawing/2014/main" id="{8BB80724-DF21-45BB-9204-A10C56EC9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e16f298864d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7" name="hf-319">
            <a:extLst xmlns:a="http://schemas.openxmlformats.org/drawingml/2006/main">
              <a:ext uri="{FF2B5EF4-FFF2-40B4-BE49-F238E27FC236}">
                <a16:creationId xmlns:a16="http://schemas.microsoft.com/office/drawing/2014/main" id="{2BEF433B-D832-42CB-9D15-DD298A2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3838352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p="http://schemas.openxmlformats.org/presentationml/2006/main">
  <p:cSld name="core-mode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20">
            <a:extLst xmlns:a="http://schemas.openxmlformats.org/drawingml/2006/main">
              <a:ext uri="{FF2B5EF4-FFF2-40B4-BE49-F238E27FC236}">
                <a16:creationId xmlns:a16="http://schemas.microsoft.com/office/drawing/2014/main" id="{5BFABBAA-9DD9-4FF6-A04D-9C8C64B6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191564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P- И E-ЯДРА</a:t>
            </a:r>
          </a:p>
        </p:txBody>
      </p:sp>
      <p:pic>
        <p:nvPicPr>
          <p:cNvPr id="3" name="hf-321">
            <a:extLst xmlns:a="http://schemas.openxmlformats.org/drawingml/2006/main">
              <a:ext uri="{FF2B5EF4-FFF2-40B4-BE49-F238E27FC236}">
                <a16:creationId xmlns:a16="http://schemas.microsoft.com/office/drawing/2014/main" id="{55B6010A-149B-4350-B3A4-7C9B8F211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3e16e9ec24a7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9819" y="1285875"/>
            <a:ext cx="3451412" cy="2933700"/>
          </a:xfrm>
          <a:prstGeom xmlns:a="http://schemas.openxmlformats.org/drawingml/2006/main" prst="rect">
            <a:avLst/>
          </a:prstGeom>
        </p:spPr>
      </p:pic>
      <p:sp>
        <p:nvSpPr>
          <p:cNvPr id="4" name="hf-322">
            <a:extLst xmlns:a="http://schemas.openxmlformats.org/drawingml/2006/main">
              <a:ext uri="{FF2B5EF4-FFF2-40B4-BE49-F238E27FC236}">
                <a16:creationId xmlns:a16="http://schemas.microsoft.com/office/drawing/2014/main" id="{5C02D6AB-C150-494C-BA2B-AC66195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63288"/>
            <a:ext cx="114672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Схема M2 Pro</a:t>
            </a:r>
          </a:p>
        </p:txBody>
      </p:sp>
      <p:sp>
        <p:nvSpPr>
          <p:cNvPr id="5" name="hf-323">
            <a:extLst xmlns:a="http://schemas.openxmlformats.org/drawingml/2006/main">
              <a:ext uri="{FF2B5EF4-FFF2-40B4-BE49-F238E27FC236}">
                <a16:creationId xmlns:a16="http://schemas.microsoft.com/office/drawing/2014/main" id="{56DB5A2F-B925-4081-8E31-5FB95DF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94930"/>
            <a:ext cx="250328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Своя частота.</a:t>
            </a:r>
          </a:p>
        </p:txBody>
      </p:sp>
      <p:sp>
        <p:nvSpPr>
          <p:cNvPr id="6" name="hf-324">
            <a:extLst xmlns:a="http://schemas.openxmlformats.org/drawingml/2006/main">
              <a:ext uri="{FF2B5EF4-FFF2-40B4-BE49-F238E27FC236}">
                <a16:creationId xmlns:a16="http://schemas.microsoft.com/office/drawing/2014/main" id="{4CA8FB9D-FE7F-4D5E-9A2E-1A45AF1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130"/>
            <a:ext cx="189636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7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Свой кэш.</a:t>
            </a:r>
          </a:p>
        </p:txBody>
      </p:sp>
      <p:sp>
        <p:nvSpPr>
          <p:cNvPr id="7" name="hf-325">
            <a:extLst xmlns:a="http://schemas.openxmlformats.org/drawingml/2006/main">
              <a:ext uri="{FF2B5EF4-FFF2-40B4-BE49-F238E27FC236}">
                <a16:creationId xmlns:a16="http://schemas.microsoft.com/office/drawing/2014/main" id="{1F6F3875-EF20-4199-8156-4C7F5AEF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34205"/>
            <a:ext cx="8515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Частота</a:t>
            </a:r>
          </a:p>
        </p:txBody>
      </p:sp>
      <p:sp>
        <p:nvSpPr>
          <p:cNvPr id="8" name="hf-326">
            <a:extLst xmlns:a="http://schemas.openxmlformats.org/drawingml/2006/main">
              <a:ext uri="{FF2B5EF4-FFF2-40B4-BE49-F238E27FC236}">
                <a16:creationId xmlns:a16="http://schemas.microsoft.com/office/drawing/2014/main" id="{F63B7A88-7D11-4587-9B46-88436BA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0905"/>
            <a:ext cx="26826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влияет на высоту кривой</a:t>
            </a:r>
          </a:p>
        </p:txBody>
      </p:sp>
      <p:sp>
        <p:nvSpPr>
          <p:cNvPr id="9" name="hf-327">
            <a:extLst xmlns:a="http://schemas.openxmlformats.org/drawingml/2006/main">
              <a:ext uri="{FF2B5EF4-FFF2-40B4-BE49-F238E27FC236}">
                <a16:creationId xmlns:a16="http://schemas.microsoft.com/office/drawing/2014/main" id="{51D98A39-DF0F-4F66-928C-F832C38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96205"/>
            <a:ext cx="14236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Размер кэша</a:t>
            </a:r>
          </a:p>
        </p:txBody>
      </p:sp>
      <p:sp>
        <p:nvSpPr>
          <p:cNvPr id="10" name="hf-328">
            <a:extLst xmlns:a="http://schemas.openxmlformats.org/drawingml/2006/main">
              <a:ext uri="{FF2B5EF4-FFF2-40B4-BE49-F238E27FC236}">
                <a16:creationId xmlns:a16="http://schemas.microsoft.com/office/drawing/2014/main" id="{C16039F8-FDDD-4349-A768-2207B36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905"/>
            <a:ext cx="3152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влияет на положение излома</a:t>
            </a:r>
          </a:p>
        </p:txBody>
      </p:sp>
      <p:sp>
        <p:nvSpPr>
          <p:cNvPr id="11" name="hf-329">
            <a:extLst xmlns:a="http://schemas.openxmlformats.org/drawingml/2006/main">
              <a:ext uri="{FF2B5EF4-FFF2-40B4-BE49-F238E27FC236}">
                <a16:creationId xmlns:a16="http://schemas.microsoft.com/office/drawing/2014/main" id="{0EAF89EC-F17F-4153-95A1-F3D0FDF7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20438"/>
            <a:ext cx="217698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utility не закрепляет ядро</a:t>
            </a:r>
          </a:p>
        </p:txBody>
      </p:sp>
      <p:pic>
        <p:nvPicPr>
          <p:cNvPr id="12" name="hf-330">
            <a:extLst xmlns:a="http://schemas.openxmlformats.org/drawingml/2006/main">
              <a:ext uri="{FF2B5EF4-FFF2-40B4-BE49-F238E27FC236}">
                <a16:creationId xmlns:a16="http://schemas.microsoft.com/office/drawing/2014/main" id="{2216F923-CA8F-4A23-BC45-7DEE59DC3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690f1396943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3" name="hf-331">
            <a:extLst xmlns:a="http://schemas.openxmlformats.org/drawingml/2006/main">
              <a:ext uri="{FF2B5EF4-FFF2-40B4-BE49-F238E27FC236}">
                <a16:creationId xmlns:a16="http://schemas.microsoft.com/office/drawing/2014/main" id="{89BD03EA-63EA-4846-990F-8BC1DA71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5766977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2.xml><?xml version="1.0" encoding="utf-8"?>
<p:sld xmlns:p="http://schemas.openxmlformats.org/presentationml/2006/main">
  <p:cSld name="core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32">
            <a:extLst xmlns:a="http://schemas.openxmlformats.org/drawingml/2006/main">
              <a:ext uri="{FF2B5EF4-FFF2-40B4-BE49-F238E27FC236}">
                <a16:creationId xmlns:a16="http://schemas.microsoft.com/office/drawing/2014/main" id="{B45E216F-6A17-4DC3-B25A-B825A6D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597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ИЗЛОМЫ ПОХОЖИ НА СМЕНУ ТИПА ЯДРА</a:t>
            </a:r>
          </a:p>
        </p:txBody>
      </p:sp>
      <p:sp>
        <p:nvSpPr>
          <p:cNvPr id="3" name="hf-333">
            <a:extLst xmlns:a="http://schemas.openxmlformats.org/drawingml/2006/main">
              <a:ext uri="{FF2B5EF4-FFF2-40B4-BE49-F238E27FC236}">
                <a16:creationId xmlns:a16="http://schemas.microsoft.com/office/drawing/2014/main" id="{E842BE04-800B-41A8-ADFB-9A0176F3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26861"/>
            <a:ext cx="2679278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 · A16 Bionic</a:t>
            </a:r>
          </a:p>
        </p:txBody>
      </p:sp>
      <p:sp>
        <p:nvSpPr>
          <p:cNvPr id="4" name="hf-334">
            <a:extLst xmlns:a="http://schemas.openxmlformats.org/drawingml/2006/main">
              <a:ext uri="{FF2B5EF4-FFF2-40B4-BE49-F238E27FC236}">
                <a16:creationId xmlns:a16="http://schemas.microsoft.com/office/drawing/2014/main" id="{89E9525A-6B1D-43DF-B6DD-1E741D7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05258"/>
            <a:ext cx="3195712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чтение · КиБ/МиБ · лог. шкалы</a:t>
            </a:r>
          </a:p>
        </p:txBody>
      </p:sp>
      <p:sp>
        <p:nvSpPr>
          <p:cNvPr id="5" name="hf-335">
            <a:extLst xmlns:a="http://schemas.openxmlformats.org/drawingml/2006/main">
              <a:ext uri="{FF2B5EF4-FFF2-40B4-BE49-F238E27FC236}">
                <a16:creationId xmlns:a16="http://schemas.microsoft.com/office/drawing/2014/main" id="{86F55D03-AE6E-4255-9E69-FE50FEF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6" name="hf-336">
            <a:extLst xmlns:a="http://schemas.openxmlformats.org/drawingml/2006/main">
              <a:ext uri="{FF2B5EF4-FFF2-40B4-BE49-F238E27FC236}">
                <a16:creationId xmlns:a16="http://schemas.microsoft.com/office/drawing/2014/main" id="{4EA380E6-C79A-4C05-ABA8-3B958A64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" name="hf-337">
            <a:extLst xmlns:a="http://schemas.openxmlformats.org/drawingml/2006/main">
              <a:ext uri="{FF2B5EF4-FFF2-40B4-BE49-F238E27FC236}">
                <a16:creationId xmlns:a16="http://schemas.microsoft.com/office/drawing/2014/main" id="{A94D2D99-EFA4-45B7-A049-BC9ECCC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16" y="3290888"/>
            <a:ext cx="1068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8" name="hf-338">
            <a:extLst xmlns:a="http://schemas.openxmlformats.org/drawingml/2006/main">
              <a:ext uri="{FF2B5EF4-FFF2-40B4-BE49-F238E27FC236}">
                <a16:creationId xmlns:a16="http://schemas.microsoft.com/office/drawing/2014/main" id="{B4C853DA-4BCA-44BC-91C9-E4B6CC78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25604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9" name="hf-339">
            <a:extLst xmlns:a="http://schemas.openxmlformats.org/drawingml/2006/main">
              <a:ext uri="{FF2B5EF4-FFF2-40B4-BE49-F238E27FC236}">
                <a16:creationId xmlns:a16="http://schemas.microsoft.com/office/drawing/2014/main" id="{0B1FC5EB-BE69-43D1-B445-07ECE6B8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85" y="2801779"/>
            <a:ext cx="23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0" name="hf-340">
            <a:extLst xmlns:a="http://schemas.openxmlformats.org/drawingml/2006/main">
              <a:ext uri="{FF2B5EF4-FFF2-40B4-BE49-F238E27FC236}">
                <a16:creationId xmlns:a16="http://schemas.microsoft.com/office/drawing/2014/main" id="{15D3B86B-01F1-4B81-9A4E-EA22BF69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6971"/>
            <a:ext cx="4524375" cy="953"/>
          </a:xfrm>
          <a:custGeom xmlns:a="http://schemas.openxmlformats.org/drawingml/2006/main">
            <a:pathLst>
              <a:path w="4524375" h="476">
                <a:moveTo>
                  <a:pt x="0" y="0"/>
                </a:move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1" name="hf-341">
            <a:extLst xmlns:a="http://schemas.openxmlformats.org/drawingml/2006/main">
              <a:ext uri="{FF2B5EF4-FFF2-40B4-BE49-F238E27FC236}">
                <a16:creationId xmlns:a16="http://schemas.microsoft.com/office/drawing/2014/main" id="{75978255-1DE3-434B-AF67-DAD73A9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53" y="2313146"/>
            <a:ext cx="3591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12" name="hf-342">
            <a:extLst xmlns:a="http://schemas.openxmlformats.org/drawingml/2006/main">
              <a:ext uri="{FF2B5EF4-FFF2-40B4-BE49-F238E27FC236}">
                <a16:creationId xmlns:a16="http://schemas.microsoft.com/office/drawing/2014/main" id="{2B82CCAE-96BA-4FC4-BE4A-711092A7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3" name="hf-343">
            <a:extLst xmlns:a="http://schemas.openxmlformats.org/drawingml/2006/main">
              <a:ext uri="{FF2B5EF4-FFF2-40B4-BE49-F238E27FC236}">
                <a16:creationId xmlns:a16="http://schemas.microsoft.com/office/drawing/2014/main" id="{0CFF320C-B4D4-4E75-8649-06403C3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54" y="3486150"/>
            <a:ext cx="35659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16К</a:t>
            </a:r>
          </a:p>
        </p:txBody>
      </p:sp>
      <p:sp>
        <p:nvSpPr>
          <p:cNvPr id="14" name="hf-344">
            <a:extLst xmlns:a="http://schemas.openxmlformats.org/drawingml/2006/main">
              <a:ext uri="{FF2B5EF4-FFF2-40B4-BE49-F238E27FC236}">
                <a16:creationId xmlns:a16="http://schemas.microsoft.com/office/drawing/2014/main" id="{66CB2097-4A52-4743-9DA8-55C6F42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494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5" name="hf-345">
            <a:extLst xmlns:a="http://schemas.openxmlformats.org/drawingml/2006/main">
              <a:ext uri="{FF2B5EF4-FFF2-40B4-BE49-F238E27FC236}">
                <a16:creationId xmlns:a16="http://schemas.microsoft.com/office/drawing/2014/main" id="{EDAA66EE-387B-40D8-A3AD-4171908B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95" y="3486150"/>
            <a:ext cx="47029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128К</a:t>
            </a:r>
          </a:p>
        </p:txBody>
      </p:sp>
      <p:sp>
        <p:nvSpPr>
          <p:cNvPr id="16" name="hf-346">
            <a:extLst xmlns:a="http://schemas.openxmlformats.org/drawingml/2006/main">
              <a:ext uri="{FF2B5EF4-FFF2-40B4-BE49-F238E27FC236}">
                <a16:creationId xmlns:a16="http://schemas.microsoft.com/office/drawing/2014/main" id="{978D2A2F-C213-42DF-BA8F-47D2204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7" name="hf-347">
            <a:extLst xmlns:a="http://schemas.openxmlformats.org/drawingml/2006/main">
              <a:ext uri="{FF2B5EF4-FFF2-40B4-BE49-F238E27FC236}">
                <a16:creationId xmlns:a16="http://schemas.microsoft.com/office/drawing/2014/main" id="{FEB1966F-F28F-4F3A-B66E-9191337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456" y="3486150"/>
            <a:ext cx="2903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1М</a:t>
            </a:r>
          </a:p>
        </p:txBody>
      </p:sp>
      <p:sp>
        <p:nvSpPr>
          <p:cNvPr id="18" name="hf-348">
            <a:extLst xmlns:a="http://schemas.openxmlformats.org/drawingml/2006/main">
              <a:ext uri="{FF2B5EF4-FFF2-40B4-BE49-F238E27FC236}">
                <a16:creationId xmlns:a16="http://schemas.microsoft.com/office/drawing/2014/main" id="{B12116FF-C64C-47ED-9402-D6FA4B0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71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19" name="hf-349">
            <a:extLst xmlns:a="http://schemas.openxmlformats.org/drawingml/2006/main">
              <a:ext uri="{FF2B5EF4-FFF2-40B4-BE49-F238E27FC236}">
                <a16:creationId xmlns:a16="http://schemas.microsoft.com/office/drawing/2014/main" id="{96BCB733-A3FB-47A4-B7F3-D491A930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734" y="3486150"/>
            <a:ext cx="40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16М</a:t>
            </a:r>
          </a:p>
        </p:txBody>
      </p:sp>
      <p:sp>
        <p:nvSpPr>
          <p:cNvPr id="20" name="hf-350">
            <a:extLst xmlns:a="http://schemas.openxmlformats.org/drawingml/2006/main">
              <a:ext uri="{FF2B5EF4-FFF2-40B4-BE49-F238E27FC236}">
                <a16:creationId xmlns:a16="http://schemas.microsoft.com/office/drawing/2014/main" id="{7D380946-8A5A-4F43-AC8E-98783D41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14713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21" name="hf-351">
            <a:extLst xmlns:a="http://schemas.openxmlformats.org/drawingml/2006/main">
              <a:ext uri="{FF2B5EF4-FFF2-40B4-BE49-F238E27FC236}">
                <a16:creationId xmlns:a16="http://schemas.microsoft.com/office/drawing/2014/main" id="{358F17A6-6488-44EE-A8D2-CBE4E5B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275" y="3486150"/>
            <a:ext cx="46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64М</a:t>
            </a:r>
          </a:p>
        </p:txBody>
      </p:sp>
      <p:sp>
        <p:nvSpPr>
          <p:cNvPr id="22" name="hf-352">
            <a:extLst xmlns:a="http://schemas.openxmlformats.org/drawingml/2006/main">
              <a:ext uri="{FF2B5EF4-FFF2-40B4-BE49-F238E27FC236}">
                <a16:creationId xmlns:a16="http://schemas.microsoft.com/office/drawing/2014/main" id="{B2BCF0B3-F324-4ABC-8F72-0FF01734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96979"/>
            <a:ext cx="4524375" cy="800576"/>
          </a:xfrm>
          <a:custGeom xmlns:a="http://schemas.openxmlformats.org/drawingml/2006/main">
            <a:pathLst>
              <a:path w="4524375" h="800576">
                <a:moveTo>
                  <a:pt x="0" y="796766"/>
                </a:moveTo>
                <a:lnTo>
                  <a:pt x="220027" y="796766"/>
                </a:lnTo>
                <a:lnTo>
                  <a:pt x="374809" y="796766"/>
                </a:lnTo>
                <a:lnTo>
                  <a:pt x="594836" y="796766"/>
                </a:lnTo>
                <a:lnTo>
                  <a:pt x="756285" y="796766"/>
                </a:lnTo>
                <a:lnTo>
                  <a:pt x="976313" y="800576"/>
                </a:lnTo>
                <a:lnTo>
                  <a:pt x="1131094" y="800576"/>
                </a:lnTo>
                <a:lnTo>
                  <a:pt x="1351121" y="543877"/>
                </a:lnTo>
                <a:lnTo>
                  <a:pt x="1505903" y="536257"/>
                </a:lnTo>
                <a:lnTo>
                  <a:pt x="1725930" y="536257"/>
                </a:lnTo>
                <a:lnTo>
                  <a:pt x="1887379" y="536257"/>
                </a:lnTo>
                <a:lnTo>
                  <a:pt x="2107406" y="536257"/>
                </a:lnTo>
                <a:lnTo>
                  <a:pt x="2262188" y="536257"/>
                </a:lnTo>
                <a:lnTo>
                  <a:pt x="2482215" y="536257"/>
                </a:lnTo>
                <a:lnTo>
                  <a:pt x="2636996" y="536257"/>
                </a:lnTo>
                <a:lnTo>
                  <a:pt x="2857024" y="525304"/>
                </a:lnTo>
                <a:lnTo>
                  <a:pt x="3018472" y="513398"/>
                </a:lnTo>
                <a:lnTo>
                  <a:pt x="3238500" y="498634"/>
                </a:lnTo>
                <a:lnTo>
                  <a:pt x="3393281" y="494824"/>
                </a:lnTo>
                <a:lnTo>
                  <a:pt x="3613309" y="457200"/>
                </a:lnTo>
                <a:lnTo>
                  <a:pt x="3768090" y="404336"/>
                </a:lnTo>
                <a:lnTo>
                  <a:pt x="3988118" y="279559"/>
                </a:lnTo>
                <a:lnTo>
                  <a:pt x="4149566" y="143351"/>
                </a:lnTo>
                <a:lnTo>
                  <a:pt x="4369594" y="38100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3" name="hf-353">
            <a:extLst xmlns:a="http://schemas.openxmlformats.org/drawingml/2006/main">
              <a:ext uri="{FF2B5EF4-FFF2-40B4-BE49-F238E27FC236}">
                <a16:creationId xmlns:a16="http://schemas.microsoft.com/office/drawing/2014/main" id="{3B3EEBA7-20A9-4CEA-877D-B7A22C5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08359"/>
            <a:ext cx="4524375" cy="853440"/>
          </a:xfrm>
          <a:custGeom xmlns:a="http://schemas.openxmlformats.org/drawingml/2006/main">
            <a:pathLst>
              <a:path w="4524375" h="853440">
                <a:moveTo>
                  <a:pt x="0" y="853440"/>
                </a:moveTo>
                <a:lnTo>
                  <a:pt x="220027" y="853440"/>
                </a:lnTo>
                <a:lnTo>
                  <a:pt x="374809" y="853440"/>
                </a:lnTo>
                <a:lnTo>
                  <a:pt x="594836" y="853440"/>
                </a:lnTo>
                <a:lnTo>
                  <a:pt x="756285" y="853440"/>
                </a:lnTo>
                <a:lnTo>
                  <a:pt x="976313" y="626745"/>
                </a:lnTo>
                <a:lnTo>
                  <a:pt x="1131094" y="592455"/>
                </a:lnTo>
                <a:lnTo>
                  <a:pt x="1351121" y="634365"/>
                </a:lnTo>
                <a:lnTo>
                  <a:pt x="1505903" y="622935"/>
                </a:lnTo>
                <a:lnTo>
                  <a:pt x="1725930" y="619125"/>
                </a:lnTo>
                <a:lnTo>
                  <a:pt x="1887379" y="619125"/>
                </a:lnTo>
                <a:lnTo>
                  <a:pt x="2107406" y="615791"/>
                </a:lnTo>
                <a:lnTo>
                  <a:pt x="2262188" y="619125"/>
                </a:lnTo>
                <a:lnTo>
                  <a:pt x="2482215" y="619125"/>
                </a:lnTo>
                <a:lnTo>
                  <a:pt x="2636996" y="603885"/>
                </a:lnTo>
                <a:lnTo>
                  <a:pt x="2857024" y="513397"/>
                </a:lnTo>
                <a:lnTo>
                  <a:pt x="3018472" y="445294"/>
                </a:lnTo>
                <a:lnTo>
                  <a:pt x="3238500" y="384810"/>
                </a:lnTo>
                <a:lnTo>
                  <a:pt x="3393281" y="358616"/>
                </a:lnTo>
                <a:lnTo>
                  <a:pt x="3613309" y="317183"/>
                </a:lnTo>
                <a:lnTo>
                  <a:pt x="3768090" y="196215"/>
                </a:lnTo>
                <a:lnTo>
                  <a:pt x="3988118" y="124778"/>
                </a:lnTo>
                <a:lnTo>
                  <a:pt x="4149566" y="71437"/>
                </a:lnTo>
                <a:lnTo>
                  <a:pt x="4369594" y="18574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33333" sp="166667"/>
            </a:custDash>
          </a:ln>
        </p:spPr>
      </p:sp>
      <p:sp>
        <p:nvSpPr>
          <p:cNvPr id="24" name="hf-354">
            <a:extLst xmlns:a="http://schemas.openxmlformats.org/drawingml/2006/main">
              <a:ext uri="{FF2B5EF4-FFF2-40B4-BE49-F238E27FC236}">
                <a16:creationId xmlns:a16="http://schemas.microsoft.com/office/drawing/2014/main" id="{27A2DEA6-C4E2-4A30-8CEA-A3548BA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6971"/>
            <a:ext cx="4524375" cy="781050"/>
          </a:xfrm>
          <a:custGeom xmlns:a="http://schemas.openxmlformats.org/drawingml/2006/main">
            <a:pathLst>
              <a:path w="4524375" h="781050">
                <a:moveTo>
                  <a:pt x="0" y="781050"/>
                </a:moveTo>
                <a:lnTo>
                  <a:pt x="220027" y="781050"/>
                </a:lnTo>
                <a:lnTo>
                  <a:pt x="374809" y="781050"/>
                </a:lnTo>
                <a:lnTo>
                  <a:pt x="594836" y="781050"/>
                </a:lnTo>
                <a:lnTo>
                  <a:pt x="756285" y="773906"/>
                </a:lnTo>
                <a:lnTo>
                  <a:pt x="976313" y="547211"/>
                </a:lnTo>
                <a:lnTo>
                  <a:pt x="1131094" y="551021"/>
                </a:lnTo>
                <a:lnTo>
                  <a:pt x="1351121" y="551021"/>
                </a:lnTo>
                <a:lnTo>
                  <a:pt x="1505903" y="551021"/>
                </a:lnTo>
                <a:lnTo>
                  <a:pt x="1725930" y="551021"/>
                </a:lnTo>
                <a:lnTo>
                  <a:pt x="1887379" y="547211"/>
                </a:lnTo>
                <a:lnTo>
                  <a:pt x="2107406" y="551021"/>
                </a:lnTo>
                <a:lnTo>
                  <a:pt x="2262188" y="539591"/>
                </a:lnTo>
                <a:lnTo>
                  <a:pt x="2482215" y="362426"/>
                </a:lnTo>
                <a:lnTo>
                  <a:pt x="2636996" y="532448"/>
                </a:lnTo>
                <a:lnTo>
                  <a:pt x="2857024" y="498158"/>
                </a:lnTo>
                <a:lnTo>
                  <a:pt x="3018472" y="350996"/>
                </a:lnTo>
                <a:lnTo>
                  <a:pt x="3238500" y="275273"/>
                </a:lnTo>
                <a:lnTo>
                  <a:pt x="3393281" y="245269"/>
                </a:lnTo>
                <a:lnTo>
                  <a:pt x="3613309" y="184785"/>
                </a:lnTo>
                <a:lnTo>
                  <a:pt x="3768090" y="131921"/>
                </a:lnTo>
                <a:lnTo>
                  <a:pt x="3988118" y="79058"/>
                </a:lnTo>
                <a:lnTo>
                  <a:pt x="4149566" y="52388"/>
                </a:lnTo>
                <a:lnTo>
                  <a:pt x="4369594" y="18574"/>
                </a:lnTo>
                <a:lnTo>
                  <a:pt x="452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25" name="hf-355">
            <a:extLst xmlns:a="http://schemas.openxmlformats.org/drawingml/2006/main">
              <a:ext uri="{FF2B5EF4-FFF2-40B4-BE49-F238E27FC236}">
                <a16:creationId xmlns:a16="http://schemas.microsoft.com/office/drawing/2014/main" id="{16661722-87AC-4864-86E0-168BC74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9629"/>
            <a:ext cx="13065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26" name="hf-356">
            <a:extLst xmlns:a="http://schemas.openxmlformats.org/drawingml/2006/main">
              <a:ext uri="{FF2B5EF4-FFF2-40B4-BE49-F238E27FC236}">
                <a16:creationId xmlns:a16="http://schemas.microsoft.com/office/drawing/2014/main" id="{CBF1D386-8217-4EB8-A81D-FDEB2AB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3889629"/>
            <a:ext cx="12535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27" name="hf-357">
            <a:extLst xmlns:a="http://schemas.openxmlformats.org/drawingml/2006/main">
              <a:ext uri="{FF2B5EF4-FFF2-40B4-BE49-F238E27FC236}">
                <a16:creationId xmlns:a16="http://schemas.microsoft.com/office/drawing/2014/main" id="{3AB9ECA3-FD90-4DED-8F01-0BA4DEF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9629"/>
            <a:ext cx="617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28" name="hf-358">
            <a:extLst xmlns:a="http://schemas.openxmlformats.org/drawingml/2006/main">
              <a:ext uri="{FF2B5EF4-FFF2-40B4-BE49-F238E27FC236}">
                <a16:creationId xmlns:a16="http://schemas.microsoft.com/office/drawing/2014/main" id="{4CFE39ED-DE90-47C9-BC0B-A073F48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326861"/>
            <a:ext cx="13689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· M2 Pro</a:t>
            </a:r>
          </a:p>
        </p:txBody>
      </p:sp>
      <p:sp>
        <p:nvSpPr>
          <p:cNvPr id="29" name="hf-359">
            <a:extLst xmlns:a="http://schemas.openxmlformats.org/drawingml/2006/main">
              <a:ext uri="{FF2B5EF4-FFF2-40B4-BE49-F238E27FC236}">
                <a16:creationId xmlns:a16="http://schemas.microsoft.com/office/drawing/2014/main" id="{28DB75D8-722E-465D-A454-9857200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614783"/>
            <a:ext cx="1177826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тот же метод</a:t>
            </a:r>
          </a:p>
        </p:txBody>
      </p:sp>
      <p:sp>
        <p:nvSpPr>
          <p:cNvPr id="30" name="hf-360">
            <a:extLst xmlns:a="http://schemas.openxmlformats.org/drawingml/2006/main">
              <a:ext uri="{FF2B5EF4-FFF2-40B4-BE49-F238E27FC236}">
                <a16:creationId xmlns:a16="http://schemas.microsoft.com/office/drawing/2014/main" id="{CAEE7F67-77B4-4768-8721-EE07C7F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31" name="hf-361">
            <a:extLst xmlns:a="http://schemas.openxmlformats.org/drawingml/2006/main">
              <a:ext uri="{FF2B5EF4-FFF2-40B4-BE49-F238E27FC236}">
                <a16:creationId xmlns:a16="http://schemas.microsoft.com/office/drawing/2014/main" id="{801FF5A4-898D-4314-BB23-0F98C4E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2" name="hf-362">
            <a:extLst xmlns:a="http://schemas.openxmlformats.org/drawingml/2006/main">
              <a:ext uri="{FF2B5EF4-FFF2-40B4-BE49-F238E27FC236}">
                <a16:creationId xmlns:a16="http://schemas.microsoft.com/office/drawing/2014/main" id="{7B1039B7-4564-42F8-9F32-2BD7C874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641" y="3338513"/>
            <a:ext cx="1068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3" name="hf-363">
            <a:extLst xmlns:a="http://schemas.openxmlformats.org/drawingml/2006/main">
              <a:ext uri="{FF2B5EF4-FFF2-40B4-BE49-F238E27FC236}">
                <a16:creationId xmlns:a16="http://schemas.microsoft.com/office/drawing/2014/main" id="{2A7CB7B5-CD4F-4C54-990D-47F02A8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73229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4" name="hf-364">
            <a:extLst xmlns:a="http://schemas.openxmlformats.org/drawingml/2006/main">
              <a:ext uri="{FF2B5EF4-FFF2-40B4-BE49-F238E27FC236}">
                <a16:creationId xmlns:a16="http://schemas.microsoft.com/office/drawing/2014/main" id="{0B599EE2-0E38-4796-A9CC-251EC4B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10" y="2849404"/>
            <a:ext cx="23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5" name="hf-365">
            <a:extLst xmlns:a="http://schemas.openxmlformats.org/drawingml/2006/main">
              <a:ext uri="{FF2B5EF4-FFF2-40B4-BE49-F238E27FC236}">
                <a16:creationId xmlns:a16="http://schemas.microsoft.com/office/drawing/2014/main" id="{E9077075-388E-4957-A6B2-2FD61013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84596"/>
            <a:ext cx="1776413" cy="953"/>
          </a:xfrm>
          <a:custGeom xmlns:a="http://schemas.openxmlformats.org/drawingml/2006/main">
            <a:pathLst>
              <a:path w="1776413" h="476">
                <a:moveTo>
                  <a:pt x="0" y="0"/>
                </a:moveTo>
                <a:lnTo>
                  <a:pt x="1776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6" name="hf-366">
            <a:extLst xmlns:a="http://schemas.openxmlformats.org/drawingml/2006/main">
              <a:ext uri="{FF2B5EF4-FFF2-40B4-BE49-F238E27FC236}">
                <a16:creationId xmlns:a16="http://schemas.microsoft.com/office/drawing/2014/main" id="{A5F901B6-E2D1-4A44-8712-B038DDA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378" y="2360771"/>
            <a:ext cx="3591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37" name="hf-367">
            <a:extLst xmlns:a="http://schemas.openxmlformats.org/drawingml/2006/main">
              <a:ext uri="{FF2B5EF4-FFF2-40B4-BE49-F238E27FC236}">
                <a16:creationId xmlns:a16="http://schemas.microsoft.com/office/drawing/2014/main" id="{2B681E95-5F53-4291-85A2-4DC8826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38" name="hf-368">
            <a:extLst xmlns:a="http://schemas.openxmlformats.org/drawingml/2006/main">
              <a:ext uri="{FF2B5EF4-FFF2-40B4-BE49-F238E27FC236}">
                <a16:creationId xmlns:a16="http://schemas.microsoft.com/office/drawing/2014/main" id="{E2230722-5DAF-4DB1-85B3-DFB46576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879" y="3533775"/>
            <a:ext cx="35659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16К</a:t>
            </a:r>
          </a:p>
        </p:txBody>
      </p:sp>
      <p:sp>
        <p:nvSpPr>
          <p:cNvPr id="39" name="hf-369">
            <a:extLst xmlns:a="http://schemas.openxmlformats.org/drawingml/2006/main">
              <a:ext uri="{FF2B5EF4-FFF2-40B4-BE49-F238E27FC236}">
                <a16:creationId xmlns:a16="http://schemas.microsoft.com/office/drawing/2014/main" id="{114D8065-15B4-4DA4-8963-4AE1042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331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40" name="hf-370">
            <a:extLst xmlns:a="http://schemas.openxmlformats.org/drawingml/2006/main">
              <a:ext uri="{FF2B5EF4-FFF2-40B4-BE49-F238E27FC236}">
                <a16:creationId xmlns:a16="http://schemas.microsoft.com/office/drawing/2014/main" id="{DBF9E3BD-80DA-4AC8-A0C6-624EF5AD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99" y="3533775"/>
            <a:ext cx="2903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1М</a:t>
            </a:r>
          </a:p>
        </p:txBody>
      </p:sp>
      <p:sp>
        <p:nvSpPr>
          <p:cNvPr id="41" name="hf-371">
            <a:extLst xmlns:a="http://schemas.openxmlformats.org/drawingml/2006/main">
              <a:ext uri="{FF2B5EF4-FFF2-40B4-BE49-F238E27FC236}">
                <a16:creationId xmlns:a16="http://schemas.microsoft.com/office/drawing/2014/main" id="{8E569CC5-1873-4219-AF42-86F5AA8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462338"/>
            <a:ext cx="953" cy="38100"/>
          </a:xfrm>
          <a:custGeom xmlns:a="http://schemas.openxmlformats.org/drawingml/2006/main">
            <a:pathLst>
              <a:path w="476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8F8F"/>
            </a:solidFill>
          </a:ln>
        </p:spPr>
      </p:sp>
      <p:sp>
        <p:nvSpPr>
          <p:cNvPr id="42" name="hf-372">
            <a:extLst xmlns:a="http://schemas.openxmlformats.org/drawingml/2006/main">
              <a:ext uri="{FF2B5EF4-FFF2-40B4-BE49-F238E27FC236}">
                <a16:creationId xmlns:a16="http://schemas.microsoft.com/office/drawing/2014/main" id="{E2F62CBD-450D-4245-87EC-3D21E13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038" y="3533775"/>
            <a:ext cx="46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500" b="0" i="0">
                <a:solidFill>
                  <a:srgbClr val="8F8F8F"/>
                </a:solidFill>
                <a:latin typeface="Montserrat"/>
                <a:ea typeface="Montserrat"/>
                <a:cs typeface="Montserrat"/>
              </a:rPr>
              <a:t>64М</a:t>
            </a:r>
          </a:p>
        </p:txBody>
      </p:sp>
      <p:sp>
        <p:nvSpPr>
          <p:cNvPr id="43" name="hf-373">
            <a:extLst xmlns:a="http://schemas.openxmlformats.org/drawingml/2006/main">
              <a:ext uri="{FF2B5EF4-FFF2-40B4-BE49-F238E27FC236}">
                <a16:creationId xmlns:a16="http://schemas.microsoft.com/office/drawing/2014/main" id="{8A509A39-8B49-4187-97D6-0D1A03A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3166"/>
            <a:ext cx="1776413" cy="872014"/>
          </a:xfrm>
          <a:custGeom xmlns:a="http://schemas.openxmlformats.org/drawingml/2006/main">
            <a:pathLst>
              <a:path w="1776413" h="872014">
                <a:moveTo>
                  <a:pt x="0" y="872014"/>
                </a:moveTo>
                <a:lnTo>
                  <a:pt x="86201" y="864394"/>
                </a:lnTo>
                <a:lnTo>
                  <a:pt x="147161" y="868204"/>
                </a:lnTo>
                <a:lnTo>
                  <a:pt x="233363" y="868204"/>
                </a:lnTo>
                <a:lnTo>
                  <a:pt x="296704" y="864394"/>
                </a:lnTo>
                <a:lnTo>
                  <a:pt x="383381" y="864394"/>
                </a:lnTo>
                <a:lnTo>
                  <a:pt x="443865" y="864394"/>
                </a:lnTo>
                <a:lnTo>
                  <a:pt x="530542" y="622935"/>
                </a:lnTo>
                <a:lnTo>
                  <a:pt x="591502" y="596741"/>
                </a:lnTo>
                <a:lnTo>
                  <a:pt x="677704" y="592931"/>
                </a:lnTo>
                <a:lnTo>
                  <a:pt x="741045" y="600551"/>
                </a:lnTo>
                <a:lnTo>
                  <a:pt x="827246" y="592931"/>
                </a:lnTo>
                <a:lnTo>
                  <a:pt x="888206" y="592931"/>
                </a:lnTo>
                <a:lnTo>
                  <a:pt x="974408" y="592931"/>
                </a:lnTo>
                <a:lnTo>
                  <a:pt x="1035367" y="592931"/>
                </a:lnTo>
                <a:lnTo>
                  <a:pt x="1121569" y="592931"/>
                </a:lnTo>
                <a:lnTo>
                  <a:pt x="1184910" y="592931"/>
                </a:lnTo>
                <a:lnTo>
                  <a:pt x="1271588" y="566261"/>
                </a:lnTo>
                <a:lnTo>
                  <a:pt x="1332547" y="517207"/>
                </a:lnTo>
                <a:lnTo>
                  <a:pt x="1418749" y="203835"/>
                </a:lnTo>
                <a:lnTo>
                  <a:pt x="1479709" y="56674"/>
                </a:lnTo>
                <a:lnTo>
                  <a:pt x="1565910" y="33814"/>
                </a:lnTo>
                <a:lnTo>
                  <a:pt x="1629251" y="15240"/>
                </a:lnTo>
                <a:lnTo>
                  <a:pt x="1715453" y="0"/>
                </a:lnTo>
                <a:lnTo>
                  <a:pt x="1776413" y="381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4" name="hf-374">
            <a:extLst xmlns:a="http://schemas.openxmlformats.org/drawingml/2006/main">
              <a:ext uri="{FF2B5EF4-FFF2-40B4-BE49-F238E27FC236}">
                <a16:creationId xmlns:a16="http://schemas.microsoft.com/office/drawing/2014/main" id="{51D64912-41DE-4E5D-8060-EA799F7F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4571"/>
            <a:ext cx="1776413" cy="872014"/>
          </a:xfrm>
          <a:custGeom xmlns:a="http://schemas.openxmlformats.org/drawingml/2006/main">
            <a:pathLst>
              <a:path w="1776413" h="872014">
                <a:moveTo>
                  <a:pt x="0" y="872014"/>
                </a:moveTo>
                <a:lnTo>
                  <a:pt x="86201" y="800100"/>
                </a:lnTo>
                <a:lnTo>
                  <a:pt x="147161" y="803910"/>
                </a:lnTo>
                <a:lnTo>
                  <a:pt x="233363" y="815340"/>
                </a:lnTo>
                <a:lnTo>
                  <a:pt x="296704" y="803910"/>
                </a:lnTo>
                <a:lnTo>
                  <a:pt x="383381" y="607695"/>
                </a:lnTo>
                <a:lnTo>
                  <a:pt x="443865" y="607695"/>
                </a:lnTo>
                <a:lnTo>
                  <a:pt x="530542" y="554831"/>
                </a:lnTo>
                <a:lnTo>
                  <a:pt x="591502" y="558641"/>
                </a:lnTo>
                <a:lnTo>
                  <a:pt x="677704" y="611505"/>
                </a:lnTo>
                <a:lnTo>
                  <a:pt x="741045" y="581501"/>
                </a:lnTo>
                <a:lnTo>
                  <a:pt x="827246" y="554831"/>
                </a:lnTo>
                <a:lnTo>
                  <a:pt x="888206" y="614839"/>
                </a:lnTo>
                <a:lnTo>
                  <a:pt x="974408" y="614839"/>
                </a:lnTo>
                <a:lnTo>
                  <a:pt x="1035367" y="626269"/>
                </a:lnTo>
                <a:lnTo>
                  <a:pt x="1121569" y="452914"/>
                </a:lnTo>
                <a:lnTo>
                  <a:pt x="1184910" y="161925"/>
                </a:lnTo>
                <a:lnTo>
                  <a:pt x="1271588" y="67628"/>
                </a:lnTo>
                <a:lnTo>
                  <a:pt x="1332547" y="41434"/>
                </a:lnTo>
                <a:lnTo>
                  <a:pt x="1418749" y="37148"/>
                </a:lnTo>
                <a:lnTo>
                  <a:pt x="1479709" y="14764"/>
                </a:lnTo>
                <a:lnTo>
                  <a:pt x="1565910" y="7144"/>
                </a:lnTo>
                <a:lnTo>
                  <a:pt x="1629251" y="45244"/>
                </a:lnTo>
                <a:lnTo>
                  <a:pt x="1715453" y="0"/>
                </a:lnTo>
                <a:lnTo>
                  <a:pt x="1776413" y="714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33333" sp="166667"/>
            </a:custDash>
          </a:ln>
        </p:spPr>
      </p:sp>
      <p:sp>
        <p:nvSpPr>
          <p:cNvPr id="45" name="hf-375">
            <a:extLst xmlns:a="http://schemas.openxmlformats.org/drawingml/2006/main">
              <a:ext uri="{FF2B5EF4-FFF2-40B4-BE49-F238E27FC236}">
                <a16:creationId xmlns:a16="http://schemas.microsoft.com/office/drawing/2014/main" id="{6704A5A0-99EA-443D-817B-7E9721BE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90698"/>
            <a:ext cx="535119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utility-кривая похожа на E-ядро; это косвенный признак</a:t>
            </a:r>
          </a:p>
        </p:txBody>
      </p:sp>
      <p:pic>
        <p:nvPicPr>
          <p:cNvPr id="46" name="hf-376">
            <a:extLst xmlns:a="http://schemas.openxmlformats.org/drawingml/2006/main">
              <a:ext uri="{FF2B5EF4-FFF2-40B4-BE49-F238E27FC236}">
                <a16:creationId xmlns:a16="http://schemas.microsoft.com/office/drawing/2014/main" id="{4A66EDF1-02DA-4059-8900-C4927B058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8935cbb742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7" name="hf-377">
            <a:extLst xmlns:a="http://schemas.openxmlformats.org/drawingml/2006/main">
              <a:ext uri="{FF2B5EF4-FFF2-40B4-BE49-F238E27FC236}">
                <a16:creationId xmlns:a16="http://schemas.microsoft.com/office/drawing/2014/main" id="{796300A9-C575-4F2D-AE71-9EF2FA7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4655135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5" grpId="0" animBg="1"/>
      <p:bldP spid="26" grpId="0" animBg="1"/>
      <p:bldP spid="27" grpId="0" animBg="1"/>
      <p:bldP spid="45" grpId="0" animBg="1"/>
      <p:bldP spid="28" grpId="0" animBg="1"/>
      <p:bldP spid="29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</p:bldLst>
  </p:timing>
</p:sld>
</file>

<file path=ppt/slides/slide23.xml><?xml version="1.0" encoding="utf-8"?>
<p:sld xmlns:p="http://schemas.openxmlformats.org/presentationml/2006/main">
  <p:cSld name="flip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378">
            <a:extLst xmlns:a="http://schemas.openxmlformats.org/drawingml/2006/main">
              <a:ext uri="{FF2B5EF4-FFF2-40B4-BE49-F238E27FC236}">
                <a16:creationId xmlns:a16="http://schemas.microsoft.com/office/drawing/2014/main" id="{DA48BFEA-96A8-4B01-8BD5-20BB1FF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92797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ОДИН БЕНЧМАРК — РАЗНЫЕ ОТВЕТЫ</a:t>
            </a:r>
          </a:p>
        </p:txBody>
      </p:sp>
      <p:sp>
        <p:nvSpPr>
          <p:cNvPr id="3" name="hf-379">
            <a:extLst xmlns:a="http://schemas.openxmlformats.org/drawingml/2006/main">
              <a:ext uri="{FF2B5EF4-FFF2-40B4-BE49-F238E27FC236}">
                <a16:creationId xmlns:a16="http://schemas.microsoft.com/office/drawing/2014/main" id="{8EB524A9-5A41-4233-A27D-C33A6F37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09983"/>
            <a:ext cx="621193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sort + unique против unordered_set · U = N/2 · × — выигрыш по времени</a:t>
            </a:r>
          </a:p>
        </p:txBody>
      </p:sp>
      <p:sp>
        <p:nvSpPr>
          <p:cNvPr id="4" name="hf-380">
            <a:extLst xmlns:a="http://schemas.openxmlformats.org/drawingml/2006/main">
              <a:ext uri="{FF2B5EF4-FFF2-40B4-BE49-F238E27FC236}">
                <a16:creationId xmlns:a16="http://schemas.microsoft.com/office/drawing/2014/main" id="{52F0B6CF-4988-49FD-8468-2B1F84B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78743"/>
            <a:ext cx="22696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5" name="hf-381">
            <a:extLst xmlns:a="http://schemas.openxmlformats.org/drawingml/2006/main">
              <a:ext uri="{FF2B5EF4-FFF2-40B4-BE49-F238E27FC236}">
                <a16:creationId xmlns:a16="http://schemas.microsoft.com/office/drawing/2014/main" id="{01139A31-A682-4141-BB83-D15F2E17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1622136"/>
            <a:ext cx="1048048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Linux x86</a:t>
            </a:r>
          </a:p>
        </p:txBody>
      </p:sp>
      <p:sp>
        <p:nvSpPr>
          <p:cNvPr id="6" name="hf-382">
            <a:extLst xmlns:a="http://schemas.openxmlformats.org/drawingml/2006/main">
              <a:ext uri="{FF2B5EF4-FFF2-40B4-BE49-F238E27FC236}">
                <a16:creationId xmlns:a16="http://schemas.microsoft.com/office/drawing/2014/main" id="{87309986-A28A-4A04-A742-5848388C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1896313"/>
            <a:ext cx="145472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повтор · Xeon VM</a:t>
            </a:r>
          </a:p>
        </p:txBody>
      </p:sp>
      <p:sp>
        <p:nvSpPr>
          <p:cNvPr id="7" name="hf-383">
            <a:extLst xmlns:a="http://schemas.openxmlformats.org/drawingml/2006/main">
              <a:ext uri="{FF2B5EF4-FFF2-40B4-BE49-F238E27FC236}">
                <a16:creationId xmlns:a16="http://schemas.microsoft.com/office/drawing/2014/main" id="{52F55983-C001-4B1B-B074-1D3D4A3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1622679"/>
            <a:ext cx="139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8" name="hf-384">
            <a:extLst xmlns:a="http://schemas.openxmlformats.org/drawingml/2006/main">
              <a:ext uri="{FF2B5EF4-FFF2-40B4-BE49-F238E27FC236}">
                <a16:creationId xmlns:a16="http://schemas.microsoft.com/office/drawing/2014/main" id="{A146069E-BF08-4869-A48A-B5FEA77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1896313"/>
            <a:ext cx="86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QoS utility</a:t>
            </a:r>
          </a:p>
        </p:txBody>
      </p:sp>
      <p:sp>
        <p:nvSpPr>
          <p:cNvPr id="9" name="hf-385">
            <a:extLst xmlns:a="http://schemas.openxmlformats.org/drawingml/2006/main">
              <a:ext uri="{FF2B5EF4-FFF2-40B4-BE49-F238E27FC236}">
                <a16:creationId xmlns:a16="http://schemas.microsoft.com/office/drawing/2014/main" id="{EF4B5713-CBCA-429A-A018-295E444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22679"/>
            <a:ext cx="119992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M2 Pro</a:t>
            </a:r>
          </a:p>
        </p:txBody>
      </p:sp>
      <p:sp>
        <p:nvSpPr>
          <p:cNvPr id="10" name="hf-386">
            <a:extLst xmlns:a="http://schemas.openxmlformats.org/drawingml/2006/main">
              <a:ext uri="{FF2B5EF4-FFF2-40B4-BE49-F238E27FC236}">
                <a16:creationId xmlns:a16="http://schemas.microsoft.com/office/drawing/2014/main" id="{FEF6F253-B7FE-4FD2-87A3-8DDC4F9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96313"/>
            <a:ext cx="10566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11" name="hf-387">
            <a:extLst xmlns:a="http://schemas.openxmlformats.org/drawingml/2006/main">
              <a:ext uri="{FF2B5EF4-FFF2-40B4-BE49-F238E27FC236}">
                <a16:creationId xmlns:a16="http://schemas.microsoft.com/office/drawing/2014/main" id="{B62F02C2-C49F-4C46-856E-739D49C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907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2" name="hf-388">
            <a:extLst xmlns:a="http://schemas.openxmlformats.org/drawingml/2006/main">
              <a:ext uri="{FF2B5EF4-FFF2-40B4-BE49-F238E27FC236}">
                <a16:creationId xmlns:a16="http://schemas.microsoft.com/office/drawing/2014/main" id="{5974EF20-C7A0-4E9D-922D-AE9F20E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77732"/>
            <a:ext cx="5224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3" name="hf-389">
            <a:extLst xmlns:a="http://schemas.openxmlformats.org/drawingml/2006/main">
              <a:ext uri="{FF2B5EF4-FFF2-40B4-BE49-F238E27FC236}">
                <a16:creationId xmlns:a16="http://schemas.microsoft.com/office/drawing/2014/main" id="{FC3B5451-4B30-4E04-97D9-99E70BAF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274056"/>
            <a:ext cx="108927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×1,64</a:t>
            </a:r>
          </a:p>
        </p:txBody>
      </p:sp>
      <p:sp>
        <p:nvSpPr>
          <p:cNvPr id="14" name="hf-390">
            <a:extLst xmlns:a="http://schemas.openxmlformats.org/drawingml/2006/main">
              <a:ext uri="{FF2B5EF4-FFF2-40B4-BE49-F238E27FC236}">
                <a16:creationId xmlns:a16="http://schemas.microsoft.com/office/drawing/2014/main" id="{51B09ED1-315A-46FE-A5B9-23E434DB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274056"/>
            <a:ext cx="103882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5" name="hf-391">
            <a:extLst xmlns:a="http://schemas.openxmlformats.org/drawingml/2006/main">
              <a:ext uri="{FF2B5EF4-FFF2-40B4-BE49-F238E27FC236}">
                <a16:creationId xmlns:a16="http://schemas.microsoft.com/office/drawing/2014/main" id="{0DC692FC-0CDA-4D67-89C6-11C0326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4599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16" name="hf-392">
            <a:extLst xmlns:a="http://schemas.openxmlformats.org/drawingml/2006/main">
              <a:ext uri="{FF2B5EF4-FFF2-40B4-BE49-F238E27FC236}">
                <a16:creationId xmlns:a16="http://schemas.microsoft.com/office/drawing/2014/main" id="{E1320A8D-D784-43AB-B1CB-5D569199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9388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393">
            <a:extLst xmlns:a="http://schemas.openxmlformats.org/drawingml/2006/main">
              <a:ext uri="{FF2B5EF4-FFF2-40B4-BE49-F238E27FC236}">
                <a16:creationId xmlns:a16="http://schemas.microsoft.com/office/drawing/2014/main" id="{30A246F4-B3FB-4848-85DA-37DA89B7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06370"/>
            <a:ext cx="63378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256K</a:t>
            </a:r>
          </a:p>
        </p:txBody>
      </p:sp>
      <p:sp>
        <p:nvSpPr>
          <p:cNvPr id="18" name="hf-394">
            <a:extLst xmlns:a="http://schemas.openxmlformats.org/drawingml/2006/main">
              <a:ext uri="{FF2B5EF4-FFF2-40B4-BE49-F238E27FC236}">
                <a16:creationId xmlns:a16="http://schemas.microsoft.com/office/drawing/2014/main" id="{336FF8E1-9EED-47D9-826A-30602ADD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802693"/>
            <a:ext cx="1073572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×1,29</a:t>
            </a:r>
          </a:p>
        </p:txBody>
      </p:sp>
      <p:sp>
        <p:nvSpPr>
          <p:cNvPr id="19" name="hf-395">
            <a:extLst xmlns:a="http://schemas.openxmlformats.org/drawingml/2006/main">
              <a:ext uri="{FF2B5EF4-FFF2-40B4-BE49-F238E27FC236}">
                <a16:creationId xmlns:a16="http://schemas.microsoft.com/office/drawing/2014/main" id="{5560DFBE-3B25-4169-BC60-AE210B8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802693"/>
            <a:ext cx="916781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×1,3</a:t>
            </a:r>
          </a:p>
        </p:txBody>
      </p:sp>
      <p:sp>
        <p:nvSpPr>
          <p:cNvPr id="20" name="hf-396">
            <a:extLst xmlns:a="http://schemas.openxmlformats.org/drawingml/2006/main">
              <a:ext uri="{FF2B5EF4-FFF2-40B4-BE49-F238E27FC236}">
                <a16:creationId xmlns:a16="http://schemas.microsoft.com/office/drawing/2014/main" id="{4CD2B527-C0C2-4883-A401-508EBB3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3236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1" name="hf-397">
            <a:extLst xmlns:a="http://schemas.openxmlformats.org/drawingml/2006/main">
              <a:ext uri="{FF2B5EF4-FFF2-40B4-BE49-F238E27FC236}">
                <a16:creationId xmlns:a16="http://schemas.microsoft.com/office/drawing/2014/main" id="{33B6CBDF-F499-40B8-9C8E-A31B2B8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480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2" name="hf-398">
            <a:extLst xmlns:a="http://schemas.openxmlformats.org/drawingml/2006/main">
              <a:ext uri="{FF2B5EF4-FFF2-40B4-BE49-F238E27FC236}">
                <a16:creationId xmlns:a16="http://schemas.microsoft.com/office/drawing/2014/main" id="{F3BBD1F9-5273-4233-985C-D9B0A790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5007"/>
            <a:ext cx="5774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512K</a:t>
            </a:r>
          </a:p>
        </p:txBody>
      </p:sp>
      <p:sp>
        <p:nvSpPr>
          <p:cNvPr id="23" name="hf-399">
            <a:extLst xmlns:a="http://schemas.openxmlformats.org/drawingml/2006/main">
              <a:ext uri="{FF2B5EF4-FFF2-40B4-BE49-F238E27FC236}">
                <a16:creationId xmlns:a16="http://schemas.microsoft.com/office/drawing/2014/main" id="{DA0F12FF-CBEB-491B-90B8-62786A0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331331"/>
            <a:ext cx="101679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 ×1,12</a:t>
            </a:r>
          </a:p>
        </p:txBody>
      </p:sp>
      <p:sp>
        <p:nvSpPr>
          <p:cNvPr id="24" name="hf-400">
            <a:extLst xmlns:a="http://schemas.openxmlformats.org/drawingml/2006/main">
              <a:ext uri="{FF2B5EF4-FFF2-40B4-BE49-F238E27FC236}">
                <a16:creationId xmlns:a16="http://schemas.microsoft.com/office/drawing/2014/main" id="{4216E27E-6ED8-4DBB-B5DC-2EF24F2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3331331"/>
            <a:ext cx="924148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×1,9</a:t>
            </a:r>
          </a:p>
        </p:txBody>
      </p:sp>
      <p:sp>
        <p:nvSpPr>
          <p:cNvPr id="25" name="hf-401">
            <a:extLst xmlns:a="http://schemas.openxmlformats.org/drawingml/2006/main">
              <a:ext uri="{FF2B5EF4-FFF2-40B4-BE49-F238E27FC236}">
                <a16:creationId xmlns:a16="http://schemas.microsoft.com/office/drawing/2014/main" id="{544AA925-A66F-466C-9FB9-5DCB9204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1874"/>
            <a:ext cx="99417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6" name="hf-402">
            <a:extLst xmlns:a="http://schemas.openxmlformats.org/drawingml/2006/main">
              <a:ext uri="{FF2B5EF4-FFF2-40B4-BE49-F238E27FC236}">
                <a16:creationId xmlns:a16="http://schemas.microsoft.com/office/drawing/2014/main" id="{67876A5B-43D3-4E3F-B367-9B5128EA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76663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7" name="hf-403">
            <a:extLst xmlns:a="http://schemas.openxmlformats.org/drawingml/2006/main">
              <a:ext uri="{FF2B5EF4-FFF2-40B4-BE49-F238E27FC236}">
                <a16:creationId xmlns:a16="http://schemas.microsoft.com/office/drawing/2014/main" id="{6AB8FD6A-15E9-472E-91E0-B65213B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3645"/>
            <a:ext cx="36247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1M</a:t>
            </a:r>
          </a:p>
        </p:txBody>
      </p:sp>
      <p:sp>
        <p:nvSpPr>
          <p:cNvPr id="28" name="hf-404">
            <a:extLst xmlns:a="http://schemas.openxmlformats.org/drawingml/2006/main">
              <a:ext uri="{FF2B5EF4-FFF2-40B4-BE49-F238E27FC236}">
                <a16:creationId xmlns:a16="http://schemas.microsoft.com/office/drawing/2014/main" id="{2A601F99-961A-4A29-B776-9A7D2711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859968"/>
            <a:ext cx="103882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≈ близко</a:t>
            </a:r>
          </a:p>
        </p:txBody>
      </p:sp>
      <p:sp>
        <p:nvSpPr>
          <p:cNvPr id="29" name="hf-405">
            <a:extLst xmlns:a="http://schemas.openxmlformats.org/drawingml/2006/main">
              <a:ext uri="{FF2B5EF4-FFF2-40B4-BE49-F238E27FC236}">
                <a16:creationId xmlns:a16="http://schemas.microsoft.com/office/drawing/2014/main" id="{25D50B08-EB54-4C85-8556-B06F364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3859968"/>
            <a:ext cx="95897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×3,3</a:t>
            </a:r>
          </a:p>
        </p:txBody>
      </p:sp>
      <p:sp>
        <p:nvSpPr>
          <p:cNvPr id="30" name="hf-406">
            <a:extLst xmlns:a="http://schemas.openxmlformats.org/drawingml/2006/main">
              <a:ext uri="{FF2B5EF4-FFF2-40B4-BE49-F238E27FC236}">
                <a16:creationId xmlns:a16="http://schemas.microsoft.com/office/drawing/2014/main" id="{AC434504-B1AA-48D2-8CEB-646B626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0511"/>
            <a:ext cx="877714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×1,3</a:t>
            </a:r>
          </a:p>
        </p:txBody>
      </p:sp>
      <p:sp>
        <p:nvSpPr>
          <p:cNvPr id="31" name="hf-407">
            <a:extLst xmlns:a="http://schemas.openxmlformats.org/drawingml/2006/main">
              <a:ext uri="{FF2B5EF4-FFF2-40B4-BE49-F238E27FC236}">
                <a16:creationId xmlns:a16="http://schemas.microsoft.com/office/drawing/2014/main" id="{1BD39203-6A26-4484-8A8A-448CC9D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91730"/>
            <a:ext cx="6080820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CI отвечает про свою среду. Пользовательский код живёт в другой.</a:t>
            </a:r>
          </a:p>
        </p:txBody>
      </p:sp>
      <p:pic>
        <p:nvPicPr>
          <p:cNvPr id="32" name="hf-408">
            <a:extLst xmlns:a="http://schemas.openxmlformats.org/drawingml/2006/main">
              <a:ext uri="{FF2B5EF4-FFF2-40B4-BE49-F238E27FC236}">
                <a16:creationId xmlns:a16="http://schemas.microsoft.com/office/drawing/2014/main" id="{AF86D701-DC08-43FD-9D2E-86784750B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d96c3b7fe48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3" name="hf-409">
            <a:extLst xmlns:a="http://schemas.openxmlformats.org/drawingml/2006/main">
              <a:ext uri="{FF2B5EF4-FFF2-40B4-BE49-F238E27FC236}">
                <a16:creationId xmlns:a16="http://schemas.microsoft.com/office/drawing/2014/main" id="{44B34A07-55D6-4CBE-8584-0F8ACE0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8817949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7" grpId="0" animBg="1"/>
      <p:bldP spid="28" grpId="0" animBg="1"/>
      <p:bldP spid="29" grpId="0" animBg="1"/>
      <p:bldP spid="12" grpId="0" animBg="1"/>
      <p:bldP spid="13" grpId="0" animBg="1"/>
      <p:bldP spid="14" grpId="0" animBg="1"/>
      <p:bldP spid="22" grpId="0" animBg="1"/>
      <p:bldP spid="23" grpId="0" animBg="1"/>
      <p:bldP spid="24" grpId="0" animBg="1"/>
      <p:bldP spid="9" grpId="0" animBg="1"/>
      <p:bldP spid="10" grpId="0" animBg="1"/>
      <p:bldP spid="15" grpId="0" animBg="1"/>
      <p:bldP spid="20" grpId="0" animBg="1"/>
      <p:bldP spid="25" grpId="0" animBg="1"/>
      <p:bldP spid="30" grpId="0" animBg="1"/>
      <p:bldP spid="31" grpId="0" animBg="1"/>
    </p:bldLst>
  </p:timing>
</p:sld>
</file>

<file path=ppt/slides/slide24.xml><?xml version="1.0" encoding="utf-8"?>
<p:sld xmlns:p="http://schemas.openxmlformats.org/presentationml/2006/main">
  <p:cSld name="merg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10">
            <a:extLst xmlns:a="http://schemas.openxmlformats.org/drawingml/2006/main">
              <a:ext uri="{FF2B5EF4-FFF2-40B4-BE49-F238E27FC236}">
                <a16:creationId xmlns:a16="http://schemas.microsoft.com/office/drawing/2014/main" id="{9A5977F4-4D6F-4C85-9932-2B33841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544889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ДЕЛЬТЫ И СЛИЯНИЕ</a:t>
            </a:r>
          </a:p>
        </p:txBody>
      </p:sp>
      <p:sp>
        <p:nvSpPr>
          <p:cNvPr id="3" name="hf-411">
            <a:extLst xmlns:a="http://schemas.openxmlformats.org/drawingml/2006/main">
              <a:ext uri="{FF2B5EF4-FFF2-40B4-BE49-F238E27FC236}">
                <a16:creationId xmlns:a16="http://schemas.microsoft.com/office/drawing/2014/main" id="{F0BE496F-160A-49D8-AEC4-94034F87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76375"/>
            <a:ext cx="1952625" cy="619125"/>
          </a:xfrm>
          <a:custGeom xmlns:a="http://schemas.openxmlformats.org/drawingml/2006/main">
            <a:pathLst>
              <a:path w="1952625" h="619125">
                <a:moveTo>
                  <a:pt x="0" y="0"/>
                </a:moveTo>
                <a:lnTo>
                  <a:pt x="1714500" y="0"/>
                </a:lnTo>
                <a:lnTo>
                  <a:pt x="1952625" y="309563"/>
                </a:lnTo>
                <a:lnTo>
                  <a:pt x="1714500" y="619125"/>
                </a:lnTo>
                <a:lnTo>
                  <a:pt x="0" y="619125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4" name="hf-412">
            <a:extLst xmlns:a="http://schemas.openxmlformats.org/drawingml/2006/main">
              <a:ext uri="{FF2B5EF4-FFF2-40B4-BE49-F238E27FC236}">
                <a16:creationId xmlns:a16="http://schemas.microsoft.com/office/drawing/2014/main" id="{8B2076BE-3AD5-445A-8699-99CB15A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3" y="1476375"/>
            <a:ext cx="1952625" cy="619125"/>
          </a:xfrm>
          <a:custGeom xmlns:a="http://schemas.openxmlformats.org/drawingml/2006/main">
            <a:pathLst>
              <a:path w="1952625" h="619125">
                <a:moveTo>
                  <a:pt x="0" y="0"/>
                </a:moveTo>
                <a:lnTo>
                  <a:pt x="1714500" y="0"/>
                </a:lnTo>
                <a:lnTo>
                  <a:pt x="1952625" y="309563"/>
                </a:lnTo>
                <a:lnTo>
                  <a:pt x="1714500" y="619125"/>
                </a:lnTo>
                <a:lnTo>
                  <a:pt x="0" y="619125"/>
                </a:lnTo>
                <a:lnTo>
                  <a:pt x="238125" y="309563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5" name="hf-413">
            <a:extLst xmlns:a="http://schemas.openxmlformats.org/drawingml/2006/main">
              <a:ext uri="{FF2B5EF4-FFF2-40B4-BE49-F238E27FC236}">
                <a16:creationId xmlns:a16="http://schemas.microsoft.com/office/drawing/2014/main" id="{2949A0B5-13BA-4E04-BEAA-9BE06E1D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1476375"/>
            <a:ext cx="2238375" cy="619125"/>
          </a:xfrm>
          <a:custGeom xmlns:a="http://schemas.openxmlformats.org/drawingml/2006/main">
            <a:pathLst>
              <a:path w="2238375" h="619125">
                <a:moveTo>
                  <a:pt x="0" y="0"/>
                </a:moveTo>
                <a:lnTo>
                  <a:pt x="2000250" y="0"/>
                </a:lnTo>
                <a:lnTo>
                  <a:pt x="2238375" y="309563"/>
                </a:lnTo>
                <a:lnTo>
                  <a:pt x="2000250" y="619125"/>
                </a:lnTo>
                <a:lnTo>
                  <a:pt x="0" y="619125"/>
                </a:lnTo>
                <a:lnTo>
                  <a:pt x="238125" y="309563"/>
                </a:lnTo>
                <a:close/>
              </a:path>
            </a:pathLst>
          </a:custGeom>
          <a:solidFill xmlns:a="http://schemas.openxmlformats.org/drawingml/2006/main">
            <a:srgbClr val="46CDAE"/>
          </a:solidFill>
          <a:ln xmlns:a="http://schemas.openxmlformats.org/drawingml/2006/main" w="4763">
            <a:noFill/>
          </a:ln>
        </p:spPr>
      </p:sp>
      <p:sp>
        <p:nvSpPr>
          <p:cNvPr id="6" name="hf-414">
            <a:extLst xmlns:a="http://schemas.openxmlformats.org/drawingml/2006/main">
              <a:ext uri="{FF2B5EF4-FFF2-40B4-BE49-F238E27FC236}">
                <a16:creationId xmlns:a16="http://schemas.microsoft.com/office/drawing/2014/main" id="{29C03F2D-315F-44A6-A4EC-89085687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7429"/>
            <a:ext cx="46084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</a:t>
            </a:r>
          </a:p>
        </p:txBody>
      </p:sp>
      <p:sp>
        <p:nvSpPr>
          <p:cNvPr id="7" name="hf-415">
            <a:extLst xmlns:a="http://schemas.openxmlformats.org/drawingml/2006/main">
              <a:ext uri="{FF2B5EF4-FFF2-40B4-BE49-F238E27FC236}">
                <a16:creationId xmlns:a16="http://schemas.microsoft.com/office/drawing/2014/main" id="{47998764-A60E-4633-A447-39B6B40F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6029"/>
            <a:ext cx="12307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дельты 64K</a:t>
            </a:r>
          </a:p>
        </p:txBody>
      </p:sp>
      <p:sp>
        <p:nvSpPr>
          <p:cNvPr id="8" name="hf-416">
            <a:extLst xmlns:a="http://schemas.openxmlformats.org/drawingml/2006/main">
              <a:ext uri="{FF2B5EF4-FFF2-40B4-BE49-F238E27FC236}">
                <a16:creationId xmlns:a16="http://schemas.microsoft.com/office/drawing/2014/main" id="{F547DC0A-901A-4C32-99A1-EBDCEA1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1651254"/>
            <a:ext cx="7678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unique</a:t>
            </a:r>
          </a:p>
        </p:txBody>
      </p:sp>
      <p:sp>
        <p:nvSpPr>
          <p:cNvPr id="9" name="hf-417">
            <a:extLst xmlns:a="http://schemas.openxmlformats.org/drawingml/2006/main">
              <a:ext uri="{FF2B5EF4-FFF2-40B4-BE49-F238E27FC236}">
                <a16:creationId xmlns:a16="http://schemas.microsoft.com/office/drawing/2014/main" id="{B09CA997-B22B-46F5-9A46-DE4262D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1527429"/>
            <a:ext cx="6628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слить</a:t>
            </a:r>
          </a:p>
        </p:txBody>
      </p:sp>
      <p:sp>
        <p:nvSpPr>
          <p:cNvPr id="10" name="hf-418">
            <a:extLst xmlns:a="http://schemas.openxmlformats.org/drawingml/2006/main">
              <a:ext uri="{FF2B5EF4-FFF2-40B4-BE49-F238E27FC236}">
                <a16:creationId xmlns:a16="http://schemas.microsoft.com/office/drawing/2014/main" id="{B5ADC3B9-4183-4A5E-8309-66502F28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1756029"/>
            <a:ext cx="181748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с локальными 1M</a:t>
            </a:r>
          </a:p>
        </p:txBody>
      </p:sp>
      <p:sp>
        <p:nvSpPr>
          <p:cNvPr id="11" name="hf-419">
            <a:extLst xmlns:a="http://schemas.openxmlformats.org/drawingml/2006/main">
              <a:ext uri="{FF2B5EF4-FFF2-40B4-BE49-F238E27FC236}">
                <a16:creationId xmlns:a16="http://schemas.microsoft.com/office/drawing/2014/main" id="{94D3F254-909C-4C83-B024-D7FFC79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1476375"/>
            <a:ext cx="18573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hf-420">
            <a:extLst xmlns:a="http://schemas.openxmlformats.org/drawingml/2006/main">
              <a:ext uri="{FF2B5EF4-FFF2-40B4-BE49-F238E27FC236}">
                <a16:creationId xmlns:a16="http://schemas.microsoft.com/office/drawing/2014/main" id="{7A3C60C1-4A8C-4123-AE93-409870B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957" y="1617917"/>
            <a:ext cx="162736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Уникальные id</a:t>
            </a:r>
          </a:p>
        </p:txBody>
      </p:sp>
      <p:sp>
        <p:nvSpPr>
          <p:cNvPr id="13" name="hf-421">
            <a:extLst xmlns:a="http://schemas.openxmlformats.org/drawingml/2006/main">
              <a:ext uri="{FF2B5EF4-FFF2-40B4-BE49-F238E27FC236}">
                <a16:creationId xmlns:a16="http://schemas.microsoft.com/office/drawing/2014/main" id="{858FEAAA-D543-43FB-B5D7-C61E40C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33625"/>
            <a:ext cx="80295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4" name="hf-422">
            <a:extLst xmlns:a="http://schemas.openxmlformats.org/drawingml/2006/main">
              <a:ext uri="{FF2B5EF4-FFF2-40B4-BE49-F238E27FC236}">
                <a16:creationId xmlns:a16="http://schemas.microsoft.com/office/drawing/2014/main" id="{00936956-BB78-417A-ADA7-DA145B4F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2752725"/>
            <a:ext cx="6191250" cy="2762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B26"/>
          </a:solidFill>
          <a:ln xmlns:a="http://schemas.openxmlformats.org/drawingml/2006/main" w="0">
            <a:noFill/>
          </a:ln>
        </p:spPr>
      </p:sp>
      <p:sp>
        <p:nvSpPr>
          <p:cNvPr id="15" name="hf-423">
            <a:extLst xmlns:a="http://schemas.openxmlformats.org/drawingml/2006/main">
              <a:ext uri="{FF2B5EF4-FFF2-40B4-BE49-F238E27FC236}">
                <a16:creationId xmlns:a16="http://schemas.microsoft.com/office/drawing/2014/main" id="{C7D04649-ABBA-4E70-A543-FA9EADF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459546"/>
            <a:ext cx="31538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std::sort(D.begin(), D.end());</a:t>
            </a:r>
          </a:p>
        </p:txBody>
      </p:sp>
      <p:sp>
        <p:nvSpPr>
          <p:cNvPr id="16" name="hf-424">
            <a:extLst xmlns:a="http://schemas.openxmlformats.org/drawingml/2006/main">
              <a:ext uri="{FF2B5EF4-FFF2-40B4-BE49-F238E27FC236}">
                <a16:creationId xmlns:a16="http://schemas.microsoft.com/office/drawing/2014/main" id="{EC84F32B-73C3-4062-8F6C-AEAC513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735771"/>
            <a:ext cx="521828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D.erase(std::unique(D.begin(), D.end()), D.end());</a:t>
            </a:r>
          </a:p>
        </p:txBody>
      </p:sp>
      <p:sp>
        <p:nvSpPr>
          <p:cNvPr id="17" name="hf-425">
            <a:extLst xmlns:a="http://schemas.openxmlformats.org/drawingml/2006/main">
              <a:ext uri="{FF2B5EF4-FFF2-40B4-BE49-F238E27FC236}">
                <a16:creationId xmlns:a16="http://schemas.microsoft.com/office/drawing/2014/main" id="{3625BB8F-F136-4A70-9AEB-CFE47C58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011996"/>
            <a:ext cx="62504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std::set_union(L.begin(), L.end(), D.begin(), D.end(), out);</a:t>
            </a:r>
          </a:p>
        </p:txBody>
      </p:sp>
      <p:sp>
        <p:nvSpPr>
          <p:cNvPr id="18" name="hf-426">
            <a:extLst xmlns:a="http://schemas.openxmlformats.org/drawingml/2006/main">
              <a:ext uri="{FF2B5EF4-FFF2-40B4-BE49-F238E27FC236}">
                <a16:creationId xmlns:a16="http://schemas.microsoft.com/office/drawing/2014/main" id="{382101A1-226A-45CB-8CC8-5D501F2A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581" y="3272542"/>
            <a:ext cx="2286819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без unique дубли дельты</a:t>
            </a:r>
          </a:p>
        </p:txBody>
      </p:sp>
      <p:sp>
        <p:nvSpPr>
          <p:cNvPr id="19" name="hf-427">
            <a:extLst xmlns:a="http://schemas.openxmlformats.org/drawingml/2006/main">
              <a:ext uri="{FF2B5EF4-FFF2-40B4-BE49-F238E27FC236}">
                <a16:creationId xmlns:a16="http://schemas.microsoft.com/office/drawing/2014/main" id="{C1080F6D-67CB-4F17-B741-767C7291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605" y="3495412"/>
            <a:ext cx="927795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останутся</a:t>
            </a:r>
          </a:p>
        </p:txBody>
      </p:sp>
      <p:sp>
        <p:nvSpPr>
          <p:cNvPr id="20" name="hf-428">
            <a:extLst xmlns:a="http://schemas.openxmlformats.org/drawingml/2006/main">
              <a:ext uri="{FF2B5EF4-FFF2-40B4-BE49-F238E27FC236}">
                <a16:creationId xmlns:a16="http://schemas.microsoft.com/office/drawing/2014/main" id="{D3A3C77C-60AA-405F-BC1B-F3E1B7E0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10429"/>
            <a:ext cx="2530376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875"/>
              </a:lnSpc>
              <a:buNone/>
            </a:pPr>
            <a:r>
              <a:rPr sz="4875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×3,5–6,6</a:t>
            </a:r>
          </a:p>
        </p:txBody>
      </p:sp>
      <p:sp>
        <p:nvSpPr>
          <p:cNvPr id="21" name="hf-429">
            <a:extLst xmlns:a="http://schemas.openxmlformats.org/drawingml/2006/main">
              <a:ext uri="{FF2B5EF4-FFF2-40B4-BE49-F238E27FC236}">
                <a16:creationId xmlns:a16="http://schemas.microsoft.com/office/drawing/2014/main" id="{17B1A7A7-60AA-465E-A741-C1B72F3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4379"/>
            <a:ext cx="29279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быстрее полной сортировки</a:t>
            </a:r>
          </a:p>
        </p:txBody>
      </p:sp>
      <p:sp>
        <p:nvSpPr>
          <p:cNvPr id="22" name="hf-430">
            <a:extLst xmlns:a="http://schemas.openxmlformats.org/drawingml/2006/main">
              <a:ext uri="{FF2B5EF4-FFF2-40B4-BE49-F238E27FC236}">
                <a16:creationId xmlns:a16="http://schemas.microsoft.com/office/drawing/2014/main" id="{58B3207B-2CDD-435A-9288-ADA4302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2029"/>
            <a:ext cx="136430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Замер на x86</a:t>
            </a:r>
          </a:p>
        </p:txBody>
      </p:sp>
      <p:pic>
        <p:nvPicPr>
          <p:cNvPr id="23" name="hf-431">
            <a:extLst xmlns:a="http://schemas.openxmlformats.org/drawingml/2006/main">
              <a:ext uri="{FF2B5EF4-FFF2-40B4-BE49-F238E27FC236}">
                <a16:creationId xmlns:a16="http://schemas.microsoft.com/office/drawing/2014/main" id="{89E77D88-D431-43E8-B77E-A63E87641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9fed7cd8f43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4" name="hf-432">
            <a:extLst xmlns:a="http://schemas.openxmlformats.org/drawingml/2006/main">
              <a:ext uri="{FF2B5EF4-FFF2-40B4-BE49-F238E27FC236}">
                <a16:creationId xmlns:a16="http://schemas.microsoft.com/office/drawing/2014/main" id="{EE7BAB7C-1E92-4FF3-ABFD-23D3757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21111067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.xml><?xml version="1.0" encoding="utf-8"?>
<p:sld xmlns:p="http://schemas.openxmlformats.org/presentationml/2006/main">
  <p:cSld name="prod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33">
            <a:extLst xmlns:a="http://schemas.openxmlformats.org/drawingml/2006/main">
              <a:ext uri="{FF2B5EF4-FFF2-40B4-BE49-F238E27FC236}">
                <a16:creationId xmlns:a16="http://schemas.microsoft.com/office/drawing/2014/main" id="{16A0CAA6-B4C1-486A-950A-FAD93D3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18713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ЦЕНА В МИЛЛИСЕКУНДАХ</a:t>
            </a:r>
          </a:p>
        </p:txBody>
      </p:sp>
      <p:sp>
        <p:nvSpPr>
          <p:cNvPr id="3" name="hf-434">
            <a:extLst xmlns:a="http://schemas.openxmlformats.org/drawingml/2006/main">
              <a:ext uri="{FF2B5EF4-FFF2-40B4-BE49-F238E27FC236}">
                <a16:creationId xmlns:a16="http://schemas.microsoft.com/office/drawing/2014/main" id="{D90129D3-D241-4991-83C7-007A3F36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0007"/>
            <a:ext cx="582952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Лабораторная серия · iPhone 14 Pro · QoS utility</a:t>
            </a:r>
          </a:p>
        </p:txBody>
      </p:sp>
      <p:sp>
        <p:nvSpPr>
          <p:cNvPr id="4" name="hf-435">
            <a:extLst xmlns:a="http://schemas.openxmlformats.org/drawingml/2006/main">
              <a:ext uri="{FF2B5EF4-FFF2-40B4-BE49-F238E27FC236}">
                <a16:creationId xmlns:a16="http://schemas.microsoft.com/office/drawing/2014/main" id="{34A36F28-58D8-477B-8919-ADEB630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53882"/>
            <a:ext cx="3800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512K id · половина уникальных</a:t>
            </a:r>
          </a:p>
        </p:txBody>
      </p:sp>
      <p:sp>
        <p:nvSpPr>
          <p:cNvPr id="5" name="hf-436">
            <a:extLst xmlns:a="http://schemas.openxmlformats.org/drawingml/2006/main">
              <a:ext uri="{FF2B5EF4-FFF2-40B4-BE49-F238E27FC236}">
                <a16:creationId xmlns:a16="http://schemas.microsoft.com/office/drawing/2014/main" id="{911F6130-8DEC-421C-8FDA-2BA6E30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28215"/>
            <a:ext cx="4000426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≈29 мс · unordered_set ≈55 мс</a:t>
            </a:r>
          </a:p>
        </p:txBody>
      </p:sp>
      <p:sp>
        <p:nvSpPr>
          <p:cNvPr id="6" name="hf-437">
            <a:extLst xmlns:a="http://schemas.openxmlformats.org/drawingml/2006/main">
              <a:ext uri="{FF2B5EF4-FFF2-40B4-BE49-F238E27FC236}">
                <a16:creationId xmlns:a16="http://schemas.microsoft.com/office/drawing/2014/main" id="{3AAFB4A1-E208-4755-A02D-C033F31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90901"/>
            <a:ext cx="1927324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410"/>
              </a:lnSpc>
              <a:buNone/>
            </a:pPr>
            <a:r>
              <a:rPr sz="42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+26 мс</a:t>
            </a:r>
          </a:p>
        </p:txBody>
      </p:sp>
      <p:sp>
        <p:nvSpPr>
          <p:cNvPr id="7" name="hf-438">
            <a:extLst xmlns:a="http://schemas.openxmlformats.org/drawingml/2006/main">
              <a:ext uri="{FF2B5EF4-FFF2-40B4-BE49-F238E27FC236}">
                <a16:creationId xmlns:a16="http://schemas.microsoft.com/office/drawing/2014/main" id="{04AD2761-ABA4-4459-B1E6-3ABFD478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2232"/>
            <a:ext cx="577103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Отсортировать дельту. Убрать повторы. Слить.</a:t>
            </a:r>
          </a:p>
        </p:txBody>
      </p:sp>
      <p:pic>
        <p:nvPicPr>
          <p:cNvPr id="8" name="hf-439">
            <a:extLst xmlns:a="http://schemas.openxmlformats.org/drawingml/2006/main">
              <a:ext uri="{FF2B5EF4-FFF2-40B4-BE49-F238E27FC236}">
                <a16:creationId xmlns:a16="http://schemas.microsoft.com/office/drawing/2014/main" id="{88F1E0F4-8C3A-4BCE-9C06-55B5693EA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cb0202204d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9" name="hf-440">
            <a:extLst xmlns:a="http://schemas.openxmlformats.org/drawingml/2006/main">
              <a:ext uri="{FF2B5EF4-FFF2-40B4-BE49-F238E27FC236}">
                <a16:creationId xmlns:a16="http://schemas.microsoft.com/office/drawing/2014/main" id="{76339F5B-3694-41CE-B23E-FC04AF3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205831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6.xml><?xml version="1.0" encoding="utf-8"?>
<p:sld xmlns:p="http://schemas.openxmlformats.org/presentationml/2006/main">
  <p:cSld name="platfor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41">
            <a:extLst xmlns:a="http://schemas.openxmlformats.org/drawingml/2006/main">
              <a:ext uri="{FF2B5EF4-FFF2-40B4-BE49-F238E27FC236}">
                <a16:creationId xmlns:a16="http://schemas.microsoft.com/office/drawing/2014/main" id="{9E2D283C-6562-47D1-86A9-D25A7E33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472732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ПЕРЕНОС НА СВОЮ ЗАДАЧУ</a:t>
            </a:r>
          </a:p>
        </p:txBody>
      </p:sp>
      <p:sp>
        <p:nvSpPr>
          <p:cNvPr id="3" name="hf-442">
            <a:extLst xmlns:a="http://schemas.openxmlformats.org/drawingml/2006/main">
              <a:ext uri="{FF2B5EF4-FFF2-40B4-BE49-F238E27FC236}">
                <a16:creationId xmlns:a16="http://schemas.microsoft.com/office/drawing/2014/main" id="{AFE02F75-E926-4660-B857-1F06B36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50587"/>
            <a:ext cx="17349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22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Контейнер</a:t>
            </a:r>
          </a:p>
        </p:txBody>
      </p:sp>
      <p:sp>
        <p:nvSpPr>
          <p:cNvPr id="4" name="hf-443">
            <a:extLst xmlns:a="http://schemas.openxmlformats.org/drawingml/2006/main">
              <a:ext uri="{FF2B5EF4-FFF2-40B4-BE49-F238E27FC236}">
                <a16:creationId xmlns:a16="http://schemas.microsoft.com/office/drawing/2014/main" id="{D5C873EE-6303-4B53-B2D3-43F178B6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09219"/>
            <a:ext cx="14363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Реализация</a:t>
            </a:r>
          </a:p>
        </p:txBody>
      </p:sp>
      <p:sp>
        <p:nvSpPr>
          <p:cNvPr id="5" name="hf-444">
            <a:extLst xmlns:a="http://schemas.openxmlformats.org/drawingml/2006/main">
              <a:ext uri="{FF2B5EF4-FFF2-40B4-BE49-F238E27FC236}">
                <a16:creationId xmlns:a16="http://schemas.microsoft.com/office/drawing/2014/main" id="{C2127CF6-C9CE-4E98-9FD6-317DEB7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14019"/>
            <a:ext cx="159774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цена ключа</a:t>
            </a:r>
          </a:p>
        </p:txBody>
      </p:sp>
      <p:sp>
        <p:nvSpPr>
          <p:cNvPr id="6" name="hf-445">
            <a:extLst xmlns:a="http://schemas.openxmlformats.org/drawingml/2006/main">
              <a:ext uri="{FF2B5EF4-FFF2-40B4-BE49-F238E27FC236}">
                <a16:creationId xmlns:a16="http://schemas.microsoft.com/office/drawing/2014/main" id="{01C7437C-ECF8-46B3-A8DF-7CEDD23F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0587"/>
            <a:ext cx="12734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22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Данные</a:t>
            </a:r>
          </a:p>
        </p:txBody>
      </p:sp>
      <p:sp>
        <p:nvSpPr>
          <p:cNvPr id="7" name="hf-446">
            <a:extLst xmlns:a="http://schemas.openxmlformats.org/drawingml/2006/main">
              <a:ext uri="{FF2B5EF4-FFF2-40B4-BE49-F238E27FC236}">
                <a16:creationId xmlns:a16="http://schemas.microsoft.com/office/drawing/2014/main" id="{220F8BCF-F937-45F3-9089-EAD4F4F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219"/>
            <a:ext cx="2039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Размер, повторы,</a:t>
            </a:r>
          </a:p>
        </p:txBody>
      </p:sp>
      <p:sp>
        <p:nvSpPr>
          <p:cNvPr id="8" name="hf-447">
            <a:extLst xmlns:a="http://schemas.openxmlformats.org/drawingml/2006/main">
              <a:ext uri="{FF2B5EF4-FFF2-40B4-BE49-F238E27FC236}">
                <a16:creationId xmlns:a16="http://schemas.microsoft.com/office/drawing/2014/main" id="{565B7E95-2202-4930-B21D-55C9EB7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019"/>
            <a:ext cx="103279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порядок</a:t>
            </a:r>
          </a:p>
        </p:txBody>
      </p:sp>
      <p:sp>
        <p:nvSpPr>
          <p:cNvPr id="9" name="hf-448">
            <a:extLst xmlns:a="http://schemas.openxmlformats.org/drawingml/2006/main">
              <a:ext uri="{FF2B5EF4-FFF2-40B4-BE49-F238E27FC236}">
                <a16:creationId xmlns:a16="http://schemas.microsoft.com/office/drawing/2014/main" id="{05439610-B74D-4F55-A82D-57166E6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0587"/>
            <a:ext cx="19794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22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Исполнение</a:t>
            </a:r>
          </a:p>
        </p:txBody>
      </p:sp>
      <p:sp>
        <p:nvSpPr>
          <p:cNvPr id="10" name="hf-449">
            <a:extLst xmlns:a="http://schemas.openxmlformats.org/drawingml/2006/main">
              <a:ext uri="{FF2B5EF4-FFF2-40B4-BE49-F238E27FC236}">
                <a16:creationId xmlns:a16="http://schemas.microsoft.com/office/drawing/2014/main" id="{19532FFE-35CB-46B4-A85B-264AA75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219"/>
            <a:ext cx="203976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CPU, библиотека,</a:t>
            </a:r>
          </a:p>
        </p:txBody>
      </p:sp>
      <p:sp>
        <p:nvSpPr>
          <p:cNvPr id="11" name="hf-450">
            <a:extLst xmlns:a="http://schemas.openxmlformats.org/drawingml/2006/main">
              <a:ext uri="{FF2B5EF4-FFF2-40B4-BE49-F238E27FC236}">
                <a16:creationId xmlns:a16="http://schemas.microsoft.com/office/drawing/2014/main" id="{BE098096-0871-48D1-A6D9-DDFADF42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14019"/>
            <a:ext cx="173377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QoS и executor</a:t>
            </a:r>
          </a:p>
        </p:txBody>
      </p:sp>
      <p:sp>
        <p:nvSpPr>
          <p:cNvPr id="12" name="hf-451">
            <a:extLst xmlns:a="http://schemas.openxmlformats.org/drawingml/2006/main">
              <a:ext uri="{FF2B5EF4-FFF2-40B4-BE49-F238E27FC236}">
                <a16:creationId xmlns:a16="http://schemas.microsoft.com/office/drawing/2014/main" id="{BD91405F-D301-4D5F-8AA1-5496F703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37673"/>
            <a:ext cx="698807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Коэффициенты нужно проверить в своей среде</a:t>
            </a:r>
          </a:p>
        </p:txBody>
      </p:sp>
      <p:pic>
        <p:nvPicPr>
          <p:cNvPr id="13" name="hf-452">
            <a:extLst xmlns:a="http://schemas.openxmlformats.org/drawingml/2006/main">
              <a:ext uri="{FF2B5EF4-FFF2-40B4-BE49-F238E27FC236}">
                <a16:creationId xmlns:a16="http://schemas.microsoft.com/office/drawing/2014/main" id="{57C7AFF7-2DC4-4C3F-9251-02CA8BBC9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5b0f487b04fe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4" name="hf-453">
            <a:extLst xmlns:a="http://schemas.openxmlformats.org/drawingml/2006/main">
              <a:ext uri="{FF2B5EF4-FFF2-40B4-BE49-F238E27FC236}">
                <a16:creationId xmlns:a16="http://schemas.microsoft.com/office/drawing/2014/main" id="{3C0EABB7-DFE5-4635-8566-6F265E31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4523117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7.xml><?xml version="1.0" encoding="utf-8"?>
<p:sld xmlns:p="http://schemas.openxmlformats.org/presentationml/2006/main">
  <p:cSld name="review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54">
            <a:extLst xmlns:a="http://schemas.openxmlformats.org/drawingml/2006/main">
              <a:ext uri="{FF2B5EF4-FFF2-40B4-BE49-F238E27FC236}">
                <a16:creationId xmlns:a16="http://schemas.microsoft.com/office/drawing/2014/main" id="{3E00B678-5EA0-46DE-BB44-8614474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44948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КОД-РЕВЬЮ, ВТОРНИК, 17:40</a:t>
            </a:r>
          </a:p>
        </p:txBody>
      </p:sp>
      <p:sp>
        <p:nvSpPr>
          <p:cNvPr id="3" name="hf-455">
            <a:extLst xmlns:a="http://schemas.openxmlformats.org/drawingml/2006/main">
              <a:ext uri="{FF2B5EF4-FFF2-40B4-BE49-F238E27FC236}">
                <a16:creationId xmlns:a16="http://schemas.microsoft.com/office/drawing/2014/main" id="{A3B5F20E-4228-4F13-9630-F4F83C3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38250"/>
            <a:ext cx="5381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4" name="hf-456">
            <a:extLst xmlns:a="http://schemas.openxmlformats.org/drawingml/2006/main">
              <a:ext uri="{FF2B5EF4-FFF2-40B4-BE49-F238E27FC236}">
                <a16:creationId xmlns:a16="http://schemas.microsoft.com/office/drawing/2014/main" id="{A820A26B-6CA0-47EC-BC5E-93B2963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366171"/>
            <a:ext cx="30792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C8C8C8"/>
                </a:solidFill>
                <a:latin typeface="Menlo"/>
                <a:ea typeface="Menlo"/>
                <a:cs typeface="Menlo"/>
              </a:rPr>
              <a:t>// dedup ids after offline sync</a:t>
            </a:r>
          </a:p>
        </p:txBody>
      </p:sp>
      <p:sp>
        <p:nvSpPr>
          <p:cNvPr id="5" name="hf-457">
            <a:extLst xmlns:a="http://schemas.openxmlformats.org/drawingml/2006/main">
              <a:ext uri="{FF2B5EF4-FFF2-40B4-BE49-F238E27FC236}">
                <a16:creationId xmlns:a16="http://schemas.microsoft.com/office/drawing/2014/main" id="{25521F9B-0BF0-4616-886D-C872F5A4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642396"/>
            <a:ext cx="35667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std::sort(ids.begin(), ids.end());</a:t>
            </a:r>
          </a:p>
        </p:txBody>
      </p:sp>
      <p:sp>
        <p:nvSpPr>
          <p:cNvPr id="6" name="hf-458">
            <a:extLst xmlns:a="http://schemas.openxmlformats.org/drawingml/2006/main">
              <a:ext uri="{FF2B5EF4-FFF2-40B4-BE49-F238E27FC236}">
                <a16:creationId xmlns:a16="http://schemas.microsoft.com/office/drawing/2014/main" id="{4D462C3B-47E6-4BD7-89B8-96032E4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1918621"/>
            <a:ext cx="38591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F08A7A"/>
                </a:solidFill>
                <a:latin typeface="Menlo"/>
                <a:ea typeface="Menlo"/>
                <a:cs typeface="Menlo"/>
              </a:rPr>
              <a:t>- ids.erase(std::unique(…), ids.end());</a:t>
            </a:r>
          </a:p>
        </p:txBody>
      </p:sp>
      <p:sp>
        <p:nvSpPr>
          <p:cNvPr id="7" name="hf-459">
            <a:extLst xmlns:a="http://schemas.openxmlformats.org/drawingml/2006/main">
              <a:ext uri="{FF2B5EF4-FFF2-40B4-BE49-F238E27FC236}">
                <a16:creationId xmlns:a16="http://schemas.microsoft.com/office/drawing/2014/main" id="{2A018429-6FA6-4D6A-9255-71466D2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194846"/>
            <a:ext cx="35667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std::unordered_set&lt;uint64_t&gt; s(…);</a:t>
            </a:r>
          </a:p>
        </p:txBody>
      </p:sp>
      <p:sp>
        <p:nvSpPr>
          <p:cNvPr id="8" name="hf-460">
            <a:extLst xmlns:a="http://schemas.openxmlformats.org/drawingml/2006/main">
              <a:ext uri="{FF2B5EF4-FFF2-40B4-BE49-F238E27FC236}">
                <a16:creationId xmlns:a16="http://schemas.microsoft.com/office/drawing/2014/main" id="{106A3878-A502-43B1-9166-D1B93072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471071"/>
            <a:ext cx="327429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275" b="0" i="0">
                <a:solidFill>
                  <a:srgbClr val="7BD88F"/>
                </a:solidFill>
                <a:latin typeface="Menlo"/>
                <a:ea typeface="Menlo"/>
                <a:cs typeface="Menlo"/>
              </a:rPr>
              <a:t>+ ids.assign(s.begin(), s.end());</a:t>
            </a:r>
          </a:p>
        </p:txBody>
      </p:sp>
      <p:sp>
        <p:nvSpPr>
          <p:cNvPr id="9" name="hf-461">
            <a:extLst xmlns:a="http://schemas.openxmlformats.org/drawingml/2006/main">
              <a:ext uri="{FF2B5EF4-FFF2-40B4-BE49-F238E27FC236}">
                <a16:creationId xmlns:a16="http://schemas.microsoft.com/office/drawing/2014/main" id="{1E3F6969-97BE-40B2-A42E-D4B7128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96682"/>
            <a:ext cx="8008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Какой</a:t>
            </a:r>
          </a:p>
        </p:txBody>
      </p:sp>
      <p:sp>
        <p:nvSpPr>
          <p:cNvPr id="10" name="hf-462">
            <a:extLst xmlns:a="http://schemas.openxmlformats.org/drawingml/2006/main">
              <a:ext uri="{FF2B5EF4-FFF2-40B4-BE49-F238E27FC236}">
                <a16:creationId xmlns:a16="http://schemas.microsoft.com/office/drawing/2014/main" id="{7C8F63B0-2706-4AB2-8243-C673E08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2432"/>
            <a:ext cx="174694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комментарий</a:t>
            </a:r>
          </a:p>
        </p:txBody>
      </p:sp>
      <p:sp>
        <p:nvSpPr>
          <p:cNvPr id="11" name="hf-463">
            <a:extLst xmlns:a="http://schemas.openxmlformats.org/drawingml/2006/main">
              <a:ext uri="{FF2B5EF4-FFF2-40B4-BE49-F238E27FC236}">
                <a16:creationId xmlns:a16="http://schemas.microsoft.com/office/drawing/2014/main" id="{046780CE-16EC-419A-B320-D6B0F43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68182"/>
            <a:ext cx="167044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вы оставите?</a:t>
            </a:r>
          </a:p>
        </p:txBody>
      </p:sp>
      <p:sp>
        <p:nvSpPr>
          <p:cNvPr id="12" name="hf-464">
            <a:extLst xmlns:a="http://schemas.openxmlformats.org/drawingml/2006/main">
              <a:ext uri="{FF2B5EF4-FFF2-40B4-BE49-F238E27FC236}">
                <a16:creationId xmlns:a16="http://schemas.microsoft.com/office/drawing/2014/main" id="{5059337F-D374-4D22-B95F-698250B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3482"/>
            <a:ext cx="235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Changes requested</a:t>
            </a:r>
          </a:p>
        </p:txBody>
      </p:sp>
      <p:sp>
        <p:nvSpPr>
          <p:cNvPr id="13" name="hf-465">
            <a:extLst xmlns:a="http://schemas.openxmlformats.org/drawingml/2006/main">
              <a:ext uri="{FF2B5EF4-FFF2-40B4-BE49-F238E27FC236}">
                <a16:creationId xmlns:a16="http://schemas.microsoft.com/office/drawing/2014/main" id="{584721AE-6BA6-438E-99C3-09C3D1B0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06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4" name="hf-466">
            <a:extLst xmlns:a="http://schemas.openxmlformats.org/drawingml/2006/main">
              <a:ext uri="{FF2B5EF4-FFF2-40B4-BE49-F238E27FC236}">
                <a16:creationId xmlns:a16="http://schemas.microsoft.com/office/drawing/2014/main" id="{E642DFC0-83F6-4CDE-9E66-9A93CF4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430257"/>
            <a:ext cx="118787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Контракт</a:t>
            </a:r>
          </a:p>
        </p:txBody>
      </p:sp>
      <p:sp>
        <p:nvSpPr>
          <p:cNvPr id="15" name="hf-467">
            <a:extLst xmlns:a="http://schemas.openxmlformats.org/drawingml/2006/main">
              <a:ext uri="{FF2B5EF4-FFF2-40B4-BE49-F238E27FC236}">
                <a16:creationId xmlns:a16="http://schemas.microsoft.com/office/drawing/2014/main" id="{3D985946-593B-47B0-96D7-63EFB83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4062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6" name="hf-468">
            <a:extLst xmlns:a="http://schemas.openxmlformats.org/drawingml/2006/main">
              <a:ext uri="{FF2B5EF4-FFF2-40B4-BE49-F238E27FC236}">
                <a16:creationId xmlns:a16="http://schemas.microsoft.com/office/drawing/2014/main" id="{7B390F60-AB59-44FD-A13E-27BFC2DC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30257"/>
            <a:ext cx="10301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Данные</a:t>
            </a:r>
          </a:p>
        </p:txBody>
      </p:sp>
      <p:sp>
        <p:nvSpPr>
          <p:cNvPr id="17" name="hf-469">
            <a:extLst xmlns:a="http://schemas.openxmlformats.org/drawingml/2006/main">
              <a:ext uri="{FF2B5EF4-FFF2-40B4-BE49-F238E27FC236}">
                <a16:creationId xmlns:a16="http://schemas.microsoft.com/office/drawing/2014/main" id="{22BA29F4-BDC0-4B49-B76D-662AC36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06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8" name="hf-470">
            <a:extLst xmlns:a="http://schemas.openxmlformats.org/drawingml/2006/main">
              <a:ext uri="{FF2B5EF4-FFF2-40B4-BE49-F238E27FC236}">
                <a16:creationId xmlns:a16="http://schemas.microsoft.com/office/drawing/2014/main" id="{29246EE1-8FC0-43E1-B0CD-67A61AE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30257"/>
            <a:ext cx="159499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Исполнение</a:t>
            </a:r>
          </a:p>
        </p:txBody>
      </p:sp>
      <p:pic>
        <p:nvPicPr>
          <p:cNvPr id="19" name="hf-471">
            <a:extLst xmlns:a="http://schemas.openxmlformats.org/drawingml/2006/main">
              <a:ext uri="{FF2B5EF4-FFF2-40B4-BE49-F238E27FC236}">
                <a16:creationId xmlns:a16="http://schemas.microsoft.com/office/drawing/2014/main" id="{4C66EE03-D8F8-4FEE-A427-570FF2826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c41f6951c43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0" name="hf-472">
            <a:extLst xmlns:a="http://schemas.openxmlformats.org/drawingml/2006/main">
              <a:ext uri="{FF2B5EF4-FFF2-40B4-BE49-F238E27FC236}">
                <a16:creationId xmlns:a16="http://schemas.microsoft.com/office/drawing/2014/main" id="{E2A027F7-05AD-4853-B96B-8AF6FDE4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5178059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p="http://schemas.openxmlformats.org/presentationml/2006/main">
  <p:cSld name="fina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473">
            <a:extLst xmlns:a="http://schemas.openxmlformats.org/drawingml/2006/main">
              <a:ext uri="{FF2B5EF4-FFF2-40B4-BE49-F238E27FC236}">
                <a16:creationId xmlns:a16="http://schemas.microsoft.com/office/drawing/2014/main" id="{7D6B8A5C-F25E-4D34-B091-CF6A1D83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91885"/>
            <a:ext cx="6775772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ВАШ АЛГОРИТМ НЕ ВЫБИРАЛ ПРОЦЕССОР</a:t>
            </a:r>
          </a:p>
        </p:txBody>
      </p:sp>
      <p:sp>
        <p:nvSpPr>
          <p:cNvPr id="3" name="hf-474">
            <a:extLst xmlns:a="http://schemas.openxmlformats.org/drawingml/2006/main">
              <a:ext uri="{FF2B5EF4-FFF2-40B4-BE49-F238E27FC236}">
                <a16:creationId xmlns:a16="http://schemas.microsoft.com/office/drawing/2014/main" id="{EBBDC088-E106-45DD-829F-7408F90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22838"/>
            <a:ext cx="27661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34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Проверьте,</a:t>
            </a:r>
          </a:p>
        </p:txBody>
      </p:sp>
      <p:sp>
        <p:nvSpPr>
          <p:cNvPr id="4" name="hf-475">
            <a:extLst xmlns:a="http://schemas.openxmlformats.org/drawingml/2006/main">
              <a:ext uri="{FF2B5EF4-FFF2-40B4-BE49-F238E27FC236}">
                <a16:creationId xmlns:a16="http://schemas.microsoft.com/office/drawing/2014/main" id="{B0690E3A-1E27-4BCF-B5D7-4800DC0A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56238"/>
            <a:ext cx="4908054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34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какой ему достался</a:t>
            </a:r>
          </a:p>
        </p:txBody>
      </p:sp>
      <p:sp>
        <p:nvSpPr>
          <p:cNvPr id="5" name="hf-476">
            <a:extLst xmlns:a="http://schemas.openxmlformats.org/drawingml/2006/main">
              <a:ext uri="{FF2B5EF4-FFF2-40B4-BE49-F238E27FC236}">
                <a16:creationId xmlns:a16="http://schemas.microsoft.com/office/drawing/2014/main" id="{EAB0D145-BCB9-47E7-AD01-26B1797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15932"/>
            <a:ext cx="366280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Начните с одного перф-теста</a:t>
            </a:r>
          </a:p>
        </p:txBody>
      </p:sp>
      <p:sp>
        <p:nvSpPr>
          <p:cNvPr id="6" name="hf-477">
            <a:extLst xmlns:a="http://schemas.openxmlformats.org/drawingml/2006/main">
              <a:ext uri="{FF2B5EF4-FFF2-40B4-BE49-F238E27FC236}">
                <a16:creationId xmlns:a16="http://schemas.microsoft.com/office/drawing/2014/main" id="{5152C87D-33E4-493E-9332-30977E00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01682"/>
            <a:ext cx="293169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на целевом устройстве</a:t>
            </a:r>
          </a:p>
        </p:txBody>
      </p:sp>
      <p:pic>
        <p:nvPicPr>
          <p:cNvPr id="7" name="hf-478">
            <a:extLst xmlns:a="http://schemas.openxmlformats.org/drawingml/2006/main">
              <a:ext uri="{FF2B5EF4-FFF2-40B4-BE49-F238E27FC236}">
                <a16:creationId xmlns:a16="http://schemas.microsoft.com/office/drawing/2014/main" id="{893BB414-CBED-4D39-B2FB-BF464053F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e31d460ba470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762750" y="1552575"/>
            <a:ext cx="1824038" cy="1824038"/>
          </a:xfrm>
          <a:prstGeom xmlns:a="http://schemas.openxmlformats.org/drawingml/2006/main" prst="rect">
            <a:avLst/>
          </a:prstGeom>
        </p:spPr>
      </p:pic>
      <p:sp>
        <p:nvSpPr>
          <p:cNvPr id="8" name="hf-479">
            <a:extLst xmlns:a="http://schemas.openxmlformats.org/drawingml/2006/main">
              <a:ext uri="{FF2B5EF4-FFF2-40B4-BE49-F238E27FC236}">
                <a16:creationId xmlns:a16="http://schemas.microsoft.com/office/drawing/2014/main" id="{26FEE537-217F-41DD-9701-847BC1AE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08704"/>
            <a:ext cx="52580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github.com/Neoron95/conference-hardfest-algorithms</a:t>
            </a:r>
          </a:p>
        </p:txBody>
      </p:sp>
      <p:pic>
        <p:nvPicPr>
          <p:cNvPr id="9" name="hf-480">
            <a:extLst xmlns:a="http://schemas.openxmlformats.org/drawingml/2006/main">
              <a:ext uri="{FF2B5EF4-FFF2-40B4-BE49-F238E27FC236}">
                <a16:creationId xmlns:a16="http://schemas.microsoft.com/office/drawing/2014/main" id="{044A1EC8-2E0E-4AFE-8E94-6E4767C40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47e3cdfed46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0" name="hf-481">
            <a:extLst xmlns:a="http://schemas.openxmlformats.org/drawingml/2006/main">
              <a:ext uri="{FF2B5EF4-FFF2-40B4-BE49-F238E27FC236}">
                <a16:creationId xmlns:a16="http://schemas.microsoft.com/office/drawing/2014/main" id="{D3FBEF10-50B5-47FB-832C-C490EBE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25957451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9.xml><?xml version="1.0" encoding="utf-8"?>
<p:sld xmlns:p="http://schemas.openxmlformats.org/presentationml/2006/main" show="0">
  <p:cSld name="backup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hf-482">
            <a:extLst xmlns:a="http://schemas.openxmlformats.org/drawingml/2006/main">
              <a:ext uri="{FF2B5EF4-FFF2-40B4-BE49-F238E27FC236}">
                <a16:creationId xmlns:a16="http://schemas.microsoft.com/office/drawing/2014/main" id="{CC84B539-3479-4057-A9EF-A1B20B561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48178c7624fb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36195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hf-483">
            <a:extLst xmlns:a="http://schemas.openxmlformats.org/drawingml/2006/main">
              <a:ext uri="{FF2B5EF4-FFF2-40B4-BE49-F238E27FC236}">
                <a16:creationId xmlns:a16="http://schemas.microsoft.com/office/drawing/2014/main" id="{A5BA17A5-44B2-4FB6-B8F9-3F44032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67599"/>
            <a:ext cx="2651596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875"/>
              </a:lnSpc>
              <a:buNone/>
            </a:pPr>
            <a:r>
              <a:rPr sz="45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BACKUP</a:t>
            </a:r>
          </a:p>
        </p:txBody>
      </p:sp>
      <p:sp>
        <p:nvSpPr>
          <p:cNvPr id="4" name="hf-484">
            <a:extLst xmlns:a="http://schemas.openxmlformats.org/drawingml/2006/main">
              <a:ext uri="{FF2B5EF4-FFF2-40B4-BE49-F238E27FC236}">
                <a16:creationId xmlns:a16="http://schemas.microsoft.com/office/drawing/2014/main" id="{6AFC54D7-093D-4F43-A7EA-8925545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8306"/>
            <a:ext cx="390867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для вопросов · ответ — в заметках</a:t>
            </a:r>
          </a:p>
        </p:txBody>
      </p:sp>
      <p:sp>
        <p:nvSpPr>
          <p:cNvPr id="5" name="hf-485">
            <a:extLst xmlns:a="http://schemas.openxmlformats.org/drawingml/2006/main">
              <a:ext uri="{FF2B5EF4-FFF2-40B4-BE49-F238E27FC236}">
                <a16:creationId xmlns:a16="http://schemas.microsoft.com/office/drawing/2014/main" id="{E07D8789-7101-42C5-B5A4-FD73055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8288"/>
            <a:ext cx="120617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36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Где мерили</a:t>
            </a:r>
          </a:p>
        </p:txBody>
      </p:sp>
      <p:sp>
        <p:nvSpPr>
          <p:cNvPr id="6" name="hf-486">
            <a:extLst xmlns:a="http://schemas.openxmlformats.org/drawingml/2006/main">
              <a:ext uri="{FF2B5EF4-FFF2-40B4-BE49-F238E27FC236}">
                <a16:creationId xmlns:a16="http://schemas.microsoft.com/office/drawing/2014/main" id="{2B2E596A-1E59-43F9-8D38-84FFB970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838"/>
            <a:ext cx="179122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37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Кто выбирает ядро</a:t>
            </a:r>
          </a:p>
        </p:txBody>
      </p:sp>
      <p:sp>
        <p:nvSpPr>
          <p:cNvPr id="7" name="hf-487">
            <a:extLst xmlns:a="http://schemas.openxmlformats.org/drawingml/2006/main">
              <a:ext uri="{FF2B5EF4-FFF2-40B4-BE49-F238E27FC236}">
                <a16:creationId xmlns:a16="http://schemas.microsoft.com/office/drawing/2014/main" id="{7069BAC4-C058-4BBC-B800-C8287A78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7388"/>
            <a:ext cx="14633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38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Плотные rowid</a:t>
            </a:r>
          </a:p>
        </p:txBody>
      </p:sp>
      <p:sp>
        <p:nvSpPr>
          <p:cNvPr id="8" name="hf-488">
            <a:extLst xmlns:a="http://schemas.openxmlformats.org/drawingml/2006/main">
              <a:ext uri="{FF2B5EF4-FFF2-40B4-BE49-F238E27FC236}">
                <a16:creationId xmlns:a16="http://schemas.microsoft.com/office/drawing/2014/main" id="{1DAB66DD-6B8F-4157-9A65-20042FC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938"/>
            <a:ext cx="15823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39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Слияние дельты</a:t>
            </a:r>
          </a:p>
        </p:txBody>
      </p:sp>
      <p:sp>
        <p:nvSpPr>
          <p:cNvPr id="9" name="hf-489">
            <a:extLst xmlns:a="http://schemas.openxmlformats.org/drawingml/2006/main">
              <a:ext uri="{FF2B5EF4-FFF2-40B4-BE49-F238E27FC236}">
                <a16:creationId xmlns:a16="http://schemas.microsoft.com/office/drawing/2014/main" id="{B3120C2A-33F3-4B77-BCC6-1601422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6488"/>
            <a:ext cx="13828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32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Другие языки</a:t>
            </a:r>
          </a:p>
        </p:txBody>
      </p:sp>
      <p:sp>
        <p:nvSpPr>
          <p:cNvPr id="10" name="hf-490">
            <a:extLst xmlns:a="http://schemas.openxmlformats.org/drawingml/2006/main">
              <a:ext uri="{FF2B5EF4-FFF2-40B4-BE49-F238E27FC236}">
                <a16:creationId xmlns:a16="http://schemas.microsoft.com/office/drawing/2014/main" id="{2B931289-52E5-46CF-87A1-6CA7996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6038"/>
            <a:ext cx="19477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31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«Бенчмарк врал»: 3×3</a:t>
            </a:r>
          </a:p>
        </p:txBody>
      </p:sp>
      <p:sp>
        <p:nvSpPr>
          <p:cNvPr id="11" name="hf-491">
            <a:extLst xmlns:a="http://schemas.openxmlformats.org/drawingml/2006/main">
              <a:ext uri="{FF2B5EF4-FFF2-40B4-BE49-F238E27FC236}">
                <a16:creationId xmlns:a16="http://schemas.microsoft.com/office/drawing/2014/main" id="{CC854413-AC4A-4AC9-A66A-3D6F723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5588"/>
            <a:ext cx="215160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40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Приоритет background</a:t>
            </a:r>
          </a:p>
        </p:txBody>
      </p:sp>
      <p:sp>
        <p:nvSpPr>
          <p:cNvPr id="12" name="hf-492">
            <a:extLst xmlns:a="http://schemas.openxmlformats.org/drawingml/2006/main">
              <a:ext uri="{FF2B5EF4-FFF2-40B4-BE49-F238E27FC236}">
                <a16:creationId xmlns:a16="http://schemas.microsoft.com/office/drawing/2014/main" id="{D270F235-9B60-4D34-AFEF-5B1F5D8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5138"/>
            <a:ext cx="149892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41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Точка перехода</a:t>
            </a:r>
          </a:p>
        </p:txBody>
      </p:sp>
      <p:sp>
        <p:nvSpPr>
          <p:cNvPr id="13" name="hf-493">
            <a:extLst xmlns:a="http://schemas.openxmlformats.org/drawingml/2006/main">
              <a:ext uri="{FF2B5EF4-FFF2-40B4-BE49-F238E27FC236}">
                <a16:creationId xmlns:a16="http://schemas.microsoft.com/office/drawing/2014/main" id="{917E2DAC-164B-4205-9A2C-DC494E1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4688"/>
            <a:ext cx="203507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42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Дрейф под нагрузкой</a:t>
            </a:r>
          </a:p>
        </p:txBody>
      </p:sp>
      <p:sp>
        <p:nvSpPr>
          <p:cNvPr id="14" name="hf-494">
            <a:extLst xmlns:a="http://schemas.openxmlformats.org/drawingml/2006/main">
              <a:ext uri="{FF2B5EF4-FFF2-40B4-BE49-F238E27FC236}">
                <a16:creationId xmlns:a16="http://schemas.microsoft.com/office/drawing/2014/main" id="{77347345-C75F-4929-BE0E-789AFC2C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8288"/>
            <a:ext cx="160347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43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libstdc++ и libc++</a:t>
            </a:r>
          </a:p>
        </p:txBody>
      </p:sp>
      <p:sp>
        <p:nvSpPr>
          <p:cNvPr id="15" name="hf-495">
            <a:extLst xmlns:a="http://schemas.openxmlformats.org/drawingml/2006/main">
              <a:ext uri="{FF2B5EF4-FFF2-40B4-BE49-F238E27FC236}">
                <a16:creationId xmlns:a16="http://schemas.microsoft.com/office/drawing/2014/main" id="{002CB876-0C9A-4210-9531-EF3A38B0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838"/>
            <a:ext cx="203567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44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Рабочий набор и кэш</a:t>
            </a:r>
          </a:p>
        </p:txBody>
      </p:sp>
      <p:sp>
        <p:nvSpPr>
          <p:cNvPr id="16" name="hf-496">
            <a:extLst xmlns:a="http://schemas.openxmlformats.org/drawingml/2006/main">
              <a:ext uri="{FF2B5EF4-FFF2-40B4-BE49-F238E27FC236}">
                <a16:creationId xmlns:a16="http://schemas.microsoft.com/office/drawing/2014/main" id="{579F88C2-B9B8-4D4B-B10B-144AF9D8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7388"/>
            <a:ext cx="13002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45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sort + unique</a:t>
            </a:r>
          </a:p>
        </p:txBody>
      </p:sp>
      <p:sp>
        <p:nvSpPr>
          <p:cNvPr id="17" name="hf-497">
            <a:extLst xmlns:a="http://schemas.openxmlformats.org/drawingml/2006/main">
              <a:ext uri="{FF2B5EF4-FFF2-40B4-BE49-F238E27FC236}">
                <a16:creationId xmlns:a16="http://schemas.microsoft.com/office/drawing/2014/main" id="{D178AA45-E6C7-4B4D-87DD-AAF27341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938"/>
            <a:ext cx="16461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46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Узловая таблица</a:t>
            </a:r>
          </a:p>
        </p:txBody>
      </p:sp>
      <p:sp>
        <p:nvSpPr>
          <p:cNvPr id="18" name="hf-498">
            <a:extLst xmlns:a="http://schemas.openxmlformats.org/drawingml/2006/main">
              <a:ext uri="{FF2B5EF4-FFF2-40B4-BE49-F238E27FC236}">
                <a16:creationId xmlns:a16="http://schemas.microsoft.com/office/drawing/2014/main" id="{9E7815B9-84D4-4E25-8D1B-0F79B6EC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6488"/>
            <a:ext cx="10512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30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Radix sort</a:t>
            </a:r>
          </a:p>
        </p:txBody>
      </p:sp>
      <p:sp>
        <p:nvSpPr>
          <p:cNvPr id="19" name="hf-499">
            <a:extLst xmlns:a="http://schemas.openxmlformats.org/drawingml/2006/main">
              <a:ext uri="{FF2B5EF4-FFF2-40B4-BE49-F238E27FC236}">
                <a16:creationId xmlns:a16="http://schemas.microsoft.com/office/drawing/2014/main" id="{36A0B52D-AF18-43CE-890A-18F436F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6038"/>
            <a:ext cx="10680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47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reserve(N)</a:t>
            </a:r>
          </a:p>
        </p:txBody>
      </p:sp>
      <p:sp>
        <p:nvSpPr>
          <p:cNvPr id="20" name="hf-500">
            <a:extLst xmlns:a="http://schemas.openxmlformats.org/drawingml/2006/main">
              <a:ext uri="{FF2B5EF4-FFF2-40B4-BE49-F238E27FC236}">
                <a16:creationId xmlns:a16="http://schemas.microsoft.com/office/drawing/2014/main" id="{DBFBEEF2-83F5-4745-B0C8-7EA17E50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5588"/>
            <a:ext cx="15204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48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Честный замер</a:t>
            </a:r>
          </a:p>
        </p:txBody>
      </p:sp>
      <p:sp>
        <p:nvSpPr>
          <p:cNvPr id="21" name="hf-501">
            <a:extLst xmlns:a="http://schemas.openxmlformats.org/drawingml/2006/main">
              <a:ext uri="{FF2B5EF4-FFF2-40B4-BE49-F238E27FC236}">
                <a16:creationId xmlns:a16="http://schemas.microsoft.com/office/drawing/2014/main" id="{D24E707E-E346-4A25-A82E-8240529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25138"/>
            <a:ext cx="15314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49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Шаги и их цена</a:t>
            </a:r>
          </a:p>
        </p:txBody>
      </p:sp>
      <p:pic>
        <p:nvPicPr>
          <p:cNvPr id="22" name="hf-502">
            <a:extLst xmlns:a="http://schemas.openxmlformats.org/drawingml/2006/main">
              <a:ext uri="{FF2B5EF4-FFF2-40B4-BE49-F238E27FC236}">
                <a16:creationId xmlns:a16="http://schemas.microsoft.com/office/drawing/2014/main" id="{842ED787-5F70-4C97-B4FB-17EF6863D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10eac658147a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3" name="hf-503">
            <a:extLst xmlns:a="http://schemas.openxmlformats.org/drawingml/2006/main">
              <a:ext uri="{FF2B5EF4-FFF2-40B4-BE49-F238E27FC236}">
                <a16:creationId xmlns:a16="http://schemas.microsoft.com/office/drawing/2014/main" id="{F6100C2A-6233-4879-B0BB-84718FE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94792816"/>
      </p:ext>
    </p:extLst>
  </p:cSld>
</p:sld>
</file>

<file path=ppt/slides/slide30.xml><?xml version="1.0" encoding="utf-8"?>
<p:sld xmlns:p="http://schemas.openxmlformats.org/presentationml/2006/main" show="0">
  <p:cSld name="radix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04">
            <a:extLst xmlns:a="http://schemas.openxmlformats.org/drawingml/2006/main">
              <a:ext uri="{FF2B5EF4-FFF2-40B4-BE49-F238E27FC236}">
                <a16:creationId xmlns:a16="http://schemas.microsoft.com/office/drawing/2014/main" id="{ED1EE581-6619-498D-8BF2-0AF9AD7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324847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ДОПОЛНИТЕЛЬНЫЙ МОДУЛЬ · RADIX</a:t>
            </a:r>
          </a:p>
        </p:txBody>
      </p:sp>
      <p:sp>
        <p:nvSpPr>
          <p:cNvPr id="3" name="hf-505">
            <a:extLst xmlns:a="http://schemas.openxmlformats.org/drawingml/2006/main">
              <a:ext uri="{FF2B5EF4-FFF2-40B4-BE49-F238E27FC236}">
                <a16:creationId xmlns:a16="http://schemas.microsoft.com/office/drawing/2014/main" id="{AF9ED25A-2D9C-4DF5-9149-B4368B00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53251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Radix sort: СОРТИРОВКА БЕЗ СРАВНЕНИЙ</a:t>
            </a:r>
          </a:p>
        </p:txBody>
      </p:sp>
      <p:sp>
        <p:nvSpPr>
          <p:cNvPr id="4" name="hf-506">
            <a:extLst xmlns:a="http://schemas.openxmlformats.org/drawingml/2006/main">
              <a:ext uri="{FF2B5EF4-FFF2-40B4-BE49-F238E27FC236}">
                <a16:creationId xmlns:a16="http://schemas.microsoft.com/office/drawing/2014/main" id="{EE81D3D9-F69D-46C3-BCBA-8A3158B3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" name="hf-507">
            <a:extLst xmlns:a="http://schemas.openxmlformats.org/drawingml/2006/main">
              <a:ext uri="{FF2B5EF4-FFF2-40B4-BE49-F238E27FC236}">
                <a16:creationId xmlns:a16="http://schemas.microsoft.com/office/drawing/2014/main" id="{FBEF8C0E-2895-4864-B75B-48DC65B9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508">
            <a:extLst xmlns:a="http://schemas.openxmlformats.org/drawingml/2006/main">
              <a:ext uri="{FF2B5EF4-FFF2-40B4-BE49-F238E27FC236}">
                <a16:creationId xmlns:a16="http://schemas.microsoft.com/office/drawing/2014/main" id="{A37D17CD-75E5-4AA6-BB21-33D47FA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509">
            <a:extLst xmlns:a="http://schemas.openxmlformats.org/drawingml/2006/main">
              <a:ext uri="{FF2B5EF4-FFF2-40B4-BE49-F238E27FC236}">
                <a16:creationId xmlns:a16="http://schemas.microsoft.com/office/drawing/2014/main" id="{9B0FFB13-3334-4E74-BDD5-AF45337D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hf-510">
            <a:extLst xmlns:a="http://schemas.openxmlformats.org/drawingml/2006/main">
              <a:ext uri="{FF2B5EF4-FFF2-40B4-BE49-F238E27FC236}">
                <a16:creationId xmlns:a16="http://schemas.microsoft.com/office/drawing/2014/main" id="{E2310B08-82AE-4FF7-89FD-1327642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9" name="hf-511">
            <a:extLst xmlns:a="http://schemas.openxmlformats.org/drawingml/2006/main">
              <a:ext uri="{FF2B5EF4-FFF2-40B4-BE49-F238E27FC236}">
                <a16:creationId xmlns:a16="http://schemas.microsoft.com/office/drawing/2014/main" id="{BFFCEB29-FDD7-4771-A9D9-97A32F6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0" name="hf-512">
            <a:extLst xmlns:a="http://schemas.openxmlformats.org/drawingml/2006/main">
              <a:ext uri="{FF2B5EF4-FFF2-40B4-BE49-F238E27FC236}">
                <a16:creationId xmlns:a16="http://schemas.microsoft.com/office/drawing/2014/main" id="{5653AE09-8893-489F-9013-56685E6A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1" name="hf-513">
            <a:extLst xmlns:a="http://schemas.openxmlformats.org/drawingml/2006/main">
              <a:ext uri="{FF2B5EF4-FFF2-40B4-BE49-F238E27FC236}">
                <a16:creationId xmlns:a16="http://schemas.microsoft.com/office/drawing/2014/main" id="{6C6F25F4-410C-437E-A7A8-434671D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2" name="hf-514">
            <a:extLst xmlns:a="http://schemas.openxmlformats.org/drawingml/2006/main">
              <a:ext uri="{FF2B5EF4-FFF2-40B4-BE49-F238E27FC236}">
                <a16:creationId xmlns:a16="http://schemas.microsoft.com/office/drawing/2014/main" id="{1402FF1D-E680-4A76-93C6-54E71FCA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1447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3" name="hf-515">
            <a:extLst xmlns:a="http://schemas.openxmlformats.org/drawingml/2006/main">
              <a:ext uri="{FF2B5EF4-FFF2-40B4-BE49-F238E27FC236}">
                <a16:creationId xmlns:a16="http://schemas.microsoft.com/office/drawing/2014/main" id="{6C7469A8-21CB-4195-925C-A2FB28E2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4" name="hf-516">
            <a:extLst xmlns:a="http://schemas.openxmlformats.org/drawingml/2006/main">
              <a:ext uri="{FF2B5EF4-FFF2-40B4-BE49-F238E27FC236}">
                <a16:creationId xmlns:a16="http://schemas.microsoft.com/office/drawing/2014/main" id="{8781F8E3-ED75-4786-BFE7-050E95E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431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5" name="hf-517">
            <a:extLst xmlns:a="http://schemas.openxmlformats.org/drawingml/2006/main">
              <a:ext uri="{FF2B5EF4-FFF2-40B4-BE49-F238E27FC236}">
                <a16:creationId xmlns:a16="http://schemas.microsoft.com/office/drawing/2014/main" id="{81E42679-DBE6-43A6-A67E-20C895B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6" name="hf-518">
            <a:extLst xmlns:a="http://schemas.openxmlformats.org/drawingml/2006/main">
              <a:ext uri="{FF2B5EF4-FFF2-40B4-BE49-F238E27FC236}">
                <a16:creationId xmlns:a16="http://schemas.microsoft.com/office/drawing/2014/main" id="{53505A2E-6CDE-427A-A7E2-59E6ACF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7" name="hf-519">
            <a:extLst xmlns:a="http://schemas.openxmlformats.org/drawingml/2006/main">
              <a:ext uri="{FF2B5EF4-FFF2-40B4-BE49-F238E27FC236}">
                <a16:creationId xmlns:a16="http://schemas.microsoft.com/office/drawing/2014/main" id="{4CBB379E-9B87-44B2-AFC9-5433AD65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8" name="hf-520">
            <a:extLst xmlns:a="http://schemas.openxmlformats.org/drawingml/2006/main">
              <a:ext uri="{FF2B5EF4-FFF2-40B4-BE49-F238E27FC236}">
                <a16:creationId xmlns:a16="http://schemas.microsoft.com/office/drawing/2014/main" id="{3D123E05-B47F-4628-A4BF-2D93F6D0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180022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19" name="hf-521">
            <a:extLst xmlns:a="http://schemas.openxmlformats.org/drawingml/2006/main">
              <a:ext uri="{FF2B5EF4-FFF2-40B4-BE49-F238E27FC236}">
                <a16:creationId xmlns:a16="http://schemas.microsoft.com/office/drawing/2014/main" id="{66FAAB1F-722F-4770-8648-73B52F7F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1943100"/>
            <a:ext cx="376238" cy="953"/>
          </a:xfrm>
          <a:custGeom xmlns:a="http://schemas.openxmlformats.org/drawingml/2006/main">
            <a:pathLst>
              <a:path w="376238" h="476">
                <a:moveTo>
                  <a:pt x="0" y="0"/>
                </a:moveTo>
                <a:lnTo>
                  <a:pt x="376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20" name="hf-522">
            <a:extLst xmlns:a="http://schemas.openxmlformats.org/drawingml/2006/main">
              <a:ext uri="{FF2B5EF4-FFF2-40B4-BE49-F238E27FC236}">
                <a16:creationId xmlns:a16="http://schemas.microsoft.com/office/drawing/2014/main" id="{F8360A32-8C0F-44D9-A23E-E15D3D1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43100"/>
            <a:ext cx="442913" cy="953"/>
          </a:xfrm>
          <a:custGeom xmlns:a="http://schemas.openxmlformats.org/drawingml/2006/main">
            <a:pathLst>
              <a:path w="442913" h="476">
                <a:moveTo>
                  <a:pt x="0" y="0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21" name="hf-523">
            <a:extLst xmlns:a="http://schemas.openxmlformats.org/drawingml/2006/main">
              <a:ext uri="{FF2B5EF4-FFF2-40B4-BE49-F238E27FC236}">
                <a16:creationId xmlns:a16="http://schemas.microsoft.com/office/drawing/2014/main" id="{7C7BC06A-FAA2-4CF7-9801-6D35A61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2" name="hf-524">
            <a:extLst xmlns:a="http://schemas.openxmlformats.org/drawingml/2006/main">
              <a:ext uri="{FF2B5EF4-FFF2-40B4-BE49-F238E27FC236}">
                <a16:creationId xmlns:a16="http://schemas.microsoft.com/office/drawing/2014/main" id="{A1029755-2E9E-4B30-BEBF-315538B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3" name="hf-525">
            <a:extLst xmlns:a="http://schemas.openxmlformats.org/drawingml/2006/main">
              <a:ext uri="{FF2B5EF4-FFF2-40B4-BE49-F238E27FC236}">
                <a16:creationId xmlns:a16="http://schemas.microsoft.com/office/drawing/2014/main" id="{B099B7D0-D424-4CFE-A31B-617EA75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4" name="hf-526">
            <a:extLst xmlns:a="http://schemas.openxmlformats.org/drawingml/2006/main">
              <a:ext uri="{FF2B5EF4-FFF2-40B4-BE49-F238E27FC236}">
                <a16:creationId xmlns:a16="http://schemas.microsoft.com/office/drawing/2014/main" id="{C72D81F9-B284-4276-A738-A5D9260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5" name="hf-527">
            <a:extLst xmlns:a="http://schemas.openxmlformats.org/drawingml/2006/main">
              <a:ext uri="{FF2B5EF4-FFF2-40B4-BE49-F238E27FC236}">
                <a16:creationId xmlns:a16="http://schemas.microsoft.com/office/drawing/2014/main" id="{377F0225-476F-4593-87F2-BDDFE409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6" name="hf-528">
            <a:extLst xmlns:a="http://schemas.openxmlformats.org/drawingml/2006/main">
              <a:ext uri="{FF2B5EF4-FFF2-40B4-BE49-F238E27FC236}">
                <a16:creationId xmlns:a16="http://schemas.microsoft.com/office/drawing/2014/main" id="{CFF72EEC-3491-48D6-B74B-833734BA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7" name="hf-529">
            <a:extLst xmlns:a="http://schemas.openxmlformats.org/drawingml/2006/main">
              <a:ext uri="{FF2B5EF4-FFF2-40B4-BE49-F238E27FC236}">
                <a16:creationId xmlns:a16="http://schemas.microsoft.com/office/drawing/2014/main" id="{89A1D777-7E02-4FF2-BCEE-6E552D9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8" name="hf-530">
            <a:extLst xmlns:a="http://schemas.openxmlformats.org/drawingml/2006/main">
              <a:ext uri="{FF2B5EF4-FFF2-40B4-BE49-F238E27FC236}">
                <a16:creationId xmlns:a16="http://schemas.microsoft.com/office/drawing/2014/main" id="{13246249-BF62-449B-84D4-2640A9D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29" name="hf-531">
            <a:extLst xmlns:a="http://schemas.openxmlformats.org/drawingml/2006/main">
              <a:ext uri="{FF2B5EF4-FFF2-40B4-BE49-F238E27FC236}">
                <a16:creationId xmlns:a16="http://schemas.microsoft.com/office/drawing/2014/main" id="{EE2B200F-144E-4512-9A6D-7BEA545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575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0" name="hf-532">
            <a:extLst xmlns:a="http://schemas.openxmlformats.org/drawingml/2006/main">
              <a:ext uri="{FF2B5EF4-FFF2-40B4-BE49-F238E27FC236}">
                <a16:creationId xmlns:a16="http://schemas.microsoft.com/office/drawing/2014/main" id="{321B6E37-3B70-4931-9024-ED054EC3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28925"/>
            <a:ext cx="64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2654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1" name="hf-533">
            <a:extLst xmlns:a="http://schemas.openxmlformats.org/drawingml/2006/main">
              <a:ext uri="{FF2B5EF4-FFF2-40B4-BE49-F238E27FC236}">
                <a16:creationId xmlns:a16="http://schemas.microsoft.com/office/drawing/2014/main" id="{06FF9E94-B343-4E26-81AF-386419B6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2" name="hf-534">
            <a:extLst xmlns:a="http://schemas.openxmlformats.org/drawingml/2006/main">
              <a:ext uri="{FF2B5EF4-FFF2-40B4-BE49-F238E27FC236}">
                <a16:creationId xmlns:a16="http://schemas.microsoft.com/office/drawing/2014/main" id="{B4EE26F8-D8E7-4B9E-9BB2-2AC5C2F8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86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3" name="hf-535">
            <a:extLst xmlns:a="http://schemas.openxmlformats.org/drawingml/2006/main">
              <a:ext uri="{FF2B5EF4-FFF2-40B4-BE49-F238E27FC236}">
                <a16:creationId xmlns:a16="http://schemas.microsoft.com/office/drawing/2014/main" id="{343A3A16-E5C8-42E5-972A-91267B8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4" name="hf-536">
            <a:extLst xmlns:a="http://schemas.openxmlformats.org/drawingml/2006/main">
              <a:ext uri="{FF2B5EF4-FFF2-40B4-BE49-F238E27FC236}">
                <a16:creationId xmlns:a16="http://schemas.microsoft.com/office/drawing/2014/main" id="{7FFC094C-DD67-4FFC-A150-A167B923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5" name="hf-537">
            <a:extLst xmlns:a="http://schemas.openxmlformats.org/drawingml/2006/main">
              <a:ext uri="{FF2B5EF4-FFF2-40B4-BE49-F238E27FC236}">
                <a16:creationId xmlns:a16="http://schemas.microsoft.com/office/drawing/2014/main" id="{3DFF163B-BBB9-444F-936D-F37F7832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114675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87F5"/>
          </a:solidFill>
          <a:ln xmlns:a="http://schemas.openxmlformats.org/drawingml/2006/main" w="19050">
            <a:solidFill>
              <a:srgbClr val="9B87F5"/>
            </a:solidFill>
          </a:ln>
        </p:spPr>
      </p:sp>
      <p:sp>
        <p:nvSpPr>
          <p:cNvPr id="36" name="hf-538">
            <a:extLst xmlns:a="http://schemas.openxmlformats.org/drawingml/2006/main">
              <a:ext uri="{FF2B5EF4-FFF2-40B4-BE49-F238E27FC236}">
                <a16:creationId xmlns:a16="http://schemas.microsoft.com/office/drawing/2014/main" id="{16C809D9-0BB7-4641-ABDD-F716BA1C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257550"/>
            <a:ext cx="376238" cy="953"/>
          </a:xfrm>
          <a:custGeom xmlns:a="http://schemas.openxmlformats.org/drawingml/2006/main">
            <a:pathLst>
              <a:path w="376238" h="476">
                <a:moveTo>
                  <a:pt x="0" y="0"/>
                </a:moveTo>
                <a:lnTo>
                  <a:pt x="376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37" name="hf-539">
            <a:extLst xmlns:a="http://schemas.openxmlformats.org/drawingml/2006/main">
              <a:ext uri="{FF2B5EF4-FFF2-40B4-BE49-F238E27FC236}">
                <a16:creationId xmlns:a16="http://schemas.microsoft.com/office/drawing/2014/main" id="{7C4FD2EA-938A-40B1-875C-ADD657F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57550"/>
            <a:ext cx="442913" cy="953"/>
          </a:xfrm>
          <a:custGeom xmlns:a="http://schemas.openxmlformats.org/drawingml/2006/main">
            <a:pathLst>
              <a:path w="442913" h="476">
                <a:moveTo>
                  <a:pt x="0" y="0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B87F5"/>
            </a:solidFill>
          </a:ln>
        </p:spPr>
      </p:sp>
      <p:sp>
        <p:nvSpPr>
          <p:cNvPr id="38" name="hf-540">
            <a:extLst xmlns:a="http://schemas.openxmlformats.org/drawingml/2006/main">
              <a:ext uri="{FF2B5EF4-FFF2-40B4-BE49-F238E27FC236}">
                <a16:creationId xmlns:a16="http://schemas.microsoft.com/office/drawing/2014/main" id="{4DE1BB62-A2A4-40C3-85B1-9FBAB7D2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77188"/>
            <a:ext cx="43673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вход</a:t>
            </a:r>
          </a:p>
        </p:txBody>
      </p:sp>
      <p:sp>
        <p:nvSpPr>
          <p:cNvPr id="39" name="hf-541">
            <a:extLst xmlns:a="http://schemas.openxmlformats.org/drawingml/2006/main">
              <a:ext uri="{FF2B5EF4-FFF2-40B4-BE49-F238E27FC236}">
                <a16:creationId xmlns:a16="http://schemas.microsoft.com/office/drawing/2014/main" id="{169A65F2-0CD4-44EA-9629-F6F1CF5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77188"/>
            <a:ext cx="24603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проход 1 · младший полубайт</a:t>
            </a:r>
          </a:p>
        </p:txBody>
      </p:sp>
      <p:sp>
        <p:nvSpPr>
          <p:cNvPr id="40" name="hf-542">
            <a:extLst xmlns:a="http://schemas.openxmlformats.org/drawingml/2006/main">
              <a:ext uri="{FF2B5EF4-FFF2-40B4-BE49-F238E27FC236}">
                <a16:creationId xmlns:a16="http://schemas.microsoft.com/office/drawing/2014/main" id="{AE5C5EDA-22B4-4394-BC3B-DF97282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1277188"/>
            <a:ext cx="872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после 1-го</a:t>
            </a:r>
          </a:p>
        </p:txBody>
      </p:sp>
      <p:sp>
        <p:nvSpPr>
          <p:cNvPr id="41" name="hf-543">
            <a:extLst xmlns:a="http://schemas.openxmlformats.org/drawingml/2006/main">
              <a:ext uri="{FF2B5EF4-FFF2-40B4-BE49-F238E27FC236}">
                <a16:creationId xmlns:a16="http://schemas.microsoft.com/office/drawing/2014/main" id="{A84552E1-7756-40D3-9A5B-8DE1469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1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42" name="hf-544">
            <a:extLst xmlns:a="http://schemas.openxmlformats.org/drawingml/2006/main">
              <a:ext uri="{FF2B5EF4-FFF2-40B4-BE49-F238E27FC236}">
                <a16:creationId xmlns:a16="http://schemas.microsoft.com/office/drawing/2014/main" id="{96234718-3335-4E5C-B41C-98EE9A7F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9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43" name="hf-545">
            <a:extLst xmlns:a="http://schemas.openxmlformats.org/drawingml/2006/main">
              <a:ext uri="{FF2B5EF4-FFF2-40B4-BE49-F238E27FC236}">
                <a16:creationId xmlns:a16="http://schemas.microsoft.com/office/drawing/2014/main" id="{53C7F8DE-11D0-45B7-900F-BC7C84F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16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44" name="hf-546">
            <a:extLst xmlns:a="http://schemas.openxmlformats.org/drawingml/2006/main">
              <a:ext uri="{FF2B5EF4-FFF2-40B4-BE49-F238E27FC236}">
                <a16:creationId xmlns:a16="http://schemas.microsoft.com/office/drawing/2014/main" id="{C2FED61E-7F6A-4E92-98EF-890A2DC2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24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45" name="hf-547">
            <a:extLst xmlns:a="http://schemas.openxmlformats.org/drawingml/2006/main">
              <a:ext uri="{FF2B5EF4-FFF2-40B4-BE49-F238E27FC236}">
                <a16:creationId xmlns:a16="http://schemas.microsoft.com/office/drawing/2014/main" id="{E7965EE4-FB87-460F-908F-C8F92DB3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57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·1</a:t>
            </a:r>
          </a:p>
        </p:txBody>
      </p:sp>
      <p:sp>
        <p:nvSpPr>
          <p:cNvPr id="46" name="hf-548">
            <a:extLst xmlns:a="http://schemas.openxmlformats.org/drawingml/2006/main">
              <a:ext uri="{FF2B5EF4-FFF2-40B4-BE49-F238E27FC236}">
                <a16:creationId xmlns:a16="http://schemas.microsoft.com/office/drawing/2014/main" id="{42B21216-4C8F-440B-8C4C-49B1469B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90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47" name="hf-549">
            <a:extLst xmlns:a="http://schemas.openxmlformats.org/drawingml/2006/main">
              <a:ext uri="{FF2B5EF4-FFF2-40B4-BE49-F238E27FC236}">
                <a16:creationId xmlns:a16="http://schemas.microsoft.com/office/drawing/2014/main" id="{985AEA77-528F-4361-9DEC-3FA375F5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52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·3</a:t>
            </a:r>
          </a:p>
        </p:txBody>
      </p:sp>
      <p:sp>
        <p:nvSpPr>
          <p:cNvPr id="48" name="hf-550">
            <a:extLst xmlns:a="http://schemas.openxmlformats.org/drawingml/2006/main">
              <a:ext uri="{FF2B5EF4-FFF2-40B4-BE49-F238E27FC236}">
                <a16:creationId xmlns:a16="http://schemas.microsoft.com/office/drawing/2014/main" id="{4990E188-E0CD-4243-83CC-157A7E5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49" name="hf-551">
            <a:extLst xmlns:a="http://schemas.openxmlformats.org/drawingml/2006/main">
              <a:ext uri="{FF2B5EF4-FFF2-40B4-BE49-F238E27FC236}">
                <a16:creationId xmlns:a16="http://schemas.microsoft.com/office/drawing/2014/main" id="{2D04F18B-2ED8-4BAF-87E2-F47DE040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79" y="1593533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·A</a:t>
            </a:r>
          </a:p>
        </p:txBody>
      </p:sp>
      <p:sp>
        <p:nvSpPr>
          <p:cNvPr id="50" name="hf-552">
            <a:extLst xmlns:a="http://schemas.openxmlformats.org/drawingml/2006/main">
              <a:ext uri="{FF2B5EF4-FFF2-40B4-BE49-F238E27FC236}">
                <a16:creationId xmlns:a16="http://schemas.microsoft.com/office/drawing/2014/main" id="{A97846BB-8FDF-48E3-AF77-F98C15E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51" name="hf-553">
            <a:extLst xmlns:a="http://schemas.openxmlformats.org/drawingml/2006/main">
              <a:ext uri="{FF2B5EF4-FFF2-40B4-BE49-F238E27FC236}">
                <a16:creationId xmlns:a16="http://schemas.microsoft.com/office/drawing/2014/main" id="{29EB0AED-CD48-4945-A934-CBD47A0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21174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52" name="hf-554">
            <a:extLst xmlns:a="http://schemas.openxmlformats.org/drawingml/2006/main">
              <a:ext uri="{FF2B5EF4-FFF2-40B4-BE49-F238E27FC236}">
                <a16:creationId xmlns:a16="http://schemas.microsoft.com/office/drawing/2014/main" id="{BEE85920-07FA-4C9E-AF92-0BD1700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14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53" name="hf-555">
            <a:extLst xmlns:a="http://schemas.openxmlformats.org/drawingml/2006/main">
              <a:ext uri="{FF2B5EF4-FFF2-40B4-BE49-F238E27FC236}">
                <a16:creationId xmlns:a16="http://schemas.microsoft.com/office/drawing/2014/main" id="{7BE24CE2-BC65-4A24-A06C-195EF4A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21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54" name="hf-556">
            <a:extLst xmlns:a="http://schemas.openxmlformats.org/drawingml/2006/main">
              <a:ext uri="{FF2B5EF4-FFF2-40B4-BE49-F238E27FC236}">
                <a16:creationId xmlns:a16="http://schemas.microsoft.com/office/drawing/2014/main" id="{212D5833-D202-47BA-84D4-2774BC1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4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55" name="hf-557">
            <a:extLst xmlns:a="http://schemas.openxmlformats.org/drawingml/2006/main">
              <a:ext uri="{FF2B5EF4-FFF2-40B4-BE49-F238E27FC236}">
                <a16:creationId xmlns:a16="http://schemas.microsoft.com/office/drawing/2014/main" id="{1F9E08A7-D551-4001-AEC2-32801CC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69" y="1774508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56" name="hf-558">
            <a:extLst xmlns:a="http://schemas.openxmlformats.org/drawingml/2006/main">
              <a:ext uri="{FF2B5EF4-FFF2-40B4-BE49-F238E27FC236}">
                <a16:creationId xmlns:a16="http://schemas.microsoft.com/office/drawing/2014/main" id="{14FCDF10-1A1C-41A0-9169-C07BBA3A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91638"/>
            <a:ext cx="8726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после 1-го</a:t>
            </a:r>
          </a:p>
        </p:txBody>
      </p:sp>
      <p:sp>
        <p:nvSpPr>
          <p:cNvPr id="57" name="hf-559">
            <a:extLst xmlns:a="http://schemas.openxmlformats.org/drawingml/2006/main">
              <a:ext uri="{FF2B5EF4-FFF2-40B4-BE49-F238E27FC236}">
                <a16:creationId xmlns:a16="http://schemas.microsoft.com/office/drawing/2014/main" id="{DA9152E6-D1ED-4F35-B917-799D505C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1638"/>
            <a:ext cx="243624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проход 2 · старший полубайт</a:t>
            </a:r>
          </a:p>
        </p:txBody>
      </p:sp>
      <p:sp>
        <p:nvSpPr>
          <p:cNvPr id="58" name="hf-560">
            <a:extLst xmlns:a="http://schemas.openxmlformats.org/drawingml/2006/main">
              <a:ext uri="{FF2B5EF4-FFF2-40B4-BE49-F238E27FC236}">
                <a16:creationId xmlns:a16="http://schemas.microsoft.com/office/drawing/2014/main" id="{7F48D564-34C7-4D82-86D8-6492B2E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2591638"/>
            <a:ext cx="129339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отсортировано</a:t>
            </a:r>
          </a:p>
        </p:txBody>
      </p:sp>
      <p:sp>
        <p:nvSpPr>
          <p:cNvPr id="59" name="hf-561">
            <a:extLst xmlns:a="http://schemas.openxmlformats.org/drawingml/2006/main">
              <a:ext uri="{FF2B5EF4-FFF2-40B4-BE49-F238E27FC236}">
                <a16:creationId xmlns:a16="http://schemas.microsoft.com/office/drawing/2014/main" id="{418F3191-4EE1-4D03-BD67-B692253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1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60" name="hf-562">
            <a:extLst xmlns:a="http://schemas.openxmlformats.org/drawingml/2006/main">
              <a:ext uri="{FF2B5EF4-FFF2-40B4-BE49-F238E27FC236}">
                <a16:creationId xmlns:a16="http://schemas.microsoft.com/office/drawing/2014/main" id="{947EA75C-0408-4D1B-9BFD-96BA40E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9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61" name="hf-563">
            <a:extLst xmlns:a="http://schemas.openxmlformats.org/drawingml/2006/main">
              <a:ext uri="{FF2B5EF4-FFF2-40B4-BE49-F238E27FC236}">
                <a16:creationId xmlns:a16="http://schemas.microsoft.com/office/drawing/2014/main" id="{352DB16B-4A9D-43D2-8E42-D357255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16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62" name="hf-564">
            <a:extLst xmlns:a="http://schemas.openxmlformats.org/drawingml/2006/main">
              <a:ext uri="{FF2B5EF4-FFF2-40B4-BE49-F238E27FC236}">
                <a16:creationId xmlns:a16="http://schemas.microsoft.com/office/drawing/2014/main" id="{E691C006-AA9A-4658-98F2-088A526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24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63" name="hf-565">
            <a:extLst xmlns:a="http://schemas.openxmlformats.org/drawingml/2006/main">
              <a:ext uri="{FF2B5EF4-FFF2-40B4-BE49-F238E27FC236}">
                <a16:creationId xmlns:a16="http://schemas.microsoft.com/office/drawing/2014/main" id="{53BB19D4-95BF-4A5C-B5B1-E336904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57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0·</a:t>
            </a:r>
          </a:p>
        </p:txBody>
      </p:sp>
      <p:sp>
        <p:nvSpPr>
          <p:cNvPr id="64" name="hf-566">
            <a:extLst xmlns:a="http://schemas.openxmlformats.org/drawingml/2006/main">
              <a:ext uri="{FF2B5EF4-FFF2-40B4-BE49-F238E27FC236}">
                <a16:creationId xmlns:a16="http://schemas.microsoft.com/office/drawing/2014/main" id="{292129F3-744F-4D48-A3A0-EEAA5F56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90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65" name="hf-567">
            <a:extLst xmlns:a="http://schemas.openxmlformats.org/drawingml/2006/main">
              <a:ext uri="{FF2B5EF4-FFF2-40B4-BE49-F238E27FC236}">
                <a16:creationId xmlns:a16="http://schemas.microsoft.com/office/drawing/2014/main" id="{952ECE35-55A4-4582-A6EB-1D5D51B9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52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1·</a:t>
            </a:r>
          </a:p>
        </p:txBody>
      </p:sp>
      <p:sp>
        <p:nvSpPr>
          <p:cNvPr id="66" name="hf-568">
            <a:extLst xmlns:a="http://schemas.openxmlformats.org/drawingml/2006/main">
              <a:ext uri="{FF2B5EF4-FFF2-40B4-BE49-F238E27FC236}">
                <a16:creationId xmlns:a16="http://schemas.microsoft.com/office/drawing/2014/main" id="{4C8EA7B2-63B5-4669-A2FD-DC047DC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67" name="hf-569">
            <a:extLst xmlns:a="http://schemas.openxmlformats.org/drawingml/2006/main">
              <a:ext uri="{FF2B5EF4-FFF2-40B4-BE49-F238E27FC236}">
                <a16:creationId xmlns:a16="http://schemas.microsoft.com/office/drawing/2014/main" id="{05C59D8F-8C38-454D-B023-9F29C01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856" y="34318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68" name="hf-570">
            <a:extLst xmlns:a="http://schemas.openxmlformats.org/drawingml/2006/main">
              <a:ext uri="{FF2B5EF4-FFF2-40B4-BE49-F238E27FC236}">
                <a16:creationId xmlns:a16="http://schemas.microsoft.com/office/drawing/2014/main" id="{01D97D01-CCDE-4C50-8CC9-86180615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79" y="2907982"/>
            <a:ext cx="2865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500" b="1" i="0">
                <a:solidFill>
                  <a:srgbClr val="9B87F5"/>
                </a:solidFill>
                <a:latin typeface="Menlo"/>
                <a:ea typeface="Menlo"/>
                <a:cs typeface="Menlo"/>
              </a:rPr>
              <a:t>2·</a:t>
            </a:r>
          </a:p>
        </p:txBody>
      </p:sp>
      <p:sp>
        <p:nvSpPr>
          <p:cNvPr id="69" name="hf-571">
            <a:extLst xmlns:a="http://schemas.openxmlformats.org/drawingml/2006/main">
              <a:ext uri="{FF2B5EF4-FFF2-40B4-BE49-F238E27FC236}">
                <a16:creationId xmlns:a16="http://schemas.microsoft.com/office/drawing/2014/main" id="{6DCAF526-6E2E-42F6-91AB-05B84E8C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806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70" name="hf-572">
            <a:extLst xmlns:a="http://schemas.openxmlformats.org/drawingml/2006/main">
              <a:ext uri="{FF2B5EF4-FFF2-40B4-BE49-F238E27FC236}">
                <a16:creationId xmlns:a16="http://schemas.microsoft.com/office/drawing/2014/main" id="{096C05BE-99A2-455F-BA1E-ADA2D72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14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0x03</a:t>
            </a:r>
          </a:p>
        </p:txBody>
      </p:sp>
      <p:sp>
        <p:nvSpPr>
          <p:cNvPr id="71" name="hf-573">
            <a:extLst xmlns:a="http://schemas.openxmlformats.org/drawingml/2006/main">
              <a:ext uri="{FF2B5EF4-FFF2-40B4-BE49-F238E27FC236}">
                <a16:creationId xmlns:a16="http://schemas.microsoft.com/office/drawing/2014/main" id="{B6D83951-5BF4-40DE-BEEE-81FDACCD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21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72" name="hf-574">
            <a:extLst xmlns:a="http://schemas.openxmlformats.org/drawingml/2006/main">
              <a:ext uri="{FF2B5EF4-FFF2-40B4-BE49-F238E27FC236}">
                <a16:creationId xmlns:a16="http://schemas.microsoft.com/office/drawing/2014/main" id="{0BD34C77-5BDE-4524-B15D-A2C4CAD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4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0x1A</a:t>
            </a:r>
          </a:p>
        </p:txBody>
      </p:sp>
      <p:sp>
        <p:nvSpPr>
          <p:cNvPr id="73" name="hf-575">
            <a:extLst xmlns:a="http://schemas.openxmlformats.org/drawingml/2006/main">
              <a:ext uri="{FF2B5EF4-FFF2-40B4-BE49-F238E27FC236}">
                <a16:creationId xmlns:a16="http://schemas.microsoft.com/office/drawing/2014/main" id="{6273584E-4E73-4B55-8ADA-80ABCD24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69" y="3088957"/>
            <a:ext cx="5159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0x2A</a:t>
            </a:r>
          </a:p>
        </p:txBody>
      </p:sp>
      <p:sp>
        <p:nvSpPr>
          <p:cNvPr id="74" name="hf-576">
            <a:extLst xmlns:a="http://schemas.openxmlformats.org/drawingml/2006/main">
              <a:ext uri="{FF2B5EF4-FFF2-40B4-BE49-F238E27FC236}">
                <a16:creationId xmlns:a16="http://schemas.microsoft.com/office/drawing/2014/main" id="{D0A330E5-FF3E-4F82-88E8-105AD0B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528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75" name="hf-577">
            <a:extLst xmlns:a="http://schemas.openxmlformats.org/drawingml/2006/main">
              <a:ext uri="{FF2B5EF4-FFF2-40B4-BE49-F238E27FC236}">
                <a16:creationId xmlns:a16="http://schemas.microsoft.com/office/drawing/2014/main" id="{CEA6320A-892C-42AB-ACAA-1AC6D13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95255"/>
            <a:ext cx="29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76" name="hf-578">
            <a:extLst xmlns:a="http://schemas.openxmlformats.org/drawingml/2006/main">
              <a:ext uri="{FF2B5EF4-FFF2-40B4-BE49-F238E27FC236}">
                <a16:creationId xmlns:a16="http://schemas.microsoft.com/office/drawing/2014/main" id="{46DE92BC-D44E-410B-B72A-4D5B3FB6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12" y="4064756"/>
            <a:ext cx="136430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сравнений</a:t>
            </a:r>
          </a:p>
        </p:txBody>
      </p:sp>
      <p:sp>
        <p:nvSpPr>
          <p:cNvPr id="77" name="hf-579">
            <a:extLst xmlns:a="http://schemas.openxmlformats.org/drawingml/2006/main">
              <a:ext uri="{FF2B5EF4-FFF2-40B4-BE49-F238E27FC236}">
                <a16:creationId xmlns:a16="http://schemas.microsoft.com/office/drawing/2014/main" id="{18CCAA4F-E270-4779-85BA-25D700E5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67" y="4095255"/>
            <a:ext cx="3335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700" b="1" i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</a:rPr>
              <a:t>N</a:t>
            </a:r>
          </a:p>
        </p:txBody>
      </p:sp>
      <p:sp>
        <p:nvSpPr>
          <p:cNvPr id="78" name="hf-580">
            <a:extLst xmlns:a="http://schemas.openxmlformats.org/drawingml/2006/main">
              <a:ext uri="{FF2B5EF4-FFF2-40B4-BE49-F238E27FC236}">
                <a16:creationId xmlns:a16="http://schemas.microsoft.com/office/drawing/2014/main" id="{5F594AD3-A14D-4BC3-8EC3-A888F1D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64756"/>
            <a:ext cx="11694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буфер на </a:t>
            </a:r>
          </a:p>
        </p:txBody>
      </p:sp>
      <p:sp>
        <p:nvSpPr>
          <p:cNvPr id="79" name="hf-581">
            <a:extLst xmlns:a="http://schemas.openxmlformats.org/drawingml/2006/main">
              <a:ext uri="{FF2B5EF4-FFF2-40B4-BE49-F238E27FC236}">
                <a16:creationId xmlns:a16="http://schemas.microsoft.com/office/drawing/2014/main" id="{A59E37B6-0C99-4405-AB4F-831A7AA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4756"/>
            <a:ext cx="144854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для </a:t>
            </a:r>
            <a:r>
              <a:rPr sz="1650" b="1" i="0">
                <a:solidFill>
                  <a:srgbClr val="9B87F5"/>
                </a:solidFill>
                <a:latin typeface="Montserrat"/>
                <a:ea typeface="Montserrat"/>
                <a:cs typeface="Montserrat"/>
              </a:rPr>
              <a:t>uint64_t</a:t>
            </a:r>
          </a:p>
        </p:txBody>
      </p:sp>
      <p:pic>
        <p:nvPicPr>
          <p:cNvPr id="80" name="hf-582">
            <a:extLst xmlns:a="http://schemas.openxmlformats.org/drawingml/2006/main">
              <a:ext uri="{FF2B5EF4-FFF2-40B4-BE49-F238E27FC236}">
                <a16:creationId xmlns:a16="http://schemas.microsoft.com/office/drawing/2014/main" id="{985D6415-9744-491A-BA3D-2E454A871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433925e4e4cf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81" name="hf-583">
            <a:extLst xmlns:a="http://schemas.openxmlformats.org/drawingml/2006/main">
              <a:ext uri="{FF2B5EF4-FFF2-40B4-BE49-F238E27FC236}">
                <a16:creationId xmlns:a16="http://schemas.microsoft.com/office/drawing/2014/main" id="{CB1AEA8E-1F61-4145-A7ED-60041B67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05535579"/>
      </p:ext>
    </p:extLst>
  </p:cSld>
</p:sld>
</file>

<file path=ppt/slides/slide31.xml><?xml version="1.0" encoding="utf-8"?>
<p:sld xmlns:p="http://schemas.openxmlformats.org/presentationml/2006/main" show="0">
  <p:cSld name="learned-tabl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584">
            <a:extLst xmlns:a="http://schemas.openxmlformats.org/drawingml/2006/main">
              <a:ext uri="{FF2B5EF4-FFF2-40B4-BE49-F238E27FC236}">
                <a16:creationId xmlns:a16="http://schemas.microsoft.com/office/drawing/2014/main" id="{F7C60561-624B-46E4-A900-06B9BB8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43390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ДОПОЛНИТЕЛЬНЫЙ МОДУЛЬ · КОНТРОЛЬ ОПЫТА</a:t>
            </a:r>
          </a:p>
        </p:txBody>
      </p:sp>
      <p:sp>
        <p:nvSpPr>
          <p:cNvPr id="3" name="hf-585">
            <a:extLst xmlns:a="http://schemas.openxmlformats.org/drawingml/2006/main">
              <a:ext uri="{FF2B5EF4-FFF2-40B4-BE49-F238E27FC236}">
                <a16:creationId xmlns:a16="http://schemas.microsoft.com/office/drawing/2014/main" id="{B14F9D3F-3FDE-43F4-90BF-BE2C1E3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82543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КОНТРОЛЬНЫЕ ОПЫТЫ БЕНЧМАРКА</a:t>
            </a:r>
          </a:p>
        </p:txBody>
      </p:sp>
      <p:sp>
        <p:nvSpPr>
          <p:cNvPr id="4" name="hf-586">
            <a:extLst xmlns:a="http://schemas.openxmlformats.org/drawingml/2006/main">
              <a:ext uri="{FF2B5EF4-FFF2-40B4-BE49-F238E27FC236}">
                <a16:creationId xmlns:a16="http://schemas.microsoft.com/office/drawing/2014/main" id="{DF0BFBA8-1B02-4A6F-B025-82EA339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68107"/>
            <a:ext cx="131750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x86 · Linux</a:t>
            </a:r>
          </a:p>
        </p:txBody>
      </p:sp>
      <p:sp>
        <p:nvSpPr>
          <p:cNvPr id="5" name="hf-587">
            <a:extLst xmlns:a="http://schemas.openxmlformats.org/drawingml/2006/main">
              <a:ext uri="{FF2B5EF4-FFF2-40B4-BE49-F238E27FC236}">
                <a16:creationId xmlns:a16="http://schemas.microsoft.com/office/drawing/2014/main" id="{15A08DDC-1FB9-4621-A1B6-8A320140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46517"/>
            <a:ext cx="2814191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восстановленный: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9,7</a:t>
            </a:r>
          </a:p>
        </p:txBody>
      </p:sp>
      <p:sp>
        <p:nvSpPr>
          <p:cNvPr id="6" name="hf-588">
            <a:extLst xmlns:a="http://schemas.openxmlformats.org/drawingml/2006/main">
              <a:ext uri="{FF2B5EF4-FFF2-40B4-BE49-F238E27FC236}">
                <a16:creationId xmlns:a16="http://schemas.microsoft.com/office/drawing/2014/main" id="{5CD64A2A-58FF-4481-A56A-E1F71A8C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79892"/>
            <a:ext cx="262317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64 одинаковые копии: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9,6</a:t>
            </a:r>
          </a:p>
        </p:txBody>
      </p:sp>
      <p:sp>
        <p:nvSpPr>
          <p:cNvPr id="7" name="hf-589">
            <a:extLst xmlns:a="http://schemas.openxmlformats.org/drawingml/2006/main">
              <a:ext uri="{FF2B5EF4-FFF2-40B4-BE49-F238E27FC236}">
                <a16:creationId xmlns:a16="http://schemas.microsoft.com/office/drawing/2014/main" id="{37549C3E-D70D-461B-9F30-EDEE3D7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13267"/>
            <a:ext cx="246883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64 разных массива: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46,9</a:t>
            </a:r>
          </a:p>
        </p:txBody>
      </p:sp>
      <p:sp>
        <p:nvSpPr>
          <p:cNvPr id="8" name="hf-590">
            <a:extLst xmlns:a="http://schemas.openxmlformats.org/drawingml/2006/main">
              <a:ext uri="{FF2B5EF4-FFF2-40B4-BE49-F238E27FC236}">
                <a16:creationId xmlns:a16="http://schemas.microsoft.com/office/drawing/2014/main" id="{F6EFCA07-D428-47FD-BA7E-DFFFDF0D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46642"/>
            <a:ext cx="318075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62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Разные через один буфер: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46,8</a:t>
            </a:r>
          </a:p>
        </p:txBody>
      </p:sp>
      <p:sp>
        <p:nvSpPr>
          <p:cNvPr id="9" name="hf-591">
            <a:extLst xmlns:a="http://schemas.openxmlformats.org/drawingml/2006/main">
              <a:ext uri="{FF2B5EF4-FFF2-40B4-BE49-F238E27FC236}">
                <a16:creationId xmlns:a16="http://schemas.microsoft.com/office/drawing/2014/main" id="{8C25A0D1-EF06-4529-8A5D-C969C02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41942"/>
            <a:ext cx="3414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нс на элемент · один буфер 8 КиБ</a:t>
            </a:r>
          </a:p>
        </p:txBody>
      </p:sp>
      <p:sp>
        <p:nvSpPr>
          <p:cNvPr id="10" name="hf-592">
            <a:extLst xmlns:a="http://schemas.openxmlformats.org/drawingml/2006/main">
              <a:ext uri="{FF2B5EF4-FFF2-40B4-BE49-F238E27FC236}">
                <a16:creationId xmlns:a16="http://schemas.microsoft.com/office/drawing/2014/main" id="{B85F6DAD-AAD3-4655-AD2C-1DB5D8E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8107"/>
            <a:ext cx="87533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11" name="hf-593">
            <a:extLst xmlns:a="http://schemas.openxmlformats.org/drawingml/2006/main">
              <a:ext uri="{FF2B5EF4-FFF2-40B4-BE49-F238E27FC236}">
                <a16:creationId xmlns:a16="http://schemas.microsoft.com/office/drawing/2014/main" id="{6F433580-A8CB-4492-8B0B-BAC7A97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70329"/>
            <a:ext cx="181681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Нативная macOS</a:t>
            </a:r>
          </a:p>
        </p:txBody>
      </p:sp>
      <p:sp>
        <p:nvSpPr>
          <p:cNvPr id="12" name="hf-594">
            <a:extLst xmlns:a="http://schemas.openxmlformats.org/drawingml/2006/main">
              <a:ext uri="{FF2B5EF4-FFF2-40B4-BE49-F238E27FC236}">
                <a16:creationId xmlns:a16="http://schemas.microsoft.com/office/drawing/2014/main" id="{5FB5B60C-03CF-4A34-917D-E127C90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6079"/>
            <a:ext cx="300141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массив 6,8 · разные 14,4</a:t>
            </a:r>
          </a:p>
        </p:txBody>
      </p:sp>
      <p:sp>
        <p:nvSpPr>
          <p:cNvPr id="13" name="hf-595">
            <a:extLst xmlns:a="http://schemas.openxmlformats.org/drawingml/2006/main">
              <a:ext uri="{FF2B5EF4-FFF2-40B4-BE49-F238E27FC236}">
                <a16:creationId xmlns:a16="http://schemas.microsoft.com/office/drawing/2014/main" id="{D74C6C9C-CA46-4007-85F8-813C1A6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9954"/>
            <a:ext cx="219722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в Linux VM</a:t>
            </a:r>
          </a:p>
        </p:txBody>
      </p:sp>
      <p:sp>
        <p:nvSpPr>
          <p:cNvPr id="14" name="hf-596">
            <a:extLst xmlns:a="http://schemas.openxmlformats.org/drawingml/2006/main">
              <a:ext uri="{FF2B5EF4-FFF2-40B4-BE49-F238E27FC236}">
                <a16:creationId xmlns:a16="http://schemas.microsoft.com/office/drawing/2014/main" id="{CC8519B0-D15A-4343-A0A9-400C6508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65704"/>
            <a:ext cx="368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Одинаковые копии тоже медленнее</a:t>
            </a:r>
          </a:p>
        </p:txBody>
      </p:sp>
      <p:sp>
        <p:nvSpPr>
          <p:cNvPr id="15" name="hf-597">
            <a:extLst xmlns:a="http://schemas.openxmlformats.org/drawingml/2006/main">
              <a:ext uri="{FF2B5EF4-FFF2-40B4-BE49-F238E27FC236}">
                <a16:creationId xmlns:a16="http://schemas.microsoft.com/office/drawing/2014/main" id="{E925837B-6439-4CBE-9438-33DF7ED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1454"/>
            <a:ext cx="352886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одного восстановленного массива</a:t>
            </a:r>
          </a:p>
        </p:txBody>
      </p:sp>
      <p:sp>
        <p:nvSpPr>
          <p:cNvPr id="16" name="hf-598">
            <a:extLst xmlns:a="http://schemas.openxmlformats.org/drawingml/2006/main">
              <a:ext uri="{FF2B5EF4-FFF2-40B4-BE49-F238E27FC236}">
                <a16:creationId xmlns:a16="http://schemas.microsoft.com/office/drawing/2014/main" id="{FD209621-5CD8-4AFF-8965-BC4E287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7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599">
            <a:extLst xmlns:a="http://schemas.openxmlformats.org/drawingml/2006/main">
              <a:ext uri="{FF2B5EF4-FFF2-40B4-BE49-F238E27FC236}">
                <a16:creationId xmlns:a16="http://schemas.microsoft.com/office/drawing/2014/main" id="{92F628D4-DE02-4F30-9F53-52BDDBC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36181"/>
            <a:ext cx="70740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Контроли сужают объяснение. Причина для M2 пока гипотеза</a:t>
            </a:r>
          </a:p>
        </p:txBody>
      </p:sp>
      <p:pic>
        <p:nvPicPr>
          <p:cNvPr id="18" name="hf-600">
            <a:extLst xmlns:a="http://schemas.openxmlformats.org/drawingml/2006/main">
              <a:ext uri="{FF2B5EF4-FFF2-40B4-BE49-F238E27FC236}">
                <a16:creationId xmlns:a16="http://schemas.microsoft.com/office/drawing/2014/main" id="{C5F4A28C-536B-4ED4-99E9-9BB477C35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8654af4af48e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9" name="hf-601">
            <a:extLst xmlns:a="http://schemas.openxmlformats.org/drawingml/2006/main">
              <a:ext uri="{FF2B5EF4-FFF2-40B4-BE49-F238E27FC236}">
                <a16:creationId xmlns:a16="http://schemas.microsoft.com/office/drawing/2014/main" id="{179015BB-E0E8-487D-9C31-EF7229F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29238498"/>
      </p:ext>
    </p:extLst>
  </p:cSld>
</p:sld>
</file>

<file path=ppt/slides/slide32.xml><?xml version="1.0" encoding="utf-8"?>
<p:sld xmlns:p="http://schemas.openxmlformats.org/presentationml/2006/main" show="0">
  <p:cSld name="nb-lang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02">
            <a:extLst xmlns:a="http://schemas.openxmlformats.org/drawingml/2006/main">
              <a:ext uri="{FF2B5EF4-FFF2-40B4-BE49-F238E27FC236}">
                <a16:creationId xmlns:a16="http://schemas.microsoft.com/office/drawing/2014/main" id="{17C4B0A5-DAD6-4A47-AF1C-179571B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603">
            <a:extLst xmlns:a="http://schemas.openxmlformats.org/drawingml/2006/main">
              <a:ext uri="{FF2B5EF4-FFF2-40B4-BE49-F238E27FC236}">
                <a16:creationId xmlns:a16="http://schemas.microsoft.com/office/drawing/2014/main" id="{108B9103-DFD5-4D93-9D6A-1ECDA42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3316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КОНТЕЙНЕРЫ В РАЗНЫХ ЯЗЫКАХ</a:t>
            </a:r>
          </a:p>
        </p:txBody>
      </p:sp>
      <p:sp>
        <p:nvSpPr>
          <p:cNvPr id="4" name="hf-604">
            <a:extLst xmlns:a="http://schemas.openxmlformats.org/drawingml/2006/main">
              <a:ext uri="{FF2B5EF4-FFF2-40B4-BE49-F238E27FC236}">
                <a16:creationId xmlns:a16="http://schemas.microsoft.com/office/drawing/2014/main" id="{374140FD-5C94-49A8-ABA9-A439D72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361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5" name="hf-605">
            <a:extLst xmlns:a="http://schemas.openxmlformats.org/drawingml/2006/main">
              <a:ext uri="{FF2B5EF4-FFF2-40B4-BE49-F238E27FC236}">
                <a16:creationId xmlns:a16="http://schemas.microsoft.com/office/drawing/2014/main" id="{28BC91B8-A1AB-479A-8DA0-D777F860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1556004"/>
            <a:ext cx="21824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узел на каждый ключ</a:t>
            </a:r>
          </a:p>
        </p:txBody>
      </p:sp>
      <p:sp>
        <p:nvSpPr>
          <p:cNvPr id="6" name="hf-606">
            <a:extLst xmlns:a="http://schemas.openxmlformats.org/drawingml/2006/main">
              <a:ext uri="{FF2B5EF4-FFF2-40B4-BE49-F238E27FC236}">
                <a16:creationId xmlns:a16="http://schemas.microsoft.com/office/drawing/2014/main" id="{E8048FB1-6562-4CBB-B0FC-63C7C799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1908467"/>
            <a:ext cx="93404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C++</a:t>
            </a:r>
          </a:p>
        </p:txBody>
      </p:sp>
      <p:sp>
        <p:nvSpPr>
          <p:cNvPr id="7" name="hf-607">
            <a:extLst xmlns:a="http://schemas.openxmlformats.org/drawingml/2006/main">
              <a:ext uri="{FF2B5EF4-FFF2-40B4-BE49-F238E27FC236}">
                <a16:creationId xmlns:a16="http://schemas.microsoft.com/office/drawing/2014/main" id="{27DBF070-A890-40A5-AD97-7B269A37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394204"/>
            <a:ext cx="18294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std::unordered_set</a:t>
            </a:r>
          </a:p>
        </p:txBody>
      </p:sp>
      <p:sp>
        <p:nvSpPr>
          <p:cNvPr id="8" name="hf-608">
            <a:extLst xmlns:a="http://schemas.openxmlformats.org/drawingml/2006/main">
              <a:ext uri="{FF2B5EF4-FFF2-40B4-BE49-F238E27FC236}">
                <a16:creationId xmlns:a16="http://schemas.microsoft.com/office/drawing/2014/main" id="{BF2342CD-CB95-408A-AF2C-F1133AB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2857957"/>
            <a:ext cx="230892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105"/>
              </a:lnSpc>
              <a:buNone/>
            </a:pPr>
            <a:r>
              <a:rPr sz="27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Java / Kotlin</a:t>
            </a:r>
          </a:p>
        </p:txBody>
      </p:sp>
      <p:sp>
        <p:nvSpPr>
          <p:cNvPr id="9" name="hf-609">
            <a:extLst xmlns:a="http://schemas.openxmlformats.org/drawingml/2006/main">
              <a:ext uri="{FF2B5EF4-FFF2-40B4-BE49-F238E27FC236}">
                <a16:creationId xmlns:a16="http://schemas.microsoft.com/office/drawing/2014/main" id="{E9DDAB2F-E1C8-4565-AC49-09BBA71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280029"/>
            <a:ext cx="24967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HashSet&lt;Long&gt;, distinct()</a:t>
            </a:r>
          </a:p>
        </p:txBody>
      </p:sp>
      <p:sp>
        <p:nvSpPr>
          <p:cNvPr id="10" name="hf-610">
            <a:extLst xmlns:a="http://schemas.openxmlformats.org/drawingml/2006/main">
              <a:ext uri="{FF2B5EF4-FFF2-40B4-BE49-F238E27FC236}">
                <a16:creationId xmlns:a16="http://schemas.microsoft.com/office/drawing/2014/main" id="{AA68E671-B8D6-4E2C-9451-13178CE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508629"/>
            <a:ext cx="292008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боксинг числового ключа</a:t>
            </a:r>
          </a:p>
        </p:txBody>
      </p:sp>
      <p:sp>
        <p:nvSpPr>
          <p:cNvPr id="11" name="hf-611">
            <a:extLst xmlns:a="http://schemas.openxmlformats.org/drawingml/2006/main">
              <a:ext uri="{FF2B5EF4-FFF2-40B4-BE49-F238E27FC236}">
                <a16:creationId xmlns:a16="http://schemas.microsoft.com/office/drawing/2014/main" id="{D1EFCE9E-1E4A-4D56-A9D0-334CEAB2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13129"/>
            <a:ext cx="174099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без узла на ключ</a:t>
            </a:r>
          </a:p>
        </p:txBody>
      </p:sp>
      <p:sp>
        <p:nvSpPr>
          <p:cNvPr id="12" name="hf-612">
            <a:extLst xmlns:a="http://schemas.openxmlformats.org/drawingml/2006/main">
              <a:ext uri="{FF2B5EF4-FFF2-40B4-BE49-F238E27FC236}">
                <a16:creationId xmlns:a16="http://schemas.microsoft.com/office/drawing/2014/main" id="{A4D3CB53-F7B3-420E-BBEF-6B24EC5E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2081"/>
            <a:ext cx="606400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Swift</a:t>
            </a:r>
          </a:p>
        </p:txBody>
      </p:sp>
      <p:sp>
        <p:nvSpPr>
          <p:cNvPr id="13" name="hf-613">
            <a:extLst xmlns:a="http://schemas.openxmlformats.org/drawingml/2006/main">
              <a:ext uri="{FF2B5EF4-FFF2-40B4-BE49-F238E27FC236}">
                <a16:creationId xmlns:a16="http://schemas.microsoft.com/office/drawing/2014/main" id="{2417B731-5769-48B2-919A-B17303C0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6979"/>
            <a:ext cx="210033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открытая адресация</a:t>
            </a:r>
          </a:p>
        </p:txBody>
      </p:sp>
      <p:sp>
        <p:nvSpPr>
          <p:cNvPr id="14" name="hf-614">
            <a:extLst xmlns:a="http://schemas.openxmlformats.org/drawingml/2006/main">
              <a:ext uri="{FF2B5EF4-FFF2-40B4-BE49-F238E27FC236}">
                <a16:creationId xmlns:a16="http://schemas.microsoft.com/office/drawing/2014/main" id="{D7DC12B0-AF79-4392-802A-5606747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615">
            <a:extLst xmlns:a="http://schemas.openxmlformats.org/drawingml/2006/main">
              <a:ext uri="{FF2B5EF4-FFF2-40B4-BE49-F238E27FC236}">
                <a16:creationId xmlns:a16="http://schemas.microsoft.com/office/drawing/2014/main" id="{AA61F84C-BA9A-4DB8-A808-8EE9283B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9281"/>
            <a:ext cx="98732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Go ≥ 1.24</a:t>
            </a:r>
          </a:p>
        </p:txBody>
      </p:sp>
      <p:sp>
        <p:nvSpPr>
          <p:cNvPr id="16" name="hf-616">
            <a:extLst xmlns:a="http://schemas.openxmlformats.org/drawingml/2006/main">
              <a:ext uri="{FF2B5EF4-FFF2-40B4-BE49-F238E27FC236}">
                <a16:creationId xmlns:a16="http://schemas.microsoft.com/office/drawing/2014/main" id="{67DB124B-F627-4E20-942C-714098C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4179"/>
            <a:ext cx="11086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Swiss table</a:t>
            </a:r>
          </a:p>
        </p:txBody>
      </p:sp>
      <p:sp>
        <p:nvSpPr>
          <p:cNvPr id="17" name="hf-617">
            <a:extLst xmlns:a="http://schemas.openxmlformats.org/drawingml/2006/main">
              <a:ext uri="{FF2B5EF4-FFF2-40B4-BE49-F238E27FC236}">
                <a16:creationId xmlns:a16="http://schemas.microsoft.com/office/drawing/2014/main" id="{493E02F1-2718-482E-962B-3C3A9D93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8" name="hf-618">
            <a:extLst xmlns:a="http://schemas.openxmlformats.org/drawingml/2006/main">
              <a:ext uri="{FF2B5EF4-FFF2-40B4-BE49-F238E27FC236}">
                <a16:creationId xmlns:a16="http://schemas.microsoft.com/office/drawing/2014/main" id="{A24A9229-BAA1-44F3-BF4C-587E586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6481"/>
            <a:ext cx="550069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Rust</a:t>
            </a:r>
          </a:p>
        </p:txBody>
      </p:sp>
      <p:sp>
        <p:nvSpPr>
          <p:cNvPr id="19" name="hf-619">
            <a:extLst xmlns:a="http://schemas.openxmlformats.org/drawingml/2006/main">
              <a:ext uri="{FF2B5EF4-FFF2-40B4-BE49-F238E27FC236}">
                <a16:creationId xmlns:a16="http://schemas.microsoft.com/office/drawing/2014/main" id="{C52B9965-E4B4-439D-8F5E-636A065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1379"/>
            <a:ext cx="236316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Swiss table (hashbrown)</a:t>
            </a:r>
          </a:p>
        </p:txBody>
      </p:sp>
      <p:sp>
        <p:nvSpPr>
          <p:cNvPr id="20" name="hf-620">
            <a:extLst xmlns:a="http://schemas.openxmlformats.org/drawingml/2006/main">
              <a:ext uri="{FF2B5EF4-FFF2-40B4-BE49-F238E27FC236}">
                <a16:creationId xmlns:a16="http://schemas.microsoft.com/office/drawing/2014/main" id="{0F8BDCED-D2A0-46CC-824E-A1FB1CF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1" name="hf-621">
            <a:extLst xmlns:a="http://schemas.openxmlformats.org/drawingml/2006/main">
              <a:ext uri="{FF2B5EF4-FFF2-40B4-BE49-F238E27FC236}">
                <a16:creationId xmlns:a16="http://schemas.microsoft.com/office/drawing/2014/main" id="{52B2868E-27D8-409F-A61F-87B00517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3681"/>
            <a:ext cx="84251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Python</a:t>
            </a:r>
          </a:p>
        </p:txBody>
      </p:sp>
      <p:sp>
        <p:nvSpPr>
          <p:cNvPr id="22" name="hf-622">
            <a:extLst xmlns:a="http://schemas.openxmlformats.org/drawingml/2006/main">
              <a:ext uri="{FF2B5EF4-FFF2-40B4-BE49-F238E27FC236}">
                <a16:creationId xmlns:a16="http://schemas.microsoft.com/office/drawing/2014/main" id="{E8DE8CC9-D13F-4FB8-BE8F-A5DBA261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8579"/>
            <a:ext cx="24852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плоская, но int — объект</a:t>
            </a:r>
          </a:p>
        </p:txBody>
      </p:sp>
      <p:sp>
        <p:nvSpPr>
          <p:cNvPr id="23" name="hf-623">
            <a:extLst xmlns:a="http://schemas.openxmlformats.org/drawingml/2006/main">
              <a:ext uri="{FF2B5EF4-FFF2-40B4-BE49-F238E27FC236}">
                <a16:creationId xmlns:a16="http://schemas.microsoft.com/office/drawing/2014/main" id="{17FA8F5E-0111-4FC1-B9F9-9294756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41100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4" name="hf-624">
            <a:extLst xmlns:a="http://schemas.openxmlformats.org/drawingml/2006/main">
              <a:ext uri="{FF2B5EF4-FFF2-40B4-BE49-F238E27FC236}">
                <a16:creationId xmlns:a16="http://schemas.microsoft.com/office/drawing/2014/main" id="{78CD6591-78E5-4D5E-89EA-3271B89B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0881"/>
            <a:ext cx="356667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C#</a:t>
            </a:r>
          </a:p>
        </p:txBody>
      </p:sp>
      <p:sp>
        <p:nvSpPr>
          <p:cNvPr id="25" name="hf-625">
            <a:extLst xmlns:a="http://schemas.openxmlformats.org/drawingml/2006/main">
              <a:ext uri="{FF2B5EF4-FFF2-40B4-BE49-F238E27FC236}">
                <a16:creationId xmlns:a16="http://schemas.microsoft.com/office/drawing/2014/main" id="{BC415506-AD7A-4EE8-9CFC-4A26D13A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5779"/>
            <a:ext cx="20588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цепочки в массивах</a:t>
            </a:r>
          </a:p>
        </p:txBody>
      </p:sp>
      <p:sp>
        <p:nvSpPr>
          <p:cNvPr id="26" name="hf-626">
            <a:extLst xmlns:a="http://schemas.openxmlformats.org/drawingml/2006/main">
              <a:ext uri="{FF2B5EF4-FFF2-40B4-BE49-F238E27FC236}">
                <a16:creationId xmlns:a16="http://schemas.microsoft.com/office/drawing/2014/main" id="{72A43287-D78E-4B9B-83A5-4310CF8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75379"/>
            <a:ext cx="534054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по исходникам стандартных библиотек — не замеры</a:t>
            </a:r>
          </a:p>
        </p:txBody>
      </p:sp>
      <p:pic>
        <p:nvPicPr>
          <p:cNvPr id="27" name="hf-627">
            <a:extLst xmlns:a="http://schemas.openxmlformats.org/drawingml/2006/main">
              <a:ext uri="{FF2B5EF4-FFF2-40B4-BE49-F238E27FC236}">
                <a16:creationId xmlns:a16="http://schemas.microsoft.com/office/drawing/2014/main" id="{7F71D7D4-E024-4855-ACFD-FC220DB4BD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2556a1d0a4a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628">
            <a:extLst xmlns:a="http://schemas.openxmlformats.org/drawingml/2006/main">
              <a:ext uri="{FF2B5EF4-FFF2-40B4-BE49-F238E27FC236}">
                <a16:creationId xmlns:a16="http://schemas.microsoft.com/office/drawing/2014/main" id="{17F0AB37-DE16-44E9-AA67-2835562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82336897"/>
      </p:ext>
    </p:extLst>
  </p:cSld>
</p:sld>
</file>

<file path=ppt/slides/slide33.xml><?xml version="1.0" encoding="utf-8"?>
<p:sld xmlns:p="http://schemas.openxmlformats.org/presentationml/2006/main" show="0">
  <p:cSld name="alloc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29">
            <a:extLst xmlns:a="http://schemas.openxmlformats.org/drawingml/2006/main">
              <a:ext uri="{FF2B5EF4-FFF2-40B4-BE49-F238E27FC236}">
                <a16:creationId xmlns:a16="http://schemas.microsoft.com/office/drawing/2014/main" id="{0EDA53EE-2221-4FDD-9022-652A16C4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97447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РАЗМЕР И ПАМЯТЬ</a:t>
            </a:r>
          </a:p>
        </p:txBody>
      </p:sp>
      <p:sp>
        <p:nvSpPr>
          <p:cNvPr id="3" name="hf-630">
            <a:extLst xmlns:a="http://schemas.openxmlformats.org/drawingml/2006/main">
              <a:ext uri="{FF2B5EF4-FFF2-40B4-BE49-F238E27FC236}">
                <a16:creationId xmlns:a16="http://schemas.microsoft.com/office/drawing/2014/main" id="{3585BE77-759D-45F6-9978-8800D2B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7088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МИЛЛИОН ЭЛЕМЕНТОВ — МИЛЛИОН</a:t>
            </a:r>
          </a:p>
        </p:txBody>
      </p:sp>
      <p:sp>
        <p:nvSpPr>
          <p:cNvPr id="4" name="hf-631">
            <a:extLst xmlns:a="http://schemas.openxmlformats.org/drawingml/2006/main">
              <a:ext uri="{FF2B5EF4-FFF2-40B4-BE49-F238E27FC236}">
                <a16:creationId xmlns:a16="http://schemas.microsoft.com/office/drawing/2014/main" id="{BA8A9549-A254-4C06-BDA3-98A0EC70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34932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ВЫЗОВОВ new</a:t>
            </a:r>
          </a:p>
        </p:txBody>
      </p:sp>
      <p:sp>
        <p:nvSpPr>
          <p:cNvPr id="5" name="hf-632">
            <a:extLst xmlns:a="http://schemas.openxmlformats.org/drawingml/2006/main">
              <a:ext uri="{FF2B5EF4-FFF2-40B4-BE49-F238E27FC236}">
                <a16:creationId xmlns:a16="http://schemas.microsoft.com/office/drawing/2014/main" id="{251DE9DD-9893-43B7-BBFF-D5AD4E13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0482"/>
            <a:ext cx="560717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Сколько вызовов new: 0, 1 000 или 1 000 000?</a:t>
            </a:r>
          </a:p>
        </p:txBody>
      </p:sp>
      <p:sp>
        <p:nvSpPr>
          <p:cNvPr id="6" name="hf-633">
            <a:extLst xmlns:a="http://schemas.openxmlformats.org/drawingml/2006/main">
              <a:ext uri="{FF2B5EF4-FFF2-40B4-BE49-F238E27FC236}">
                <a16:creationId xmlns:a16="http://schemas.microsoft.com/office/drawing/2014/main" id="{712D318E-7426-49BD-9BDC-4F5328EA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35931"/>
            <a:ext cx="148359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634">
            <a:extLst xmlns:a="http://schemas.openxmlformats.org/drawingml/2006/main">
              <a:ext uri="{FF2B5EF4-FFF2-40B4-BE49-F238E27FC236}">
                <a16:creationId xmlns:a16="http://schemas.microsoft.com/office/drawing/2014/main" id="{62EA682B-7980-4F8C-9EBE-8D0B485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0216"/>
            <a:ext cx="56502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8" name="hf-635">
            <a:extLst xmlns:a="http://schemas.openxmlformats.org/drawingml/2006/main">
              <a:ext uri="{FF2B5EF4-FFF2-40B4-BE49-F238E27FC236}">
                <a16:creationId xmlns:a16="http://schemas.microsoft.com/office/drawing/2014/main" id="{1272B48D-1949-4478-8F83-47877B2C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21187"/>
            <a:ext cx="1591345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работает на месте</a:t>
            </a:r>
          </a:p>
        </p:txBody>
      </p:sp>
      <p:sp>
        <p:nvSpPr>
          <p:cNvPr id="9" name="hf-636">
            <a:extLst xmlns:a="http://schemas.openxmlformats.org/drawingml/2006/main">
              <a:ext uri="{FF2B5EF4-FFF2-40B4-BE49-F238E27FC236}">
                <a16:creationId xmlns:a16="http://schemas.microsoft.com/office/drawing/2014/main" id="{B4954879-ED36-4DD1-AE59-30489A6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5931"/>
            <a:ext cx="163331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0" name="hf-637">
            <a:extLst xmlns:a="http://schemas.openxmlformats.org/drawingml/2006/main">
              <a:ext uri="{FF2B5EF4-FFF2-40B4-BE49-F238E27FC236}">
                <a16:creationId xmlns:a16="http://schemas.microsoft.com/office/drawing/2014/main" id="{35F5E2B4-810B-4C8D-A74C-F629892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0216"/>
            <a:ext cx="80136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≈1</a:t>
            </a:r>
          </a:p>
        </p:txBody>
      </p:sp>
      <p:sp>
        <p:nvSpPr>
          <p:cNvPr id="11" name="hf-638">
            <a:extLst xmlns:a="http://schemas.openxmlformats.org/drawingml/2006/main">
              <a:ext uri="{FF2B5EF4-FFF2-40B4-BE49-F238E27FC236}">
                <a16:creationId xmlns:a16="http://schemas.microsoft.com/office/drawing/2014/main" id="{5D53910D-2615-4063-94E4-39213B3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865" y="2407158"/>
            <a:ext cx="1009129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30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 млн</a:t>
            </a:r>
          </a:p>
        </p:txBody>
      </p:sp>
      <p:sp>
        <p:nvSpPr>
          <p:cNvPr id="12" name="hf-639">
            <a:extLst xmlns:a="http://schemas.openxmlformats.org/drawingml/2006/main">
              <a:ext uri="{FF2B5EF4-FFF2-40B4-BE49-F238E27FC236}">
                <a16:creationId xmlns:a16="http://schemas.microsoft.com/office/drawing/2014/main" id="{3825DAE2-C110-44C4-B571-02F771F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1187"/>
            <a:ext cx="1325017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≈42 МБ памяти</a:t>
            </a:r>
          </a:p>
        </p:txBody>
      </p:sp>
      <p:sp>
        <p:nvSpPr>
          <p:cNvPr id="13" name="hf-640">
            <a:extLst xmlns:a="http://schemas.openxmlformats.org/drawingml/2006/main">
              <a:ext uri="{FF2B5EF4-FFF2-40B4-BE49-F238E27FC236}">
                <a16:creationId xmlns:a16="http://schemas.microsoft.com/office/drawing/2014/main" id="{F1E49774-8058-4EA1-B954-83086EA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31629"/>
            <a:ext cx="157690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+ миллион delete</a:t>
            </a:r>
          </a:p>
        </p:txBody>
      </p:sp>
      <p:sp>
        <p:nvSpPr>
          <p:cNvPr id="14" name="hf-641">
            <a:extLst xmlns:a="http://schemas.openxmlformats.org/drawingml/2006/main">
              <a:ext uri="{FF2B5EF4-FFF2-40B4-BE49-F238E27FC236}">
                <a16:creationId xmlns:a16="http://schemas.microsoft.com/office/drawing/2014/main" id="{5F51193C-72D2-4458-A0FF-F2A71CE1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5931"/>
            <a:ext cx="147875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15" name="hf-642">
            <a:extLst xmlns:a="http://schemas.openxmlformats.org/drawingml/2006/main">
              <a:ext uri="{FF2B5EF4-FFF2-40B4-BE49-F238E27FC236}">
                <a16:creationId xmlns:a16="http://schemas.microsoft.com/office/drawing/2014/main" id="{27C01D53-37E3-4562-A438-C1490A3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0216"/>
            <a:ext cx="351234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16" name="hf-643">
            <a:extLst xmlns:a="http://schemas.openxmlformats.org/drawingml/2006/main">
              <a:ext uri="{FF2B5EF4-FFF2-40B4-BE49-F238E27FC236}">
                <a16:creationId xmlns:a16="http://schemas.microsoft.com/office/drawing/2014/main" id="{A8C23582-F824-4DEC-987D-43EA036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1187"/>
            <a:ext cx="1783854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одна таблица на всё</a:t>
            </a:r>
          </a:p>
        </p:txBody>
      </p:sp>
      <p:pic>
        <p:nvPicPr>
          <p:cNvPr id="17" name="hf-644">
            <a:extLst xmlns:a="http://schemas.openxmlformats.org/drawingml/2006/main">
              <a:ext uri="{FF2B5EF4-FFF2-40B4-BE49-F238E27FC236}">
                <a16:creationId xmlns:a16="http://schemas.microsoft.com/office/drawing/2014/main" id="{EB2F5B7D-6BA3-4DD5-8311-5F2E258E6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669f61b34d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645">
            <a:extLst xmlns:a="http://schemas.openxmlformats.org/drawingml/2006/main">
              <a:ext uri="{FF2B5EF4-FFF2-40B4-BE49-F238E27FC236}">
                <a16:creationId xmlns:a16="http://schemas.microsoft.com/office/drawing/2014/main" id="{C13514D5-7C6C-47C9-A97C-6764104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5799175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4.xml><?xml version="1.0" encoding="utf-8"?>
<p:sld xmlns:p="http://schemas.openxmlformats.org/presentationml/2006/main" show="0">
  <p:cSld name="decisio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46">
            <a:extLst xmlns:a="http://schemas.openxmlformats.org/drawingml/2006/main">
              <a:ext uri="{FF2B5EF4-FFF2-40B4-BE49-F238E27FC236}">
                <a16:creationId xmlns:a16="http://schemas.microsoft.com/office/drawing/2014/main" id="{E6F88E48-BF7B-4786-8D28-6A591CC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37135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ПОСЛЕ ЧЕТЫРЁХ РАУНДОВ</a:t>
            </a:r>
          </a:p>
        </p:txBody>
      </p:sp>
      <p:sp>
        <p:nvSpPr>
          <p:cNvPr id="3" name="hf-647">
            <a:extLst xmlns:a="http://schemas.openxmlformats.org/drawingml/2006/main">
              <a:ext uri="{FF2B5EF4-FFF2-40B4-BE49-F238E27FC236}">
                <a16:creationId xmlns:a16="http://schemas.microsoft.com/office/drawing/2014/main" id="{23515CBE-75A7-4B3E-93FC-1318437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304502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ПРАВИЛО ВЫБОРА</a:t>
            </a:r>
          </a:p>
        </p:txBody>
      </p:sp>
      <p:sp>
        <p:nvSpPr>
          <p:cNvPr id="4" name="hf-648">
            <a:extLst xmlns:a="http://schemas.openxmlformats.org/drawingml/2006/main">
              <a:ext uri="{FF2B5EF4-FFF2-40B4-BE49-F238E27FC236}">
                <a16:creationId xmlns:a16="http://schemas.microsoft.com/office/drawing/2014/main" id="{92DD1285-EEF9-4AE3-9198-273B8105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8322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5" name="hf-649">
            <a:extLst xmlns:a="http://schemas.openxmlformats.org/drawingml/2006/main">
              <a:ext uri="{FF2B5EF4-FFF2-40B4-BE49-F238E27FC236}">
                <a16:creationId xmlns:a16="http://schemas.microsoft.com/office/drawing/2014/main" id="{DFAEE5AF-C12D-466E-8EBF-A0C8F81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7817"/>
            <a:ext cx="548550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Мало уникальных или нужен порядок появления</a:t>
            </a:r>
          </a:p>
        </p:txBody>
      </p:sp>
      <p:sp>
        <p:nvSpPr>
          <p:cNvPr id="6" name="hf-650">
            <a:extLst xmlns:a="http://schemas.openxmlformats.org/drawingml/2006/main">
              <a:ext uri="{FF2B5EF4-FFF2-40B4-BE49-F238E27FC236}">
                <a16:creationId xmlns:a16="http://schemas.microsoft.com/office/drawing/2014/main" id="{8C92431B-D6E1-4853-8F76-4192739D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95942"/>
            <a:ext cx="334595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хеш-таблица, лучше плоская</a:t>
            </a:r>
          </a:p>
        </p:txBody>
      </p:sp>
      <p:sp>
        <p:nvSpPr>
          <p:cNvPr id="7" name="hf-651">
            <a:extLst xmlns:a="http://schemas.openxmlformats.org/drawingml/2006/main">
              <a:ext uri="{FF2B5EF4-FFF2-40B4-BE49-F238E27FC236}">
                <a16:creationId xmlns:a16="http://schemas.microsoft.com/office/drawing/2014/main" id="{FCF214A1-13A9-428D-9306-31316BB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35671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8" name="hf-652">
            <a:extLst xmlns:a="http://schemas.openxmlformats.org/drawingml/2006/main">
              <a:ext uri="{FF2B5EF4-FFF2-40B4-BE49-F238E27FC236}">
                <a16:creationId xmlns:a16="http://schemas.microsoft.com/office/drawing/2014/main" id="{80BE7456-3DDD-4BB2-98A9-CE94B92A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10267"/>
            <a:ext cx="35331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Часть входа уже отсортирована</a:t>
            </a:r>
          </a:p>
        </p:txBody>
      </p:sp>
      <p:sp>
        <p:nvSpPr>
          <p:cNvPr id="9" name="hf-653">
            <a:extLst xmlns:a="http://schemas.openxmlformats.org/drawingml/2006/main">
              <a:ext uri="{FF2B5EF4-FFF2-40B4-BE49-F238E27FC236}">
                <a16:creationId xmlns:a16="http://schemas.microsoft.com/office/drawing/2014/main" id="{98D3BD17-E28A-4EEE-A566-C930F6EC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8392"/>
            <a:ext cx="549041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отсортировать остальное, убрать повторы, слить</a:t>
            </a:r>
          </a:p>
        </p:txBody>
      </p:sp>
      <p:sp>
        <p:nvSpPr>
          <p:cNvPr id="10" name="hf-654">
            <a:extLst xmlns:a="http://schemas.openxmlformats.org/drawingml/2006/main">
              <a:ext uri="{FF2B5EF4-FFF2-40B4-BE49-F238E27FC236}">
                <a16:creationId xmlns:a16="http://schemas.microsoft.com/office/drawing/2014/main" id="{4F223EF6-C81A-4140-8192-6411A68D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881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1" name="hf-655">
            <a:extLst xmlns:a="http://schemas.openxmlformats.org/drawingml/2006/main">
              <a:ext uri="{FF2B5EF4-FFF2-40B4-BE49-F238E27FC236}">
                <a16:creationId xmlns:a16="http://schemas.microsoft.com/office/drawing/2014/main" id="{18D880F7-746D-48DE-9DEE-52B7704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2717"/>
            <a:ext cx="516597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Целые ключи, почти все разные, больше кэша</a:t>
            </a:r>
          </a:p>
        </p:txBody>
      </p:sp>
      <p:sp>
        <p:nvSpPr>
          <p:cNvPr id="12" name="hf-656">
            <a:extLst xmlns:a="http://schemas.openxmlformats.org/drawingml/2006/main">
              <a:ext uri="{FF2B5EF4-FFF2-40B4-BE49-F238E27FC236}">
                <a16:creationId xmlns:a16="http://schemas.microsoft.com/office/drawing/2014/main" id="{F7E656F4-DC6D-4791-896A-1BFD0318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0842"/>
            <a:ext cx="458502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radix или плоская; узловая — последней</a:t>
            </a:r>
          </a:p>
        </p:txBody>
      </p:sp>
      <p:sp>
        <p:nvSpPr>
          <p:cNvPr id="13" name="hf-657">
            <a:extLst xmlns:a="http://schemas.openxmlformats.org/drawingml/2006/main">
              <a:ext uri="{FF2B5EF4-FFF2-40B4-BE49-F238E27FC236}">
                <a16:creationId xmlns:a16="http://schemas.microsoft.com/office/drawing/2014/main" id="{F76214B6-E8D0-40F4-BFA3-F417BCE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40571"/>
            <a:ext cx="323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4" name="hf-658">
            <a:extLst xmlns:a="http://schemas.openxmlformats.org/drawingml/2006/main">
              <a:ext uri="{FF2B5EF4-FFF2-40B4-BE49-F238E27FC236}">
                <a16:creationId xmlns:a16="http://schemas.microsoft.com/office/drawing/2014/main" id="{6211D34E-44E2-4734-B028-1F9C398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5167"/>
            <a:ext cx="33542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Код живёт не там, где мерили</a:t>
            </a:r>
          </a:p>
        </p:txBody>
      </p:sp>
      <p:sp>
        <p:nvSpPr>
          <p:cNvPr id="15" name="hf-659">
            <a:extLst xmlns:a="http://schemas.openxmlformats.org/drawingml/2006/main">
              <a:ext uri="{FF2B5EF4-FFF2-40B4-BE49-F238E27FC236}">
                <a16:creationId xmlns:a16="http://schemas.microsoft.com/office/drawing/2014/main" id="{087235BC-23FC-417F-B293-D85FF8C6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3292"/>
            <a:ext cx="212921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цена шага другая</a:t>
            </a:r>
          </a:p>
        </p:txBody>
      </p:sp>
      <p:sp>
        <p:nvSpPr>
          <p:cNvPr id="16" name="hf-660">
            <a:extLst xmlns:a="http://schemas.openxmlformats.org/drawingml/2006/main">
              <a:ext uri="{FF2B5EF4-FFF2-40B4-BE49-F238E27FC236}">
                <a16:creationId xmlns:a16="http://schemas.microsoft.com/office/drawing/2014/main" id="{9A1E3B0F-D3E1-449A-9A24-DB4B85C8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93021"/>
            <a:ext cx="288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7" name="hf-661">
            <a:extLst xmlns:a="http://schemas.openxmlformats.org/drawingml/2006/main">
              <a:ext uri="{FF2B5EF4-FFF2-40B4-BE49-F238E27FC236}">
                <a16:creationId xmlns:a16="http://schemas.microsoft.com/office/drawing/2014/main" id="{C2A68A86-32DC-4A87-A50B-D9944C5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7617"/>
            <a:ext cx="160072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Сомневаетесь</a:t>
            </a:r>
          </a:p>
        </p:txBody>
      </p:sp>
      <p:sp>
        <p:nvSpPr>
          <p:cNvPr id="18" name="hf-662">
            <a:extLst xmlns:a="http://schemas.openxmlformats.org/drawingml/2006/main">
              <a:ext uri="{FF2B5EF4-FFF2-40B4-BE49-F238E27FC236}">
                <a16:creationId xmlns:a16="http://schemas.microsoft.com/office/drawing/2014/main" id="{3094B746-06BA-44E7-8B6D-9809F250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5742"/>
            <a:ext cx="114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75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→ меряйте</a:t>
            </a:r>
          </a:p>
        </p:txBody>
      </p:sp>
      <p:sp>
        <p:nvSpPr>
          <p:cNvPr id="19" name="hf-663">
            <a:extLst xmlns:a="http://schemas.openxmlformats.org/drawingml/2006/main">
              <a:ext uri="{FF2B5EF4-FFF2-40B4-BE49-F238E27FC236}">
                <a16:creationId xmlns:a16="http://schemas.microsoft.com/office/drawing/2014/main" id="{655F5025-FA6F-46BF-ADC9-F9CB697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54024"/>
            <a:ext cx="4574679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42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Big-O считает шаги, а не их цену</a:t>
            </a:r>
          </a:p>
        </p:txBody>
      </p:sp>
      <p:pic>
        <p:nvPicPr>
          <p:cNvPr id="20" name="hf-664">
            <a:extLst xmlns:a="http://schemas.openxmlformats.org/drawingml/2006/main">
              <a:ext uri="{FF2B5EF4-FFF2-40B4-BE49-F238E27FC236}">
                <a16:creationId xmlns:a16="http://schemas.microsoft.com/office/drawing/2014/main" id="{98D2327D-51DF-434D-A01B-A1BB62D8C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f00237d064b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665">
            <a:extLst xmlns:a="http://schemas.openxmlformats.org/drawingml/2006/main">
              <a:ext uri="{FF2B5EF4-FFF2-40B4-BE49-F238E27FC236}">
                <a16:creationId xmlns:a16="http://schemas.microsoft.com/office/drawing/2014/main" id="{21E2023F-9869-4095-B649-A64B5C2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01057433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p="http://schemas.openxmlformats.org/presentationml/2006/main" show="0">
  <p:cSld name="share-ful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666">
            <a:extLst xmlns:a="http://schemas.openxmlformats.org/drawingml/2006/main">
              <a:ext uri="{FF2B5EF4-FFF2-40B4-BE49-F238E27FC236}">
                <a16:creationId xmlns:a16="http://schemas.microsoft.com/office/drawing/2014/main" id="{34D75A09-BC23-43F3-86BA-6FDE626E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89225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РАУНД </a:t>
            </a:r>
            <a:r>
              <a:rPr sz="1099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 ИЗ 4 · ДАННЫЕ И ТИКЕТ</a:t>
            </a:r>
          </a:p>
        </p:txBody>
      </p:sp>
      <p:sp>
        <p:nvSpPr>
          <p:cNvPr id="3" name="hf-667">
            <a:extLst xmlns:a="http://schemas.openxmlformats.org/drawingml/2006/main">
              <a:ext uri="{FF2B5EF4-FFF2-40B4-BE49-F238E27FC236}">
                <a16:creationId xmlns:a16="http://schemas.microsoft.com/office/drawing/2014/main" id="{546C110A-3237-4063-8D31-77235D2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629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ПОБЕДИТЕЛЯ НАЗНАЧАЮТ ДАННЫЕ</a:t>
            </a:r>
          </a:p>
        </p:txBody>
      </p:sp>
      <p:sp>
        <p:nvSpPr>
          <p:cNvPr id="4" name="hf-668">
            <a:extLst xmlns:a="http://schemas.openxmlformats.org/drawingml/2006/main">
              <a:ext uri="{FF2B5EF4-FFF2-40B4-BE49-F238E27FC236}">
                <a16:creationId xmlns:a16="http://schemas.microsoft.com/office/drawing/2014/main" id="{FE6FC2AC-E276-4214-A264-AC5C7AB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34338"/>
            <a:ext cx="348503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элемент, лог. шкала · ниже — лучше</a:t>
            </a:r>
          </a:p>
        </p:txBody>
      </p:sp>
      <p:sp>
        <p:nvSpPr>
          <p:cNvPr id="5" name="hf-669">
            <a:extLst xmlns:a="http://schemas.openxmlformats.org/drawingml/2006/main">
              <a:ext uri="{FF2B5EF4-FFF2-40B4-BE49-F238E27FC236}">
                <a16:creationId xmlns:a16="http://schemas.microsoft.com/office/drawing/2014/main" id="{47380B00-AC32-49DB-90A8-6B2A8D76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105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6" name="hf-670">
            <a:extLst xmlns:a="http://schemas.openxmlformats.org/drawingml/2006/main">
              <a:ext uri="{FF2B5EF4-FFF2-40B4-BE49-F238E27FC236}">
                <a16:creationId xmlns:a16="http://schemas.microsoft.com/office/drawing/2014/main" id="{70DBA762-204C-41D8-9B03-2BDEE2EE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0648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7" name="hf-671">
            <a:extLst xmlns:a="http://schemas.openxmlformats.org/drawingml/2006/main">
              <a:ext uri="{FF2B5EF4-FFF2-40B4-BE49-F238E27FC236}">
                <a16:creationId xmlns:a16="http://schemas.microsoft.com/office/drawing/2014/main" id="{D9B6E71D-7A71-446B-86D0-8CFD5D2D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1840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930">
            <a:solidFill>
              <a:srgbClr val="333333"/>
            </a:solidFill>
          </a:ln>
        </p:spPr>
      </p:sp>
      <p:sp>
        <p:nvSpPr>
          <p:cNvPr id="8" name="hf-672">
            <a:extLst xmlns:a="http://schemas.openxmlformats.org/drawingml/2006/main">
              <a:ext uri="{FF2B5EF4-FFF2-40B4-BE49-F238E27FC236}">
                <a16:creationId xmlns:a16="http://schemas.microsoft.com/office/drawing/2014/main" id="{DCA2BBD1-FC6F-4C3B-8E49-4447A6F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2914"/>
            <a:ext cx="5625703" cy="953"/>
          </a:xfrm>
          <a:custGeom xmlns:a="http://schemas.openxmlformats.org/drawingml/2006/main">
            <a:pathLst>
              <a:path w="5625703" h="476">
                <a:moveTo>
                  <a:pt x="0" y="0"/>
                </a:moveTo>
                <a:lnTo>
                  <a:pt x="5625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8F8F8F"/>
            </a:solidFill>
          </a:ln>
        </p:spPr>
      </p:sp>
      <p:sp>
        <p:nvSpPr>
          <p:cNvPr id="9" name="hf-673">
            <a:extLst xmlns:a="http://schemas.openxmlformats.org/drawingml/2006/main">
              <a:ext uri="{FF2B5EF4-FFF2-40B4-BE49-F238E27FC236}">
                <a16:creationId xmlns:a16="http://schemas.microsoft.com/office/drawing/2014/main" id="{ECBE3850-EA6A-47B1-919B-9678D97F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07" y="3210763"/>
            <a:ext cx="1151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10" name="hf-674">
            <a:extLst xmlns:a="http://schemas.openxmlformats.org/drawingml/2006/main">
              <a:ext uri="{FF2B5EF4-FFF2-40B4-BE49-F238E27FC236}">
                <a16:creationId xmlns:a16="http://schemas.microsoft.com/office/drawing/2014/main" id="{A586310F-8672-41FD-8AC4-7C97D34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8" y="2739276"/>
            <a:ext cx="14585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hf-675">
            <a:extLst xmlns:a="http://schemas.openxmlformats.org/drawingml/2006/main">
              <a:ext uri="{FF2B5EF4-FFF2-40B4-BE49-F238E27FC236}">
                <a16:creationId xmlns:a16="http://schemas.microsoft.com/office/drawing/2014/main" id="{910F08A0-6826-43BF-8366-1D77C49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64" y="2224926"/>
            <a:ext cx="21773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12" name="hf-676">
            <a:extLst xmlns:a="http://schemas.openxmlformats.org/drawingml/2006/main">
              <a:ext uri="{FF2B5EF4-FFF2-40B4-BE49-F238E27FC236}">
                <a16:creationId xmlns:a16="http://schemas.microsoft.com/office/drawing/2014/main" id="{78A6E8E9-E5F0-4467-942E-A346C62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06" y="1758201"/>
            <a:ext cx="24839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30</a:t>
            </a:r>
          </a:p>
        </p:txBody>
      </p:sp>
      <p:sp>
        <p:nvSpPr>
          <p:cNvPr id="13" name="hf-677">
            <a:extLst xmlns:a="http://schemas.openxmlformats.org/drawingml/2006/main">
              <a:ext uri="{FF2B5EF4-FFF2-40B4-BE49-F238E27FC236}">
                <a16:creationId xmlns:a16="http://schemas.microsoft.com/office/drawing/2014/main" id="{6FF4ACED-7B67-4C39-B47C-236954F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52" y="3401263"/>
            <a:ext cx="89907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все равны</a:t>
            </a:r>
          </a:p>
        </p:txBody>
      </p:sp>
      <p:sp>
        <p:nvSpPr>
          <p:cNvPr id="14" name="hf-678">
            <a:extLst xmlns:a="http://schemas.openxmlformats.org/drawingml/2006/main">
              <a:ext uri="{FF2B5EF4-FFF2-40B4-BE49-F238E27FC236}">
                <a16:creationId xmlns:a16="http://schemas.microsoft.com/office/drawing/2014/main" id="{73DD8516-A359-495F-8EDC-6FC0565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132" y="3401263"/>
            <a:ext cx="24616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1%</a:t>
            </a:r>
          </a:p>
        </p:txBody>
      </p:sp>
      <p:sp>
        <p:nvSpPr>
          <p:cNvPr id="15" name="hf-679">
            <a:extLst xmlns:a="http://schemas.openxmlformats.org/drawingml/2006/main">
              <a:ext uri="{FF2B5EF4-FFF2-40B4-BE49-F238E27FC236}">
                <a16:creationId xmlns:a16="http://schemas.microsoft.com/office/drawing/2014/main" id="{59D4A483-C12A-4376-981F-9F19D55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123" y="3401263"/>
            <a:ext cx="34870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10%</a:t>
            </a:r>
          </a:p>
        </p:txBody>
      </p:sp>
      <p:sp>
        <p:nvSpPr>
          <p:cNvPr id="16" name="hf-680">
            <a:extLst xmlns:a="http://schemas.openxmlformats.org/drawingml/2006/main">
              <a:ext uri="{FF2B5EF4-FFF2-40B4-BE49-F238E27FC236}">
                <a16:creationId xmlns:a16="http://schemas.microsoft.com/office/drawing/2014/main" id="{D4910326-7575-4663-AF11-C9F5F65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833" y="3401263"/>
            <a:ext cx="3797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50%</a:t>
            </a:r>
          </a:p>
        </p:txBody>
      </p:sp>
      <p:sp>
        <p:nvSpPr>
          <p:cNvPr id="17" name="hf-681">
            <a:extLst xmlns:a="http://schemas.openxmlformats.org/drawingml/2006/main">
              <a:ext uri="{FF2B5EF4-FFF2-40B4-BE49-F238E27FC236}">
                <a16:creationId xmlns:a16="http://schemas.microsoft.com/office/drawing/2014/main" id="{A7D5DD5E-ABBF-4DCE-81B9-043A45C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377" y="3401263"/>
            <a:ext cx="45124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100%</a:t>
            </a:r>
          </a:p>
        </p:txBody>
      </p:sp>
      <p:sp>
        <p:nvSpPr>
          <p:cNvPr id="18" name="hf-682">
            <a:extLst xmlns:a="http://schemas.openxmlformats.org/drawingml/2006/main">
              <a:ext uri="{FF2B5EF4-FFF2-40B4-BE49-F238E27FC236}">
                <a16:creationId xmlns:a16="http://schemas.microsoft.com/office/drawing/2014/main" id="{31FE2720-770B-4706-90C6-507C427B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1263"/>
            <a:ext cx="1486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доля уникальных</a:t>
            </a:r>
          </a:p>
        </p:txBody>
      </p:sp>
      <p:sp>
        <p:nvSpPr>
          <p:cNvPr id="19" name="hf-683">
            <a:extLst xmlns:a="http://schemas.openxmlformats.org/drawingml/2006/main">
              <a:ext uri="{FF2B5EF4-FFF2-40B4-BE49-F238E27FC236}">
                <a16:creationId xmlns:a16="http://schemas.microsoft.com/office/drawing/2014/main" id="{48C6543E-6F31-49A7-AB62-F6BA3969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027932"/>
            <a:ext cx="5357813" cy="1207294"/>
          </a:xfrm>
          <a:custGeom xmlns:a="http://schemas.openxmlformats.org/drawingml/2006/main">
            <a:pathLst>
              <a:path w="5357813" h="1207294">
                <a:moveTo>
                  <a:pt x="0" y="1207294"/>
                </a:moveTo>
                <a:lnTo>
                  <a:pt x="1339453" y="225028"/>
                </a:lnTo>
                <a:lnTo>
                  <a:pt x="2678906" y="57150"/>
                </a:lnTo>
                <a:lnTo>
                  <a:pt x="4018359" y="0"/>
                </a:lnTo>
                <a:lnTo>
                  <a:pt x="5357813" y="12055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46CDAE"/>
            </a:solidFill>
          </a:ln>
        </p:spPr>
      </p:sp>
      <p:sp>
        <p:nvSpPr>
          <p:cNvPr id="20" name="hf-684">
            <a:extLst xmlns:a="http://schemas.openxmlformats.org/drawingml/2006/main">
              <a:ext uri="{FF2B5EF4-FFF2-40B4-BE49-F238E27FC236}">
                <a16:creationId xmlns:a16="http://schemas.microsoft.com/office/drawing/2014/main" id="{440212EE-1185-444D-A354-9654761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1630561"/>
            <a:ext cx="5357813" cy="1387673"/>
          </a:xfrm>
          <a:custGeom xmlns:a="http://schemas.openxmlformats.org/drawingml/2006/main">
            <a:pathLst>
              <a:path w="5357813" h="1387673">
                <a:moveTo>
                  <a:pt x="0" y="1387673"/>
                </a:moveTo>
                <a:lnTo>
                  <a:pt x="1339453" y="1183184"/>
                </a:lnTo>
                <a:lnTo>
                  <a:pt x="2678906" y="884039"/>
                </a:lnTo>
                <a:lnTo>
                  <a:pt x="4018359" y="343793"/>
                </a:lnTo>
                <a:lnTo>
                  <a:pt x="5357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E2489B"/>
            </a:solidFill>
          </a:ln>
        </p:spPr>
      </p:sp>
      <p:sp>
        <p:nvSpPr>
          <p:cNvPr id="21" name="hf-685">
            <a:extLst xmlns:a="http://schemas.openxmlformats.org/drawingml/2006/main">
              <a:ext uri="{FF2B5EF4-FFF2-40B4-BE49-F238E27FC236}">
                <a16:creationId xmlns:a16="http://schemas.microsoft.com/office/drawing/2014/main" id="{64188045-4847-4AE3-AC3D-07ED554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447" y="2303859"/>
            <a:ext cx="953" cy="455414"/>
          </a:xfrm>
          <a:custGeom xmlns:a="http://schemas.openxmlformats.org/drawingml/2006/main">
            <a:pathLst>
              <a:path w="476" h="455414">
                <a:moveTo>
                  <a:pt x="0" y="0"/>
                </a:moveTo>
                <a:lnTo>
                  <a:pt x="0" y="455414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FFFFFF"/>
            </a:solidFill>
            <a:custDash>
              <a:ds d="213333" sp="213333"/>
            </a:custDash>
          </a:ln>
        </p:spPr>
      </p:sp>
      <p:sp>
        <p:nvSpPr>
          <p:cNvPr id="22" name="hf-686">
            <a:extLst xmlns:a="http://schemas.openxmlformats.org/drawingml/2006/main">
              <a:ext uri="{FF2B5EF4-FFF2-40B4-BE49-F238E27FC236}">
                <a16:creationId xmlns:a16="http://schemas.microsoft.com/office/drawing/2014/main" id="{3FD8955B-EAC9-46E8-BEF8-8C468CA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34" y="2203847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3" name="hf-687">
            <a:extLst xmlns:a="http://schemas.openxmlformats.org/drawingml/2006/main">
              <a:ext uri="{FF2B5EF4-FFF2-40B4-BE49-F238E27FC236}">
                <a16:creationId xmlns:a16="http://schemas.microsoft.com/office/drawing/2014/main" id="{95100322-415F-4F00-AC79-ECFB922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34" y="2764631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4" name="hf-688">
            <a:extLst xmlns:a="http://schemas.openxmlformats.org/drawingml/2006/main">
              <a:ext uri="{FF2B5EF4-FFF2-40B4-BE49-F238E27FC236}">
                <a16:creationId xmlns:a16="http://schemas.microsoft.com/office/drawing/2014/main" id="{F5221039-3602-4E92-BD62-C15BEDB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8515"/>
            <a:ext cx="134674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25" name="hf-689">
            <a:extLst xmlns:a="http://schemas.openxmlformats.org/drawingml/2006/main">
              <a:ext uri="{FF2B5EF4-FFF2-40B4-BE49-F238E27FC236}">
                <a16:creationId xmlns:a16="http://schemas.microsoft.com/office/drawing/2014/main" id="{47F4BD2E-994B-48A7-9AC6-B6E5FA3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99990"/>
            <a:ext cx="12242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6" name="hf-690">
            <a:extLst xmlns:a="http://schemas.openxmlformats.org/drawingml/2006/main">
              <a:ext uri="{FF2B5EF4-FFF2-40B4-BE49-F238E27FC236}">
                <a16:creationId xmlns:a16="http://schemas.microsoft.com/office/drawing/2014/main" id="{72ED0AED-8C85-4854-A2B9-6E661361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37147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27" name="hf-691">
            <a:extLst xmlns:a="http://schemas.openxmlformats.org/drawingml/2006/main">
              <a:ext uri="{FF2B5EF4-FFF2-40B4-BE49-F238E27FC236}">
                <a16:creationId xmlns:a16="http://schemas.microsoft.com/office/drawing/2014/main" id="{5219471D-B166-4823-AFB9-62ED1035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1" y="3659943"/>
            <a:ext cx="10065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×3,7</a:t>
            </a:r>
          </a:p>
        </p:txBody>
      </p:sp>
      <p:sp>
        <p:nvSpPr>
          <p:cNvPr id="28" name="hf-692">
            <a:extLst xmlns:a="http://schemas.openxmlformats.org/drawingml/2006/main">
              <a:ext uri="{FF2B5EF4-FFF2-40B4-BE49-F238E27FC236}">
                <a16:creationId xmlns:a16="http://schemas.microsoft.com/office/drawing/2014/main" id="{13C36251-4057-479B-B7FC-A0A1CA6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40" y="1978819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29" name="hf-693">
            <a:extLst xmlns:a="http://schemas.openxmlformats.org/drawingml/2006/main">
              <a:ext uri="{FF2B5EF4-FFF2-40B4-BE49-F238E27FC236}">
                <a16:creationId xmlns:a16="http://schemas.microsoft.com/office/drawing/2014/main" id="{0A85A963-ECE7-4B4C-B440-554B7D6D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40" y="1925241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0" name="hf-694">
            <a:extLst xmlns:a="http://schemas.openxmlformats.org/drawingml/2006/main">
              <a:ext uri="{FF2B5EF4-FFF2-40B4-BE49-F238E27FC236}">
                <a16:creationId xmlns:a16="http://schemas.microsoft.com/office/drawing/2014/main" id="{08BB2F6F-5C35-4E76-A314-7C3DF17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806" y="1687711"/>
            <a:ext cx="953" cy="294680"/>
          </a:xfrm>
          <a:custGeom xmlns:a="http://schemas.openxmlformats.org/drawingml/2006/main">
            <a:pathLst>
              <a:path w="476" h="294680">
                <a:moveTo>
                  <a:pt x="0" y="0"/>
                </a:moveTo>
                <a:lnTo>
                  <a:pt x="0" y="294680"/>
                </a:lnTo>
              </a:path>
            </a:pathLst>
          </a:custGeom>
          <a:noFill xmlns:a="http://schemas.openxmlformats.org/drawingml/2006/main"/>
          <a:ln xmlns:a="http://schemas.openxmlformats.org/drawingml/2006/main" w="13395">
            <a:solidFill>
              <a:srgbClr val="FFFFFF"/>
            </a:solidFill>
            <a:custDash>
              <a:ds d="213333" sp="213333"/>
            </a:custDash>
          </a:ln>
        </p:spPr>
      </p:sp>
      <p:sp>
        <p:nvSpPr>
          <p:cNvPr id="31" name="hf-695">
            <a:extLst xmlns:a="http://schemas.openxmlformats.org/drawingml/2006/main">
              <a:ext uri="{FF2B5EF4-FFF2-40B4-BE49-F238E27FC236}">
                <a16:creationId xmlns:a16="http://schemas.microsoft.com/office/drawing/2014/main" id="{1D7513B7-F810-4B5A-82C9-B03E097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93" y="1990874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2" name="hf-696">
            <a:extLst xmlns:a="http://schemas.openxmlformats.org/drawingml/2006/main">
              <a:ext uri="{FF2B5EF4-FFF2-40B4-BE49-F238E27FC236}">
                <a16:creationId xmlns:a16="http://schemas.microsoft.com/office/drawing/2014/main" id="{2FE283E3-0858-4A11-8DAF-17AA4930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93" y="1581448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3395">
            <a:solidFill>
              <a:srgbClr val="000000"/>
            </a:solidFill>
          </a:ln>
        </p:spPr>
      </p:sp>
      <p:sp>
        <p:nvSpPr>
          <p:cNvPr id="33" name="hf-697">
            <a:extLst xmlns:a="http://schemas.openxmlformats.org/drawingml/2006/main">
              <a:ext uri="{FF2B5EF4-FFF2-40B4-BE49-F238E27FC236}">
                <a16:creationId xmlns:a16="http://schemas.microsoft.com/office/drawing/2014/main" id="{5908B93E-33F0-41EA-B735-F7EE222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858" y="3671640"/>
            <a:ext cx="121175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почти ничья</a:t>
            </a:r>
          </a:p>
        </p:txBody>
      </p:sp>
      <p:sp>
        <p:nvSpPr>
          <p:cNvPr id="34" name="hf-698">
            <a:extLst xmlns:a="http://schemas.openxmlformats.org/drawingml/2006/main">
              <a:ext uri="{FF2B5EF4-FFF2-40B4-BE49-F238E27FC236}">
                <a16:creationId xmlns:a16="http://schemas.microsoft.com/office/drawing/2014/main" id="{BB35BF0C-8E1B-423E-BF6A-4029B908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905" y="3881190"/>
            <a:ext cx="12235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20 против 23</a:t>
            </a:r>
          </a:p>
        </p:txBody>
      </p:sp>
      <p:sp>
        <p:nvSpPr>
          <p:cNvPr id="35" name="hf-699">
            <a:extLst xmlns:a="http://schemas.openxmlformats.org/drawingml/2006/main">
              <a:ext uri="{FF2B5EF4-FFF2-40B4-BE49-F238E27FC236}">
                <a16:creationId xmlns:a16="http://schemas.microsoft.com/office/drawing/2014/main" id="{2A0990C0-F5BA-404F-848D-CEDD930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36" name="hf-700">
            <a:extLst xmlns:a="http://schemas.openxmlformats.org/drawingml/2006/main">
              <a:ext uri="{FF2B5EF4-FFF2-40B4-BE49-F238E27FC236}">
                <a16:creationId xmlns:a16="http://schemas.microsoft.com/office/drawing/2014/main" id="{2C75F3FB-75D5-4FD0-9E12-186581A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560" y="3659943"/>
            <a:ext cx="98680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sort ×2,6</a:t>
            </a:r>
          </a:p>
        </p:txBody>
      </p:sp>
      <p:sp>
        <p:nvSpPr>
          <p:cNvPr id="37" name="hf-701">
            <a:extLst xmlns:a="http://schemas.openxmlformats.org/drawingml/2006/main">
              <a:ext uri="{FF2B5EF4-FFF2-40B4-BE49-F238E27FC236}">
                <a16:creationId xmlns:a16="http://schemas.microsoft.com/office/drawing/2014/main" id="{62C91F3D-DB7E-4BF0-8F0C-76F0DA3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150715"/>
            <a:ext cx="5357813" cy="773311"/>
          </a:xfrm>
          <a:custGeom xmlns:a="http://schemas.openxmlformats.org/drawingml/2006/main">
            <a:pathLst>
              <a:path w="5357813" h="773311">
                <a:moveTo>
                  <a:pt x="0" y="773311"/>
                </a:moveTo>
                <a:lnTo>
                  <a:pt x="1339453" y="0"/>
                </a:lnTo>
                <a:lnTo>
                  <a:pt x="2678906" y="36612"/>
                </a:lnTo>
                <a:lnTo>
                  <a:pt x="4018359" y="175915"/>
                </a:lnTo>
                <a:lnTo>
                  <a:pt x="5357813" y="339775"/>
                </a:lnTo>
              </a:path>
            </a:pathLst>
          </a:custGeom>
          <a:noFill xmlns:a="http://schemas.openxmlformats.org/drawingml/2006/main"/>
          <a:ln xmlns:a="http://schemas.openxmlformats.org/drawingml/2006/main" w="17859">
            <a:solidFill>
              <a:srgbClr val="9B87F5"/>
            </a:solidFill>
          </a:ln>
        </p:spPr>
      </p:sp>
      <p:sp>
        <p:nvSpPr>
          <p:cNvPr id="38" name="hf-702">
            <a:extLst xmlns:a="http://schemas.openxmlformats.org/drawingml/2006/main">
              <a:ext uri="{FF2B5EF4-FFF2-40B4-BE49-F238E27FC236}">
                <a16:creationId xmlns:a16="http://schemas.microsoft.com/office/drawing/2014/main" id="{E8B5D8CB-0DC8-4924-B81B-F69B39A6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4" y="2260997"/>
            <a:ext cx="5357813" cy="601861"/>
          </a:xfrm>
          <a:custGeom xmlns:a="http://schemas.openxmlformats.org/drawingml/2006/main">
            <a:pathLst>
              <a:path w="5357813" h="601861">
                <a:moveTo>
                  <a:pt x="0" y="601861"/>
                </a:moveTo>
                <a:lnTo>
                  <a:pt x="1339453" y="507653"/>
                </a:lnTo>
                <a:lnTo>
                  <a:pt x="2678906" y="319236"/>
                </a:lnTo>
                <a:lnTo>
                  <a:pt x="4018359" y="0"/>
                </a:lnTo>
                <a:lnTo>
                  <a:pt x="5357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9">
            <a:solidFill>
              <a:srgbClr val="FFFFFF"/>
            </a:solidFill>
          </a:ln>
        </p:spPr>
      </p:sp>
      <p:sp>
        <p:nvSpPr>
          <p:cNvPr id="39" name="hf-703">
            <a:extLst xmlns:a="http://schemas.openxmlformats.org/drawingml/2006/main">
              <a:ext uri="{FF2B5EF4-FFF2-40B4-BE49-F238E27FC236}">
                <a16:creationId xmlns:a16="http://schemas.microsoft.com/office/drawing/2014/main" id="{4F83867C-53D5-468E-894F-A81CC5A3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7640"/>
            <a:ext cx="12203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flat_hash_set</a:t>
            </a:r>
          </a:p>
        </p:txBody>
      </p:sp>
      <p:sp>
        <p:nvSpPr>
          <p:cNvPr id="40" name="hf-704">
            <a:extLst xmlns:a="http://schemas.openxmlformats.org/drawingml/2006/main">
              <a:ext uri="{FF2B5EF4-FFF2-40B4-BE49-F238E27FC236}">
                <a16:creationId xmlns:a16="http://schemas.microsoft.com/office/drawing/2014/main" id="{A971A421-6D99-4685-BE4F-6C227B87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5290"/>
            <a:ext cx="13124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0" i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</a:rPr>
              <a:t>radix + unique</a:t>
            </a:r>
          </a:p>
        </p:txBody>
      </p:sp>
      <p:pic>
        <p:nvPicPr>
          <p:cNvPr id="41" name="hf-705">
            <a:extLst xmlns:a="http://schemas.openxmlformats.org/drawingml/2006/main">
              <a:ext uri="{FF2B5EF4-FFF2-40B4-BE49-F238E27FC236}">
                <a16:creationId xmlns:a16="http://schemas.microsoft.com/office/drawing/2014/main" id="{4A1DC05E-CB19-493B-923C-27847BE1E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65fdced574fa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2" name="hf-706">
            <a:extLst xmlns:a="http://schemas.openxmlformats.org/drawingml/2006/main">
              <a:ext uri="{FF2B5EF4-FFF2-40B4-BE49-F238E27FC236}">
                <a16:creationId xmlns:a16="http://schemas.microsoft.com/office/drawing/2014/main" id="{C4D9B547-0C9C-4C67-9CAC-C4D98FA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136527844"/>
      </p:ext>
    </p:extLst>
  </p:cSld>
  <p:timing xmlns:a="http://schemas.openxmlformats.org/drawingml/2006/main" xmlns:r="http://schemas.openxmlformats.org/officeDocument/2006/relationships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33" grpId="0" animBg="1"/>
      <p:bldP spid="34" grpId="0" animBg="1"/>
      <p:bldP spid="36" grpId="0" animBg="1"/>
      <p:bldP spid="39" grpId="0" animBg="1"/>
      <p:bldP spid="40" grpId="0" animBg="1"/>
    </p:bldLst>
  </p:timing>
</p:sld>
</file>

<file path=ppt/slides/slide36.xml><?xml version="1.0" encoding="utf-8"?>
<p:sld xmlns:p="http://schemas.openxmlformats.org/presentationml/2006/main" show="0">
  <p:cSld name="nb-wher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07">
            <a:extLst xmlns:a="http://schemas.openxmlformats.org/drawingml/2006/main">
              <a:ext uri="{FF2B5EF4-FFF2-40B4-BE49-F238E27FC236}">
                <a16:creationId xmlns:a16="http://schemas.microsoft.com/office/drawing/2014/main" id="{0643BEF3-A38C-4ED6-B297-AB5244EB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708">
            <a:extLst xmlns:a="http://schemas.openxmlformats.org/drawingml/2006/main">
              <a:ext uri="{FF2B5EF4-FFF2-40B4-BE49-F238E27FC236}">
                <a16:creationId xmlns:a16="http://schemas.microsoft.com/office/drawing/2014/main" id="{3F42642A-5E75-4E53-96DF-432A2B6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63371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ПАСПОРТ УСЛОВИЙ НУЖЕН ДЛЯ КАЖДОЙ</a:t>
            </a:r>
          </a:p>
        </p:txBody>
      </p:sp>
      <p:sp>
        <p:nvSpPr>
          <p:cNvPr id="4" name="hf-709">
            <a:extLst xmlns:a="http://schemas.openxmlformats.org/drawingml/2006/main">
              <a:ext uri="{FF2B5EF4-FFF2-40B4-BE49-F238E27FC236}">
                <a16:creationId xmlns:a16="http://schemas.microsoft.com/office/drawing/2014/main" id="{EBD93EB6-B5EE-4888-83AE-79A2195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10988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СЕРИИ</a:t>
            </a:r>
          </a:p>
        </p:txBody>
      </p:sp>
      <p:sp>
        <p:nvSpPr>
          <p:cNvPr id="5" name="hf-710">
            <a:extLst xmlns:a="http://schemas.openxmlformats.org/drawingml/2006/main">
              <a:ext uri="{FF2B5EF4-FFF2-40B4-BE49-F238E27FC236}">
                <a16:creationId xmlns:a16="http://schemas.microsoft.com/office/drawing/2014/main" id="{B35A6DD6-2700-4ACE-97E3-8DB45828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07824"/>
            <a:ext cx="1464022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6" name="hf-711">
            <a:extLst xmlns:a="http://schemas.openxmlformats.org/drawingml/2006/main">
              <a:ext uri="{FF2B5EF4-FFF2-40B4-BE49-F238E27FC236}">
                <a16:creationId xmlns:a16="http://schemas.microsoft.com/office/drawing/2014/main" id="{E17D7AF5-5800-4969-863F-D848AA8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81458"/>
            <a:ext cx="90576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7" name="hf-712">
            <a:extLst xmlns:a="http://schemas.openxmlformats.org/drawingml/2006/main">
              <a:ext uri="{FF2B5EF4-FFF2-40B4-BE49-F238E27FC236}">
                <a16:creationId xmlns:a16="http://schemas.microsoft.com/office/drawing/2014/main" id="{78D1CCE6-24AA-4F48-8BE0-72179A52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07281"/>
            <a:ext cx="506462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</a:t>
            </a:r>
          </a:p>
        </p:txBody>
      </p:sp>
      <p:sp>
        <p:nvSpPr>
          <p:cNvPr id="8" name="hf-713">
            <a:extLst xmlns:a="http://schemas.openxmlformats.org/drawingml/2006/main">
              <a:ext uri="{FF2B5EF4-FFF2-40B4-BE49-F238E27FC236}">
                <a16:creationId xmlns:a16="http://schemas.microsoft.com/office/drawing/2014/main" id="{5CE63A73-0797-4F5A-A483-0D728877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81458"/>
            <a:ext cx="636687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M2 Pro</a:t>
            </a:r>
          </a:p>
        </p:txBody>
      </p:sp>
      <p:sp>
        <p:nvSpPr>
          <p:cNvPr id="9" name="hf-714">
            <a:extLst xmlns:a="http://schemas.openxmlformats.org/drawingml/2006/main">
              <a:ext uri="{FF2B5EF4-FFF2-40B4-BE49-F238E27FC236}">
                <a16:creationId xmlns:a16="http://schemas.microsoft.com/office/drawing/2014/main" id="{5ABCF3E4-BB27-40EA-9133-68E0538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7281"/>
            <a:ext cx="1095226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Linux x86</a:t>
            </a:r>
          </a:p>
        </p:txBody>
      </p:sp>
      <p:sp>
        <p:nvSpPr>
          <p:cNvPr id="10" name="hf-715">
            <a:extLst xmlns:a="http://schemas.openxmlformats.org/drawingml/2006/main">
              <a:ext uri="{FF2B5EF4-FFF2-40B4-BE49-F238E27FC236}">
                <a16:creationId xmlns:a16="http://schemas.microsoft.com/office/drawing/2014/main" id="{8F6E806E-D6A8-420E-89BB-C90354F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1458"/>
            <a:ext cx="88604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Xeon · VM</a:t>
            </a:r>
          </a:p>
        </p:txBody>
      </p:sp>
      <p:sp>
        <p:nvSpPr>
          <p:cNvPr id="11" name="hf-716">
            <a:extLst xmlns:a="http://schemas.openxmlformats.org/drawingml/2006/main">
              <a:ext uri="{FF2B5EF4-FFF2-40B4-BE49-F238E27FC236}">
                <a16:creationId xmlns:a16="http://schemas.microsoft.com/office/drawing/2014/main" id="{0DFC874C-503E-4B97-8A51-B6B5B0B1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478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2" name="hf-717">
            <a:extLst xmlns:a="http://schemas.openxmlformats.org/drawingml/2006/main">
              <a:ext uri="{FF2B5EF4-FFF2-40B4-BE49-F238E27FC236}">
                <a16:creationId xmlns:a16="http://schemas.microsoft.com/office/drawing/2014/main" id="{CCC6954F-025D-4FBD-88C1-01719DF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56092"/>
            <a:ext cx="44097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Код</a:t>
            </a:r>
          </a:p>
        </p:txBody>
      </p:sp>
      <p:sp>
        <p:nvSpPr>
          <p:cNvPr id="13" name="hf-718">
            <a:extLst xmlns:a="http://schemas.openxmlformats.org/drawingml/2006/main">
              <a:ext uri="{FF2B5EF4-FFF2-40B4-BE49-F238E27FC236}">
                <a16:creationId xmlns:a16="http://schemas.microsoft.com/office/drawing/2014/main" id="{E4637079-296C-403F-ACB0-D488E23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52348"/>
            <a:ext cx="106285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C++ · libc++</a:t>
            </a:r>
          </a:p>
        </p:txBody>
      </p:sp>
      <p:sp>
        <p:nvSpPr>
          <p:cNvPr id="14" name="hf-719">
            <a:extLst xmlns:a="http://schemas.openxmlformats.org/drawingml/2006/main">
              <a:ext uri="{FF2B5EF4-FFF2-40B4-BE49-F238E27FC236}">
                <a16:creationId xmlns:a16="http://schemas.microsoft.com/office/drawing/2014/main" id="{D270A9BB-C2BE-47C4-AB35-A388163A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52348"/>
            <a:ext cx="1062856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C++ · libc++</a:t>
            </a:r>
          </a:p>
        </p:txBody>
      </p:sp>
      <p:sp>
        <p:nvSpPr>
          <p:cNvPr id="15" name="hf-720">
            <a:extLst xmlns:a="http://schemas.openxmlformats.org/drawingml/2006/main">
              <a:ext uri="{FF2B5EF4-FFF2-40B4-BE49-F238E27FC236}">
                <a16:creationId xmlns:a16="http://schemas.microsoft.com/office/drawing/2014/main" id="{3DB8A016-B8DB-454A-AC35-1BF561F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3367"/>
            <a:ext cx="1472729" cy="24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55"/>
              </a:lnSpc>
              <a:buNone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libstdc++ / libc++</a:t>
            </a:r>
          </a:p>
        </p:txBody>
      </p:sp>
      <p:sp>
        <p:nvSpPr>
          <p:cNvPr id="16" name="hf-721">
            <a:extLst xmlns:a="http://schemas.openxmlformats.org/drawingml/2006/main">
              <a:ext uri="{FF2B5EF4-FFF2-40B4-BE49-F238E27FC236}">
                <a16:creationId xmlns:a16="http://schemas.microsoft.com/office/drawing/2014/main" id="{8519A259-2071-46A2-B4ED-C3806450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146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722">
            <a:extLst xmlns:a="http://schemas.openxmlformats.org/drawingml/2006/main">
              <a:ext uri="{FF2B5EF4-FFF2-40B4-BE49-F238E27FC236}">
                <a16:creationId xmlns:a16="http://schemas.microsoft.com/office/drawing/2014/main" id="{018549A0-99EF-426A-B3E6-7A493072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22842"/>
            <a:ext cx="76497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Режим</a:t>
            </a:r>
          </a:p>
        </p:txBody>
      </p:sp>
      <p:sp>
        <p:nvSpPr>
          <p:cNvPr id="18" name="hf-723">
            <a:extLst xmlns:a="http://schemas.openxmlformats.org/drawingml/2006/main">
              <a:ext uri="{FF2B5EF4-FFF2-40B4-BE49-F238E27FC236}">
                <a16:creationId xmlns:a16="http://schemas.microsoft.com/office/drawing/2014/main" id="{336825E7-950A-47ED-8724-C94F1FE6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19098"/>
            <a:ext cx="120617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pthread QoS</a:t>
            </a:r>
          </a:p>
        </p:txBody>
      </p:sp>
      <p:sp>
        <p:nvSpPr>
          <p:cNvPr id="19" name="hf-724">
            <a:extLst xmlns:a="http://schemas.openxmlformats.org/drawingml/2006/main">
              <a:ext uri="{FF2B5EF4-FFF2-40B4-BE49-F238E27FC236}">
                <a16:creationId xmlns:a16="http://schemas.microsoft.com/office/drawing/2014/main" id="{7C27D375-3F75-44F2-83F7-B3253C5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9098"/>
            <a:ext cx="120617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pthread QoS</a:t>
            </a:r>
          </a:p>
        </p:txBody>
      </p:sp>
      <p:sp>
        <p:nvSpPr>
          <p:cNvPr id="20" name="hf-725">
            <a:extLst xmlns:a="http://schemas.openxmlformats.org/drawingml/2006/main">
              <a:ext uri="{FF2B5EF4-FFF2-40B4-BE49-F238E27FC236}">
                <a16:creationId xmlns:a16="http://schemas.microsoft.com/office/drawing/2014/main" id="{ED7D3C25-1BE5-4227-9E0E-6521AE21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9098"/>
            <a:ext cx="1385069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одно ядро VM</a:t>
            </a:r>
          </a:p>
        </p:txBody>
      </p:sp>
      <p:sp>
        <p:nvSpPr>
          <p:cNvPr id="21" name="hf-726">
            <a:extLst xmlns:a="http://schemas.openxmlformats.org/drawingml/2006/main">
              <a:ext uri="{FF2B5EF4-FFF2-40B4-BE49-F238E27FC236}">
                <a16:creationId xmlns:a16="http://schemas.microsoft.com/office/drawing/2014/main" id="{0909581B-F071-4EC9-A410-421A6DCE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813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2" name="hf-727">
            <a:extLst xmlns:a="http://schemas.openxmlformats.org/drawingml/2006/main">
              <a:ext uri="{FF2B5EF4-FFF2-40B4-BE49-F238E27FC236}">
                <a16:creationId xmlns:a16="http://schemas.microsoft.com/office/drawing/2014/main" id="{92363A18-D512-41FF-BEBA-F0BFF864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95700"/>
            <a:ext cx="8029575" cy="757238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hf-728">
            <a:extLst xmlns:a="http://schemas.openxmlformats.org/drawingml/2006/main">
              <a:ext uri="{FF2B5EF4-FFF2-40B4-BE49-F238E27FC236}">
                <a16:creationId xmlns:a16="http://schemas.microsoft.com/office/drawing/2014/main" id="{AA28253C-2E4B-430F-A8AE-9F06903C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821868"/>
            <a:ext cx="686514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Паспорт конкретного прогона важнее названия платформы</a:t>
            </a:r>
          </a:p>
        </p:txBody>
      </p:sp>
      <p:pic>
        <p:nvPicPr>
          <p:cNvPr id="24" name="hf-729">
            <a:extLst xmlns:a="http://schemas.openxmlformats.org/drawingml/2006/main">
              <a:ext uri="{FF2B5EF4-FFF2-40B4-BE49-F238E27FC236}">
                <a16:creationId xmlns:a16="http://schemas.microsoft.com/office/drawing/2014/main" id="{FBC136D9-399A-4290-9175-B88ED2BC2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c0dfac0d043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5" name="hf-730">
            <a:extLst xmlns:a="http://schemas.openxmlformats.org/drawingml/2006/main">
              <a:ext uri="{FF2B5EF4-FFF2-40B4-BE49-F238E27FC236}">
                <a16:creationId xmlns:a16="http://schemas.microsoft.com/office/drawing/2014/main" id="{D7D13356-BC83-4B7C-B781-387C94E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11668000"/>
      </p:ext>
    </p:extLst>
  </p:cSld>
</p:sld>
</file>

<file path=ppt/slides/slide37.xml><?xml version="1.0" encoding="utf-8"?>
<p:sld xmlns:p="http://schemas.openxmlformats.org/presentationml/2006/main" show="0">
  <p:cSld name="nb-kernel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31">
            <a:extLst xmlns:a="http://schemas.openxmlformats.org/drawingml/2006/main">
              <a:ext uri="{FF2B5EF4-FFF2-40B4-BE49-F238E27FC236}">
                <a16:creationId xmlns:a16="http://schemas.microsoft.com/office/drawing/2014/main" id="{75B6EB18-486F-4C1D-80BA-827C2AC5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732">
            <a:extLst xmlns:a="http://schemas.openxmlformats.org/drawingml/2006/main">
              <a:ext uri="{FF2B5EF4-FFF2-40B4-BE49-F238E27FC236}">
                <a16:creationId xmlns:a16="http://schemas.microsoft.com/office/drawing/2014/main" id="{55634BF3-6875-4174-87E8-A9BC86DA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81627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QoS ВЛИЯЕТ НА ВЫБОР ЯДРА, НО НЕ</a:t>
            </a:r>
          </a:p>
        </p:txBody>
      </p:sp>
      <p:sp>
        <p:nvSpPr>
          <p:cNvPr id="4" name="hf-733">
            <a:extLst xmlns:a="http://schemas.openxmlformats.org/drawingml/2006/main">
              <a:ext uri="{FF2B5EF4-FFF2-40B4-BE49-F238E27FC236}">
                <a16:creationId xmlns:a16="http://schemas.microsoft.com/office/drawing/2014/main" id="{BC155B6A-EDB8-410E-863E-394B116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26419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ОБЕЩАЕТ ЕГО</a:t>
            </a:r>
          </a:p>
        </p:txBody>
      </p:sp>
      <p:sp>
        <p:nvSpPr>
          <p:cNvPr id="5" name="hf-734">
            <a:extLst xmlns:a="http://schemas.openxmlformats.org/drawingml/2006/main">
              <a:ext uri="{FF2B5EF4-FFF2-40B4-BE49-F238E27FC236}">
                <a16:creationId xmlns:a16="http://schemas.microsoft.com/office/drawing/2014/main" id="{44BCDC65-5130-41FA-97DE-538F98F7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87700"/>
            <a:ext cx="3309491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56"/>
              </a:lnSpc>
              <a:buNone/>
            </a:pPr>
            <a:r>
              <a:rPr sz="17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QoS влияет на размещение</a:t>
            </a:r>
          </a:p>
        </p:txBody>
      </p:sp>
      <p:sp>
        <p:nvSpPr>
          <p:cNvPr id="6" name="hf-735">
            <a:extLst xmlns:a="http://schemas.openxmlformats.org/drawingml/2006/main">
              <a:ext uri="{FF2B5EF4-FFF2-40B4-BE49-F238E27FC236}">
                <a16:creationId xmlns:a16="http://schemas.microsoft.com/office/drawing/2014/main" id="{D24F550D-6C49-4288-8E37-663B3BF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22717"/>
            <a:ext cx="296502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utility допускает разные ядра</a:t>
            </a:r>
          </a:p>
        </p:txBody>
      </p:sp>
      <p:sp>
        <p:nvSpPr>
          <p:cNvPr id="7" name="hf-736">
            <a:extLst xmlns:a="http://schemas.openxmlformats.org/drawingml/2006/main">
              <a:ext uri="{FF2B5EF4-FFF2-40B4-BE49-F238E27FC236}">
                <a16:creationId xmlns:a16="http://schemas.microsoft.com/office/drawing/2014/main" id="{CD1C0A37-EC7C-4A8C-BFB5-BF0E9FBF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94192"/>
            <a:ext cx="229522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Рекомендацию задаёт</a:t>
            </a:r>
          </a:p>
        </p:txBody>
      </p:sp>
      <p:sp>
        <p:nvSpPr>
          <p:cNvPr id="8" name="hf-737">
            <a:extLst xmlns:a="http://schemas.openxmlformats.org/drawingml/2006/main">
              <a:ext uri="{FF2B5EF4-FFF2-40B4-BE49-F238E27FC236}">
                <a16:creationId xmlns:a16="http://schemas.microsoft.com/office/drawing/2014/main" id="{F63DED68-5DD7-448C-BC9A-CC99C47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41842"/>
            <a:ext cx="18563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контроллер Apple</a:t>
            </a:r>
          </a:p>
        </p:txBody>
      </p:sp>
      <p:sp>
        <p:nvSpPr>
          <p:cNvPr id="9" name="hf-738">
            <a:extLst xmlns:a="http://schemas.openxmlformats.org/drawingml/2006/main">
              <a:ext uri="{FF2B5EF4-FFF2-40B4-BE49-F238E27FC236}">
                <a16:creationId xmlns:a16="http://schemas.microsoft.com/office/drawing/2014/main" id="{845E9BC7-335E-46B4-AB25-C8D2ED82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86088"/>
            <a:ext cx="3810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739">
            <a:extLst xmlns:a="http://schemas.openxmlformats.org/drawingml/2006/main">
              <a:ext uri="{FF2B5EF4-FFF2-40B4-BE49-F238E27FC236}">
                <a16:creationId xmlns:a16="http://schemas.microsoft.com/office/drawing/2014/main" id="{6DE2D3EA-AAEB-4DCF-B818-BD965CFA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02743"/>
            <a:ext cx="1373088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11" name="hf-740">
            <a:extLst xmlns:a="http://schemas.openxmlformats.org/drawingml/2006/main">
              <a:ext uri="{FF2B5EF4-FFF2-40B4-BE49-F238E27FC236}">
                <a16:creationId xmlns:a16="http://schemas.microsoft.com/office/drawing/2014/main" id="{9AE32848-61C1-412A-8A01-A42BBCA2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28698"/>
            <a:ext cx="2352154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описанном Edge-коде</a:t>
            </a:r>
          </a:p>
        </p:txBody>
      </p:sp>
      <p:sp>
        <p:nvSpPr>
          <p:cNvPr id="12" name="hf-741">
            <a:extLst xmlns:a="http://schemas.openxmlformats.org/drawingml/2006/main">
              <a:ext uri="{FF2B5EF4-FFF2-40B4-BE49-F238E27FC236}">
                <a16:creationId xmlns:a16="http://schemas.microsoft.com/office/drawing/2014/main" id="{2799FA61-B6E8-4559-98E4-B3CB948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63921"/>
            <a:ext cx="2931393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контроллер не рекомендует P</a:t>
            </a:r>
          </a:p>
        </p:txBody>
      </p:sp>
      <p:sp>
        <p:nvSpPr>
          <p:cNvPr id="13" name="hf-742">
            <a:extLst xmlns:a="http://schemas.openxmlformats.org/drawingml/2006/main">
              <a:ext uri="{FF2B5EF4-FFF2-40B4-BE49-F238E27FC236}">
                <a16:creationId xmlns:a16="http://schemas.microsoft.com/office/drawing/2014/main" id="{EB327E4C-53CF-48B1-A022-6C94118D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0188"/>
            <a:ext cx="3786188" cy="1709738"/>
          </a:xfrm>
          <a:prstGeom xmlns:a="http://schemas.openxmlformats.org/drawingml/2006/main" prst="roundRect">
            <a:avLst>
              <a:gd name="adj" fmla="val 6685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hf-743">
            <a:extLst xmlns:a="http://schemas.openxmlformats.org/drawingml/2006/main">
              <a:ext uri="{FF2B5EF4-FFF2-40B4-BE49-F238E27FC236}">
                <a16:creationId xmlns:a16="http://schemas.microsoft.com/office/drawing/2014/main" id="{C03236E4-A428-4DBA-B938-DFF3DE3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84049"/>
            <a:ext cx="2546896" cy="269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69"/>
              </a:lnSpc>
              <a:buNone/>
            </a:pPr>
            <a:r>
              <a:rPr sz="15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Наблюдение на iPhone</a:t>
            </a:r>
          </a:p>
        </p:txBody>
      </p:sp>
      <p:sp>
        <p:nvSpPr>
          <p:cNvPr id="15" name="hf-744">
            <a:extLst xmlns:a="http://schemas.openxmlformats.org/drawingml/2006/main">
              <a:ext uri="{FF2B5EF4-FFF2-40B4-BE49-F238E27FC236}">
                <a16:creationId xmlns:a16="http://schemas.microsoft.com/office/drawing/2014/main" id="{478994D6-EDCF-4FB9-8228-4B9D5C1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44111"/>
            <a:ext cx="2011189" cy="310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97"/>
              </a:lnSpc>
              <a:buNone/>
            </a:pPr>
            <a:r>
              <a:rPr sz="1838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utility-лестница</a:t>
            </a:r>
          </a:p>
        </p:txBody>
      </p:sp>
      <p:sp>
        <p:nvSpPr>
          <p:cNvPr id="16" name="hf-745">
            <a:extLst xmlns:a="http://schemas.openxmlformats.org/drawingml/2006/main">
              <a:ext uri="{FF2B5EF4-FFF2-40B4-BE49-F238E27FC236}">
                <a16:creationId xmlns:a16="http://schemas.microsoft.com/office/drawing/2014/main" id="{36ABB630-AC14-4A62-AB23-C61166C7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5814"/>
            <a:ext cx="2266206" cy="310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97"/>
              </a:lnSpc>
              <a:buNone/>
            </a:pPr>
            <a:r>
              <a:rPr sz="1838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похожа на E-ядро</a:t>
            </a:r>
          </a:p>
        </p:txBody>
      </p:sp>
      <p:sp>
        <p:nvSpPr>
          <p:cNvPr id="17" name="hf-746">
            <a:extLst xmlns:a="http://schemas.openxmlformats.org/drawingml/2006/main">
              <a:ext uri="{FF2B5EF4-FFF2-40B4-BE49-F238E27FC236}">
                <a16:creationId xmlns:a16="http://schemas.microsoft.com/office/drawing/2014/main" id="{CFAC2DD7-81C9-461C-A3B8-8417973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18142"/>
            <a:ext cx="28487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Размещение самого дедупа</a:t>
            </a:r>
          </a:p>
        </p:txBody>
      </p:sp>
      <p:sp>
        <p:nvSpPr>
          <p:cNvPr id="18" name="hf-747">
            <a:extLst xmlns:a="http://schemas.openxmlformats.org/drawingml/2006/main">
              <a:ext uri="{FF2B5EF4-FFF2-40B4-BE49-F238E27FC236}">
                <a16:creationId xmlns:a16="http://schemas.microsoft.com/office/drawing/2014/main" id="{5901734D-3E3B-4066-8E25-6A85A50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65792"/>
            <a:ext cx="17584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 трассировали</a:t>
            </a:r>
          </a:p>
        </p:txBody>
      </p:sp>
      <p:sp>
        <p:nvSpPr>
          <p:cNvPr id="19" name="hf-748">
            <a:extLst xmlns:a="http://schemas.openxmlformats.org/drawingml/2006/main">
              <a:ext uri="{FF2B5EF4-FFF2-40B4-BE49-F238E27FC236}">
                <a16:creationId xmlns:a16="http://schemas.microsoft.com/office/drawing/2014/main" id="{8F3823FB-BA80-430F-9F68-A34D54E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347848"/>
            <a:ext cx="4759672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Приоритет задачи не назначает конкретное ядро</a:t>
            </a:r>
          </a:p>
        </p:txBody>
      </p:sp>
      <p:pic>
        <p:nvPicPr>
          <p:cNvPr id="20" name="hf-749">
            <a:extLst xmlns:a="http://schemas.openxmlformats.org/drawingml/2006/main">
              <a:ext uri="{FF2B5EF4-FFF2-40B4-BE49-F238E27FC236}">
                <a16:creationId xmlns:a16="http://schemas.microsoft.com/office/drawing/2014/main" id="{49242486-5A0D-4135-900C-954DEEFA4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3c595d0ad4c5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750">
            <a:extLst xmlns:a="http://schemas.openxmlformats.org/drawingml/2006/main">
              <a:ext uri="{FF2B5EF4-FFF2-40B4-BE49-F238E27FC236}">
                <a16:creationId xmlns:a16="http://schemas.microsoft.com/office/drawing/2014/main" id="{004E74C7-27B2-4259-BC8F-F40C754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0284107"/>
      </p:ext>
    </p:extLst>
  </p:cSld>
</p:sld>
</file>

<file path=ppt/slides/slide38.xml><?xml version="1.0" encoding="utf-8"?>
<p:sld xmlns:p="http://schemas.openxmlformats.org/presentationml/2006/main" show="0">
  <p:cSld name="nb-dens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51">
            <a:extLst xmlns:a="http://schemas.openxmlformats.org/drawingml/2006/main">
              <a:ext uri="{FF2B5EF4-FFF2-40B4-BE49-F238E27FC236}">
                <a16:creationId xmlns:a16="http://schemas.microsoft.com/office/drawing/2014/main" id="{067DDB16-59F2-44AA-A838-0FF5047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752">
            <a:extLst xmlns:a="http://schemas.openxmlformats.org/drawingml/2006/main">
              <a:ext uri="{FF2B5EF4-FFF2-40B4-BE49-F238E27FC236}">
                <a16:creationId xmlns:a16="http://schemas.microsoft.com/office/drawing/2014/main" id="{D0D1898B-F3CF-4D46-A4BC-6FDB5D0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1460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ПЛОТНЫЕ rowid: НА x86 ХЕШ ВПЕРЕДИ</a:t>
            </a:r>
          </a:p>
        </p:txBody>
      </p:sp>
      <p:sp>
        <p:nvSpPr>
          <p:cNvPr id="4" name="hf-753">
            <a:extLst xmlns:a="http://schemas.openxmlformats.org/drawingml/2006/main">
              <a:ext uri="{FF2B5EF4-FFF2-40B4-BE49-F238E27FC236}">
                <a16:creationId xmlns:a16="http://schemas.microsoft.com/office/drawing/2014/main" id="{C0B65BD6-C4B0-487A-A305-58A1C0B9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62810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 1,7 РАЗА</a:t>
            </a:r>
          </a:p>
        </p:txBody>
      </p:sp>
      <p:sp>
        <p:nvSpPr>
          <p:cNvPr id="5" name="hf-754">
            <a:extLst xmlns:a="http://schemas.openxmlformats.org/drawingml/2006/main">
              <a:ext uri="{FF2B5EF4-FFF2-40B4-BE49-F238E27FC236}">
                <a16:creationId xmlns:a16="http://schemas.microsoft.com/office/drawing/2014/main" id="{A6DDDA6A-D2F1-44E1-9457-621B281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44482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x86 · N = 2^20, U = N/2 · нс на элемент: libstdc++ / libc++</a:t>
            </a:r>
          </a:p>
        </p:txBody>
      </p:sp>
      <p:sp>
        <p:nvSpPr>
          <p:cNvPr id="6" name="hf-755">
            <a:extLst xmlns:a="http://schemas.openxmlformats.org/drawingml/2006/main">
              <a:ext uri="{FF2B5EF4-FFF2-40B4-BE49-F238E27FC236}">
                <a16:creationId xmlns:a16="http://schemas.microsoft.com/office/drawing/2014/main" id="{61FF4016-38E6-47DA-810D-57580A0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806" y="1665542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756">
            <a:extLst xmlns:a="http://schemas.openxmlformats.org/drawingml/2006/main">
              <a:ext uri="{FF2B5EF4-FFF2-40B4-BE49-F238E27FC236}">
                <a16:creationId xmlns:a16="http://schemas.microsoft.com/office/drawing/2014/main" id="{205D4014-94DD-4E18-B80C-721CFF8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416" y="1665542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8" name="hf-757">
            <a:extLst xmlns:a="http://schemas.openxmlformats.org/drawingml/2006/main">
              <a:ext uri="{FF2B5EF4-FFF2-40B4-BE49-F238E27FC236}">
                <a16:creationId xmlns:a16="http://schemas.microsoft.com/office/drawing/2014/main" id="{D4D0E660-C6E9-4AF2-ACFA-574DFE5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002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9" name="hf-758">
            <a:extLst xmlns:a="http://schemas.openxmlformats.org/drawingml/2006/main">
              <a:ext uri="{FF2B5EF4-FFF2-40B4-BE49-F238E27FC236}">
                <a16:creationId xmlns:a16="http://schemas.microsoft.com/office/drawing/2014/main" id="{FB4732F6-225B-4582-AA11-3C33E4DD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21656"/>
            <a:ext cx="1290861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случайные</a:t>
            </a:r>
          </a:p>
        </p:txBody>
      </p:sp>
      <p:sp>
        <p:nvSpPr>
          <p:cNvPr id="10" name="hf-759">
            <a:extLst xmlns:a="http://schemas.openxmlformats.org/drawingml/2006/main">
              <a:ext uri="{FF2B5EF4-FFF2-40B4-BE49-F238E27FC236}">
                <a16:creationId xmlns:a16="http://schemas.microsoft.com/office/drawing/2014/main" id="{F2CBF317-3AB7-4E83-8CD4-F1ACC31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82" y="2127504"/>
            <a:ext cx="102401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86,4 / 89,0</a:t>
            </a:r>
          </a:p>
        </p:txBody>
      </p:sp>
      <p:sp>
        <p:nvSpPr>
          <p:cNvPr id="11" name="hf-760">
            <a:extLst xmlns:a="http://schemas.openxmlformats.org/drawingml/2006/main">
              <a:ext uri="{FF2B5EF4-FFF2-40B4-BE49-F238E27FC236}">
                <a16:creationId xmlns:a16="http://schemas.microsoft.com/office/drawing/2014/main" id="{14A34B8A-4001-4F32-9C0B-C0EEA696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685" y="2127504"/>
            <a:ext cx="99945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85,6 / 88,7</a:t>
            </a:r>
          </a:p>
        </p:txBody>
      </p:sp>
      <p:sp>
        <p:nvSpPr>
          <p:cNvPr id="12" name="hf-761">
            <a:extLst xmlns:a="http://schemas.openxmlformats.org/drawingml/2006/main">
              <a:ext uri="{FF2B5EF4-FFF2-40B4-BE49-F238E27FC236}">
                <a16:creationId xmlns:a16="http://schemas.microsoft.com/office/drawing/2014/main" id="{7B9FD6B5-64BA-497E-88EE-F6E066D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20764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3" name="hf-762">
            <a:extLst xmlns:a="http://schemas.openxmlformats.org/drawingml/2006/main">
              <a:ext uri="{FF2B5EF4-FFF2-40B4-BE49-F238E27FC236}">
                <a16:creationId xmlns:a16="http://schemas.microsoft.com/office/drawing/2014/main" id="{18891212-04D0-4DEC-823B-BBD53A0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59" y="2026406"/>
            <a:ext cx="91975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≈ ничья</a:t>
            </a:r>
          </a:p>
        </p:txBody>
      </p:sp>
      <p:sp>
        <p:nvSpPr>
          <p:cNvPr id="14" name="hf-763">
            <a:extLst xmlns:a="http://schemas.openxmlformats.org/drawingml/2006/main">
              <a:ext uri="{FF2B5EF4-FFF2-40B4-BE49-F238E27FC236}">
                <a16:creationId xmlns:a16="http://schemas.microsoft.com/office/drawing/2014/main" id="{8ECD4CE3-00C0-40F4-9CF0-CDDB696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527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764">
            <a:extLst xmlns:a="http://schemas.openxmlformats.org/drawingml/2006/main">
              <a:ext uri="{FF2B5EF4-FFF2-40B4-BE49-F238E27FC236}">
                <a16:creationId xmlns:a16="http://schemas.microsoft.com/office/drawing/2014/main" id="{F7EF4079-62D6-4B4D-A851-18F71CE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74106"/>
            <a:ext cx="1700213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62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плотные rowid</a:t>
            </a:r>
          </a:p>
        </p:txBody>
      </p:sp>
      <p:sp>
        <p:nvSpPr>
          <p:cNvPr id="16" name="hf-765">
            <a:extLst xmlns:a="http://schemas.openxmlformats.org/drawingml/2006/main">
              <a:ext uri="{FF2B5EF4-FFF2-40B4-BE49-F238E27FC236}">
                <a16:creationId xmlns:a16="http://schemas.microsoft.com/office/drawing/2014/main" id="{4EACE504-3A63-492E-A14F-4DC815A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16" y="2679954"/>
            <a:ext cx="10073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87,8 / 89,8</a:t>
            </a:r>
          </a:p>
        </p:txBody>
      </p:sp>
      <p:sp>
        <p:nvSpPr>
          <p:cNvPr id="17" name="hf-766">
            <a:extLst xmlns:a="http://schemas.openxmlformats.org/drawingml/2006/main">
              <a:ext uri="{FF2B5EF4-FFF2-40B4-BE49-F238E27FC236}">
                <a16:creationId xmlns:a16="http://schemas.microsoft.com/office/drawing/2014/main" id="{1DE85133-6171-4A3F-B133-115034A6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28900"/>
            <a:ext cx="1714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0">
            <a:noFill/>
          </a:ln>
        </p:spPr>
      </p:sp>
      <p:sp>
        <p:nvSpPr>
          <p:cNvPr id="18" name="hf-767">
            <a:extLst xmlns:a="http://schemas.openxmlformats.org/drawingml/2006/main">
              <a:ext uri="{FF2B5EF4-FFF2-40B4-BE49-F238E27FC236}">
                <a16:creationId xmlns:a16="http://schemas.microsoft.com/office/drawing/2014/main" id="{38C61AAE-2B95-4129-9274-D0B0B91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570" y="2679954"/>
            <a:ext cx="10336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52,8 / 53,3</a:t>
            </a:r>
          </a:p>
        </p:txBody>
      </p:sp>
      <p:sp>
        <p:nvSpPr>
          <p:cNvPr id="19" name="hf-768">
            <a:extLst xmlns:a="http://schemas.openxmlformats.org/drawingml/2006/main">
              <a:ext uri="{FF2B5EF4-FFF2-40B4-BE49-F238E27FC236}">
                <a16:creationId xmlns:a16="http://schemas.microsoft.com/office/drawing/2014/main" id="{FA980726-2A6B-40CA-90E0-585CD358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26289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20" name="hf-769">
            <a:extLst xmlns:a="http://schemas.openxmlformats.org/drawingml/2006/main">
              <a:ext uri="{FF2B5EF4-FFF2-40B4-BE49-F238E27FC236}">
                <a16:creationId xmlns:a16="http://schemas.microsoft.com/office/drawing/2014/main" id="{6DEE3164-4C96-4FAC-975C-AE02D17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086" y="2592057"/>
            <a:ext cx="1047229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 ×1,7</a:t>
            </a:r>
          </a:p>
        </p:txBody>
      </p:sp>
      <p:sp>
        <p:nvSpPr>
          <p:cNvPr id="21" name="hf-770">
            <a:extLst xmlns:a="http://schemas.openxmlformats.org/drawingml/2006/main">
              <a:ext uri="{FF2B5EF4-FFF2-40B4-BE49-F238E27FC236}">
                <a16:creationId xmlns:a16="http://schemas.microsoft.com/office/drawing/2014/main" id="{CC161391-85B2-41A1-ABD4-62935DB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05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2" name="hf-771">
            <a:extLst xmlns:a="http://schemas.openxmlformats.org/drawingml/2006/main">
              <a:ext uri="{FF2B5EF4-FFF2-40B4-BE49-F238E27FC236}">
                <a16:creationId xmlns:a16="http://schemas.microsoft.com/office/drawing/2014/main" id="{D3A25DA7-00D5-4763-8A8D-42D16008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3750"/>
            <a:ext cx="80295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hf-772">
            <a:extLst xmlns:a="http://schemas.openxmlformats.org/drawingml/2006/main">
              <a:ext uri="{FF2B5EF4-FFF2-40B4-BE49-F238E27FC236}">
                <a16:creationId xmlns:a16="http://schemas.microsoft.com/office/drawing/2014/main" id="{11716FAB-7BF6-4E92-81C5-0BF6692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422904"/>
            <a:ext cx="4204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Обратный край — libc++, id с шагом 2^k:</a:t>
            </a:r>
          </a:p>
        </p:txBody>
      </p:sp>
      <p:sp>
        <p:nvSpPr>
          <p:cNvPr id="24" name="hf-773">
            <a:extLst xmlns:a="http://schemas.openxmlformats.org/drawingml/2006/main">
              <a:ext uri="{FF2B5EF4-FFF2-40B4-BE49-F238E27FC236}">
                <a16:creationId xmlns:a16="http://schemas.microsoft.com/office/drawing/2014/main" id="{2DBA6E6C-F071-4127-ABB3-968E6EBE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670554"/>
            <a:ext cx="33159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шаг 2^20 → все id в одной ячейке</a:t>
            </a:r>
          </a:p>
        </p:txBody>
      </p:sp>
      <p:sp>
        <p:nvSpPr>
          <p:cNvPr id="25" name="hf-774">
            <a:extLst xmlns:a="http://schemas.openxmlformats.org/drawingml/2006/main">
              <a:ext uri="{FF2B5EF4-FFF2-40B4-BE49-F238E27FC236}">
                <a16:creationId xmlns:a16="http://schemas.microsoft.com/office/drawing/2014/main" id="{0B6A58E1-2224-4D00-99E1-9975138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154" y="3461042"/>
            <a:ext cx="152928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×1 500</a:t>
            </a:r>
          </a:p>
        </p:txBody>
      </p:sp>
      <p:pic>
        <p:nvPicPr>
          <p:cNvPr id="26" name="hf-775">
            <a:extLst xmlns:a="http://schemas.openxmlformats.org/drawingml/2006/main">
              <a:ext uri="{FF2B5EF4-FFF2-40B4-BE49-F238E27FC236}">
                <a16:creationId xmlns:a16="http://schemas.microsoft.com/office/drawing/2014/main" id="{AF0BFA57-FFAD-4DA7-8FAF-6D605CB481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6df29779346e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7" name="hf-776">
            <a:extLst xmlns:a="http://schemas.openxmlformats.org/drawingml/2006/main">
              <a:ext uri="{FF2B5EF4-FFF2-40B4-BE49-F238E27FC236}">
                <a16:creationId xmlns:a16="http://schemas.microsoft.com/office/drawing/2014/main" id="{6AE0307C-533A-4D20-B3EB-E17BDE3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458098327"/>
      </p:ext>
    </p:extLst>
  </p:cSld>
</p:sld>
</file>

<file path=ppt/slides/slide39.xml><?xml version="1.0" encoding="utf-8"?>
<p:sld xmlns:p="http://schemas.openxmlformats.org/presentationml/2006/main" show="0">
  <p:cSld name="nb-merg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777">
            <a:extLst xmlns:a="http://schemas.openxmlformats.org/drawingml/2006/main">
              <a:ext uri="{FF2B5EF4-FFF2-40B4-BE49-F238E27FC236}">
                <a16:creationId xmlns:a16="http://schemas.microsoft.com/office/drawing/2014/main" id="{6B7861C6-CE85-41AE-AB67-2DC9B49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778">
            <a:extLst xmlns:a="http://schemas.openxmlformats.org/drawingml/2006/main">
              <a:ext uri="{FF2B5EF4-FFF2-40B4-BE49-F238E27FC236}">
                <a16:creationId xmlns:a16="http://schemas.microsoft.com/office/drawing/2014/main" id="{0E9AD5D6-CFF2-4863-8045-476DE159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48870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ДЕЛЬТА + СЛИЯНИЕ: В 3,5–6,6 РАЗА</a:t>
            </a:r>
          </a:p>
        </p:txBody>
      </p:sp>
      <p:sp>
        <p:nvSpPr>
          <p:cNvPr id="4" name="hf-779">
            <a:extLst xmlns:a="http://schemas.openxmlformats.org/drawingml/2006/main">
              <a:ext uri="{FF2B5EF4-FFF2-40B4-BE49-F238E27FC236}">
                <a16:creationId xmlns:a16="http://schemas.microsoft.com/office/drawing/2014/main" id="{99DB9CFF-AAA9-4C29-AE55-15FD3B67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56956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БЫСТРЕЕ sort + unique</a:t>
            </a:r>
          </a:p>
        </p:txBody>
      </p:sp>
      <p:sp>
        <p:nvSpPr>
          <p:cNvPr id="5" name="hf-780">
            <a:extLst xmlns:a="http://schemas.openxmlformats.org/drawingml/2006/main">
              <a:ext uri="{FF2B5EF4-FFF2-40B4-BE49-F238E27FC236}">
                <a16:creationId xmlns:a16="http://schemas.microsoft.com/office/drawing/2014/main" id="{0728B121-6E33-4078-936E-C201A59B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50547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x86 · 2^20 отсортированных id + дельта 2^16 · libstdc++ / libc++</a:t>
            </a:r>
          </a:p>
        </p:txBody>
      </p:sp>
      <p:sp>
        <p:nvSpPr>
          <p:cNvPr id="6" name="hf-781">
            <a:extLst xmlns:a="http://schemas.openxmlformats.org/drawingml/2006/main">
              <a:ext uri="{FF2B5EF4-FFF2-40B4-BE49-F238E27FC236}">
                <a16:creationId xmlns:a16="http://schemas.microsoft.com/office/drawing/2014/main" id="{7106F52E-84FB-463D-9EDF-23BB737B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055" y="1658188"/>
            <a:ext cx="12173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</a:t>
            </a:r>
          </a:p>
        </p:txBody>
      </p:sp>
      <p:sp>
        <p:nvSpPr>
          <p:cNvPr id="7" name="hf-782">
            <a:extLst xmlns:a="http://schemas.openxmlformats.org/drawingml/2006/main">
              <a:ext uri="{FF2B5EF4-FFF2-40B4-BE49-F238E27FC236}">
                <a16:creationId xmlns:a16="http://schemas.microsoft.com/office/drawing/2014/main" id="{CC56D990-0D9C-4433-8514-A98BA61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025" y="1658188"/>
            <a:ext cx="218918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быстрее sort + unique, раз</a:t>
            </a:r>
          </a:p>
        </p:txBody>
      </p:sp>
      <p:sp>
        <p:nvSpPr>
          <p:cNvPr id="8" name="hf-783">
            <a:extLst xmlns:a="http://schemas.openxmlformats.org/drawingml/2006/main">
              <a:ext uri="{FF2B5EF4-FFF2-40B4-BE49-F238E27FC236}">
                <a16:creationId xmlns:a16="http://schemas.microsoft.com/office/drawing/2014/main" id="{9C089AA8-1EE7-4C3D-80B4-BFD2936A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050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9" name="hf-784">
            <a:extLst xmlns:a="http://schemas.openxmlformats.org/drawingml/2006/main">
              <a:ext uri="{FF2B5EF4-FFF2-40B4-BE49-F238E27FC236}">
                <a16:creationId xmlns:a16="http://schemas.microsoft.com/office/drawing/2014/main" id="{00EC52EE-6F77-446B-8884-D99D241D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65579"/>
            <a:ext cx="253089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 + unique всего входа</a:t>
            </a:r>
          </a:p>
        </p:txBody>
      </p:sp>
      <p:sp>
        <p:nvSpPr>
          <p:cNvPr id="10" name="hf-785">
            <a:extLst xmlns:a="http://schemas.openxmlformats.org/drawingml/2006/main">
              <a:ext uri="{FF2B5EF4-FFF2-40B4-BE49-F238E27FC236}">
                <a16:creationId xmlns:a16="http://schemas.microsoft.com/office/drawing/2014/main" id="{46950591-7715-44C6-9D82-C1D286C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17" y="1965579"/>
            <a:ext cx="9472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42,4 / 31,2</a:t>
            </a:r>
          </a:p>
        </p:txBody>
      </p:sp>
      <p:sp>
        <p:nvSpPr>
          <p:cNvPr id="11" name="hf-786">
            <a:extLst xmlns:a="http://schemas.openxmlformats.org/drawingml/2006/main">
              <a:ext uri="{FF2B5EF4-FFF2-40B4-BE49-F238E27FC236}">
                <a16:creationId xmlns:a16="http://schemas.microsoft.com/office/drawing/2014/main" id="{D3F880DC-D9B9-4532-9EE1-5ACAD20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702" y="1965579"/>
            <a:ext cx="12590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hf-787">
            <a:extLst xmlns:a="http://schemas.openxmlformats.org/drawingml/2006/main">
              <a:ext uri="{FF2B5EF4-FFF2-40B4-BE49-F238E27FC236}">
                <a16:creationId xmlns:a16="http://schemas.microsoft.com/office/drawing/2014/main" id="{42FAEC7D-3DD9-4BC6-BA74-17FF1C60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145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3" name="hf-788">
            <a:extLst xmlns:a="http://schemas.openxmlformats.org/drawingml/2006/main">
              <a:ext uri="{FF2B5EF4-FFF2-40B4-BE49-F238E27FC236}">
                <a16:creationId xmlns:a16="http://schemas.microsoft.com/office/drawing/2014/main" id="{6F8BE8CE-0509-44D3-B374-CA34CDB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375154"/>
            <a:ext cx="14527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14" name="hf-789">
            <a:extLst xmlns:a="http://schemas.openxmlformats.org/drawingml/2006/main">
              <a:ext uri="{FF2B5EF4-FFF2-40B4-BE49-F238E27FC236}">
                <a16:creationId xmlns:a16="http://schemas.microsoft.com/office/drawing/2014/main" id="{3962ACF2-881A-4091-9377-E3C02AA0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037" y="2375154"/>
            <a:ext cx="122537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240,8 / 247,0</a:t>
            </a:r>
          </a:p>
        </p:txBody>
      </p:sp>
      <p:sp>
        <p:nvSpPr>
          <p:cNvPr id="15" name="hf-790">
            <a:extLst xmlns:a="http://schemas.openxmlformats.org/drawingml/2006/main">
              <a:ext uri="{FF2B5EF4-FFF2-40B4-BE49-F238E27FC236}">
                <a16:creationId xmlns:a16="http://schemas.microsoft.com/office/drawing/2014/main" id="{7407EBDD-A415-4D0C-B07C-0F7714FC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70" y="2375154"/>
            <a:ext cx="911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0,18 / 0,13</a:t>
            </a:r>
          </a:p>
        </p:txBody>
      </p:sp>
      <p:sp>
        <p:nvSpPr>
          <p:cNvPr id="16" name="hf-791">
            <a:extLst xmlns:a="http://schemas.openxmlformats.org/drawingml/2006/main">
              <a:ext uri="{FF2B5EF4-FFF2-40B4-BE49-F238E27FC236}">
                <a16:creationId xmlns:a16="http://schemas.microsoft.com/office/drawing/2014/main" id="{EC8389DB-8251-48B6-A063-4E8AD04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241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7" name="hf-792">
            <a:extLst xmlns:a="http://schemas.openxmlformats.org/drawingml/2006/main">
              <a:ext uri="{FF2B5EF4-FFF2-40B4-BE49-F238E27FC236}">
                <a16:creationId xmlns:a16="http://schemas.microsoft.com/office/drawing/2014/main" id="{CFACBEC1-88BC-4560-848C-66C4A98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84729"/>
            <a:ext cx="13103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flat_hash_set</a:t>
            </a:r>
          </a:p>
        </p:txBody>
      </p:sp>
      <p:sp>
        <p:nvSpPr>
          <p:cNvPr id="18" name="hf-793">
            <a:extLst xmlns:a="http://schemas.openxmlformats.org/drawingml/2006/main">
              <a:ext uri="{FF2B5EF4-FFF2-40B4-BE49-F238E27FC236}">
                <a16:creationId xmlns:a16="http://schemas.microsoft.com/office/drawing/2014/main" id="{58DBA87D-F47B-4A1A-AA13-5A302E5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002" y="2784729"/>
            <a:ext cx="9815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39,3 / 36,4</a:t>
            </a:r>
          </a:p>
        </p:txBody>
      </p:sp>
      <p:sp>
        <p:nvSpPr>
          <p:cNvPr id="19" name="hf-794">
            <a:extLst xmlns:a="http://schemas.openxmlformats.org/drawingml/2006/main">
              <a:ext uri="{FF2B5EF4-FFF2-40B4-BE49-F238E27FC236}">
                <a16:creationId xmlns:a16="http://schemas.microsoft.com/office/drawing/2014/main" id="{08BE803C-5413-4694-848A-1196EA4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221" y="2784729"/>
            <a:ext cx="6768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1,1 / 0,9</a:t>
            </a:r>
          </a:p>
        </p:txBody>
      </p:sp>
      <p:sp>
        <p:nvSpPr>
          <p:cNvPr id="20" name="hf-795">
            <a:extLst xmlns:a="http://schemas.openxmlformats.org/drawingml/2006/main">
              <a:ext uri="{FF2B5EF4-FFF2-40B4-BE49-F238E27FC236}">
                <a16:creationId xmlns:a16="http://schemas.microsoft.com/office/drawing/2014/main" id="{0F4725AD-8F4F-4C95-B941-38430BC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19450"/>
            <a:ext cx="80295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hf-796">
            <a:extLst xmlns:a="http://schemas.openxmlformats.org/drawingml/2006/main">
              <a:ext uri="{FF2B5EF4-FFF2-40B4-BE49-F238E27FC236}">
                <a16:creationId xmlns:a16="http://schemas.microsoft.com/office/drawing/2014/main" id="{968B4593-70F4-4CF7-9004-97C0B54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308604"/>
            <a:ext cx="31970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sort(Δ) + unique(Δ) + set_union</a:t>
            </a:r>
          </a:p>
        </p:txBody>
      </p:sp>
      <p:sp>
        <p:nvSpPr>
          <p:cNvPr id="22" name="hf-797">
            <a:extLst xmlns:a="http://schemas.openxmlformats.org/drawingml/2006/main">
              <a:ext uri="{FF2B5EF4-FFF2-40B4-BE49-F238E27FC236}">
                <a16:creationId xmlns:a16="http://schemas.microsoft.com/office/drawing/2014/main" id="{91383CE6-D4FF-41DA-A311-B1B526A7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3585162"/>
            <a:ext cx="298162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12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без unique(Δ) дубли дельты останутся</a:t>
            </a:r>
          </a:p>
        </p:txBody>
      </p:sp>
      <p:sp>
        <p:nvSpPr>
          <p:cNvPr id="23" name="hf-798">
            <a:extLst xmlns:a="http://schemas.openxmlformats.org/drawingml/2006/main">
              <a:ext uri="{FF2B5EF4-FFF2-40B4-BE49-F238E27FC236}">
                <a16:creationId xmlns:a16="http://schemas.microsoft.com/office/drawing/2014/main" id="{A6D5B055-6BB0-4231-BFC1-DD568BF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77" y="3435020"/>
            <a:ext cx="100057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75"/>
              </a:lnSpc>
              <a:buNone/>
            </a:pPr>
            <a:r>
              <a:rPr sz="18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6,4 / 8,9</a:t>
            </a:r>
          </a:p>
        </p:txBody>
      </p:sp>
      <p:sp>
        <p:nvSpPr>
          <p:cNvPr id="24" name="hf-799">
            <a:extLst xmlns:a="http://schemas.openxmlformats.org/drawingml/2006/main">
              <a:ext uri="{FF2B5EF4-FFF2-40B4-BE49-F238E27FC236}">
                <a16:creationId xmlns:a16="http://schemas.microsoft.com/office/drawing/2014/main" id="{12125A9F-9BA1-4DB1-B8D1-8105EAD5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32" y="3356267"/>
            <a:ext cx="1873374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6,6 / 3,5</a:t>
            </a:r>
          </a:p>
        </p:txBody>
      </p:sp>
      <p:sp>
        <p:nvSpPr>
          <p:cNvPr id="25" name="hf-800">
            <a:extLst xmlns:a="http://schemas.openxmlformats.org/drawingml/2006/main">
              <a:ext uri="{FF2B5EF4-FFF2-40B4-BE49-F238E27FC236}">
                <a16:creationId xmlns:a16="http://schemas.microsoft.com/office/drawing/2014/main" id="{71ED8208-1D59-45B1-9E33-22B90AB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80129"/>
            <a:ext cx="17453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iPhone, </a:t>
            </a:r>
            <a:r>
              <a:rPr sz="1500" b="0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.utility</a:t>
            </a:r>
          </a:p>
        </p:txBody>
      </p:sp>
      <p:sp>
        <p:nvSpPr>
          <p:cNvPr id="26" name="hf-801">
            <a:extLst xmlns:a="http://schemas.openxmlformats.org/drawingml/2006/main">
              <a:ext uri="{FF2B5EF4-FFF2-40B4-BE49-F238E27FC236}">
                <a16:creationId xmlns:a16="http://schemas.microsoft.com/office/drawing/2014/main" id="{0A197678-60B3-4774-BC8B-9B8D56F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881" y="4080129"/>
            <a:ext cx="34003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Серия на телефоне не снималась</a:t>
            </a:r>
          </a:p>
        </p:txBody>
      </p:sp>
      <p:pic>
        <p:nvPicPr>
          <p:cNvPr id="27" name="hf-802">
            <a:extLst xmlns:a="http://schemas.openxmlformats.org/drawingml/2006/main">
              <a:ext uri="{FF2B5EF4-FFF2-40B4-BE49-F238E27FC236}">
                <a16:creationId xmlns:a16="http://schemas.microsoft.com/office/drawing/2014/main" id="{FC70EEAF-E692-48E3-81C8-A855E0518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110326b474a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803">
            <a:extLst xmlns:a="http://schemas.openxmlformats.org/drawingml/2006/main">
              <a:ext uri="{FF2B5EF4-FFF2-40B4-BE49-F238E27FC236}">
                <a16:creationId xmlns:a16="http://schemas.microsoft.com/office/drawing/2014/main" id="{C6245252-20D4-41E6-B11E-8B19BBB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94818442"/>
      </p:ext>
    </p:extLst>
  </p:cSld>
</p:sld>
</file>

<file path=ppt/slides/slide40.xml><?xml version="1.0" encoding="utf-8"?>
<p:sld xmlns:p="http://schemas.openxmlformats.org/presentationml/2006/main" show="0">
  <p:cSld name="qos-bg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04">
            <a:extLst xmlns:a="http://schemas.openxmlformats.org/drawingml/2006/main">
              <a:ext uri="{FF2B5EF4-FFF2-40B4-BE49-F238E27FC236}">
                <a16:creationId xmlns:a16="http://schemas.microsoft.com/office/drawing/2014/main" id="{FB261D0C-9E74-4E28-BAC2-B9B54C0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05">
            <a:extLst xmlns:a="http://schemas.openxmlformats.org/drawingml/2006/main">
              <a:ext uri="{FF2B5EF4-FFF2-40B4-BE49-F238E27FC236}">
                <a16:creationId xmlns:a16="http://schemas.microsoft.com/office/drawing/2014/main" id="{AF93710F-F53B-4B31-A736-F664001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75828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 background СОРТИРОВКА ВПЕРЕДИ И НА</a:t>
            </a:r>
          </a:p>
        </p:txBody>
      </p:sp>
      <p:sp>
        <p:nvSpPr>
          <p:cNvPr id="4" name="hf-806">
            <a:extLst xmlns:a="http://schemas.openxmlformats.org/drawingml/2006/main">
              <a:ext uri="{FF2B5EF4-FFF2-40B4-BE49-F238E27FC236}">
                <a16:creationId xmlns:a16="http://schemas.microsoft.com/office/drawing/2014/main" id="{0EE4BB51-7D9F-466B-A66A-4A91DA84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73732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Mac, И НА iPhone</a:t>
            </a:r>
          </a:p>
        </p:txBody>
      </p:sp>
      <p:sp>
        <p:nvSpPr>
          <p:cNvPr id="5" name="hf-807">
            <a:extLst xmlns:a="http://schemas.openxmlformats.org/drawingml/2006/main">
              <a:ext uri="{FF2B5EF4-FFF2-40B4-BE49-F238E27FC236}">
                <a16:creationId xmlns:a16="http://schemas.microsoft.com/office/drawing/2014/main" id="{1D6EC742-7CA5-4851-A382-338C82A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25551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512K, U = N/2 · в клетке: sort / хеш, нс на элемент</a:t>
            </a:r>
          </a:p>
        </p:txBody>
      </p:sp>
      <p:sp>
        <p:nvSpPr>
          <p:cNvPr id="6" name="hf-808">
            <a:extLst xmlns:a="http://schemas.openxmlformats.org/drawingml/2006/main">
              <a:ext uri="{FF2B5EF4-FFF2-40B4-BE49-F238E27FC236}">
                <a16:creationId xmlns:a16="http://schemas.microsoft.com/office/drawing/2014/main" id="{759B0000-0487-427F-B098-A921C346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544" y="1684592"/>
            <a:ext cx="1306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Mac · M2 Pro</a:t>
            </a:r>
          </a:p>
        </p:txBody>
      </p:sp>
      <p:sp>
        <p:nvSpPr>
          <p:cNvPr id="7" name="hf-809">
            <a:extLst xmlns:a="http://schemas.openxmlformats.org/drawingml/2006/main">
              <a:ext uri="{FF2B5EF4-FFF2-40B4-BE49-F238E27FC236}">
                <a16:creationId xmlns:a16="http://schemas.microsoft.com/office/drawing/2014/main" id="{3C4E0F7C-83F4-40BC-9114-4268182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463" y="1684592"/>
            <a:ext cx="139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8" name="hf-810">
            <a:extLst xmlns:a="http://schemas.openxmlformats.org/drawingml/2006/main">
              <a:ext uri="{FF2B5EF4-FFF2-40B4-BE49-F238E27FC236}">
                <a16:creationId xmlns:a16="http://schemas.microsoft.com/office/drawing/2014/main" id="{EF8B982E-BDFB-47A7-97C2-E8C9F49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13217"/>
            <a:ext cx="13065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userInitiated</a:t>
            </a:r>
          </a:p>
        </p:txBody>
      </p:sp>
      <p:sp>
        <p:nvSpPr>
          <p:cNvPr id="9" name="hf-811">
            <a:extLst xmlns:a="http://schemas.openxmlformats.org/drawingml/2006/main">
              <a:ext uri="{FF2B5EF4-FFF2-40B4-BE49-F238E27FC236}">
                <a16:creationId xmlns:a16="http://schemas.microsoft.com/office/drawing/2014/main" id="{A22E0A75-3611-4E25-8CC0-DF2E5FB2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79967"/>
            <a:ext cx="61748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utility</a:t>
            </a:r>
          </a:p>
        </p:txBody>
      </p:sp>
      <p:sp>
        <p:nvSpPr>
          <p:cNvPr id="10" name="hf-812">
            <a:extLst xmlns:a="http://schemas.openxmlformats.org/drawingml/2006/main">
              <a:ext uri="{FF2B5EF4-FFF2-40B4-BE49-F238E27FC236}">
                <a16:creationId xmlns:a16="http://schemas.microsoft.com/office/drawing/2014/main" id="{EB226C6E-A727-4C65-9CEB-946805AF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6717"/>
            <a:ext cx="125350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background</a:t>
            </a:r>
          </a:p>
        </p:txBody>
      </p:sp>
      <p:sp>
        <p:nvSpPr>
          <p:cNvPr id="11" name="hf-813">
            <a:extLst xmlns:a="http://schemas.openxmlformats.org/drawingml/2006/main">
              <a:ext uri="{FF2B5EF4-FFF2-40B4-BE49-F238E27FC236}">
                <a16:creationId xmlns:a16="http://schemas.microsoft.com/office/drawing/2014/main" id="{17ABABCD-D7B2-41EA-9D44-C9D6A81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hf-814">
            <a:extLst xmlns:a="http://schemas.openxmlformats.org/drawingml/2006/main">
              <a:ext uri="{FF2B5EF4-FFF2-40B4-BE49-F238E27FC236}">
                <a16:creationId xmlns:a16="http://schemas.microsoft.com/office/drawing/2014/main" id="{691E6033-DBED-4EC9-B012-B07CECB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7029"/>
            <a:ext cx="10596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19,6 / 18,7</a:t>
            </a:r>
          </a:p>
        </p:txBody>
      </p:sp>
      <p:sp>
        <p:nvSpPr>
          <p:cNvPr id="13" name="hf-815">
            <a:extLst xmlns:a="http://schemas.openxmlformats.org/drawingml/2006/main">
              <a:ext uri="{FF2B5EF4-FFF2-40B4-BE49-F238E27FC236}">
                <a16:creationId xmlns:a16="http://schemas.microsoft.com/office/drawing/2014/main" id="{9C225C3A-49B3-498B-A10D-894E665E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0002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hf-816">
            <a:extLst xmlns:a="http://schemas.openxmlformats.org/drawingml/2006/main">
              <a:ext uri="{FF2B5EF4-FFF2-40B4-BE49-F238E27FC236}">
                <a16:creationId xmlns:a16="http://schemas.microsoft.com/office/drawing/2014/main" id="{04610C61-9FBE-4245-B045-C576B25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137029"/>
            <a:ext cx="1059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19,6 / 18,2</a:t>
            </a:r>
          </a:p>
        </p:txBody>
      </p:sp>
      <p:sp>
        <p:nvSpPr>
          <p:cNvPr id="15" name="hf-817">
            <a:extLst xmlns:a="http://schemas.openxmlformats.org/drawingml/2006/main">
              <a:ext uri="{FF2B5EF4-FFF2-40B4-BE49-F238E27FC236}">
                <a16:creationId xmlns:a16="http://schemas.microsoft.com/office/drawing/2014/main" id="{71ECD160-ACD9-483B-9B05-867320AE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hf-818">
            <a:extLst xmlns:a="http://schemas.openxmlformats.org/drawingml/2006/main">
              <a:ext uri="{FF2B5EF4-FFF2-40B4-BE49-F238E27FC236}">
                <a16:creationId xmlns:a16="http://schemas.microsoft.com/office/drawing/2014/main" id="{88F5A06F-D045-4C83-B318-730A3014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3779"/>
            <a:ext cx="10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≈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20,1 / 21,0</a:t>
            </a:r>
          </a:p>
        </p:txBody>
      </p:sp>
      <p:sp>
        <p:nvSpPr>
          <p:cNvPr id="17" name="hf-819">
            <a:extLst xmlns:a="http://schemas.openxmlformats.org/drawingml/2006/main">
              <a:ext uri="{FF2B5EF4-FFF2-40B4-BE49-F238E27FC236}">
                <a16:creationId xmlns:a16="http://schemas.microsoft.com/office/drawing/2014/main" id="{29AD8074-F0F3-4A5C-9E92-834547C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6670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8" name="hf-820">
            <a:extLst xmlns:a="http://schemas.openxmlformats.org/drawingml/2006/main">
              <a:ext uri="{FF2B5EF4-FFF2-40B4-BE49-F238E27FC236}">
                <a16:creationId xmlns:a16="http://schemas.microsoft.com/office/drawing/2014/main" id="{8EA202B4-DDD3-4448-9B74-7DDC559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710034"/>
            <a:ext cx="1208112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sort ×1,9 </a:t>
            </a:r>
          </a:p>
        </p:txBody>
      </p:sp>
      <p:sp>
        <p:nvSpPr>
          <p:cNvPr id="19" name="hf-821">
            <a:extLst xmlns:a="http://schemas.openxmlformats.org/drawingml/2006/main">
              <a:ext uri="{FF2B5EF4-FFF2-40B4-BE49-F238E27FC236}">
                <a16:creationId xmlns:a16="http://schemas.microsoft.com/office/drawing/2014/main" id="{FA0CAF22-B15C-463E-8835-E32CBE00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500" y="2688727"/>
            <a:ext cx="930771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55,3 / 105,3</a:t>
            </a:r>
          </a:p>
        </p:txBody>
      </p:sp>
      <p:sp>
        <p:nvSpPr>
          <p:cNvPr id="20" name="hf-822">
            <a:extLst xmlns:a="http://schemas.openxmlformats.org/drawingml/2006/main">
              <a:ext uri="{FF2B5EF4-FFF2-40B4-BE49-F238E27FC236}">
                <a16:creationId xmlns:a16="http://schemas.microsoft.com/office/drawing/2014/main" id="{74F2FD01-A9B2-4F71-B120-123674D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hf-823">
            <a:extLst xmlns:a="http://schemas.openxmlformats.org/drawingml/2006/main">
              <a:ext uri="{FF2B5EF4-FFF2-40B4-BE49-F238E27FC236}">
                <a16:creationId xmlns:a16="http://schemas.microsoft.com/office/drawing/2014/main" id="{8A9CE1A6-DD3C-43FA-A752-65FFB37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6784"/>
            <a:ext cx="1208112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×1,9 </a:t>
            </a:r>
          </a:p>
        </p:txBody>
      </p:sp>
      <p:sp>
        <p:nvSpPr>
          <p:cNvPr id="22" name="hf-824">
            <a:extLst xmlns:a="http://schemas.openxmlformats.org/drawingml/2006/main">
              <a:ext uri="{FF2B5EF4-FFF2-40B4-BE49-F238E27FC236}">
                <a16:creationId xmlns:a16="http://schemas.microsoft.com/office/drawing/2014/main" id="{92476F7C-969E-4D6E-B6AD-E961C9B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62" y="3355477"/>
            <a:ext cx="955849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92,6 / 178,4</a:t>
            </a:r>
          </a:p>
        </p:txBody>
      </p:sp>
      <p:sp>
        <p:nvSpPr>
          <p:cNvPr id="23" name="hf-825">
            <a:extLst xmlns:a="http://schemas.openxmlformats.org/drawingml/2006/main">
              <a:ext uri="{FF2B5EF4-FFF2-40B4-BE49-F238E27FC236}">
                <a16:creationId xmlns:a16="http://schemas.microsoft.com/office/drawing/2014/main" id="{C91CE85C-7C09-4306-B7F8-47C06BF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33337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hf-826">
            <a:extLst xmlns:a="http://schemas.openxmlformats.org/drawingml/2006/main">
              <a:ext uri="{FF2B5EF4-FFF2-40B4-BE49-F238E27FC236}">
                <a16:creationId xmlns:a16="http://schemas.microsoft.com/office/drawing/2014/main" id="{6DCCAFBD-593A-4393-940A-37A377FC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3376784"/>
            <a:ext cx="11991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9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sort ×1,3 </a:t>
            </a:r>
          </a:p>
        </p:txBody>
      </p:sp>
      <p:sp>
        <p:nvSpPr>
          <p:cNvPr id="25" name="hf-827">
            <a:extLst xmlns:a="http://schemas.openxmlformats.org/drawingml/2006/main">
              <a:ext uri="{FF2B5EF4-FFF2-40B4-BE49-F238E27FC236}">
                <a16:creationId xmlns:a16="http://schemas.microsoft.com/office/drawing/2014/main" id="{27CF185B-F690-4B17-822D-7FAAF572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496" y="3355477"/>
            <a:ext cx="100481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925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145,6 / 195,2</a:t>
            </a:r>
          </a:p>
        </p:txBody>
      </p:sp>
      <p:sp>
        <p:nvSpPr>
          <p:cNvPr id="26" name="hf-828">
            <a:extLst xmlns:a="http://schemas.openxmlformats.org/drawingml/2006/main">
              <a:ext uri="{FF2B5EF4-FFF2-40B4-BE49-F238E27FC236}">
                <a16:creationId xmlns:a16="http://schemas.microsoft.com/office/drawing/2014/main" id="{528370CB-C13A-443C-8761-BB3FAC3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08704"/>
            <a:ext cx="61407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 этой серии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background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sort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впереди на обоих устройствах</a:t>
            </a:r>
          </a:p>
        </p:txBody>
      </p:sp>
      <p:pic>
        <p:nvPicPr>
          <p:cNvPr id="27" name="hf-829">
            <a:extLst xmlns:a="http://schemas.openxmlformats.org/drawingml/2006/main">
              <a:ext uri="{FF2B5EF4-FFF2-40B4-BE49-F238E27FC236}">
                <a16:creationId xmlns:a16="http://schemas.microsoft.com/office/drawing/2014/main" id="{A4AA8F97-A327-4FEE-B3B2-E4CBA758DC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130c98e134b8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8" name="hf-830">
            <a:extLst xmlns:a="http://schemas.openxmlformats.org/drawingml/2006/main">
              <a:ext uri="{FF2B5EF4-FFF2-40B4-BE49-F238E27FC236}">
                <a16:creationId xmlns:a16="http://schemas.microsoft.com/office/drawing/2014/main" id="{17AB66D2-312E-48AE-A857-FFD72D9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92528812"/>
      </p:ext>
    </p:extLst>
  </p:cSld>
</p:sld>
</file>

<file path=ppt/slides/slide41.xml><?xml version="1.0" encoding="utf-8"?>
<p:sld xmlns:p="http://schemas.openxmlformats.org/presentationml/2006/main" show="0">
  <p:cSld name="syste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31">
            <a:extLst xmlns:a="http://schemas.openxmlformats.org/drawingml/2006/main">
              <a:ext uri="{FF2B5EF4-FFF2-40B4-BE49-F238E27FC236}">
                <a16:creationId xmlns:a16="http://schemas.microsoft.com/office/drawing/2014/main" id="{642DDE84-DB72-4272-9E4F-C7BB7840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32">
            <a:extLst xmlns:a="http://schemas.openxmlformats.org/drawingml/2006/main">
              <a:ext uri="{FF2B5EF4-FFF2-40B4-BE49-F238E27FC236}">
                <a16:creationId xmlns:a16="http://schemas.microsoft.com/office/drawing/2014/main" id="{AC7922A0-2E74-4B4D-9448-74094871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48223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 КАЖДОЙ СИСТЕМЫ СВОЯ ТОЧКА</a:t>
            </a:r>
          </a:p>
        </p:txBody>
      </p:sp>
      <p:sp>
        <p:nvSpPr>
          <p:cNvPr id="4" name="hf-833">
            <a:extLst xmlns:a="http://schemas.openxmlformats.org/drawingml/2006/main">
              <a:ext uri="{FF2B5EF4-FFF2-40B4-BE49-F238E27FC236}">
                <a16:creationId xmlns:a16="http://schemas.microsoft.com/office/drawing/2014/main" id="{4A754CBA-6E6E-4F2B-83AC-6AC9D41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76130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ПЕРЕХОДА</a:t>
            </a:r>
          </a:p>
        </p:txBody>
      </p:sp>
      <p:sp>
        <p:nvSpPr>
          <p:cNvPr id="5" name="hf-834">
            <a:extLst xmlns:a="http://schemas.openxmlformats.org/drawingml/2006/main">
              <a:ext uri="{FF2B5EF4-FFF2-40B4-BE49-F238E27FC236}">
                <a16:creationId xmlns:a16="http://schemas.microsoft.com/office/drawing/2014/main" id="{A67144E7-4AB0-4B7C-922B-195B11A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62370"/>
            <a:ext cx="4709666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U = 2²⁰: во сколько раз sort быстрее unordered_set</a:t>
            </a:r>
          </a:p>
        </p:txBody>
      </p:sp>
      <p:sp>
        <p:nvSpPr>
          <p:cNvPr id="6" name="hf-835">
            <a:extLst xmlns:a="http://schemas.openxmlformats.org/drawingml/2006/main">
              <a:ext uri="{FF2B5EF4-FFF2-40B4-BE49-F238E27FC236}">
                <a16:creationId xmlns:a16="http://schemas.microsoft.com/office/drawing/2014/main" id="{0ECD5888-4A07-4946-938C-3A43A2BA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1" y="1789909"/>
            <a:ext cx="10549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x86 · Linux</a:t>
            </a:r>
          </a:p>
        </p:txBody>
      </p:sp>
      <p:sp>
        <p:nvSpPr>
          <p:cNvPr id="7" name="hf-836">
            <a:extLst xmlns:a="http://schemas.openxmlformats.org/drawingml/2006/main">
              <a:ext uri="{FF2B5EF4-FFF2-40B4-BE49-F238E27FC236}">
                <a16:creationId xmlns:a16="http://schemas.microsoft.com/office/drawing/2014/main" id="{6B22B69F-F175-464E-803A-0F015328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1" y="2096881"/>
            <a:ext cx="1315343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Xeon VM · GCC 13</a:t>
            </a:r>
          </a:p>
        </p:txBody>
      </p:sp>
      <p:sp>
        <p:nvSpPr>
          <p:cNvPr id="8" name="hf-837">
            <a:extLst xmlns:a="http://schemas.openxmlformats.org/drawingml/2006/main">
              <a:ext uri="{FF2B5EF4-FFF2-40B4-BE49-F238E27FC236}">
                <a16:creationId xmlns:a16="http://schemas.microsoft.com/office/drawing/2014/main" id="{F9600D84-3F8D-48E5-A87A-080EB31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hf-838">
            <a:extLst xmlns:a="http://schemas.openxmlformats.org/drawingml/2006/main">
              <a:ext uri="{FF2B5EF4-FFF2-40B4-BE49-F238E27FC236}">
                <a16:creationId xmlns:a16="http://schemas.microsoft.com/office/drawing/2014/main" id="{3546363F-0CC1-428A-8AD0-8649CE0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7" y="2552757"/>
            <a:ext cx="1154311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×2,07</a:t>
            </a:r>
          </a:p>
        </p:txBody>
      </p:sp>
      <p:sp>
        <p:nvSpPr>
          <p:cNvPr id="10" name="hf-839">
            <a:extLst xmlns:a="http://schemas.openxmlformats.org/drawingml/2006/main">
              <a:ext uri="{FF2B5EF4-FFF2-40B4-BE49-F238E27FC236}">
                <a16:creationId xmlns:a16="http://schemas.microsoft.com/office/drawing/2014/main" id="{DE2AFF24-8A3A-415C-8863-F1CB6B5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" y="3597412"/>
            <a:ext cx="118578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= 16 и от 2M</a:t>
            </a:r>
          </a:p>
        </p:txBody>
      </p:sp>
      <p:sp>
        <p:nvSpPr>
          <p:cNvPr id="11" name="hf-840">
            <a:extLst xmlns:a="http://schemas.openxmlformats.org/drawingml/2006/main">
              <a:ext uri="{FF2B5EF4-FFF2-40B4-BE49-F238E27FC236}">
                <a16:creationId xmlns:a16="http://schemas.microsoft.com/office/drawing/2014/main" id="{0BF309A0-7684-4831-9C31-05D7AA2D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698" y="1789909"/>
            <a:ext cx="136780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 Pro · Linux</a:t>
            </a:r>
          </a:p>
        </p:txBody>
      </p:sp>
      <p:sp>
        <p:nvSpPr>
          <p:cNvPr id="12" name="hf-841">
            <a:extLst xmlns:a="http://schemas.openxmlformats.org/drawingml/2006/main">
              <a:ext uri="{FF2B5EF4-FFF2-40B4-BE49-F238E27FC236}">
                <a16:creationId xmlns:a16="http://schemas.microsoft.com/office/drawing/2014/main" id="{F13340D8-F1FA-4CEE-A8D6-4965D461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27" y="2096881"/>
            <a:ext cx="873547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VM · GCC 11</a:t>
            </a:r>
          </a:p>
        </p:txBody>
      </p:sp>
      <p:sp>
        <p:nvSpPr>
          <p:cNvPr id="13" name="hf-842">
            <a:extLst xmlns:a="http://schemas.openxmlformats.org/drawingml/2006/main">
              <a:ext uri="{FF2B5EF4-FFF2-40B4-BE49-F238E27FC236}">
                <a16:creationId xmlns:a16="http://schemas.microsoft.com/office/drawing/2014/main" id="{0427DF9F-BD2D-4CA2-AD0F-4BFA238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hf-843">
            <a:extLst xmlns:a="http://schemas.openxmlformats.org/drawingml/2006/main">
              <a:ext uri="{FF2B5EF4-FFF2-40B4-BE49-F238E27FC236}">
                <a16:creationId xmlns:a16="http://schemas.microsoft.com/office/drawing/2014/main" id="{AA4ADCE4-7008-415C-8B18-12831BC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700" y="2552757"/>
            <a:ext cx="1139800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×2,67</a:t>
            </a:r>
          </a:p>
        </p:txBody>
      </p:sp>
      <p:sp>
        <p:nvSpPr>
          <p:cNvPr id="15" name="hf-844">
            <a:extLst xmlns:a="http://schemas.openxmlformats.org/drawingml/2006/main">
              <a:ext uri="{FF2B5EF4-FFF2-40B4-BE49-F238E27FC236}">
                <a16:creationId xmlns:a16="http://schemas.microsoft.com/office/drawing/2014/main" id="{298F7317-8403-4DE2-8645-AE29751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412" y="3597412"/>
            <a:ext cx="1282378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128 и от 2M</a:t>
            </a:r>
          </a:p>
        </p:txBody>
      </p:sp>
      <p:sp>
        <p:nvSpPr>
          <p:cNvPr id="16" name="hf-845">
            <a:extLst xmlns:a="http://schemas.openxmlformats.org/drawingml/2006/main">
              <a:ext uri="{FF2B5EF4-FFF2-40B4-BE49-F238E27FC236}">
                <a16:creationId xmlns:a16="http://schemas.microsoft.com/office/drawing/2014/main" id="{2563E4FD-07F3-4A7A-BBD9-85FB5D3A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78" y="1789909"/>
            <a:ext cx="152779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 Pro · macOS</a:t>
            </a:r>
          </a:p>
        </p:txBody>
      </p:sp>
      <p:sp>
        <p:nvSpPr>
          <p:cNvPr id="17" name="hf-846">
            <a:extLst xmlns:a="http://schemas.openxmlformats.org/drawingml/2006/main">
              <a:ext uri="{FF2B5EF4-FFF2-40B4-BE49-F238E27FC236}">
                <a16:creationId xmlns:a16="http://schemas.microsoft.com/office/drawing/2014/main" id="{D2B46829-68EE-4F3F-B3D5-3BA4D8A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58" y="2096881"/>
            <a:ext cx="487635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libc++</a:t>
            </a:r>
          </a:p>
        </p:txBody>
      </p:sp>
      <p:sp>
        <p:nvSpPr>
          <p:cNvPr id="18" name="hf-847">
            <a:extLst xmlns:a="http://schemas.openxmlformats.org/drawingml/2006/main">
              <a:ext uri="{FF2B5EF4-FFF2-40B4-BE49-F238E27FC236}">
                <a16:creationId xmlns:a16="http://schemas.microsoft.com/office/drawing/2014/main" id="{6E04B1D0-858B-40CA-A9E9-A0FAE83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2428875"/>
            <a:ext cx="180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9" name="hf-848">
            <a:extLst xmlns:a="http://schemas.openxmlformats.org/drawingml/2006/main">
              <a:ext uri="{FF2B5EF4-FFF2-40B4-BE49-F238E27FC236}">
                <a16:creationId xmlns:a16="http://schemas.microsoft.com/office/drawing/2014/main" id="{168D36EC-C934-43DC-B6BD-43C62DF9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610" y="2552757"/>
            <a:ext cx="1136005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×2,59</a:t>
            </a:r>
          </a:p>
        </p:txBody>
      </p:sp>
      <p:sp>
        <p:nvSpPr>
          <p:cNvPr id="20" name="hf-849">
            <a:extLst xmlns:a="http://schemas.openxmlformats.org/drawingml/2006/main">
              <a:ext uri="{FF2B5EF4-FFF2-40B4-BE49-F238E27FC236}">
                <a16:creationId xmlns:a16="http://schemas.microsoft.com/office/drawing/2014/main" id="{23EF47BA-6A67-4EC1-B348-A678477B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917" y="3597412"/>
            <a:ext cx="127739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256 и от 1M</a:t>
            </a:r>
          </a:p>
        </p:txBody>
      </p:sp>
      <p:sp>
        <p:nvSpPr>
          <p:cNvPr id="21" name="hf-850">
            <a:extLst xmlns:a="http://schemas.openxmlformats.org/drawingml/2006/main">
              <a:ext uri="{FF2B5EF4-FFF2-40B4-BE49-F238E27FC236}">
                <a16:creationId xmlns:a16="http://schemas.microsoft.com/office/drawing/2014/main" id="{3271BF9A-99ED-43DE-850A-289050C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499" y="1789909"/>
            <a:ext cx="1330077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781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iPhone 14 Pro</a:t>
            </a:r>
          </a:p>
        </p:txBody>
      </p:sp>
      <p:sp>
        <p:nvSpPr>
          <p:cNvPr id="22" name="hf-851">
            <a:extLst xmlns:a="http://schemas.openxmlformats.org/drawingml/2006/main">
              <a:ext uri="{FF2B5EF4-FFF2-40B4-BE49-F238E27FC236}">
                <a16:creationId xmlns:a16="http://schemas.microsoft.com/office/drawing/2014/main" id="{774DAEF1-6B07-456D-8A08-F58C2AC6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585" y="2096881"/>
            <a:ext cx="805904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A16 Bionic</a:t>
            </a:r>
          </a:p>
        </p:txBody>
      </p:sp>
      <p:sp>
        <p:nvSpPr>
          <p:cNvPr id="23" name="hf-852">
            <a:extLst xmlns:a="http://schemas.openxmlformats.org/drawingml/2006/main">
              <a:ext uri="{FF2B5EF4-FFF2-40B4-BE49-F238E27FC236}">
                <a16:creationId xmlns:a16="http://schemas.microsoft.com/office/drawing/2014/main" id="{2B8B3DAB-C4B9-49FA-BB35-DA29E94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2428875"/>
            <a:ext cx="17716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4" name="hf-853">
            <a:extLst xmlns:a="http://schemas.openxmlformats.org/drawingml/2006/main">
              <a:ext uri="{FF2B5EF4-FFF2-40B4-BE49-F238E27FC236}">
                <a16:creationId xmlns:a16="http://schemas.microsoft.com/office/drawing/2014/main" id="{39062A74-523D-4D61-8501-32AC2C8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804" y="2552757"/>
            <a:ext cx="1115467" cy="439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308"/>
              </a:lnSpc>
              <a:buNone/>
            </a:pPr>
            <a:r>
              <a:rPr sz="31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×2,53</a:t>
            </a:r>
          </a:p>
        </p:txBody>
      </p:sp>
      <p:sp>
        <p:nvSpPr>
          <p:cNvPr id="25" name="hf-854">
            <a:extLst xmlns:a="http://schemas.openxmlformats.org/drawingml/2006/main">
              <a:ext uri="{FF2B5EF4-FFF2-40B4-BE49-F238E27FC236}">
                <a16:creationId xmlns:a16="http://schemas.microsoft.com/office/drawing/2014/main" id="{967D4010-7365-4033-A148-DB9F64B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842" y="3597412"/>
            <a:ext cx="127739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≤ 256 и от 1M</a:t>
            </a:r>
          </a:p>
        </p:txBody>
      </p:sp>
      <p:sp>
        <p:nvSpPr>
          <p:cNvPr id="26" name="hf-855">
            <a:extLst xmlns:a="http://schemas.openxmlformats.org/drawingml/2006/main">
              <a:ext uri="{FF2B5EF4-FFF2-40B4-BE49-F238E27FC236}">
                <a16:creationId xmlns:a16="http://schemas.microsoft.com/office/drawing/2014/main" id="{E2EC87D6-FA95-4251-BDA1-6757AD44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34045"/>
            <a:ext cx="2196108" cy="221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94"/>
              </a:lnSpc>
              <a:buNone/>
            </a:pP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U = N/2: где sort впереди</a:t>
            </a:r>
          </a:p>
        </p:txBody>
      </p:sp>
      <p:sp>
        <p:nvSpPr>
          <p:cNvPr id="27" name="hf-856">
            <a:extLst xmlns:a="http://schemas.openxmlformats.org/drawingml/2006/main">
              <a:ext uri="{FF2B5EF4-FFF2-40B4-BE49-F238E27FC236}">
                <a16:creationId xmlns:a16="http://schemas.microsoft.com/office/drawing/2014/main" id="{4CAA4505-3BD2-4C5D-90BC-6CB043D3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5738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8" name="hf-857">
            <a:extLst xmlns:a="http://schemas.openxmlformats.org/drawingml/2006/main">
              <a:ext uri="{FF2B5EF4-FFF2-40B4-BE49-F238E27FC236}">
                <a16:creationId xmlns:a16="http://schemas.microsoft.com/office/drawing/2014/main" id="{230743BA-D949-441F-A0F1-A7B3BFF7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90686"/>
            <a:ext cx="5911528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52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Системы целиком: CPU, ОС, библиотека и режим исполнения</a:t>
            </a:r>
          </a:p>
        </p:txBody>
      </p:sp>
      <p:pic>
        <p:nvPicPr>
          <p:cNvPr id="29" name="hf-858">
            <a:extLst xmlns:a="http://schemas.openxmlformats.org/drawingml/2006/main">
              <a:ext uri="{FF2B5EF4-FFF2-40B4-BE49-F238E27FC236}">
                <a16:creationId xmlns:a16="http://schemas.microsoft.com/office/drawing/2014/main" id="{261B3B7C-CEF0-41E7-BA6A-E2E4B6CBF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865743dc04f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0" name="hf-859">
            <a:extLst xmlns:a="http://schemas.openxmlformats.org/drawingml/2006/main">
              <a:ext uri="{FF2B5EF4-FFF2-40B4-BE49-F238E27FC236}">
                <a16:creationId xmlns:a16="http://schemas.microsoft.com/office/drawing/2014/main" id="{AF5FBD25-D6E0-4626-9668-7D9BFC82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479473072"/>
      </p:ext>
    </p:extLst>
  </p:cSld>
</p:sld>
</file>

<file path=ppt/slides/slide42.xml><?xml version="1.0" encoding="utf-8"?>
<p:sld xmlns:p="http://schemas.openxmlformats.org/presentationml/2006/main" show="0">
  <p:cSld name="drif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60">
            <a:extLst xmlns:a="http://schemas.openxmlformats.org/drawingml/2006/main">
              <a:ext uri="{FF2B5EF4-FFF2-40B4-BE49-F238E27FC236}">
                <a16:creationId xmlns:a16="http://schemas.microsoft.com/office/drawing/2014/main" id="{D52544C1-3687-4281-A2C3-048BDB95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61">
            <a:extLst xmlns:a="http://schemas.openxmlformats.org/drawingml/2006/main">
              <a:ext uri="{FF2B5EF4-FFF2-40B4-BE49-F238E27FC236}">
                <a16:creationId xmlns:a16="http://schemas.microsoft.com/office/drawing/2014/main" id="{FB2F4987-4F04-47B5-A7EF-5DF8142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60484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ДВЕ МИНУТЫ ПОД НАГРУЗКОЙ: ПОРЯДОК</a:t>
            </a:r>
          </a:p>
        </p:txBody>
      </p:sp>
      <p:sp>
        <p:nvSpPr>
          <p:cNvPr id="4" name="hf-862">
            <a:extLst xmlns:a="http://schemas.openxmlformats.org/drawingml/2006/main">
              <a:ext uri="{FF2B5EF4-FFF2-40B4-BE49-F238E27FC236}">
                <a16:creationId xmlns:a16="http://schemas.microsoft.com/office/drawing/2014/main" id="{5B853504-BF27-4D60-889F-8034432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51445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НЕ ИЗМЕНИЛСЯ</a:t>
            </a:r>
          </a:p>
        </p:txBody>
      </p:sp>
      <p:sp>
        <p:nvSpPr>
          <p:cNvPr id="5" name="hf-863">
            <a:extLst xmlns:a="http://schemas.openxmlformats.org/drawingml/2006/main">
              <a:ext uri="{FF2B5EF4-FFF2-40B4-BE49-F238E27FC236}">
                <a16:creationId xmlns:a16="http://schemas.microsoft.com/office/drawing/2014/main" id="{CC37E5B6-A35F-426F-A56A-F93BD9C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46281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iPhone · N = 256K, U = N/2 · нс на элемент, ниже — лучше</a:t>
            </a:r>
          </a:p>
        </p:txBody>
      </p:sp>
      <p:sp>
        <p:nvSpPr>
          <p:cNvPr id="6" name="hf-864">
            <a:extLst xmlns:a="http://schemas.openxmlformats.org/drawingml/2006/main">
              <a:ext uri="{FF2B5EF4-FFF2-40B4-BE49-F238E27FC236}">
                <a16:creationId xmlns:a16="http://schemas.microsoft.com/office/drawing/2014/main" id="{BC5F9E4F-D62F-4830-9AD8-FB315C93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" name="hf-865">
            <a:extLst xmlns:a="http://schemas.openxmlformats.org/drawingml/2006/main">
              <a:ext uri="{FF2B5EF4-FFF2-40B4-BE49-F238E27FC236}">
                <a16:creationId xmlns:a16="http://schemas.microsoft.com/office/drawing/2014/main" id="{C808FC2C-6909-4E8A-8639-1F49524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8" name="hf-866">
            <a:extLst xmlns:a="http://schemas.openxmlformats.org/drawingml/2006/main">
              <a:ext uri="{FF2B5EF4-FFF2-40B4-BE49-F238E27FC236}">
                <a16:creationId xmlns:a16="http://schemas.microsoft.com/office/drawing/2014/main" id="{4335A65A-28F5-4328-B664-3C6CC20E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9" name="hf-867">
            <a:extLst xmlns:a="http://schemas.openxmlformats.org/drawingml/2006/main">
              <a:ext uri="{FF2B5EF4-FFF2-40B4-BE49-F238E27FC236}">
                <a16:creationId xmlns:a16="http://schemas.microsoft.com/office/drawing/2014/main" id="{DCF4B55F-F8F9-4158-8CFD-042FBCE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0" name="hf-868">
            <a:extLst xmlns:a="http://schemas.openxmlformats.org/drawingml/2006/main">
              <a:ext uri="{FF2B5EF4-FFF2-40B4-BE49-F238E27FC236}">
                <a16:creationId xmlns:a16="http://schemas.microsoft.com/office/drawing/2014/main" id="{666A847B-DC1B-4CE5-8689-270B8B44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4343400" cy="953"/>
          </a:xfrm>
          <a:custGeom xmlns:a="http://schemas.openxmlformats.org/drawingml/2006/main">
            <a:pathLst>
              <a:path w="4343400" h="476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F8F8F"/>
            </a:solidFill>
          </a:ln>
        </p:spPr>
      </p:sp>
      <p:sp>
        <p:nvSpPr>
          <p:cNvPr id="11" name="hf-869">
            <a:extLst xmlns:a="http://schemas.openxmlformats.org/drawingml/2006/main">
              <a:ext uri="{FF2B5EF4-FFF2-40B4-BE49-F238E27FC236}">
                <a16:creationId xmlns:a16="http://schemas.microsoft.com/office/drawing/2014/main" id="{1C133E6A-837C-4D97-9F52-E7F1274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2316480"/>
            <a:ext cx="3800475" cy="1333500"/>
          </a:xfrm>
          <a:custGeom xmlns:a="http://schemas.openxmlformats.org/drawingml/2006/main">
            <a:pathLst>
              <a:path w="3800475" h="1333500">
                <a:moveTo>
                  <a:pt x="0" y="1333500"/>
                </a:moveTo>
                <a:lnTo>
                  <a:pt x="1628775" y="746760"/>
                </a:lnTo>
                <a:lnTo>
                  <a:pt x="3257550" y="426720"/>
                </a:ln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2489B"/>
            </a:solidFill>
          </a:ln>
        </p:spPr>
      </p:sp>
      <p:sp>
        <p:nvSpPr>
          <p:cNvPr id="12" name="hf-870">
            <a:extLst xmlns:a="http://schemas.openxmlformats.org/drawingml/2006/main">
              <a:ext uri="{FF2B5EF4-FFF2-40B4-BE49-F238E27FC236}">
                <a16:creationId xmlns:a16="http://schemas.microsoft.com/office/drawing/2014/main" id="{2D3D0A18-5CC7-4C52-B3C7-87EC484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5975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" name="hf-871">
            <a:extLst xmlns:a="http://schemas.openxmlformats.org/drawingml/2006/main">
              <a:ext uri="{FF2B5EF4-FFF2-40B4-BE49-F238E27FC236}">
                <a16:creationId xmlns:a16="http://schemas.microsoft.com/office/drawing/2014/main" id="{5030F07F-3229-4C06-9AB7-C13688E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1085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4" name="hf-872">
            <a:extLst xmlns:a="http://schemas.openxmlformats.org/drawingml/2006/main">
              <a:ext uri="{FF2B5EF4-FFF2-40B4-BE49-F238E27FC236}">
                <a16:creationId xmlns:a16="http://schemas.microsoft.com/office/drawing/2014/main" id="{64AE3840-874D-43CE-8AEB-746C9423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0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5" name="hf-873">
            <a:extLst xmlns:a="http://schemas.openxmlformats.org/drawingml/2006/main">
              <a:ext uri="{FF2B5EF4-FFF2-40B4-BE49-F238E27FC236}">
                <a16:creationId xmlns:a16="http://schemas.microsoft.com/office/drawing/2014/main" id="{050D8FC9-4085-4EEF-9CFD-3B959DF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40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6" name="hf-874">
            <a:extLst xmlns:a="http://schemas.openxmlformats.org/drawingml/2006/main">
              <a:ext uri="{FF2B5EF4-FFF2-40B4-BE49-F238E27FC236}">
                <a16:creationId xmlns:a16="http://schemas.microsoft.com/office/drawing/2014/main" id="{6E6CC47D-BD65-42D4-B910-C1A8207F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1996440"/>
            <a:ext cx="3800475" cy="1013460"/>
          </a:xfrm>
          <a:custGeom xmlns:a="http://schemas.openxmlformats.org/drawingml/2006/main">
            <a:pathLst>
              <a:path w="3800475" h="1013460">
                <a:moveTo>
                  <a:pt x="0" y="1013460"/>
                </a:moveTo>
                <a:lnTo>
                  <a:pt x="1628775" y="1013460"/>
                </a:lnTo>
                <a:lnTo>
                  <a:pt x="3257550" y="213360"/>
                </a:ln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17" name="hf-875">
            <a:extLst xmlns:a="http://schemas.openxmlformats.org/drawingml/2006/main">
              <a:ext uri="{FF2B5EF4-FFF2-40B4-BE49-F238E27FC236}">
                <a16:creationId xmlns:a16="http://schemas.microsoft.com/office/drawing/2014/main" id="{720C0B37-B4E0-499D-8A11-24263F7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8" name="hf-876">
            <a:extLst xmlns:a="http://schemas.openxmlformats.org/drawingml/2006/main">
              <a:ext uri="{FF2B5EF4-FFF2-40B4-BE49-F238E27FC236}">
                <a16:creationId xmlns:a16="http://schemas.microsoft.com/office/drawing/2014/main" id="{FF6D5655-2CD0-476D-A6EA-25D8A3F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9" name="hf-877">
            <a:extLst xmlns:a="http://schemas.openxmlformats.org/drawingml/2006/main">
              <a:ext uri="{FF2B5EF4-FFF2-40B4-BE49-F238E27FC236}">
                <a16:creationId xmlns:a16="http://schemas.microsoft.com/office/drawing/2014/main" id="{205C8DAD-5F73-4BAE-A885-76F7F5C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574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0" name="hf-878">
            <a:extLst xmlns:a="http://schemas.openxmlformats.org/drawingml/2006/main">
              <a:ext uri="{FF2B5EF4-FFF2-40B4-BE49-F238E27FC236}">
                <a16:creationId xmlns:a16="http://schemas.microsoft.com/office/drawing/2014/main" id="{E8B40C7F-6378-4E4F-9A69-6362F4CB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405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DAE"/>
          </a:solidFill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21" name="hf-879">
            <a:extLst xmlns:a="http://schemas.openxmlformats.org/drawingml/2006/main">
              <a:ext uri="{FF2B5EF4-FFF2-40B4-BE49-F238E27FC236}">
                <a16:creationId xmlns:a16="http://schemas.microsoft.com/office/drawing/2014/main" id="{4AAF7E72-3ECE-4487-98F8-AF44D1E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70" y="2870454"/>
            <a:ext cx="4042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19,0</a:t>
            </a:r>
          </a:p>
        </p:txBody>
      </p:sp>
      <p:sp>
        <p:nvSpPr>
          <p:cNvPr id="22" name="hf-880">
            <a:extLst xmlns:a="http://schemas.openxmlformats.org/drawingml/2006/main">
              <a:ext uri="{FF2B5EF4-FFF2-40B4-BE49-F238E27FC236}">
                <a16:creationId xmlns:a16="http://schemas.microsoft.com/office/drawing/2014/main" id="{BA68B4EB-F98F-4E66-979C-493E4E58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97" y="3508629"/>
            <a:ext cx="3917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17,8</a:t>
            </a:r>
          </a:p>
        </p:txBody>
      </p:sp>
      <p:sp>
        <p:nvSpPr>
          <p:cNvPr id="23" name="hf-881">
            <a:extLst xmlns:a="http://schemas.openxmlformats.org/drawingml/2006/main">
              <a:ext uri="{FF2B5EF4-FFF2-40B4-BE49-F238E27FC236}">
                <a16:creationId xmlns:a16="http://schemas.microsoft.com/office/drawing/2014/main" id="{A11AFA63-606A-4D30-8B5A-0402AA5E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827467"/>
            <a:ext cx="4454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20,9</a:t>
            </a:r>
          </a:p>
        </p:txBody>
      </p:sp>
      <p:sp>
        <p:nvSpPr>
          <p:cNvPr id="24" name="hf-882">
            <a:extLst xmlns:a="http://schemas.openxmlformats.org/drawingml/2006/main">
              <a:ext uri="{FF2B5EF4-FFF2-40B4-BE49-F238E27FC236}">
                <a16:creationId xmlns:a16="http://schemas.microsoft.com/office/drawing/2014/main" id="{4E8EB14A-5A05-4736-B0D1-FCD05EC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203704"/>
            <a:ext cx="438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20,3</a:t>
            </a:r>
          </a:p>
        </p:txBody>
      </p:sp>
      <p:sp>
        <p:nvSpPr>
          <p:cNvPr id="25" name="hf-883">
            <a:extLst xmlns:a="http://schemas.openxmlformats.org/drawingml/2006/main">
              <a:ext uri="{FF2B5EF4-FFF2-40B4-BE49-F238E27FC236}">
                <a16:creationId xmlns:a16="http://schemas.microsoft.com/office/drawing/2014/main" id="{2A1654C3-BFFD-4F27-86E8-3049EA2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218" y="3906088"/>
            <a:ext cx="29021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0 с</a:t>
            </a:r>
          </a:p>
        </p:txBody>
      </p:sp>
      <p:sp>
        <p:nvSpPr>
          <p:cNvPr id="26" name="hf-884">
            <a:extLst xmlns:a="http://schemas.openxmlformats.org/drawingml/2006/main">
              <a:ext uri="{FF2B5EF4-FFF2-40B4-BE49-F238E27FC236}">
                <a16:creationId xmlns:a16="http://schemas.microsoft.com/office/drawing/2014/main" id="{FB1DC539-3FF1-45E2-AEE8-FE48667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3906088"/>
            <a:ext cx="3857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60 с</a:t>
            </a:r>
          </a:p>
        </p:txBody>
      </p:sp>
      <p:sp>
        <p:nvSpPr>
          <p:cNvPr id="27" name="hf-885">
            <a:extLst xmlns:a="http://schemas.openxmlformats.org/drawingml/2006/main">
              <a:ext uri="{FF2B5EF4-FFF2-40B4-BE49-F238E27FC236}">
                <a16:creationId xmlns:a16="http://schemas.microsoft.com/office/drawing/2014/main" id="{FF106A60-2239-436A-BFA9-BDB14CB2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245" y="3906088"/>
            <a:ext cx="43688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120 с</a:t>
            </a:r>
          </a:p>
        </p:txBody>
      </p:sp>
      <p:sp>
        <p:nvSpPr>
          <p:cNvPr id="28" name="hf-886">
            <a:extLst xmlns:a="http://schemas.openxmlformats.org/drawingml/2006/main">
              <a:ext uri="{FF2B5EF4-FFF2-40B4-BE49-F238E27FC236}">
                <a16:creationId xmlns:a16="http://schemas.microsoft.com/office/drawing/2014/main" id="{A2DD6C31-6B0A-4575-9723-6155B35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1267"/>
            <a:ext cx="135396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29" name="hf-887">
            <a:extLst xmlns:a="http://schemas.openxmlformats.org/drawingml/2006/main">
              <a:ext uri="{FF2B5EF4-FFF2-40B4-BE49-F238E27FC236}">
                <a16:creationId xmlns:a16="http://schemas.microsoft.com/office/drawing/2014/main" id="{C0A51249-0414-4480-81C8-C3F6887B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1817"/>
            <a:ext cx="121436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+10%</a:t>
            </a:r>
          </a:p>
        </p:txBody>
      </p:sp>
      <p:sp>
        <p:nvSpPr>
          <p:cNvPr id="30" name="hf-888">
            <a:extLst xmlns:a="http://schemas.openxmlformats.org/drawingml/2006/main">
              <a:ext uri="{FF2B5EF4-FFF2-40B4-BE49-F238E27FC236}">
                <a16:creationId xmlns:a16="http://schemas.microsoft.com/office/drawing/2014/main" id="{F6830ABE-79A9-41E3-A5C8-55617EC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1392"/>
            <a:ext cx="14899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31" name="hf-889">
            <a:extLst xmlns:a="http://schemas.openxmlformats.org/drawingml/2006/main">
              <a:ext uri="{FF2B5EF4-FFF2-40B4-BE49-F238E27FC236}">
                <a16:creationId xmlns:a16="http://schemas.microsoft.com/office/drawing/2014/main" id="{0A28E782-B7AC-434A-8507-7169418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1942"/>
            <a:ext cx="1207517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+14%</a:t>
            </a:r>
          </a:p>
        </p:txBody>
      </p:sp>
      <p:sp>
        <p:nvSpPr>
          <p:cNvPr id="32" name="hf-890">
            <a:extLst xmlns:a="http://schemas.openxmlformats.org/drawingml/2006/main">
              <a:ext uri="{FF2B5EF4-FFF2-40B4-BE49-F238E27FC236}">
                <a16:creationId xmlns:a16="http://schemas.microsoft.com/office/drawing/2014/main" id="{2F19DD7A-16DE-47B9-AE45-661891A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223004"/>
            <a:ext cx="68018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thermalState всё время nominal — причина дрейфа не установлена</a:t>
            </a:r>
          </a:p>
        </p:txBody>
      </p:sp>
      <p:pic>
        <p:nvPicPr>
          <p:cNvPr id="33" name="hf-891">
            <a:extLst xmlns:a="http://schemas.openxmlformats.org/drawingml/2006/main">
              <a:ext uri="{FF2B5EF4-FFF2-40B4-BE49-F238E27FC236}">
                <a16:creationId xmlns:a16="http://schemas.microsoft.com/office/drawing/2014/main" id="{608A20BD-B47A-4322-9803-D96B76E37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19ff1265420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4" name="hf-892">
            <a:extLst xmlns:a="http://schemas.openxmlformats.org/drawingml/2006/main">
              <a:ext uri="{FF2B5EF4-FFF2-40B4-BE49-F238E27FC236}">
                <a16:creationId xmlns:a16="http://schemas.microsoft.com/office/drawing/2014/main" id="{A9679E3D-5C3B-4309-8E21-EAD7F74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66563704"/>
      </p:ext>
    </p:extLst>
  </p:cSld>
</p:sld>
</file>

<file path=ppt/slides/slide43.xml><?xml version="1.0" encoding="utf-8"?>
<p:sld xmlns:p="http://schemas.openxmlformats.org/presentationml/2006/main" show="0">
  <p:cSld name="stdlib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893">
            <a:extLst xmlns:a="http://schemas.openxmlformats.org/drawingml/2006/main">
              <a:ext uri="{FF2B5EF4-FFF2-40B4-BE49-F238E27FC236}">
                <a16:creationId xmlns:a16="http://schemas.microsoft.com/office/drawing/2014/main" id="{4BF57B21-0A40-4EBB-94A1-5D01073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894">
            <a:extLst xmlns:a="http://schemas.openxmlformats.org/drawingml/2006/main">
              <a:ext uri="{FF2B5EF4-FFF2-40B4-BE49-F238E27FC236}">
                <a16:creationId xmlns:a16="http://schemas.microsoft.com/office/drawing/2014/main" id="{5CDC0761-4DFF-4562-8BB4-1010FDDE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1762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ТА ЖЕ МАШИНА, ДРУГАЯ БИБЛИОТЕКА</a:t>
            </a:r>
          </a:p>
        </p:txBody>
      </p:sp>
      <p:sp>
        <p:nvSpPr>
          <p:cNvPr id="4" name="hf-895">
            <a:extLst xmlns:a="http://schemas.openxmlformats.org/drawingml/2006/main">
              <a:ext uri="{FF2B5EF4-FFF2-40B4-BE49-F238E27FC236}">
                <a16:creationId xmlns:a16="http://schemas.microsoft.com/office/drawing/2014/main" id="{95841C09-1B83-49EB-BEBB-DBFA42DF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39088"/>
            <a:ext cx="456507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 x86 · одинаковые входы · N = 2^20 · нс на элемент</a:t>
            </a:r>
          </a:p>
        </p:txBody>
      </p:sp>
      <p:sp>
        <p:nvSpPr>
          <p:cNvPr id="5" name="hf-896">
            <a:extLst xmlns:a="http://schemas.openxmlformats.org/drawingml/2006/main">
              <a:ext uri="{FF2B5EF4-FFF2-40B4-BE49-F238E27FC236}">
                <a16:creationId xmlns:a16="http://schemas.microsoft.com/office/drawing/2014/main" id="{621759DE-8A40-4D30-8DFD-FC33391E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047" y="1506207"/>
            <a:ext cx="11136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libstdc++</a:t>
            </a:r>
          </a:p>
        </p:txBody>
      </p:sp>
      <p:sp>
        <p:nvSpPr>
          <p:cNvPr id="6" name="hf-897">
            <a:extLst xmlns:a="http://schemas.openxmlformats.org/drawingml/2006/main">
              <a:ext uri="{FF2B5EF4-FFF2-40B4-BE49-F238E27FC236}">
                <a16:creationId xmlns:a16="http://schemas.microsoft.com/office/drawing/2014/main" id="{8D3EDB4B-E3CF-40EA-B63E-70B44BB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40" y="1801063"/>
            <a:ext cx="9466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GCC · Linux</a:t>
            </a:r>
          </a:p>
        </p:txBody>
      </p:sp>
      <p:sp>
        <p:nvSpPr>
          <p:cNvPr id="7" name="hf-898">
            <a:extLst xmlns:a="http://schemas.openxmlformats.org/drawingml/2006/main">
              <a:ext uri="{FF2B5EF4-FFF2-40B4-BE49-F238E27FC236}">
                <a16:creationId xmlns:a16="http://schemas.microsoft.com/office/drawing/2014/main" id="{12EB79D9-6E82-48AA-8EAF-A12C843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837" y="1506207"/>
            <a:ext cx="74592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libc++</a:t>
            </a:r>
          </a:p>
        </p:txBody>
      </p:sp>
      <p:sp>
        <p:nvSpPr>
          <p:cNvPr id="8" name="hf-899">
            <a:extLst xmlns:a="http://schemas.openxmlformats.org/drawingml/2006/main">
              <a:ext uri="{FF2B5EF4-FFF2-40B4-BE49-F238E27FC236}">
                <a16:creationId xmlns:a16="http://schemas.microsoft.com/office/drawing/2014/main" id="{9B23BCCA-CAD5-4376-9C0C-6E71906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847" y="1801063"/>
            <a:ext cx="168190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Apple · Android NDK</a:t>
            </a:r>
          </a:p>
        </p:txBody>
      </p:sp>
      <p:sp>
        <p:nvSpPr>
          <p:cNvPr id="9" name="hf-900">
            <a:extLst xmlns:a="http://schemas.openxmlformats.org/drawingml/2006/main">
              <a:ext uri="{FF2B5EF4-FFF2-40B4-BE49-F238E27FC236}">
                <a16:creationId xmlns:a16="http://schemas.microsoft.com/office/drawing/2014/main" id="{7BB0AA57-8D0C-410F-B7F0-F0505AA4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764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901">
            <a:extLst xmlns:a="http://schemas.openxmlformats.org/drawingml/2006/main">
              <a:ext uri="{FF2B5EF4-FFF2-40B4-BE49-F238E27FC236}">
                <a16:creationId xmlns:a16="http://schemas.microsoft.com/office/drawing/2014/main" id="{324B3CA1-242F-424E-A3EF-FB1AB2BA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88343"/>
            <a:ext cx="253655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5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</a:t>
            </a: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, все ключи равны</a:t>
            </a:r>
          </a:p>
        </p:txBody>
      </p:sp>
      <p:sp>
        <p:nvSpPr>
          <p:cNvPr id="11" name="hf-902">
            <a:extLst xmlns:a="http://schemas.openxmlformats.org/drawingml/2006/main">
              <a:ext uri="{FF2B5EF4-FFF2-40B4-BE49-F238E27FC236}">
                <a16:creationId xmlns:a16="http://schemas.microsoft.com/office/drawing/2014/main" id="{4C547922-616C-4135-AB56-BCABC3F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915" y="2222792"/>
            <a:ext cx="749871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7,8</a:t>
            </a:r>
          </a:p>
        </p:txBody>
      </p:sp>
      <p:sp>
        <p:nvSpPr>
          <p:cNvPr id="12" name="hf-903">
            <a:extLst xmlns:a="http://schemas.openxmlformats.org/drawingml/2006/main">
              <a:ext uri="{FF2B5EF4-FFF2-40B4-BE49-F238E27FC236}">
                <a16:creationId xmlns:a16="http://schemas.microsoft.com/office/drawing/2014/main" id="{5B9ECBC8-E292-400B-8AA3-4A9B3B8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2143125"/>
            <a:ext cx="21431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904">
            <a:extLst xmlns:a="http://schemas.openxmlformats.org/drawingml/2006/main">
              <a:ext uri="{FF2B5EF4-FFF2-40B4-BE49-F238E27FC236}">
                <a16:creationId xmlns:a16="http://schemas.microsoft.com/office/drawing/2014/main" id="{4292B470-C07E-4754-862B-D3F60727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052" y="2222792"/>
            <a:ext cx="635422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1,2</a:t>
            </a:r>
          </a:p>
        </p:txBody>
      </p:sp>
      <p:sp>
        <p:nvSpPr>
          <p:cNvPr id="14" name="hf-905">
            <a:extLst xmlns:a="http://schemas.openxmlformats.org/drawingml/2006/main">
              <a:ext uri="{FF2B5EF4-FFF2-40B4-BE49-F238E27FC236}">
                <a16:creationId xmlns:a16="http://schemas.microsoft.com/office/drawing/2014/main" id="{FEAD022C-1B97-49FD-A407-788247D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1940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5" name="hf-906">
            <a:extLst xmlns:a="http://schemas.openxmlformats.org/drawingml/2006/main">
              <a:ext uri="{FF2B5EF4-FFF2-40B4-BE49-F238E27FC236}">
                <a16:creationId xmlns:a16="http://schemas.microsoft.com/office/drawing/2014/main" id="{8C4B9872-5CCF-47BE-B9C4-C8E7414C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889504"/>
            <a:ext cx="30373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, 1M уникальных</a:t>
            </a:r>
          </a:p>
        </p:txBody>
      </p:sp>
      <p:sp>
        <p:nvSpPr>
          <p:cNvPr id="16" name="hf-907">
            <a:extLst xmlns:a="http://schemas.openxmlformats.org/drawingml/2006/main">
              <a:ext uri="{FF2B5EF4-FFF2-40B4-BE49-F238E27FC236}">
                <a16:creationId xmlns:a16="http://schemas.microsoft.com/office/drawing/2014/main" id="{0EC7D958-D9E5-4E54-8B80-0B39784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506" y="2868282"/>
            <a:ext cx="44268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146</a:t>
            </a:r>
          </a:p>
        </p:txBody>
      </p:sp>
      <p:sp>
        <p:nvSpPr>
          <p:cNvPr id="17" name="hf-908">
            <a:extLst xmlns:a="http://schemas.openxmlformats.org/drawingml/2006/main">
              <a:ext uri="{FF2B5EF4-FFF2-40B4-BE49-F238E27FC236}">
                <a16:creationId xmlns:a16="http://schemas.microsoft.com/office/drawing/2014/main" id="{1528EEDD-7FC0-4D59-9ED9-A98DA690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506" y="2868282"/>
            <a:ext cx="4205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139</a:t>
            </a:r>
          </a:p>
        </p:txBody>
      </p:sp>
      <p:sp>
        <p:nvSpPr>
          <p:cNvPr id="18" name="hf-909">
            <a:extLst xmlns:a="http://schemas.openxmlformats.org/drawingml/2006/main">
              <a:ext uri="{FF2B5EF4-FFF2-40B4-BE49-F238E27FC236}">
                <a16:creationId xmlns:a16="http://schemas.microsoft.com/office/drawing/2014/main" id="{CD703DF9-2FDA-4751-B24A-3FEC005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24802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9" name="hf-910">
            <a:extLst xmlns:a="http://schemas.openxmlformats.org/drawingml/2006/main">
              <a:ext uri="{FF2B5EF4-FFF2-40B4-BE49-F238E27FC236}">
                <a16:creationId xmlns:a16="http://schemas.microsoft.com/office/drawing/2014/main" id="{3B036E84-2082-41A3-A785-8F3A8A7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18129"/>
            <a:ext cx="19466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узел </a:t>
            </a:r>
            <a:r>
              <a:rPr sz="1500" b="0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unordered_set</a:t>
            </a:r>
          </a:p>
        </p:txBody>
      </p:sp>
      <p:sp>
        <p:nvSpPr>
          <p:cNvPr id="20" name="hf-911">
            <a:extLst xmlns:a="http://schemas.openxmlformats.org/drawingml/2006/main">
              <a:ext uri="{FF2B5EF4-FFF2-40B4-BE49-F238E27FC236}">
                <a16:creationId xmlns:a16="http://schemas.microsoft.com/office/drawing/2014/main" id="{4258C512-03E5-4394-ADE9-54D00967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29" y="3296907"/>
            <a:ext cx="5184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16 Б</a:t>
            </a:r>
          </a:p>
        </p:txBody>
      </p:sp>
      <p:sp>
        <p:nvSpPr>
          <p:cNvPr id="21" name="hf-912">
            <a:extLst xmlns:a="http://schemas.openxmlformats.org/drawingml/2006/main">
              <a:ext uri="{FF2B5EF4-FFF2-40B4-BE49-F238E27FC236}">
                <a16:creationId xmlns:a16="http://schemas.microsoft.com/office/drawing/2014/main" id="{9634E65C-7B9B-4E0F-892D-283EB1E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306" y="3296907"/>
            <a:ext cx="5729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24 Б</a:t>
            </a:r>
          </a:p>
        </p:txBody>
      </p:sp>
      <p:sp>
        <p:nvSpPr>
          <p:cNvPr id="22" name="hf-913">
            <a:extLst xmlns:a="http://schemas.openxmlformats.org/drawingml/2006/main">
              <a:ext uri="{FF2B5EF4-FFF2-40B4-BE49-F238E27FC236}">
                <a16:creationId xmlns:a16="http://schemas.microsoft.com/office/drawing/2014/main" id="{A697A756-6A7B-4B4C-9D96-B94E6DD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766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3" name="hf-914">
            <a:extLst xmlns:a="http://schemas.openxmlformats.org/drawingml/2006/main">
              <a:ext uri="{FF2B5EF4-FFF2-40B4-BE49-F238E27FC236}">
                <a16:creationId xmlns:a16="http://schemas.microsoft.com/office/drawing/2014/main" id="{A8C4DF50-4CBB-4404-9041-5C2B4FD6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46754"/>
            <a:ext cx="80292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std::sort</a:t>
            </a:r>
          </a:p>
        </p:txBody>
      </p:sp>
      <p:sp>
        <p:nvSpPr>
          <p:cNvPr id="24" name="hf-915">
            <a:extLst xmlns:a="http://schemas.openxmlformats.org/drawingml/2006/main">
              <a:ext uri="{FF2B5EF4-FFF2-40B4-BE49-F238E27FC236}">
                <a16:creationId xmlns:a16="http://schemas.microsoft.com/office/drawing/2014/main" id="{CD0CDBCD-6509-4768-8F13-012CCCB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291" y="3746754"/>
            <a:ext cx="8771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introsort</a:t>
            </a:r>
          </a:p>
        </p:txBody>
      </p:sp>
      <p:sp>
        <p:nvSpPr>
          <p:cNvPr id="25" name="hf-916">
            <a:extLst xmlns:a="http://schemas.openxmlformats.org/drawingml/2006/main">
              <a:ext uri="{FF2B5EF4-FFF2-40B4-BE49-F238E27FC236}">
                <a16:creationId xmlns:a16="http://schemas.microsoft.com/office/drawing/2014/main" id="{EA2E4ED4-CC3F-48A6-8D05-39E1B08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37" y="3746754"/>
            <a:ext cx="152705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идеи pdqsort</a:t>
            </a:r>
          </a:p>
        </p:txBody>
      </p:sp>
      <p:sp>
        <p:nvSpPr>
          <p:cNvPr id="26" name="hf-917">
            <a:extLst xmlns:a="http://schemas.openxmlformats.org/drawingml/2006/main">
              <a:ext uri="{FF2B5EF4-FFF2-40B4-BE49-F238E27FC236}">
                <a16:creationId xmlns:a16="http://schemas.microsoft.com/office/drawing/2014/main" id="{4A7714E3-D850-4996-A3A0-B0DB6C02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133850"/>
            <a:ext cx="802957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hf-918">
            <a:extLst xmlns:a="http://schemas.openxmlformats.org/drawingml/2006/main">
              <a:ext uri="{FF2B5EF4-FFF2-40B4-BE49-F238E27FC236}">
                <a16:creationId xmlns:a16="http://schemas.microsoft.com/office/drawing/2014/main" id="{72B5DB55-DCC3-43F0-9391-EEE00E4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4203954"/>
            <a:ext cx="727873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 Apple </a:t>
            </a:r>
            <a:r>
              <a:rPr sz="1500" b="0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std::sort</a:t>
            </a: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— из системной libc++: </a:t>
            </a: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алгоритм выбирает версия ОС</a:t>
            </a:r>
          </a:p>
        </p:txBody>
      </p:sp>
      <p:pic>
        <p:nvPicPr>
          <p:cNvPr id="28" name="hf-919">
            <a:extLst xmlns:a="http://schemas.openxmlformats.org/drawingml/2006/main">
              <a:ext uri="{FF2B5EF4-FFF2-40B4-BE49-F238E27FC236}">
                <a16:creationId xmlns:a16="http://schemas.microsoft.com/office/drawing/2014/main" id="{F0CE30AA-0F85-4366-B6AC-FFC5F5A2C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a731ca65c47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9" name="hf-920">
            <a:extLst xmlns:a="http://schemas.openxmlformats.org/drawingml/2006/main">
              <a:ext uri="{FF2B5EF4-FFF2-40B4-BE49-F238E27FC236}">
                <a16:creationId xmlns:a16="http://schemas.microsoft.com/office/drawing/2014/main" id="{ADAAD6A8-E42D-4732-A4ED-31EA173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92400504"/>
      </p:ext>
    </p:extLst>
  </p:cSld>
</p:sld>
</file>

<file path=ppt/slides/slide44.xml><?xml version="1.0" encoding="utf-8"?>
<p:sld xmlns:p="http://schemas.openxmlformats.org/presentationml/2006/main" show="0">
  <p:cSld name="cachecos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21">
            <a:extLst xmlns:a="http://schemas.openxmlformats.org/drawingml/2006/main">
              <a:ext uri="{FF2B5EF4-FFF2-40B4-BE49-F238E27FC236}">
                <a16:creationId xmlns:a16="http://schemas.microsoft.com/office/drawing/2014/main" id="{8536E1B0-085E-4426-AC18-CBF885A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922">
            <a:extLst xmlns:a="http://schemas.openxmlformats.org/drawingml/2006/main">
              <a:ext uri="{FF2B5EF4-FFF2-40B4-BE49-F238E27FC236}">
                <a16:creationId xmlns:a16="http://schemas.microsoft.com/office/drawing/2014/main" id="{3B5E88BF-F3C7-4B59-9346-46754C7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39849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ОТ 512K К 1M ХЕШ ДОРОЖАЕТ В 1,4 РАЗА,</a:t>
            </a:r>
          </a:p>
        </p:txBody>
      </p:sp>
      <p:sp>
        <p:nvSpPr>
          <p:cNvPr id="4" name="hf-923">
            <a:extLst xmlns:a="http://schemas.openxmlformats.org/drawingml/2006/main">
              <a:ext uri="{FF2B5EF4-FFF2-40B4-BE49-F238E27FC236}">
                <a16:creationId xmlns:a16="http://schemas.microsoft.com/office/drawing/2014/main" id="{1379260B-05C1-41EE-B41B-8D0A2BF7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56741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 — НА 3%</a:t>
            </a:r>
          </a:p>
        </p:txBody>
      </p:sp>
      <p:sp>
        <p:nvSpPr>
          <p:cNvPr id="5" name="hf-924">
            <a:extLst xmlns:a="http://schemas.openxmlformats.org/drawingml/2006/main">
              <a:ext uri="{FF2B5EF4-FFF2-40B4-BE49-F238E27FC236}">
                <a16:creationId xmlns:a16="http://schemas.microsoft.com/office/drawing/2014/main" id="{4F821028-4058-4293-86C5-F3A62C4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372438"/>
            <a:ext cx="2580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нс на элемент · U = N/2 · M2 Pro</a:t>
            </a:r>
          </a:p>
        </p:txBody>
      </p:sp>
      <p:sp>
        <p:nvSpPr>
          <p:cNvPr id="6" name="hf-925">
            <a:extLst xmlns:a="http://schemas.openxmlformats.org/drawingml/2006/main">
              <a:ext uri="{FF2B5EF4-FFF2-40B4-BE49-F238E27FC236}">
                <a16:creationId xmlns:a16="http://schemas.microsoft.com/office/drawing/2014/main" id="{2F95C63E-B8FF-495B-AB8B-3FB0058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10563"/>
            <a:ext cx="18067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7" name="hf-926">
            <a:extLst xmlns:a="http://schemas.openxmlformats.org/drawingml/2006/main">
              <a:ext uri="{FF2B5EF4-FFF2-40B4-BE49-F238E27FC236}">
                <a16:creationId xmlns:a16="http://schemas.microsoft.com/office/drawing/2014/main" id="{5A07F298-37FC-41B9-AF72-6205A106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094" y="1610563"/>
            <a:ext cx="109455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8" name="hf-927">
            <a:extLst xmlns:a="http://schemas.openxmlformats.org/drawingml/2006/main">
              <a:ext uri="{FF2B5EF4-FFF2-40B4-BE49-F238E27FC236}">
                <a16:creationId xmlns:a16="http://schemas.microsoft.com/office/drawing/2014/main" id="{FA9B2EBC-AF2D-47B3-A1DC-989D8E1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51" y="1610563"/>
            <a:ext cx="120342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9" name="hf-928">
            <a:extLst xmlns:a="http://schemas.openxmlformats.org/drawingml/2006/main">
              <a:ext uri="{FF2B5EF4-FFF2-40B4-BE49-F238E27FC236}">
                <a16:creationId xmlns:a16="http://schemas.microsoft.com/office/drawing/2014/main" id="{94C975B9-1FFB-46FD-AED8-978DE21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866900"/>
            <a:ext cx="42052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0" name="hf-929">
            <a:extLst xmlns:a="http://schemas.openxmlformats.org/drawingml/2006/main">
              <a:ext uri="{FF2B5EF4-FFF2-40B4-BE49-F238E27FC236}">
                <a16:creationId xmlns:a16="http://schemas.microsoft.com/office/drawing/2014/main" id="{0F90387C-9CF7-4D30-91C8-DEC03104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76525"/>
            <a:ext cx="4205288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B26"/>
          </a:solidFill>
          <a:ln xmlns:a="http://schemas.openxmlformats.org/drawingml/2006/main" w="14288">
            <a:solidFill>
              <a:srgbClr val="46CDAE"/>
            </a:solidFill>
          </a:ln>
        </p:spPr>
      </p:sp>
      <p:sp>
        <p:nvSpPr>
          <p:cNvPr id="11" name="hf-930">
            <a:extLst xmlns:a="http://schemas.openxmlformats.org/drawingml/2006/main">
              <a:ext uri="{FF2B5EF4-FFF2-40B4-BE49-F238E27FC236}">
                <a16:creationId xmlns:a16="http://schemas.microsoft.com/office/drawing/2014/main" id="{2173D9ED-F2E1-4772-87F9-6FE6ECAC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1883531"/>
            <a:ext cx="2897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1K</a:t>
            </a:r>
          </a:p>
        </p:txBody>
      </p:sp>
      <p:sp>
        <p:nvSpPr>
          <p:cNvPr id="12" name="hf-931">
            <a:extLst xmlns:a="http://schemas.openxmlformats.org/drawingml/2006/main">
              <a:ext uri="{FF2B5EF4-FFF2-40B4-BE49-F238E27FC236}">
                <a16:creationId xmlns:a16="http://schemas.microsoft.com/office/drawing/2014/main" id="{86F95A6B-7ED9-486E-8B36-A5CD14B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846" y="1883531"/>
            <a:ext cx="4758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14,4</a:t>
            </a:r>
          </a:p>
        </p:txBody>
      </p:sp>
      <p:sp>
        <p:nvSpPr>
          <p:cNvPr id="13" name="hf-932">
            <a:extLst xmlns:a="http://schemas.openxmlformats.org/drawingml/2006/main">
              <a:ext uri="{FF2B5EF4-FFF2-40B4-BE49-F238E27FC236}">
                <a16:creationId xmlns:a16="http://schemas.microsoft.com/office/drawing/2014/main" id="{AC1C8F2B-AD47-4B1F-B640-5331C79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792" y="1883531"/>
            <a:ext cx="43398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13,3</a:t>
            </a:r>
          </a:p>
        </p:txBody>
      </p:sp>
      <p:sp>
        <p:nvSpPr>
          <p:cNvPr id="14" name="hf-933">
            <a:extLst xmlns:a="http://schemas.openxmlformats.org/drawingml/2006/main">
              <a:ext uri="{FF2B5EF4-FFF2-40B4-BE49-F238E27FC236}">
                <a16:creationId xmlns:a16="http://schemas.microsoft.com/office/drawing/2014/main" id="{31CD3C6F-5BC2-4D78-9A40-87FC701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264531"/>
            <a:ext cx="48369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64K</a:t>
            </a:r>
          </a:p>
        </p:txBody>
      </p:sp>
      <p:sp>
        <p:nvSpPr>
          <p:cNvPr id="15" name="hf-934">
            <a:extLst xmlns:a="http://schemas.openxmlformats.org/drawingml/2006/main">
              <a:ext uri="{FF2B5EF4-FFF2-40B4-BE49-F238E27FC236}">
                <a16:creationId xmlns:a16="http://schemas.microsoft.com/office/drawing/2014/main" id="{CF37EF65-8297-4431-81EE-3ED53EC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919" y="2264531"/>
            <a:ext cx="44373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17,8</a:t>
            </a:r>
          </a:p>
        </p:txBody>
      </p:sp>
      <p:sp>
        <p:nvSpPr>
          <p:cNvPr id="16" name="hf-935">
            <a:extLst xmlns:a="http://schemas.openxmlformats.org/drawingml/2006/main">
              <a:ext uri="{FF2B5EF4-FFF2-40B4-BE49-F238E27FC236}">
                <a16:creationId xmlns:a16="http://schemas.microsoft.com/office/drawing/2014/main" id="{2E1CB883-175E-4400-B939-F8EA7379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2264531"/>
            <a:ext cx="42743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17,5</a:t>
            </a:r>
          </a:p>
        </p:txBody>
      </p:sp>
      <p:sp>
        <p:nvSpPr>
          <p:cNvPr id="17" name="hf-936">
            <a:extLst xmlns:a="http://schemas.openxmlformats.org/drawingml/2006/main">
              <a:ext uri="{FF2B5EF4-FFF2-40B4-BE49-F238E27FC236}">
                <a16:creationId xmlns:a16="http://schemas.microsoft.com/office/drawing/2014/main" id="{A9BEDB78-DBBB-49A2-BA1A-FC1F921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2645531"/>
            <a:ext cx="5427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512K</a:t>
            </a:r>
          </a:p>
        </p:txBody>
      </p:sp>
      <p:sp>
        <p:nvSpPr>
          <p:cNvPr id="18" name="hf-937">
            <a:extLst xmlns:a="http://schemas.openxmlformats.org/drawingml/2006/main">
              <a:ext uri="{FF2B5EF4-FFF2-40B4-BE49-F238E27FC236}">
                <a16:creationId xmlns:a16="http://schemas.microsoft.com/office/drawing/2014/main" id="{125E2D38-CE63-483C-98BC-E662BA7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715" y="2645531"/>
            <a:ext cx="4559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19,6</a:t>
            </a:r>
          </a:p>
        </p:txBody>
      </p:sp>
      <p:sp>
        <p:nvSpPr>
          <p:cNvPr id="19" name="hf-938">
            <a:extLst xmlns:a="http://schemas.openxmlformats.org/drawingml/2006/main">
              <a:ext uri="{FF2B5EF4-FFF2-40B4-BE49-F238E27FC236}">
                <a16:creationId xmlns:a16="http://schemas.microsoft.com/office/drawing/2014/main" id="{2E2F185A-3FB3-4BB7-BD2B-835298B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631" y="2645531"/>
            <a:ext cx="46114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18,7</a:t>
            </a:r>
          </a:p>
        </p:txBody>
      </p:sp>
      <p:sp>
        <p:nvSpPr>
          <p:cNvPr id="20" name="hf-939">
            <a:extLst xmlns:a="http://schemas.openxmlformats.org/drawingml/2006/main">
              <a:ext uri="{FF2B5EF4-FFF2-40B4-BE49-F238E27FC236}">
                <a16:creationId xmlns:a16="http://schemas.microsoft.com/office/drawing/2014/main" id="{83982F58-F7F2-4659-9BAB-A56AD85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3007481"/>
            <a:ext cx="33940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1M</a:t>
            </a:r>
          </a:p>
        </p:txBody>
      </p:sp>
      <p:sp>
        <p:nvSpPr>
          <p:cNvPr id="21" name="hf-940">
            <a:extLst xmlns:a="http://schemas.openxmlformats.org/drawingml/2006/main">
              <a:ext uri="{FF2B5EF4-FFF2-40B4-BE49-F238E27FC236}">
                <a16:creationId xmlns:a16="http://schemas.microsoft.com/office/drawing/2014/main" id="{204B64C7-BC1F-45FA-AFEE-B671FE9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650" y="3007481"/>
            <a:ext cx="4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20,1</a:t>
            </a:r>
          </a:p>
        </p:txBody>
      </p:sp>
      <p:sp>
        <p:nvSpPr>
          <p:cNvPr id="22" name="hf-941">
            <a:extLst xmlns:a="http://schemas.openxmlformats.org/drawingml/2006/main">
              <a:ext uri="{FF2B5EF4-FFF2-40B4-BE49-F238E27FC236}">
                <a16:creationId xmlns:a16="http://schemas.microsoft.com/office/drawing/2014/main" id="{61774CE8-3EA1-48C1-BCA2-60CF810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243" y="3007481"/>
            <a:ext cx="49753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26,3</a:t>
            </a:r>
          </a:p>
        </p:txBody>
      </p:sp>
      <p:sp>
        <p:nvSpPr>
          <p:cNvPr id="23" name="hf-942">
            <a:extLst xmlns:a="http://schemas.openxmlformats.org/drawingml/2006/main">
              <a:ext uri="{FF2B5EF4-FFF2-40B4-BE49-F238E27FC236}">
                <a16:creationId xmlns:a16="http://schemas.microsoft.com/office/drawing/2014/main" id="{2BF2E3A8-51DE-4CD1-991D-8455F84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3407531"/>
            <a:ext cx="39952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4M</a:t>
            </a:r>
          </a:p>
        </p:txBody>
      </p:sp>
      <p:sp>
        <p:nvSpPr>
          <p:cNvPr id="24" name="hf-943">
            <a:extLst xmlns:a="http://schemas.openxmlformats.org/drawingml/2006/main">
              <a:ext uri="{FF2B5EF4-FFF2-40B4-BE49-F238E27FC236}">
                <a16:creationId xmlns:a16="http://schemas.microsoft.com/office/drawing/2014/main" id="{1A5F292E-3D27-4B10-AFC3-63FBE5A2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30" y="3407531"/>
            <a:ext cx="4324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21,5</a:t>
            </a:r>
          </a:p>
        </p:txBody>
      </p:sp>
      <p:sp>
        <p:nvSpPr>
          <p:cNvPr id="25" name="hf-944">
            <a:extLst xmlns:a="http://schemas.openxmlformats.org/drawingml/2006/main">
              <a:ext uri="{FF2B5EF4-FFF2-40B4-BE49-F238E27FC236}">
                <a16:creationId xmlns:a16="http://schemas.microsoft.com/office/drawing/2014/main" id="{0241EA8C-9798-4E97-8874-D7436D34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302" y="3407531"/>
            <a:ext cx="47647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6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55,7</a:t>
            </a:r>
          </a:p>
        </p:txBody>
      </p:sp>
      <p:sp>
        <p:nvSpPr>
          <p:cNvPr id="26" name="hf-945">
            <a:extLst xmlns:a="http://schemas.openxmlformats.org/drawingml/2006/main">
              <a:ext uri="{FF2B5EF4-FFF2-40B4-BE49-F238E27FC236}">
                <a16:creationId xmlns:a16="http://schemas.microsoft.com/office/drawing/2014/main" id="{438A6EED-DA7F-490B-8DF0-DEC3239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67150"/>
            <a:ext cx="42052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7" name="hf-946">
            <a:extLst xmlns:a="http://schemas.openxmlformats.org/drawingml/2006/main">
              <a:ext uri="{FF2B5EF4-FFF2-40B4-BE49-F238E27FC236}">
                <a16:creationId xmlns:a16="http://schemas.microsoft.com/office/drawing/2014/main" id="{01F754D3-7500-4557-A985-3FBF4F1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4087063"/>
            <a:ext cx="78298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512K → 1M</a:t>
            </a:r>
          </a:p>
        </p:txBody>
      </p:sp>
      <p:sp>
        <p:nvSpPr>
          <p:cNvPr id="28" name="hf-947">
            <a:extLst xmlns:a="http://schemas.openxmlformats.org/drawingml/2006/main">
              <a:ext uri="{FF2B5EF4-FFF2-40B4-BE49-F238E27FC236}">
                <a16:creationId xmlns:a16="http://schemas.microsoft.com/office/drawing/2014/main" id="{58DB0BB2-E9F7-4EB2-8F86-F5C460E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446" y="3956342"/>
            <a:ext cx="993204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+3%</a:t>
            </a:r>
          </a:p>
        </p:txBody>
      </p:sp>
      <p:sp>
        <p:nvSpPr>
          <p:cNvPr id="29" name="hf-948">
            <a:extLst xmlns:a="http://schemas.openxmlformats.org/drawingml/2006/main">
              <a:ext uri="{FF2B5EF4-FFF2-40B4-BE49-F238E27FC236}">
                <a16:creationId xmlns:a16="http://schemas.microsoft.com/office/drawing/2014/main" id="{AC47FBA7-F8BA-4297-BE3E-F3944E3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456" y="3956342"/>
            <a:ext cx="953319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×1,4</a:t>
            </a:r>
          </a:p>
        </p:txBody>
      </p:sp>
      <p:sp>
        <p:nvSpPr>
          <p:cNvPr id="30" name="hf-949">
            <a:extLst xmlns:a="http://schemas.openxmlformats.org/drawingml/2006/main">
              <a:ext uri="{FF2B5EF4-FFF2-40B4-BE49-F238E27FC236}">
                <a16:creationId xmlns:a16="http://schemas.microsoft.com/office/drawing/2014/main" id="{BFDBAFEC-0C37-49CC-B423-4E65BD42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3348038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hf-950">
            <a:extLst xmlns:a="http://schemas.openxmlformats.org/drawingml/2006/main">
              <a:ext uri="{FF2B5EF4-FFF2-40B4-BE49-F238E27FC236}">
                <a16:creationId xmlns:a16="http://schemas.microsoft.com/office/drawing/2014/main" id="{526211B1-B204-411C-9990-27D9EA7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29613"/>
            <a:ext cx="17633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рабочий набор хеша</a:t>
            </a:r>
          </a:p>
        </p:txBody>
      </p:sp>
      <p:sp>
        <p:nvSpPr>
          <p:cNvPr id="32" name="hf-951">
            <a:extLst xmlns:a="http://schemas.openxmlformats.org/drawingml/2006/main">
              <a:ext uri="{FF2B5EF4-FFF2-40B4-BE49-F238E27FC236}">
                <a16:creationId xmlns:a16="http://schemas.microsoft.com/office/drawing/2014/main" id="{A49C1586-1081-41B3-ACF4-C02C2823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0137"/>
            <a:ext cx="156946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32·U + 8·N</a:t>
            </a:r>
          </a:p>
        </p:txBody>
      </p:sp>
      <p:sp>
        <p:nvSpPr>
          <p:cNvPr id="33" name="hf-952">
            <a:extLst xmlns:a="http://schemas.openxmlformats.org/drawingml/2006/main">
              <a:ext uri="{FF2B5EF4-FFF2-40B4-BE49-F238E27FC236}">
                <a16:creationId xmlns:a16="http://schemas.microsoft.com/office/drawing/2014/main" id="{B929E254-A24E-4CF9-8142-B557AF2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0330"/>
            <a:ext cx="21186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512K</a:t>
            </a: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≈12 МиБ </a:t>
            </a:r>
            <a:r>
              <a:rPr sz="1575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✓ в L2</a:t>
            </a:r>
          </a:p>
        </p:txBody>
      </p:sp>
      <p:sp>
        <p:nvSpPr>
          <p:cNvPr id="34" name="hf-953">
            <a:extLst xmlns:a="http://schemas.openxmlformats.org/drawingml/2006/main">
              <a:ext uri="{FF2B5EF4-FFF2-40B4-BE49-F238E27FC236}">
                <a16:creationId xmlns:a16="http://schemas.microsoft.com/office/drawing/2014/main" id="{AFA804AD-E1AA-4443-B96D-3CE28CE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91330"/>
            <a:ext cx="2417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BDBDBD"/>
                </a:solidFill>
                <a:latin typeface="Montserrat"/>
                <a:ea typeface="Montserrat"/>
                <a:cs typeface="Montserrat"/>
              </a:rPr>
              <a:t>1M</a:t>
            </a: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≈24 МиБ </a:t>
            </a:r>
            <a:r>
              <a:rPr sz="1575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✗ мимо L2</a:t>
            </a:r>
          </a:p>
        </p:txBody>
      </p:sp>
      <p:sp>
        <p:nvSpPr>
          <p:cNvPr id="35" name="hf-954">
            <a:extLst xmlns:a="http://schemas.openxmlformats.org/drawingml/2006/main">
              <a:ext uri="{FF2B5EF4-FFF2-40B4-BE49-F238E27FC236}">
                <a16:creationId xmlns:a16="http://schemas.microsoft.com/office/drawing/2014/main" id="{6676EC57-CFF8-4C0B-81FA-0A6AEE12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0763"/>
            <a:ext cx="25103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L2 P-кластера M2 Pro = 16 МиБ</a:t>
            </a:r>
          </a:p>
        </p:txBody>
      </p:sp>
      <p:sp>
        <p:nvSpPr>
          <p:cNvPr id="36" name="hf-955">
            <a:extLst xmlns:a="http://schemas.openxmlformats.org/drawingml/2006/main">
              <a:ext uri="{FF2B5EF4-FFF2-40B4-BE49-F238E27FC236}">
                <a16:creationId xmlns:a16="http://schemas.microsoft.com/office/drawing/2014/main" id="{8D2B6A34-B9FF-4F76-9439-4DF3BB3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8140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37" name="hf-956">
            <a:extLst xmlns:a="http://schemas.openxmlformats.org/drawingml/2006/main">
              <a:ext uri="{FF2B5EF4-FFF2-40B4-BE49-F238E27FC236}">
                <a16:creationId xmlns:a16="http://schemas.microsoft.com/office/drawing/2014/main" id="{1329735E-531D-4497-9E20-BB31063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84089"/>
            <a:ext cx="24012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Арифметика, а не счётчики:</a:t>
            </a:r>
          </a:p>
        </p:txBody>
      </p:sp>
      <p:sp>
        <p:nvSpPr>
          <p:cNvPr id="38" name="hf-957">
            <a:extLst xmlns:a="http://schemas.openxmlformats.org/drawingml/2006/main">
              <a:ext uri="{FF2B5EF4-FFF2-40B4-BE49-F238E27FC236}">
                <a16:creationId xmlns:a16="http://schemas.microsoft.com/office/drawing/2014/main" id="{A26DAB26-776A-4E0C-B4EB-50B17CD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93639"/>
            <a:ext cx="179843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причина — гипотеза</a:t>
            </a:r>
          </a:p>
        </p:txBody>
      </p:sp>
      <p:pic>
        <p:nvPicPr>
          <p:cNvPr id="39" name="hf-958">
            <a:extLst xmlns:a="http://schemas.openxmlformats.org/drawingml/2006/main">
              <a:ext uri="{FF2B5EF4-FFF2-40B4-BE49-F238E27FC236}">
                <a16:creationId xmlns:a16="http://schemas.microsoft.com/office/drawing/2014/main" id="{46B4C229-5621-4EC9-9AC3-78DCE3286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e172f87db47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40" name="hf-959">
            <a:extLst xmlns:a="http://schemas.openxmlformats.org/drawingml/2006/main">
              <a:ext uri="{FF2B5EF4-FFF2-40B4-BE49-F238E27FC236}">
                <a16:creationId xmlns:a16="http://schemas.microsoft.com/office/drawing/2014/main" id="{115E1A2D-E225-41FB-B2F2-63306A2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059033660"/>
      </p:ext>
    </p:extLst>
  </p:cSld>
</p:sld>
</file>

<file path=ppt/slides/slide45.xml><?xml version="1.0" encoding="utf-8"?>
<p:sld xmlns:p="http://schemas.openxmlformats.org/presentationml/2006/main" show="0">
  <p:cSld name="sortmin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960">
            <a:extLst xmlns:a="http://schemas.openxmlformats.org/drawingml/2006/main">
              <a:ext uri="{FF2B5EF4-FFF2-40B4-BE49-F238E27FC236}">
                <a16:creationId xmlns:a16="http://schemas.microsoft.com/office/drawing/2014/main" id="{AD6E8D1D-669E-49C7-8B46-ECEC142D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961">
            <a:extLst xmlns:a="http://schemas.openxmlformats.org/drawingml/2006/main">
              <a:ext uri="{FF2B5EF4-FFF2-40B4-BE49-F238E27FC236}">
                <a16:creationId xmlns:a16="http://schemas.microsoft.com/office/drawing/2014/main" id="{C26DF8A0-999A-48C4-AF6E-BA30C76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9428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СОРТИРОВКА: ОДИН ПЛОТНЫЙ БУФЕР</a:t>
            </a:r>
          </a:p>
        </p:txBody>
      </p:sp>
      <p:sp>
        <p:nvSpPr>
          <p:cNvPr id="4" name="hf-962">
            <a:extLst xmlns:a="http://schemas.openxmlformats.org/drawingml/2006/main">
              <a:ext uri="{FF2B5EF4-FFF2-40B4-BE49-F238E27FC236}">
                <a16:creationId xmlns:a16="http://schemas.microsoft.com/office/drawing/2014/main" id="{3E1150A8-E06B-4301-A8B4-FF30AC4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418355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И НИ ОДНОЙ АЛЛОКАЦИИ</a:t>
            </a:r>
          </a:p>
        </p:txBody>
      </p:sp>
      <p:sp>
        <p:nvSpPr>
          <p:cNvPr id="5" name="hf-963">
            <a:extLst xmlns:a="http://schemas.openxmlformats.org/drawingml/2006/main">
              <a:ext uri="{FF2B5EF4-FFF2-40B4-BE49-F238E27FC236}">
                <a16:creationId xmlns:a16="http://schemas.microsoft.com/office/drawing/2014/main" id="{ECE44327-2729-4215-BA35-AA4EE379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964">
            <a:extLst xmlns:a="http://schemas.openxmlformats.org/drawingml/2006/main">
              <a:ext uri="{FF2B5EF4-FFF2-40B4-BE49-F238E27FC236}">
                <a16:creationId xmlns:a16="http://schemas.microsoft.com/office/drawing/2014/main" id="{57639061-A31D-4D22-98E8-3480A63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965">
            <a:extLst xmlns:a="http://schemas.openxmlformats.org/drawingml/2006/main">
              <a:ext uri="{FF2B5EF4-FFF2-40B4-BE49-F238E27FC236}">
                <a16:creationId xmlns:a16="http://schemas.microsoft.com/office/drawing/2014/main" id="{28B2FA94-BBE3-4F53-A214-09FC9E83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hf-966">
            <a:extLst xmlns:a="http://schemas.openxmlformats.org/drawingml/2006/main">
              <a:ext uri="{FF2B5EF4-FFF2-40B4-BE49-F238E27FC236}">
                <a16:creationId xmlns:a16="http://schemas.microsoft.com/office/drawing/2014/main" id="{B5D370F3-FA40-4FC8-A836-5BB1D3CB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hf-967">
            <a:extLst xmlns:a="http://schemas.openxmlformats.org/drawingml/2006/main">
              <a:ext uri="{FF2B5EF4-FFF2-40B4-BE49-F238E27FC236}">
                <a16:creationId xmlns:a16="http://schemas.microsoft.com/office/drawing/2014/main" id="{D51E0BAA-D43E-4F5F-B882-A64E1F5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hf-968">
            <a:extLst xmlns:a="http://schemas.openxmlformats.org/drawingml/2006/main">
              <a:ext uri="{FF2B5EF4-FFF2-40B4-BE49-F238E27FC236}">
                <a16:creationId xmlns:a16="http://schemas.microsoft.com/office/drawing/2014/main" id="{05827390-8A9C-44CC-AEAD-1A34F667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hf-969">
            <a:extLst xmlns:a="http://schemas.openxmlformats.org/drawingml/2006/main">
              <a:ext uri="{FF2B5EF4-FFF2-40B4-BE49-F238E27FC236}">
                <a16:creationId xmlns:a16="http://schemas.microsoft.com/office/drawing/2014/main" id="{8CF7972B-120C-4A8E-A5DC-AB4141D7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hf-970">
            <a:extLst xmlns:a="http://schemas.openxmlformats.org/drawingml/2006/main">
              <a:ext uri="{FF2B5EF4-FFF2-40B4-BE49-F238E27FC236}">
                <a16:creationId xmlns:a16="http://schemas.microsoft.com/office/drawing/2014/main" id="{4A448C23-B48F-4DD7-A888-4412C47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382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hf-971">
            <a:extLst xmlns:a="http://schemas.openxmlformats.org/drawingml/2006/main">
              <a:ext uri="{FF2B5EF4-FFF2-40B4-BE49-F238E27FC236}">
                <a16:creationId xmlns:a16="http://schemas.microsoft.com/office/drawing/2014/main" id="{4486255E-C362-4133-96E3-D95C850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4" name="hf-972">
            <a:extLst xmlns:a="http://schemas.openxmlformats.org/drawingml/2006/main">
              <a:ext uri="{FF2B5EF4-FFF2-40B4-BE49-F238E27FC236}">
                <a16:creationId xmlns:a16="http://schemas.microsoft.com/office/drawing/2014/main" id="{C365A187-6D9D-469D-B915-FDA4EEF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5" name="hf-973">
            <a:extLst xmlns:a="http://schemas.openxmlformats.org/drawingml/2006/main">
              <a:ext uri="{FF2B5EF4-FFF2-40B4-BE49-F238E27FC236}">
                <a16:creationId xmlns:a16="http://schemas.microsoft.com/office/drawing/2014/main" id="{9507F07D-9B9B-4F09-87EA-0D157FB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6" name="hf-974">
            <a:extLst xmlns:a="http://schemas.openxmlformats.org/drawingml/2006/main">
              <a:ext uri="{FF2B5EF4-FFF2-40B4-BE49-F238E27FC236}">
                <a16:creationId xmlns:a16="http://schemas.microsoft.com/office/drawing/2014/main" id="{FF52D919-F20B-413E-9435-574B88DB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7" name="hf-975">
            <a:extLst xmlns:a="http://schemas.openxmlformats.org/drawingml/2006/main">
              <a:ext uri="{FF2B5EF4-FFF2-40B4-BE49-F238E27FC236}">
                <a16:creationId xmlns:a16="http://schemas.microsoft.com/office/drawing/2014/main" id="{22F53832-4209-4040-A3AD-30B76F0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8" name="hf-976">
            <a:extLst xmlns:a="http://schemas.openxmlformats.org/drawingml/2006/main">
              <a:ext uri="{FF2B5EF4-FFF2-40B4-BE49-F238E27FC236}">
                <a16:creationId xmlns:a16="http://schemas.microsoft.com/office/drawing/2014/main" id="{C41A6D82-8756-4D2D-9697-3DB2095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19" name="hf-977">
            <a:extLst xmlns:a="http://schemas.openxmlformats.org/drawingml/2006/main">
              <a:ext uri="{FF2B5EF4-FFF2-40B4-BE49-F238E27FC236}">
                <a16:creationId xmlns:a16="http://schemas.microsoft.com/office/drawing/2014/main" id="{3EA3ADEE-9E30-4528-A9FC-48ED14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0" name="hf-978">
            <a:extLst xmlns:a="http://schemas.openxmlformats.org/drawingml/2006/main">
              <a:ext uri="{FF2B5EF4-FFF2-40B4-BE49-F238E27FC236}">
                <a16:creationId xmlns:a16="http://schemas.microsoft.com/office/drawing/2014/main" id="{485C7224-5A27-4B0B-A57C-80181EB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764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74F45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1" name="hf-979">
            <a:extLst xmlns:a="http://schemas.openxmlformats.org/drawingml/2006/main">
              <a:ext uri="{FF2B5EF4-FFF2-40B4-BE49-F238E27FC236}">
                <a16:creationId xmlns:a16="http://schemas.microsoft.com/office/drawing/2014/main" id="{476FCD36-7CB8-4254-A16F-A28B62E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2" name="hf-980">
            <a:extLst xmlns:a="http://schemas.openxmlformats.org/drawingml/2006/main">
              <a:ext uri="{FF2B5EF4-FFF2-40B4-BE49-F238E27FC236}">
                <a16:creationId xmlns:a16="http://schemas.microsoft.com/office/drawing/2014/main" id="{B3645458-8358-4D94-AFAD-EEA95FE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3" name="hf-981">
            <a:extLst xmlns:a="http://schemas.openxmlformats.org/drawingml/2006/main">
              <a:ext uri="{FF2B5EF4-FFF2-40B4-BE49-F238E27FC236}">
                <a16:creationId xmlns:a16="http://schemas.microsoft.com/office/drawing/2014/main" id="{B31A8EF5-4F54-4D51-95E9-797F062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4" name="hf-982">
            <a:extLst xmlns:a="http://schemas.openxmlformats.org/drawingml/2006/main">
              <a:ext uri="{FF2B5EF4-FFF2-40B4-BE49-F238E27FC236}">
                <a16:creationId xmlns:a16="http://schemas.microsoft.com/office/drawing/2014/main" id="{1F27CAD2-347E-4B24-8BA6-96B5ABFD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46CDAE"/>
            </a:solidFill>
          </a:ln>
        </p:spPr>
      </p:sp>
      <p:sp>
        <p:nvSpPr>
          <p:cNvPr id="25" name="hf-983">
            <a:extLst xmlns:a="http://schemas.openxmlformats.org/drawingml/2006/main">
              <a:ext uri="{FF2B5EF4-FFF2-40B4-BE49-F238E27FC236}">
                <a16:creationId xmlns:a16="http://schemas.microsoft.com/office/drawing/2014/main" id="{BE0C37FF-1052-4E1E-8117-4616EF0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6" name="hf-984">
            <a:extLst xmlns:a="http://schemas.openxmlformats.org/drawingml/2006/main">
              <a:ext uri="{FF2B5EF4-FFF2-40B4-BE49-F238E27FC236}">
                <a16:creationId xmlns:a16="http://schemas.microsoft.com/office/drawing/2014/main" id="{7E8AEEDA-FDA1-4B01-9B7E-6D20A73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7" name="hf-985">
            <a:extLst xmlns:a="http://schemas.openxmlformats.org/drawingml/2006/main">
              <a:ext uri="{FF2B5EF4-FFF2-40B4-BE49-F238E27FC236}">
                <a16:creationId xmlns:a16="http://schemas.microsoft.com/office/drawing/2014/main" id="{698B42A5-29D2-443A-ACF5-C63A905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8" name="hf-986">
            <a:extLst xmlns:a="http://schemas.openxmlformats.org/drawingml/2006/main">
              <a:ext uri="{FF2B5EF4-FFF2-40B4-BE49-F238E27FC236}">
                <a16:creationId xmlns:a16="http://schemas.microsoft.com/office/drawing/2014/main" id="{3B9B54F5-E7A3-46C1-BB39-AF2EDE79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5A5A5A"/>
            </a:solidFill>
          </a:ln>
        </p:spPr>
      </p:sp>
      <p:sp>
        <p:nvSpPr>
          <p:cNvPr id="29" name="hf-987">
            <a:extLst xmlns:a="http://schemas.openxmlformats.org/drawingml/2006/main">
              <a:ext uri="{FF2B5EF4-FFF2-40B4-BE49-F238E27FC236}">
                <a16:creationId xmlns:a16="http://schemas.microsoft.com/office/drawing/2014/main" id="{BD208F8F-6820-460B-9019-1B2C177F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0" name="hf-988">
            <a:extLst xmlns:a="http://schemas.openxmlformats.org/drawingml/2006/main">
              <a:ext uri="{FF2B5EF4-FFF2-40B4-BE49-F238E27FC236}">
                <a16:creationId xmlns:a16="http://schemas.microsoft.com/office/drawing/2014/main" id="{74E5CE08-C3D6-402E-A3C7-5FEEB29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1" name="hf-989">
            <a:extLst xmlns:a="http://schemas.openxmlformats.org/drawingml/2006/main">
              <a:ext uri="{FF2B5EF4-FFF2-40B4-BE49-F238E27FC236}">
                <a16:creationId xmlns:a16="http://schemas.microsoft.com/office/drawing/2014/main" id="{37C31441-12F8-457B-8BA1-5E32F7B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2" name="hf-990">
            <a:extLst xmlns:a="http://schemas.openxmlformats.org/drawingml/2006/main">
              <a:ext uri="{FF2B5EF4-FFF2-40B4-BE49-F238E27FC236}">
                <a16:creationId xmlns:a16="http://schemas.microsoft.com/office/drawing/2014/main" id="{A0CABC23-984C-48DD-9D75-CC0A3DE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3" name="hf-991">
            <a:extLst xmlns:a="http://schemas.openxmlformats.org/drawingml/2006/main">
              <a:ext uri="{FF2B5EF4-FFF2-40B4-BE49-F238E27FC236}">
                <a16:creationId xmlns:a16="http://schemas.microsoft.com/office/drawing/2014/main" id="{AB22C2D9-D9AC-4886-8DAA-364A4E7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4" name="hf-992">
            <a:extLst xmlns:a="http://schemas.openxmlformats.org/drawingml/2006/main">
              <a:ext uri="{FF2B5EF4-FFF2-40B4-BE49-F238E27FC236}">
                <a16:creationId xmlns:a16="http://schemas.microsoft.com/office/drawing/2014/main" id="{EA8C868F-3C36-4606-979E-EB3CECB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5" name="hf-993">
            <a:extLst xmlns:a="http://schemas.openxmlformats.org/drawingml/2006/main">
              <a:ext uri="{FF2B5EF4-FFF2-40B4-BE49-F238E27FC236}">
                <a16:creationId xmlns:a16="http://schemas.microsoft.com/office/drawing/2014/main" id="{CA659569-4FCD-4DDD-B30D-3241860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36" name="hf-994">
            <a:extLst xmlns:a="http://schemas.openxmlformats.org/drawingml/2006/main">
              <a:ext uri="{FF2B5EF4-FFF2-40B4-BE49-F238E27FC236}">
                <a16:creationId xmlns:a16="http://schemas.microsoft.com/office/drawing/2014/main" id="{CA6B6C62-C38E-4BEF-B96F-69469AB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13481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7" name="hf-995">
            <a:extLst xmlns:a="http://schemas.openxmlformats.org/drawingml/2006/main">
              <a:ext uri="{FF2B5EF4-FFF2-40B4-BE49-F238E27FC236}">
                <a16:creationId xmlns:a16="http://schemas.microsoft.com/office/drawing/2014/main" id="{2B5A46E5-684D-414E-A925-3E12C9C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8" name="hf-996">
            <a:extLst xmlns:a="http://schemas.openxmlformats.org/drawingml/2006/main">
              <a:ext uri="{FF2B5EF4-FFF2-40B4-BE49-F238E27FC236}">
                <a16:creationId xmlns:a16="http://schemas.microsoft.com/office/drawing/2014/main" id="{6ED07010-5268-4FD2-9284-E18ABEB6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9" name="hf-997">
            <a:extLst xmlns:a="http://schemas.openxmlformats.org/drawingml/2006/main">
              <a:ext uri="{FF2B5EF4-FFF2-40B4-BE49-F238E27FC236}">
                <a16:creationId xmlns:a16="http://schemas.microsoft.com/office/drawing/2014/main" id="{95A36530-1262-47D1-86F5-FABE8CEA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0" name="hf-998">
            <a:extLst xmlns:a="http://schemas.openxmlformats.org/drawingml/2006/main">
              <a:ext uri="{FF2B5EF4-FFF2-40B4-BE49-F238E27FC236}">
                <a16:creationId xmlns:a16="http://schemas.microsoft.com/office/drawing/2014/main" id="{868BD293-A661-44CE-9075-CE351FB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1" name="hf-999">
            <a:extLst xmlns:a="http://schemas.openxmlformats.org/drawingml/2006/main">
              <a:ext uri="{FF2B5EF4-FFF2-40B4-BE49-F238E27FC236}">
                <a16:creationId xmlns:a16="http://schemas.microsoft.com/office/drawing/2014/main" id="{A84C61EE-D0E9-45CE-B4FB-795EF84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2" name="hf-1000">
            <a:extLst xmlns:a="http://schemas.openxmlformats.org/drawingml/2006/main">
              <a:ext uri="{FF2B5EF4-FFF2-40B4-BE49-F238E27FC236}">
                <a16:creationId xmlns:a16="http://schemas.microsoft.com/office/drawing/2014/main" id="{997B716B-34C9-4060-A046-DFAB767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3" name="hf-1001">
            <a:extLst xmlns:a="http://schemas.openxmlformats.org/drawingml/2006/main">
              <a:ext uri="{FF2B5EF4-FFF2-40B4-BE49-F238E27FC236}">
                <a16:creationId xmlns:a16="http://schemas.microsoft.com/office/drawing/2014/main" id="{6BBD487F-ED5C-4770-96DA-6F3A648F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4" name="hf-1002">
            <a:extLst xmlns:a="http://schemas.openxmlformats.org/drawingml/2006/main">
              <a:ext uri="{FF2B5EF4-FFF2-40B4-BE49-F238E27FC236}">
                <a16:creationId xmlns:a16="http://schemas.microsoft.com/office/drawing/2014/main" id="{5CA24DF3-55DD-48A2-9DE6-E51952A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2186369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5" name="hf-1003">
            <a:extLst xmlns:a="http://schemas.openxmlformats.org/drawingml/2006/main">
              <a:ext uri="{FF2B5EF4-FFF2-40B4-BE49-F238E27FC236}">
                <a16:creationId xmlns:a16="http://schemas.microsoft.com/office/drawing/2014/main" id="{A06C267C-BA13-4ED3-9647-5062C25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7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46" name="hf-1004">
            <a:extLst xmlns:a="http://schemas.openxmlformats.org/drawingml/2006/main">
              <a:ext uri="{FF2B5EF4-FFF2-40B4-BE49-F238E27FC236}">
                <a16:creationId xmlns:a16="http://schemas.microsoft.com/office/drawing/2014/main" id="{2DB229B7-5C20-4731-97BC-5104BCA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7" name="hf-1005">
            <a:extLst xmlns:a="http://schemas.openxmlformats.org/drawingml/2006/main">
              <a:ext uri="{FF2B5EF4-FFF2-40B4-BE49-F238E27FC236}">
                <a16:creationId xmlns:a16="http://schemas.microsoft.com/office/drawing/2014/main" id="{9CD2DB4C-67F2-479A-85BE-3ADDCD6A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3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8" name="hf-1006">
            <a:extLst xmlns:a="http://schemas.openxmlformats.org/drawingml/2006/main">
              <a:ext uri="{FF2B5EF4-FFF2-40B4-BE49-F238E27FC236}">
                <a16:creationId xmlns:a16="http://schemas.microsoft.com/office/drawing/2014/main" id="{C7A747DA-140E-4676-9668-3E73843C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1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49" name="hf-1007">
            <a:extLst xmlns:a="http://schemas.openxmlformats.org/drawingml/2006/main">
              <a:ext uri="{FF2B5EF4-FFF2-40B4-BE49-F238E27FC236}">
                <a16:creationId xmlns:a16="http://schemas.microsoft.com/office/drawing/2014/main" id="{240BDE60-444F-4A11-9DC0-44C7D0E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0" name="hf-1008">
            <a:extLst xmlns:a="http://schemas.openxmlformats.org/drawingml/2006/main">
              <a:ext uri="{FF2B5EF4-FFF2-40B4-BE49-F238E27FC236}">
                <a16:creationId xmlns:a16="http://schemas.microsoft.com/office/drawing/2014/main" id="{891065B6-98E8-4EF5-8060-A11F551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7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1" name="hf-1009">
            <a:extLst xmlns:a="http://schemas.openxmlformats.org/drawingml/2006/main">
              <a:ext uri="{FF2B5EF4-FFF2-40B4-BE49-F238E27FC236}">
                <a16:creationId xmlns:a16="http://schemas.microsoft.com/office/drawing/2014/main" id="{0777883C-2F82-4884-A846-9DFBE27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2" name="hf-1010">
            <a:extLst xmlns:a="http://schemas.openxmlformats.org/drawingml/2006/main">
              <a:ext uri="{FF2B5EF4-FFF2-40B4-BE49-F238E27FC236}">
                <a16:creationId xmlns:a16="http://schemas.microsoft.com/office/drawing/2014/main" id="{F6616657-4D57-4171-A352-965C9574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337" y="3024568"/>
            <a:ext cx="20627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195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</a:t>
            </a:r>
          </a:p>
        </p:txBody>
      </p:sp>
      <p:sp>
        <p:nvSpPr>
          <p:cNvPr id="53" name="hf-1011">
            <a:extLst xmlns:a="http://schemas.openxmlformats.org/drawingml/2006/main">
              <a:ext uri="{FF2B5EF4-FFF2-40B4-BE49-F238E27FC236}">
                <a16:creationId xmlns:a16="http://schemas.microsoft.com/office/drawing/2014/main" id="{9A0026DF-9E27-4608-8A11-DD88867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49057"/>
            <a:ext cx="6264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вход</a:t>
            </a:r>
          </a:p>
        </p:txBody>
      </p:sp>
      <p:sp>
        <p:nvSpPr>
          <p:cNvPr id="54" name="hf-1012">
            <a:extLst xmlns:a="http://schemas.openxmlformats.org/drawingml/2006/main">
              <a:ext uri="{FF2B5EF4-FFF2-40B4-BE49-F238E27FC236}">
                <a16:creationId xmlns:a16="http://schemas.microsoft.com/office/drawing/2014/main" id="{422C9B0D-B9BC-4F0E-ABF0-6FD7732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15338"/>
            <a:ext cx="150450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 чисел, 4 разных</a:t>
            </a:r>
          </a:p>
        </p:txBody>
      </p:sp>
      <p:sp>
        <p:nvSpPr>
          <p:cNvPr id="55" name="hf-1013">
            <a:extLst xmlns:a="http://schemas.openxmlformats.org/drawingml/2006/main">
              <a:ext uri="{FF2B5EF4-FFF2-40B4-BE49-F238E27FC236}">
                <a16:creationId xmlns:a16="http://schemas.microsoft.com/office/drawing/2014/main" id="{A293C57C-7CCE-48C0-BF51-02F2D77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299145"/>
            <a:ext cx="11926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std::sort</a:t>
            </a:r>
          </a:p>
        </p:txBody>
      </p:sp>
      <p:sp>
        <p:nvSpPr>
          <p:cNvPr id="56" name="hf-1014">
            <a:extLst xmlns:a="http://schemas.openxmlformats.org/drawingml/2006/main">
              <a:ext uri="{FF2B5EF4-FFF2-40B4-BE49-F238E27FC236}">
                <a16:creationId xmlns:a16="http://schemas.microsoft.com/office/drawing/2014/main" id="{E051EF21-5BAC-45CD-ABBC-5A8E28E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553538"/>
            <a:ext cx="18290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одинаковые — рядом</a:t>
            </a:r>
          </a:p>
        </p:txBody>
      </p:sp>
      <p:sp>
        <p:nvSpPr>
          <p:cNvPr id="57" name="hf-1015">
            <a:extLst xmlns:a="http://schemas.openxmlformats.org/drawingml/2006/main">
              <a:ext uri="{FF2B5EF4-FFF2-40B4-BE49-F238E27FC236}">
                <a16:creationId xmlns:a16="http://schemas.microsoft.com/office/drawing/2014/main" id="{9A3F30A7-2478-46B8-9E74-991F64F9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37345"/>
            <a:ext cx="15711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46CDAE"/>
                </a:solidFill>
                <a:latin typeface="Menlo"/>
                <a:ea typeface="Menlo"/>
                <a:cs typeface="Menlo"/>
              </a:rPr>
              <a:t>unique+erase</a:t>
            </a:r>
          </a:p>
        </p:txBody>
      </p:sp>
      <p:sp>
        <p:nvSpPr>
          <p:cNvPr id="58" name="hf-1016">
            <a:extLst xmlns:a="http://schemas.openxmlformats.org/drawingml/2006/main">
              <a:ext uri="{FF2B5EF4-FFF2-40B4-BE49-F238E27FC236}">
                <a16:creationId xmlns:a16="http://schemas.microsoft.com/office/drawing/2014/main" id="{B7FB9469-9588-4F6D-90D1-C65A9E9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91738"/>
            <a:ext cx="120037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хвост отрезан</a:t>
            </a:r>
          </a:p>
        </p:txBody>
      </p:sp>
      <p:sp>
        <p:nvSpPr>
          <p:cNvPr id="59" name="hf-1017">
            <a:extLst xmlns:a="http://schemas.openxmlformats.org/drawingml/2006/main">
              <a:ext uri="{FF2B5EF4-FFF2-40B4-BE49-F238E27FC236}">
                <a16:creationId xmlns:a16="http://schemas.microsoft.com/office/drawing/2014/main" id="{CF83637F-1CB0-4102-AB27-B44D57EC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38575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60" name="hf-1018">
            <a:extLst xmlns:a="http://schemas.openxmlformats.org/drawingml/2006/main">
              <a:ext uri="{FF2B5EF4-FFF2-40B4-BE49-F238E27FC236}">
                <a16:creationId xmlns:a16="http://schemas.microsoft.com/office/drawing/2014/main" id="{D35D39AF-6032-477E-AE06-7767DB6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94442"/>
            <a:ext cx="3219078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 аллокаций</a:t>
            </a:r>
          </a:p>
        </p:txBody>
      </p:sp>
      <p:sp>
        <p:nvSpPr>
          <p:cNvPr id="61" name="hf-1019">
            <a:extLst xmlns:a="http://schemas.openxmlformats.org/drawingml/2006/main">
              <a:ext uri="{FF2B5EF4-FFF2-40B4-BE49-F238E27FC236}">
                <a16:creationId xmlns:a16="http://schemas.microsoft.com/office/drawing/2014/main" id="{39DA3757-4D93-4376-BDC5-A234F05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1067"/>
            <a:ext cx="299501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~log₂N проходов по всем N —</a:t>
            </a:r>
          </a:p>
        </p:txBody>
      </p:sp>
      <p:sp>
        <p:nvSpPr>
          <p:cNvPr id="62" name="hf-1020">
            <a:extLst xmlns:a="http://schemas.openxmlformats.org/drawingml/2006/main">
              <a:ext uri="{FF2B5EF4-FFF2-40B4-BE49-F238E27FC236}">
                <a16:creationId xmlns:a16="http://schemas.microsoft.com/office/drawing/2014/main" id="{FA73EC7E-21FC-44FD-BFC9-31C062ED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9192"/>
            <a:ext cx="209259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буфер, </a:t>
            </a:r>
            <a:r>
              <a:rPr sz="15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подряд</a:t>
            </a:r>
          </a:p>
        </p:txBody>
      </p:sp>
      <p:pic>
        <p:nvPicPr>
          <p:cNvPr id="63" name="hf-1021">
            <a:extLst xmlns:a="http://schemas.openxmlformats.org/drawingml/2006/main">
              <a:ext uri="{FF2B5EF4-FFF2-40B4-BE49-F238E27FC236}">
                <a16:creationId xmlns:a16="http://schemas.microsoft.com/office/drawing/2014/main" id="{EDD480B0-25CB-48A6-8DCD-49017E727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aea7fa3f249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64" name="hf-1022">
            <a:extLst xmlns:a="http://schemas.openxmlformats.org/drawingml/2006/main">
              <a:ext uri="{FF2B5EF4-FFF2-40B4-BE49-F238E27FC236}">
                <a16:creationId xmlns:a16="http://schemas.microsoft.com/office/drawing/2014/main" id="{35CB9BED-8B7B-42BF-898A-4877AC5C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26262297"/>
      </p:ext>
    </p:extLst>
  </p:cSld>
</p:sld>
</file>

<file path=ppt/slides/slide46.xml><?xml version="1.0" encoding="utf-8"?>
<p:sld xmlns:p="http://schemas.openxmlformats.org/presentationml/2006/main" show="0">
  <p:cSld name="hashtabl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023">
            <a:extLst xmlns:a="http://schemas.openxmlformats.org/drawingml/2006/main">
              <a:ext uri="{FF2B5EF4-FFF2-40B4-BE49-F238E27FC236}">
                <a16:creationId xmlns:a16="http://schemas.microsoft.com/office/drawing/2014/main" id="{C4D4EF7D-4D06-4006-8C2B-66C983F5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024">
            <a:extLst xmlns:a="http://schemas.openxmlformats.org/drawingml/2006/main">
              <a:ext uri="{FF2B5EF4-FFF2-40B4-BE49-F238E27FC236}">
                <a16:creationId xmlns:a16="http://schemas.microsoft.com/office/drawing/2014/main" id="{1B80B17B-E3BC-406F-9F00-467227D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596905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УЗЛОВАЯ ХЕШ-ТАБЛИЦА: КАЖДЫЙ</a:t>
            </a:r>
          </a:p>
        </p:txBody>
      </p:sp>
      <p:sp>
        <p:nvSpPr>
          <p:cNvPr id="4" name="hf-1025">
            <a:extLst xmlns:a="http://schemas.openxmlformats.org/drawingml/2006/main">
              <a:ext uri="{FF2B5EF4-FFF2-40B4-BE49-F238E27FC236}">
                <a16:creationId xmlns:a16="http://schemas.microsoft.com/office/drawing/2014/main" id="{D7136AAE-D23D-4D5B-AA73-B57A37D2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3049488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КЛЮЧ — СВОЙ new</a:t>
            </a:r>
          </a:p>
        </p:txBody>
      </p:sp>
      <p:sp>
        <p:nvSpPr>
          <p:cNvPr id="5" name="hf-1026">
            <a:extLst xmlns:a="http://schemas.openxmlformats.org/drawingml/2006/main">
              <a:ext uri="{FF2B5EF4-FFF2-40B4-BE49-F238E27FC236}">
                <a16:creationId xmlns:a16="http://schemas.microsoft.com/office/drawing/2014/main" id="{55B37AFB-9873-41AB-B032-6CE62A4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485900"/>
            <a:ext cx="933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hf-1027">
            <a:extLst xmlns:a="http://schemas.openxmlformats.org/drawingml/2006/main">
              <a:ext uri="{FF2B5EF4-FFF2-40B4-BE49-F238E27FC236}">
                <a16:creationId xmlns:a16="http://schemas.microsoft.com/office/drawing/2014/main" id="{2E982500-8863-4065-88B0-BCE4DDDD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85900"/>
            <a:ext cx="2171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7" name="hf-1028">
            <a:extLst xmlns:a="http://schemas.openxmlformats.org/drawingml/2006/main">
              <a:ext uri="{FF2B5EF4-FFF2-40B4-BE49-F238E27FC236}">
                <a16:creationId xmlns:a16="http://schemas.microsoft.com/office/drawing/2014/main" id="{0EF8EE1E-85A2-4A3C-BB9A-57D5945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1743075"/>
            <a:ext cx="338138" cy="953"/>
          </a:xfrm>
          <a:custGeom xmlns:a="http://schemas.openxmlformats.org/drawingml/2006/main">
            <a:pathLst>
              <a:path w="338138" h="476">
                <a:moveTo>
                  <a:pt x="0" y="0"/>
                </a:moveTo>
                <a:lnTo>
                  <a:pt x="3381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</a:ln>
        </p:spPr>
      </p:sp>
      <p:sp>
        <p:nvSpPr>
          <p:cNvPr id="8" name="hf-1029">
            <a:extLst xmlns:a="http://schemas.openxmlformats.org/drawingml/2006/main">
              <a:ext uri="{FF2B5EF4-FFF2-40B4-BE49-F238E27FC236}">
                <a16:creationId xmlns:a16="http://schemas.microsoft.com/office/drawing/2014/main" id="{5B06A3E5-00A2-437A-A180-3E6CA03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23850" cy="953"/>
          </a:xfrm>
          <a:custGeom xmlns:a="http://schemas.openxmlformats.org/drawingml/2006/main">
            <a:pathLst>
              <a:path w="323850" h="476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</a:ln>
        </p:spPr>
      </p:sp>
      <p:sp>
        <p:nvSpPr>
          <p:cNvPr id="9" name="hf-1030">
            <a:extLst xmlns:a="http://schemas.openxmlformats.org/drawingml/2006/main">
              <a:ext uri="{FF2B5EF4-FFF2-40B4-BE49-F238E27FC236}">
                <a16:creationId xmlns:a16="http://schemas.microsoft.com/office/drawing/2014/main" id="{DC9E5FF0-40FD-4E12-87EC-CE56626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85900"/>
            <a:ext cx="39814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E1C42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0" name="hf-1031">
            <a:extLst xmlns:a="http://schemas.openxmlformats.org/drawingml/2006/main">
              <a:ext uri="{FF2B5EF4-FFF2-40B4-BE49-F238E27FC236}">
                <a16:creationId xmlns:a16="http://schemas.microsoft.com/office/drawing/2014/main" id="{A48983C5-E68F-4F11-8584-18E1088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85900"/>
            <a:ext cx="50006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89B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11" name="hf-1032">
            <a:extLst xmlns:a="http://schemas.openxmlformats.org/drawingml/2006/main">
              <a:ext uri="{FF2B5EF4-FFF2-40B4-BE49-F238E27FC236}">
                <a16:creationId xmlns:a16="http://schemas.microsoft.com/office/drawing/2014/main" id="{CB7D78E6-F713-45D7-AEDF-57C96CA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2" name="hf-1033">
            <a:extLst xmlns:a="http://schemas.openxmlformats.org/drawingml/2006/main">
              <a:ext uri="{FF2B5EF4-FFF2-40B4-BE49-F238E27FC236}">
                <a16:creationId xmlns:a16="http://schemas.microsoft.com/office/drawing/2014/main" id="{9B40F984-22BA-4B8C-966A-42B26C3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3" name="hf-1034">
            <a:extLst xmlns:a="http://schemas.openxmlformats.org/drawingml/2006/main">
              <a:ext uri="{FF2B5EF4-FFF2-40B4-BE49-F238E27FC236}">
                <a16:creationId xmlns:a16="http://schemas.microsoft.com/office/drawing/2014/main" id="{3D403098-47C0-44B7-AD54-1270D2BA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4" name="hf-1035">
            <a:extLst xmlns:a="http://schemas.openxmlformats.org/drawingml/2006/main">
              <a:ext uri="{FF2B5EF4-FFF2-40B4-BE49-F238E27FC236}">
                <a16:creationId xmlns:a16="http://schemas.microsoft.com/office/drawing/2014/main" id="{7AF5BDC1-B70F-4176-B9A8-DA44C56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5" name="hf-1036">
            <a:extLst xmlns:a="http://schemas.openxmlformats.org/drawingml/2006/main">
              <a:ext uri="{FF2B5EF4-FFF2-40B4-BE49-F238E27FC236}">
                <a16:creationId xmlns:a16="http://schemas.microsoft.com/office/drawing/2014/main" id="{EDF28D64-5C46-4BCC-8BA2-D07F41B7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6" name="hf-1037">
            <a:extLst xmlns:a="http://schemas.openxmlformats.org/drawingml/2006/main">
              <a:ext uri="{FF2B5EF4-FFF2-40B4-BE49-F238E27FC236}">
                <a16:creationId xmlns:a16="http://schemas.microsoft.com/office/drawing/2014/main" id="{0D5660A3-FEE2-450B-A913-6F85625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7" name="hf-1038">
            <a:extLst xmlns:a="http://schemas.openxmlformats.org/drawingml/2006/main">
              <a:ext uri="{FF2B5EF4-FFF2-40B4-BE49-F238E27FC236}">
                <a16:creationId xmlns:a16="http://schemas.microsoft.com/office/drawing/2014/main" id="{6F7A8274-C153-4032-B0B6-F949A2C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1485900"/>
            <a:ext cx="953" cy="514350"/>
          </a:xfrm>
          <a:custGeom xmlns:a="http://schemas.openxmlformats.org/drawingml/2006/main">
            <a:pathLst>
              <a:path w="476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2489B"/>
            </a:solidFill>
          </a:ln>
        </p:spPr>
      </p:sp>
      <p:sp>
        <p:nvSpPr>
          <p:cNvPr id="18" name="hf-1039">
            <a:extLst xmlns:a="http://schemas.openxmlformats.org/drawingml/2006/main">
              <a:ext uri="{FF2B5EF4-FFF2-40B4-BE49-F238E27FC236}">
                <a16:creationId xmlns:a16="http://schemas.microsoft.com/office/drawing/2014/main" id="{864D4FB8-770C-423E-BADE-64C893BB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156" y="1743075"/>
            <a:ext cx="953" cy="971550"/>
          </a:xfrm>
          <a:custGeom xmlns:a="http://schemas.openxmlformats.org/drawingml/2006/main">
            <a:pathLst>
              <a:path w="476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2489B"/>
            </a:solidFill>
          </a:ln>
        </p:spPr>
      </p:sp>
      <p:sp>
        <p:nvSpPr>
          <p:cNvPr id="19" name="hf-1040">
            <a:extLst xmlns:a="http://schemas.openxmlformats.org/drawingml/2006/main">
              <a:ext uri="{FF2B5EF4-FFF2-40B4-BE49-F238E27FC236}">
                <a16:creationId xmlns:a16="http://schemas.microsoft.com/office/drawing/2014/main" id="{C83369EB-BAA1-4E19-8795-99E45A04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294" y="17002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4763">
            <a:noFill/>
          </a:ln>
        </p:spPr>
      </p:sp>
      <p:sp>
        <p:nvSpPr>
          <p:cNvPr id="20" name="hf-1041">
            <a:extLst xmlns:a="http://schemas.openxmlformats.org/drawingml/2006/main">
              <a:ext uri="{FF2B5EF4-FFF2-40B4-BE49-F238E27FC236}">
                <a16:creationId xmlns:a16="http://schemas.microsoft.com/office/drawing/2014/main" id="{392862D7-70C6-4C82-887A-31C9BB7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71775"/>
            <a:ext cx="16954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21" name="hf-1042">
            <a:extLst xmlns:a="http://schemas.openxmlformats.org/drawingml/2006/main">
              <a:ext uri="{FF2B5EF4-FFF2-40B4-BE49-F238E27FC236}">
                <a16:creationId xmlns:a16="http://schemas.microsoft.com/office/drawing/2014/main" id="{B85B07E0-E06E-46F7-891A-47BDF89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24275"/>
            <a:ext cx="16954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2489B"/>
            </a:solidFill>
          </a:ln>
        </p:spPr>
      </p:sp>
      <p:sp>
        <p:nvSpPr>
          <p:cNvPr id="22" name="hf-1043">
            <a:extLst xmlns:a="http://schemas.openxmlformats.org/drawingml/2006/main">
              <a:ext uri="{FF2B5EF4-FFF2-40B4-BE49-F238E27FC236}">
                <a16:creationId xmlns:a16="http://schemas.microsoft.com/office/drawing/2014/main" id="{8BA3AE3A-2B9E-427B-900E-D3A7E4B8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00375"/>
            <a:ext cx="1019175" cy="666750"/>
          </a:xfrm>
          <a:custGeom xmlns:a="http://schemas.openxmlformats.org/drawingml/2006/main">
            <a:pathLst>
              <a:path w="1019175" h="666750">
                <a:moveTo>
                  <a:pt x="0" y="0"/>
                </a:moveTo>
                <a:lnTo>
                  <a:pt x="1019175" y="0"/>
                </a:lnTo>
                <a:lnTo>
                  <a:pt x="101917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2489B"/>
            </a:solidFill>
          </a:ln>
        </p:spPr>
      </p:sp>
      <p:sp>
        <p:nvSpPr>
          <p:cNvPr id="23" name="hf-1044">
            <a:extLst xmlns:a="http://schemas.openxmlformats.org/drawingml/2006/main">
              <a:ext uri="{FF2B5EF4-FFF2-40B4-BE49-F238E27FC236}">
                <a16:creationId xmlns:a16="http://schemas.microsoft.com/office/drawing/2014/main" id="{3449CEAC-CE5C-42A0-BCE3-4983204E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37" y="1386269"/>
            <a:ext cx="35540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24" name="hf-1045">
            <a:extLst xmlns:a="http://schemas.openxmlformats.org/drawingml/2006/main">
              <a:ext uri="{FF2B5EF4-FFF2-40B4-BE49-F238E27FC236}">
                <a16:creationId xmlns:a16="http://schemas.microsoft.com/office/drawing/2014/main" id="{8366DFA3-B071-4D62-B3FD-42ED1452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819" y="1345883"/>
            <a:ext cx="14334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hash(42) % 8</a:t>
            </a:r>
          </a:p>
        </p:txBody>
      </p:sp>
      <p:sp>
        <p:nvSpPr>
          <p:cNvPr id="25" name="hf-1046">
            <a:extLst xmlns:a="http://schemas.openxmlformats.org/drawingml/2006/main">
              <a:ext uri="{FF2B5EF4-FFF2-40B4-BE49-F238E27FC236}">
                <a16:creationId xmlns:a16="http://schemas.microsoft.com/office/drawing/2014/main" id="{9625DD0F-C850-478E-9439-5B0E3DB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2058238"/>
            <a:ext cx="4809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ключ</a:t>
            </a:r>
          </a:p>
        </p:txBody>
      </p:sp>
      <p:sp>
        <p:nvSpPr>
          <p:cNvPr id="26" name="hf-1047">
            <a:extLst xmlns:a="http://schemas.openxmlformats.org/drawingml/2006/main">
              <a:ext uri="{FF2B5EF4-FFF2-40B4-BE49-F238E27FC236}">
                <a16:creationId xmlns:a16="http://schemas.microsoft.com/office/drawing/2014/main" id="{ECDC9E60-7895-4D68-86D5-94F39FE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636" y="2058238"/>
            <a:ext cx="122187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номер ячейки</a:t>
            </a:r>
          </a:p>
        </p:txBody>
      </p:sp>
      <p:sp>
        <p:nvSpPr>
          <p:cNvPr id="27" name="hf-1048">
            <a:extLst xmlns:a="http://schemas.openxmlformats.org/drawingml/2006/main">
              <a:ext uri="{FF2B5EF4-FFF2-40B4-BE49-F238E27FC236}">
                <a16:creationId xmlns:a16="http://schemas.microsoft.com/office/drawing/2014/main" id="{E0889495-C7F9-42B5-8FB8-552129F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058238"/>
            <a:ext cx="16517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 ячеек-указателей</a:t>
            </a:r>
          </a:p>
        </p:txBody>
      </p:sp>
      <p:sp>
        <p:nvSpPr>
          <p:cNvPr id="28" name="hf-1049">
            <a:extLst xmlns:a="http://schemas.openxmlformats.org/drawingml/2006/main">
              <a:ext uri="{FF2B5EF4-FFF2-40B4-BE49-F238E27FC236}">
                <a16:creationId xmlns:a16="http://schemas.microsoft.com/office/drawing/2014/main" id="{B0F11F49-7A76-4FD5-8175-B1D73FE0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639" y="2660332"/>
            <a:ext cx="108942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42 </a:t>
            </a:r>
            <a:r>
              <a:rPr sz="150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 next</a:t>
            </a:r>
          </a:p>
        </p:txBody>
      </p:sp>
      <p:sp>
        <p:nvSpPr>
          <p:cNvPr id="29" name="hf-1050">
            <a:extLst xmlns:a="http://schemas.openxmlformats.org/drawingml/2006/main">
              <a:ext uri="{FF2B5EF4-FFF2-40B4-BE49-F238E27FC236}">
                <a16:creationId xmlns:a16="http://schemas.microsoft.com/office/drawing/2014/main" id="{7BA3C7AE-F864-4BBC-9E2C-7827D551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114" y="3612832"/>
            <a:ext cx="108942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50 </a:t>
            </a:r>
            <a:r>
              <a:rPr sz="1500" b="1" i="0">
                <a:solidFill>
                  <a:srgbClr val="BDBDBD"/>
                </a:solidFill>
                <a:latin typeface="Menlo"/>
                <a:ea typeface="Menlo"/>
                <a:cs typeface="Menlo"/>
              </a:rPr>
              <a:t>· next</a:t>
            </a:r>
          </a:p>
        </p:txBody>
      </p:sp>
      <p:sp>
        <p:nvSpPr>
          <p:cNvPr id="30" name="hf-1051">
            <a:extLst xmlns:a="http://schemas.openxmlformats.org/drawingml/2006/main">
              <a:ext uri="{FF2B5EF4-FFF2-40B4-BE49-F238E27FC236}">
                <a16:creationId xmlns:a16="http://schemas.microsoft.com/office/drawing/2014/main" id="{9D703A7E-67B4-4BE1-9053-7D685BA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816" y="3848938"/>
            <a:ext cx="16974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коллизия → цепочка</a:t>
            </a:r>
          </a:p>
        </p:txBody>
      </p:sp>
      <p:sp>
        <p:nvSpPr>
          <p:cNvPr id="31" name="hf-1052">
            <a:extLst xmlns:a="http://schemas.openxmlformats.org/drawingml/2006/main">
              <a:ext uri="{FF2B5EF4-FFF2-40B4-BE49-F238E27FC236}">
                <a16:creationId xmlns:a16="http://schemas.microsoft.com/office/drawing/2014/main" id="{EA7F7041-6CE1-44A3-AF2F-9EE72FC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84767"/>
            <a:ext cx="3551113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780"/>
              </a:lnSpc>
              <a:buNone/>
            </a:pPr>
            <a:r>
              <a:rPr sz="36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1 ключ = 1 new</a:t>
            </a:r>
          </a:p>
        </p:txBody>
      </p:sp>
      <p:sp>
        <p:nvSpPr>
          <p:cNvPr id="32" name="hf-1053">
            <a:extLst xmlns:a="http://schemas.openxmlformats.org/drawingml/2006/main">
              <a:ext uri="{FF2B5EF4-FFF2-40B4-BE49-F238E27FC236}">
                <a16:creationId xmlns:a16="http://schemas.microsoft.com/office/drawing/2014/main" id="{E96D2C8F-2002-4060-AF44-8CC0200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84804"/>
            <a:ext cx="40751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каждый узел — отдельный кусок памяти</a:t>
            </a:r>
          </a:p>
        </p:txBody>
      </p:sp>
      <p:sp>
        <p:nvSpPr>
          <p:cNvPr id="33" name="hf-1054">
            <a:extLst xmlns:a="http://schemas.openxmlformats.org/drawingml/2006/main">
              <a:ext uri="{FF2B5EF4-FFF2-40B4-BE49-F238E27FC236}">
                <a16:creationId xmlns:a16="http://schemas.microsoft.com/office/drawing/2014/main" id="{E1718CFC-CC52-44EC-8724-867B11B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51504"/>
            <a:ext cx="41206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шаг по цепочке — переход по указателю</a:t>
            </a:r>
          </a:p>
        </p:txBody>
      </p:sp>
      <p:pic>
        <p:nvPicPr>
          <p:cNvPr id="34" name="hf-1055">
            <a:extLst xmlns:a="http://schemas.openxmlformats.org/drawingml/2006/main">
              <a:ext uri="{FF2B5EF4-FFF2-40B4-BE49-F238E27FC236}">
                <a16:creationId xmlns:a16="http://schemas.microsoft.com/office/drawing/2014/main" id="{21270654-383E-4AE9-9D53-C9675A0E8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05ced1d9947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5" name="hf-1056">
            <a:extLst xmlns:a="http://schemas.openxmlformats.org/drawingml/2006/main">
              <a:ext uri="{FF2B5EF4-FFF2-40B4-BE49-F238E27FC236}">
                <a16:creationId xmlns:a16="http://schemas.microsoft.com/office/drawing/2014/main" id="{267BC5F9-674B-46F8-A2C8-8E3D9B14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638559604"/>
      </p:ext>
    </p:extLst>
  </p:cSld>
</p:sld>
</file>

<file path=ppt/slides/slide47.xml><?xml version="1.0" encoding="utf-8"?>
<p:sld xmlns:p="http://schemas.openxmlformats.org/presentationml/2006/main" show="0">
  <p:cSld name="reserve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057">
            <a:extLst xmlns:a="http://schemas.openxmlformats.org/drawingml/2006/main">
              <a:ext uri="{FF2B5EF4-FFF2-40B4-BE49-F238E27FC236}">
                <a16:creationId xmlns:a16="http://schemas.microsoft.com/office/drawing/2014/main" id="{6067E647-53C6-4907-8E06-AF50B2EF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058">
            <a:extLst xmlns:a="http://schemas.openxmlformats.org/drawingml/2006/main">
              <a:ext uri="{FF2B5EF4-FFF2-40B4-BE49-F238E27FC236}">
                <a16:creationId xmlns:a16="http://schemas.microsoft.com/office/drawing/2014/main" id="{7C0C5D5A-52F9-493B-8B10-8E5BB1A2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834560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reserve(N) — ТОЖЕ РЕШЕНИЕ, И ОНО СТОИТ</a:t>
            </a:r>
          </a:p>
        </p:txBody>
      </p:sp>
      <p:sp>
        <p:nvSpPr>
          <p:cNvPr id="4" name="hf-1059">
            <a:extLst xmlns:a="http://schemas.openxmlformats.org/drawingml/2006/main">
              <a:ext uri="{FF2B5EF4-FFF2-40B4-BE49-F238E27FC236}">
                <a16:creationId xmlns:a16="http://schemas.microsoft.com/office/drawing/2014/main" id="{9C5506F2-3A12-41F2-9BB5-70BF629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139399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ПАМЯТИ</a:t>
            </a:r>
          </a:p>
        </p:txBody>
      </p:sp>
      <p:sp>
        <p:nvSpPr>
          <p:cNvPr id="5" name="hf-1060">
            <a:extLst xmlns:a="http://schemas.openxmlformats.org/drawingml/2006/main">
              <a:ext uri="{FF2B5EF4-FFF2-40B4-BE49-F238E27FC236}">
                <a16:creationId xmlns:a16="http://schemas.microsoft.com/office/drawing/2014/main" id="{529ACBBC-CA83-47D6-A379-9FD9167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01013"/>
            <a:ext cx="51962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flat_hash_set · N = 2^20 · 1% уникальных · нс на элемент · M2 Pro</a:t>
            </a:r>
          </a:p>
        </p:txBody>
      </p:sp>
      <p:sp>
        <p:nvSpPr>
          <p:cNvPr id="6" name="hf-1061">
            <a:extLst xmlns:a="http://schemas.openxmlformats.org/drawingml/2006/main">
              <a:ext uri="{FF2B5EF4-FFF2-40B4-BE49-F238E27FC236}">
                <a16:creationId xmlns:a16="http://schemas.microsoft.com/office/drawing/2014/main" id="{A5B34D7E-2A9F-43F7-8DF2-CE8953E5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33550"/>
            <a:ext cx="2667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hf-1062">
            <a:extLst xmlns:a="http://schemas.openxmlformats.org/drawingml/2006/main">
              <a:ext uri="{FF2B5EF4-FFF2-40B4-BE49-F238E27FC236}">
                <a16:creationId xmlns:a16="http://schemas.microsoft.com/office/drawing/2014/main" id="{B26B9FE6-457F-41BF-8259-0F3AC52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1889379"/>
            <a:ext cx="13708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 </a:t>
            </a: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reserve(N)</a:t>
            </a:r>
          </a:p>
        </p:txBody>
      </p:sp>
      <p:sp>
        <p:nvSpPr>
          <p:cNvPr id="8" name="hf-1063">
            <a:extLst xmlns:a="http://schemas.openxmlformats.org/drawingml/2006/main">
              <a:ext uri="{FF2B5EF4-FFF2-40B4-BE49-F238E27FC236}">
                <a16:creationId xmlns:a16="http://schemas.microsoft.com/office/drawing/2014/main" id="{8F2D669A-F3B3-420C-AAD5-3CCC542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2375916"/>
            <a:ext cx="1380232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3,6 </a:t>
            </a:r>
          </a:p>
        </p:txBody>
      </p:sp>
      <p:sp>
        <p:nvSpPr>
          <p:cNvPr id="9" name="hf-1064">
            <a:extLst xmlns:a="http://schemas.openxmlformats.org/drawingml/2006/main">
              <a:ext uri="{FF2B5EF4-FFF2-40B4-BE49-F238E27FC236}">
                <a16:creationId xmlns:a16="http://schemas.microsoft.com/office/drawing/2014/main" id="{E5F712CA-C583-4B60-80BD-C5FCF20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95" y="2266036"/>
            <a:ext cx="405631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нс</a:t>
            </a:r>
          </a:p>
        </p:txBody>
      </p:sp>
      <p:sp>
        <p:nvSpPr>
          <p:cNvPr id="10" name="hf-1065">
            <a:extLst xmlns:a="http://schemas.openxmlformats.org/drawingml/2006/main">
              <a:ext uri="{FF2B5EF4-FFF2-40B4-BE49-F238E27FC236}">
                <a16:creationId xmlns:a16="http://schemas.microsoft.com/office/drawing/2014/main" id="{AB90097F-35B5-4950-B64E-DBCC006A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225937"/>
            <a:ext cx="1440582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18,9 МБ таблицы</a:t>
            </a:r>
          </a:p>
        </p:txBody>
      </p:sp>
      <p:sp>
        <p:nvSpPr>
          <p:cNvPr id="11" name="hf-1066">
            <a:extLst xmlns:a="http://schemas.openxmlformats.org/drawingml/2006/main">
              <a:ext uri="{FF2B5EF4-FFF2-40B4-BE49-F238E27FC236}">
                <a16:creationId xmlns:a16="http://schemas.microsoft.com/office/drawing/2014/main" id="{D02C0AD5-84DD-4ADF-939E-F422CC4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33550"/>
            <a:ext cx="2667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hf-1067">
            <a:extLst xmlns:a="http://schemas.openxmlformats.org/drawingml/2006/main">
              <a:ext uri="{FF2B5EF4-FFF2-40B4-BE49-F238E27FC236}">
                <a16:creationId xmlns:a16="http://schemas.microsoft.com/office/drawing/2014/main" id="{D76824E4-CB10-44FA-9EB7-A792E8F5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1889379"/>
            <a:ext cx="127173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без </a:t>
            </a:r>
            <a:r>
              <a:rPr sz="1500" b="1" i="0">
                <a:solidFill>
                  <a:srgbClr val="000000"/>
                </a:solidFill>
                <a:latin typeface="Menlo"/>
                <a:ea typeface="Menlo"/>
                <a:cs typeface="Menlo"/>
              </a:rPr>
              <a:t>reserve</a:t>
            </a:r>
          </a:p>
        </p:txBody>
      </p:sp>
      <p:sp>
        <p:nvSpPr>
          <p:cNvPr id="13" name="hf-1068">
            <a:extLst xmlns:a="http://schemas.openxmlformats.org/drawingml/2006/main">
              <a:ext uri="{FF2B5EF4-FFF2-40B4-BE49-F238E27FC236}">
                <a16:creationId xmlns:a16="http://schemas.microsoft.com/office/drawing/2014/main" id="{A30F6D97-3BD3-40FA-9E49-AA3E895D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75916"/>
            <a:ext cx="13956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2,9 </a:t>
            </a:r>
          </a:p>
        </p:txBody>
      </p:sp>
      <p:sp>
        <p:nvSpPr>
          <p:cNvPr id="14" name="hf-1069">
            <a:extLst xmlns:a="http://schemas.openxmlformats.org/drawingml/2006/main">
              <a:ext uri="{FF2B5EF4-FFF2-40B4-BE49-F238E27FC236}">
                <a16:creationId xmlns:a16="http://schemas.microsoft.com/office/drawing/2014/main" id="{4CF4869D-30CB-4231-86B3-833BDBB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798" y="2266036"/>
            <a:ext cx="405631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210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нс</a:t>
            </a:r>
          </a:p>
        </p:txBody>
      </p:sp>
      <p:sp>
        <p:nvSpPr>
          <p:cNvPr id="15" name="hf-1070">
            <a:extLst xmlns:a="http://schemas.openxmlformats.org/drawingml/2006/main">
              <a:ext uri="{FF2B5EF4-FFF2-40B4-BE49-F238E27FC236}">
                <a16:creationId xmlns:a16="http://schemas.microsoft.com/office/drawing/2014/main" id="{1164DC82-ECAC-4069-9F1E-EDFFC9F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225937"/>
            <a:ext cx="141729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8"/>
              </a:lnSpc>
              <a:buNone/>
            </a:pPr>
            <a:r>
              <a:rPr sz="127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0,3 МБ таблицы</a:t>
            </a:r>
          </a:p>
        </p:txBody>
      </p:sp>
      <p:sp>
        <p:nvSpPr>
          <p:cNvPr id="16" name="hf-1071">
            <a:extLst xmlns:a="http://schemas.openxmlformats.org/drawingml/2006/main">
              <a:ext uri="{FF2B5EF4-FFF2-40B4-BE49-F238E27FC236}">
                <a16:creationId xmlns:a16="http://schemas.microsoft.com/office/drawing/2014/main" id="{D446D07C-E781-4AFC-A27E-9BD07719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202" y="1966341"/>
            <a:ext cx="15067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×64</a:t>
            </a:r>
          </a:p>
        </p:txBody>
      </p:sp>
      <p:sp>
        <p:nvSpPr>
          <p:cNvPr id="17" name="hf-1072">
            <a:extLst xmlns:a="http://schemas.openxmlformats.org/drawingml/2006/main">
              <a:ext uri="{FF2B5EF4-FFF2-40B4-BE49-F238E27FC236}">
                <a16:creationId xmlns:a16="http://schemas.microsoft.com/office/drawing/2014/main" id="{F6951E29-8CEB-43DD-B9AC-81D4B6F5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842" y="2753982"/>
            <a:ext cx="95309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памяти</a:t>
            </a:r>
          </a:p>
        </p:txBody>
      </p:sp>
      <p:sp>
        <p:nvSpPr>
          <p:cNvPr id="18" name="hf-1073">
            <a:extLst xmlns:a="http://schemas.openxmlformats.org/drawingml/2006/main">
              <a:ext uri="{FF2B5EF4-FFF2-40B4-BE49-F238E27FC236}">
                <a16:creationId xmlns:a16="http://schemas.microsoft.com/office/drawing/2014/main" id="{3514ACE9-F60B-4F93-9397-34146EC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44" y="3086938"/>
            <a:ext cx="15565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 точным байтам</a:t>
            </a:r>
          </a:p>
        </p:txBody>
      </p:sp>
      <p:sp>
        <p:nvSpPr>
          <p:cNvPr id="19" name="hf-1074">
            <a:extLst xmlns:a="http://schemas.openxmlformats.org/drawingml/2006/main">
              <a:ext uri="{FF2B5EF4-FFF2-40B4-BE49-F238E27FC236}">
                <a16:creationId xmlns:a16="http://schemas.microsoft.com/office/drawing/2014/main" id="{3307DF15-F234-499B-825F-32B5F9F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951694"/>
            <a:ext cx="3446711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6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 мы знаем, </a:t>
            </a:r>
            <a:r>
              <a:rPr sz="240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U — нет</a:t>
            </a:r>
          </a:p>
        </p:txBody>
      </p:sp>
      <p:pic>
        <p:nvPicPr>
          <p:cNvPr id="20" name="hf-1075">
            <a:extLst xmlns:a="http://schemas.openxmlformats.org/drawingml/2006/main">
              <a:ext uri="{FF2B5EF4-FFF2-40B4-BE49-F238E27FC236}">
                <a16:creationId xmlns:a16="http://schemas.microsoft.com/office/drawing/2014/main" id="{9560DFD3-55FA-4A7B-9A7F-CCE298223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07fcc367343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1" name="hf-1076">
            <a:extLst xmlns:a="http://schemas.openxmlformats.org/drawingml/2006/main">
              <a:ext uri="{FF2B5EF4-FFF2-40B4-BE49-F238E27FC236}">
                <a16:creationId xmlns:a16="http://schemas.microsoft.com/office/drawing/2014/main" id="{F0DA7CD1-45F7-464E-A0BC-CF65FA6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91948486"/>
      </p:ext>
    </p:extLst>
  </p:cSld>
</p:sld>
</file>

<file path=ppt/slides/slide48.xml><?xml version="1.0" encoding="utf-8"?>
<p:sld xmlns:p="http://schemas.openxmlformats.org/presentationml/2006/main" show="0">
  <p:cSld name="checklist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077">
            <a:extLst xmlns:a="http://schemas.openxmlformats.org/drawingml/2006/main">
              <a:ext uri="{FF2B5EF4-FFF2-40B4-BE49-F238E27FC236}">
                <a16:creationId xmlns:a16="http://schemas.microsoft.com/office/drawing/2014/main" id="{83E851BC-A52F-43E4-A339-5C4ED694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078">
            <a:extLst xmlns:a="http://schemas.openxmlformats.org/drawingml/2006/main">
              <a:ext uri="{FF2B5EF4-FFF2-40B4-BE49-F238E27FC236}">
                <a16:creationId xmlns:a16="http://schemas.microsoft.com/office/drawing/2014/main" id="{42B2A76E-44CA-486B-B408-005FAAD7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28441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ЧЕСТНЫЙ ЗАМЕР — ВОСЕМЬ ПРОВЕРОК</a:t>
            </a:r>
          </a:p>
        </p:txBody>
      </p:sp>
      <p:sp>
        <p:nvSpPr>
          <p:cNvPr id="4" name="hf-1079">
            <a:extLst xmlns:a="http://schemas.openxmlformats.org/drawingml/2006/main">
              <a:ext uri="{FF2B5EF4-FFF2-40B4-BE49-F238E27FC236}">
                <a16:creationId xmlns:a16="http://schemas.microsoft.com/office/drawing/2014/main" id="{C20A7906-E42D-42F5-8DAF-65AD4AB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015877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ДО ВЫВОДА</a:t>
            </a:r>
          </a:p>
        </p:txBody>
      </p:sp>
      <p:sp>
        <p:nvSpPr>
          <p:cNvPr id="5" name="hf-1080">
            <a:extLst xmlns:a="http://schemas.openxmlformats.org/drawingml/2006/main">
              <a:ext uri="{FF2B5EF4-FFF2-40B4-BE49-F238E27FC236}">
                <a16:creationId xmlns:a16="http://schemas.microsoft.com/office/drawing/2014/main" id="{45F45F07-4EE2-4ED0-878A-8CE92B0B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0606"/>
            <a:ext cx="2015207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ОДИНАКОВАЯ ЗАДАЧА</a:t>
            </a:r>
          </a:p>
        </p:txBody>
      </p:sp>
      <p:sp>
        <p:nvSpPr>
          <p:cNvPr id="6" name="hf-1081">
            <a:extLst xmlns:a="http://schemas.openxmlformats.org/drawingml/2006/main">
              <a:ext uri="{FF2B5EF4-FFF2-40B4-BE49-F238E27FC236}">
                <a16:creationId xmlns:a16="http://schemas.microsoft.com/office/drawing/2014/main" id="{AC50F214-C900-4CB4-B997-A8395605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688687"/>
            <a:ext cx="17278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7" name="hf-1082">
            <a:extLst xmlns:a="http://schemas.openxmlformats.org/drawingml/2006/main">
              <a:ext uri="{FF2B5EF4-FFF2-40B4-BE49-F238E27FC236}">
                <a16:creationId xmlns:a16="http://schemas.microsoft.com/office/drawing/2014/main" id="{F577921C-C5C6-42BD-B507-507E3E2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1682753"/>
            <a:ext cx="23441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Контракт — до таймера</a:t>
            </a:r>
          </a:p>
        </p:txBody>
      </p:sp>
      <p:sp>
        <p:nvSpPr>
          <p:cNvPr id="8" name="hf-1083">
            <a:extLst xmlns:a="http://schemas.openxmlformats.org/drawingml/2006/main">
              <a:ext uri="{FF2B5EF4-FFF2-40B4-BE49-F238E27FC236}">
                <a16:creationId xmlns:a16="http://schemas.microsoft.com/office/drawing/2014/main" id="{EB4ADABE-9A7E-460C-81C4-564C7197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50637"/>
            <a:ext cx="22822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9" name="hf-1084">
            <a:extLst xmlns:a="http://schemas.openxmlformats.org/drawingml/2006/main">
              <a:ext uri="{FF2B5EF4-FFF2-40B4-BE49-F238E27FC236}">
                <a16:creationId xmlns:a16="http://schemas.microsoft.com/office/drawing/2014/main" id="{31FFF26C-78D5-4C7E-B74D-A9982657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2044703"/>
            <a:ext cx="234977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Все проходят проверку</a:t>
            </a:r>
          </a:p>
        </p:txBody>
      </p:sp>
      <p:sp>
        <p:nvSpPr>
          <p:cNvPr id="10" name="hf-1085">
            <a:extLst xmlns:a="http://schemas.openxmlformats.org/drawingml/2006/main">
              <a:ext uri="{FF2B5EF4-FFF2-40B4-BE49-F238E27FC236}">
                <a16:creationId xmlns:a16="http://schemas.microsoft.com/office/drawing/2014/main" id="{6F40A17A-F03E-48C4-9840-BF83D5C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96931"/>
            <a:ext cx="2638351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ПРОВЕРЕННЫЕ КОД И ВХОДЫ</a:t>
            </a:r>
          </a:p>
        </p:txBody>
      </p:sp>
      <p:sp>
        <p:nvSpPr>
          <p:cNvPr id="11" name="hf-1086">
            <a:extLst xmlns:a="http://schemas.openxmlformats.org/drawingml/2006/main">
              <a:ext uri="{FF2B5EF4-FFF2-40B4-BE49-F238E27FC236}">
                <a16:creationId xmlns:a16="http://schemas.microsoft.com/office/drawing/2014/main" id="{EEBA0A0E-0D34-457E-8413-4659254A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765012"/>
            <a:ext cx="22934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2" name="hf-1087">
            <a:extLst xmlns:a="http://schemas.openxmlformats.org/drawingml/2006/main">
              <a:ext uri="{FF2B5EF4-FFF2-40B4-BE49-F238E27FC236}">
                <a16:creationId xmlns:a16="http://schemas.microsoft.com/office/drawing/2014/main" id="{DD904E0A-A3C4-4D24-BE4F-1E3E3A6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2759078"/>
            <a:ext cx="30599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Разные входы, не один массив</a:t>
            </a:r>
          </a:p>
        </p:txBody>
      </p:sp>
      <p:sp>
        <p:nvSpPr>
          <p:cNvPr id="13" name="hf-1088">
            <a:extLst xmlns:a="http://schemas.openxmlformats.org/drawingml/2006/main">
              <a:ext uri="{FF2B5EF4-FFF2-40B4-BE49-F238E27FC236}">
                <a16:creationId xmlns:a16="http://schemas.microsoft.com/office/drawing/2014/main" id="{AE529514-28C7-4A17-A8ED-6D3073C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126962"/>
            <a:ext cx="25724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4" name="hf-1089">
            <a:extLst xmlns:a="http://schemas.openxmlformats.org/drawingml/2006/main">
              <a:ext uri="{FF2B5EF4-FFF2-40B4-BE49-F238E27FC236}">
                <a16:creationId xmlns:a16="http://schemas.microsoft.com/office/drawing/2014/main" id="{586C953C-85BE-4251-AE88-3925F17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3" y="3121028"/>
            <a:ext cx="266454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Свои N и доля уникальных</a:t>
            </a:r>
          </a:p>
        </p:txBody>
      </p:sp>
      <p:sp>
        <p:nvSpPr>
          <p:cNvPr id="15" name="hf-1090">
            <a:extLst xmlns:a="http://schemas.openxmlformats.org/drawingml/2006/main">
              <a:ext uri="{FF2B5EF4-FFF2-40B4-BE49-F238E27FC236}">
                <a16:creationId xmlns:a16="http://schemas.microsoft.com/office/drawing/2014/main" id="{906BA453-E8BD-4825-BBF2-8E9A41C1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0606"/>
            <a:ext cx="2284958" cy="197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406"/>
              </a:lnSpc>
              <a:buNone/>
            </a:pPr>
            <a:r>
              <a:rPr sz="112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ПОВТОРЕНИЯ И УСЛОВИЯ</a:t>
            </a:r>
          </a:p>
        </p:txBody>
      </p:sp>
      <p:sp>
        <p:nvSpPr>
          <p:cNvPr id="16" name="hf-1091">
            <a:extLst xmlns:a="http://schemas.openxmlformats.org/drawingml/2006/main">
              <a:ext uri="{FF2B5EF4-FFF2-40B4-BE49-F238E27FC236}">
                <a16:creationId xmlns:a16="http://schemas.microsoft.com/office/drawing/2014/main" id="{9A63B54B-B386-4F4E-94C0-1C5C6809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8687"/>
            <a:ext cx="2305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7" name="hf-1092">
            <a:extLst xmlns:a="http://schemas.openxmlformats.org/drawingml/2006/main">
              <a:ext uri="{FF2B5EF4-FFF2-40B4-BE49-F238E27FC236}">
                <a16:creationId xmlns:a16="http://schemas.microsoft.com/office/drawing/2014/main" id="{179F01DE-5E77-4780-97C4-20EEF48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82753"/>
            <a:ext cx="235803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Чередование, медиана,</a:t>
            </a:r>
          </a:p>
        </p:txBody>
      </p:sp>
      <p:sp>
        <p:nvSpPr>
          <p:cNvPr id="18" name="hf-1093">
            <a:extLst xmlns:a="http://schemas.openxmlformats.org/drawingml/2006/main">
              <a:ext uri="{FF2B5EF4-FFF2-40B4-BE49-F238E27FC236}">
                <a16:creationId xmlns:a16="http://schemas.microsoft.com/office/drawing/2014/main" id="{352AF309-B4DF-4E48-A811-6CED2E19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0403"/>
            <a:ext cx="2036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разброс, две сессии</a:t>
            </a:r>
          </a:p>
        </p:txBody>
      </p:sp>
      <p:sp>
        <p:nvSpPr>
          <p:cNvPr id="19" name="hf-1094">
            <a:extLst xmlns:a="http://schemas.openxmlformats.org/drawingml/2006/main">
              <a:ext uri="{FF2B5EF4-FFF2-40B4-BE49-F238E27FC236}">
                <a16:creationId xmlns:a16="http://schemas.microsoft.com/office/drawing/2014/main" id="{ABF92597-8AB8-4F78-B9CA-0505B3EE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7812"/>
            <a:ext cx="2425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20" name="hf-1095">
            <a:extLst xmlns:a="http://schemas.openxmlformats.org/drawingml/2006/main">
              <a:ext uri="{FF2B5EF4-FFF2-40B4-BE49-F238E27FC236}">
                <a16:creationId xmlns:a16="http://schemas.microsoft.com/office/drawing/2014/main" id="{11381208-F165-42DB-9E47-2E25AA5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1878"/>
            <a:ext cx="249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Компилятор, библиотека</a:t>
            </a:r>
          </a:p>
        </p:txBody>
      </p:sp>
      <p:sp>
        <p:nvSpPr>
          <p:cNvPr id="21" name="hf-1096">
            <a:extLst xmlns:a="http://schemas.openxmlformats.org/drawingml/2006/main">
              <a:ext uri="{FF2B5EF4-FFF2-40B4-BE49-F238E27FC236}">
                <a16:creationId xmlns:a16="http://schemas.microsoft.com/office/drawing/2014/main" id="{96B23A43-962E-463F-805A-D734403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9528"/>
            <a:ext cx="13971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и ОС — в логе</a:t>
            </a:r>
          </a:p>
        </p:txBody>
      </p:sp>
      <p:sp>
        <p:nvSpPr>
          <p:cNvPr id="22" name="hf-1097">
            <a:extLst xmlns:a="http://schemas.openxmlformats.org/drawingml/2006/main">
              <a:ext uri="{FF2B5EF4-FFF2-40B4-BE49-F238E27FC236}">
                <a16:creationId xmlns:a16="http://schemas.microsoft.com/office/drawing/2014/main" id="{F1AFA896-884E-4D3D-B6EC-62BEFE83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6937"/>
            <a:ext cx="23775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7</a:t>
            </a:r>
          </a:p>
        </p:txBody>
      </p:sp>
      <p:sp>
        <p:nvSpPr>
          <p:cNvPr id="23" name="hf-1098">
            <a:extLst xmlns:a="http://schemas.openxmlformats.org/drawingml/2006/main">
              <a:ext uri="{FF2B5EF4-FFF2-40B4-BE49-F238E27FC236}">
                <a16:creationId xmlns:a16="http://schemas.microsoft.com/office/drawing/2014/main" id="{A369132B-8477-4CF8-8A5C-15E580DB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1003"/>
            <a:ext cx="250939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Устройство: модель, QoS,</a:t>
            </a:r>
          </a:p>
        </p:txBody>
      </p:sp>
      <p:sp>
        <p:nvSpPr>
          <p:cNvPr id="24" name="hf-1099">
            <a:extLst xmlns:a="http://schemas.openxmlformats.org/drawingml/2006/main">
              <a:ext uri="{FF2B5EF4-FFF2-40B4-BE49-F238E27FC236}">
                <a16:creationId xmlns:a16="http://schemas.microsoft.com/office/drawing/2014/main" id="{E0D64BEA-47F2-45FB-A09B-F4377B9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8653"/>
            <a:ext cx="139243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425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заряд, нагрев</a:t>
            </a:r>
          </a:p>
        </p:txBody>
      </p:sp>
      <p:sp>
        <p:nvSpPr>
          <p:cNvPr id="25" name="hf-1100">
            <a:extLst xmlns:a="http://schemas.openxmlformats.org/drawingml/2006/main">
              <a:ext uri="{FF2B5EF4-FFF2-40B4-BE49-F238E27FC236}">
                <a16:creationId xmlns:a16="http://schemas.microsoft.com/office/drawing/2014/main" id="{F07F4CFC-0295-4F49-A6FD-24A2C28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676650"/>
            <a:ext cx="80295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hf-1101">
            <a:extLst xmlns:a="http://schemas.openxmlformats.org/drawingml/2006/main">
              <a:ext uri="{FF2B5EF4-FFF2-40B4-BE49-F238E27FC236}">
                <a16:creationId xmlns:a16="http://schemas.microsoft.com/office/drawing/2014/main" id="{F98BE411-5B01-4B60-BC2F-B44E4606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758517"/>
            <a:ext cx="2793057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73"/>
              </a:lnSpc>
              <a:buNone/>
            </a:pPr>
            <a:r>
              <a:rPr sz="1125" b="0" i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</a:rPr>
              <a:t>ВЫВОДЫ В ПРЕДЕЛАХ ДАННЫХ</a:t>
            </a:r>
          </a:p>
        </p:txBody>
      </p:sp>
      <p:sp>
        <p:nvSpPr>
          <p:cNvPr id="27" name="hf-1102">
            <a:extLst xmlns:a="http://schemas.openxmlformats.org/drawingml/2006/main">
              <a:ext uri="{FF2B5EF4-FFF2-40B4-BE49-F238E27FC236}">
                <a16:creationId xmlns:a16="http://schemas.microsoft.com/office/drawing/2014/main" id="{576D6AB2-A685-4D03-87E9-3EBC7FC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974687"/>
            <a:ext cx="24824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2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8</a:t>
            </a:r>
          </a:p>
        </p:txBody>
      </p:sp>
      <p:sp>
        <p:nvSpPr>
          <p:cNvPr id="28" name="hf-1103">
            <a:extLst xmlns:a="http://schemas.openxmlformats.org/drawingml/2006/main">
              <a:ext uri="{FF2B5EF4-FFF2-40B4-BE49-F238E27FC236}">
                <a16:creationId xmlns:a16="http://schemas.microsoft.com/office/drawing/2014/main" id="{ACCA9D9B-F3D7-41FC-848D-5C32BD78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931406"/>
            <a:ext cx="453300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1650" b="1" i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Факт отдельно от гипотезы о причине</a:t>
            </a:r>
          </a:p>
        </p:txBody>
      </p:sp>
      <p:pic>
        <p:nvPicPr>
          <p:cNvPr id="29" name="hf-1104">
            <a:extLst xmlns:a="http://schemas.openxmlformats.org/drawingml/2006/main">
              <a:ext uri="{FF2B5EF4-FFF2-40B4-BE49-F238E27FC236}">
                <a16:creationId xmlns:a16="http://schemas.microsoft.com/office/drawing/2014/main" id="{EB756464-DD87-4B0D-B8E1-15F4501107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21994e49d49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0" name="hf-1105">
            <a:extLst xmlns:a="http://schemas.openxmlformats.org/drawingml/2006/main">
              <a:ext uri="{FF2B5EF4-FFF2-40B4-BE49-F238E27FC236}">
                <a16:creationId xmlns:a16="http://schemas.microsoft.com/office/drawing/2014/main" id="{CAB6E1CA-1095-4FDB-B281-5A46A51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34631107"/>
      </p:ext>
    </p:extLst>
  </p:cSld>
</p:sld>
</file>

<file path=ppt/slides/slide49.xml><?xml version="1.0" encoding="utf-8"?>
<p:sld xmlns:p="http://schemas.openxmlformats.org/presentationml/2006/main" show="0">
  <p:cSld name="sum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06">
            <a:extLst xmlns:a="http://schemas.openxmlformats.org/drawingml/2006/main">
              <a:ext uri="{FF2B5EF4-FFF2-40B4-BE49-F238E27FC236}">
                <a16:creationId xmlns:a16="http://schemas.microsoft.com/office/drawing/2014/main" id="{53BF7736-EAA6-4770-98FB-BD1D2F41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227952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BACKUP · ДЛЯ ВОПРОСОВ</a:t>
            </a:r>
          </a:p>
        </p:txBody>
      </p:sp>
      <p:sp>
        <p:nvSpPr>
          <p:cNvPr id="3" name="hf-1107">
            <a:extLst xmlns:a="http://schemas.openxmlformats.org/drawingml/2006/main">
              <a:ext uri="{FF2B5EF4-FFF2-40B4-BE49-F238E27FC236}">
                <a16:creationId xmlns:a16="http://schemas.microsoft.com/office/drawing/2014/main" id="{31E5B915-552C-4920-ACFF-547B574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50951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ШАГОВ У ХЕША МЕНЬШЕ, НО КАЖДЫЙ —</a:t>
            </a:r>
          </a:p>
        </p:txBody>
      </p:sp>
      <p:sp>
        <p:nvSpPr>
          <p:cNvPr id="4" name="hf-1108">
            <a:extLst xmlns:a="http://schemas.openxmlformats.org/drawingml/2006/main">
              <a:ext uri="{FF2B5EF4-FFF2-40B4-BE49-F238E27FC236}">
                <a16:creationId xmlns:a16="http://schemas.microsoft.com/office/drawing/2014/main" id="{8B0333C0-3C7A-461B-8027-A665E4DF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5810994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АЛЛОКАЦИЯ ИЛИ ПРЫЖОК ПО УЗЛУ</a:t>
            </a:r>
          </a:p>
        </p:txBody>
      </p:sp>
      <p:sp>
        <p:nvSpPr>
          <p:cNvPr id="5" name="hf-1109">
            <a:extLst xmlns:a="http://schemas.openxmlformats.org/drawingml/2006/main">
              <a:ext uri="{FF2B5EF4-FFF2-40B4-BE49-F238E27FC236}">
                <a16:creationId xmlns:a16="http://schemas.microsoft.com/office/drawing/2014/main" id="{45C246EB-6645-4AB6-B29D-61A9928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28750"/>
            <a:ext cx="3810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6" name="hf-1110">
            <a:extLst xmlns:a="http://schemas.openxmlformats.org/drawingml/2006/main">
              <a:ext uri="{FF2B5EF4-FFF2-40B4-BE49-F238E27FC236}">
                <a16:creationId xmlns:a16="http://schemas.microsoft.com/office/drawing/2014/main" id="{8CA04A1D-1F26-44FC-B894-69E9ED18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582407"/>
            <a:ext cx="161329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sort + unique</a:t>
            </a:r>
          </a:p>
        </p:txBody>
      </p:sp>
      <p:sp>
        <p:nvSpPr>
          <p:cNvPr id="7" name="hf-1111">
            <a:extLst xmlns:a="http://schemas.openxmlformats.org/drawingml/2006/main">
              <a:ext uri="{FF2B5EF4-FFF2-40B4-BE49-F238E27FC236}">
                <a16:creationId xmlns:a16="http://schemas.microsoft.com/office/drawing/2014/main" id="{77896AD0-E3A2-4ADF-9375-2C5A428B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029587"/>
            <a:ext cx="448791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45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0</a:t>
            </a:r>
          </a:p>
        </p:txBody>
      </p:sp>
      <p:sp>
        <p:nvSpPr>
          <p:cNvPr id="8" name="hf-1112">
            <a:extLst xmlns:a="http://schemas.openxmlformats.org/drawingml/2006/main">
              <a:ext uri="{FF2B5EF4-FFF2-40B4-BE49-F238E27FC236}">
                <a16:creationId xmlns:a16="http://schemas.microsoft.com/office/drawing/2014/main" id="{5994BDAD-A4B2-4A49-ADAD-6F43807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1656"/>
            <a:ext cx="13038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аллокаций</a:t>
            </a:r>
          </a:p>
        </p:txBody>
      </p:sp>
      <p:sp>
        <p:nvSpPr>
          <p:cNvPr id="9" name="hf-1113">
            <a:extLst xmlns:a="http://schemas.openxmlformats.org/drawingml/2006/main">
              <a:ext uri="{FF2B5EF4-FFF2-40B4-BE49-F238E27FC236}">
                <a16:creationId xmlns:a16="http://schemas.microsoft.com/office/drawing/2014/main" id="{88E04B33-C0A9-4EE8-B3B0-7CF7AFF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689479"/>
            <a:ext cx="36881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~N·log₂N сравнений и перестановок</a:t>
            </a:r>
          </a:p>
        </p:txBody>
      </p:sp>
      <p:sp>
        <p:nvSpPr>
          <p:cNvPr id="10" name="hf-1114">
            <a:extLst xmlns:a="http://schemas.openxmlformats.org/drawingml/2006/main">
              <a:ext uri="{FF2B5EF4-FFF2-40B4-BE49-F238E27FC236}">
                <a16:creationId xmlns:a16="http://schemas.microsoft.com/office/drawing/2014/main" id="{75831DD6-EEFB-4F2A-BF39-AE05D88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956179"/>
            <a:ext cx="21505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плотный буфер</a:t>
            </a:r>
          </a:p>
        </p:txBody>
      </p:sp>
      <p:sp>
        <p:nvSpPr>
          <p:cNvPr id="11" name="hf-1115">
            <a:extLst xmlns:a="http://schemas.openxmlformats.org/drawingml/2006/main">
              <a:ext uri="{FF2B5EF4-FFF2-40B4-BE49-F238E27FC236}">
                <a16:creationId xmlns:a16="http://schemas.microsoft.com/office/drawing/2014/main" id="{E435E385-82A7-48DA-A6E1-C2D4C7F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428750"/>
            <a:ext cx="3810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2" name="hf-1116">
            <a:extLst xmlns:a="http://schemas.openxmlformats.org/drawingml/2006/main">
              <a:ext uri="{FF2B5EF4-FFF2-40B4-BE49-F238E27FC236}">
                <a16:creationId xmlns:a16="http://schemas.microsoft.com/office/drawing/2014/main" id="{736CA48F-80CA-4FB3-AAC4-F23B65E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582407"/>
            <a:ext cx="177656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unordered_set</a:t>
            </a:r>
          </a:p>
        </p:txBody>
      </p:sp>
      <p:sp>
        <p:nvSpPr>
          <p:cNvPr id="13" name="hf-1117">
            <a:extLst xmlns:a="http://schemas.openxmlformats.org/drawingml/2006/main">
              <a:ext uri="{FF2B5EF4-FFF2-40B4-BE49-F238E27FC236}">
                <a16:creationId xmlns:a16="http://schemas.microsoft.com/office/drawing/2014/main" id="{D29884A9-8940-461F-9728-EF247D59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029587"/>
            <a:ext cx="5063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4500"/>
              </a:lnSpc>
              <a:buNone/>
            </a:pPr>
            <a:r>
              <a:rPr sz="4500" b="1" i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</a:rPr>
              <a:t>U</a:t>
            </a:r>
          </a:p>
        </p:txBody>
      </p:sp>
      <p:sp>
        <p:nvSpPr>
          <p:cNvPr id="14" name="hf-1118">
            <a:extLst xmlns:a="http://schemas.openxmlformats.org/drawingml/2006/main">
              <a:ext uri="{FF2B5EF4-FFF2-40B4-BE49-F238E27FC236}">
                <a16:creationId xmlns:a16="http://schemas.microsoft.com/office/drawing/2014/main" id="{E787186E-D11D-48E3-9386-7B4EFC03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88306"/>
            <a:ext cx="13038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аллокаций</a:t>
            </a:r>
          </a:p>
        </p:txBody>
      </p:sp>
      <p:sp>
        <p:nvSpPr>
          <p:cNvPr id="15" name="hf-1119">
            <a:extLst xmlns:a="http://schemas.openxmlformats.org/drawingml/2006/main">
              <a:ext uri="{FF2B5EF4-FFF2-40B4-BE49-F238E27FC236}">
                <a16:creationId xmlns:a16="http://schemas.microsoft.com/office/drawing/2014/main" id="{8E3A28B2-FCCF-43B6-9E74-1819F0B0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55006"/>
            <a:ext cx="22088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 U освобождений</a:t>
            </a:r>
          </a:p>
        </p:txBody>
      </p:sp>
      <p:sp>
        <p:nvSpPr>
          <p:cNvPr id="16" name="hf-1120">
            <a:extLst xmlns:a="http://schemas.openxmlformats.org/drawingml/2006/main">
              <a:ext uri="{FF2B5EF4-FFF2-40B4-BE49-F238E27FC236}">
                <a16:creationId xmlns:a16="http://schemas.microsoft.com/office/drawing/2014/main" id="{03D629C9-C486-46F5-8BD1-C86707F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89479"/>
            <a:ext cx="30031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хеш, ячейки, узлы, сравнения</a:t>
            </a:r>
          </a:p>
        </p:txBody>
      </p:sp>
      <p:sp>
        <p:nvSpPr>
          <p:cNvPr id="17" name="hf-1121">
            <a:extLst xmlns:a="http://schemas.openxmlformats.org/drawingml/2006/main">
              <a:ext uri="{FF2B5EF4-FFF2-40B4-BE49-F238E27FC236}">
                <a16:creationId xmlns:a16="http://schemas.microsoft.com/office/drawing/2014/main" id="{5BCF62A2-1094-4CB6-BF20-1D46509A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956179"/>
            <a:ext cx="295609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обход таблицы при выгрузке</a:t>
            </a:r>
          </a:p>
        </p:txBody>
      </p:sp>
      <p:sp>
        <p:nvSpPr>
          <p:cNvPr id="18" name="hf-1122">
            <a:extLst xmlns:a="http://schemas.openxmlformats.org/drawingml/2006/main">
              <a:ext uri="{FF2B5EF4-FFF2-40B4-BE49-F238E27FC236}">
                <a16:creationId xmlns:a16="http://schemas.microsoft.com/office/drawing/2014/main" id="{F4CB8D29-ADBE-4CDC-9CE0-4D18CC2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448050"/>
            <a:ext cx="802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9" name="hf-1123">
            <a:extLst xmlns:a="http://schemas.openxmlformats.org/drawingml/2006/main">
              <a:ext uri="{FF2B5EF4-FFF2-40B4-BE49-F238E27FC236}">
                <a16:creationId xmlns:a16="http://schemas.microsoft.com/office/drawing/2014/main" id="{D86DB71D-42AA-48CA-BB54-F44DDC3D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72713"/>
            <a:ext cx="54504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— сколько элементов на входе, U — сколько из них уникальных</a:t>
            </a:r>
          </a:p>
        </p:txBody>
      </p:sp>
      <p:sp>
        <p:nvSpPr>
          <p:cNvPr id="20" name="hf-1124">
            <a:extLst xmlns:a="http://schemas.openxmlformats.org/drawingml/2006/main">
              <a:ext uri="{FF2B5EF4-FFF2-40B4-BE49-F238E27FC236}">
                <a16:creationId xmlns:a16="http://schemas.microsoft.com/office/drawing/2014/main" id="{623E9CCE-6798-4132-B0FE-CEFEE52C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857796"/>
            <a:ext cx="759789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log₂ 10⁶ ≈ 20: </a:t>
            </a:r>
            <a:r>
              <a:rPr sz="19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вопрос не в числе шагов, а </a:t>
            </a:r>
            <a:r>
              <a:rPr sz="19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в цене каждого</a:t>
            </a:r>
          </a:p>
        </p:txBody>
      </p:sp>
      <p:pic>
        <p:nvPicPr>
          <p:cNvPr id="21" name="hf-1125">
            <a:extLst xmlns:a="http://schemas.openxmlformats.org/drawingml/2006/main">
              <a:ext uri="{FF2B5EF4-FFF2-40B4-BE49-F238E27FC236}">
                <a16:creationId xmlns:a16="http://schemas.microsoft.com/office/drawing/2014/main" id="{84082885-C59C-424F-9FD9-80ABE5C749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198e4fadf47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1126">
            <a:extLst xmlns:a="http://schemas.openxmlformats.org/drawingml/2006/main">
              <a:ext uri="{FF2B5EF4-FFF2-40B4-BE49-F238E27FC236}">
                <a16:creationId xmlns:a16="http://schemas.microsoft.com/office/drawing/2014/main" id="{B1356C3C-C094-4088-82B3-88BAA8A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821464809"/>
      </p:ext>
    </p:extLst>
  </p:cSld>
</p:sld>
</file>

<file path=ppt/slides/slide50.xml><?xml version="1.0" encoding="utf-8"?>
<p:sld xmlns:p="http://schemas.openxmlformats.org/presentationml/2006/main" show="0">
  <p:cSld name="twoway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27">
            <a:extLst xmlns:a="http://schemas.openxmlformats.org/drawingml/2006/main">
              <a:ext uri="{FF2B5EF4-FFF2-40B4-BE49-F238E27FC236}">
                <a16:creationId xmlns:a16="http://schemas.microsoft.com/office/drawing/2014/main" id="{E1942E37-C658-42C0-ABE2-1A0E23A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128">
            <a:extLst xmlns:a="http://schemas.openxmlformats.org/drawingml/2006/main">
              <a:ext uri="{FF2B5EF4-FFF2-40B4-BE49-F238E27FC236}">
                <a16:creationId xmlns:a16="http://schemas.microsoft.com/office/drawing/2014/main" id="{F508EE44-E6C6-4359-84A1-3EC8CD0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072783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УДАЛИТЕ ДУБЛИКАТЫ. ДВА СПОСОБА</a:t>
            </a:r>
          </a:p>
        </p:txBody>
      </p:sp>
      <p:sp>
        <p:nvSpPr>
          <p:cNvPr id="4" name="hf-1129">
            <a:extLst xmlns:a="http://schemas.openxmlformats.org/drawingml/2006/main">
              <a:ext uri="{FF2B5EF4-FFF2-40B4-BE49-F238E27FC236}">
                <a16:creationId xmlns:a16="http://schemas.microsoft.com/office/drawing/2014/main" id="{DEBB08EC-D0FA-4BE4-9DE2-2CB200E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285875"/>
            <a:ext cx="3919538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CDAE"/>
          </a:solidFill>
          <a:ln xmlns:a="http://schemas.openxmlformats.org/drawingml/2006/main" w="0">
            <a:noFill/>
          </a:ln>
        </p:spPr>
      </p:sp>
      <p:sp>
        <p:nvSpPr>
          <p:cNvPr id="5" name="hf-1130">
            <a:extLst xmlns:a="http://schemas.openxmlformats.org/drawingml/2006/main">
              <a:ext uri="{FF2B5EF4-FFF2-40B4-BE49-F238E27FC236}">
                <a16:creationId xmlns:a16="http://schemas.microsoft.com/office/drawing/2014/main" id="{C31FFCD7-06DA-410D-9939-D59A55E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30007"/>
            <a:ext cx="151931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Сортировка</a:t>
            </a:r>
          </a:p>
        </p:txBody>
      </p:sp>
      <p:sp>
        <p:nvSpPr>
          <p:cNvPr id="6" name="hf-1131">
            <a:extLst xmlns:a="http://schemas.openxmlformats.org/drawingml/2006/main">
              <a:ext uri="{FF2B5EF4-FFF2-40B4-BE49-F238E27FC236}">
                <a16:creationId xmlns:a16="http://schemas.microsoft.com/office/drawing/2014/main" id="{8D67948E-1E27-46C7-85DE-8B77208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764983"/>
            <a:ext cx="12040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O(n log n)</a:t>
            </a:r>
          </a:p>
        </p:txBody>
      </p:sp>
      <p:sp>
        <p:nvSpPr>
          <p:cNvPr id="7" name="hf-1132">
            <a:extLst xmlns:a="http://schemas.openxmlformats.org/drawingml/2006/main">
              <a:ext uri="{FF2B5EF4-FFF2-40B4-BE49-F238E27FC236}">
                <a16:creationId xmlns:a16="http://schemas.microsoft.com/office/drawing/2014/main" id="{27AEC5C6-DD90-4243-ABBA-E01CC26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133600"/>
            <a:ext cx="3919538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8" name="hf-1133">
            <a:extLst xmlns:a="http://schemas.openxmlformats.org/drawingml/2006/main">
              <a:ext uri="{FF2B5EF4-FFF2-40B4-BE49-F238E27FC236}">
                <a16:creationId xmlns:a16="http://schemas.microsoft.com/office/drawing/2014/main" id="{A296863F-2A9B-4D99-B9F4-977816A2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287334"/>
            <a:ext cx="280972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std::sort(v.begin(), v.end());</a:t>
            </a:r>
          </a:p>
        </p:txBody>
      </p:sp>
      <p:sp>
        <p:nvSpPr>
          <p:cNvPr id="9" name="hf-1134">
            <a:extLst xmlns:a="http://schemas.openxmlformats.org/drawingml/2006/main">
              <a:ext uri="{FF2B5EF4-FFF2-40B4-BE49-F238E27FC236}">
                <a16:creationId xmlns:a16="http://schemas.microsoft.com/office/drawing/2014/main" id="{022C2996-97F4-4A70-AEB9-4E06063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534984"/>
            <a:ext cx="3727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v.erase(std::unique(v.begin(), v.end()),</a:t>
            </a:r>
          </a:p>
        </p:txBody>
      </p:sp>
      <p:sp>
        <p:nvSpPr>
          <p:cNvPr id="10" name="hf-1135">
            <a:extLst xmlns:a="http://schemas.openxmlformats.org/drawingml/2006/main">
              <a:ext uri="{FF2B5EF4-FFF2-40B4-BE49-F238E27FC236}">
                <a16:creationId xmlns:a16="http://schemas.microsoft.com/office/drawing/2014/main" id="{EB6A6C70-0645-4595-B0F0-BEE2AD05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2782634"/>
            <a:ext cx="161694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v.end());</a:t>
            </a:r>
          </a:p>
        </p:txBody>
      </p:sp>
      <p:sp>
        <p:nvSpPr>
          <p:cNvPr id="11" name="hf-1136">
            <a:extLst xmlns:a="http://schemas.openxmlformats.org/drawingml/2006/main">
              <a:ext uri="{FF2B5EF4-FFF2-40B4-BE49-F238E27FC236}">
                <a16:creationId xmlns:a16="http://schemas.microsoft.com/office/drawing/2014/main" id="{5485294D-1693-4F54-92B7-BCCA799C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3919538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489B"/>
          </a:solidFill>
          <a:ln xmlns:a="http://schemas.openxmlformats.org/drawingml/2006/main" w="0">
            <a:noFill/>
          </a:ln>
        </p:spPr>
      </p:sp>
      <p:sp>
        <p:nvSpPr>
          <p:cNvPr id="12" name="hf-1137">
            <a:extLst xmlns:a="http://schemas.openxmlformats.org/drawingml/2006/main">
              <a:ext uri="{FF2B5EF4-FFF2-40B4-BE49-F238E27FC236}">
                <a16:creationId xmlns:a16="http://schemas.microsoft.com/office/drawing/2014/main" id="{CDE00326-DCCA-441C-8B3C-BF98BBB1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0007"/>
            <a:ext cx="16673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Хеш-таблица</a:t>
            </a:r>
          </a:p>
        </p:txBody>
      </p:sp>
      <p:sp>
        <p:nvSpPr>
          <p:cNvPr id="13" name="hf-1138">
            <a:extLst xmlns:a="http://schemas.openxmlformats.org/drawingml/2006/main">
              <a:ext uri="{FF2B5EF4-FFF2-40B4-BE49-F238E27FC236}">
                <a16:creationId xmlns:a16="http://schemas.microsoft.com/office/drawing/2014/main" id="{C91C7F20-1A16-45E4-AFF1-1549039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6504"/>
            <a:ext cx="15341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O(n) </a:t>
            </a:r>
            <a:r>
              <a:rPr sz="1275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ожидаемо</a:t>
            </a:r>
          </a:p>
        </p:txBody>
      </p:sp>
      <p:sp>
        <p:nvSpPr>
          <p:cNvPr id="14" name="hf-1139">
            <a:extLst xmlns:a="http://schemas.openxmlformats.org/drawingml/2006/main">
              <a:ext uri="{FF2B5EF4-FFF2-40B4-BE49-F238E27FC236}">
                <a16:creationId xmlns:a16="http://schemas.microsoft.com/office/drawing/2014/main" id="{2674417F-54F5-4574-9C80-1948EC4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919538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5" name="hf-1140">
            <a:extLst xmlns:a="http://schemas.openxmlformats.org/drawingml/2006/main">
              <a:ext uri="{FF2B5EF4-FFF2-40B4-BE49-F238E27FC236}">
                <a16:creationId xmlns:a16="http://schemas.microsoft.com/office/drawing/2014/main" id="{26DE3886-777D-4A1A-A2D3-955E23E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7334"/>
            <a:ext cx="290147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std::unordered_set&lt;uint64_t&gt; s;</a:t>
            </a:r>
          </a:p>
        </p:txBody>
      </p:sp>
      <p:sp>
        <p:nvSpPr>
          <p:cNvPr id="16" name="hf-1141">
            <a:extLst xmlns:a="http://schemas.openxmlformats.org/drawingml/2006/main">
              <a:ext uri="{FF2B5EF4-FFF2-40B4-BE49-F238E27FC236}">
                <a16:creationId xmlns:a16="http://schemas.microsoft.com/office/drawing/2014/main" id="{361DD968-645A-40D1-A2F6-274FF59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4984"/>
            <a:ext cx="18922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s.reserve(v.size());</a:t>
            </a:r>
          </a:p>
        </p:txBody>
      </p:sp>
      <p:sp>
        <p:nvSpPr>
          <p:cNvPr id="17" name="hf-1142">
            <a:extLst xmlns:a="http://schemas.openxmlformats.org/drawingml/2006/main">
              <a:ext uri="{FF2B5EF4-FFF2-40B4-BE49-F238E27FC236}">
                <a16:creationId xmlns:a16="http://schemas.microsoft.com/office/drawing/2014/main" id="{6C641C17-63D0-404F-B1FF-9FDB3FA0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2634"/>
            <a:ext cx="271797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(auto x : v) s.insert(x);</a:t>
            </a:r>
          </a:p>
        </p:txBody>
      </p:sp>
      <p:sp>
        <p:nvSpPr>
          <p:cNvPr id="18" name="hf-1143">
            <a:extLst xmlns:a="http://schemas.openxmlformats.org/drawingml/2006/main">
              <a:ext uri="{FF2B5EF4-FFF2-40B4-BE49-F238E27FC236}">
                <a16:creationId xmlns:a16="http://schemas.microsoft.com/office/drawing/2014/main" id="{FBCC2EF6-2C2F-4315-831A-AA73E3AA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0284"/>
            <a:ext cx="271797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950"/>
              </a:lnSpc>
              <a:buNone/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v.assign(s.begin(), s.end());</a:t>
            </a:r>
          </a:p>
        </p:txBody>
      </p:sp>
      <p:sp>
        <p:nvSpPr>
          <p:cNvPr id="19" name="hf-1144">
            <a:extLst xmlns:a="http://schemas.openxmlformats.org/drawingml/2006/main">
              <a:ext uri="{FF2B5EF4-FFF2-40B4-BE49-F238E27FC236}">
                <a16:creationId xmlns:a16="http://schemas.microsoft.com/office/drawing/2014/main" id="{432C6141-0D25-47D1-909E-0FA3382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97389"/>
            <a:ext cx="20971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4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log₂ 10⁶ ≈ 20 </a:t>
            </a:r>
          </a:p>
        </p:txBody>
      </p:sp>
      <p:sp>
        <p:nvSpPr>
          <p:cNvPr id="20" name="hf-1145">
            <a:extLst xmlns:a="http://schemas.openxmlformats.org/drawingml/2006/main">
              <a:ext uri="{FF2B5EF4-FFF2-40B4-BE49-F238E27FC236}">
                <a16:creationId xmlns:a16="http://schemas.microsoft.com/office/drawing/2014/main" id="{2078C7D8-6656-4F89-85BF-6AB0529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200" y="3774243"/>
            <a:ext cx="32254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65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— кажется, выбор очевиден</a:t>
            </a:r>
          </a:p>
        </p:txBody>
      </p:sp>
      <p:pic>
        <p:nvPicPr>
          <p:cNvPr id="21" name="hf-1146">
            <a:extLst xmlns:a="http://schemas.openxmlformats.org/drawingml/2006/main">
              <a:ext uri="{FF2B5EF4-FFF2-40B4-BE49-F238E27FC236}">
                <a16:creationId xmlns:a16="http://schemas.microsoft.com/office/drawing/2014/main" id="{9D7A39D9-FD72-4703-8B6E-203FDB6BE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078e5e22f47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22" name="hf-1147">
            <a:extLst xmlns:a="http://schemas.openxmlformats.org/drawingml/2006/main">
              <a:ext uri="{FF2B5EF4-FFF2-40B4-BE49-F238E27FC236}">
                <a16:creationId xmlns:a16="http://schemas.microsoft.com/office/drawing/2014/main" id="{F8148B82-8AA0-4F6D-86CB-8FB392EE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205877536"/>
      </p:ext>
    </p:extLst>
  </p:cSld>
</p:sld>
</file>

<file path=ppt/slides/slide51.xml><?xml version="1.0" encoding="utf-8"?>
<p:sld xmlns:p="http://schemas.openxmlformats.org/presentationml/2006/main" show="0">
  <p:cSld name="bigo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48">
            <a:extLst xmlns:a="http://schemas.openxmlformats.org/drawingml/2006/main">
              <a:ext uri="{FF2B5EF4-FFF2-40B4-BE49-F238E27FC236}">
                <a16:creationId xmlns:a16="http://schemas.microsoft.com/office/drawing/2014/main" id="{228577A3-9C85-4DFF-BAB9-1F07E08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149">
            <a:extLst xmlns:a="http://schemas.openxmlformats.org/drawingml/2006/main">
              <a:ext uri="{FF2B5EF4-FFF2-40B4-BE49-F238E27FC236}">
                <a16:creationId xmlns:a16="http://schemas.microsoft.com/office/drawing/2014/main" id="{DBB27986-2575-46B5-ACE2-A2893D8F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5754439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Big-O СЧИТАЕТ ШАГИ, А НЕ ИХ ЦЕНУ</a:t>
            </a:r>
          </a:p>
        </p:txBody>
      </p:sp>
      <p:sp>
        <p:nvSpPr>
          <p:cNvPr id="4" name="hf-1150">
            <a:extLst xmlns:a="http://schemas.openxmlformats.org/drawingml/2006/main">
              <a:ext uri="{FF2B5EF4-FFF2-40B4-BE49-F238E27FC236}">
                <a16:creationId xmlns:a16="http://schemas.microsoft.com/office/drawing/2014/main" id="{050E7B76-3AA1-4C50-86F0-26D7BC8A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2533650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5" name="hf-1151">
            <a:extLst xmlns:a="http://schemas.openxmlformats.org/drawingml/2006/main">
              <a:ext uri="{FF2B5EF4-FFF2-40B4-BE49-F238E27FC236}">
                <a16:creationId xmlns:a16="http://schemas.microsoft.com/office/drawing/2014/main" id="{C78F3DB4-AB92-4B92-8A34-509CD3A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996440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6" name="hf-1152">
            <a:extLst xmlns:a="http://schemas.openxmlformats.org/drawingml/2006/main">
              <a:ext uri="{FF2B5EF4-FFF2-40B4-BE49-F238E27FC236}">
                <a16:creationId xmlns:a16="http://schemas.microsoft.com/office/drawing/2014/main" id="{B69DB385-530B-4FF8-9F74-BF3971A7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453515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7" name="hf-1153">
            <a:extLst xmlns:a="http://schemas.openxmlformats.org/drawingml/2006/main">
              <a:ext uri="{FF2B5EF4-FFF2-40B4-BE49-F238E27FC236}">
                <a16:creationId xmlns:a16="http://schemas.microsoft.com/office/drawing/2014/main" id="{59CE994B-39BF-4941-AC6C-32799A2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3076575"/>
            <a:ext cx="4057650" cy="953"/>
          </a:xfrm>
          <a:custGeom xmlns:a="http://schemas.openxmlformats.org/drawingml/2006/main">
            <a:pathLst>
              <a:path w="4057650" h="476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F8F8F"/>
            </a:solidFill>
          </a:ln>
        </p:spPr>
      </p:sp>
      <p:sp>
        <p:nvSpPr>
          <p:cNvPr id="8" name="hf-1154">
            <a:extLst xmlns:a="http://schemas.openxmlformats.org/drawingml/2006/main">
              <a:ext uri="{FF2B5EF4-FFF2-40B4-BE49-F238E27FC236}">
                <a16:creationId xmlns:a16="http://schemas.microsoft.com/office/drawing/2014/main" id="{55C19DDC-DEA2-4DA1-B7CA-E1245FA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1453515"/>
            <a:ext cx="953" cy="1623060"/>
          </a:xfrm>
          <a:custGeom xmlns:a="http://schemas.openxmlformats.org/drawingml/2006/main">
            <a:pathLst>
              <a:path w="476" h="1623060">
                <a:moveTo>
                  <a:pt x="0" y="16230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F8F8F"/>
            </a:solidFill>
          </a:ln>
        </p:spPr>
      </p:sp>
      <p:sp>
        <p:nvSpPr>
          <p:cNvPr id="9" name="hf-1155">
            <a:extLst xmlns:a="http://schemas.openxmlformats.org/drawingml/2006/main">
              <a:ext uri="{FF2B5EF4-FFF2-40B4-BE49-F238E27FC236}">
                <a16:creationId xmlns:a16="http://schemas.microsoft.com/office/drawing/2014/main" id="{6639A38F-E34F-4FA6-B2C8-167EEB6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1459230"/>
            <a:ext cx="2800350" cy="1617345"/>
          </a:xfrm>
          <a:custGeom xmlns:a="http://schemas.openxmlformats.org/drawingml/2006/main">
            <a:pathLst>
              <a:path w="2800350" h="1617345">
                <a:moveTo>
                  <a:pt x="0" y="1617345"/>
                </a:moveTo>
                <a:lnTo>
                  <a:pt x="40005" y="1617345"/>
                </a:lnTo>
                <a:lnTo>
                  <a:pt x="80010" y="1617345"/>
                </a:lnTo>
                <a:lnTo>
                  <a:pt x="120015" y="1611630"/>
                </a:lnTo>
                <a:lnTo>
                  <a:pt x="160020" y="1611630"/>
                </a:lnTo>
                <a:lnTo>
                  <a:pt x="200025" y="1605915"/>
                </a:lnTo>
                <a:lnTo>
                  <a:pt x="240030" y="1605915"/>
                </a:lnTo>
                <a:lnTo>
                  <a:pt x="280035" y="1600200"/>
                </a:lnTo>
                <a:lnTo>
                  <a:pt x="325755" y="1594485"/>
                </a:lnTo>
                <a:lnTo>
                  <a:pt x="365760" y="1588770"/>
                </a:lnTo>
                <a:lnTo>
                  <a:pt x="405765" y="1583055"/>
                </a:lnTo>
                <a:lnTo>
                  <a:pt x="445770" y="1577340"/>
                </a:lnTo>
                <a:lnTo>
                  <a:pt x="485775" y="1565910"/>
                </a:lnTo>
                <a:lnTo>
                  <a:pt x="525780" y="1560195"/>
                </a:lnTo>
                <a:lnTo>
                  <a:pt x="565785" y="1548765"/>
                </a:lnTo>
                <a:lnTo>
                  <a:pt x="605790" y="1543050"/>
                </a:lnTo>
                <a:lnTo>
                  <a:pt x="645795" y="1531620"/>
                </a:lnTo>
                <a:lnTo>
                  <a:pt x="685800" y="1520190"/>
                </a:lnTo>
                <a:lnTo>
                  <a:pt x="731520" y="1508760"/>
                </a:lnTo>
                <a:lnTo>
                  <a:pt x="771525" y="1491615"/>
                </a:lnTo>
                <a:lnTo>
                  <a:pt x="811530" y="1480185"/>
                </a:lnTo>
                <a:lnTo>
                  <a:pt x="851535" y="1468755"/>
                </a:lnTo>
                <a:lnTo>
                  <a:pt x="891540" y="1451610"/>
                </a:lnTo>
                <a:lnTo>
                  <a:pt x="931545" y="1434465"/>
                </a:lnTo>
                <a:lnTo>
                  <a:pt x="971550" y="1423035"/>
                </a:lnTo>
                <a:lnTo>
                  <a:pt x="1011555" y="1405890"/>
                </a:lnTo>
                <a:lnTo>
                  <a:pt x="1051560" y="1388745"/>
                </a:lnTo>
                <a:lnTo>
                  <a:pt x="1091565" y="1371600"/>
                </a:lnTo>
                <a:lnTo>
                  <a:pt x="1137285" y="1348740"/>
                </a:lnTo>
                <a:lnTo>
                  <a:pt x="1177290" y="1331595"/>
                </a:lnTo>
                <a:lnTo>
                  <a:pt x="1217295" y="1308735"/>
                </a:lnTo>
                <a:lnTo>
                  <a:pt x="1257300" y="1291590"/>
                </a:lnTo>
                <a:lnTo>
                  <a:pt x="1297305" y="1268730"/>
                </a:lnTo>
                <a:lnTo>
                  <a:pt x="1337310" y="1245870"/>
                </a:lnTo>
                <a:lnTo>
                  <a:pt x="1377315" y="1223010"/>
                </a:lnTo>
                <a:lnTo>
                  <a:pt x="1417320" y="1200150"/>
                </a:lnTo>
                <a:lnTo>
                  <a:pt x="1457325" y="1177290"/>
                </a:lnTo>
                <a:lnTo>
                  <a:pt x="1497330" y="1154430"/>
                </a:lnTo>
                <a:lnTo>
                  <a:pt x="1543050" y="1125855"/>
                </a:lnTo>
                <a:lnTo>
                  <a:pt x="1583055" y="1102995"/>
                </a:lnTo>
                <a:lnTo>
                  <a:pt x="1623060" y="1074420"/>
                </a:lnTo>
                <a:lnTo>
                  <a:pt x="1663065" y="1045845"/>
                </a:lnTo>
                <a:lnTo>
                  <a:pt x="1703070" y="1017270"/>
                </a:lnTo>
                <a:lnTo>
                  <a:pt x="1743075" y="988695"/>
                </a:lnTo>
                <a:lnTo>
                  <a:pt x="1783080" y="960120"/>
                </a:lnTo>
                <a:lnTo>
                  <a:pt x="1823085" y="931545"/>
                </a:lnTo>
                <a:lnTo>
                  <a:pt x="1863090" y="897255"/>
                </a:lnTo>
                <a:lnTo>
                  <a:pt x="1903095" y="868680"/>
                </a:lnTo>
                <a:lnTo>
                  <a:pt x="1948815" y="834390"/>
                </a:lnTo>
                <a:lnTo>
                  <a:pt x="1988820" y="800100"/>
                </a:lnTo>
                <a:lnTo>
                  <a:pt x="2028825" y="765810"/>
                </a:lnTo>
                <a:lnTo>
                  <a:pt x="2068830" y="737235"/>
                </a:lnTo>
                <a:lnTo>
                  <a:pt x="2108835" y="697230"/>
                </a:lnTo>
                <a:lnTo>
                  <a:pt x="2148840" y="662940"/>
                </a:lnTo>
                <a:lnTo>
                  <a:pt x="2188845" y="628650"/>
                </a:lnTo>
                <a:lnTo>
                  <a:pt x="2228850" y="588645"/>
                </a:lnTo>
                <a:lnTo>
                  <a:pt x="2268855" y="554355"/>
                </a:lnTo>
                <a:lnTo>
                  <a:pt x="2308860" y="514350"/>
                </a:lnTo>
                <a:lnTo>
                  <a:pt x="2354580" y="474345"/>
                </a:lnTo>
                <a:lnTo>
                  <a:pt x="2394585" y="434340"/>
                </a:lnTo>
                <a:lnTo>
                  <a:pt x="2434590" y="394335"/>
                </a:lnTo>
                <a:lnTo>
                  <a:pt x="2474595" y="354330"/>
                </a:lnTo>
                <a:lnTo>
                  <a:pt x="2514600" y="314325"/>
                </a:lnTo>
                <a:lnTo>
                  <a:pt x="2554605" y="268605"/>
                </a:lnTo>
                <a:lnTo>
                  <a:pt x="2594610" y="228600"/>
                </a:lnTo>
                <a:lnTo>
                  <a:pt x="2634615" y="182880"/>
                </a:lnTo>
                <a:lnTo>
                  <a:pt x="2674620" y="137160"/>
                </a:lnTo>
                <a:lnTo>
                  <a:pt x="2714625" y="97155"/>
                </a:lnTo>
                <a:lnTo>
                  <a:pt x="2760345" y="51435"/>
                </a:ln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8F8F"/>
            </a:solidFill>
            <a:custDash>
              <a:ds d="200000" sp="150000"/>
            </a:custDash>
          </a:ln>
        </p:spPr>
      </p:sp>
      <p:sp>
        <p:nvSpPr>
          <p:cNvPr id="10" name="hf-1156">
            <a:extLst xmlns:a="http://schemas.openxmlformats.org/drawingml/2006/main">
              <a:ext uri="{FF2B5EF4-FFF2-40B4-BE49-F238E27FC236}">
                <a16:creationId xmlns:a16="http://schemas.microsoft.com/office/drawing/2014/main" id="{54E364AD-5CDC-49A5-9EE9-0088B3A3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1744980"/>
            <a:ext cx="4017645" cy="1331595"/>
          </a:xfrm>
          <a:custGeom xmlns:a="http://schemas.openxmlformats.org/drawingml/2006/main">
            <a:pathLst>
              <a:path w="4017645" h="1331595">
                <a:moveTo>
                  <a:pt x="0" y="1331595"/>
                </a:moveTo>
                <a:lnTo>
                  <a:pt x="40005" y="1325880"/>
                </a:lnTo>
                <a:lnTo>
                  <a:pt x="80010" y="1320165"/>
                </a:lnTo>
                <a:lnTo>
                  <a:pt x="120015" y="1308735"/>
                </a:lnTo>
                <a:lnTo>
                  <a:pt x="160020" y="1303020"/>
                </a:lnTo>
                <a:lnTo>
                  <a:pt x="200025" y="1291590"/>
                </a:lnTo>
                <a:lnTo>
                  <a:pt x="240030" y="1280160"/>
                </a:lnTo>
                <a:lnTo>
                  <a:pt x="280035" y="1274445"/>
                </a:lnTo>
                <a:lnTo>
                  <a:pt x="325755" y="1263015"/>
                </a:lnTo>
                <a:lnTo>
                  <a:pt x="365760" y="1251585"/>
                </a:lnTo>
                <a:lnTo>
                  <a:pt x="405765" y="1240155"/>
                </a:lnTo>
                <a:lnTo>
                  <a:pt x="445770" y="1228725"/>
                </a:lnTo>
                <a:lnTo>
                  <a:pt x="485775" y="1217295"/>
                </a:lnTo>
                <a:lnTo>
                  <a:pt x="525780" y="1205865"/>
                </a:lnTo>
                <a:lnTo>
                  <a:pt x="565785" y="1194435"/>
                </a:lnTo>
                <a:lnTo>
                  <a:pt x="605790" y="1183005"/>
                </a:lnTo>
                <a:lnTo>
                  <a:pt x="645795" y="1171575"/>
                </a:lnTo>
                <a:lnTo>
                  <a:pt x="685800" y="1160145"/>
                </a:lnTo>
                <a:lnTo>
                  <a:pt x="731520" y="1148715"/>
                </a:lnTo>
                <a:lnTo>
                  <a:pt x="771525" y="1137285"/>
                </a:lnTo>
                <a:lnTo>
                  <a:pt x="811530" y="1125855"/>
                </a:lnTo>
                <a:lnTo>
                  <a:pt x="851535" y="1108710"/>
                </a:lnTo>
                <a:lnTo>
                  <a:pt x="891540" y="1097280"/>
                </a:lnTo>
                <a:lnTo>
                  <a:pt x="931545" y="1085850"/>
                </a:lnTo>
                <a:lnTo>
                  <a:pt x="971550" y="1074420"/>
                </a:lnTo>
                <a:lnTo>
                  <a:pt x="1011555" y="1062990"/>
                </a:lnTo>
                <a:lnTo>
                  <a:pt x="1051560" y="1045845"/>
                </a:lnTo>
                <a:lnTo>
                  <a:pt x="1091565" y="1034415"/>
                </a:lnTo>
                <a:lnTo>
                  <a:pt x="1137285" y="1022985"/>
                </a:lnTo>
                <a:lnTo>
                  <a:pt x="1177290" y="1011555"/>
                </a:lnTo>
                <a:lnTo>
                  <a:pt x="1217295" y="994410"/>
                </a:lnTo>
                <a:lnTo>
                  <a:pt x="1257300" y="982980"/>
                </a:lnTo>
                <a:lnTo>
                  <a:pt x="1297305" y="971550"/>
                </a:lnTo>
                <a:lnTo>
                  <a:pt x="1337310" y="954405"/>
                </a:lnTo>
                <a:lnTo>
                  <a:pt x="1377315" y="942975"/>
                </a:lnTo>
                <a:lnTo>
                  <a:pt x="1417320" y="931545"/>
                </a:lnTo>
                <a:lnTo>
                  <a:pt x="1457325" y="914400"/>
                </a:lnTo>
                <a:lnTo>
                  <a:pt x="1497330" y="902970"/>
                </a:lnTo>
                <a:lnTo>
                  <a:pt x="1543050" y="891540"/>
                </a:lnTo>
                <a:lnTo>
                  <a:pt x="1583055" y="874395"/>
                </a:lnTo>
                <a:lnTo>
                  <a:pt x="1623060" y="862965"/>
                </a:lnTo>
                <a:lnTo>
                  <a:pt x="1663065" y="851535"/>
                </a:lnTo>
                <a:lnTo>
                  <a:pt x="1703070" y="834390"/>
                </a:lnTo>
                <a:lnTo>
                  <a:pt x="1743075" y="822960"/>
                </a:lnTo>
                <a:lnTo>
                  <a:pt x="1783080" y="805815"/>
                </a:lnTo>
                <a:lnTo>
                  <a:pt x="1823085" y="794385"/>
                </a:lnTo>
                <a:lnTo>
                  <a:pt x="1863090" y="777240"/>
                </a:lnTo>
                <a:lnTo>
                  <a:pt x="1903095" y="765810"/>
                </a:lnTo>
                <a:lnTo>
                  <a:pt x="1948815" y="754380"/>
                </a:lnTo>
                <a:lnTo>
                  <a:pt x="1988820" y="737235"/>
                </a:lnTo>
                <a:lnTo>
                  <a:pt x="2028825" y="725805"/>
                </a:lnTo>
                <a:lnTo>
                  <a:pt x="2068830" y="708660"/>
                </a:lnTo>
                <a:lnTo>
                  <a:pt x="2108835" y="697230"/>
                </a:lnTo>
                <a:lnTo>
                  <a:pt x="2148840" y="680085"/>
                </a:lnTo>
                <a:lnTo>
                  <a:pt x="2188845" y="668655"/>
                </a:lnTo>
                <a:lnTo>
                  <a:pt x="2228850" y="651510"/>
                </a:lnTo>
                <a:lnTo>
                  <a:pt x="2268855" y="640080"/>
                </a:lnTo>
                <a:lnTo>
                  <a:pt x="2308860" y="622935"/>
                </a:lnTo>
                <a:lnTo>
                  <a:pt x="2354580" y="611505"/>
                </a:lnTo>
                <a:lnTo>
                  <a:pt x="2394585" y="594360"/>
                </a:lnTo>
                <a:lnTo>
                  <a:pt x="2434590" y="582930"/>
                </a:lnTo>
                <a:lnTo>
                  <a:pt x="2474595" y="565785"/>
                </a:lnTo>
                <a:lnTo>
                  <a:pt x="2514600" y="554355"/>
                </a:lnTo>
                <a:lnTo>
                  <a:pt x="2554605" y="537210"/>
                </a:lnTo>
                <a:lnTo>
                  <a:pt x="2594610" y="525780"/>
                </a:lnTo>
                <a:lnTo>
                  <a:pt x="2634615" y="508635"/>
                </a:lnTo>
                <a:lnTo>
                  <a:pt x="2674620" y="491490"/>
                </a:lnTo>
                <a:lnTo>
                  <a:pt x="2714625" y="480060"/>
                </a:lnTo>
                <a:lnTo>
                  <a:pt x="2760345" y="462915"/>
                </a:lnTo>
                <a:lnTo>
                  <a:pt x="2800350" y="451485"/>
                </a:lnTo>
                <a:lnTo>
                  <a:pt x="2840355" y="434340"/>
                </a:lnTo>
                <a:lnTo>
                  <a:pt x="2880360" y="422910"/>
                </a:lnTo>
                <a:lnTo>
                  <a:pt x="2920365" y="405765"/>
                </a:lnTo>
                <a:lnTo>
                  <a:pt x="2960370" y="388620"/>
                </a:lnTo>
                <a:lnTo>
                  <a:pt x="3000375" y="377190"/>
                </a:lnTo>
                <a:lnTo>
                  <a:pt x="3040380" y="360045"/>
                </a:lnTo>
                <a:lnTo>
                  <a:pt x="3080385" y="348615"/>
                </a:lnTo>
                <a:lnTo>
                  <a:pt x="3120390" y="331470"/>
                </a:lnTo>
                <a:lnTo>
                  <a:pt x="3166110" y="314325"/>
                </a:lnTo>
                <a:lnTo>
                  <a:pt x="3206115" y="302895"/>
                </a:lnTo>
                <a:lnTo>
                  <a:pt x="3246120" y="285750"/>
                </a:lnTo>
                <a:lnTo>
                  <a:pt x="3286125" y="274320"/>
                </a:lnTo>
                <a:lnTo>
                  <a:pt x="3326130" y="257175"/>
                </a:lnTo>
                <a:lnTo>
                  <a:pt x="3366135" y="240030"/>
                </a:lnTo>
                <a:lnTo>
                  <a:pt x="3406140" y="228600"/>
                </a:lnTo>
                <a:lnTo>
                  <a:pt x="3446145" y="211455"/>
                </a:lnTo>
                <a:lnTo>
                  <a:pt x="3486150" y="194310"/>
                </a:lnTo>
                <a:lnTo>
                  <a:pt x="3526155" y="182880"/>
                </a:lnTo>
                <a:lnTo>
                  <a:pt x="3571875" y="165735"/>
                </a:lnTo>
                <a:lnTo>
                  <a:pt x="3611880" y="148590"/>
                </a:lnTo>
                <a:lnTo>
                  <a:pt x="3651885" y="137160"/>
                </a:lnTo>
                <a:lnTo>
                  <a:pt x="3691890" y="120015"/>
                </a:lnTo>
                <a:lnTo>
                  <a:pt x="3731895" y="102870"/>
                </a:lnTo>
                <a:lnTo>
                  <a:pt x="3771900" y="91440"/>
                </a:lnTo>
                <a:lnTo>
                  <a:pt x="3811905" y="74295"/>
                </a:lnTo>
                <a:lnTo>
                  <a:pt x="3851910" y="57150"/>
                </a:lnTo>
                <a:lnTo>
                  <a:pt x="3891915" y="45720"/>
                </a:lnTo>
                <a:lnTo>
                  <a:pt x="3931920" y="28575"/>
                </a:lnTo>
                <a:lnTo>
                  <a:pt x="3977640" y="11430"/>
                </a:lnTo>
                <a:lnTo>
                  <a:pt x="401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6CDAE"/>
            </a:solidFill>
          </a:ln>
        </p:spPr>
      </p:sp>
      <p:sp>
        <p:nvSpPr>
          <p:cNvPr id="11" name="hf-1157">
            <a:extLst xmlns:a="http://schemas.openxmlformats.org/drawingml/2006/main">
              <a:ext uri="{FF2B5EF4-FFF2-40B4-BE49-F238E27FC236}">
                <a16:creationId xmlns:a16="http://schemas.microsoft.com/office/drawing/2014/main" id="{3A32DA3D-9291-47F0-8B63-81C20186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8" y="2945130"/>
            <a:ext cx="4017645" cy="131445"/>
          </a:xfrm>
          <a:custGeom xmlns:a="http://schemas.openxmlformats.org/drawingml/2006/main">
            <a:pathLst>
              <a:path w="4017645" h="131445">
                <a:moveTo>
                  <a:pt x="0" y="131445"/>
                </a:moveTo>
                <a:lnTo>
                  <a:pt x="40005" y="131445"/>
                </a:lnTo>
                <a:lnTo>
                  <a:pt x="80010" y="131445"/>
                </a:lnTo>
                <a:lnTo>
                  <a:pt x="120015" y="125730"/>
                </a:lnTo>
                <a:lnTo>
                  <a:pt x="160020" y="125730"/>
                </a:lnTo>
                <a:lnTo>
                  <a:pt x="200025" y="125730"/>
                </a:lnTo>
                <a:lnTo>
                  <a:pt x="240030" y="125730"/>
                </a:lnTo>
                <a:lnTo>
                  <a:pt x="280035" y="120015"/>
                </a:lnTo>
                <a:lnTo>
                  <a:pt x="325755" y="120015"/>
                </a:lnTo>
                <a:lnTo>
                  <a:pt x="365760" y="120015"/>
                </a:lnTo>
                <a:lnTo>
                  <a:pt x="405765" y="120015"/>
                </a:lnTo>
                <a:lnTo>
                  <a:pt x="445770" y="114300"/>
                </a:lnTo>
                <a:lnTo>
                  <a:pt x="485775" y="114300"/>
                </a:lnTo>
                <a:lnTo>
                  <a:pt x="525780" y="114300"/>
                </a:lnTo>
                <a:lnTo>
                  <a:pt x="565785" y="114300"/>
                </a:lnTo>
                <a:lnTo>
                  <a:pt x="605790" y="108585"/>
                </a:lnTo>
                <a:lnTo>
                  <a:pt x="645795" y="108585"/>
                </a:lnTo>
                <a:lnTo>
                  <a:pt x="685800" y="108585"/>
                </a:lnTo>
                <a:lnTo>
                  <a:pt x="731520" y="108585"/>
                </a:lnTo>
                <a:lnTo>
                  <a:pt x="771525" y="102870"/>
                </a:lnTo>
                <a:lnTo>
                  <a:pt x="811530" y="102870"/>
                </a:lnTo>
                <a:lnTo>
                  <a:pt x="851535" y="102870"/>
                </a:lnTo>
                <a:lnTo>
                  <a:pt x="891540" y="102870"/>
                </a:lnTo>
                <a:lnTo>
                  <a:pt x="931545" y="102870"/>
                </a:lnTo>
                <a:lnTo>
                  <a:pt x="971550" y="97155"/>
                </a:lnTo>
                <a:lnTo>
                  <a:pt x="1011555" y="97155"/>
                </a:lnTo>
                <a:lnTo>
                  <a:pt x="1051560" y="97155"/>
                </a:lnTo>
                <a:lnTo>
                  <a:pt x="1091565" y="97155"/>
                </a:lnTo>
                <a:lnTo>
                  <a:pt x="1137285" y="91440"/>
                </a:lnTo>
                <a:lnTo>
                  <a:pt x="1177290" y="91440"/>
                </a:lnTo>
                <a:lnTo>
                  <a:pt x="1217295" y="91440"/>
                </a:lnTo>
                <a:lnTo>
                  <a:pt x="1257300" y="91440"/>
                </a:lnTo>
                <a:lnTo>
                  <a:pt x="1297305" y="85725"/>
                </a:lnTo>
                <a:lnTo>
                  <a:pt x="1337310" y="85725"/>
                </a:lnTo>
                <a:lnTo>
                  <a:pt x="1377315" y="85725"/>
                </a:lnTo>
                <a:lnTo>
                  <a:pt x="1417320" y="85725"/>
                </a:lnTo>
                <a:lnTo>
                  <a:pt x="1457325" y="80010"/>
                </a:lnTo>
                <a:lnTo>
                  <a:pt x="1497330" y="80010"/>
                </a:lnTo>
                <a:lnTo>
                  <a:pt x="1543050" y="80010"/>
                </a:lnTo>
                <a:lnTo>
                  <a:pt x="1583055" y="80010"/>
                </a:lnTo>
                <a:lnTo>
                  <a:pt x="1623060" y="80010"/>
                </a:lnTo>
                <a:lnTo>
                  <a:pt x="1663065" y="74295"/>
                </a:lnTo>
                <a:lnTo>
                  <a:pt x="1703070" y="74295"/>
                </a:lnTo>
                <a:lnTo>
                  <a:pt x="1743075" y="74295"/>
                </a:lnTo>
                <a:lnTo>
                  <a:pt x="1783080" y="74295"/>
                </a:lnTo>
                <a:lnTo>
                  <a:pt x="1823085" y="68580"/>
                </a:lnTo>
                <a:lnTo>
                  <a:pt x="1863090" y="68580"/>
                </a:lnTo>
                <a:lnTo>
                  <a:pt x="1903095" y="68580"/>
                </a:lnTo>
                <a:lnTo>
                  <a:pt x="1948815" y="68580"/>
                </a:lnTo>
                <a:lnTo>
                  <a:pt x="1988820" y="62865"/>
                </a:lnTo>
                <a:lnTo>
                  <a:pt x="2028825" y="62865"/>
                </a:lnTo>
                <a:lnTo>
                  <a:pt x="2068830" y="62865"/>
                </a:lnTo>
                <a:lnTo>
                  <a:pt x="2108835" y="62865"/>
                </a:lnTo>
                <a:lnTo>
                  <a:pt x="2148840" y="57150"/>
                </a:lnTo>
                <a:lnTo>
                  <a:pt x="2188845" y="57150"/>
                </a:lnTo>
                <a:lnTo>
                  <a:pt x="2228850" y="57150"/>
                </a:lnTo>
                <a:lnTo>
                  <a:pt x="2268855" y="57150"/>
                </a:lnTo>
                <a:lnTo>
                  <a:pt x="2308860" y="51435"/>
                </a:lnTo>
                <a:lnTo>
                  <a:pt x="2354580" y="51435"/>
                </a:lnTo>
                <a:lnTo>
                  <a:pt x="2394585" y="51435"/>
                </a:lnTo>
                <a:lnTo>
                  <a:pt x="2434590" y="51435"/>
                </a:lnTo>
                <a:lnTo>
                  <a:pt x="2474595" y="51435"/>
                </a:lnTo>
                <a:lnTo>
                  <a:pt x="2514600" y="45720"/>
                </a:lnTo>
                <a:lnTo>
                  <a:pt x="2554605" y="45720"/>
                </a:lnTo>
                <a:lnTo>
                  <a:pt x="2594610" y="45720"/>
                </a:lnTo>
                <a:lnTo>
                  <a:pt x="2634615" y="45720"/>
                </a:lnTo>
                <a:lnTo>
                  <a:pt x="2674620" y="40005"/>
                </a:lnTo>
                <a:lnTo>
                  <a:pt x="2714625" y="40005"/>
                </a:lnTo>
                <a:lnTo>
                  <a:pt x="2760345" y="40005"/>
                </a:lnTo>
                <a:lnTo>
                  <a:pt x="2800350" y="40005"/>
                </a:lnTo>
                <a:lnTo>
                  <a:pt x="2840355" y="34290"/>
                </a:lnTo>
                <a:lnTo>
                  <a:pt x="2880360" y="34290"/>
                </a:lnTo>
                <a:lnTo>
                  <a:pt x="2920365" y="34290"/>
                </a:lnTo>
                <a:lnTo>
                  <a:pt x="2960370" y="34290"/>
                </a:lnTo>
                <a:lnTo>
                  <a:pt x="3000375" y="28575"/>
                </a:lnTo>
                <a:lnTo>
                  <a:pt x="3040380" y="28575"/>
                </a:lnTo>
                <a:lnTo>
                  <a:pt x="3080385" y="28575"/>
                </a:lnTo>
                <a:lnTo>
                  <a:pt x="3120390" y="28575"/>
                </a:lnTo>
                <a:lnTo>
                  <a:pt x="3166110" y="28575"/>
                </a:lnTo>
                <a:lnTo>
                  <a:pt x="3206115" y="22860"/>
                </a:lnTo>
                <a:lnTo>
                  <a:pt x="3246120" y="22860"/>
                </a:lnTo>
                <a:lnTo>
                  <a:pt x="3286125" y="22860"/>
                </a:lnTo>
                <a:lnTo>
                  <a:pt x="3326130" y="22860"/>
                </a:lnTo>
                <a:lnTo>
                  <a:pt x="3366135" y="17145"/>
                </a:lnTo>
                <a:lnTo>
                  <a:pt x="3406140" y="17145"/>
                </a:lnTo>
                <a:lnTo>
                  <a:pt x="3446145" y="17145"/>
                </a:lnTo>
                <a:lnTo>
                  <a:pt x="3486150" y="17145"/>
                </a:lnTo>
                <a:lnTo>
                  <a:pt x="3526155" y="11430"/>
                </a:lnTo>
                <a:lnTo>
                  <a:pt x="3571875" y="11430"/>
                </a:lnTo>
                <a:lnTo>
                  <a:pt x="3611880" y="11430"/>
                </a:lnTo>
                <a:lnTo>
                  <a:pt x="3651885" y="11430"/>
                </a:lnTo>
                <a:lnTo>
                  <a:pt x="3691890" y="5715"/>
                </a:lnTo>
                <a:lnTo>
                  <a:pt x="3731895" y="5715"/>
                </a:lnTo>
                <a:lnTo>
                  <a:pt x="3771900" y="5715"/>
                </a:lnTo>
                <a:lnTo>
                  <a:pt x="3811905" y="5715"/>
                </a:lnTo>
                <a:lnTo>
                  <a:pt x="3851910" y="0"/>
                </a:lnTo>
                <a:lnTo>
                  <a:pt x="3891915" y="0"/>
                </a:lnTo>
                <a:lnTo>
                  <a:pt x="3931920" y="0"/>
                </a:lnTo>
                <a:lnTo>
                  <a:pt x="3977640" y="0"/>
                </a:lnTo>
                <a:lnTo>
                  <a:pt x="4017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2489B"/>
            </a:solidFill>
          </a:ln>
        </p:spPr>
      </p:sp>
      <p:sp>
        <p:nvSpPr>
          <p:cNvPr id="12" name="hf-1158">
            <a:extLst xmlns:a="http://schemas.openxmlformats.org/drawingml/2006/main">
              <a:ext uri="{FF2B5EF4-FFF2-40B4-BE49-F238E27FC236}">
                <a16:creationId xmlns:a16="http://schemas.microsoft.com/office/drawing/2014/main" id="{8C1C6596-D85E-4DB3-AD79-46505F0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68" y="1348626"/>
            <a:ext cx="31499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12K</a:t>
            </a:r>
          </a:p>
        </p:txBody>
      </p:sp>
      <p:sp>
        <p:nvSpPr>
          <p:cNvPr id="13" name="hf-1159">
            <a:extLst xmlns:a="http://schemas.openxmlformats.org/drawingml/2006/main">
              <a:ext uri="{FF2B5EF4-FFF2-40B4-BE49-F238E27FC236}">
                <a16:creationId xmlns:a16="http://schemas.microsoft.com/office/drawing/2014/main" id="{8390D1AB-B4FD-4E3D-B952-73D88A1F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95" y="1891551"/>
            <a:ext cx="267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8K</a:t>
            </a:r>
          </a:p>
        </p:txBody>
      </p:sp>
      <p:sp>
        <p:nvSpPr>
          <p:cNvPr id="14" name="hf-1160">
            <a:extLst xmlns:a="http://schemas.openxmlformats.org/drawingml/2006/main">
              <a:ext uri="{FF2B5EF4-FFF2-40B4-BE49-F238E27FC236}">
                <a16:creationId xmlns:a16="http://schemas.microsoft.com/office/drawing/2014/main" id="{A812F9DE-2160-449C-AC86-9C799D50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2429713"/>
            <a:ext cx="2718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4K</a:t>
            </a:r>
          </a:p>
        </p:txBody>
      </p:sp>
      <p:sp>
        <p:nvSpPr>
          <p:cNvPr id="15" name="hf-1161">
            <a:extLst xmlns:a="http://schemas.openxmlformats.org/drawingml/2006/main">
              <a:ext uri="{FF2B5EF4-FFF2-40B4-BE49-F238E27FC236}">
                <a16:creationId xmlns:a16="http://schemas.microsoft.com/office/drawing/2014/main" id="{60B1E890-BA01-40B9-B7C2-5532324E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70" y="2972638"/>
            <a:ext cx="15969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0</a:t>
            </a:r>
          </a:p>
        </p:txBody>
      </p:sp>
      <p:sp>
        <p:nvSpPr>
          <p:cNvPr id="16" name="hf-1162">
            <a:extLst xmlns:a="http://schemas.openxmlformats.org/drawingml/2006/main">
              <a:ext uri="{FF2B5EF4-FFF2-40B4-BE49-F238E27FC236}">
                <a16:creationId xmlns:a16="http://schemas.microsoft.com/office/drawing/2014/main" id="{79D9EC4F-78E5-4555-AF8D-9AA0C416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971" y="3101226"/>
            <a:ext cx="35130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500</a:t>
            </a:r>
          </a:p>
        </p:txBody>
      </p:sp>
      <p:sp>
        <p:nvSpPr>
          <p:cNvPr id="17" name="hf-1163">
            <a:extLst xmlns:a="http://schemas.openxmlformats.org/drawingml/2006/main">
              <a:ext uri="{FF2B5EF4-FFF2-40B4-BE49-F238E27FC236}">
                <a16:creationId xmlns:a16="http://schemas.microsoft.com/office/drawing/2014/main" id="{A9B25FA0-8865-4CF2-9608-D46EB8B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059" y="3101226"/>
            <a:ext cx="72025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 = 1000</a:t>
            </a:r>
          </a:p>
        </p:txBody>
      </p:sp>
      <p:sp>
        <p:nvSpPr>
          <p:cNvPr id="18" name="hf-1164">
            <a:extLst xmlns:a="http://schemas.openxmlformats.org/drawingml/2006/main">
              <a:ext uri="{FF2B5EF4-FFF2-40B4-BE49-F238E27FC236}">
                <a16:creationId xmlns:a16="http://schemas.microsoft.com/office/drawing/2014/main" id="{BE81A846-6DE0-4C5F-9DA5-C6B4F50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84" y="2681040"/>
            <a:ext cx="46307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E2489B"/>
                </a:solidFill>
                <a:latin typeface="Montserrat"/>
                <a:ea typeface="Montserrat"/>
                <a:cs typeface="Montserrat"/>
              </a:rPr>
              <a:t>O(N)</a:t>
            </a:r>
          </a:p>
        </p:txBody>
      </p:sp>
      <p:sp>
        <p:nvSpPr>
          <p:cNvPr id="19" name="hf-1165">
            <a:extLst xmlns:a="http://schemas.openxmlformats.org/drawingml/2006/main">
              <a:ext uri="{FF2B5EF4-FFF2-40B4-BE49-F238E27FC236}">
                <a16:creationId xmlns:a16="http://schemas.microsoft.com/office/drawing/2014/main" id="{E6740510-A4F6-4C44-9DBF-17A7BBC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212" y="2233365"/>
            <a:ext cx="982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650"/>
              </a:lnSpc>
              <a:buNone/>
            </a:pPr>
            <a:r>
              <a:rPr sz="1350" b="1" i="0">
                <a:solidFill>
                  <a:srgbClr val="46CDAE"/>
                </a:solidFill>
                <a:latin typeface="Montserrat"/>
                <a:ea typeface="Montserrat"/>
                <a:cs typeface="Montserrat"/>
              </a:rPr>
              <a:t>O(N log N)</a:t>
            </a:r>
          </a:p>
        </p:txBody>
      </p:sp>
      <p:sp>
        <p:nvSpPr>
          <p:cNvPr id="20" name="hf-1166">
            <a:extLst xmlns:a="http://schemas.openxmlformats.org/drawingml/2006/main">
              <a:ext uri="{FF2B5EF4-FFF2-40B4-BE49-F238E27FC236}">
                <a16:creationId xmlns:a16="http://schemas.microsoft.com/office/drawing/2014/main" id="{3865C431-A82B-47BC-A880-B95CEEAD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486738"/>
            <a:ext cx="133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O(N²) — за край</a:t>
            </a:r>
          </a:p>
        </p:txBody>
      </p:sp>
      <p:sp>
        <p:nvSpPr>
          <p:cNvPr id="21" name="hf-1167">
            <a:extLst xmlns:a="http://schemas.openxmlformats.org/drawingml/2006/main">
              <a:ext uri="{FF2B5EF4-FFF2-40B4-BE49-F238E27FC236}">
                <a16:creationId xmlns:a16="http://schemas.microsoft.com/office/drawing/2014/main" id="{ECD1C591-D920-40F5-9CF5-F474970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01013"/>
            <a:ext cx="18067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N</a:t>
            </a:r>
          </a:p>
        </p:txBody>
      </p:sp>
      <p:sp>
        <p:nvSpPr>
          <p:cNvPr id="22" name="hf-1168">
            <a:extLst xmlns:a="http://schemas.openxmlformats.org/drawingml/2006/main">
              <a:ext uri="{FF2B5EF4-FFF2-40B4-BE49-F238E27FC236}">
                <a16:creationId xmlns:a16="http://schemas.microsoft.com/office/drawing/2014/main" id="{3D3A9B4F-686B-468B-A42F-347959C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792" y="1401013"/>
            <a:ext cx="4148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</a:rPr>
              <a:t>O(N)</a:t>
            </a:r>
          </a:p>
        </p:txBody>
      </p:sp>
      <p:sp>
        <p:nvSpPr>
          <p:cNvPr id="23" name="hf-1169">
            <a:extLst xmlns:a="http://schemas.openxmlformats.org/drawingml/2006/main">
              <a:ext uri="{FF2B5EF4-FFF2-40B4-BE49-F238E27FC236}">
                <a16:creationId xmlns:a16="http://schemas.microsoft.com/office/drawing/2014/main" id="{01C6BF79-0496-40F8-88D0-60E0766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67" y="1401013"/>
            <a:ext cx="870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</a:rPr>
              <a:t>O(N log N)</a:t>
            </a:r>
          </a:p>
        </p:txBody>
      </p:sp>
      <p:sp>
        <p:nvSpPr>
          <p:cNvPr id="24" name="hf-1170">
            <a:extLst xmlns:a="http://schemas.openxmlformats.org/drawingml/2006/main">
              <a:ext uri="{FF2B5EF4-FFF2-40B4-BE49-F238E27FC236}">
                <a16:creationId xmlns:a16="http://schemas.microsoft.com/office/drawing/2014/main" id="{BF5FF0E4-0C40-4DC7-9E24-60A23E9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47825"/>
            <a:ext cx="32051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5" name="hf-1171">
            <a:extLst xmlns:a="http://schemas.openxmlformats.org/drawingml/2006/main">
              <a:ext uri="{FF2B5EF4-FFF2-40B4-BE49-F238E27FC236}">
                <a16:creationId xmlns:a16="http://schemas.microsoft.com/office/drawing/2014/main" id="{7AAD10F9-9F5D-4E3C-89AD-167918E4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96288"/>
            <a:ext cx="47037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</a:t>
            </a:r>
          </a:p>
        </p:txBody>
      </p:sp>
      <p:sp>
        <p:nvSpPr>
          <p:cNvPr id="26" name="hf-1172">
            <a:extLst xmlns:a="http://schemas.openxmlformats.org/drawingml/2006/main">
              <a:ext uri="{FF2B5EF4-FFF2-40B4-BE49-F238E27FC236}">
                <a16:creationId xmlns:a16="http://schemas.microsoft.com/office/drawing/2014/main" id="{BFF6EC73-C359-4C2B-AD74-E0EDAC1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279" y="1696288"/>
            <a:ext cx="47037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</a:t>
            </a:r>
          </a:p>
        </p:txBody>
      </p:sp>
      <p:sp>
        <p:nvSpPr>
          <p:cNvPr id="27" name="hf-1173">
            <a:extLst xmlns:a="http://schemas.openxmlformats.org/drawingml/2006/main">
              <a:ext uri="{FF2B5EF4-FFF2-40B4-BE49-F238E27FC236}">
                <a16:creationId xmlns:a16="http://schemas.microsoft.com/office/drawing/2014/main" id="{22E7D8AC-2F94-4CD0-92B1-422FC09F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131" y="1696288"/>
            <a:ext cx="57380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10 000</a:t>
            </a:r>
          </a:p>
        </p:txBody>
      </p:sp>
      <p:sp>
        <p:nvSpPr>
          <p:cNvPr id="28" name="hf-1174">
            <a:extLst xmlns:a="http://schemas.openxmlformats.org/drawingml/2006/main">
              <a:ext uri="{FF2B5EF4-FFF2-40B4-BE49-F238E27FC236}">
                <a16:creationId xmlns:a16="http://schemas.microsoft.com/office/drawing/2014/main" id="{F44C4BB0-8443-4870-A820-1D8D8C8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29663"/>
            <a:ext cx="823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1 000 000</a:t>
            </a:r>
          </a:p>
        </p:txBody>
      </p:sp>
      <p:sp>
        <p:nvSpPr>
          <p:cNvPr id="29" name="hf-1175">
            <a:extLst xmlns:a="http://schemas.openxmlformats.org/drawingml/2006/main">
              <a:ext uri="{FF2B5EF4-FFF2-40B4-BE49-F238E27FC236}">
                <a16:creationId xmlns:a16="http://schemas.microsoft.com/office/drawing/2014/main" id="{3BD13C55-CA14-43B3-8604-6292F7A7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812" y="2029663"/>
            <a:ext cx="8238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1 000 000</a:t>
            </a:r>
          </a:p>
        </p:txBody>
      </p:sp>
      <p:sp>
        <p:nvSpPr>
          <p:cNvPr id="30" name="hf-1176">
            <a:extLst xmlns:a="http://schemas.openxmlformats.org/drawingml/2006/main">
              <a:ext uri="{FF2B5EF4-FFF2-40B4-BE49-F238E27FC236}">
                <a16:creationId xmlns:a16="http://schemas.microsoft.com/office/drawing/2014/main" id="{6DD90D0C-A5A1-4644-9265-A02E914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526" y="2029663"/>
            <a:ext cx="9574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20 000 000</a:t>
            </a:r>
          </a:p>
        </p:txBody>
      </p:sp>
      <p:sp>
        <p:nvSpPr>
          <p:cNvPr id="31" name="hf-1177">
            <a:extLst xmlns:a="http://schemas.openxmlformats.org/drawingml/2006/main">
              <a:ext uri="{FF2B5EF4-FFF2-40B4-BE49-F238E27FC236}">
                <a16:creationId xmlns:a16="http://schemas.microsoft.com/office/drawing/2014/main" id="{3F681677-545E-47B0-A6D4-1B589C8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85466"/>
            <a:ext cx="1457027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6000"/>
              </a:lnSpc>
              <a:buNone/>
            </a:pPr>
            <a:r>
              <a:rPr sz="6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×20</a:t>
            </a:r>
          </a:p>
        </p:txBody>
      </p:sp>
      <p:sp>
        <p:nvSpPr>
          <p:cNvPr id="32" name="hf-1178">
            <a:extLst xmlns:a="http://schemas.openxmlformats.org/drawingml/2006/main">
              <a:ext uri="{FF2B5EF4-FFF2-40B4-BE49-F238E27FC236}">
                <a16:creationId xmlns:a16="http://schemas.microsoft.com/office/drawing/2014/main" id="{E6D85F6D-2D03-4125-942D-D86B34A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15538"/>
            <a:ext cx="31223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00" b="0" i="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</a:rPr>
              <a:t>между O(N) и O(N log N) на миллионе</a:t>
            </a:r>
          </a:p>
        </p:txBody>
      </p:sp>
      <p:sp>
        <p:nvSpPr>
          <p:cNvPr id="33" name="hf-1179">
            <a:extLst xmlns:a="http://schemas.openxmlformats.org/drawingml/2006/main">
              <a:ext uri="{FF2B5EF4-FFF2-40B4-BE49-F238E27FC236}">
                <a16:creationId xmlns:a16="http://schemas.microsoft.com/office/drawing/2014/main" id="{26EF20DB-1338-442C-8647-03BC2E1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714750"/>
            <a:ext cx="80295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hf-1180">
            <a:extLst xmlns:a="http://schemas.openxmlformats.org/drawingml/2006/main">
              <a:ext uri="{FF2B5EF4-FFF2-40B4-BE49-F238E27FC236}">
                <a16:creationId xmlns:a16="http://schemas.microsoft.com/office/drawing/2014/main" id="{060E7215-D22C-4262-9FAB-F7F3353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3819696"/>
            <a:ext cx="427650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195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Время ≈ N × шагов × </a:t>
            </a:r>
            <a:r>
              <a:rPr sz="195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цена шага</a:t>
            </a:r>
          </a:p>
        </p:txBody>
      </p:sp>
      <p:sp>
        <p:nvSpPr>
          <p:cNvPr id="35" name="hf-1181">
            <a:extLst xmlns:a="http://schemas.openxmlformats.org/drawingml/2006/main">
              <a:ext uri="{FF2B5EF4-FFF2-40B4-BE49-F238E27FC236}">
                <a16:creationId xmlns:a16="http://schemas.microsoft.com/office/drawing/2014/main" id="{E38E2A21-E2D9-4AB5-9BA0-ABBB4C2A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46014"/>
            <a:ext cx="220786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шаг стоит от 1 до 100 нс —</a:t>
            </a:r>
          </a:p>
        </p:txBody>
      </p:sp>
      <p:sp>
        <p:nvSpPr>
          <p:cNvPr id="36" name="hf-1182">
            <a:extLst xmlns:a="http://schemas.openxmlformats.org/drawingml/2006/main">
              <a:ext uri="{FF2B5EF4-FFF2-40B4-BE49-F238E27FC236}">
                <a16:creationId xmlns:a16="http://schemas.microsoft.com/office/drawing/2014/main" id="{AA078A70-3137-45A8-BBD8-68059ED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6514"/>
            <a:ext cx="110862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500"/>
              </a:lnSpc>
              <a:buNone/>
            </a:pPr>
            <a:r>
              <a:rPr sz="1275" b="0" i="0">
                <a:solidFill>
                  <a:srgbClr val="C8C8C8"/>
                </a:solidFill>
                <a:latin typeface="Montserrat"/>
                <a:ea typeface="Montserrat"/>
                <a:cs typeface="Montserrat"/>
              </a:rPr>
              <a:t>два порядка</a:t>
            </a:r>
          </a:p>
        </p:txBody>
      </p:sp>
      <p:pic>
        <p:nvPicPr>
          <p:cNvPr id="37" name="hf-1183">
            <a:extLst xmlns:a="http://schemas.openxmlformats.org/drawingml/2006/main">
              <a:ext uri="{FF2B5EF4-FFF2-40B4-BE49-F238E27FC236}">
                <a16:creationId xmlns:a16="http://schemas.microsoft.com/office/drawing/2014/main" id="{AA9D67CB-90B8-4DAC-8EB3-CE0DE1D87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01a09fd2411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38" name="hf-1184">
            <a:extLst xmlns:a="http://schemas.openxmlformats.org/drawingml/2006/main">
              <a:ext uri="{FF2B5EF4-FFF2-40B4-BE49-F238E27FC236}">
                <a16:creationId xmlns:a16="http://schemas.microsoft.com/office/drawing/2014/main" id="{BA9A840C-B3A3-4CB8-8EDB-1781778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26174689"/>
      </p:ext>
    </p:extLst>
  </p:cSld>
</p:sld>
</file>

<file path=ppt/slides/slide52.xml><?xml version="1.0" encoding="utf-8"?>
<p:sld xmlns:p="http://schemas.openxmlformats.org/presentationml/2006/main" show="0">
  <p:cSld name="questions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f-1185">
            <a:extLst xmlns:a="http://schemas.openxmlformats.org/drawingml/2006/main">
              <a:ext uri="{FF2B5EF4-FFF2-40B4-BE49-F238E27FC236}">
                <a16:creationId xmlns:a16="http://schemas.microsoft.com/office/drawing/2014/main" id="{F94DBFCB-3AFB-4946-BC72-8D52EADD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37923"/>
            <a:ext cx="63333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099" b="0" i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</a:rPr>
              <a:t>АРХИВ</a:t>
            </a:r>
          </a:p>
        </p:txBody>
      </p:sp>
      <p:sp>
        <p:nvSpPr>
          <p:cNvPr id="3" name="hf-1186">
            <a:extLst xmlns:a="http://schemas.openxmlformats.org/drawingml/2006/main">
              <a:ext uri="{FF2B5EF4-FFF2-40B4-BE49-F238E27FC236}">
                <a16:creationId xmlns:a16="http://schemas.microsoft.com/office/drawing/2014/main" id="{FDB3DFEC-DD5B-4088-8111-5D430AB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49035"/>
            <a:ext cx="6295281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ПРЕЖДЕ ЧЕМ ВЫБИРАТЬ КОНТЕЙНЕР —</a:t>
            </a:r>
          </a:p>
        </p:txBody>
      </p:sp>
      <p:sp>
        <p:nvSpPr>
          <p:cNvPr id="4" name="hf-1187">
            <a:extLst xmlns:a="http://schemas.openxmlformats.org/drawingml/2006/main">
              <a:ext uri="{FF2B5EF4-FFF2-40B4-BE49-F238E27FC236}">
                <a16:creationId xmlns:a16="http://schemas.microsoft.com/office/drawing/2014/main" id="{D7673309-3BA5-4952-B2FF-3EB0B77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861946"/>
            <a:ext cx="2967186" cy="3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464"/>
              </a:lnSpc>
              <a:buNone/>
            </a:pPr>
            <a:r>
              <a:rPr sz="2200" b="1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ШЕСТЬ ВОПРОСОВ</a:t>
            </a:r>
          </a:p>
        </p:txBody>
      </p:sp>
      <p:sp>
        <p:nvSpPr>
          <p:cNvPr id="5" name="hf-1188">
            <a:extLst xmlns:a="http://schemas.openxmlformats.org/drawingml/2006/main">
              <a:ext uri="{FF2B5EF4-FFF2-40B4-BE49-F238E27FC236}">
                <a16:creationId xmlns:a16="http://schemas.microsoft.com/office/drawing/2014/main" id="{373F94F3-A324-41A7-8C4C-BD9E7DC8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440371"/>
            <a:ext cx="2113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6" name="hf-1189">
            <a:extLst xmlns:a="http://schemas.openxmlformats.org/drawingml/2006/main">
              <a:ext uri="{FF2B5EF4-FFF2-40B4-BE49-F238E27FC236}">
                <a16:creationId xmlns:a16="http://schemas.microsoft.com/office/drawing/2014/main" id="{75B7E74F-99CB-4CD8-9CCD-E4F263C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830"/>
            <a:ext cx="60884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нужно на выходе: порядок, сортировка, исходник?</a:t>
            </a:r>
          </a:p>
        </p:txBody>
      </p:sp>
      <p:sp>
        <p:nvSpPr>
          <p:cNvPr id="7" name="hf-1190">
            <a:extLst xmlns:a="http://schemas.openxmlformats.org/drawingml/2006/main">
              <a:ext uri="{FF2B5EF4-FFF2-40B4-BE49-F238E27FC236}">
                <a16:creationId xmlns:a16="http://schemas.microsoft.com/office/drawing/2014/main" id="{6F2BED26-67F8-4B98-B8C7-000B3C33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64246"/>
            <a:ext cx="28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8" name="hf-1191">
            <a:extLst xmlns:a="http://schemas.openxmlformats.org/drawingml/2006/main">
              <a:ext uri="{FF2B5EF4-FFF2-40B4-BE49-F238E27FC236}">
                <a16:creationId xmlns:a16="http://schemas.microsoft.com/office/drawing/2014/main" id="{BF42EF1D-818F-4B60-B6A0-24D69FED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705"/>
            <a:ext cx="383463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Какие у вас N и доля уникальных?</a:t>
            </a:r>
          </a:p>
        </p:txBody>
      </p:sp>
      <p:sp>
        <p:nvSpPr>
          <p:cNvPr id="9" name="hf-1192">
            <a:extLst xmlns:a="http://schemas.openxmlformats.org/drawingml/2006/main">
              <a:ext uri="{FF2B5EF4-FFF2-40B4-BE49-F238E27FC236}">
                <a16:creationId xmlns:a16="http://schemas.microsoft.com/office/drawing/2014/main" id="{8516EAE8-0060-401C-9BD9-393EDB0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2488121"/>
            <a:ext cx="2867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10" name="hf-1193">
            <a:extLst xmlns:a="http://schemas.openxmlformats.org/drawingml/2006/main">
              <a:ext uri="{FF2B5EF4-FFF2-40B4-BE49-F238E27FC236}">
                <a16:creationId xmlns:a16="http://schemas.microsoft.com/office/drawing/2014/main" id="{3961B769-5688-42F6-9950-E418B7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580"/>
            <a:ext cx="51339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Какой именно контейнер, а не «хеш вообще»?</a:t>
            </a:r>
          </a:p>
        </p:txBody>
      </p:sp>
      <p:sp>
        <p:nvSpPr>
          <p:cNvPr id="11" name="hf-1194">
            <a:extLst xmlns:a="http://schemas.openxmlformats.org/drawingml/2006/main">
              <a:ext uri="{FF2B5EF4-FFF2-40B4-BE49-F238E27FC236}">
                <a16:creationId xmlns:a16="http://schemas.microsoft.com/office/drawing/2014/main" id="{6C573A68-8564-47DD-BC85-D5741AD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011996"/>
            <a:ext cx="323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12" name="hf-1195">
            <a:extLst xmlns:a="http://schemas.openxmlformats.org/drawingml/2006/main">
              <a:ext uri="{FF2B5EF4-FFF2-40B4-BE49-F238E27FC236}">
                <a16:creationId xmlns:a16="http://schemas.microsoft.com/office/drawing/2014/main" id="{1665898C-74BA-4377-88FB-41F5F80E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9455"/>
            <a:ext cx="59283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Какая система и связка компилятора с библиотекой?</a:t>
            </a:r>
          </a:p>
        </p:txBody>
      </p:sp>
      <p:sp>
        <p:nvSpPr>
          <p:cNvPr id="13" name="hf-1196">
            <a:extLst xmlns:a="http://schemas.openxmlformats.org/drawingml/2006/main">
              <a:ext uri="{FF2B5EF4-FFF2-40B4-BE49-F238E27FC236}">
                <a16:creationId xmlns:a16="http://schemas.microsoft.com/office/drawing/2014/main" id="{ABB41CEB-39D3-4FC1-B483-C1DB81B0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3535871"/>
            <a:ext cx="288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4" name="hf-1197">
            <a:extLst xmlns:a="http://schemas.openxmlformats.org/drawingml/2006/main">
              <a:ext uri="{FF2B5EF4-FFF2-40B4-BE49-F238E27FC236}">
                <a16:creationId xmlns:a16="http://schemas.microsoft.com/office/drawing/2014/main" id="{299416A6-2C54-4112-A0BF-9DEC7CB2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3330"/>
            <a:ext cx="668617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Первый запрос или длительная нагрузка, какой приоритет?</a:t>
            </a:r>
          </a:p>
        </p:txBody>
      </p:sp>
      <p:sp>
        <p:nvSpPr>
          <p:cNvPr id="15" name="hf-1198">
            <a:extLst xmlns:a="http://schemas.openxmlformats.org/drawingml/2006/main">
              <a:ext uri="{FF2B5EF4-FFF2-40B4-BE49-F238E27FC236}">
                <a16:creationId xmlns:a16="http://schemas.microsoft.com/office/drawing/2014/main" id="{2E9EB543-43D5-4CF2-9557-DCBF4F9B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4059746"/>
            <a:ext cx="304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3000" b="1" i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16" name="hf-1199">
            <a:extLst xmlns:a="http://schemas.openxmlformats.org/drawingml/2006/main">
              <a:ext uri="{FF2B5EF4-FFF2-40B4-BE49-F238E27FC236}">
                <a16:creationId xmlns:a16="http://schemas.microsoft.com/office/drawing/2014/main" id="{EA07CCA0-B0B5-4CC6-BB68-7B3A3D4A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7205"/>
            <a:ext cx="542872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Какую долю всего этапа занимает эта операция?</a:t>
            </a:r>
          </a:p>
        </p:txBody>
      </p:sp>
      <p:pic>
        <p:nvPicPr>
          <p:cNvPr id="17" name="hf-1200">
            <a:extLst xmlns:a="http://schemas.openxmlformats.org/drawingml/2006/main">
              <a:ext uri="{FF2B5EF4-FFF2-40B4-BE49-F238E27FC236}">
                <a16:creationId xmlns:a16="http://schemas.microsoft.com/office/drawing/2014/main" id="{2E1078BA-9977-45D5-B326-4227A3DF1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f24d9808343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53325" y="686355"/>
            <a:ext cx="1095375" cy="375128"/>
          </a:xfrm>
          <a:prstGeom xmlns:a="http://schemas.openxmlformats.org/drawingml/2006/main" prst="rect">
            <a:avLst/>
          </a:prstGeom>
        </p:spPr>
      </p:pic>
      <p:sp>
        <p:nvSpPr>
          <p:cNvPr id="18" name="hf-1201">
            <a:extLst xmlns:a="http://schemas.openxmlformats.org/drawingml/2006/main">
              <a:ext uri="{FF2B5EF4-FFF2-40B4-BE49-F238E27FC236}">
                <a16:creationId xmlns:a16="http://schemas.microsoft.com/office/drawing/2014/main" id="{9F2F7B85-1FDD-4A28-93AD-C61A45D4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/>
          </a:lstStyle>
          <a:p xmlns:a="http://schemas.openxmlformats.org/drawingml/2006/main">
            <a:pPr algn="l">
              <a:lnSpc>
                <a:spcPts val="1275"/>
              </a:lnSpc>
              <a:buNone/>
            </a:pPr>
            <a:r>
              <a:rPr sz="1001" b="0" i="0">
                <a:solidFill>
                  <a:srgbClr val="EFEFEF"/>
                </a:solidFill>
                <a:latin typeface="Montserrat"/>
                <a:ea typeface="Montserrat"/>
                <a:cs typeface="Montserrat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00868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Никита Нагорнов</dc:creator>
  <lastModifiedBy>Walnut Exporter</lastModifiedBy>
  <dc:title>O(n) проиграл O(n log n) — HardFest 2026</dc:title>
  <dcterms:created xsi:type="dcterms:W3CDTF">2026-10-06T03:22:51.2450000Z</dcterms:created>
  <dcterms:modified xsi:type="dcterms:W3CDTF">2026-10-06T03:22:51.2460000Z</dcterms:modified>
  <dc:subject>HardFest 2026</dc:subject>
</coreProperties>
</file>