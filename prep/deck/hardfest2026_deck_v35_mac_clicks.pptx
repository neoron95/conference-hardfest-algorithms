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Montserrat"/>
      <p:regular r:id="rIdFont1"/>
      <p:bold r:id="rIdFont2"/>
    </p:embeddedFont>
    <p:embeddedFont>
      <p:font typeface="Montserrat Medium"/>
      <p:regular r:id="rIdFont3"/>
    </p:embeddedFont>
    <p:embeddedFont>
      <p:font typeface="Montserrat SemiBold"/>
      <p:regular r:id="rIdFont4"/>
    </p:embeddedFont>
    <p:embeddedFont>
      <p:font typeface="Montserrat ExtraBold"/>
      <p:regular r:id="rIdFont5"/>
    </p:embeddedFont>
    <p:embeddedFont>
      <p:font typeface="JetBrains Mono"/>
      <p:regular r:id="rIdFont6"/>
      <p:bold r:id="rIdFont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 Id="rIdFont7"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У меня есть ощущение, что про алгоритмы стали вспоминать реже — даже на собеседованиях. Готовые библиотеки и мощное железо часто прощают неудачный выбор.
Сегодня разберём кейс, где это не сработало. Задача реальная, детали упрощены, замеры на тестовых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знакомиться.
Я Никита Нагорнов, iOS-разработчик в «Исходном коде». Начинал с олимпиадного программирования, занимался разработкой компиляторов, видеоредакторов, снапчатов, а сейчас профессионально крашу кнопки на мобильных приложениях.
Появилась идея рассказать об одном кейсе, который практически объединил всё это вместе.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Доклад будет полезен разработчикам, которые ещё как-то работают с алгоритмами и контейнерами.
[щелчок] Как напоминание тимлидам и ревьюерам, которые оценивают оптимизации.
[щелчок] И совсем редким ребятам, кто пишет перф-тесты.
Разберём, как сравнивать решения на своих данных и почему замер в CI может дать другой ответ на устройстве пользователя.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погрузиться чуть подробнее, представим нашу упрощенную задачу.
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
На входе есть повторы. На выходе каждое значение должно остаться один раз. По сути удаление повторов. Самих записей мы здесь касаться сегодня не будем, работаем только с числами.
Три условия нашей задачи.
[щелчок] Локальные id уникальны: внутри них повторов нет.
[щелчок] Ключ — шестидесятичетырёхбитное число.
[щелчок] Работа несрочная, в режиме utility. (Бэкграунда)
И вот представьте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вам на ревью прилетает маленький диф.
Было: отсортировать массив и убрать повторы.
Стало: сложить в хеш-таблицу и выгрузить обратно. 
[щелчок]Хранить данные в отсортированном виде нам как бы не нужно, поэтому я соглашаюсь. 
[щелчок] Я поставил апрув почти не глядя. 
Чем это закончилось - расскажу чуть позже. А пока давайте остановимся на этих двух вариантах подробнее.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что этот диф пришёл на ревью вам. Два претендента на удаление повторов.
[щелчок] A: sort плюс unique, упорядочить числа и убрать соседние повторы. 
[щелчок] B: unordered_set, добавить ключи в хеш-таблицу.
У первого оценка N log N, у второго в среднем N. 
Как вы думаете, какой вариант вы бы сами выбрали для этой задачи? 
Поднимите руку те, кто выбрал бы A. А теперь те, кто выбрал бы B? 
Запомните свой выбор и после просто проверим ваши ощущения.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тем временем судья объявляет правила и появляется третий вариант - Попросил бы больше условий. 
- Какой размер входа? 
- Сколько разных ключей? 
- Какой порядок нужен на выходе?
- На каком устройстве и в каком режиме это выполняется?
Кто-то может спросить, а зачем вообще это спрашивать? Давайте вместе разбираться.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для начала вспомним теорию. Первый способ — сортировка. Возьмём восемь чисел.
[щелчок] Внутри std::sort — быстрая сортировка, точнее её доработанная версия, introsort. Берём опорное число, например три: всё, что не больше трёх, — налево, остальное — направо.
[щелчок] Дальше то же самое внутри каждой половины.
[щелчок] И ещё раз — пока куски не станут по одному. Восемь пополам, пополам, пополам — три раза. Это и есть логарифм по основанию два: log₂ 8 = 3. Для миллиона — двадцать.
[щелчок] На каждом уровне мы проходим по всем числам — отсюда n log n. Собирать обратно ничего не нужно: каждое число уже стоит на своём месте.
[щелчок] И смотрите: одинаковые встали рядом. Остаётся один проход слева направо: берём число, если оно не равно соседу. Вся работа — сравнения и перестановки в одном массиве, без лишней памяти.
[→ следующий слайд]
──────────
Подсказки
• Пополам — идеальный случай: опорное попадает в середину. На случайных данных части неровные и уровней немного больше, но их число всё равно растёт как log n. Если деление слишком глубокое (в libstdc++ предел 2·log₂N), introsort переходит на пирамидальную сортировку и в n² не скатывается.
• Равные опорному могут попасть в любую из двух частей. Маленькие куски досортировываются вставками.
• Собирать половины (сливать) нужно в сортировке слиянием — так устроены std::stable_sort и TimSort в Python. std::sort делит на месте.
• log₂ 1 048 576 = 20. На деле std::sort делает 22–25 сравнений на число, нижняя граница — ≈18,6.
• Если спросят „а в других языках?“ — Java для примитивов: dual-pivot quicksort, Python: TimSort, Go: pdqsort (с 1.19), Rust sort_unstable: ipnsort, наследник pdqsort.
• В замере: std::sort, потом std::unique сдвигает уникальные в начало, хвост удаляем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B — хеш-таблица. Идея ещё проще. Те же восемь чисел.
Таблица — это ряд ячеек, номер ячейки считает хеш-функция. Для примера возьмём остаток от деления на четыре.
[щелчок] Семь — ячейка три. Там пусто, кладём.
[щелчок] Три — тоже ячейка три, а там уже семёрка. Это коллизия. Сравниваем: три не равно семи — число новое, кладём в ту же ячейку, в цепочку. Так делает unordered_set. Есть второй способ — открытая адресация: занято — идём в соседнюю ячейку. Так устроены плоские таблицы, к ним мы ещё вернёмся.
[щелчок] Восемь — в ячейку ноль, единица — в ячейку один.
[щелчок] Снова три: идём в ячейку три, сравниваем с каждым в цепочке — тройка нашлась, это дубль, пропускаем. Девять и пять — тоже в ячейку один, цепочка растёт. Двойка — в ячейку два. Семь разных чисел, и сортировать ничего не пришлось.
Каждое число — один заход в таблицу, на бумаге это O(n). 
На бумаге победитель понятен. Посчитаем, насколько.
[→ следующий слайд]
──────────
Подсказки
• unordered_set решает коллизии цепочками. Открытая адресация (занято — пробуем следующую ячейку) — у absl::flat_hash_set, Python set и dict, Go map с 1.24, Rust HashMap.
• Если спросят „таблица ведь тоже сравнивает?“ — да, но только с ключами из своей ячейки: в среднем одно-два сравнения на число, а не ≈20, как у сортировки.
• Почему „одно-два сравнения“: по умолчанию max_load_factor = 1 — в среднем не больше ключа на ячейку; при превышении ячеек становится больше (rehash).
• Если спросят „O(1) всегда?“ — нет, в среднем: при плохом хеше все ключи в одной ячейке, дедуп становится O(n²). Для целых std::hash — тождество, ключи, кратные числу ячеек, сталкиваются.
• x mod 4 — учебный хеш. Порядок выгрузки таблица не обещает.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обещает теория? Возьмём миллион id.
Сортировка — O(N log N): на каждое число около логарифма от N сравнений. Логарифм от миллиона — двадцать. Двадцать сравнений на каждое число.
[щелчок] Хеш-таблица — в среднем O(N): на каждое число один заход в таблицу. Посчитать хеш, найти ячейку, сравнить с парой соседей по цепочке.
[щелчок] Двадцать шагов против одного. На бумаге хеш должен выиграть раз в двадцать. [пауза 2 с]
[→ следующий слайд]
──────────
Подсказки
• «≈20» — округление для зала: log₂ 1 048 576 = 20; на деле std::sort делает 22–25 сравнений на число, нижняя граница — ≈18,6.
• Если спросят „откуда пара сравнений?“ — unordered_set держит в среднем не больше ключа на ячейку (max_load_factor = 1).
• Если спросят „так O-большое врёт?“ — нет, оно считает, как растёт число шагов, а цену шага отбрасывает. Это раскроем на слайде про цену шага: на M2 20 шагов по ≈1 нс против одного за ≈55 нс (на Xeon ≈4 против ≈260).
• Сколько среди id разных, здесь не вводим — это понадобится позже.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 вот примерно с такими размышлениями я апрувлю этот реквест, а через неделю пишут тестировщики: после обновления синхронизация на айфонах заметно тормозит. Что поменяли?
Я решил проверить. Взял данные прям как из нашей синхронизации.
[щелчок] На своём Маке — ничья: разница в пределах погрешности, решил я.
[щелчок] В CI на Xeon — хеш быстрее на десять процентов. Оптимизация работает, можно мержить.
[щелчок] А на айфоне у тестировщиков — сортировка больше чем в два раза быстрее. Тот же код, те же данные. [пауза 2 с]
[щелчок] А что я тестировал?! [пауза]
Три устройства — три разных ответа. Чтобы понять причину, давайте сначала договоримся, что именно мы измеряем.
[→ следующий слайд]
──────────
Подсказки
• Условия: 512K id (2^19), половина разных, вся операция; нс на число, sort / хеш.
• Mac M2 Pro: 20,9 / 22,0 — разница 5 %, «ничья». CI Xeon: 84,2 / 75,0 — хеш ×1,12. iPhone 14 Pro в режиме utility: 46,6 / 105,8 — sort ×2,3.
• Для себя: тот же iPhone в userInitiated — 21,5 / 20,3, ничья. Дело в фоновом режиме, а не в «медленном телефоне». Здесь не раскрываем, только намёк «в фоне».
• Если спросят „CI на Linux, а прод на iOS — это же очевидно“ — да, но и Mac проблему не показал, хотя библиотека там та же, libc++.
• Id в замерах — случайные 64-битные: «как из синхронизации» — по размеру и доле повторов, не по значениям. На плотных id (автоинкремент) узловой таблице везёт: на CI она там в 1,7 раза быстрее сортировки (запасной слайд про плотные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Вход готов, на выходе нужен массив тех же значений без повторов. Сейчас его порядок не важен.
В таймере вся операция. Для сортировки — sort, unique и обрезка хвоста. Для таблицы — reserve, вставки, выгрузка в массив и уничтожение. 
[пауза 2 с]
Свежую копию входа готовим заранее. После замера сверяем результат с эталоном.
Причём хеш-таблицам мы, конечно, сразу даём reserve под размер входа: по ходу вставок они не перестраиваются. Изначально неправильные реализации мы не используем.
[→ следующий слайд]
──────────
Подсказки
• Копию входа готовим вне таймера, внутри — вся операция, проверка с эталоном — после.
• Чек на слайде показывает границы таймера, а не доли времени по стадиям.
• Если спросят „нечестно включать деструктор?“ — в приложении память всё равно освобождается, а без него спрятали бы заметную часть цены: на M2 выгрузка и деструктор — 13,5 + 11,8 из 55 нс на элемент, на Xeon — 60 + 67 из 237.
• Если спросят „зачем reserve?“ — без него таблица перестраивается по ходу вставок; но при малой доле разных резерв под весь вход раздувает таблицу. Берём N: он известен, а число разных —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самого чистого случая: миллион id, все разные, никаких повторов. 
Запускаем на своём Маке — M2 Pro. Полоски — наносекунды на элемент, короче — лучше.
[щелчок] Сортировка: девятнадцать наносекунд.
[щелчок] Хеш-таблица: пятьдесят пять. [пауза 2 с]
[щелчок] Сортировка быстрее почти в три раза. Тот самый n log n, который на бумаге должен был проиграть в двадцать раз.
Может, это особенность Мака?
[щелчок] Нет. На айфоне — в два и восемь десятых. На сервере в CI — в три. Три разных процессора, три разные системы — и везде одно и то же. Сами наносекунды у машин разные, поэтому сравниваем только внутри одной. 
Здесь сортировка выигрывает везде — даже на Маке, где в моём тесте была ничья, и в CI, где хеш даже выигрывал. Значит, размер входа, повторы и среда что-то меняют. К этому еще вернемся.
Но сначала вопрос попроще: как двадцать шагов обогнали один? Посчитаем, сколько стоит каждый шаг.
[→ следующий слайд]
──────────
Подсказки
• Условия: 2^20 id, все разные, вся операция. Mac и iPhone — в режиме userInitiated; CI — Xeon, GCC 13 / libstdc++.
• Точные числа, нс на элемент, sort / хеш: M2 Pro 19,3 / 55,2 (×2,86); iPhone 14 Pro 20,0 / 55,8; CI 83,5 / 260,3 — медиана трёх сессий.
• Если спросят „почему Xeon в разы медленнее?“ — наносекунды между машинами не сравниваем, только отношение внутри одной машины.
• Если спросят „это же давно известно“ — да, похожий эффект описывал Даниэль Лемир (2017), причины разбирал Чендлер Каррут (CppCon 2014); мы проверяем на своих данных и доводим до телефона.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Сортировке на миллионе нужно двадцать сравнений на число — и уложилась она в девятнадцать наносекунд. Около одной наносекунды на шаг.
[щелчок] Хешу нужен один шаг. Один! И этот шаг стоит пятьдесят пять наносекунд.
[щелчок] O(n) — честно линейно. Просто каждый шаг очень тяжёлый. O-большое считает шаги, а платим мы за цену шага.
Почему шаг хеша такой дорогой? Попробуем разобраться.
[→ следующий слайд]
──────────
Подсказки
• M2 Pro, 2^20 id, все разные: sort 19,3 нс на число / 20 сравнений ≈ 0,97 нс на шаг; хеш 55,2 нс ≈ 57 таких шагов. 19,3 / 55,2 ≈ 0,35 — «треть первого шага».
• На CI (Xeon) то же: ≈4,2 нс на шаг сортировки против 260 у хеша (≈62 шага). На iPhone: 1 нс против 55,8.
• «Шаг» хеша — одна вставка вместе с выгрузкой и удалением: хеш, поиск ячейки, malloc узла, запись.
• Если спросят „у сортировки же ещё перестановки“ — да, мы делим полное время: в 19 нс входят и перестановки, и проход unique. Команды считаем на слайде про работу.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куда уходят эти пятьдесят пять наносекунд, посмотрим, как процессор исполняет программу.
Слева — поток команд: в них компилятор превратил наш код. Посередине — ядро. Оно умеет выполнять несколько команд за такт — у M2 до восьми. Чтобы не простаивать на каждом if, ядро не ждёт ответа, а угадывает, куда пойдёт программа, и начинает заранее. Этим занят предсказатель. Справа — откуда ядро берёт данные: маленькие быстрые кэши рядом и большая медленная память. Чем дальше — тем дольше.
По сути из этого и складывается время
[щелчок] Первое — работа. Сколько команд нужно выполнить. Больше команд — дольше, даже если всё остальное идеально.
[щелчок] Второй — ожидание. Команде нужны данные, а в кэше их нет. Пока они едут из памяти — а это сотни тактов, — слоты ядра стоят пустыми.
[щелчок] Третий — выброшенная работа. Предсказатель угадал не ту ветку, ядро уже выполнило команды заранее. Их приходится выбросить и начать заново.
Кто из трёх съедает пятьдесят пять наносекунд хеша? Проверим и начнём с самого простого: посчитаем работу.
[→ следующий слайд]
──────────
Подсказки
• «До 8 за такт» — у P-ядра M2 8 декодеров, у Xeon в CI — 6. Наши программы на M2 делают 3,2 (sort) и 1,9 (хеш) — раскроем на слайде про темп.
• Цены: ошибка предсказателя ≈16 тактов на M2 (≈24 на Xeon); промах до памяти ≈115 нс на M2 — около 400 тактов.
• Если спросят „так кто виноват?“ — работа: отчасти хеш (383 против 219 команд); ожидание: хеш (промахов L1 9,2 против 0,8 на число); выброшенное: на Маке почти ни при чём — std::sort от Apple без ветвлений (1,6 ошибки на число), на CI у сортировки 8,8.
• Английские термины (memory stalls, branch mispredict) со сцены не произносим.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Считаем не время, а команды процессора на одно число. Считает сам процессор: в M2 есть аппаратные счётчики — сколько команд выполнено и сколько тактов прошло. Вход тот же, что в первом замере: миллион разных id.
[щелчок] Сортировка — двести девятнадцать команд на число.
[щелчок] Хеш-таблица — триста восемьдесят три. На бумаге один шаг, а команд почти вдвое больше. Откуда лишние? Стандартная unordered_set хранит каждое число в отдельном узле: reserve готовит только ячейки, а на каждое новое число — malloc, при уничтожении таблицы — free.
[щелчок] Первый подозреваемый виновен. Но команд больше всего в одну и три четверти раза.
[щелчок] А время? Хеш медленнее почти в три раза. На айфоне — так же.
[щелчок] Кстати, на CI-сервере — другой процессор, другой компилятор и библиотека — у хеша команд втрое больше и времени втрое больше: там работа объясняет почти всё. Одна и та же программа, а причина разрыва разная. 
Куда же уходит остальное время на Маке? Проверим темп.
[→ следующий слайд]
──────────
Подсказки
• M2 Pro, P-ядро, 2^20 id, все разные: 218,9 и 383,3 команды на число.
• Как считали: в процессоре есть аппаратные счётчики, на macOS их читает системная kperf — на ней же работает Instruments. Программа под sudo берёт счётчик команд своего потока до и после вызова и делит разницу на миллион; медиана повторов. Алгоритмы и входы — те же, что в замере времени (bench/mac/counters.cpp).
• «33 нс»: в темпе сортировки (3,18 команды за такт) хешу хватило бы ≈120 тактов из 200. Из разрыва 36 нс на работу — ≈14 нс (≈40 %).
• Если спросят „а на iPhone?“ — на iOS счётчиков нет, команды не мерили; бинарник тот же, команд должно быть столько же.
• Если спросят „а reserve не спасает?“ — он выделяет только массив ячеек, от перестроек. Дай той же таблице один буфер под все узлы (без malloc/free на узел) — 35 нс вместо 55; одно уничтожение таблицы — 11,8 нс из 55.
• Если спросят „сколько тут malloc/free?“ — на Маке счётчик не разделяет. Ориентир: flat_hash_set без узлов на M2 — 119 команд.
• Почему у сортировки на M2 команд больше, чем на CI (219 против 151): std::sort от Apple разбивает без ветвлений.
• Фраза про CI «работа объясняет почти всё» — упрощение: команд ×3 и времени ×3 значит только одинаковый темп (0,64 и 0,63 команды за такт). Тормозят они по разным причинам: сортировка — на ошибках предсказателя, хеш — на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Такт — один тик часов процессора. P-ядро M2 делает около 3,5 миллиардов тактов в секунду.
Если же мы посмотрим, то увидим что оба алгоритма делают сильно меньше, чем могло бы быть.
[щелчок] У ядра M2 на каждом такте до восьми мест для команд. Сортировка занимает три из восьми, хеш — меньше двух. Остальные пустуют.
Кто их занимает? Два оставшихся подозреваемых: ожидание и выброшенная работа.
[→ следующий слайд]
──────────
Подсказки
• M2 Pro, P-ядро, 2^20 id, все разные; на число: sort 68,8 такта / 218,9 команды = 3,18; хеш 199,8 / 383,3 = 1,92.
• «Могло бы» = 8 мест × такты; занято 40 % у сортировки и 24 % у хеша. Сетка — иллюстрация средних, не запись прогона.
• Если спросят „откуда 3,5 ГГц?“ — такты делим на время того же прогона: 68,8 / 19,64 нс = 3,50 ГГц.
• Если спросят „почему не 8?“ — реальные программы до пика не доходят: radix на M2 — 4,25 команды за такт.
• Если спросят про CI — там обе меньше одной за такт (0,64 и 0,63), но по разным причинам: у сортировки ошибки предсказателя, у хеша промахи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ожидания. Как его проверить?
Если бы всё время уходило на работу, цена одного числа у хеша почти не зависела бы от размера: вставка та же. 
А если процессор ждёт память, цена прыгнет, когда таблица перестанет помещаться в кэш. 
Попробуем проверить и протестируем на разном размере данных.
[щелчок] Мак. Сортировка растёт плавно — это log n. Хеш до четверти миллиона даже чуть быстрее. А потом излом: на четырёх миллионах он дороже почти в два с половиной раза. Команд на вставку столько же — значит, лишнее время ушло на ожидание памяти.
[щелчок] Излом там, где кончается кэш второго уровня, — у M2 он шестнадцать мегабайт.
[щелчок] CI. Здесь хеш быстрее вплоть до миллиона, на пике — в полтора с лишним раза: сортировка тут дорогая сама по себе — это третий подозреваемый, к нему вернёмся. Но дорожать хеш начинает раньше — сразу после шестидесяти четырёх тысяч.
[щелчок] Потому что кэш второго уровня здесь всего два мегабайта. Дальше промахи ловит общий третий уровень, поэтому хеш дорожает плавнее. Излом у каждой машины свой — ровно там, где кончается её кэш.
Второй подозреваемый подтвердился. Осталось понять, почему хешу так дорого ждать, а сортировке — нет.
[→ следующий слайд]
──────────
Подсказки
• Половина id — разные; нс на число, sort / хеш. M2 Pro: 256K — 20,3 / 19,6, 512K — 20,9 / 22,0, 4M — 22,5 / 53,4 (×2,37).
• Если спросят „откуда известно, что команд столько же?“ — счётчики M2, половина разных: 512K — 212,7 команды и 67,8 такта на число, 1M — 213,2 и 85,0. Команд столько же, тактов на четверть больше. На 4M счётчики не снимали.
• Если спросят „почему излом именно там?“ — таблица ≈ 32 Б на узел каждого разного id + 8 Б на ячейку каждого id входа (резерв под весь вход): 512K → 12 МиБ, влезает; 1M → 24 МиБ, уже нет — при L2 M2 16 МиБ; на CI 64K → 1,5 МиБ, 128K → 3 МиБ при L2 2 МиБ.
• CI Xeon: 64K — 73,7 / 44,8 (хеш ×1,6), 1M — 87,1 / 85,5, 4M — 98,1 / 134,4 (×1,37). Шкалы у панелей разные — сравниваем форму.
• Если спросят „а айфон?“ — та же форма: 4M — 23,4 / 57,1 (×2,45).
• Если спросят „почему на CI хеш выигрывает до 1M?“ — главное: сортировка там платит за ошибки предсказателя.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как каждый из них ходит по памяти. 
Слева сортировка: обычный массив, ключи лежат подряд по восемь байт. Память приезжает строками, и все они нужны.
[щелчок] Справа unordered_set. Массив ячеек хранит не ключи, а адреса. Каждый ключ живёт в отдельном узле где-то в куче. Чтобы найти ключ: читаем ячейку, по адресу из неё идём в узел, из узла — к следующему. Из строки, где лежит узел, нужен один ключ, остальное — чужое.
[щелчок] Вот главное различие. У сортировки следующий адрес — это текущий плюс восемь байт. Процессор знает его заранее и может запросить данные наперёд. У хеша следующий адрес лежит внутри текущего узла. Пока узел не приехал из памяти, процессор просто не знает, куда идти дальше.
[→ следующий слайд]
──────────
Подсказки
• M2 Pro, 2^20 id, все разные. Промахов L1 на число: sort 0,77, хеш 9,19 — в 12 раз больше; промахов TLB 0,01 против 3,6.
• Узел: в libc++ 24 Б (next, хеш, ключ), в libstdc++ 16 Б; malloc выделяет обоим по 32 Б. Строка кэша: 128 Б на Apple, 64 Б на x86.
• Если спросят „из чего 55 нс хеша?“ — вставки 30,3 нс (55 %), выгрузка 13,5 (24 %), деструктор 11,8 (21 %). Деструктор — тоже обход списка, free на каждый узел.
• Если спросят „почему 13,5 нс на узел, а не ≈115 нс полного промаха?“ — не каждый шаг — промах в память: узел 32 Б, в строке 128 Б их четыре, часть пути в кэше.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[пауза 2 с]
Такой квест нельзя пройти, открыв все сундуки одновременно: где следующий, узнаёшь, только открыв этот.
[→ следующий слайд]
──────────
Подсказки
• Мем — для узнавания, а не объяснение.
• Не утверждать, что любой обход таблицы — одни промахи.
• Если спросят «а быстрый malloc спасёт?» — нет: следующий адрес всё равно лежит в предыдущем узле.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Сколько стоит открыть один такой сундук? Из кэша — меньше наносекунды, из памяти — около ста. Наша таблица — около сорока мегабайт, это уже память.
Но процессор умеет ждать несколько чтений сразу, если знает адреса заранее. Сверху запросы летят вместе. Снизу — по одному: адрес лежит в узле.
Сортировка — сверху, узловая таблица — снизу.
Но ведь ключи при вставке независимы. Почему процессор не запрашивает следующий заранее?
[→ следующий слайд]
──────────
Подсказки
• Опыт: M2 Pro, P-ядро, один поток, цепочки чтений по 64 МиБ. По одному — 106 нс на чтение, 32 цепочки сразу — 3,5 нс, примерно в 30 раз быстрее.
• Кэш L1 — 0,86 нс, память — 107–115 нс. Кэш L2 у P-ядра — 16 МиБ, а unordered_set на миллион ключей занимает ≈40 МБ, поэтому это уже память.
• Если спросят «анимация — реальный прогон?» — нет, иллюстрация; настоящие только числа справа.
• Если спросят «а на Xeon?» — память дольше (141 нс на 64 МБ), но в тактах почти столько же, сколько на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Потому что процессор смотрит вперёд не бесконечно далеко: у M2 окно — около четырёхсот пятидесяти команд.
[щелчок] Сортировке этого хватает: данные подгружаются заранее. А вставка в хеш — около трёхсот двадцати команд, две трети из них — malloc. В окно влезает полторы вставки, и следующий промах процессор ещё не видит. Так работа превращается в ожидание.
Второй подозреваемый виновен: промахов у хеша в двенадцать раз больше, и ждёт он их по одному.
[→ следующий слайд]
──────────
Подсказки
• M2 Pro, P-ядро. Как мерили окно: независимые чтения из памяти, между ними — сложения. Без сложений чтение ≈4 нс, к ≈450 сложениям выходит на ≈100 нс, как одиночное чтение: окно ≈400–450 команд.
• Вставка ≈320 команд (подсчёт на x86), из них malloc 208 — 65 %.
• «В 12 раз»: промахов L1 на число 9,19 у unordered_set против 0,77 у сортировки.
• Если спросят «а E-ядро?» — окно ≈100 команд, вчетверо меньше (покажем на слайде про фоновый режим); это одна из причин, почему там хеш проигрывает сильнее.
• Если спросят «почему сложения, а не nop?» — Apple выбрасывает nop до окна.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Третий подозреваемый — выброшенная работа. Внутри сортировки на каждом шаге вопрос: это число меньше опорного? Ответ зависит от данных. Процессор его не ждёт: он угадывает ветку и выполняет команды дальше.
[щелчок] Угадал — когда ответ готов, работа уже сделана. Ошибся — всё, что выполнено по неверной ветке, выбрасывается, и процессор начинает заново с верной. На M2 это не меньше шестнадцати тактов на каждую ошибку.
[щелчок] Посчитаем ошибки на одно число. Вопросов у хеша много, но ответ почти всегда один и тот же: ключи разные, совпадений нет. Отсюда — половина ошибки на число. У сортировки — полторы.
[щелчок] Хотя ждали около десяти: двадцать делений пополам, и на каждом «меньше опорного?» — монетка, процессор ошибается в половине случаев. На CI так и выходит — почти девять ошибок на число. А на Маке полторы. Почему?
[→ следующий слайд]
──────────
Подсказки
• M2 Pro, P-ядро, миллион разных id: ошибок на число — sort + unique 1,6, unordered_set 0,5; на CI — 8,8 и 1,3.
• «≈20» — только сравнения с опорным, не все 29 ветвлений. Точнее ждём ≈9: ≈8 при разбиении и ≈1 при досортировке вставками.
• Если спросят «откуда 0,5 у хеша?» — оценка: «корзина пустая?» ≈0,33 + «цепочка кончилась?» ≈0,15; счётчик дал 0,48.
• Если спросят «хеш же постоянно сбрасывает конвейер?» — нет: 0,5 на M2 и 1,3 на CI.
• 8,8 на CI — не счётчик, а модель предсказателя Valgrind: в виртуалке счётчиков нет. Время подтверждает: та же сортировка с ветвлениями и без — 92 против 30 нс.
• «16 тактов» — оценка снизу, а не прямой замер сброса: разница в тактах двух сортировок со следующего слайда, делённая на разницу в ошибках.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 в том, как написана сортировка. Возьмём одну и ту же быструю сортировку в двух вариантах. Первый — как в учебнике: на каждом сравнении прыжок по ответу, и процессор его угадывает. Сорок восемь наносекунд на число, восемь ошибок.
[щелчок] Второй — без ветвлений: ответ записываем как ноль или единицу, а элементы переставляем потом. Угадывать нечего — ошибок меньше двух. Команд при этом почти вдвое больше, а быстрее в два с половиной раза.
[щелчок] Стандартная std::sort на Маке, в libc++ от Apple, устроена как второй вариант. На CI, в libstdc++, — как первый, поэтому там она и платит за каждую ошибку.
Итог: хеш делает больше работы и дольше ждёт память. Сортировка больше выбрасывает, но на Маке это дёшево, а на CI — дорого. А главный вопрос: сортировку ускорили, сменив реализацию. Можно ли так же починить хеш-таблицу?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Можно. Узлы — не небрежность библиотеки: стандарт обещает, что указатель на элемент переживёт рост таблицы, а для этого каждый ключ должен жить в своём узле. Для временного множества эта гарантия не нужна — и таблицу можно устроить иначе.
[щелчок] Слева знакомая unordered_set: массив ячеек хранит адреса, каждый ключ лежит в отдельном узле, на каждый — свой new.
[щелчок] Справа плоская таблица — Swiss Table. Ключи лежат прямо в одном массиве. Помните коллизию? Здесь её решают иначе: если ячейка занята другим ключом, смотрим соседнюю — та самая открытая адресация. Соседние ячейки лежат рядом в памяти и приезжают в кэш вместе.
Рядом с массивом — байты-метки: на каждую ячейку один байт, «пусто» или кусочек хеша. Процессор сравнивает сразу группу меток одной командой — восемь или шестнадцать за раз. Совпала метка — только тогда читаем сам ключ.
Вся таблица — одно выделение памяти. 
Но есть цена: при росте элементы переезжают, и старые указатели на них перестают работать.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кандидата с одинаковым резюме: оба — хеш-таблицы, оба обещают O(n), один заход на число. 
Но как вы думаете, что на самом деле?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Вернёмся к первому замеру: Мак, миллион разных id.
[щелчок] Знакомые полосы
[щелчок] А вот плоская таблица — восемнадцать с половиной.
[щелчок] Стандартную unordered_set плоская обгоняет втрое. Та же средняя сложность, та же идея «один заход на число». Разница только в том, как лежат данные в памяти. Название «хеш-таблица» ничего не говорит о цене.
Да и сортировку она догнала - ничья.
[щелчок] А на CI-сервере плоская быстрее сортировки вдвое. Помните почему? Там std::sort с ветвлениями.
Реализацию починили.
Помните про вариант "уточнил бы условия?". Так вот, Размер входа мы уже меняли — на графике с кэшем. Следующий вопрос: а если разных id мало — кто победит?
[→ следующий слайд]
──────────
• flat чувствителен к условиям прогона: в других замерах от 15,1 до 21,8 нс.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фраза «убрать повторы» — это разные задачи.
Все id разные — побеждает сортировка: миллион узлов, и хеш ждёт память. Разных один процент — побеждает хеш: узлов мало, все в кэше.
Нужен отсортированный результат — сортировка: у неё он получается сам. Нужен порядок первого появления — хеш: он просто идёт по входу.
Но это мы говорим про порядок на выходе. А какой порядок уже есть на входе?
[→ следующий слайд]
──────────
• M2 Pro, P-ядро; «хеш» — unordered_set. На слайде только победитель и отношение; строки из разных серий, наносекунды между строками не сравнивать.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нас — уже отсортированный. 
Вспомните старый код из дифа: он делал sort + unique и сохранял результат. Значит, наши локальные id всё это время лежали отсортированными — мы этим просто не пользовались.
На таком входе sort + unique — три с половиной наносекунды на число: в шесть раз быстрее хеша и почти в пять — плоской таблицы. Стандартная сортировка замечает готовый порядок и почти ничего не делает. Но это лучший случай: стоит дописать в конец новые id вразнобой — и std::sort этого уже не заметит и выигрыш пропадает.
И последнее про данные — на каких данных мы вообще мерили.
[→ следующий слайд]
──────────
Подсказки
• M2 Pro, P-ядро, миллион id, половина разных, вход уже отсортирован; «хеш» — unordered_set.
• sort + unique на таком входе — 26,4 команды и 13,6 такта на число вместо 219,4 и 76,5 на случайном; ошибок 0,39 вместо 2,0.
• Если спросят «а на случайном?» — сортировка 21,5, хеш 25,5, flat 16,5.
• Если спросят «а CI и iPhone?» — Xeon: 18,9 против 84,8 (×4,5); iPhone P-ядро — тоже ×6; iPhone E-ядро — 6,8 против 114 (×17).
• Разброс сортировки 16 % — замер короткий.
• Лучший случай — отсортирован весь вход. Локальные отсортированы, а дельта 64K дописана вразнобой (M2, 1M + 64K): sort 18,0 нс — почти как на случайном; сортировка дельты + слияние — 3,3 нс (×5,4). Подробно — запасной слайд про слияние.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самом начале я говорил, что про алгоритмы вспоминают разве что на собеседованиях. Так вот, мой первый бенчмарк устраивал процессору собеседование по одной и той же задаче: один и тот же вход, тысяча чисел, раз за разом.
Процессор ответы просто заучил — предсказатель запомнил все ветвления. 
[щелчок] А дайте каждый раз новые данные — и та же сортировка работает вдвое дольше.
[щелчок] Мой бенчмарк каждый раз давал один и тот же билет — и ставил «отлично» за заученный ответ. На Маке он льстил вдвое, на CI — почти впятеро.
Бенчмарк мерил не на тех данных. Но была и вторая ошибка — не в тех условиях.
[→ следующий слайд]
──────────
Подсказки
• M2 Pro, P-ядро, 1024 числа, половина разных: один вход — 7,06 нс на число, 64 разных входа — 15,57 (×2,2). 64 одинаковые копии в разных буферах — 7,12: дело в данных, а не в адресах.
• CI (Xeon, libstdc++): 9,7 против 46,8 — ×4,8; iPhone P-ядро — ×2,1.
• Если спросят «почему на Маке слабее?» — std::sort Apple без ветвлений: всего ≈1,6 ошибки на число, заучивать мало.
• Если спросят «проверяли счётчиками?» — нет, на Маке это вывод из контроля с копиями.
• Идея — Лемир, «Benchmarking is hard: processors learn to predict branches»,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жалобы тестировщиков и мои тесты? 
Мак — ничья, CI — хеш, айфон — сортировка больше чем вдвое.
Вот разгадка. Код и данные прежние, меняем только режим потока: говорим системе, что работа несрочная, как у нашей синхронизации.
В обычном режиме и Мак, и айфон — почти ничья.
[щелчок] Айфон в utility — и лидер меняется: сортировка быстрее в два с лишним раза. Ровно то, что увидели тестировщики.
[щелчок] И мой Мак в том же режиме: сортировка тоже впереди, почти на треть. Я тестировал изначально корректно. Просто не в том режиме. 
Но это еще не всё, почему так происходит?
Нужно понять, какое железо досталось алгоритмам в этом режиме.
[→ следующий слайд]
──────────
Подсказки
• Условия: один и тот же код, полмиллиона id (2^19), половина разных; меняется только режим потока.
• Если спросят «почему на Маке разрыв меньше?» — Мак в utility, судя по замерам, остался на P-ядре: sort почти не замедлился (+7 %), но чтения дальше 8 МБ стали в разы дороже, а хеш ждёт память сильнее сортировки. Айфон в utility — на E-ядре 2 ГГц.
• Если спросят «а на миллионе id?» — разрыв больше: Мак в utility — sort ×2,1, айфон — ×3,3.
• Если спросят «utility гарантирует E-ядро?» — нет: режим влияет на выбор ядра, но тип не гарантирует.
• Если спросят про Swift Task(priority:) — не измеряли.
• Мак в utility — отдельный прогон, без контрольного userInitiated в той же сессии.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Гипотеза: на айфоне utility уходит на энергоэффективное ядро, а у него кэш вчетверо меньше. Проверим
[щелчок] Пока данные влезают в кэш — быстро, не влезли — ступенька вверх. Жёлтые пунктиры — кэш второго уровня: четыре мегабайта у энергоэффективного ядра, шестнадцать у быстрого. Серый пунктир — режим background: такой поток система держит на энергоэффективном ядре. Это наш образец — его ступенька как раз у четырёх мегабайт.
[щелчок] Айфон в utility — ступенька там же как и у бэкграунд. Значит, это энергоэффективное ядро. А Мак остался на быстром ядре — поэтому у него разрыв поменьше.
[щелчок] Ещё энергоэффективное ядро смотрит вперёд всего на сотню команд. Сортировке, которая читает подряд, это почти не мешает. Узловой таблице — очень.
[→ следующий слайд]
──────────
Подсказки
• Тест: каждое чтение зависит от предыдущего, объём растёт; пунктир — L2. Это отдельная нагрузка, не сам дедуп.
• Айфон в utility: 2 ГГц, ступенька между 2 и 4 МБ — как у background, то есть E-ядро; в userInitiated — между 8 и 16 МБ.
• Мак в utility остался на P-ядре (L2 держится до 8 МБ), но дальше почти сразу память; почему — не проверяли.
• Если спросят «можно привязать поток к ядру?» — на Apple нет; режим влияет на выбор, но не гарантирует. «utility = E-ядро» проверено только на этом телефоне.
• Если спросят про нижнюю строку — окно (≈450 / ≈100) мерили на M2, чтения в полёте (≈28 / ≈18) — на айфоне.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«Работает на айфоне?» — примерно как отправить посылку в Новосибирск и не указать улицу. 
Даже если нам назвали процессор, то какое ядро внутри достанется — никто не обещал.
[→ следующий слайд]
──────────
Подсказки
• Метафора: «айфон» — это город, а ядро — улица; какое ядро достанется, никто не обещал.
• Если спросят «значит, поток можно закрепить за E-ядром?» — нет, мем не про привязку к ядру и не про то, что режим потока всегда означает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 этого мы всё-таки сравнивали со стандартной хэш-таблицей.
А плоская таблица? На P-ядре она шла вровень с сортировкой. Выше серой линии быстрее сортировка, ниже — плоская.
[щелчок] P-ядро: до полумиллиона чуть впереди плоская, на миллионе — ничья, дальше чуть быстрее сортировка.
[щелчок] E-ядро, наш режим utility: сортировка на больших данных обгоняет даже плоскую таблицу — вдвое.
[щелчок] Перелом там, где таблица перестаёт влезать в кэш своего ядра. На двести пятьдесят тысяч ключей она уже больше L2 энергоэффективного. На миллион — больше L2 производительного. Сортировка читает подряд — ей размер кэша почти не важен.
Одно устройство — но два разных ответа.
[→ следующий слайд]
──────────
Подсказки
• В клетке — время flat / время sort: больше 1 — быстрее сортировка. P-ядро — userInitiated, E-ядро — utility.
• Таблица flat: 256K — 4,5 МБ, 1M — 18 МБ; L2: E-ядро 4 МиБ, P-ядро 16 МиБ. На 1M на E-ядре: sort 44,6 против 93,1 нс у flat.
• Если спросят «почему сортировке кэш не важен?» — она читает и пишет подряд, данные подгружаются заранее. С P на E теряет ×2,2 (частота даёт ×1,7), flat — ×4,5.
• Если спросят «а на CI?» — там flat на 1M быстрее сортировки, ×2,0. На Маке в utility (1M) sort впереди, ×1,24.
• Если спросят «а при половине разных?» — та же картина: на E-ядре sort с 256K, на 4M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Подведем итоги и протестируем на разных режимах. Соберём всё в одну карту: задача одна — машины разные.
CI: хеш впереди до полумиллиона, сортировка — только на самом большом входе. Мак и айфон на производительном ядре: почти ничья, на больших входах — сортировка. Айфон в utility, на энергоэффективном ядре: сортировка уже с двухсот пятидесяти тысяч, на четырёх миллионах — в шесть с половиной раз.
А если взять лучшую хеш-таблицу?
[→ следующий слайд]
──────────
Подсказки
• В клетке — кто быстрее и во сколько раз; «≈» — разница меньше 5 %. Сравниваем алгоритмы внутри машины, не машины между собой.
• Айфон на E-ядре, 4M: sort 51,3 против 336,1 нс у хеша. Мак на 64K — хеш ×1,06, на границе порога.
• Если спросят «а при другой доле разных?» — при 10 % разных хеш выигрывает почти везде, при 100 % сортировка обгоняет unordered_set везде.
• Если спросят «а Мак в utility?» — полной строки нет: на 512K sort ×1,3, на 1M ×2,1.
• Если спросят про облачные macOS-раннеры — это виртуальные машины с одним типом ядер, режим потока там не уведёт поток на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теперь против плоской. На CI плоская быстрее сортировки везде, в два-три раза. На Маке и на P-ядре айфона плоская быстрее примерно на треть, но на самых больших входах сортировка её догоняет. А на E-ядре айфона сортировка обгоняет даже плоскую — в полтора-два раза на больших входах.
Один и тот же код, четыре окружения — и разные победители.
[→ следующий слайд]
──────────
Подсказки
• Те же замеры, что на прошлом слайде (половина id разных, «≈» — меньше 5 %), но соперник — плоская таблица flat_hash_set.
• Клетки P-ядер на 1M и 4M — по авторским замерам.
• Если спросят «почему на CI flat так далеко впереди?» — там стандартная сортировка с ветвлениями — подробнее на следующем слайде.
• Если спросят «почему на E-ядре sort выигрывает с 256K?» — таблица flat уже больше L2 E-ядра. На 4M: sort 51,3 против 95,5 нс у flat.
• Если спросят «а если все id разные?» — на E-ядре sort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подведем итоги.
Почему победитель меняется? В каждом опыте мы меняли ровно одно — поэтому можно сказать не только где, но и почему.
[щелчок] Библиотека. Тот же Мак, меняем только сортировку: с ветвлениями — сорок восемь наносекунд, без — девятнадцать. На CI стандартная сортировка как раз с ветвлениями — поэтому там выигрывает хеш.
[щелчок] Тип ядра. Тот же айфон, меняем только режим потока. Сортировка теряет вдвое — в основном частоту. Плоская таблица — в четыре с половиной раза, узловая — в семь.
[щелчок] Кэш ядра. Плоская таблица проигрывает ровно с того размера, где перестаёт помещаться в L2 своего ядра.
[щелчок] Данные. Мало разных — выигрывает хеш, все разные — сортировка.
Поэтому на вопрос «что быстрее» без условий ответить нельзя. Отвечать надо там, где код будет работать.
[→ следующий слайд]
──────────
Подсказки
• Почему данные решают: мало разных — в таблице всего 10 тыс. узлов, она целиком в кэше, и почти каждая вставка — «уже есть», без выделения памяти; а сортировке всё равно упорядочить весь миллион. Все разные — миллион узлов: каждая вставка выделяет память и промахивается мимо кэша, процессор ждёт память; сортировка читает подряд, и данные подгружаются заранее.
• Библиотека: Мак, сортировка 1M — 48,2 нс с ветвлениями против 18,7 без них (стандартная сортировка Apple — 18,9). На CI стандартная сортировка — 92, как вариант с ветвлениями (95); без ветвлений — 30.
• Тип ядра: айфон, 1M разных, userInitiated → utility: sort 20,0 → 44,8 нс; частота 3,46 → 2,0 ГГц даёт ×1,73 из ×2,2.
• Если спросят «на CI дело в кэше?» — нет, там хеш выигрывает из-за сортировки с ветвлениями.
• Если спросят «почему unordered_set так плоха?» — она выделяет узел на каждый новый ключ; когда все id разные, она последняя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Вернемся к нашему изначальному код-ревью. 
Снова вторник, семнадцать сорок. Тот же диф. За пять секунд сформулируйте один комментарий коллеге. [пауза 5 с, смотрю в зал]
[щелчок] Я бы попросил уточнения: «сделаем линейно» ещё не отвечает на вопрос задачи.
[щелчок] Контракт. Выход раньше был отсортирован. Теперь это порядок обхода таблицы. Кто использует прежнее свойство? Как минимум мы сами: отсортированные локальные id можно не сортировать заново.
[щелчок] Данные. Какие размеры и повторы? Локальные id мы храним отсортированными — может можно на этом придумать другое решение? (сортируем только дельту и сливаем)
[щелчок] Исполнение. На какой из трёх платформ получен замер? Какой контейнер, какая библиотека и какой режим? Соответствует ли это месту, где мы запускать будем?
Это те самые вопросы, которые мы задавали весь доклад, и на каждый теперь есть ответ из замеров. Вспомните свой выбор в начале — и решите для себя, сделали бы вы его сейчас.
[→ следующий слайд]
──────────
Подсказки
• Это тот же публичный диф из начала; результат в продакшене не заявляем.
• Если спросят «а как правильно?» — хранить локальные id отсортированными, сортировать только дельту и сливать: быстрее полной сортировки ×5,4 на Маке, ×7 на айфоне в utility, ×6,6 на CI. Подробно — запасной слайд про слияние.
• Если спросят «почему CI не поймал?» — CI честно мерит своё окружение: Xeon, libstdc++, обычный приоритет. Облачные macOS-раннеры — виртуалки с одним типом ядер, utility там не уведёт поток на E-ядро. Нужен хотя бы один перф-тест на устройстве в нужном режиме.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начал с вопроса: нужны ли ещё алгоритмы, если железо прощает? Мой Мак простил, CI даже похвалил, а айфон — нет. [пауза 2 с]
Только никто из них не ошибся: каждый честно ответил про свои условия. А я спрашивал не там и не в том режиме. [пауза 2 с]
Победителя нет — есть условия. Так что проверяйте свой код — это полезно. [щелчок] Проверено на себе.
[→ следующий слайд]
──────────
Подсказки
• Мак — ничья, CI — хеш ×1,1, айфон в utility — sort ×2,3 (полмиллиона id, половина разных; слайд с режимом потока).
• Говорить «в utility», а не «в фоне»: background — отдельный режим, iOS-разработчики заметят.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 оценка доклада: мне правда важна ваша обратная связь. Справа — мои контакты и материалы.
Спасибо за внимание! Буду рад ответить на ваши вопросы.
──────────
Подсказки
• QR слева — оценка доклада: https://app.talkmeter.ru/r/HF26/01a0d1e0-235a-7f79-8b90-842b4c3d02be
• QR справа — сайт с контактами и материалами: https://nagornov.tech
• Если спросят, где подробности, — в материалах на сайте (QR справа).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Основной рассказ завершён. Дальше — ответы на частые вопросы: выбираю нужный слайд по номеру.
[после ответа — к финалу с QR]
──────────
Подсказки
Слайды-ответы по порядку (позиции 42–50):
1. prod-v2 — Пользователь это заметит?
2. qos-bg-v2 — А если поднять приоритет?
3. merge-qa — Как сделать правильно?
4. method-qa — Как мерили?
5. nb-kernel — Можно прибить поток к ядру?
6. nb-lang — А в других языках?
7. when-which — Так что брать?
8. alloc-split-v4 — А если арена или pmr?
9. nb-dense — А если id плотные?
Остальные ответы — словами, банк ответов: prep/deck/v11_mac_wip/qa_bank.md.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лаборатории — один массив id: на миллионе пятьдесят миллисекунд у сортировки против ста шестидесяти семи у хеша. В настоящем синке сложнее.
Коллекций несколько — записи, вложения, метки, — и этап идёт на каждую. После хеша порядок потерян, и записи в базу уходят вразнобой. А первый синк после переустановки тащит весь аккаунт разом.
Три коллекции по миллиону — уже полсекунды против ста пятидесяти миллисекунд, и это ещё без базы. Это тестировщики и заметили. А слияние дельты — семь миллисекунд на коллекцию.
[после ответа — к финалу с QR]
──────────
Подсказки
• Лаборатория: iPhone 14 Pro, utility, 1M id, половина разных: 47,9 и 159,4 нс на число → ≈50 и ≈167 мс. На 512K: ≈24 и ≈55 мс (+31 мс), таблица ≈12 МиБ (оценка, не замер памяти).
• «3 коллекции × 1M» — оценка умножением лабораторных чисел, не замер синка. Запись в базу и влияние порядка не мерили.
• Сценарий (коллекции, порядок записи, первый синк) — [сверить с реальным кейсом].
• Слияние 1M + 64K: 6,7 мс; полная сортировка — 47, плоская таблица — 105, хеш из дифа — 502.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Поднять приоритет можно: в userInitiated и на Маке, и на айфоне почти ничья. Но синк — фоновая работа. Apple просит без действий пользователя держать приложение в utility и ниже, а в настоящем фоне система может срезать приоритет ещё сильнее.
В background ещё дороже — и сортировка впереди на обоих устройствах. Так что userInitiated прячет проблему, а не решает её. Дешевле поменять алгоритм: слияние дельты в utility — семь миллисекунд.
[после ответа — к финалу с QR]
──────────
Подсказки
• Условия: 512K id, половина разных; режим ставим через pthread_set_qos_class_self_np. iPhone 14 Pro, iOS 27.0.1.
• Частота E-ядра айфона, замер в том же потоке перед серией: utility — 2,0 ГГц, background — 0,6 ГГц; userInitiated — 3,46.
• Если спросят «почему в background у айфона разрыв меньше, чем в utility?» — не проверяли; гипотеза: на 0,6 ГГц сортировка теряет на частоте, а хеш и так ждёт память.
• Если спросят про BGTaskScheduler — настоящий фоновый запуск не мерили: ×2,3 — про «приложение открыто, синк идёт фоном».
• Если спросят «а если экран ждёт результат?» — приоритет поднимут, будет как в userInitiated.
• Мак в utility — отдельный прогон; userInitiated и background — другой.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сделать правильно? Перестать пересортировывать готовые данные. [пауза 2 с]
Старый код хранил локальные id отсортированными: один, три, семь. Пришла дельта: три, два, семь, два, девять.
Сортируем только дельту и убираем её повторы: два, три, семь, девять.
И сливаем две готовые последовательности: идём по обеим, меньшее записываем, равные — один раз. Один, два, три, семь, девять. Локальную часть повторно не сортировали.
В коде это три строки. Unique по дельте обязателен: set_union повторы внутри одного входа не схлопывает.
На Маке это быстрее полной сортировки в пять с лишним раз. На айфоне в utility — в семь: семь миллисекунд против сорока семи у сортировки и полсекунды у хеша из дифа. На CI — в шесть с половиной. Помните карту, где у каждой машины свой победитель? Здесь победитель один — везде. Мы не выбрали более удачный алгоритм, а убрали работу: сортируем только шестьдесят четыре тысячи новых и один раз проходим подряд. Слиянию почти всё равно, какая библиотека, сколько кэша и какое ядро.
А хеш-версия из дифа этот порядок ещё и ломает: после первой синхронизации локальная часть перемешана, и слиянию не на что опереться.
[после ответа — к финалу с QR]
──────────
Подсказки
• Условия: миллион отсортированных локальных id (2^20) + дельта 64K с половиной повторов. Это лабораторная цена этапа, не продуктовый замер.
• Если спросят «std::sort не заметит, что вход почти отсортирован?» — нет: ни std::sort, ни pdqsort, ни SIMD-сортировка этого не распознают, выигрыш даёт только слияние.
• Если спросят «есть ли это в стандартной библиотеке?» — да: std::flat_set::insert(range) в libc++ — тот же рецепт.
• Если спросят «а на CI с libc++?» — выигрыш меньше: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методику. Один и тот же C++-харнесс на трёх машинах, сборка -O3. Прогревочный блок выбрасываем, дальше семь блоков: в каждом все алгоритмы по очереди на одних и тех же входах, показываю медиану. На CI — три сессии.
Айфон работал от батареи, энергосбережение выключено, температура nominal весь прогон. Счётчики процессора — только на Маке. На CI в виртуалке их нет: там ошибки предсказателя — модель Valgrind, а время настоящее.
[после ответа — к финалу с QR]
──────────
Подсказки
• Порог «≈» — 5 %, одна цифра на всё: разброс блоков на P-ядрах 1–6 %. Mac E (background) шумный — 18–47 %.
• На Маке и айфоне — одна сессия; три — только на CI. Там ×1,12 на 512K повторилось во всех трёх сессиях, хеш впереди во всех 21 блоке.
• Вход: случайные 64-битные id, пул разных входов; копия входа — вне таймера, в таймере вся операция, проверка — после.
• Не мерили: холодный первый вызов, энергию, пиковую память, другие айфоны.
• Код и сырые CSV — в открытом репозитории, ссылка на сайте.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Нет. На Apple привязать поток к ядру нельзя — такого API нет. Единственный рычаг — класс QoS: он влияет на выбор ядра, но ничего не обещает, решает контроллер производительности. Поэтому какое ядро досталось, мы проверяли косвенно — лестницей задержек.
И даже если бы было можно: у A16 всего два быстрых ядра, и они нужны интерфейсу.
[после ответа — к финалу с QR]
──────────
Подсказки
• Тест в том же потоке прямо перед серией: айфон в utility — 2,0 ГГц, L1 64 КБ, L2 4 МБ, то есть E-ядро; в userInitiated — 3,46 ГГц. Сам дедуп не трассировали.
• Мак в utility остался на P-ядре: гарантии нет ни в одну сторону.
• Если спросят «а Swift Task(priority:)?» — приоритет задачи не выбирает поток; задача с главного актора может на нём и остаться, а await может поднять приоритет. Не мерили.
• Если спросят «а background?» — по исходникам планировщика контроллер не рекомендует для него P-ядра; на айфоне в background 0,6 ГГц.
• iPhone 14 Pro, iOS 27.0.1.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Дело не в языке, а в том, как устроена таблица. Узлы, как у unordered_set, есть в Java: HashSet — это узлы HashMap, да ещё упакованный Long. А Swift Set, Go с версии 1.24 и Rust — плоские таблицы, как наша flat. Python set тоже плоский, но каждое число в нём — объект.
Это по исходникам, языки я не мерил — множители из C++ не переносите. Но фон и E-ядро касаются любого языка: там даже плоская таблица проиграла сортировке вдвое. Проверяйте свой вариант на своём устройстве.
[после ответа — к финалу с QR]
──────────
Подсказки
• Swift Set: открытая адресация, хеш — SipHash со случайным сидом (дороже, чем в C++); sort() в Swift — своя сортировка, не std::sort.
• Kotlin distinct() — это LinkedHashSet: узлы.
• Python мерили только на облачном Xeon: set на миллионе id в 5 раз быстрее sorted — наоборот, чем в C++: сортировка ходит по указателям на объекты.
• Если спросят «а Android / NDK?» — там та же libc++, unordered_set тоже узловая; ядра и фон решает система и вендор.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какую таблицу брать?
Стандартная узловая — когда нужны её гарантии: указатели на элементы должны пережить вставки; значения большие или их нельзя перемещать; нужно перекладывать узлы между таблицами. Или когда нельзя тянуть зависимости — она есть везде.
Плоская — когда ключи маленькие, вставок и поисков много, а множество временное: собрали, выгрузили, забыли. И памяти она ест меньше.
У плоской своя цена. При росте все элементы переезжают — старые указатели умирают. Плохой хеш даёт длинные цепочки проб. Большие значения дорого перевозить при каждом росте. Если нужно и то и другое — есть гибриды: узлы остаются, а таблица адресов плоская, например absl::node_hash_set.
И ловушка в названии. В C++23 появился std::flat_set. Это не хеш-таблица, а отсортированный вектор — по сути, наш sort плюс unique в красивой коробке. [пауза]
[после ответа — к финалу с QR]
──────────
Подсказки
• Вывод доклада не «хеш плохо»: при 1 % разных id хеш быстрее сортировки в 3,3 раза; плоская на P-ядре идёт с сортировкой вровень. Проигрывает узловая на больших данных, особенно в фоне.
• Плоские: absl::flat_hash_set, boost::unordered_flat_set. Гибриды со стабильными указателями: absl::node_hash_set, boost::unordered_node_set.
• Память на ключ uint64: узловая ≈40 Б (узел 32 + ячейка 8), плоская ≈10–20 Б.
• Если спросят «почему стандарт не сделает плоскую?» — стандарт требует, чтобы указатели на элементы переживали рост, и даёт интерфейс корзин: это возможно только с узлами.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Мерили. Отдельный опыт на Маке: меняем только память под узлы. Обычный unordered_set — пятьдесят пять наносекунд.
Узлы из готового буфера, std::pmr, без единого malloc и free, — тридцать пять: в полтора раза быстрее. Аллокатор — примерно треть цены.
Ещё примерно треть — ожидание узлов. Его убирает только плоская таблица: узлов нет.
На CI pmr ускоряет в два с половиной раза. А на E-ядре айфона хеш даже с pmr в пять раз медленнее сортировки.
[после ответа — к финалу с QR]
──────────
Подсказки
• M2 Pro, P-ядро, вся операция: 55,1 → pmr 35,4 нс (×1,56) → плоская 15,6 (ещё ×2,3). «Треть» — верхняя оценка: pmr ещё и кладёт узлы подряд.
• iPhone, E-ядро (utility): 411 → pmr 249 → плоская 70 нс; сортировка там 44,8.
• Если спросят «а jemalloc / mimalloc?» — не мерили; на iOS аллокатор системный.
• Если спросят «pmr в прод?» — ×1,6, но до плоской ещё ×2,3, а сортировке аллокации не нужны вовсе.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Справедливо: в замерах id случайные 64-битные — чтобы раскладка не зависела от удачи. На плотных id узловой таблице везёт: хеш для целых — тождество, коллизий нет. На CI при половине повторов unordered_set на плотных id в 1,65 раза быстрее, чем на случайных, и обгоняет сортировку в 1,7 раза. Сортировке и плоской таблице раскладка безразлична.
Обратный край: id с одинаковыми младшими битами — например, с шагом степени двойки — в libc++ падают в одну ячейку, и вставка дорожает в полторы тысячи раз.
На айфоне плотные id не мерил. А для отсортированных rowid лучший вариант — вообще не хеш и не sort, а слияние дельты.
[после ответа — к финалу с QR]
──────────
Подсказки
• Плотные id: 1..U, перемешаны; N = 2^20, половина разных. Radix на плотных делает 3 прохода вместо 8: 21,6 против 38,0 нс.
• Ловушка libc++: 65 536 id с шагом 1024 — 64 ячейки, вставка ×70; шаг 2^20 — одна ячейка, ×1 500. libstdc++ это скрывает простым модулем, Abseil и Boost перемешивают хеш.
• Если спросят «что делать?» — посмотреть распределение своих id; на сомнительных ключах брать таблицу с перемешивающим хешем.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video" Target="../media/media-19-4.mp4"/><Relationship Id="rId5" Type="http://schemas.microsoft.com/office/2007/relationships/media" Target="../media/media-19-4.mp4"/><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video" Target="../media/media-21-2.mp4"/><Relationship Id="rId3" Type="http://schemas.microsoft.com/office/2007/relationships/media" Target="../media/media-21-2.mp4"/><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video" Target="../media/media-25-4.mp4"/><Relationship Id="rId5" Type="http://schemas.microsoft.com/office/2007/relationships/media" Target="../media/media-25-4.mp4"/><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video" Target="../media/media-30-4.mp4"/><Relationship Id="rId5" Type="http://schemas.microsoft.com/office/2007/relationships/media" Target="../media/media-30-4.mp4"/><Relationship Id="rId6" Type="http://schemas.openxmlformats.org/officeDocument/2006/relationships/image" Target="../media/image-30-6.png"/><Relationship Id="rId7" Type="http://schemas.openxmlformats.org/officeDocument/2006/relationships/video" Target="../media/media-30-7.mp4"/><Relationship Id="rId8" Type="http://schemas.microsoft.com/office/2007/relationships/media" Target="../media/media-30-7.mp4"/><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Слайд 1">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732494" y="2032000"/>
            <a:ext cx="4721412" cy="401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Слай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Слайд 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 · шаг 1">    </p:cNvPr>
          <p:cNvPicPr>
            <a:picLocks noChangeAspect="1"/>
          </p:cNvPicPr>
          <p:nvPr/>
        </p:nvPicPr>
        <p:blipFill>
          <a:blip r:embed="rId2"/>
          <a:stretch>
            <a:fillRect/>
          </a:stretch>
        </p:blipFill>
        <p:spPr>
          <a:xfrm>
            <a:off x="1219200" y="1714500"/>
            <a:ext cx="2616200" cy="4483100"/>
          </a:xfrm>
          <a:prstGeom prst="rect">
            <a:avLst/>
          </a:prstGeom>
        </p:spPr>
      </p:pic>
      <p:pic>
        <p:nvPicPr>
          <p:cNvPr id="4" name="Image 2" descr="Слайд 3 · шаг 2">    </p:cNvPr>
          <p:cNvPicPr>
            <a:picLocks noChangeAspect="1"/>
          </p:cNvPicPr>
          <p:nvPr/>
        </p:nvPicPr>
        <p:blipFill>
          <a:blip r:embed="rId3"/>
          <a:stretch>
            <a:fillRect/>
          </a:stretch>
        </p:blipFill>
        <p:spPr>
          <a:xfrm>
            <a:off x="4438650" y="1981200"/>
            <a:ext cx="3321050" cy="4216400"/>
          </a:xfrm>
          <a:prstGeom prst="rect">
            <a:avLst/>
          </a:prstGeom>
        </p:spPr>
      </p:pic>
      <p:pic>
        <p:nvPicPr>
          <p:cNvPr id="5" name="Image 3" descr="Слайд 3 · шаг 3">    </p:cNvPr>
          <p:cNvPicPr>
            <a:picLocks noChangeAspect="1"/>
          </p:cNvPicPr>
          <p:nvPr/>
        </p:nvPicPr>
        <p:blipFill>
          <a:blip r:embed="rId4"/>
          <a:stretch>
            <a:fillRect/>
          </a:stretch>
        </p:blipFill>
        <p:spPr>
          <a:xfrm>
            <a:off x="8267700" y="2076450"/>
            <a:ext cx="2813050" cy="4121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Слайд 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 · шаг 1">    </p:cNvPr>
          <p:cNvPicPr>
            <a:picLocks noChangeAspect="1"/>
          </p:cNvPicPr>
          <p:nvPr/>
        </p:nvPicPr>
        <p:blipFill>
          <a:blip r:embed="rId2"/>
          <a:stretch>
            <a:fillRect/>
          </a:stretch>
        </p:blipFill>
        <p:spPr>
          <a:xfrm>
            <a:off x="6731000" y="2235200"/>
            <a:ext cx="3854450" cy="355600"/>
          </a:xfrm>
          <a:prstGeom prst="rect">
            <a:avLst/>
          </a:prstGeom>
        </p:spPr>
      </p:pic>
      <p:pic>
        <p:nvPicPr>
          <p:cNvPr id="4" name="Image 2" descr="Слайд 4 · шаг 2">    </p:cNvPr>
          <p:cNvPicPr>
            <a:picLocks noChangeAspect="1"/>
          </p:cNvPicPr>
          <p:nvPr/>
        </p:nvPicPr>
        <p:blipFill>
          <a:blip r:embed="rId3"/>
          <a:stretch>
            <a:fillRect/>
          </a:stretch>
        </p:blipFill>
        <p:spPr>
          <a:xfrm>
            <a:off x="6724650" y="3498850"/>
            <a:ext cx="2774950" cy="361950"/>
          </a:xfrm>
          <a:prstGeom prst="rect">
            <a:avLst/>
          </a:prstGeom>
        </p:spPr>
      </p:pic>
      <p:pic>
        <p:nvPicPr>
          <p:cNvPr id="5" name="Image 3" descr="Слайд 4 · шаг 3">    </p:cNvPr>
          <p:cNvPicPr>
            <a:picLocks noChangeAspect="1"/>
          </p:cNvPicPr>
          <p:nvPr/>
        </p:nvPicPr>
        <p:blipFill>
          <a:blip r:embed="rId4"/>
          <a:stretch>
            <a:fillRect/>
          </a:stretch>
        </p:blipFill>
        <p:spPr>
          <a:xfrm>
            <a:off x="6724650" y="4635500"/>
            <a:ext cx="2311400" cy="68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Слайд 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5 · шаг 1">    </p:cNvPr>
          <p:cNvPicPr>
            <a:picLocks noChangeAspect="1"/>
          </p:cNvPicPr>
          <p:nvPr/>
        </p:nvPicPr>
        <p:blipFill>
          <a:blip r:embed="rId2"/>
          <a:stretch>
            <a:fillRect/>
          </a:stretch>
        </p:blipFill>
        <p:spPr>
          <a:xfrm>
            <a:off x="755650" y="4851400"/>
            <a:ext cx="6546850" cy="787400"/>
          </a:xfrm>
          <a:prstGeom prst="rect">
            <a:avLst/>
          </a:prstGeom>
        </p:spPr>
      </p:pic>
      <p:pic>
        <p:nvPicPr>
          <p:cNvPr id="4" name="Image 2" descr="Слайд 5 · шаг 2">    </p:cNvPr>
          <p:cNvPicPr>
            <a:picLocks noChangeAspect="1"/>
          </p:cNvPicPr>
          <p:nvPr/>
        </p:nvPicPr>
        <p:blipFill>
          <a:blip r:embed="rId3"/>
          <a:stretch>
            <a:fillRect/>
          </a:stretch>
        </p:blipFill>
        <p:spPr>
          <a:xfrm>
            <a:off x="7086600" y="4546600"/>
            <a:ext cx="4375150" cy="154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Слайд 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6 · шаг 1">    </p:cNvPr>
          <p:cNvPicPr>
            <a:picLocks noChangeAspect="1"/>
          </p:cNvPicPr>
          <p:nvPr/>
        </p:nvPicPr>
        <p:blipFill>
          <a:blip r:embed="rId2"/>
          <a:stretch>
            <a:fillRect/>
          </a:stretch>
        </p:blipFill>
        <p:spPr>
          <a:xfrm>
            <a:off x="2368550" y="1739900"/>
            <a:ext cx="3422650" cy="4610100"/>
          </a:xfrm>
          <a:prstGeom prst="rect">
            <a:avLst/>
          </a:prstGeom>
        </p:spPr>
      </p:pic>
      <p:pic>
        <p:nvPicPr>
          <p:cNvPr id="4" name="Image 2" descr="Слайд 6 · шаг 2">    </p:cNvPr>
          <p:cNvPicPr>
            <a:picLocks noChangeAspect="1"/>
          </p:cNvPicPr>
          <p:nvPr/>
        </p:nvPicPr>
        <p:blipFill>
          <a:blip r:embed="rId3"/>
          <a:stretch>
            <a:fillRect/>
          </a:stretch>
        </p:blipFill>
        <p:spPr>
          <a:xfrm>
            <a:off x="7112000" y="1739900"/>
            <a:ext cx="2762250" cy="4610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Слай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Слайд 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8 · шаг 1">    </p:cNvPr>
          <p:cNvPicPr>
            <a:picLocks noChangeAspect="1"/>
          </p:cNvPicPr>
          <p:nvPr/>
        </p:nvPicPr>
        <p:blipFill>
          <a:blip r:embed="rId2"/>
          <a:stretch>
            <a:fillRect/>
          </a:stretch>
        </p:blipFill>
        <p:spPr>
          <a:xfrm>
            <a:off x="742950" y="2400300"/>
            <a:ext cx="10706100" cy="939800"/>
          </a:xfrm>
          <a:prstGeom prst="rect">
            <a:avLst/>
          </a:prstGeom>
        </p:spPr>
      </p:pic>
      <p:pic>
        <p:nvPicPr>
          <p:cNvPr id="4" name="Image 2" descr="Слайд 8 · шаг 2">    </p:cNvPr>
          <p:cNvPicPr>
            <a:picLocks noChangeAspect="1"/>
          </p:cNvPicPr>
          <p:nvPr/>
        </p:nvPicPr>
        <p:blipFill>
          <a:blip r:embed="rId3"/>
          <a:stretch>
            <a:fillRect/>
          </a:stretch>
        </p:blipFill>
        <p:spPr>
          <a:xfrm>
            <a:off x="749300" y="3289300"/>
            <a:ext cx="10699750" cy="863600"/>
          </a:xfrm>
          <a:prstGeom prst="rect">
            <a:avLst/>
          </a:prstGeom>
        </p:spPr>
      </p:pic>
      <p:pic>
        <p:nvPicPr>
          <p:cNvPr id="5" name="Image 3" descr="Слайд 8 · шаг 3">    </p:cNvPr>
          <p:cNvPicPr>
            <a:picLocks noChangeAspect="1"/>
          </p:cNvPicPr>
          <p:nvPr/>
        </p:nvPicPr>
        <p:blipFill>
          <a:blip r:embed="rId4"/>
          <a:stretch>
            <a:fillRect/>
          </a:stretch>
        </p:blipFill>
        <p:spPr>
          <a:xfrm>
            <a:off x="749300" y="4178300"/>
            <a:ext cx="10699750" cy="863600"/>
          </a:xfrm>
          <a:prstGeom prst="rect">
            <a:avLst/>
          </a:prstGeom>
        </p:spPr>
      </p:pic>
      <p:pic>
        <p:nvPicPr>
          <p:cNvPr id="6" name="Image 4" descr="Слайд 8 · шаг 4">    </p:cNvPr>
          <p:cNvPicPr>
            <a:picLocks noChangeAspect="1"/>
          </p:cNvPicPr>
          <p:nvPr/>
        </p:nvPicPr>
        <p:blipFill>
          <a:blip r:embed="rId5"/>
          <a:stretch>
            <a:fillRect/>
          </a:stretch>
        </p:blipFill>
        <p:spPr>
          <a:xfrm>
            <a:off x="742950" y="5467350"/>
            <a:ext cx="6527800" cy="292100"/>
          </a:xfrm>
          <a:prstGeom prst="rect">
            <a:avLst/>
          </a:prstGeom>
        </p:spPr>
      </p:pic>
      <p:pic>
        <p:nvPicPr>
          <p:cNvPr id="7" name="Image 5" descr="Слайд 8 · шаг 5">    </p:cNvPr>
          <p:cNvPicPr>
            <a:picLocks noChangeAspect="1"/>
          </p:cNvPicPr>
          <p:nvPr/>
        </p:nvPicPr>
        <p:blipFill>
          <a:blip r:embed="rId6"/>
          <a:stretch>
            <a:fillRect/>
          </a:stretch>
        </p:blipFill>
        <p:spPr>
          <a:xfrm>
            <a:off x="762000" y="4508500"/>
            <a:ext cx="9601200" cy="147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Слайд 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9 · шаг 1">    </p:cNvPr>
          <p:cNvPicPr>
            <a:picLocks noChangeAspect="1"/>
          </p:cNvPicPr>
          <p:nvPr/>
        </p:nvPicPr>
        <p:blipFill>
          <a:blip r:embed="rId2"/>
          <a:stretch>
            <a:fillRect/>
          </a:stretch>
        </p:blipFill>
        <p:spPr>
          <a:xfrm>
            <a:off x="9550400" y="3759200"/>
            <a:ext cx="571500" cy="565150"/>
          </a:xfrm>
          <a:prstGeom prst="rect">
            <a:avLst/>
          </a:prstGeom>
        </p:spPr>
      </p:pic>
      <p:pic>
        <p:nvPicPr>
          <p:cNvPr id="4" name="Image 2" descr="Слайд 9 · шаг 2">    </p:cNvPr>
          <p:cNvPicPr>
            <a:picLocks noChangeAspect="1"/>
          </p:cNvPicPr>
          <p:nvPr/>
        </p:nvPicPr>
        <p:blipFill>
          <a:blip r:embed="rId3"/>
          <a:stretch>
            <a:fillRect/>
          </a:stretch>
        </p:blipFill>
        <p:spPr>
          <a:xfrm>
            <a:off x="3194050" y="3759200"/>
            <a:ext cx="7804150" cy="1257300"/>
          </a:xfrm>
          <a:prstGeom prst="rect">
            <a:avLst/>
          </a:prstGeom>
        </p:spPr>
      </p:pic>
      <p:pic>
        <p:nvPicPr>
          <p:cNvPr id="5" name="Image 3" descr="Слайд 9 · шаг 3">    </p:cNvPr>
          <p:cNvPicPr>
            <a:picLocks noChangeAspect="1"/>
          </p:cNvPicPr>
          <p:nvPr/>
        </p:nvPicPr>
        <p:blipFill>
          <a:blip r:embed="rId4"/>
          <a:stretch>
            <a:fillRect/>
          </a:stretch>
        </p:blipFill>
        <p:spPr>
          <a:xfrm>
            <a:off x="3263900" y="3759200"/>
            <a:ext cx="571500" cy="565150"/>
          </a:xfrm>
          <a:prstGeom prst="rect">
            <a:avLst/>
          </a:prstGeom>
        </p:spPr>
      </p:pic>
      <p:pic>
        <p:nvPicPr>
          <p:cNvPr id="6" name="Image 4" descr="Слайд 9 · шаг 4">    </p:cNvPr>
          <p:cNvPicPr>
            <a:picLocks noChangeAspect="1"/>
          </p:cNvPicPr>
          <p:nvPr/>
        </p:nvPicPr>
        <p:blipFill>
          <a:blip r:embed="rId5"/>
          <a:stretch>
            <a:fillRect/>
          </a:stretch>
        </p:blipFill>
        <p:spPr>
          <a:xfrm>
            <a:off x="5359400" y="3759200"/>
            <a:ext cx="571500" cy="565150"/>
          </a:xfrm>
          <a:prstGeom prst="rect">
            <a:avLst/>
          </a:prstGeom>
        </p:spPr>
      </p:pic>
      <p:pic>
        <p:nvPicPr>
          <p:cNvPr id="7" name="Image 5" descr="Слайд 9 · шаг 5">    </p:cNvPr>
          <p:cNvPicPr>
            <a:picLocks noChangeAspect="1"/>
          </p:cNvPicPr>
          <p:nvPr/>
        </p:nvPicPr>
        <p:blipFill>
          <a:blip r:embed="rId6"/>
          <a:stretch>
            <a:fillRect/>
          </a:stretch>
        </p:blipFill>
        <p:spPr>
          <a:xfrm>
            <a:off x="749300" y="1809750"/>
            <a:ext cx="7251700" cy="3829050"/>
          </a:xfrm>
          <a:prstGeom prst="rect">
            <a:avLst/>
          </a:prstGeom>
        </p:spPr>
      </p:pic>
      <p:pic>
        <p:nvPicPr>
          <p:cNvPr id="8" name="Image 6" descr="Слайд 9 · шаг 6">    </p:cNvPr>
          <p:cNvPicPr>
            <a:picLocks noChangeAspect="1"/>
          </p:cNvPicPr>
          <p:nvPr/>
        </p:nvPicPr>
        <p:blipFill>
          <a:blip r:embed="rId7"/>
          <a:stretch>
            <a:fillRect/>
          </a:stretch>
        </p:blipFill>
        <p:spPr>
          <a:xfrm>
            <a:off x="5956300" y="3759200"/>
            <a:ext cx="571500" cy="565150"/>
          </a:xfrm>
          <a:prstGeom prst="rect">
            <a:avLst/>
          </a:prstGeom>
        </p:spPr>
      </p:pic>
      <p:pic>
        <p:nvPicPr>
          <p:cNvPr id="9" name="Image 7" descr="Слайд 9 · шаг 7">    </p:cNvPr>
          <p:cNvPicPr>
            <a:picLocks noChangeAspect="1"/>
          </p:cNvPicPr>
          <p:nvPr/>
        </p:nvPicPr>
        <p:blipFill>
          <a:blip r:embed="rId8"/>
          <a:stretch>
            <a:fillRect/>
          </a:stretch>
        </p:blipFill>
        <p:spPr>
          <a:xfrm>
            <a:off x="6553200" y="3759200"/>
            <a:ext cx="571500" cy="565150"/>
          </a:xfrm>
          <a:prstGeom prst="rect">
            <a:avLst/>
          </a:prstGeom>
        </p:spPr>
      </p:pic>
      <p:pic>
        <p:nvPicPr>
          <p:cNvPr id="10" name="Image 8" descr="Слайд 9 · шаг 8">    </p:cNvPr>
          <p:cNvPicPr>
            <a:picLocks noChangeAspect="1"/>
          </p:cNvPicPr>
          <p:nvPr/>
        </p:nvPicPr>
        <p:blipFill>
          <a:blip r:embed="rId9"/>
          <a:stretch>
            <a:fillRect/>
          </a:stretch>
        </p:blipFill>
        <p:spPr>
          <a:xfrm>
            <a:off x="7454900" y="3759200"/>
            <a:ext cx="571500" cy="565150"/>
          </a:xfrm>
          <a:prstGeom prst="rect">
            <a:avLst/>
          </a:prstGeom>
        </p:spPr>
      </p:pic>
      <p:pic>
        <p:nvPicPr>
          <p:cNvPr id="11" name="Image 9" descr="Слайд 9 · шаг 9">    </p:cNvPr>
          <p:cNvPicPr>
            <a:picLocks noChangeAspect="1"/>
          </p:cNvPicPr>
          <p:nvPr/>
        </p:nvPicPr>
        <p:blipFill>
          <a:blip r:embed="rId10"/>
          <a:stretch>
            <a:fillRect/>
          </a:stretch>
        </p:blipFill>
        <p:spPr>
          <a:xfrm>
            <a:off x="762000" y="5384800"/>
            <a:ext cx="7493000" cy="25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1500"/>
                            </p:stCondLst>
                            <p:childTnLst>
                              <p:par>
                                <p:cTn id="36" presetID="10"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Слайд 1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0 · шаг 1">    </p:cNvPr>
          <p:cNvPicPr>
            <a:picLocks noChangeAspect="1"/>
          </p:cNvPicPr>
          <p:nvPr/>
        </p:nvPicPr>
        <p:blipFill>
          <a:blip r:embed="rId2"/>
          <a:stretch>
            <a:fillRect/>
          </a:stretch>
        </p:blipFill>
        <p:spPr>
          <a:xfrm>
            <a:off x="6623050" y="1905000"/>
            <a:ext cx="3384550" cy="2540000"/>
          </a:xfrm>
          <a:prstGeom prst="rect">
            <a:avLst/>
          </a:prstGeom>
        </p:spPr>
      </p:pic>
      <p:pic>
        <p:nvPicPr>
          <p:cNvPr id="4" name="Image 2" descr="Слайд 10 · шаг 2">    </p:cNvPr>
          <p:cNvPicPr>
            <a:picLocks noChangeAspect="1"/>
          </p:cNvPicPr>
          <p:nvPr/>
        </p:nvPicPr>
        <p:blipFill>
          <a:blip r:embed="rId3"/>
          <a:stretch>
            <a:fillRect/>
          </a:stretch>
        </p:blipFill>
        <p:spPr>
          <a:xfrm>
            <a:off x="781050" y="5054600"/>
            <a:ext cx="75184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Слайд 1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1 · шаг 1">    </p:cNvPr>
          <p:cNvPicPr>
            <a:picLocks noChangeAspect="1"/>
          </p:cNvPicPr>
          <p:nvPr/>
        </p:nvPicPr>
        <p:blipFill>
          <a:blip r:embed="rId2"/>
          <a:stretch>
            <a:fillRect/>
          </a:stretch>
        </p:blipFill>
        <p:spPr>
          <a:xfrm>
            <a:off x="920750" y="1949450"/>
            <a:ext cx="3124200" cy="3238500"/>
          </a:xfrm>
          <a:prstGeom prst="rect">
            <a:avLst/>
          </a:prstGeom>
        </p:spPr>
      </p:pic>
      <p:pic>
        <p:nvPicPr>
          <p:cNvPr id="4" name="Image 2" descr="Слайд 11 · шаг 2">    </p:cNvPr>
          <p:cNvPicPr>
            <a:picLocks noChangeAspect="1"/>
          </p:cNvPicPr>
          <p:nvPr/>
        </p:nvPicPr>
        <p:blipFill>
          <a:blip r:embed="rId3"/>
          <a:stretch>
            <a:fillRect/>
          </a:stretch>
        </p:blipFill>
        <p:spPr>
          <a:xfrm>
            <a:off x="5238750" y="1841500"/>
            <a:ext cx="2254250" cy="3409950"/>
          </a:xfrm>
          <a:prstGeom prst="rect">
            <a:avLst/>
          </a:prstGeom>
        </p:spPr>
      </p:pic>
      <p:pic>
        <p:nvPicPr>
          <p:cNvPr id="5" name="Image 3" descr="Слайд 11 · шаг 3">    </p:cNvPr>
          <p:cNvPicPr>
            <a:picLocks noChangeAspect="1"/>
          </p:cNvPicPr>
          <p:nvPr/>
        </p:nvPicPr>
        <p:blipFill>
          <a:blip r:embed="rId4"/>
          <a:stretch>
            <a:fillRect/>
          </a:stretch>
        </p:blipFill>
        <p:spPr>
          <a:xfrm>
            <a:off x="8578850" y="1714500"/>
            <a:ext cx="2520950" cy="3536950"/>
          </a:xfrm>
          <a:prstGeom prst="rect">
            <a:avLst/>
          </a:prstGeom>
        </p:spPr>
      </p:pic>
      <p:pic>
        <p:nvPicPr>
          <p:cNvPr id="6" name="Image 4" descr="Слайд 11 · шаг 4">    </p:cNvPr>
          <p:cNvPicPr>
            <a:picLocks noChangeAspect="1"/>
          </p:cNvPicPr>
          <p:nvPr/>
        </p:nvPicPr>
        <p:blipFill>
          <a:blip r:embed="rId5"/>
          <a:stretch>
            <a:fillRect/>
          </a:stretch>
        </p:blipFill>
        <p:spPr>
          <a:xfrm>
            <a:off x="768350" y="5461000"/>
            <a:ext cx="4419600" cy="825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Слай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Слайд 1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3 · шаг 1">    </p:cNvPr>
          <p:cNvPicPr>
            <a:picLocks noChangeAspect="1"/>
          </p:cNvPicPr>
          <p:nvPr/>
        </p:nvPicPr>
        <p:blipFill>
          <a:blip r:embed="rId2"/>
          <a:stretch>
            <a:fillRect/>
          </a:stretch>
        </p:blipFill>
        <p:spPr>
          <a:xfrm>
            <a:off x="742950" y="2425700"/>
            <a:ext cx="3365500" cy="977900"/>
          </a:xfrm>
          <a:prstGeom prst="rect">
            <a:avLst/>
          </a:prstGeom>
        </p:spPr>
      </p:pic>
      <p:pic>
        <p:nvPicPr>
          <p:cNvPr id="4" name="Image 2" descr="Слайд 13 · шаг 2">    </p:cNvPr>
          <p:cNvPicPr>
            <a:picLocks noChangeAspect="1"/>
          </p:cNvPicPr>
          <p:nvPr/>
        </p:nvPicPr>
        <p:blipFill>
          <a:blip r:embed="rId3"/>
          <a:stretch>
            <a:fillRect/>
          </a:stretch>
        </p:blipFill>
        <p:spPr>
          <a:xfrm>
            <a:off x="742950" y="3702050"/>
            <a:ext cx="7962900" cy="971550"/>
          </a:xfrm>
          <a:prstGeom prst="rect">
            <a:avLst/>
          </a:prstGeom>
        </p:spPr>
      </p:pic>
      <p:pic>
        <p:nvPicPr>
          <p:cNvPr id="5" name="Image 3" descr="Слайд 13 · шаг 3">    </p:cNvPr>
          <p:cNvPicPr>
            <a:picLocks noChangeAspect="1"/>
          </p:cNvPicPr>
          <p:nvPr/>
        </p:nvPicPr>
        <p:blipFill>
          <a:blip r:embed="rId4"/>
          <a:stretch>
            <a:fillRect/>
          </a:stretch>
        </p:blipFill>
        <p:spPr>
          <a:xfrm>
            <a:off x="8375650" y="2311400"/>
            <a:ext cx="3028950" cy="1333500"/>
          </a:xfrm>
          <a:prstGeom prst="rect">
            <a:avLst/>
          </a:prstGeom>
        </p:spPr>
      </p:pic>
      <p:pic>
        <p:nvPicPr>
          <p:cNvPr id="6" name="Image 4" descr="Слайд 13 · шаг 4">    </p:cNvPr>
          <p:cNvPicPr>
            <a:picLocks noChangeAspect="1"/>
          </p:cNvPicPr>
          <p:nvPr/>
        </p:nvPicPr>
        <p:blipFill>
          <a:blip r:embed="rId5"/>
          <a:stretch>
            <a:fillRect/>
          </a:stretch>
        </p:blipFill>
        <p:spPr>
          <a:xfrm>
            <a:off x="762000" y="5270500"/>
            <a:ext cx="4927600" cy="736600"/>
          </a:xfrm>
          <a:prstGeom prst="rect">
            <a:avLst/>
          </a:prstGeom>
        </p:spPr>
      </p:pic>
      <p:pic>
        <p:nvPicPr>
          <p:cNvPr id="7" name="Image 5" descr="Слайд 13 · шаг 5">    </p:cNvPr>
          <p:cNvPicPr>
            <a:picLocks noChangeAspect="1"/>
          </p:cNvPicPr>
          <p:nvPr/>
        </p:nvPicPr>
        <p:blipFill>
          <a:blip r:embed="rId6"/>
          <a:stretch>
            <a:fillRect/>
          </a:stretch>
        </p:blipFill>
        <p:spPr>
          <a:xfrm>
            <a:off x="5905500" y="5270500"/>
            <a:ext cx="2705100" cy="736600"/>
          </a:xfrm>
          <a:prstGeom prst="rect">
            <a:avLst/>
          </a:prstGeom>
        </p:spPr>
      </p:pic>
      <p:pic>
        <p:nvPicPr>
          <p:cNvPr id="8" name="Image 6" descr="Слайд 13 · шаг 6">    </p:cNvPr>
          <p:cNvPicPr>
            <a:picLocks noChangeAspect="1"/>
          </p:cNvPicPr>
          <p:nvPr/>
        </p:nvPicPr>
        <p:blipFill>
          <a:blip r:embed="rId7"/>
          <a:stretch>
            <a:fillRect/>
          </a:stretch>
        </p:blipFill>
        <p:spPr>
          <a:xfrm>
            <a:off x="8826500" y="5270500"/>
            <a:ext cx="2660650" cy="73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Слайд 1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4 · шаг 1">    </p:cNvPr>
          <p:cNvPicPr>
            <a:picLocks noChangeAspect="1"/>
          </p:cNvPicPr>
          <p:nvPr/>
        </p:nvPicPr>
        <p:blipFill>
          <a:blip r:embed="rId2"/>
          <a:stretch>
            <a:fillRect/>
          </a:stretch>
        </p:blipFill>
        <p:spPr>
          <a:xfrm>
            <a:off x="742950" y="2457450"/>
            <a:ext cx="10699750" cy="946150"/>
          </a:xfrm>
          <a:prstGeom prst="rect">
            <a:avLst/>
          </a:prstGeom>
        </p:spPr>
      </p:pic>
      <p:pic>
        <p:nvPicPr>
          <p:cNvPr id="4" name="Image 2" descr="Слайд 14 · шаг 2">    </p:cNvPr>
          <p:cNvPicPr>
            <a:picLocks noChangeAspect="1"/>
          </p:cNvPicPr>
          <p:nvPr/>
        </p:nvPicPr>
        <p:blipFill>
          <a:blip r:embed="rId3"/>
          <a:stretch>
            <a:fillRect/>
          </a:stretch>
        </p:blipFill>
        <p:spPr>
          <a:xfrm>
            <a:off x="3829050" y="3733800"/>
            <a:ext cx="7613650" cy="736600"/>
          </a:xfrm>
          <a:prstGeom prst="rect">
            <a:avLst/>
          </a:prstGeom>
        </p:spPr>
      </p:pic>
      <p:pic>
        <p:nvPicPr>
          <p:cNvPr id="5" name="Image 3" descr="Слайд 14 · шаг 3">    </p:cNvPr>
          <p:cNvPicPr>
            <a:picLocks noChangeAspect="1"/>
          </p:cNvPicPr>
          <p:nvPr/>
        </p:nvPicPr>
        <p:blipFill>
          <a:blip r:embed="rId4"/>
          <a:stretch>
            <a:fillRect/>
          </a:stretch>
        </p:blipFill>
        <p:spPr>
          <a:xfrm>
            <a:off x="755650" y="5118100"/>
            <a:ext cx="5416550" cy="952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Слайд 1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5 · шаг 1">    </p:cNvPr>
          <p:cNvPicPr>
            <a:picLocks noChangeAspect="1"/>
          </p:cNvPicPr>
          <p:nvPr/>
        </p:nvPicPr>
        <p:blipFill>
          <a:blip r:embed="rId2"/>
          <a:stretch>
            <a:fillRect/>
          </a:stretch>
        </p:blipFill>
        <p:spPr>
          <a:xfrm>
            <a:off x="742950" y="2438400"/>
            <a:ext cx="3676650" cy="3359150"/>
          </a:xfrm>
          <a:prstGeom prst="rect">
            <a:avLst/>
          </a:prstGeom>
        </p:spPr>
      </p:pic>
      <p:pic>
        <p:nvPicPr>
          <p:cNvPr id="4" name="Image 2" descr="Слайд 15 · шаг 2">    </p:cNvPr>
          <p:cNvPicPr>
            <a:picLocks noChangeAspect="1"/>
          </p:cNvPicPr>
          <p:nvPr/>
        </p:nvPicPr>
        <p:blipFill>
          <a:blip r:embed="rId3"/>
          <a:stretch>
            <a:fillRect/>
          </a:stretch>
        </p:blipFill>
        <p:spPr>
          <a:xfrm>
            <a:off x="4768850" y="2432050"/>
            <a:ext cx="6680200" cy="3371850"/>
          </a:xfrm>
          <a:prstGeom prst="rect">
            <a:avLst/>
          </a:prstGeom>
        </p:spPr>
      </p:pic>
      <p:pic>
        <p:nvPicPr>
          <p:cNvPr id="5" name="Image 3" descr="Слайд 15 · шаг 3">    </p:cNvPr>
          <p:cNvPicPr>
            <a:picLocks noChangeAspect="1"/>
          </p:cNvPicPr>
          <p:nvPr/>
        </p:nvPicPr>
        <p:blipFill>
          <a:blip r:embed="rId4"/>
          <a:stretch>
            <a:fillRect/>
          </a:stretch>
        </p:blipFill>
        <p:spPr>
          <a:xfrm>
            <a:off x="4140200" y="3270250"/>
            <a:ext cx="6515100" cy="254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Слайд 1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6 · шаг 1">    </p:cNvPr>
          <p:cNvPicPr>
            <a:picLocks noChangeAspect="1"/>
          </p:cNvPicPr>
          <p:nvPr/>
        </p:nvPicPr>
        <p:blipFill>
          <a:blip r:embed="rId2"/>
          <a:stretch>
            <a:fillRect/>
          </a:stretch>
        </p:blipFill>
        <p:spPr>
          <a:xfrm>
            <a:off x="742950" y="2425700"/>
            <a:ext cx="4806950" cy="977900"/>
          </a:xfrm>
          <a:prstGeom prst="rect">
            <a:avLst/>
          </a:prstGeom>
        </p:spPr>
      </p:pic>
      <p:pic>
        <p:nvPicPr>
          <p:cNvPr id="4" name="Image 2" descr="Слайд 16 · шаг 2">    </p:cNvPr>
          <p:cNvPicPr>
            <a:picLocks noChangeAspect="1"/>
          </p:cNvPicPr>
          <p:nvPr/>
        </p:nvPicPr>
        <p:blipFill>
          <a:blip r:embed="rId3"/>
          <a:stretch>
            <a:fillRect/>
          </a:stretch>
        </p:blipFill>
        <p:spPr>
          <a:xfrm>
            <a:off x="742950" y="3702050"/>
            <a:ext cx="7874000" cy="971550"/>
          </a:xfrm>
          <a:prstGeom prst="rect">
            <a:avLst/>
          </a:prstGeom>
        </p:spPr>
      </p:pic>
      <p:pic>
        <p:nvPicPr>
          <p:cNvPr id="5" name="Image 3" descr="Слайд 16 · шаг 3">    </p:cNvPr>
          <p:cNvPicPr>
            <a:picLocks noChangeAspect="1"/>
          </p:cNvPicPr>
          <p:nvPr/>
        </p:nvPicPr>
        <p:blipFill>
          <a:blip r:embed="rId4"/>
          <a:stretch>
            <a:fillRect/>
          </a:stretch>
        </p:blipFill>
        <p:spPr>
          <a:xfrm>
            <a:off x="7861300" y="215900"/>
            <a:ext cx="3562350" cy="3429000"/>
          </a:xfrm>
          <a:prstGeom prst="rect">
            <a:avLst/>
          </a:prstGeom>
        </p:spPr>
      </p:pic>
      <p:pic>
        <p:nvPicPr>
          <p:cNvPr id="6" name="Image 4" descr="Слайд 16 · шаг 4">    </p:cNvPr>
          <p:cNvPicPr>
            <a:picLocks noChangeAspect="1"/>
          </p:cNvPicPr>
          <p:nvPr/>
        </p:nvPicPr>
        <p:blipFill>
          <a:blip r:embed="rId5"/>
          <a:stretch>
            <a:fillRect/>
          </a:stretch>
        </p:blipFill>
        <p:spPr>
          <a:xfrm>
            <a:off x="742950" y="5270500"/>
            <a:ext cx="4946650" cy="736600"/>
          </a:xfrm>
          <a:prstGeom prst="rect">
            <a:avLst/>
          </a:prstGeom>
        </p:spPr>
      </p:pic>
      <p:pic>
        <p:nvPicPr>
          <p:cNvPr id="7" name="Image 5" descr="Слайд 16 · шаг 5">    </p:cNvPr>
          <p:cNvPicPr>
            <a:picLocks noChangeAspect="1"/>
          </p:cNvPicPr>
          <p:nvPr/>
        </p:nvPicPr>
        <p:blipFill>
          <a:blip r:embed="rId6"/>
          <a:stretch>
            <a:fillRect/>
          </a:stretch>
        </p:blipFill>
        <p:spPr>
          <a:xfrm>
            <a:off x="5905500" y="5270500"/>
            <a:ext cx="2705100" cy="736600"/>
          </a:xfrm>
          <a:prstGeom prst="rect">
            <a:avLst/>
          </a:prstGeom>
        </p:spPr>
      </p:pic>
      <p:pic>
        <p:nvPicPr>
          <p:cNvPr id="8" name="Image 6" descr="Слайд 16 · шаг 6">    </p:cNvPr>
          <p:cNvPicPr>
            <a:picLocks noChangeAspect="1"/>
          </p:cNvPicPr>
          <p:nvPr/>
        </p:nvPicPr>
        <p:blipFill>
          <a:blip r:embed="rId7"/>
          <a:stretch>
            <a:fillRect/>
          </a:stretch>
        </p:blipFill>
        <p:spPr>
          <a:xfrm>
            <a:off x="8826500" y="5270500"/>
            <a:ext cx="2660650" cy="96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Слайд 1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7 · шаг 1">    </p:cNvPr>
          <p:cNvPicPr>
            <a:picLocks noChangeAspect="1"/>
          </p:cNvPicPr>
          <p:nvPr/>
        </p:nvPicPr>
        <p:blipFill>
          <a:blip r:embed="rId2"/>
          <a:stretch>
            <a:fillRect/>
          </a:stretch>
        </p:blipFill>
        <p:spPr>
          <a:xfrm>
            <a:off x="742950" y="4064000"/>
            <a:ext cx="7302500" cy="1720850"/>
          </a:xfrm>
          <a:prstGeom prst="rect">
            <a:avLst/>
          </a:prstGeom>
        </p:spPr>
      </p:pic>
      <p:pic>
        <p:nvPicPr>
          <p:cNvPr id="4" name="Image 2" descr="Слайд 17 · шаг 2">    </p:cNvPr>
          <p:cNvPicPr>
            <a:picLocks noChangeAspect="1"/>
          </p:cNvPicPr>
          <p:nvPr/>
        </p:nvPicPr>
        <p:blipFill>
          <a:blip r:embed="rId3"/>
          <a:stretch>
            <a:fillRect/>
          </a:stretch>
        </p:blipFill>
        <p:spPr>
          <a:xfrm>
            <a:off x="8458200" y="4514850"/>
            <a:ext cx="1987550" cy="565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Слайд 1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8 · шаг 1">    </p:cNvPr>
          <p:cNvPicPr>
            <a:picLocks noChangeAspect="1"/>
          </p:cNvPicPr>
          <p:nvPr/>
        </p:nvPicPr>
        <p:blipFill>
          <a:blip r:embed="rId2"/>
          <a:stretch>
            <a:fillRect/>
          </a:stretch>
        </p:blipFill>
        <p:spPr>
          <a:xfrm>
            <a:off x="1333500" y="2038350"/>
            <a:ext cx="4445000" cy="2711450"/>
          </a:xfrm>
          <a:prstGeom prst="rect">
            <a:avLst/>
          </a:prstGeom>
        </p:spPr>
      </p:pic>
      <p:pic>
        <p:nvPicPr>
          <p:cNvPr id="4" name="Image 2" descr="Слайд 18 · шаг 2">    </p:cNvPr>
          <p:cNvPicPr>
            <a:picLocks noChangeAspect="1"/>
          </p:cNvPicPr>
          <p:nvPr/>
        </p:nvPicPr>
        <p:blipFill>
          <a:blip r:embed="rId3"/>
          <a:stretch>
            <a:fillRect/>
          </a:stretch>
        </p:blipFill>
        <p:spPr>
          <a:xfrm>
            <a:off x="3841750" y="2362200"/>
            <a:ext cx="1028700" cy="3009900"/>
          </a:xfrm>
          <a:prstGeom prst="rect">
            <a:avLst/>
          </a:prstGeom>
        </p:spPr>
      </p:pic>
      <p:pic>
        <p:nvPicPr>
          <p:cNvPr id="5" name="Image 3" descr="Слайд 18 · шаг 3">    </p:cNvPr>
          <p:cNvPicPr>
            <a:picLocks noChangeAspect="1"/>
          </p:cNvPicPr>
          <p:nvPr/>
        </p:nvPicPr>
        <p:blipFill>
          <a:blip r:embed="rId4"/>
          <a:stretch>
            <a:fillRect/>
          </a:stretch>
        </p:blipFill>
        <p:spPr>
          <a:xfrm>
            <a:off x="6877050" y="2038350"/>
            <a:ext cx="4445000" cy="2609850"/>
          </a:xfrm>
          <a:prstGeom prst="rect">
            <a:avLst/>
          </a:prstGeom>
        </p:spPr>
      </p:pic>
      <p:pic>
        <p:nvPicPr>
          <p:cNvPr id="6" name="Image 4" descr="Слайд 18 · шаг 4">    </p:cNvPr>
          <p:cNvPicPr>
            <a:picLocks noChangeAspect="1"/>
          </p:cNvPicPr>
          <p:nvPr/>
        </p:nvPicPr>
        <p:blipFill>
          <a:blip r:embed="rId5"/>
          <a:stretch>
            <a:fillRect/>
          </a:stretch>
        </p:blipFill>
        <p:spPr>
          <a:xfrm>
            <a:off x="8350250" y="2362200"/>
            <a:ext cx="2743200" cy="3009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Слайд 1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9 · шаг 1">    </p:cNvPr>
          <p:cNvPicPr>
            <a:picLocks noChangeAspect="1"/>
          </p:cNvPicPr>
          <p:nvPr/>
        </p:nvPicPr>
        <p:blipFill>
          <a:blip r:embed="rId2"/>
          <a:stretch>
            <a:fillRect/>
          </a:stretch>
        </p:blipFill>
        <p:spPr>
          <a:xfrm>
            <a:off x="742950" y="1974850"/>
            <a:ext cx="7988300" cy="2692400"/>
          </a:xfrm>
          <a:prstGeom prst="rect">
            <a:avLst/>
          </a:prstGeom>
        </p:spPr>
      </p:pic>
      <p:pic>
        <p:nvPicPr>
          <p:cNvPr id="4" name="Image 2" descr="Слайд 19 · шаг 2">    </p:cNvPr>
          <p:cNvPicPr>
            <a:picLocks noChangeAspect="1"/>
          </p:cNvPicPr>
          <p:nvPr/>
        </p:nvPicPr>
        <p:blipFill>
          <a:blip r:embed="rId3"/>
          <a:stretch>
            <a:fillRect/>
          </a:stretch>
        </p:blipFill>
        <p:spPr>
          <a:xfrm>
            <a:off x="749300" y="5378450"/>
            <a:ext cx="9245600" cy="51435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413500" y="2375913"/>
            <a:ext cx="5035550" cy="27856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 presetClass="mediacall" presetSubtype="0" fill="hold" nodeType="withEffect">
                                  <p:stCondLst>
                                    <p:cond delay="0"/>
                                  </p:stCondLst>
                                  <p:childTnLst>
                                    <p:cmd type="call" cmd="playFrom(0.0)">
                                      <p:cBhvr>
                                        <p:cTn id="12" dur="13900" fill="hold"/>
                                        <p:tgtEl>
                                          <p:spTgt spid="6"/>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8" repeatCount="indefinite" fill="hold" display="0">
                  <p:stCondLst>
                    <p:cond delay="indefinite"/>
                  </p:stCondLst>
                </p:cTn>
                <p:tgtEl>
                  <p:spTgt spid="6"/>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Слайд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2" name="Image 0" descr="Слайд 21">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2133895"/>
            <a:ext cx="6604000" cy="3225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Слайд 2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2 · шаг 1">    </p:cNvPr>
          <p:cNvPicPr>
            <a:picLocks noChangeAspect="1"/>
          </p:cNvPicPr>
          <p:nvPr/>
        </p:nvPicPr>
        <p:blipFill>
          <a:blip r:embed="rId2"/>
          <a:stretch>
            <a:fillRect/>
          </a:stretch>
        </p:blipFill>
        <p:spPr>
          <a:xfrm>
            <a:off x="742950" y="215900"/>
            <a:ext cx="10655300" cy="5403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 name="Image 0" descr="Слайд 2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3 · шаг 1">    </p:cNvPr>
          <p:cNvPicPr>
            <a:picLocks noChangeAspect="1"/>
          </p:cNvPicPr>
          <p:nvPr/>
        </p:nvPicPr>
        <p:blipFill>
          <a:blip r:embed="rId2"/>
          <a:stretch>
            <a:fillRect/>
          </a:stretch>
        </p:blipFill>
        <p:spPr>
          <a:xfrm>
            <a:off x="742950" y="2197100"/>
            <a:ext cx="5784850" cy="2584450"/>
          </a:xfrm>
          <a:prstGeom prst="rect">
            <a:avLst/>
          </a:prstGeom>
        </p:spPr>
      </p:pic>
      <p:pic>
        <p:nvPicPr>
          <p:cNvPr id="4" name="Image 2" descr="Слайд 23 · шаг 2">    </p:cNvPr>
          <p:cNvPicPr>
            <a:picLocks noChangeAspect="1"/>
          </p:cNvPicPr>
          <p:nvPr/>
        </p:nvPicPr>
        <p:blipFill>
          <a:blip r:embed="rId3"/>
          <a:stretch>
            <a:fillRect/>
          </a:stretch>
        </p:blipFill>
        <p:spPr>
          <a:xfrm>
            <a:off x="7404100" y="2203450"/>
            <a:ext cx="4044950" cy="2330450"/>
          </a:xfrm>
          <a:prstGeom prst="rect">
            <a:avLst/>
          </a:prstGeom>
        </p:spPr>
      </p:pic>
      <p:pic>
        <p:nvPicPr>
          <p:cNvPr id="5" name="Image 3" descr="Слайд 23 · шаг 3">    </p:cNvPr>
          <p:cNvPicPr>
            <a:picLocks noChangeAspect="1"/>
          </p:cNvPicPr>
          <p:nvPr/>
        </p:nvPicPr>
        <p:blipFill>
          <a:blip r:embed="rId4"/>
          <a:stretch>
            <a:fillRect/>
          </a:stretch>
        </p:blipFill>
        <p:spPr>
          <a:xfrm>
            <a:off x="742950" y="215900"/>
            <a:ext cx="10744200" cy="5435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Слайд 2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4 · шаг 1">    </p:cNvPr>
          <p:cNvPicPr>
            <a:picLocks noChangeAspect="1"/>
          </p:cNvPicPr>
          <p:nvPr/>
        </p:nvPicPr>
        <p:blipFill>
          <a:blip r:embed="rId2"/>
          <a:stretch>
            <a:fillRect/>
          </a:stretch>
        </p:blipFill>
        <p:spPr>
          <a:xfrm>
            <a:off x="6496050" y="2254250"/>
            <a:ext cx="4946650" cy="2165350"/>
          </a:xfrm>
          <a:prstGeom prst="rect">
            <a:avLst/>
          </a:prstGeom>
        </p:spPr>
      </p:pic>
      <p:pic>
        <p:nvPicPr>
          <p:cNvPr id="4" name="Image 2" descr="Слайд 24 · шаг 2">    </p:cNvPr>
          <p:cNvPicPr>
            <a:picLocks noChangeAspect="1"/>
          </p:cNvPicPr>
          <p:nvPr/>
        </p:nvPicPr>
        <p:blipFill>
          <a:blip r:embed="rId3"/>
          <a:stretch>
            <a:fillRect/>
          </a:stretch>
        </p:blipFill>
        <p:spPr>
          <a:xfrm>
            <a:off x="742950" y="4629150"/>
            <a:ext cx="10706100" cy="53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 name="Image 0" descr="Слайд 2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5 · шаг 1">    </p:cNvPr>
          <p:cNvPicPr>
            <a:picLocks noChangeAspect="1"/>
          </p:cNvPicPr>
          <p:nvPr/>
        </p:nvPicPr>
        <p:blipFill>
          <a:blip r:embed="rId2"/>
          <a:stretch>
            <a:fillRect/>
          </a:stretch>
        </p:blipFill>
        <p:spPr>
          <a:xfrm>
            <a:off x="742950" y="1968500"/>
            <a:ext cx="3752850" cy="2914650"/>
          </a:xfrm>
          <a:prstGeom prst="rect">
            <a:avLst/>
          </a:prstGeom>
        </p:spPr>
      </p:pic>
      <p:pic>
        <p:nvPicPr>
          <p:cNvPr id="4" name="Image 2" descr="Слайд 25 · шаг 2">    </p:cNvPr>
          <p:cNvPicPr>
            <a:picLocks noChangeAspect="1"/>
          </p:cNvPicPr>
          <p:nvPr/>
        </p:nvPicPr>
        <p:blipFill>
          <a:blip r:embed="rId3"/>
          <a:stretch>
            <a:fillRect/>
          </a:stretch>
        </p:blipFill>
        <p:spPr>
          <a:xfrm>
            <a:off x="5334000" y="5461000"/>
            <a:ext cx="4305300" cy="3556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334000" y="2096558"/>
            <a:ext cx="6096000" cy="3115733"/>
          </a:xfrm>
          <a:prstGeom prst="rect">
            <a:avLst/>
          </a:prstGeom>
        </p:spPr>
      </p:pic>
      <p:pic>
        <p:nvPicPr>
          <p:cNvPr id="6" name="Image 3" descr="Слайд 25 · подписи поверх видео">    </p:cNvPr>
          <p:cNvPicPr>
            <a:picLocks noChangeAspect="1"/>
          </p:cNvPicPr>
          <p:nvPr/>
        </p:nvPicPr>
        <p:blipFill>
          <a:blip r:embed="rId7"/>
          <a:stretch>
            <a:fillRect/>
          </a:stretch>
        </p:blipFill>
        <p:spPr>
          <a:xfrm>
            <a:off x="5334000" y="1955800"/>
            <a:ext cx="4787900" cy="338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 presetClass="mediacall" presetSubtype="0" fill="hold" nodeType="withEffect">
                                  <p:stCondLst>
                                    <p:cond delay="0"/>
                                  </p:stCondLst>
                                  <p:childTnLst>
                                    <p:cmd type="call" cmd="playFrom(0.0)">
                                      <p:cBhvr>
                                        <p:cTn id="17" dur="6000" fill="hold"/>
                                        <p:tgtEl>
                                          <p:spTgt spid="6"/>
                                        </p:tgtEl>
                                      </p:cBhvr>
                                    </p:cmd>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1" repeatCount="indefinite" fill="hold" display="0">
                  <p:stCondLst>
                    <p:cond delay="indefinite"/>
                  </p:stCondLst>
                </p:cTn>
                <p:tgtEl>
                  <p:spTgt spid="6"/>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 name="Image 0" descr="Слайд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 name="Image 0" descr="Слайд 2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7 · шаг 1">    </p:cNvPr>
          <p:cNvPicPr>
            <a:picLocks noChangeAspect="1"/>
          </p:cNvPicPr>
          <p:nvPr/>
        </p:nvPicPr>
        <p:blipFill>
          <a:blip r:embed="rId2"/>
          <a:stretch>
            <a:fillRect/>
          </a:stretch>
        </p:blipFill>
        <p:spPr>
          <a:xfrm>
            <a:off x="742950" y="2387600"/>
            <a:ext cx="8140700" cy="1206500"/>
          </a:xfrm>
          <a:prstGeom prst="rect">
            <a:avLst/>
          </a:prstGeom>
        </p:spPr>
      </p:pic>
      <p:pic>
        <p:nvPicPr>
          <p:cNvPr id="4" name="Image 2" descr="Слайд 27 · шаг 2">    </p:cNvPr>
          <p:cNvPicPr>
            <a:picLocks noChangeAspect="1"/>
          </p:cNvPicPr>
          <p:nvPr/>
        </p:nvPicPr>
        <p:blipFill>
          <a:blip r:embed="rId3"/>
          <a:stretch>
            <a:fillRect/>
          </a:stretch>
        </p:blipFill>
        <p:spPr>
          <a:xfrm>
            <a:off x="742950" y="3784600"/>
            <a:ext cx="4946650" cy="508000"/>
          </a:xfrm>
          <a:prstGeom prst="rect">
            <a:avLst/>
          </a:prstGeom>
        </p:spPr>
      </p:pic>
      <p:pic>
        <p:nvPicPr>
          <p:cNvPr id="5" name="Image 3" descr="Слайд 27 · шаг 3">    </p:cNvPr>
          <p:cNvPicPr>
            <a:picLocks noChangeAspect="1"/>
          </p:cNvPicPr>
          <p:nvPr/>
        </p:nvPicPr>
        <p:blipFill>
          <a:blip r:embed="rId4"/>
          <a:stretch>
            <a:fillRect/>
          </a:stretch>
        </p:blipFill>
        <p:spPr>
          <a:xfrm>
            <a:off x="7975600" y="3632200"/>
            <a:ext cx="3454400" cy="1492250"/>
          </a:xfrm>
          <a:prstGeom prst="rect">
            <a:avLst/>
          </a:prstGeom>
        </p:spPr>
      </p:pic>
      <p:pic>
        <p:nvPicPr>
          <p:cNvPr id="6" name="Image 4" descr="Слайд 27 · шаг 4">    </p:cNvPr>
          <p:cNvPicPr>
            <a:picLocks noChangeAspect="1"/>
          </p:cNvPicPr>
          <p:nvPr/>
        </p:nvPicPr>
        <p:blipFill>
          <a:blip r:embed="rId5"/>
          <a:stretch>
            <a:fillRect/>
          </a:stretch>
        </p:blipFill>
        <p:spPr>
          <a:xfrm>
            <a:off x="749300" y="5264150"/>
            <a:ext cx="7810500" cy="20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Слайд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pic>
        <p:nvPicPr>
          <p:cNvPr id="2" name="Image 0" descr="Слайд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pic>
        <p:nvPicPr>
          <p:cNvPr id="2" name="Image 0" descr="Слайд 3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0 · шаг 1">    </p:cNvPr>
          <p:cNvPicPr>
            <a:picLocks noChangeAspect="1"/>
          </p:cNvPicPr>
          <p:nvPr/>
        </p:nvPicPr>
        <p:blipFill>
          <a:blip r:embed="rId2"/>
          <a:stretch>
            <a:fillRect/>
          </a:stretch>
        </p:blipFill>
        <p:spPr>
          <a:xfrm>
            <a:off x="7740650" y="1733550"/>
            <a:ext cx="2197100" cy="203200"/>
          </a:xfrm>
          <a:prstGeom prst="rect">
            <a:avLst/>
          </a:prstGeom>
        </p:spPr>
      </p:pic>
      <p:pic>
        <p:nvPicPr>
          <p:cNvPr id="4" name="Image 2" descr="Слайд 30 · шаг 2">    </p:cNvPr>
          <p:cNvPicPr>
            <a:picLocks noChangeAspect="1"/>
          </p:cNvPicPr>
          <p:nvPr/>
        </p:nvPicPr>
        <p:blipFill>
          <a:blip r:embed="rId3"/>
          <a:stretch>
            <a:fillRect/>
          </a:stretch>
        </p:blipFill>
        <p:spPr>
          <a:xfrm>
            <a:off x="749300" y="5715000"/>
            <a:ext cx="8394700" cy="2159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42950" y="1968500"/>
            <a:ext cx="5207000" cy="3556000"/>
          </a:xfrm>
          <a:prstGeom prst="rect">
            <a:avLst/>
          </a:prstGeom>
        </p:spPr>
      </p:pic>
      <p:pic>
        <p:nvPicPr>
          <p:cNvPr id="9"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6242050" y="1968500"/>
            <a:ext cx="52070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 presetClass="mediacall" presetSubtype="0" fill="hold" nodeType="withEffect">
                                  <p:stCondLst>
                                    <p:cond delay="0"/>
                                  </p:stCondLst>
                                  <p:childTnLst>
                                    <p:cmd type="call" cmd="playFrom(0.0)">
                                      <p:cBhvr>
                                        <p:cTn id="16" dur="5000" fill="hold"/>
                                        <p:tgtEl>
                                          <p:spTgt spid="9"/>
                                        </p:tgtEl>
                                      </p:cBhvr>
                                    </p:cmd>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2" repeatCount="indefinite" fill="hold" display="0">
                  <p:stCondLst>
                    <p:cond delay="indefinite"/>
                  </p:stCondLst>
                </p:cTn>
                <p:tgtEl>
                  <p:spTgt spid="6"/>
                </p:tgtEl>
              </p:cMediaNode>
            </p:video>
            <p:video>
              <p:cMediaNode vol="80000" mute="1">
                <p:cTn id="23" repeatCount="indefinite" fill="hold" display="0">
                  <p:stCondLst>
                    <p:cond delay="indefinite"/>
                  </p:stCondLst>
                </p:cTn>
                <p:tgtEl>
                  <p:spTgt spid="9"/>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pic>
        <p:nvPicPr>
          <p:cNvPr id="2" name="Image 0" descr="Слайд 3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1 · шаг 1">    </p:cNvPr>
          <p:cNvPicPr>
            <a:picLocks noChangeAspect="1"/>
          </p:cNvPicPr>
          <p:nvPr/>
        </p:nvPicPr>
        <p:blipFill>
          <a:blip r:embed="rId2"/>
          <a:stretch>
            <a:fillRect/>
          </a:stretch>
        </p:blipFill>
        <p:spPr>
          <a:xfrm>
            <a:off x="8832850" y="4356100"/>
            <a:ext cx="1778000" cy="615950"/>
          </a:xfrm>
          <a:prstGeom prst="rect">
            <a:avLst/>
          </a:prstGeom>
        </p:spPr>
      </p:pic>
      <p:pic>
        <p:nvPicPr>
          <p:cNvPr id="4" name="Image 2" descr="Слайд 31 · шаг 2">    </p:cNvPr>
          <p:cNvPicPr>
            <a:picLocks noChangeAspect="1"/>
          </p:cNvPicPr>
          <p:nvPr/>
        </p:nvPicPr>
        <p:blipFill>
          <a:blip r:embed="rId3"/>
          <a:stretch>
            <a:fillRect/>
          </a:stretch>
        </p:blipFill>
        <p:spPr>
          <a:xfrm>
            <a:off x="8928100" y="3289300"/>
            <a:ext cx="1587500" cy="615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pic>
        <p:nvPicPr>
          <p:cNvPr id="2" name="Image 0" descr="Слайд 3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2 · шаг 1">    </p:cNvPr>
          <p:cNvPicPr>
            <a:picLocks noChangeAspect="1"/>
          </p:cNvPicPr>
          <p:nvPr/>
        </p:nvPicPr>
        <p:blipFill>
          <a:blip r:embed="rId2"/>
          <a:stretch>
            <a:fillRect/>
          </a:stretch>
        </p:blipFill>
        <p:spPr>
          <a:xfrm>
            <a:off x="1358900" y="2844800"/>
            <a:ext cx="9886950" cy="2438400"/>
          </a:xfrm>
          <a:prstGeom prst="rect">
            <a:avLst/>
          </a:prstGeom>
        </p:spPr>
      </p:pic>
      <p:pic>
        <p:nvPicPr>
          <p:cNvPr id="4" name="Image 2" descr="Слайд 32 · шаг 2">    </p:cNvPr>
          <p:cNvPicPr>
            <a:picLocks noChangeAspect="1"/>
          </p:cNvPicPr>
          <p:nvPr/>
        </p:nvPicPr>
        <p:blipFill>
          <a:blip r:embed="rId3"/>
          <a:stretch>
            <a:fillRect/>
          </a:stretch>
        </p:blipFill>
        <p:spPr>
          <a:xfrm>
            <a:off x="1352550" y="3219450"/>
            <a:ext cx="9899650" cy="2063750"/>
          </a:xfrm>
          <a:prstGeom prst="rect">
            <a:avLst/>
          </a:prstGeom>
        </p:spPr>
      </p:pic>
      <p:pic>
        <p:nvPicPr>
          <p:cNvPr id="5" name="Image 3" descr="Слайд 32 · шаг 3">    </p:cNvPr>
          <p:cNvPicPr>
            <a:picLocks noChangeAspect="1"/>
          </p:cNvPicPr>
          <p:nvPr/>
        </p:nvPicPr>
        <p:blipFill>
          <a:blip r:embed="rId4"/>
          <a:stretch>
            <a:fillRect/>
          </a:stretch>
        </p:blipFill>
        <p:spPr>
          <a:xfrm>
            <a:off x="762000" y="5537200"/>
            <a:ext cx="7664450" cy="196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pic>
        <p:nvPicPr>
          <p:cNvPr id="2" name="Image 0" descr="Слайд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Слайд 3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4 · шаг 1">    </p:cNvPr>
          <p:cNvPicPr>
            <a:picLocks noChangeAspect="1"/>
          </p:cNvPicPr>
          <p:nvPr/>
        </p:nvPicPr>
        <p:blipFill>
          <a:blip r:embed="rId2"/>
          <a:stretch>
            <a:fillRect/>
          </a:stretch>
        </p:blipFill>
        <p:spPr>
          <a:xfrm>
            <a:off x="1733550" y="3187700"/>
            <a:ext cx="9423400" cy="711200"/>
          </a:xfrm>
          <a:prstGeom prst="rect">
            <a:avLst/>
          </a:prstGeom>
        </p:spPr>
      </p:pic>
      <p:pic>
        <p:nvPicPr>
          <p:cNvPr id="4" name="Image 2" descr="Слайд 34 · шаг 2">    </p:cNvPr>
          <p:cNvPicPr>
            <a:picLocks noChangeAspect="1"/>
          </p:cNvPicPr>
          <p:nvPr/>
        </p:nvPicPr>
        <p:blipFill>
          <a:blip r:embed="rId3"/>
          <a:stretch>
            <a:fillRect/>
          </a:stretch>
        </p:blipFill>
        <p:spPr>
          <a:xfrm>
            <a:off x="1720850" y="2317750"/>
            <a:ext cx="9448800" cy="1479550"/>
          </a:xfrm>
          <a:prstGeom prst="rect">
            <a:avLst/>
          </a:prstGeom>
        </p:spPr>
      </p:pic>
      <p:pic>
        <p:nvPicPr>
          <p:cNvPr id="5" name="Image 3" descr="Слайд 34 · шаг 3">    </p:cNvPr>
          <p:cNvPicPr>
            <a:picLocks noChangeAspect="1"/>
          </p:cNvPicPr>
          <p:nvPr/>
        </p:nvPicPr>
        <p:blipFill>
          <a:blip r:embed="rId4"/>
          <a:stretch>
            <a:fillRect/>
          </a:stretch>
        </p:blipFill>
        <p:spPr>
          <a:xfrm>
            <a:off x="762000" y="2178050"/>
            <a:ext cx="8737600" cy="3803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Слайд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pic>
        <p:nvPicPr>
          <p:cNvPr id="2" name="Image 0" descr="Слайд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pic>
        <p:nvPicPr>
          <p:cNvPr id="2" name="Image 0" descr="Слайд 3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7 · шаг 1">    </p:cNvPr>
          <p:cNvPicPr>
            <a:picLocks noChangeAspect="1"/>
          </p:cNvPicPr>
          <p:nvPr/>
        </p:nvPicPr>
        <p:blipFill>
          <a:blip r:embed="rId2"/>
          <a:stretch>
            <a:fillRect/>
          </a:stretch>
        </p:blipFill>
        <p:spPr>
          <a:xfrm>
            <a:off x="742950" y="1841500"/>
            <a:ext cx="10744200" cy="596900"/>
          </a:xfrm>
          <a:prstGeom prst="rect">
            <a:avLst/>
          </a:prstGeom>
        </p:spPr>
      </p:pic>
      <p:pic>
        <p:nvPicPr>
          <p:cNvPr id="4" name="Image 2" descr="Слайд 37 · шаг 2">    </p:cNvPr>
          <p:cNvPicPr>
            <a:picLocks noChangeAspect="1"/>
          </p:cNvPicPr>
          <p:nvPr/>
        </p:nvPicPr>
        <p:blipFill>
          <a:blip r:embed="rId3"/>
          <a:stretch>
            <a:fillRect/>
          </a:stretch>
        </p:blipFill>
        <p:spPr>
          <a:xfrm>
            <a:off x="742950" y="2921000"/>
            <a:ext cx="10744200" cy="596900"/>
          </a:xfrm>
          <a:prstGeom prst="rect">
            <a:avLst/>
          </a:prstGeom>
        </p:spPr>
      </p:pic>
      <p:pic>
        <p:nvPicPr>
          <p:cNvPr id="5" name="Image 3" descr="Слайд 37 · шаг 3">    </p:cNvPr>
          <p:cNvPicPr>
            <a:picLocks noChangeAspect="1"/>
          </p:cNvPicPr>
          <p:nvPr/>
        </p:nvPicPr>
        <p:blipFill>
          <a:blip r:embed="rId4"/>
          <a:stretch>
            <a:fillRect/>
          </a:stretch>
        </p:blipFill>
        <p:spPr>
          <a:xfrm>
            <a:off x="742950" y="4000500"/>
            <a:ext cx="10744200" cy="596900"/>
          </a:xfrm>
          <a:prstGeom prst="rect">
            <a:avLst/>
          </a:prstGeom>
        </p:spPr>
      </p:pic>
      <p:pic>
        <p:nvPicPr>
          <p:cNvPr id="6" name="Image 4" descr="Слайд 37 · шаг 4">    </p:cNvPr>
          <p:cNvPicPr>
            <a:picLocks noChangeAspect="1"/>
          </p:cNvPicPr>
          <p:nvPr/>
        </p:nvPicPr>
        <p:blipFill>
          <a:blip r:embed="rId5"/>
          <a:stretch>
            <a:fillRect/>
          </a:stretch>
        </p:blipFill>
        <p:spPr>
          <a:xfrm>
            <a:off x="742950" y="5080000"/>
            <a:ext cx="107442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Слайд 3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8 · шаг 1">    </p:cNvPr>
          <p:cNvPicPr>
            <a:picLocks noChangeAspect="1"/>
          </p:cNvPicPr>
          <p:nvPr/>
        </p:nvPicPr>
        <p:blipFill>
          <a:blip r:embed="rId2"/>
          <a:stretch>
            <a:fillRect/>
          </a:stretch>
        </p:blipFill>
        <p:spPr>
          <a:xfrm>
            <a:off x="8267700" y="3498850"/>
            <a:ext cx="3035300" cy="292100"/>
          </a:xfrm>
          <a:prstGeom prst="rect">
            <a:avLst/>
          </a:prstGeom>
        </p:spPr>
      </p:pic>
      <p:pic>
        <p:nvPicPr>
          <p:cNvPr id="4" name="Image 2" descr="Слайд 38 · шаг 2">    </p:cNvPr>
          <p:cNvPicPr>
            <a:picLocks noChangeAspect="1"/>
          </p:cNvPicPr>
          <p:nvPr/>
        </p:nvPicPr>
        <p:blipFill>
          <a:blip r:embed="rId3"/>
          <a:stretch>
            <a:fillRect/>
          </a:stretch>
        </p:blipFill>
        <p:spPr>
          <a:xfrm>
            <a:off x="742950" y="4622800"/>
            <a:ext cx="3384550" cy="774700"/>
          </a:xfrm>
          <a:prstGeom prst="rect">
            <a:avLst/>
          </a:prstGeom>
        </p:spPr>
      </p:pic>
      <p:pic>
        <p:nvPicPr>
          <p:cNvPr id="5" name="Image 3" descr="Слайд 38 · шаг 3">    </p:cNvPr>
          <p:cNvPicPr>
            <a:picLocks noChangeAspect="1"/>
          </p:cNvPicPr>
          <p:nvPr/>
        </p:nvPicPr>
        <p:blipFill>
          <a:blip r:embed="rId4"/>
          <a:stretch>
            <a:fillRect/>
          </a:stretch>
        </p:blipFill>
        <p:spPr>
          <a:xfrm>
            <a:off x="4375150" y="4616450"/>
            <a:ext cx="2971800" cy="1111250"/>
          </a:xfrm>
          <a:prstGeom prst="rect">
            <a:avLst/>
          </a:prstGeom>
        </p:spPr>
      </p:pic>
      <p:pic>
        <p:nvPicPr>
          <p:cNvPr id="6" name="Image 4" descr="Слайд 38 · шаг 4">    </p:cNvPr>
          <p:cNvPicPr>
            <a:picLocks noChangeAspect="1"/>
          </p:cNvPicPr>
          <p:nvPr/>
        </p:nvPicPr>
        <p:blipFill>
          <a:blip r:embed="rId5"/>
          <a:stretch>
            <a:fillRect/>
          </a:stretch>
        </p:blipFill>
        <p:spPr>
          <a:xfrm>
            <a:off x="7994650" y="4622800"/>
            <a:ext cx="3422650" cy="1104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pic>
        <p:nvPicPr>
          <p:cNvPr id="2" name="Image 0" descr="Слайд 3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9 · шаг 1">    </p:cNvPr>
          <p:cNvPicPr>
            <a:picLocks noChangeAspect="1"/>
          </p:cNvPicPr>
          <p:nvPr/>
        </p:nvPicPr>
        <p:blipFill>
          <a:blip r:embed="rId2"/>
          <a:stretch>
            <a:fillRect/>
          </a:stretch>
        </p:blipFill>
        <p:spPr>
          <a:xfrm>
            <a:off x="6940550" y="3575050"/>
            <a:ext cx="3898900" cy="167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Слайд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pic>
        <p:nvPicPr>
          <p:cNvPr id="2" name="Image 0" descr="Слайд 4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pic>
        <p:nvPicPr>
          <p:cNvPr id="2" name="Image 0" descr="Слайд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pic>
        <p:nvPicPr>
          <p:cNvPr id="2" name="Image 0" descr="Слайд 4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pic>
        <p:nvPicPr>
          <p:cNvPr id="2" name="Image 0" descr="Слайд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00000"/>
        </a:solidFill>
      </p:bgPr>
    </p:bg>
    <p:spTree>
      <p:nvGrpSpPr>
        <p:cNvPr id="1" name=""/>
        <p:cNvGrpSpPr/>
        <p:nvPr/>
      </p:nvGrpSpPr>
      <p:grpSpPr>
        <a:xfrm>
          <a:off x="0" y="0"/>
          <a:ext cx="0" cy="0"/>
          <a:chOff x="0" y="0"/>
          <a:chExt cx="0" cy="0"/>
        </a:xfrm>
      </p:grpSpPr>
      <p:pic>
        <p:nvPicPr>
          <p:cNvPr id="2" name="Image 0" descr="Слайд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pic>
        <p:nvPicPr>
          <p:cNvPr id="2" name="Image 0" descr="Слайд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2" name="Image 0" descr="Слайд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pic>
        <p:nvPicPr>
          <p:cNvPr id="2" name="Image 0" descr="Слайд 4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pic>
        <p:nvPicPr>
          <p:cNvPr id="2" name="Image 0" descr="Слайд 4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00000"/>
        </a:solidFill>
      </p:bgPr>
    </p:bg>
    <p:spTree>
      <p:nvGrpSpPr>
        <p:cNvPr id="1" name=""/>
        <p:cNvGrpSpPr/>
        <p:nvPr/>
      </p:nvGrpSpPr>
      <p:grpSpPr>
        <a:xfrm>
          <a:off x="0" y="0"/>
          <a:ext cx="0" cy="0"/>
          <a:chOff x="0" y="0"/>
          <a:chExt cx="0" cy="0"/>
        </a:xfrm>
      </p:grpSpPr>
      <p:pic>
        <p:nvPicPr>
          <p:cNvPr id="2" name="Image 0" descr="Слайд 5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проиграл O(n log n) — HardFest 2026</dc:title>
  <dc:subject>PptxGenJS Presentation</dc:subject>
  <dc:creator>Никита Нагорнов</dc:creator>
  <cp:lastModifiedBy>Никита Нагорнов</cp:lastModifiedBy>
  <cp:revision>1</cp:revision>
  <dcterms:created xsi:type="dcterms:W3CDTF">2026-10-13T21:23:42Z</dcterms:created>
  <dcterms:modified xsi:type="dcterms:W3CDTF">2026-10-13T21:23:42Z</dcterms:modified>
</cp:coreProperties>
</file>