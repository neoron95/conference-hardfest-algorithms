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видеоредакторов, снапчатов,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Доклад будет полезен разработчикам, которые ещё как-то работают с алгоритмами и контейнерами.
[щелчок] Как напоминание тимлидам и ревьюерам, которые оценивают оптимизации.
[щелчок]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По сути удаление повторов. Самих записей мы здесь касаться сегодня не будем, работаем только с числами.
Три условия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[щелчок]Хранить данные в отсортированном виде нам как бы не нужно, поэтому я соглашаюсь. 
[щелчок] Я поставил апрув почти не глядя. 
Чем это закончилось - расскажу чуть позже. А пока давайте остановимся на этих двух вариантах подробнее.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что этот диф пришёл на ревью вам. 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Первый способ — сортировка. Возьмём восемь чисел.
[щелчок] Внутри std::sort — быстрая сортировка, точнее её доработанная версия, introsort. Берём опорное число, например три: всё, что не больше трёх, — налево, остальное — направо.
[щелчок] Дальше то же самое внутри каждой половины.
[щелчок] И ещё раз — пока куски не станут по одному. 
На каждом уровне мы проходим по всем числам — отсюда n log n. Собирать обратно ничего не нужно: каждое число уже стоит на своём месте.
[щелчок] И смотрите: одинаковые встали рядом. Остаётся один проход слева направо: берём число, если оно не равно соседу.
──────────
Подсказки
• Пополам — идеальный случай: опорное попадает в середину. На случайных данных части неровные и уровней немного больше, но их число всё равно растёт как log n. Если деление слишком глубокое (в libstdc++ предел 2·log₂N), introsort переходит на пирамидальную сортировку и в n² не скатывается.
• Равные опорному могут попасть в любую из двух частей. Маленькие куски досортировываются вставками.
• Собирать половины (сливать) нужно в сортировке слиянием — так устроены std::stable_sort и TimSort в Python. std::sort делит на месте.
• log₂ 1 048 576 = 20. На деле std::sort делает 22–25 сравнений на число, нижняя граница — ≈18,6.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Те же восемь чисел.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семёрка. Это коллизия. Сравниваем: три не равно семи — число новое, кладём в ту же ячейку, в цепочку. Так делает unordered_set. Есть второй способ — открытая адресация: занято — идём в соседнюю ячейку. Так устроены плоские таблицы, к ним мы ещё вернёмся.
[щелчок] Восемь — в ячейку ноль, единица — в ячейку один.[щелчок] Семь разных чисел, и сортировать ничего не пришлось.
Каждое число — один заход в таблицу, на бумаге это O(n).  На бумаге победитель понятен. Посчитаем, насколько.
──────────
Подсказки
• unordered_set решает коллизии цепочками. Открытая адресация (занято — пробуем следующую ячейку) — у absl::flat_hash_set, Python set и dict, Go map с 1.24, Rust HashMap.
• Если спросят „таблица ведь тоже сравнивает?“ — да, но только с ключами из своей ячейки: в среднем одно-два сравнения на число, а не ≈20, как у сортировки.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Я решил проверить.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[пауза 2 с]
Свежую копию входа готовим заранее. После замера сверяем результат с эталоном.
Причём хеш-таблицам мы, конечно, сразу даём reserve под размер входа: по ходу вставок они не перестраиваются. Изначально неправильные реализации мы не используем.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Три разных процессора, три разные системы — и везде одно и то же. Сами наносекунды у машин разные, поэтому сравниваем только внутри одной.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Посчитаем, сколько стоит каждый шаг.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O(n) — честно линейно. Просто каждый шаг очень тяжёлый. O-большое считает шаги, а платим мы за цену шага.
Почему шаг хеша такой дорогой? Попробуем разобраться.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[щелчок] 1 — работа. Сколько команд нужно выполнить. Больше команд — дольше, даже если всё остальное идеально.
[щелчок] 2 — ожидание. Команде нужны данные, а в кэше их нет. Пока они едут из памяти — а это сотни тактов, — слоты ядра стоят пустыми.
[щелчок] 3 — выброшенная работа. Предсказатель угадал не ту ветку, ядро уже выполнило команды заранее. Их приходится выбросить и начать заново.
Кто из трёх съедает пятьдесят пять наносекунд хеша? Проверим и начнём с самого простого: посчитаем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reserve готовит только ячейки, а на каждое новое число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Куда же уходит остальное время на Маке? Проверим темп.
[→ следующий слайд]
──────────
Подсказки
• M2 Pro, P-ядро, 2^20 id, все разные: 218,9 и 383,3 команды на число.
• Как считали: в процессоре есть аппаратные счётчики, на macOS их читает системная kperf — на ней же работает Instruments. Программа под sudo берёт счётчик команд своего потока до и после вызова и делит разницу на миллион; медиана повторов. Алгоритмы и входы — те же, что в замере времени (bench/mac/counters.cpp).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„а reserve не спасает?“ — он выделяет только массив ячеек, от перестроек. Дай той же таблице один буфер под все узлы (без malloc/free на узел) — 35 нс вместо 55; одно уничтожение таблицы — 11,8 нс из 55.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Команд на вставку столько же — значит, лишнее время ушло на ожидание памяти.
[щелчок] Излом там, где кончается кэш второго уровня, — у M2 он шестнадцать мегабайт.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Если спросят „откуда известно, что команд столько же?“ — счётчики M2, половина разных: 512K — 212,7 команды и 67,8 такта на число, 1M — 213,2 и 85,0. Команд столько же, тактов на четверть больше. На 4M счётчики не снимали.
• Если спросят „почему излом именно там?“ — таблица ≈ 32 Б на узел каждого разного id + 8 Б на ячейку каждого id входа (резерв под весь вход): 512K → 12 МиБ, влезает; 1M → 24 МиБ, уже нет —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Такой квест нельзя пройти, открыв все сундуки одновременно: где следующий, узнаёшь, только открыв этот.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открыть один такой сундук? Из кэша — меньше наносекунды, из памяти — около ста. Большая таблица не помещается в кэш и тогда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данные подгружаются заранее. А вставка в хеш — около трёхсот двадцати команд, две трети из них — malloc. В окно влезает полторы вставки, и следующий промах процессор ещё не видит. Так работа превращается в ожидание.
Второй подозреваемый виновен: промахов у хеша в двенадцать раз больше, и ждёт он их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вчетверо меньше (покажем на слайде про фоновый режим);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не меньше шестнадцати тактов на каждую ошибку.
[щелчок] Посчитаем ошибки на одно число. Вопросов у хеша много, но ответ почти всегда один и тот же: ключи разные, совпадений нет. Отсюда — половина ошибки на число. У сортировки — полторы.
[щелчок] Хотя ждали около десяти: двадцать делений пополам, и на каждом «меньше опорного?» — монетка, процессор ошибается в половине случаев. На CI так и выходит — почти девять ошибок на число. А на Маке полторы. Почему?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«16 тактов» — оценка снизу, а не прямой замер сброса: разница в тактах двух сортировок со следующего слайда, делённая на разницу в ошибках.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[щелчок] Стандартная std::sort на Маке, в libc++ от Apple, устроена как второй вариант. На CI, в libstdc++, — как первый, поэтому там она и платит за каждую ошибку.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кандидата с одинаковым резюме: оба — хеш-таблицы, оба обещают O(n), один заход на число. 
Но как вы думаете, что на самом деле?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Да и сортировку она догнала - ничья.
[щелчок] А на CI-сервере плоская быстрее сортировки вдвое. Помните почему? Там std::sort с ветвлениями.
Реализацию починили.
Помните про вариант "уточнил бы условия?". Так вот, Размер входа мы уже меняли — на графике с кэшем. Следующий вопрос: а если разных id мало — кто победит?
[→ следующий слайд]
──────────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 M2 Pro, P-ядро; «хеш» — unordered_set. На слайде только победитель и отношение; строки из разных серий, наносекунды между строками не сравнивать.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и выигрыш пропадает.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дайте каждый раз новые данные — и та же сортировка работает вдвое дольше.
[щелчок] Мой бенчмарк каждый раз давал один и тот же билет — и ставил «отлично» за заученный ответ. На Маке он льстил вдвое, на CI — почти впятеро.
Бенчмарк мерил не на тех данных, точнее не менял их.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 и лидер меняется: сортировка быстрее в два с лишним раза. Ровно то, что увидели тестировщики.
[щелчок] И мой Мак в том же режиме: сортировка тоже впереди, почти на треть. Я тестировал изначально корректно. Просто не в том режиме. 
Но это еще не всё, почему так происходит?
Нужно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«а на миллионе id?» — разрыв больше: Мак в utility — sort ×2,1, айфон — ×3,3.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Гипотеза: на айфоне utility уходит на энергоэффективное ядро, а у него кэш вчетверо меньше. Проверим
[щелчок] Пока данные влезают в кэш — быстро, не влезли — ступенька вверх. Жёлтые пунктиры — кэш второго уровня: четыре мегабайта у энергоэффективного ядра, шестнадцать у быстрого. Серый пунктир — режим background: такой поток система держит на энергоэффективном ядре. Это наш образец — его ступенька как раз у четырёх мегабайт.
[щелчок] Айфон в utility — ступенька там же как и у бэкграунд. Значит, это энергоэффективное ядро. А Мак остался на быстром ядре — поэтому у него разрыв поменьше.
[щелчок] Ещё энергоэффективное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айфоне?» — примерно как отправить посылку в Новосибирск и не указать улицу. 
Даже если нам назвали процессор, то какое ядро внутри достанется — никто не обещал.
[→ следующий слайд]
──────────
Подсказки
• Метафора: «айфон» — это город, а ядро — улица; какое ядро достанется, никто не обещал.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 этого мы всё-таки сравнивали со стандартной хэш-таблицей.
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больше L2 энергоэффективного. На миллион — больше L2 производительного. Сортировка читает подряд — ей размер кэша почти не важен.
Одно устройство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Подведем итоги и протестируем на разных режимах. Соберём всё в одну карту: задача одна — машины разные.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подведем итоги.
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Мало разных — выигрывает хеш, все разные — сортировка.
Поэтому на вопрос «что быстрее» без условий ответить нельзя. Отвечать надо там, где код будет работать.
[→ следующий слайд]
──────────
Подсказки
• Почему данные решают: мало разных — в таблице всего 10 тыс. узлов, она целиком в кэше, и почти каждая вставка — «уже есть», без выделения памяти; а сортировке всё равно упорядочить весь миллион. Все разные — миллион узлов: каждая вставка выделяет память и промахивается мимо кэша, процессор ждёт память; сортировка читает подряд, и данные подгружаются заранее.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Вернемся к нашему изначальному код-ревью. 
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может можно на этом придумать другое решение?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мы запускать будем?
Это те самые вопросы, которые мы задавали весь доклад, и на каждый теперь есть ответ из замеров.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CI честно мерит своё окружение: Xeon, libstdc++, обычный приоритет. Облачные macOS-раннеры — виртуалки с одним типом ядер, utility там не уведёт поток на E-ядро. Нужен хотя бы один перф-тест на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начал с вопроса: нужны ли ещё алгоритмы, если железо прощает? Мой Мак простил, CI даже похвалил, а айфон — нет. [пауза 2 с]
Только никто из них не ошибся: каждый честно ответил про свои условия. А я спрашивал не там и не в том режиме. [пауза 2 с]
Победителя нет — есть условия. Так что проверяйте свой код — это полезно. [щелчок] Проверено на себе.
[→ следующий слайд]
──────────
Подсказки
• Мак — ничья, CI — хеш ×1,1, айфон в utility — sort ×2,3 (полмиллиона id, половина разных; слайд с режимом потока).
• Говорить «в utility», а не «в фоне»: background — отдельный режим, iOS-разработчики заметят.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 оценка доклада: мне правда важна ваша обратная связь. Справа — мои контакты и материалы.
Спасибо за внимание! Буду рад ответить на ваши вопросы.
──────────
Слайды-ответы по порядку (позиции 41–49):
1. prod-v2 — Пользователь это заметит?
2. qos-bg-v2 — А если поднять приоритет?
3. merge-qa — Как сделать правильно?
4. method-qa — Как мерили?
5. nb-kernel — Можно прибить поток к ядру?
6. nb-lang — А в других языках?
7. when-which — Так что брать?
8. alloc-split-v4 — А если арена или pmr?
9. nb-dense — А если id плотные?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лаборатории — один массив id: на миллионе пятьдесят миллисекунд у сортировки против ста шестидесяти семи у хеша. В настоящем синке сложнее.
Коллекций несколько — записи, вложения, метки, — и этап идёт на каждую. После хеша порядок потерян, и записи в базу уходят вразнобой. А первый синк после переустановки тащит весь аккаунт разом.
Три коллекции по миллиону — уже полсекунды против ста пятидесяти миллисекунд, и это ещё без базы. Это тестировщики и заметили. А слияние дельты — семь миллисекунд на коллекцию.
[после ответа — к финалу с QR]
──────────
Подсказки
• Лаборатория: iPhone 14 Pro, utility, 1M id, половина разных: 47,9 и 159,4 нс на число → ≈50 и ≈167 мс. На 512K: ≈24 и ≈55 мс (+31 мс), таблица ≈12 МиБ (оценка, не замер памяти).
• «3 коллекции × 1M» — оценка умножением лабораторных чисел, не замер синка. Запись в базу и влияние порядка не мерили.
• Сценарий (коллекции, порядок записи, первый синк) — [сверить с реальным кейсом].
• Слияние 1M + 64K: 6,7 мс; полная сортировка — 47, плоская таблица — 105, хеш из дифа — 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Сортируем только дельту и убираем её повторы: два, три, семь, девять.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В коде это три строки. Unique по дельте обязателен: set_union повторы внутри одного входа не схлопывает.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Плоская — когда ключи маленькие, вставок и поисков много, а множество временное: собрали, выгрузили, забыли. И памяти она ест меньше.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Узлы из готового буфера, std::pmr, без единого malloc и free, — тридцать пять: в полтора раза быстрее. Аллокатор — примерно треть цены.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video" Target="../media/media-25-4.mp4"/><Relationship Id="rId5" Type="http://schemas.microsoft.com/office/2007/relationships/media" Target="../media/media-25-4.mp4"/><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 · шаг 1">    </p:cNvPr>
          <p:cNvPicPr>
            <a:picLocks noChangeAspect="1"/>
          </p:cNvPicPr>
          <p:nvPr/>
        </p:nvPicPr>
        <p:blipFill>
          <a:blip r:embed="rId2"/>
          <a:stretch>
            <a:fillRect/>
          </a:stretch>
        </p:blipFill>
        <p:spPr>
          <a:xfrm>
            <a:off x="1219200" y="1714500"/>
            <a:ext cx="2616200" cy="4483100"/>
          </a:xfrm>
          <a:prstGeom prst="rect">
            <a:avLst/>
          </a:prstGeom>
        </p:spPr>
      </p:pic>
      <p:pic>
        <p:nvPicPr>
          <p:cNvPr id="4" name="Image 2" descr="Слайд 3 · шаг 2">    </p:cNvPr>
          <p:cNvPicPr>
            <a:picLocks noChangeAspect="1"/>
          </p:cNvPicPr>
          <p:nvPr/>
        </p:nvPicPr>
        <p:blipFill>
          <a:blip r:embed="rId3"/>
          <a:stretch>
            <a:fillRect/>
          </a:stretch>
        </p:blipFill>
        <p:spPr>
          <a:xfrm>
            <a:off x="4438650" y="1981200"/>
            <a:ext cx="3321050" cy="4216400"/>
          </a:xfrm>
          <a:prstGeom prst="rect">
            <a:avLst/>
          </a:prstGeom>
        </p:spPr>
      </p:pic>
      <p:pic>
        <p:nvPicPr>
          <p:cNvPr id="5" name="Image 3" descr="Слайд 3 · шаг 3">    </p:cNvPr>
          <p:cNvPicPr>
            <a:picLocks noChangeAspect="1"/>
          </p:cNvPicPr>
          <p:nvPr/>
        </p:nvPicPr>
        <p:blipFill>
          <a:blip r:embed="rId4"/>
          <a:stretch>
            <a:fillRect/>
          </a:stretch>
        </p:blipFill>
        <p:spPr>
          <a:xfrm>
            <a:off x="8267700" y="2076450"/>
            <a:ext cx="2813050" cy="412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2400300"/>
            <a:ext cx="10706100" cy="939800"/>
          </a:xfrm>
          <a:prstGeom prst="rect">
            <a:avLst/>
          </a:prstGeom>
        </p:spPr>
      </p:pic>
      <p:pic>
        <p:nvPicPr>
          <p:cNvPr id="4" name="Image 2" descr="Слайд 8 · шаг 2">    </p:cNvPr>
          <p:cNvPicPr>
            <a:picLocks noChangeAspect="1"/>
          </p:cNvPicPr>
          <p:nvPr/>
        </p:nvPicPr>
        <p:blipFill>
          <a:blip r:embed="rId3"/>
          <a:stretch>
            <a:fillRect/>
          </a:stretch>
        </p:blipFill>
        <p:spPr>
          <a:xfrm>
            <a:off x="749300" y="3289300"/>
            <a:ext cx="10699750" cy="863600"/>
          </a:xfrm>
          <a:prstGeom prst="rect">
            <a:avLst/>
          </a:prstGeom>
        </p:spPr>
      </p:pic>
      <p:pic>
        <p:nvPicPr>
          <p:cNvPr id="5" name="Image 3" descr="Слайд 8 · шаг 3">    </p:cNvPr>
          <p:cNvPicPr>
            <a:picLocks noChangeAspect="1"/>
          </p:cNvPicPr>
          <p:nvPr/>
        </p:nvPicPr>
        <p:blipFill>
          <a:blip r:embed="rId4"/>
          <a:stretch>
            <a:fillRect/>
          </a:stretch>
        </p:blipFill>
        <p:spPr>
          <a:xfrm>
            <a:off x="749300" y="4178300"/>
            <a:ext cx="10699750" cy="863600"/>
          </a:xfrm>
          <a:prstGeom prst="rect">
            <a:avLst/>
          </a:prstGeom>
        </p:spPr>
      </p:pic>
      <p:pic>
        <p:nvPicPr>
          <p:cNvPr id="6" name="Image 4" descr="Слайд 8 · шаг 4">    </p:cNvPr>
          <p:cNvPicPr>
            <a:picLocks noChangeAspect="1"/>
          </p:cNvPicPr>
          <p:nvPr/>
        </p:nvPicPr>
        <p:blipFill>
          <a:blip r:embed="rId5"/>
          <a:stretch>
            <a:fillRect/>
          </a:stretch>
        </p:blipFill>
        <p:spPr>
          <a:xfrm>
            <a:off x="762000" y="4508500"/>
            <a:ext cx="9601200" cy="147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50400" y="3759200"/>
            <a:ext cx="533400" cy="565150"/>
          </a:xfrm>
          <a:prstGeom prst="rect">
            <a:avLst/>
          </a:prstGeom>
        </p:spPr>
      </p:pic>
      <p:pic>
        <p:nvPicPr>
          <p:cNvPr id="4" name="Image 2" descr="Слайд 9 · шаг 2">    </p:cNvPr>
          <p:cNvPicPr>
            <a:picLocks noChangeAspect="1"/>
          </p:cNvPicPr>
          <p:nvPr/>
        </p:nvPicPr>
        <p:blipFill>
          <a:blip r:embed="rId3"/>
          <a:stretch>
            <a:fillRect/>
          </a:stretch>
        </p:blipFill>
        <p:spPr>
          <a:xfrm>
            <a:off x="3194050" y="3759200"/>
            <a:ext cx="7804150" cy="1257300"/>
          </a:xfrm>
          <a:prstGeom prst="rect">
            <a:avLst/>
          </a:prstGeom>
        </p:spPr>
      </p:pic>
      <p:pic>
        <p:nvPicPr>
          <p:cNvPr id="5" name="Image 3" descr="Слайд 9 · шаг 3">    </p:cNvPr>
          <p:cNvPicPr>
            <a:picLocks noChangeAspect="1"/>
          </p:cNvPicPr>
          <p:nvPr/>
        </p:nvPicPr>
        <p:blipFill>
          <a:blip r:embed="rId4"/>
          <a:stretch>
            <a:fillRect/>
          </a:stretch>
        </p:blipFill>
        <p:spPr>
          <a:xfrm>
            <a:off x="3263900" y="3759200"/>
            <a:ext cx="533400" cy="565150"/>
          </a:xfrm>
          <a:prstGeom prst="rect">
            <a:avLst/>
          </a:prstGeom>
        </p:spPr>
      </p:pic>
      <p:pic>
        <p:nvPicPr>
          <p:cNvPr id="6" name="Image 4" descr="Слайд 9 · шаг 4">    </p:cNvPr>
          <p:cNvPicPr>
            <a:picLocks noChangeAspect="1"/>
          </p:cNvPicPr>
          <p:nvPr/>
        </p:nvPicPr>
        <p:blipFill>
          <a:blip r:embed="rId5"/>
          <a:stretch>
            <a:fillRect/>
          </a:stretch>
        </p:blipFill>
        <p:spPr>
          <a:xfrm>
            <a:off x="5359400" y="3759200"/>
            <a:ext cx="533400" cy="565150"/>
          </a:xfrm>
          <a:prstGeom prst="rect">
            <a:avLst/>
          </a:prstGeom>
        </p:spPr>
      </p:pic>
      <p:pic>
        <p:nvPicPr>
          <p:cNvPr id="7" name="Image 5" descr="Слайд 9 · шаг 5">    </p:cNvPr>
          <p:cNvPicPr>
            <a:picLocks noChangeAspect="1"/>
          </p:cNvPicPr>
          <p:nvPr/>
        </p:nvPicPr>
        <p:blipFill>
          <a:blip r:embed="rId6"/>
          <a:stretch>
            <a:fillRect/>
          </a:stretch>
        </p:blipFill>
        <p:spPr>
          <a:xfrm>
            <a:off x="5740400" y="1809750"/>
            <a:ext cx="698500" cy="273050"/>
          </a:xfrm>
          <a:prstGeom prst="rect">
            <a:avLst/>
          </a:prstGeom>
        </p:spPr>
      </p:pic>
      <p:pic>
        <p:nvPicPr>
          <p:cNvPr id="8" name="Image 6" descr="Слайд 9 · шаг 6">    </p:cNvPr>
          <p:cNvPicPr>
            <a:picLocks noChangeAspect="1"/>
          </p:cNvPicPr>
          <p:nvPr/>
        </p:nvPicPr>
        <p:blipFill>
          <a:blip r:embed="rId7"/>
          <a:stretch>
            <a:fillRect/>
          </a:stretch>
        </p:blipFill>
        <p:spPr>
          <a:xfrm>
            <a:off x="5956300" y="3759200"/>
            <a:ext cx="533400" cy="565150"/>
          </a:xfrm>
          <a:prstGeom prst="rect">
            <a:avLst/>
          </a:prstGeom>
        </p:spPr>
      </p:pic>
      <p:pic>
        <p:nvPicPr>
          <p:cNvPr id="9" name="Image 7" descr="Слайд 9 · шаг 7">    </p:cNvPr>
          <p:cNvPicPr>
            <a:picLocks noChangeAspect="1"/>
          </p:cNvPicPr>
          <p:nvPr/>
        </p:nvPicPr>
        <p:blipFill>
          <a:blip r:embed="rId8"/>
          <a:stretch>
            <a:fillRect/>
          </a:stretch>
        </p:blipFill>
        <p:spPr>
          <a:xfrm>
            <a:off x="6553200" y="3759200"/>
            <a:ext cx="533400" cy="565150"/>
          </a:xfrm>
          <a:prstGeom prst="rect">
            <a:avLst/>
          </a:prstGeom>
        </p:spPr>
      </p:pic>
      <p:pic>
        <p:nvPicPr>
          <p:cNvPr id="10" name="Image 8" descr="Слайд 9 · шаг 8">    </p:cNvPr>
          <p:cNvPicPr>
            <a:picLocks noChangeAspect="1"/>
          </p:cNvPicPr>
          <p:nvPr/>
        </p:nvPicPr>
        <p:blipFill>
          <a:blip r:embed="rId9"/>
          <a:stretch>
            <a:fillRect/>
          </a:stretch>
        </p:blipFill>
        <p:spPr>
          <a:xfrm>
            <a:off x="7454900" y="3759200"/>
            <a:ext cx="533400" cy="565150"/>
          </a:xfrm>
          <a:prstGeom prst="rect">
            <a:avLst/>
          </a:prstGeom>
        </p:spPr>
      </p:pic>
      <p:pic>
        <p:nvPicPr>
          <p:cNvPr id="11" name="Image 9" descr="Слайд 9 · шаг 9">    </p:cNvPr>
          <p:cNvPicPr>
            <a:picLocks noChangeAspect="1"/>
          </p:cNvPicPr>
          <p:nvPr/>
        </p:nvPicPr>
        <p:blipFill>
          <a:blip r:embed="rId10"/>
          <a:stretch>
            <a:fillRect/>
          </a:stretch>
        </p:blipFill>
        <p:spPr>
          <a:xfrm>
            <a:off x="762000" y="5651500"/>
            <a:ext cx="74930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384550" cy="254000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50546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1949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1841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714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461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8895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225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0">    </p:cNvPr>
          <p:cNvPicPr>
            <a:picLocks noChangeAspect="1"/>
          </p:cNvPicPr>
          <p:nvPr/>
        </p:nvPicPr>
        <p:blipFill>
          <a:blip r:embed="rId2"/>
          <a:stretch>
            <a:fillRect/>
          </a:stretch>
        </p:blipFill>
        <p:spPr>
          <a:xfrm>
            <a:off x="742950" y="2794000"/>
            <a:ext cx="2432050" cy="609600"/>
          </a:xfrm>
          <a:prstGeom prst="rect">
            <a:avLst/>
          </a:prstGeom>
        </p:spPr>
      </p:pic>
      <p:pic>
        <p:nvPicPr>
          <p:cNvPr id="4" name="Image 2" descr="Слайд 14 · шаг 1">    </p:cNvPr>
          <p:cNvPicPr>
            <a:picLocks noChangeAspect="1"/>
          </p:cNvPicPr>
          <p:nvPr/>
        </p:nvPicPr>
        <p:blipFill>
          <a:blip r:embed="rId3"/>
          <a:stretch>
            <a:fillRect/>
          </a:stretch>
        </p:blipFill>
        <p:spPr>
          <a:xfrm>
            <a:off x="742950" y="2457450"/>
            <a:ext cx="10699750" cy="946150"/>
          </a:xfrm>
          <a:prstGeom prst="rect">
            <a:avLst/>
          </a:prstGeom>
        </p:spPr>
      </p:pic>
      <p:pic>
        <p:nvPicPr>
          <p:cNvPr id="5" name="Image 3" descr="Слайд 14 · шаг 2">    </p:cNvPr>
          <p:cNvPicPr>
            <a:picLocks noChangeAspect="1"/>
          </p:cNvPicPr>
          <p:nvPr/>
        </p:nvPicPr>
        <p:blipFill>
          <a:blip r:embed="rId4"/>
          <a:stretch>
            <a:fillRect/>
          </a:stretch>
        </p:blipFill>
        <p:spPr>
          <a:xfrm>
            <a:off x="3829050" y="3733800"/>
            <a:ext cx="7613650" cy="736600"/>
          </a:xfrm>
          <a:prstGeom prst="rect">
            <a:avLst/>
          </a:prstGeom>
        </p:spPr>
      </p:pic>
      <p:pic>
        <p:nvPicPr>
          <p:cNvPr id="6" name="Image 4" descr="Слайд 14 · шаг 3">    </p:cNvPr>
          <p:cNvPicPr>
            <a:picLocks noChangeAspect="1"/>
          </p:cNvPicPr>
          <p:nvPr/>
        </p:nvPicPr>
        <p:blipFill>
          <a:blip r:embed="rId5"/>
          <a:stretch>
            <a:fillRect/>
          </a:stretch>
        </p:blipFill>
        <p:spPr>
          <a:xfrm>
            <a:off x="755650" y="5118100"/>
            <a:ext cx="5416550" cy="952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xit" presetSubtype="0" fill="hold" grpId="0" nodeType="withEffect">
                                  <p:stCondLst>
                                    <p:cond delay="0"/>
                                  </p:stCondLst>
                                  <p:childTnLst>
                                    <p:animEffect transition="out" filter="fade">
                                      <p:cBhvr>
                                        <p:cTn id="9" dur="500"/>
                                        <p:tgtEl>
                                          <p:spTgt spid="3"/>
                                        </p:tgtEl>
                                      </p:cBhvr>
                                    </p:animEffect>
                                    <p:set>
                                      <p:cBhvr>
                                        <p:cTn id="10" dur="1" fill="hold">
                                          <p:stCondLst>
                                            <p:cond delay="499"/>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676650" cy="3359150"/>
          </a:xfrm>
          <a:prstGeom prst="rect">
            <a:avLst/>
          </a:prstGeom>
        </p:spPr>
      </p:pic>
      <p:pic>
        <p:nvPicPr>
          <p:cNvPr id="4" name="Image 2" descr="Слайд 15 · шаг 2">    </p:cNvPr>
          <p:cNvPicPr>
            <a:picLocks noChangeAspect="1"/>
          </p:cNvPicPr>
          <p:nvPr/>
        </p:nvPicPr>
        <p:blipFill>
          <a:blip r:embed="rId3"/>
          <a:stretch>
            <a:fillRect/>
          </a:stretch>
        </p:blipFill>
        <p:spPr>
          <a:xfrm>
            <a:off x="4768850" y="2432050"/>
            <a:ext cx="6680200" cy="33718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515100" cy="254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215900"/>
            <a:ext cx="3562350" cy="34290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085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2255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7302500" cy="1720850"/>
          </a:xfrm>
          <a:prstGeom prst="rect">
            <a:avLst/>
          </a:prstGeom>
        </p:spPr>
      </p:pic>
      <p:pic>
        <p:nvPicPr>
          <p:cNvPr id="4" name="Image 2" descr="Слайд 17 · шаг 2">    </p:cNvPr>
          <p:cNvPicPr>
            <a:picLocks noChangeAspect="1"/>
          </p:cNvPicPr>
          <p:nvPr/>
        </p:nvPicPr>
        <p:blipFill>
          <a:blip r:embed="rId3"/>
          <a:stretch>
            <a:fillRect/>
          </a:stretch>
        </p:blipFill>
        <p:spPr>
          <a:xfrm>
            <a:off x="8458200" y="4514850"/>
            <a:ext cx="1987550" cy="565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38350"/>
            <a:ext cx="4445000" cy="2711450"/>
          </a:xfrm>
          <a:prstGeom prst="rect">
            <a:avLst/>
          </a:prstGeom>
        </p:spPr>
      </p:pic>
      <p:pic>
        <p:nvPicPr>
          <p:cNvPr id="4" name="Image 2" descr="Слайд 18 · шаг 2">    </p:cNvPr>
          <p:cNvPicPr>
            <a:picLocks noChangeAspect="1"/>
          </p:cNvPicPr>
          <p:nvPr/>
        </p:nvPicPr>
        <p:blipFill>
          <a:blip r:embed="rId3"/>
          <a:stretch>
            <a:fillRect/>
          </a:stretch>
        </p:blipFill>
        <p:spPr>
          <a:xfrm>
            <a:off x="3841750" y="2362200"/>
            <a:ext cx="102870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38350"/>
            <a:ext cx="4445000" cy="2609850"/>
          </a:xfrm>
          <a:prstGeom prst="rect">
            <a:avLst/>
          </a:prstGeom>
        </p:spPr>
      </p:pic>
      <p:pic>
        <p:nvPicPr>
          <p:cNvPr id="6" name="Image 4" descr="Слайд 18 · шаг 4">    </p:cNvPr>
          <p:cNvPicPr>
            <a:picLocks noChangeAspect="1"/>
          </p:cNvPicPr>
          <p:nvPr/>
        </p:nvPicPr>
        <p:blipFill>
          <a:blip r:embed="rId5"/>
          <a:stretch>
            <a:fillRect/>
          </a:stretch>
        </p:blipFill>
        <p:spPr>
          <a:xfrm>
            <a:off x="8350250" y="2362200"/>
            <a:ext cx="27432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1974850"/>
            <a:ext cx="7988300" cy="269240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378450"/>
            <a:ext cx="9245600" cy="51435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413500" y="2375913"/>
            <a:ext cx="5035550" cy="2785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 presetClass="mediacall" presetSubtype="0" fill="hold" nodeType="withEffect">
                                  <p:stCondLst>
                                    <p:cond delay="0"/>
                                  </p:stCondLst>
                                  <p:childTnLst>
                                    <p:cmd type="call" cmd="playFrom(0.0)">
                                      <p:cBhvr>
                                        <p:cTn id="12" dur="13900" fill="hold"/>
                                        <p:tgtEl>
                                          <p:spTgt spid="5"/>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5"/>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2 · шаг 1">    </p:cNvPr>
          <p:cNvPicPr>
            <a:picLocks noChangeAspect="1"/>
          </p:cNvPicPr>
          <p:nvPr/>
        </p:nvPicPr>
        <p:blipFill>
          <a:blip r:embed="rId2"/>
          <a:stretch>
            <a:fillRect/>
          </a:stretch>
        </p:blipFill>
        <p:spPr>
          <a:xfrm>
            <a:off x="742950" y="215900"/>
            <a:ext cx="10655300" cy="5403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197100"/>
            <a:ext cx="5784850" cy="2584450"/>
          </a:xfrm>
          <a:prstGeom prst="rect">
            <a:avLst/>
          </a:prstGeom>
        </p:spPr>
      </p:pic>
      <p:pic>
        <p:nvPicPr>
          <p:cNvPr id="4" name="Image 2" descr="Слайд 23 · шаг 2">    </p:cNvPr>
          <p:cNvPicPr>
            <a:picLocks noChangeAspect="1"/>
          </p:cNvPicPr>
          <p:nvPr/>
        </p:nvPicPr>
        <p:blipFill>
          <a:blip r:embed="rId3"/>
          <a:stretch>
            <a:fillRect/>
          </a:stretch>
        </p:blipFill>
        <p:spPr>
          <a:xfrm>
            <a:off x="7404100" y="2203450"/>
            <a:ext cx="4044950" cy="23304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215900"/>
            <a:ext cx="10706100" cy="543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653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334000" y="2096558"/>
            <a:ext cx="6096000" cy="3115733"/>
          </a:xfrm>
          <a:prstGeom prst="rect">
            <a:avLst/>
          </a:prstGeom>
        </p:spPr>
      </p:pic>
      <p:pic>
        <p:nvPicPr>
          <p:cNvPr id="6" name="Image 3" descr="Слайд 25 · подписи поверх видео">    </p:cNvPr>
          <p:cNvPicPr>
            <a:picLocks noChangeAspect="1"/>
          </p:cNvPicPr>
          <p:nvPr/>
        </p:nvPicPr>
        <p:blipFill>
          <a:blip r:embed="rId7"/>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 presetClass="mediacall" presetSubtype="0" fill="hold" nodeType="withEffect">
                                  <p:stCondLst>
                                    <p:cond delay="0"/>
                                  </p:stCondLst>
                                  <p:childTnLst>
                                    <p:cmd type="call" cmd="playFrom(0.0)">
                                      <p:cBhvr>
                                        <p:cTn id="17" dur="6000" fill="hold"/>
                                        <p:tgtEl>
                                          <p:spTgt spid="5"/>
                                        </p:tgtEl>
                                      </p:cBhvr>
                                    </p:cmd>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1" repeatCount="indefinite" fill="hold" display="0">
                  <p:stCondLst>
                    <p:cond delay="indefinite"/>
                  </p:stCondLst>
                </p:cTn>
                <p:tgtEl>
                  <p:spTgt spid="5"/>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7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7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7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7 · шаг 4">    </p:cNvPr>
          <p:cNvPicPr>
            <a:picLocks noChangeAspect="1"/>
          </p:cNvPicPr>
          <p:nvPr/>
        </p:nvPicPr>
        <p:blipFill>
          <a:blip r:embed="rId5"/>
          <a:stretch>
            <a:fillRect/>
          </a:stretch>
        </p:blipFill>
        <p:spPr>
          <a:xfrm>
            <a:off x="749300" y="5264150"/>
            <a:ext cx="7810500" cy="20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8394700" cy="21590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6"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 presetClass="mediacall" presetSubtype="0" fill="hold" nodeType="withEffect">
                                  <p:stCondLst>
                                    <p:cond delay="0"/>
                                  </p:stCondLst>
                                  <p:childTnLst>
                                    <p:cmd type="call" cmd="playFrom(0.0)">
                                      <p:cBhvr>
                                        <p:cTn id="16" dur="5000" fill="hold"/>
                                        <p:tgtEl>
                                          <p:spTgt spid="6"/>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5"/>
                </p:tgtEl>
              </p:cMediaNode>
            </p:video>
            <p:video>
              <p:cMediaNode vol="80000" mute="1">
                <p:cTn id="23" repeatCount="indefinite" fill="hold" display="0">
                  <p:stCondLst>
                    <p:cond delay="indefinite"/>
                  </p:stCondLst>
                </p:cTn>
                <p:tgtEl>
                  <p:spTgt spid="6"/>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3840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63750"/>
          </a:xfrm>
          <a:prstGeom prst="rect">
            <a:avLst/>
          </a:prstGeom>
        </p:spPr>
      </p:pic>
      <p:pic>
        <p:nvPicPr>
          <p:cNvPr id="5" name="Image 3" descr="Слайд 32 · шаг 3">    </p:cNvPr>
          <p:cNvPicPr>
            <a:picLocks noChangeAspect="1"/>
          </p:cNvPicPr>
          <p:nvPr/>
        </p:nvPicPr>
        <p:blipFill>
          <a:blip r:embed="rId4"/>
          <a:stretch>
            <a:fillRect/>
          </a:stretch>
        </p:blipFill>
        <p:spPr>
          <a:xfrm>
            <a:off x="762000" y="5537200"/>
            <a:ext cx="7664450" cy="196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4 · шаг 1">    </p:cNvPr>
          <p:cNvPicPr>
            <a:picLocks noChangeAspect="1"/>
          </p:cNvPicPr>
          <p:nvPr/>
        </p:nvPicPr>
        <p:blipFill>
          <a:blip r:embed="rId2"/>
          <a:stretch>
            <a:fillRect/>
          </a:stretch>
        </p:blipFill>
        <p:spPr>
          <a:xfrm>
            <a:off x="1733550" y="3187700"/>
            <a:ext cx="9423400" cy="711200"/>
          </a:xfrm>
          <a:prstGeom prst="rect">
            <a:avLst/>
          </a:prstGeom>
        </p:spPr>
      </p:pic>
      <p:pic>
        <p:nvPicPr>
          <p:cNvPr id="4" name="Image 2" descr="Слайд 34 · шаг 2">    </p:cNvPr>
          <p:cNvPicPr>
            <a:picLocks noChangeAspect="1"/>
          </p:cNvPicPr>
          <p:nvPr/>
        </p:nvPicPr>
        <p:blipFill>
          <a:blip r:embed="rId3"/>
          <a:stretch>
            <a:fillRect/>
          </a:stretch>
        </p:blipFill>
        <p:spPr>
          <a:xfrm>
            <a:off x="1720850" y="2317750"/>
            <a:ext cx="9448800" cy="1479550"/>
          </a:xfrm>
          <a:prstGeom prst="rect">
            <a:avLst/>
          </a:prstGeom>
        </p:spPr>
      </p:pic>
      <p:pic>
        <p:nvPicPr>
          <p:cNvPr id="5" name="Image 3" descr="Слайд 34 · шаг 3">    </p:cNvPr>
          <p:cNvPicPr>
            <a:picLocks noChangeAspect="1"/>
          </p:cNvPicPr>
          <p:nvPr/>
        </p:nvPicPr>
        <p:blipFill>
          <a:blip r:embed="rId4"/>
          <a:stretch>
            <a:fillRect/>
          </a:stretch>
        </p:blipFill>
        <p:spPr>
          <a:xfrm>
            <a:off x="762000" y="2178050"/>
            <a:ext cx="8737600" cy="380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061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061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061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061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7747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2971800" cy="11112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9 · шаг 1">    </p:cNvPr>
          <p:cNvPicPr>
            <a:picLocks noChangeAspect="1"/>
          </p:cNvPicPr>
          <p:nvPr/>
        </p:nvPicPr>
        <p:blipFill>
          <a:blip r:embed="rId2"/>
          <a:stretch>
            <a:fillRect/>
          </a:stretch>
        </p:blipFill>
        <p:spPr>
          <a:xfrm>
            <a:off x="6934200" y="3619500"/>
            <a:ext cx="3397250" cy="158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2026-10-16T17:35:15Z</dcterms:created>
  <dcterms:modified xsi:type="dcterms:W3CDTF">2026-10-16T17:35:15Z</dcterms:modified>
</cp:coreProperties>
</file>