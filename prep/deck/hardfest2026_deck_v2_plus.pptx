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Default Extension="mp4" ContentType="video/mp4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0b4668730344a8" /><Relationship Type="http://schemas.openxmlformats.org/officeDocument/2006/relationships/extended-properties" Target="/docProps/app.xml" Id="R5e2b048bb20647aa" /><Relationship Type="http://schemas.openxmlformats.org/officeDocument/2006/relationships/officeDocument" Target="/ppt/presentation.xml" Id="R7827de23390c4d3a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4122370c28bc4c1e"/>
  </p:sldMasterIdLst>
  <p:notesMasterIdLst>
    <p:notesMasterId xmlns:r="http://schemas.openxmlformats.org/officeDocument/2006/relationships" r:id="Rc2e08cd424974712"/>
  </p:notesMasterIdLst>
  <p:sldIdLst>
    <p:sldId xmlns:r="http://schemas.openxmlformats.org/officeDocument/2006/relationships" id="256" r:id="R3809eccdb522433f"/>
    <p:sldId xmlns:r="http://schemas.openxmlformats.org/officeDocument/2006/relationships" id="257" r:id="R65df06425c2c4faa"/>
    <p:sldId xmlns:r="http://schemas.openxmlformats.org/officeDocument/2006/relationships" id="258" r:id="R29d42db09c1f425e"/>
    <p:sldId xmlns:r="http://schemas.openxmlformats.org/officeDocument/2006/relationships" id="259" r:id="Rc0db1f0bdab0439c"/>
    <p:sldId xmlns:r="http://schemas.openxmlformats.org/officeDocument/2006/relationships" id="260" r:id="R780bd5f8e7a54ff0"/>
    <p:sldId xmlns:r="http://schemas.openxmlformats.org/officeDocument/2006/relationships" id="261" r:id="Re26122684ce74d5b"/>
    <p:sldId xmlns:r="http://schemas.openxmlformats.org/officeDocument/2006/relationships" id="262" r:id="R7ec84da16e0c4cc4"/>
    <p:sldId xmlns:r="http://schemas.openxmlformats.org/officeDocument/2006/relationships" id="263" r:id="R1a8960df048b461a"/>
    <p:sldId xmlns:r="http://schemas.openxmlformats.org/officeDocument/2006/relationships" id="264" r:id="R17222af746f44c73"/>
    <p:sldId xmlns:r="http://schemas.openxmlformats.org/officeDocument/2006/relationships" id="265" r:id="R05c8a283454c4142"/>
    <p:sldId xmlns:r="http://schemas.openxmlformats.org/officeDocument/2006/relationships" id="266" r:id="Re975b2b9cfe641f0"/>
    <p:sldId xmlns:r="http://schemas.openxmlformats.org/officeDocument/2006/relationships" id="267" r:id="Rfb7587efb8ba48c0"/>
    <p:sldId xmlns:r="http://schemas.openxmlformats.org/officeDocument/2006/relationships" id="268" r:id="R592b5397547046e6"/>
    <p:sldId xmlns:r="http://schemas.openxmlformats.org/officeDocument/2006/relationships" id="269" r:id="R28c61fca11084c59"/>
    <p:sldId xmlns:r="http://schemas.openxmlformats.org/officeDocument/2006/relationships" id="270" r:id="Rc8b128cb931145ed"/>
    <p:sldId xmlns:r="http://schemas.openxmlformats.org/officeDocument/2006/relationships" id="271" r:id="Rb4ad62d71b3f4c4a"/>
    <p:sldId xmlns:r="http://schemas.openxmlformats.org/officeDocument/2006/relationships" id="272" r:id="R0f7d2c151ecf48f3"/>
    <p:sldId xmlns:r="http://schemas.openxmlformats.org/officeDocument/2006/relationships" id="273" r:id="R6035d981002e4891"/>
    <p:sldId xmlns:r="http://schemas.openxmlformats.org/officeDocument/2006/relationships" id="274" r:id="R912e58dbceff4457"/>
    <p:sldId xmlns:r="http://schemas.openxmlformats.org/officeDocument/2006/relationships" id="275" r:id="R279f83db4960461a"/>
    <p:sldId xmlns:r="http://schemas.openxmlformats.org/officeDocument/2006/relationships" id="276" r:id="R4c483f06659d41a8"/>
    <p:sldId xmlns:r="http://schemas.openxmlformats.org/officeDocument/2006/relationships" id="277" r:id="R30e80279faa34d19"/>
    <p:sldId xmlns:r="http://schemas.openxmlformats.org/officeDocument/2006/relationships" id="278" r:id="R60e14bb864174c68"/>
    <p:sldId xmlns:r="http://schemas.openxmlformats.org/officeDocument/2006/relationships" id="279" r:id="R3f008a8086174da9"/>
    <p:sldId xmlns:r="http://schemas.openxmlformats.org/officeDocument/2006/relationships" id="280" r:id="Rd3ad970869404099"/>
    <p:sldId xmlns:r="http://schemas.openxmlformats.org/officeDocument/2006/relationships" id="281" r:id="Rdea57781a60b4eff"/>
    <p:sldId xmlns:r="http://schemas.openxmlformats.org/officeDocument/2006/relationships" id="282" r:id="R287849a2f19b4b31"/>
    <p:sldId xmlns:r="http://schemas.openxmlformats.org/officeDocument/2006/relationships" id="283" r:id="R7b1145a7aad34d75"/>
    <p:sldId xmlns:r="http://schemas.openxmlformats.org/officeDocument/2006/relationships" id="284" r:id="R282bc0dcc7e24953"/>
    <p:sldId xmlns:r="http://schemas.openxmlformats.org/officeDocument/2006/relationships" id="285" r:id="R78145e1bcbcf43a5"/>
    <p:sldId xmlns:r="http://schemas.openxmlformats.org/officeDocument/2006/relationships" id="286" r:id="R2bcdd9661d914644"/>
    <p:sldId xmlns:r="http://schemas.openxmlformats.org/officeDocument/2006/relationships" id="287" r:id="Rcc56aff1690545d6"/>
    <p:sldId xmlns:r="http://schemas.openxmlformats.org/officeDocument/2006/relationships" id="288" r:id="R2dbb62a3a81e4b6c"/>
    <p:sldId xmlns:r="http://schemas.openxmlformats.org/officeDocument/2006/relationships" id="289" r:id="R5392a34a81a64443"/>
    <p:sldId xmlns:r="http://schemas.openxmlformats.org/officeDocument/2006/relationships" id="290" r:id="R4b48283242984af2"/>
    <p:sldId xmlns:r="http://schemas.openxmlformats.org/officeDocument/2006/relationships" id="291" r:id="R3087eaaecafb47cb"/>
    <p:sldId xmlns:r="http://schemas.openxmlformats.org/officeDocument/2006/relationships" id="292" r:id="R03c2d61a9ffd46aa"/>
    <p:sldId xmlns:r="http://schemas.openxmlformats.org/officeDocument/2006/relationships" id="293" r:id="R4ef15e5cafbd41ef"/>
    <p:sldId xmlns:r="http://schemas.openxmlformats.org/officeDocument/2006/relationships" id="294" r:id="Rf833f3a2188c49b5"/>
    <p:sldId xmlns:r="http://schemas.openxmlformats.org/officeDocument/2006/relationships" id="295" r:id="R41561c45e4614d9e"/>
    <p:sldId xmlns:r="http://schemas.openxmlformats.org/officeDocument/2006/relationships" id="296" r:id="R01fd5e05436f4794"/>
    <p:sldId xmlns:r="http://schemas.openxmlformats.org/officeDocument/2006/relationships" id="297" r:id="Ra6666bd85ec24de1"/>
    <p:sldId xmlns:r="http://schemas.openxmlformats.org/officeDocument/2006/relationships" id="298" r:id="R778d0a2fc29c449c"/>
    <p:sldId xmlns:r="http://schemas.openxmlformats.org/officeDocument/2006/relationships" id="299" r:id="R062678e353b44d73"/>
    <p:sldId xmlns:r="http://schemas.openxmlformats.org/officeDocument/2006/relationships" id="300" r:id="R463e3ec716b34e0c"/>
    <p:sldId xmlns:r="http://schemas.openxmlformats.org/officeDocument/2006/relationships" id="301" r:id="R00cda9d07fa440ea"/>
    <p:sldId xmlns:r="http://schemas.openxmlformats.org/officeDocument/2006/relationships" id="302" r:id="R41b0994e4452496c"/>
    <p:sldId xmlns:r="http://schemas.openxmlformats.org/officeDocument/2006/relationships" id="303" r:id="R22ce8a247b5247cf"/>
    <p:sldId xmlns:r="http://schemas.openxmlformats.org/officeDocument/2006/relationships" id="304" r:id="R6f555ceee32b4aa0"/>
    <p:sldId xmlns:r="http://schemas.openxmlformats.org/officeDocument/2006/relationships" id="305" r:id="Rfd71abb484894d81"/>
    <p:sldId xmlns:r="http://schemas.openxmlformats.org/officeDocument/2006/relationships" id="306" r:id="Rb6f33eb75da14c5f"/>
    <p:sldId xmlns:r="http://schemas.openxmlformats.org/officeDocument/2006/relationships" id="307" r:id="Rce5870baed12406e"/>
  </p:sldIdLst>
  <p:sldSz cx="9144000" cy="5143500"/>
  <p:notesSz cx="6858000" cy="9144000"/>
  <p:embeddedFontLst xmlns:r="http://schemas.openxmlformats.org/officeDocument/2006/relationships">
    <p:embeddedFont>
      <p:font typeface="Montserrat SemiBold"/>
      <p:regular r:id="rIdHFfont58"/>
      <p:bold r:id="rIdHFfont59"/>
      <p:italic r:id="rIdHFfont60"/>
      <p:boldItalic r:id="rIdHFfont61"/>
    </p:embeddedFont>
    <p:embeddedFont>
      <p:font typeface="Montserrat"/>
      <p:regular r:id="rIdHFfont62"/>
      <p:bold r:id="rIdHFfont63"/>
      <p:italic r:id="rIdHFfont64"/>
      <p:boldItalic r:id="rIdHFfont65"/>
    </p:embeddedFont>
    <p:embeddedFont>
      <p:font typeface="Geologica Light"/>
      <p:regular r:id="rIdHFfont66"/>
      <p:bold r:id="rIdHFfont67"/>
    </p:embeddedFont>
    <p:embeddedFont>
      <p:font typeface="Montserrat ExtraBold"/>
      <p:bold r:id="rIdHFfont68"/>
      <p:boldItalic r:id="rIdHFfont69"/>
    </p:embeddedFont>
  </p:embeddedFontLst>
  <p:extLst>
    <p:ext uri="{521415D9-36F7-43E2-AB2F-B90AF26B5E84}">
      <ns0:sectionLst xmlns:ns0="http://schemas.microsoft.com/office/powerpoint/2010/main">
        <ns0:section name="Расследование: диф, задача, первая ставка" id="{DAA9EDA5-C71F-5C56-996D-29B6D53F7318}">
          <ns0:sldIdLst>
            <ns0:sldId id="256"/>
            <ns0:sldId id="257"/>
            <ns0:sldId id="258"/>
            <ns0:sldId id="259"/>
            <ns0:sldId id="260"/>
            <ns0:sldId id="261"/>
            <ns0:sldId id="262"/>
            <ns0:sldId id="263"/>
          </ns0:sldIdLst>
        </ns0:section>
        <ns0:section name="Стоимость операций: размер, память, реализация" id="{6DAA842E-197B-59EF-A1EF-762DE104CEEB}">
          <ns0:sldIdLst>
            <ns0:sldId id="264"/>
            <ns0:sldId id="265"/>
            <ns0:sldId id="266"/>
            <ns0:sldId id="267"/>
            <ns0:sldId id="268"/>
          </ns0:sldIdLst>
        </ns0:section>
        <ns0:section name="Условия задачи: повторы, контракт, порядок входа" id="{5538C895-191E-5418-933C-0B44E38FBF41}">
          <ns0:sldIdLst>
            <ns0:sldId id="269"/>
            <ns0:sldId id="270"/>
            <ns0:sldId id="271"/>
            <ns0:sldId id="272"/>
          </ns0:sldIdLst>
        </ns0:section>
        <ns0:section name="Проверка собственного бенчмарка" id="{462ADCA8-8898-599B-B4C8-AB4D7987F6C8}">
          <ns0:sldIdLst>
            <ns0:sldId id="273"/>
          </ns0:sldIdLst>
        </ns0:section>
        <ns0:section name="Среда исполнения: QoS, ядра и CI" id="{EB86BAFE-056F-563E-ACA7-959934106C69}">
          <ns0:sldIdLst>
            <ns0:sldId id="274"/>
            <ns0:sldId id="275"/>
            <ns0:sldId id="276"/>
            <ns0:sldId id="277"/>
            <ns0:sldId id="278"/>
          </ns0:sldIdLst>
        </ns0:section>
        <ns0:section name="Развязка: решение, применение, ревью" id="{4DAB199E-5A5F-5B51-9A2C-BB17FED83ABE}">
          <ns0:sldIdLst>
            <ns0:sldId id="279"/>
            <ns0:sldId id="280"/>
            <ns0:sldId id="281"/>
            <ns0:sldId id="282"/>
            <ns0:sldId id="283"/>
          </ns0:sldIdLst>
        </ns0:section>
        <ns0:section name="Дополнительные модули и ответы на вопросы" id="{099A4C7A-571A-5C7C-BC5B-3749402F9598}">
          <ns0:sldIdLst>
            <ns0:sldId id="284"/>
            <ns0:sldId id="285"/>
            <ns0:sldId id="286"/>
            <ns0:sldId id="287"/>
            <ns0:sldId id="288"/>
            <ns0:sldId id="289"/>
            <ns0:sldId id="290"/>
            <ns0:sldId id="291"/>
            <ns0:sldId id="292"/>
            <ns0:sldId id="293"/>
            <ns0:sldId id="294"/>
            <ns0:sldId id="295"/>
            <ns0:sldId id="296"/>
            <ns0:sldId id="297"/>
            <ns0:sldId id="298"/>
            <ns0:sldId id="299"/>
            <ns0:sldId id="300"/>
            <ns0:sldId id="301"/>
            <ns0:sldId id="302"/>
            <ns0:sldId id="303"/>
            <ns0:sldId id="304"/>
          </ns0:sldIdLst>
        </ns0:section>
        <ns0:section name="Архив, скрыт при показе" id="{9D54CDA7-9659-5CB0-AD33-42CACDFCF710}">
          <ns0:sldIdLst>
            <ns0:sldId id="305"/>
            <ns0:sldId id="306"/>
            <ns0:sldId id="307"/>
          </ns0:sldIdLst>
        </ns0:section>
      </ns0:sectionLst>
    </p:ext>
  </p:ex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275e7f8f2ee4458"/><Relationship Type="http://schemas.openxmlformats.org/officeDocument/2006/relationships/slideMaster" Target="/ppt/slideMasters/slideMaster1.xml" Id="R4122370c28bc4c1e"/><Relationship Type="http://schemas.openxmlformats.org/officeDocument/2006/relationships/notesMaster" Target="/ppt/notesMasters/notesMaster1.xml" Id="Rc2e08cd424974712"/><Relationship Type="http://schemas.openxmlformats.org/officeDocument/2006/relationships/presProps" Target="/ppt/presProps.xml" Id="R026b8cee982841b9"/><Relationship Type="http://schemas.openxmlformats.org/officeDocument/2006/relationships/tableStyles" Target="/ppt/tableStyles.xml" Id="Rd4a8883b749f4485"/><Relationship Type="http://schemas.openxmlformats.org/officeDocument/2006/relationships/slide" Target="/ppt/slides/slide1.xml" Id="R3809eccdb522433f"/><Relationship Type="http://schemas.openxmlformats.org/officeDocument/2006/relationships/slide" Target="/ppt/slides/slide2.xml" Id="R65df06425c2c4faa"/><Relationship Type="http://schemas.openxmlformats.org/officeDocument/2006/relationships/slide" Target="/ppt/slides/slide3.xml" Id="R29d42db09c1f425e"/><Relationship Type="http://schemas.openxmlformats.org/officeDocument/2006/relationships/slide" Target="/ppt/slides/slide4.xml" Id="Rc0db1f0bdab0439c"/><Relationship Type="http://schemas.openxmlformats.org/officeDocument/2006/relationships/slide" Target="/ppt/slides/slide5.xml" Id="R780bd5f8e7a54ff0"/><Relationship Type="http://schemas.openxmlformats.org/officeDocument/2006/relationships/slide" Target="/ppt/slides/slide6.xml" Id="Re26122684ce74d5b"/><Relationship Type="http://schemas.openxmlformats.org/officeDocument/2006/relationships/slide" Target="/ppt/slides/slide7.xml" Id="R7ec84da16e0c4cc4"/><Relationship Type="http://schemas.openxmlformats.org/officeDocument/2006/relationships/slide" Target="/ppt/slides/slide8.xml" Id="R1a8960df048b461a"/><Relationship Type="http://schemas.openxmlformats.org/officeDocument/2006/relationships/slide" Target="/ppt/slides/slide9.xml" Id="R17222af746f44c73"/><Relationship Type="http://schemas.openxmlformats.org/officeDocument/2006/relationships/slide" Target="/ppt/slides/slide10.xml" Id="R05c8a283454c4142"/><Relationship Type="http://schemas.openxmlformats.org/officeDocument/2006/relationships/slide" Target="/ppt/slides/slide11.xml" Id="Re975b2b9cfe641f0"/><Relationship Type="http://schemas.openxmlformats.org/officeDocument/2006/relationships/slide" Target="/ppt/slides/slide12.xml" Id="Rfb7587efb8ba48c0"/><Relationship Type="http://schemas.openxmlformats.org/officeDocument/2006/relationships/slide" Target="/ppt/slides/slide13.xml" Id="R592b5397547046e6"/><Relationship Type="http://schemas.openxmlformats.org/officeDocument/2006/relationships/slide" Target="/ppt/slides/slide14.xml" Id="R28c61fca11084c59"/><Relationship Type="http://schemas.openxmlformats.org/officeDocument/2006/relationships/slide" Target="/ppt/slides/slide15.xml" Id="Rc8b128cb931145ed"/><Relationship Type="http://schemas.openxmlformats.org/officeDocument/2006/relationships/slide" Target="/ppt/slides/slide16.xml" Id="Rb4ad62d71b3f4c4a"/><Relationship Type="http://schemas.openxmlformats.org/officeDocument/2006/relationships/slide" Target="/ppt/slides/slide17.xml" Id="R0f7d2c151ecf48f3"/><Relationship Type="http://schemas.openxmlformats.org/officeDocument/2006/relationships/slide" Target="/ppt/slides/slide18.xml" Id="R6035d981002e4891"/><Relationship Type="http://schemas.openxmlformats.org/officeDocument/2006/relationships/slide" Target="/ppt/slides/slide19.xml" Id="R912e58dbceff4457"/><Relationship Type="http://schemas.openxmlformats.org/officeDocument/2006/relationships/slide" Target="/ppt/slides/slide20.xml" Id="R279f83db4960461a"/><Relationship Type="http://schemas.openxmlformats.org/officeDocument/2006/relationships/slide" Target="/ppt/slides/slide21.xml" Id="R4c483f06659d41a8"/><Relationship Type="http://schemas.openxmlformats.org/officeDocument/2006/relationships/slide" Target="/ppt/slides/slide22.xml" Id="R30e80279faa34d19"/><Relationship Type="http://schemas.openxmlformats.org/officeDocument/2006/relationships/slide" Target="/ppt/slides/slide23.xml" Id="R60e14bb864174c68"/><Relationship Type="http://schemas.openxmlformats.org/officeDocument/2006/relationships/slide" Target="/ppt/slides/slide24.xml" Id="R3f008a8086174da9"/><Relationship Type="http://schemas.openxmlformats.org/officeDocument/2006/relationships/slide" Target="/ppt/slides/slide25.xml" Id="Rd3ad970869404099"/><Relationship Type="http://schemas.openxmlformats.org/officeDocument/2006/relationships/slide" Target="/ppt/slides/slide26.xml" Id="Rdea57781a60b4eff"/><Relationship Type="http://schemas.openxmlformats.org/officeDocument/2006/relationships/slide" Target="/ppt/slides/slide27.xml" Id="R287849a2f19b4b31"/><Relationship Type="http://schemas.openxmlformats.org/officeDocument/2006/relationships/slide" Target="/ppt/slides/slide28.xml" Id="R7b1145a7aad34d75"/><Relationship Type="http://schemas.openxmlformats.org/officeDocument/2006/relationships/slide" Target="/ppt/slides/slide29.xml" Id="R282bc0dcc7e24953"/><Relationship Type="http://schemas.openxmlformats.org/officeDocument/2006/relationships/slide" Target="/ppt/slides/slide30.xml" Id="R78145e1bcbcf43a5"/><Relationship Type="http://schemas.openxmlformats.org/officeDocument/2006/relationships/slide" Target="/ppt/slides/slide31.xml" Id="R2bcdd9661d914644"/><Relationship Type="http://schemas.openxmlformats.org/officeDocument/2006/relationships/slide" Target="/ppt/slides/slide32.xml" Id="Rcc56aff1690545d6"/><Relationship Type="http://schemas.openxmlformats.org/officeDocument/2006/relationships/slide" Target="/ppt/slides/slide33.xml" Id="R2dbb62a3a81e4b6c"/><Relationship Type="http://schemas.openxmlformats.org/officeDocument/2006/relationships/slide" Target="/ppt/slides/slide34.xml" Id="R5392a34a81a64443"/><Relationship Type="http://schemas.openxmlformats.org/officeDocument/2006/relationships/slide" Target="/ppt/slides/slide35.xml" Id="R4b48283242984af2"/><Relationship Type="http://schemas.openxmlformats.org/officeDocument/2006/relationships/slide" Target="/ppt/slides/slide36.xml" Id="R3087eaaecafb47cb"/><Relationship Type="http://schemas.openxmlformats.org/officeDocument/2006/relationships/slide" Target="/ppt/slides/slide37.xml" Id="R03c2d61a9ffd46aa"/><Relationship Type="http://schemas.openxmlformats.org/officeDocument/2006/relationships/slide" Target="/ppt/slides/slide38.xml" Id="R4ef15e5cafbd41ef"/><Relationship Type="http://schemas.openxmlformats.org/officeDocument/2006/relationships/slide" Target="/ppt/slides/slide39.xml" Id="Rf833f3a2188c49b5"/><Relationship Type="http://schemas.openxmlformats.org/officeDocument/2006/relationships/slide" Target="/ppt/slides/slide40.xml" Id="R41561c45e4614d9e"/><Relationship Type="http://schemas.openxmlformats.org/officeDocument/2006/relationships/slide" Target="/ppt/slides/slide41.xml" Id="R01fd5e05436f4794"/><Relationship Type="http://schemas.openxmlformats.org/officeDocument/2006/relationships/slide" Target="/ppt/slides/slide42.xml" Id="Ra6666bd85ec24de1"/><Relationship Type="http://schemas.openxmlformats.org/officeDocument/2006/relationships/slide" Target="/ppt/slides/slide43.xml" Id="R778d0a2fc29c449c"/><Relationship Type="http://schemas.openxmlformats.org/officeDocument/2006/relationships/slide" Target="/ppt/slides/slide44.xml" Id="R062678e353b44d73"/><Relationship Type="http://schemas.openxmlformats.org/officeDocument/2006/relationships/slide" Target="/ppt/slides/slide45.xml" Id="R463e3ec716b34e0c"/><Relationship Type="http://schemas.openxmlformats.org/officeDocument/2006/relationships/slide" Target="/ppt/slides/slide46.xml" Id="R00cda9d07fa440ea"/><Relationship Type="http://schemas.openxmlformats.org/officeDocument/2006/relationships/slide" Target="/ppt/slides/slide47.xml" Id="R41b0994e4452496c"/><Relationship Type="http://schemas.openxmlformats.org/officeDocument/2006/relationships/slide" Target="/ppt/slides/slide48.xml" Id="R22ce8a247b5247cf"/><Relationship Type="http://schemas.openxmlformats.org/officeDocument/2006/relationships/slide" Target="/ppt/slides/slide49.xml" Id="R6f555ceee32b4aa0"/><Relationship Type="http://schemas.openxmlformats.org/officeDocument/2006/relationships/slide" Target="/ppt/slides/slide50.xml" Id="Rfd71abb484894d81"/><Relationship Type="http://schemas.openxmlformats.org/officeDocument/2006/relationships/slide" Target="/ppt/slides/slide51.xml" Id="Rb6f33eb75da14c5f"/><Relationship Type="http://schemas.openxmlformats.org/officeDocument/2006/relationships/slide" Target="/ppt/slides/slide52.xml" Id="Rce5870baed12406e"/><Relationship Id="rIdHFfont58" Type="http://schemas.openxmlformats.org/officeDocument/2006/relationships/font" Target="fonts/MontserratSemiBold-regular.fntdata"/><Relationship Id="rIdHFfont59" Type="http://schemas.openxmlformats.org/officeDocument/2006/relationships/font" Target="fonts/MontserratSemiBold-bold.fntdata"/><Relationship Id="rIdHFfont60" Type="http://schemas.openxmlformats.org/officeDocument/2006/relationships/font" Target="fonts/MontserratSemiBold-italic.fntdata"/><Relationship Id="rIdHFfont61" Type="http://schemas.openxmlformats.org/officeDocument/2006/relationships/font" Target="fonts/MontserratSemiBold-boldItalic.fntdata"/><Relationship Id="rIdHFfont62" Type="http://schemas.openxmlformats.org/officeDocument/2006/relationships/font" Target="fonts/Montserrat-regular.fntdata"/><Relationship Id="rIdHFfont63" Type="http://schemas.openxmlformats.org/officeDocument/2006/relationships/font" Target="fonts/Montserrat-bold.fntdata"/><Relationship Id="rIdHFfont64" Type="http://schemas.openxmlformats.org/officeDocument/2006/relationships/font" Target="fonts/Montserrat-italic.fntdata"/><Relationship Id="rIdHFfont65" Type="http://schemas.openxmlformats.org/officeDocument/2006/relationships/font" Target="fonts/Montserrat-boldItalic.fntdata"/><Relationship Id="rIdHFfont66" Type="http://schemas.openxmlformats.org/officeDocument/2006/relationships/font" Target="fonts/GeologicaLight-regular.fntdata"/><Relationship Id="rIdHFfont67" Type="http://schemas.openxmlformats.org/officeDocument/2006/relationships/font" Target="fonts/GeologicaLight-bold.fntdata"/><Relationship Id="rIdHFfont68" Type="http://schemas.openxmlformats.org/officeDocument/2006/relationships/font" Target="fonts/MontserratExtraBold-bold.fntdata"/><Relationship Id="rIdHFfont69" Type="http://schemas.openxmlformats.org/officeDocument/2006/relationships/font" Target="fonts/MontserratExtraBold-boldItalic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c8232cadf044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34dc34b4f044c0" /><Relationship Type="http://schemas.openxmlformats.org/officeDocument/2006/relationships/notesMaster" Target="/ppt/notesMasters/notesMaster1.xml" Id="Rc0d5df916d42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7f3098f9747d2" /><Relationship Type="http://schemas.openxmlformats.org/officeDocument/2006/relationships/notesMaster" Target="/ppt/notesMasters/notesMaster1.xml" Id="R9b48a0771ee3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322bc21dfe45e5" /><Relationship Type="http://schemas.openxmlformats.org/officeDocument/2006/relationships/notesMaster" Target="/ppt/notesMasters/notesMaster1.xml" Id="R66dd390a0335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348ad65c724c6b" /><Relationship Type="http://schemas.openxmlformats.org/officeDocument/2006/relationships/notesMaster" Target="/ppt/notesMasters/notesMaster1.xml" Id="R9636d1f0d0ce44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1200ea7acb4cf1" /><Relationship Type="http://schemas.openxmlformats.org/officeDocument/2006/relationships/notesMaster" Target="/ppt/notesMasters/notesMaster1.xml" Id="Rb4181c545f8547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91895b679649b0" /><Relationship Type="http://schemas.openxmlformats.org/officeDocument/2006/relationships/notesMaster" Target="/ppt/notesMasters/notesMaster1.xml" Id="R30349eb3e73b46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d0b8fb2d2746f9" /><Relationship Type="http://schemas.openxmlformats.org/officeDocument/2006/relationships/notesMaster" Target="/ppt/notesMasters/notesMaster1.xml" Id="Rfb3f8c7414894c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b446f0ecf148d5" /><Relationship Type="http://schemas.openxmlformats.org/officeDocument/2006/relationships/notesMaster" Target="/ppt/notesMasters/notesMaster1.xml" Id="R1ed6a19e0c654c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71e91a36c74b6a" /><Relationship Type="http://schemas.openxmlformats.org/officeDocument/2006/relationships/notesMaster" Target="/ppt/notesMasters/notesMaster1.xml" Id="R8141c5f21dcb42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993797db93419a" /><Relationship Type="http://schemas.openxmlformats.org/officeDocument/2006/relationships/notesMaster" Target="/ppt/notesMasters/notesMaster1.xml" Id="R08fde3992bca4d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8c0b9c7cd440cf" /><Relationship Type="http://schemas.openxmlformats.org/officeDocument/2006/relationships/notesMaster" Target="/ppt/notesMasters/notesMaster1.xml" Id="Raedb85c5f3b64a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0ef9dc08ff46bc" /><Relationship Type="http://schemas.openxmlformats.org/officeDocument/2006/relationships/notesMaster" Target="/ppt/notesMasters/notesMaster1.xml" Id="Rde16fe7c899245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facf3cd9c74a90" /><Relationship Type="http://schemas.openxmlformats.org/officeDocument/2006/relationships/notesMaster" Target="/ppt/notesMasters/notesMaster1.xml" Id="R5c25be9fb8dc47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d30e2cd31b4874" /><Relationship Type="http://schemas.openxmlformats.org/officeDocument/2006/relationships/notesMaster" Target="/ppt/notesMasters/notesMaster1.xml" Id="Rce6ca1d71c7a4d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252f6e11044c4a" /><Relationship Type="http://schemas.openxmlformats.org/officeDocument/2006/relationships/notesMaster" Target="/ppt/notesMasters/notesMaster1.xml" Id="Rf5194a1b3b9049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9f0d97b2e941de" /><Relationship Type="http://schemas.openxmlformats.org/officeDocument/2006/relationships/notesMaster" Target="/ppt/notesMasters/notesMaster1.xml" Id="R1ca4bf4158cc4d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b2c4dcfb484fdc" /><Relationship Type="http://schemas.openxmlformats.org/officeDocument/2006/relationships/notesMaster" Target="/ppt/notesMasters/notesMaster1.xml" Id="R6bc374c494f64c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40e7527229491b" /><Relationship Type="http://schemas.openxmlformats.org/officeDocument/2006/relationships/notesMaster" Target="/ppt/notesMasters/notesMaster1.xml" Id="R84b06baf305843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946714e6e24482" /><Relationship Type="http://schemas.openxmlformats.org/officeDocument/2006/relationships/notesMaster" Target="/ppt/notesMasters/notesMaster1.xml" Id="R7d471b241ea74d5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880f35e7fb4c80" /><Relationship Type="http://schemas.openxmlformats.org/officeDocument/2006/relationships/notesMaster" Target="/ppt/notesMasters/notesMaster1.xml" Id="R364ed8eab4b44f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9cf87a0c334d1c" /><Relationship Type="http://schemas.openxmlformats.org/officeDocument/2006/relationships/notesMaster" Target="/ppt/notesMasters/notesMaster1.xml" Id="R28ff0438d90a42c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670bca87db9491e" /><Relationship Type="http://schemas.openxmlformats.org/officeDocument/2006/relationships/notesMaster" Target="/ppt/notesMasters/notesMaster1.xml" Id="Rd13895e22f6948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b9814fcb2342d1" /><Relationship Type="http://schemas.openxmlformats.org/officeDocument/2006/relationships/notesMaster" Target="/ppt/notesMasters/notesMaster1.xml" Id="R2ed6f92339ab4f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f8b697d51b4ab7" /><Relationship Type="http://schemas.openxmlformats.org/officeDocument/2006/relationships/notesMaster" Target="/ppt/notesMasters/notesMaster1.xml" Id="Rcb3d4933cba748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a8a25bd3494e6e" /><Relationship Type="http://schemas.openxmlformats.org/officeDocument/2006/relationships/notesMaster" Target="/ppt/notesMasters/notesMaster1.xml" Id="R722c4179f2cf43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453f686f28247fb" /><Relationship Type="http://schemas.openxmlformats.org/officeDocument/2006/relationships/notesMaster" Target="/ppt/notesMasters/notesMaster1.xml" Id="R8d5d696c1daf43c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27987b79c34d6f" /><Relationship Type="http://schemas.openxmlformats.org/officeDocument/2006/relationships/notesMaster" Target="/ppt/notesMasters/notesMaster1.xml" Id="Rcbe707a00740423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96285c1408644b1" /><Relationship Type="http://schemas.openxmlformats.org/officeDocument/2006/relationships/notesMaster" Target="/ppt/notesMasters/notesMaster1.xml" Id="Rf92114d4256b480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5d2a20268e4316" /><Relationship Type="http://schemas.openxmlformats.org/officeDocument/2006/relationships/notesMaster" Target="/ppt/notesMasters/notesMaster1.xml" Id="R585f7af0f154448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9d9930ffbfe4c2d" /><Relationship Type="http://schemas.openxmlformats.org/officeDocument/2006/relationships/notesMaster" Target="/ppt/notesMasters/notesMaster1.xml" Id="R440c809d7b2943b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bf2c4d0b85d419d" /><Relationship Type="http://schemas.openxmlformats.org/officeDocument/2006/relationships/notesMaster" Target="/ppt/notesMasters/notesMaster1.xml" Id="R85ddcc4f947849c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a34894119a34040" /><Relationship Type="http://schemas.openxmlformats.org/officeDocument/2006/relationships/notesMaster" Target="/ppt/notesMasters/notesMaster1.xml" Id="Rf57d6c46bc0048a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5e2c7a9d8cf4dec" /><Relationship Type="http://schemas.openxmlformats.org/officeDocument/2006/relationships/notesMaster" Target="/ppt/notesMasters/notesMaster1.xml" Id="R3a5e95578394482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d2dcca25a5440b0" /><Relationship Type="http://schemas.openxmlformats.org/officeDocument/2006/relationships/notesMaster" Target="/ppt/notesMasters/notesMaster1.xml" Id="R7e4fe27f142f4e5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d61e2d1b9a747db" /><Relationship Type="http://schemas.openxmlformats.org/officeDocument/2006/relationships/notesMaster" Target="/ppt/notesMasters/notesMaster1.xml" Id="Rd52f53947d48462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09dc7e949744e61" /><Relationship Type="http://schemas.openxmlformats.org/officeDocument/2006/relationships/notesMaster" Target="/ppt/notesMasters/notesMaster1.xml" Id="R0687590b97ce4a5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2f4e53bf86e453c" /><Relationship Type="http://schemas.openxmlformats.org/officeDocument/2006/relationships/notesMaster" Target="/ppt/notesMasters/notesMaster1.xml" Id="Rba845f903bf74f6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baea14c29e7406a" /><Relationship Type="http://schemas.openxmlformats.org/officeDocument/2006/relationships/notesMaster" Target="/ppt/notesMasters/notesMaster1.xml" Id="Rad2e1256d08a449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6737a192a3e4b20" /><Relationship Type="http://schemas.openxmlformats.org/officeDocument/2006/relationships/notesMaster" Target="/ppt/notesMasters/notesMaster1.xml" Id="R43432c4b1f3e461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90094d187ec46ba" /><Relationship Type="http://schemas.openxmlformats.org/officeDocument/2006/relationships/notesMaster" Target="/ppt/notesMasters/notesMaster1.xml" Id="R63ddcb594a4b40a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7a68e8372be423e" /><Relationship Type="http://schemas.openxmlformats.org/officeDocument/2006/relationships/notesMaster" Target="/ppt/notesMasters/notesMaster1.xml" Id="R15a6092a046143c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8025ee93f2a4440" /><Relationship Type="http://schemas.openxmlformats.org/officeDocument/2006/relationships/notesMaster" Target="/ppt/notesMasters/notesMaster1.xml" Id="R4642965ac6624fa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2ead4785bab4336" /><Relationship Type="http://schemas.openxmlformats.org/officeDocument/2006/relationships/notesMaster" Target="/ppt/notesMasters/notesMaster1.xml" Id="R12498f399aaf43b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f4b023580f24f75" /><Relationship Type="http://schemas.openxmlformats.org/officeDocument/2006/relationships/notesMaster" Target="/ppt/notesMasters/notesMaster1.xml" Id="R7268d054f597430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7dd83756a5547aa" /><Relationship Type="http://schemas.openxmlformats.org/officeDocument/2006/relationships/notesMaster" Target="/ppt/notesMasters/notesMaster1.xml" Id="R1c5188126cbe4e5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af73c3b6225403a" /><Relationship Type="http://schemas.openxmlformats.org/officeDocument/2006/relationships/notesMaster" Target="/ppt/notesMasters/notesMaster1.xml" Id="R4307aeb2595846b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50562db586a43e6" /><Relationship Type="http://schemas.openxmlformats.org/officeDocument/2006/relationships/notesMaster" Target="/ppt/notesMasters/notesMaster1.xml" Id="R12368e0194ad45a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9e8d6f05d61402c" /><Relationship Type="http://schemas.openxmlformats.org/officeDocument/2006/relationships/notesMaster" Target="/ppt/notesMasters/notesMaster1.xml" Id="Rf978766b6a28418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243a763c1bf496b" /><Relationship Type="http://schemas.openxmlformats.org/officeDocument/2006/relationships/notesMaster" Target="/ppt/notesMasters/notesMaster1.xml" Id="Re4c3f39b1112454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c08487566b746c7" /><Relationship Type="http://schemas.openxmlformats.org/officeDocument/2006/relationships/notesMaster" Target="/ppt/notesMasters/notesMaster1.xml" Id="R73c0ed958b48453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fb7ed6cc5de4933" /><Relationship Type="http://schemas.openxmlformats.org/officeDocument/2006/relationships/notesMaster" Target="/ppt/notesMasters/notesMaster1.xml" Id="R81a764af97954e3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998fea0d1664ace" /><Relationship Type="http://schemas.openxmlformats.org/officeDocument/2006/relationships/notesMaster" Target="/ppt/notesMasters/notesMaster1.xml" Id="R923e5950eb664b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1: cover</a:t>
            </a:r>
          </a:p>
          <a:p xmlns:a="http://schemas.openxmlformats.org/drawingml/2006/main">
            <a:r>
              <a:t>*0:15 · к концу 0:15 · 0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Название, имя, компания, короткий адрес материалов. Все элементы видны при открытии.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[пауза 2 с, смотрю в зал]</a:t>
            </a:r>
          </a:p>
          <a:p xmlns:a="http://schemas.openxmlformats.org/drawingml/2006/main">
            <a:r>
              <a:t>Я Никита. История основана на реальной задаче; детали упрощены, замеры на тестовых данных. Через один кейс посмотрим на алгоритмы, память и процессор.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(−5 с). После представления модератором: «Спасибо. История упрощена, замеры на тестовых данных». Сразу к дифу.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Не рассказывать защищённую продуктовую историю. Компания «Исходный код» — место работы, не название трека. Модель iPhone: 14 Pro, A16; версию iOS здесь не утверждать.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Материалы доклада: https://github.com/Neoron95/conference-hardfest-algorithms . Кейс обезличен, детали упрощены; эксперименты на тестовых данных.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Давайте знакомиться. Я Никита Нагорнов, старший iOS-разработчик в «Исходном коде». Прошёл путь от олимпиадного программирования и разработки компиляторов до перекрашивания кнопок на айфонах.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Сегодня как раз попробуем подружить эти две части моей жизни: алгоритмы из учебника и код, который действительно бежит на телефоне.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Биография и портрет: пользовательский референс /Users/nagornov/Downloads/IphoneLLV-v2-c-заметками.pptx, слайд 2. Публичный кейс текущего доклада с перечисленными проектами не связывается.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3: audience</a:t>
            </a:r>
          </a:p>
          <a:p xmlns:a="http://schemas.openxmlformats.org/drawingml/2006/main">
            <a:r>
              <a:t>*0:25 · к концу 1:10 · 0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Разработчики — выбор алгоритмов и контейнеров; тимлиды и ревьюеры — оценка перф-изменений; авторы перф-тестов — замеры в CI и на целевой системе.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Доклад будет полезен разработчикам, которые выбирают алгоритмы и контейнеры; тимлидам и ревьюерам, которые оценивают оптимизации; и тем, кто пишет перф-тесты.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Разберём, как сравнивать решения на своих данных и почему замер в CI может дать другой ответ на устройстве пользователя.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(−10 с). «Для тех, кто выбирает контейнеры, проверяет оптимизации на ревью и пишет перф-тесты. Разберём, что значит “стало быстрее”».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Примеры на C++; переносим метод сравнения, а не коэффициенты ускорения. Аудитория определяется задачей: выбрать решение и проверить его на подходящих данных и в целевой среде.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Разработчики, тимлиды и ревьюеры, авторы перф-тестов. Обещание: выбирать решение на своих данных и проверять замер в целевой среде.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4: diff</a:t>
            </a:r>
          </a:p>
          <a:p xmlns:a="http://schemas.openxmlformats.org/drawingml/2006/main">
            <a:r>
              <a:t>*0:45 · к концу 1:55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Диф виден сразу. Билд 1: подпись «Линейно вместо n log n». Билд 2: «Approve». Выходной контракт заранее не раскрывается.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Вторник, семнадцать сорок. На ревью маленький диф. Было: отсортировать массив и убрать повторы. Стало: сложить в хеш-таблицу и выгрузить обратно.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Подпись: «Линейно вместо n log n». Кто потянулся бы к approve? [поднимаю руку, пауза 4 с] Я бы потянулся. [щелчок]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 такой выбор может дать разные ответы у разработчика, в CI и на телефоне. Разберёмся почему — и вернёмся к этому ревью уже с другими вопросами.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(−15 с). «Сортировку заменили хеш-таблицей: линейно вместо n log n. Кто потянулся бы к approve? Я бы потянулся. Но у разработчика, в CI и на телефоне ответ может отличаться». Обе подписи раскрыть, паузу для руки сохранить.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Публичный разбор упрощён. В дифе нет reserve; в измеряемом варианте он есть. Эта разница проговаривается на contract, без обещания измеренного ускорения варианта без reserve. Ошибка контракта раскрывается на outcontract.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Публичный пример кода. В эксперименте reserve добавлен; производственный результат не заявляется.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5: case</a:t>
            </a:r>
          </a:p>
          <a:p xmlns:a="http://schemas.openxmlformats.org/drawingml/2006/main">
            <a:r>
              <a:t>*0:50 · к концу 2:45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Локальные id плюс дельта с сервера → уникальные id. Билды: 1 — локальная часть отсортирована и уникальна; 2 — ключ uint64_t; 3 — несрочная работа, .utility как иллюстрация приоритета.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На устройстве есть локальные id записей. С сервера пришла дельта с повторами: ретраи, перекрытия страниц. Нужен массив уникальных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Три свойства публичного примера. [щелчок] Локальная часть уже отсортирована и уникальна. [щелчок] Ключ — шестидесятичетырёхбитное число. [щелчок] Работа несрочная, в режиме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Эти детали пока выглядят фоном. Каждая вернётся и изменит решение. В тестовых сериях id случайные; для последовательных чисел расклад может отличаться. Сначала сравним два привычных способа убрать повторы.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(−15 с). «Объединяем локальные id и дельту без повторов. Локальные sorted unique, ключ числовой, работа utility. В сериях случайные id». Три свойства раскрывать по очереди.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Не отождествлять серверные id с SQLite rowid. Условие «локальная часть sorted unique» относится к публичному примеру и обеспечивает корректность будущего set_union. Пример фоновой работы не выдавать за измерение Swift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Самостоятельная упрощённая задача: L sorted unique; D может содержать повторы; числовые id. Отдельные тестовые серии фиксируют другие свойства входа.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6: vote</a:t>
            </a:r>
          </a:p>
          <a:p xmlns:a="http://schemas.openxmlformats.org/drawingml/2006/main">
            <a:r>
              <a:t>*1:10 · к концу 3:55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Карточки A — sort + unique, B — unordered_set и их оценки сложности видны сразу. Билд 1: log₂10⁶≈20. Билд 2: C — сначала уточнить условия, тестовые условия и вопрос. Никакого вывода о двадцатикратном количестве реальных шагов.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A: sort плюс unique. B: стандартная хеш-таблица. У первого n log n, у второго в среднем n. [щелчок] Логарифм миллиона — примерно двадцать. Но сравнение и вставка — разные действия с разной ценой.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Условия: миллион числовых id, все разные, один поток, порядок результата не важен. Какую реализацию первой отправили бы на замер?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Кто с сортировки? [поднимаю руку, пауза 3 с]</a:t>
            </a:r>
          </a:p>
          <a:p xmlns:a="http://schemas.openxmlformats.org/drawingml/2006/main">
            <a:r>
              <a:t>Кто с хеша? [поднимаю руку, пауза 3 с]</a:t>
            </a:r>
          </a:p>
          <a:p xmlns:a="http://schemas.openxmlformats.org/drawingml/2006/main">
            <a:r>
              <a:t>Кто сначала уточнил бы условие? [поднимаю руку, пауза 3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[если есть рука C: один ответ, не дольше 8 с] Запомните свою букву и вопрос. В конце к ним вернёмся.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(−15 с). Убрать объяснение логарифма и свободный ответ C. Три варианта и паузы для выбора оставить.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Вопрос про первый замер, не экзамен на правильный алгоритм. Не назначать C тем, кто не поднял руку. На карточке у ноутбука отметить преобладающий вариант и один вопрос из зала, если он прозвучал.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Базовая серия: N=U=2^20, случайные uint64_t, порядок результата не важен. O(n) — средняя оценка unordered_set.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7: result</a:t>
            </a:r>
          </a:p>
          <a:p xmlns:a="http://schemas.openxmlformats.org/drawingml/2006/main">
            <a:r>
              <a:t>*1:00 · к концу 4:55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Нейтральный заголовок «Первый результат». Билд 1: sort + unique — 19,9 нс/элемент. Билд 2: unordered_set — 51,3. Билд 3: крупно ×2,6 и карта четырёх раундов. Коэффициент и карта заранее скрыты.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Условия те же, MacBook на M2 Pro. Полоски — время на элемент, короче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Сортировка — около двадцати наносекунд. [щелчок] Узловая таблица — около пятидесяти одной. [пауза 2 с] [щелчок] Сортировка быстрее в два и шесть десятых раза.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Линейная оценка осталась. Дороже оказался коэффициент.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известный эффект: похожий опыт был у Даниэля Лемира в две тысячи семнадцатом, причины объяснял Чендлер Каррут на CppCon. Я повторил его, чтобы дойти до телефона в фоне.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Дальше четыре раунда: память, реализация, данные и процессор. В последнем код алгоритма останется прежним, а ответ поменяется. Сначала договоримся, что входит в замер.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(−15 с). Не перечислять карту подробно: «Память, реализация, данные и процессор». Атрибуцию и паузу на ×2,6 сохранить.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Это M2 Pro, 1M уникальных случайных uint64_t, полная операция. Другие коэффициенты не обещать другим языкам. «Четыре раунда» — структура истории, не утверждение, что во всех сериях меняется строго одна экспериментальная переменная.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prep/research/apple.md; prep/research/bench.md. Mac M2 Pro, libc++; N=U=2^20. Полная операция. Атрибуция: https://lemire.me/blog/2017/05/23/counting-exactly-the-number-of-distinct-elements-sorted-arrays-vs-hash-sets/ ; Chandler Carruth, CppCon 2014, Efficiency with Algorithms, Performance with Data Structures.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8: contract</a:t>
            </a:r>
          </a:p>
          <a:p xmlns:a="http://schemas.openxmlformats.org/drawingml/2006/main">
            <a:r>
              <a:t>*0:40 · к концу 5:35 · 0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Полная операция внутри таймера; свежий вход вне таймера; проверка результата. Все элементы видны сразу.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Сравниваем задачу целиком: получили вход, вернули уникальные id. У таблицы в таймер входят reserve, вставки, выгрузка и уничтожение. Деструктор тоже работает, хотя спрятан за закрывающей скобкой.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Свежая копия входа готовится до таймера. Результат сверяется с эталоном: ни потерянных, ни лишних id. В базовой серии порядок не важен.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Reserve добавлен намеренно: таблице заранее сообщаем размер. Измеряем нормальную реализацию, а не специально неудачный вариант короткого дифа. Дальше условия всегда называем открыто.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(−15 с). «В таймере вся операция, включая выгрузку и деструктор. Копия входа — снаружи. Результат сверяется с эталоном. Reserve добавлен». Без остальных пояснений.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Свежая копия не означает холодный кэш. Полный протокол и проверка — в материалах репозитория. Время варианта из дифа без reserve отдельно не заявлять.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Раунд 1 — размер и память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bench/dedup_bench.cpp и bench/results/summary.md. Копирование входа вне таймера; reserve, insert, output и деструктор внутри; проверка результата вне таймера.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9: curve</a:t>
            </a:r>
          </a:p>
          <a:p xmlns:a="http://schemas.openxmlformats.org/drawingml/2006/main">
            <a:r>
              <a:t>*1:30 · к концу 7:05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оси и сортировка. Билд 2: узловая таблица. Билд 3: область перегиба и оценки памяти таблицы 12/24 МиБ плюс вход 4/8 МиБ. N от 16 до 4M, половина id уникальны.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Раунд первый: размер и память. Теперь половина id — повторы. Меняем размер от крошечного массива до четырёх миллионов элементов.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По горизонтали число элементов, по вертикали время на один элемент. Ниже — лучше. Линия сортировки растёт плавно: за увеличение входа приходится платить дополнительными сравнениями.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Добавим узловую хеш-таблицу. На средних размерах она держится рядом. А после полумиллиона резко дорожает. Асимптотика не поменялась: таблица по-прежнему в среднем линейная. Откуда тогда ступенька?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Посмотрим на объём данных. При полумиллионе входных id таблица занимает примерно двенадцать мебибайт, при миллионе — двадцать четыре. Плюс сам вход: четыре и восемь. Общий кэш второго уровня у производительных ядер M2 Pro — шестнадцать. Это уже сопоставимый масштаб; таблица конкурирует за него с входом и остальной работой.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Такое объяснение согласуется с кривой; точный вклад промахов здесь не раскладываем. Для решения уже полезно другое: размер входа способен поменять цену одной вставки. Чтобы понять почему, посмотрим, что таблица вообще хранит.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«Таблица и вход уже сопоставимы с ёмкостью кэша; это возможное объяснение перегиба». Не утверждать полное размещение в L2. Оставить условия, обе линии и переход к устройству таблицы.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Рабочий набор — оценка, не RSS. В него входит U узлов, а не N. Входной вектор и другие участники тоже занимают кэш; «ровно помещается» не говорить. Причина перегиба — гипотеза, а сам перегиб наблюдается в серии.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prep/research/apple.md; исходная серия curve, M2 Pro, U/N=0,5. Рабочий набор: таблица примерно12/24 МиБ плюс вход4/8 МиБ на 512K/1M. L2 16 МиБ общий для кластера P. Излом — косвенное свидетельство; резидентность и вклад промахов кэша не измерены напрямую.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10: nodes</a:t>
            </a:r>
          </a:p>
          <a:p xmlns:a="http://schemas.openxmlformats.org/drawingml/2006/main">
            <a:r>
              <a:t>*1:10 · к концу 8:15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Вектор виден сразу. Билд 1: массив ячеек, узлы и стрелки. Билд 2: отдельная аллокация на ключ, память и уничтожение. Контраст — компактный массив против узловой таблицы.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Слева вектор: ключи рядом, по восемь байт. Sort и unique работают на этом буфере, отдельный узел им не нужен.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Справа стандартная узловая таблица. Массив ячеек хранит указатели. По указателю находим узел: ключ, следующий указатель, служебные данные. Если случилась коллизия, узнаём следующий адрес только после чтения текущего узла.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Каждый новый уникальный ключ требует отдельного выделения памяти. На миллионе разных ключей это примерно миллион вызовов new. Потом — примерно миллион delete. Поэтому «одна вставка» на бумаге скрывает и аллокатор, и служебные байты, и порядок обхода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Узлы существуют по причине: стандартная таблица сохраняет ссылки на элементы при росте. Это полезная гарантия. Но если мы только собираем временное множество и сразу его выбрасываем, за гарантию всё равно платим. Следующий вопрос — сколько стоит добраться до этих байтов.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Убрать описание полей узла и гарантий стандарта. «Вектор — рядом. Таблица — узлы, new на уникальный ключ, delete в конце, зависимые адреса».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Конкретный размер узла зависит от библиотеки и аллокатора. Ссылки могут пережить rehash, итераторы — нет. Узлы не обязательно физически разбросаны аллокатором; важен порядок обращений и связь адресов. Детальные счётчики аллокаций — backup allocs.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bench/results/summary.md, E6; prep/research/cpp.md. N=U=2^20; счётчики аллокаций и суммы запросов аллокатору отличаются от RSS. Размер узла зависит от стандартной библиотеки.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11: memory</a:t>
            </a:r>
          </a:p>
          <a:p xmlns:a="http://schemas.openxmlformats.org/drawingml/2006/main">
            <a:r>
              <a:t>*1:20 · к концу 9:35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Формула времени видна сразу. Билд 1: увеличенная анимация двух дорог — независимые и зависимые обращения. Билд 2: вывод «Независимые чтения перекрываются. Зависимые ждут друг друга». Чисел L1/RAM и лестницы на этом слайде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Время зависит и от количества действий, и от цены каждого. Прикинуть его можно как число элементов, действия на элемент и стоимость действия. Big-O описывает рост, машинные коэффициенты остаются за кадром.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Сравним два пути до памяти. Слева адреса известны заранее. Процессор отправляет несколько запросов и занимается другой работой, пока данные приходят. Компактный массив помогает: строка кэша приносит сразу несколько соседних ключей.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Справа адрес следующего узла записан внутри текущего. Дождись чтения, узнай следующий адрес, отправь новый запрос. Представьте маршрут, следующая остановка которого написана только на предыдущей: заранее заказать поездку не получится.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Независимые чтения перекрываются, зависимые ждут друг друга. Два обхода с одинаковым числом промахов могут стоить по-разному: один позволяет перекрыть ожидания, второй заставляет их сложить. Вот почему количество обращений ещё не определяет время. Запомните этот механизм: в последнем раунде посмотрим, что с ожиданиями делает смена процессора.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Убрать аналогию с маршрутом и разбор формулы. Сохранить две дороги, зависимость адресов и возвращение к процессору.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Это механизм, не вычисление коэффициента ×2,6 через деление задержек. Сортировка не состоит исключительно из последовательных чтений. Компактность и предвыборка помогают, но точный вклад каждого фактора здесь не измерен. Кэш-линии Apple и x86 различаются; вывод не требует одинакового размера линии.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Раунд 2 — реализация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prep/research/apple.md; Ulrich Drepper, What Every Programmer Should Know About Memory, §3.3.2: https://people.freebsd.org/~lstewart/articles/cpumemory.pdf . Иллюстрация зависимости адресов, не измеренная декомпозиция ускорения сортировки.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12: flatmin</a:t>
            </a:r>
          </a:p>
          <a:p xmlns:a="http://schemas.openxmlformats.org/drawingml/2006/main">
            <a:r>
              <a:t>*1:10 · к концу 10:45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узловая схема. Билд 2: плоский массив ключей и меток, одна аллокация, ссылки не переживают рост. Билд 3: тот же принцип у map в Go ≥ 1.24 и HashMap в 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Раунд второй. Если проблема в узлах, попробуем другую организацию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Слева знакомая таблица: ячейка, указатель, отдельный узел. [щелчок] Справа Swiss Table. Ключи живут в массиве слотов. Рядом короткие метки: пусто или кусочек хеша. По группе меток можно быстро найти кандидатов, не читая каждый полный ключ.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Вся таблица размещается одним выделением памяти. Цена — элементы переезжают при росте, стабильность ссылок исчезает. Для временного множества это может быть хороший обмен. Такая организация известна по докладу Мэтта Кулукундиса на CppCon; здесь используется Abseil.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Это уже привычный принцип для современного map в Go и HashMap в 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Средняя сложность остаётся линейной. Меняется устройство данных, скрытое за интерфейсом. Теперь проверим, что дал этот обмен на нашем входе.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Убрать рассказ о метках. Оставить расположение ключей, одну аллокацию, цену нестабильных ссылок и атрибуцию.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Не обещать одну конкретную ширину SIMD-группы всем архитектурам. Реализация и версия библиотеки имеют значение. На platforms обсуждается перенос метода, здесь только короткий мост Go/Rust.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prep/research/cpp.md §5; Abseil Swiss Tables design: https://abseil.io/about/design/swisstables ; Matt Kulukundis, CppCon 2017. Диаграмма организации таблицы; SIMD-группы зависят от архитектуры.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13: flat</a:t>
            </a:r>
          </a:p>
          <a:p xmlns:a="http://schemas.openxmlformats.org/drawingml/2006/main">
            <a:r>
              <a:t>*1:10 · к концу 11:55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Нейтральный заголовок «Три реализации, один вход». Билд 1: sort 19,9 и unordered_set 51,3. Билд 2: flat 11,7. Билд 3: крупно ×1,7 для flat против sort и дополнительная строка radix 6,9. Коэффициент до последнего клика скрыт.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Вернёмся к исходным тестовым условиям: миллион уникальных числовых id, M2 Pro. [щелчок] Это знакомые столбцы: сортировка и стандартная узловая таблица.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А вот плоская — около двенадцати наносекунд на элемент. [пауза 1 с] [щелчок] Плоская таблица быстрее сортировки в один и семь десятых раза. [пауза 2 с] Так что у сторонников хеша есть вполне убедительный реванш.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Рядом ещё один кандидат, поразрядная сортировка, radix: около семи. Целый ключ можно обрабатывать по байтам, без сравнений целых ключей между собой. Это второе свойство нашей задачи; за него получаем дополнительный выбор, а платим отдельным буфером.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Слово «хеш-таблица» не предсказывает производительность. Контейнеры с одинаковой средней сложностью дали противоположные ответы на одном входе.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 у нас в задаче были повторы. Мы только что проверили искусственно чистый случай, где все ключи разные. Теперь вернём это свойство — и ещё раз сделаем ставку.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(−25 с). Radix показать без подробностей: «Числовой ключ допускает ещё и поразрядную сортировку». Не убирать паузу на ×1,7 и переход к повторам.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×1,7 относится к flat против sort на M2 Pro, не ко всем плоским таблицам. Radix на строках требует отдельного разбора. Выключаемый модуль radixmin из modules.md можно вставить после этого слайда, сохранив сюжетный переход к данным.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Раунд 3 — данные и контракт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prep/research/apple.md; Mac M2 Pro, libc++; N=U=2^20:19,9/51,3/11,7/6,9нс/элемент. ×1,7 — flat против sort. Radix — отдельная реализация для uint64_t.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14: share-q</a:t>
            </a:r>
          </a:p>
          <a:p xmlns:a="http://schemas.openxmlformats.org/drawingml/2006/main">
            <a:r>
              <a:t>*0:35 · к концу 12:30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исходная ставка с уникальными id. Билд 2: тот же миллион, уникальных 1%; два варианта выбора. Ответ не виден.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Раунд третий: данные. [щелчок] В первой ставке все id разные.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Теперь в том же миллионе уникальных один процент. Кто впереди: сортировка или узловая таблица?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Кто за сортировку? [поднимаю руку, пауза 3 с]</a:t>
            </a:r>
          </a:p>
          <a:p xmlns:a="http://schemas.openxmlformats.org/drawingml/2006/main">
            <a:r>
              <a:t>Кто за хеш? [поднимаю руку, пауза 3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поменяли число создаваемых узлов. Посмотрим, как это влияет на результат.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(−5 с). Убрать последний абзац. Условия и паузы голосования оставить.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Голосование сравнивает sort и узловую таблицу. Доля уникальных U/N, не доля повторов. 1% уникальных — 99% повторных элементов.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Доля уникальных относится к тестовым входам; свойства реальных пользователей не заявляются.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15: share</a:t>
            </a:r>
          </a:p>
          <a:p xmlns:a="http://schemas.openxmlformats.org/drawingml/2006/main">
            <a:r>
              <a:t>*1:30 · к концу 14:00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1% уникальных, sort 12,0 / хеш 3,2 нс/элемент, хеш ×3,7. Билд 2: 100% уникальных, sort 19,8 / хеш 51,6, sort ×2,6. Два состояния одного размера, без чтения промежуточной кривой.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[щелчок] Хеш. Быстрее сортировки в три и семь десятых раза. [пауза 2 с] Новых узлов теперь десять тысяч, а не миллион. Таблица гораздо меньше, и одни и те же ключи снова попадают в неё.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А здесь у того же миллиона все id разные. Сортировка снова быстрее — примерно в два с половиной раза. Размер входа не поменялся, число создаваемых узлов выросло в сто 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Сортировке в любом случае нужно обработать весь миллион. Она тоже чувствительна к повторам, но в этих двух состояниях цена меняется умеренно. А узловая таблица заново выделяет память для каждого уникального значения. При большой доле повторов эта работа почти исчезает; при уникальном входе возвращается полностью.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Никакого парадокса нет: мы поменяли объём реально создаваемой структуры. Вход всё ещё миллион, однако миллион вставок не означает миллион новых узлов.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Поэтому в ревью полезно спросить не только «какое N», но и «сколько разных значений». Следующее условие лежит уже в самом требовании к результату.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«Миллион на входе, десять тысяч узлов; при уникальном входе узлов миллион и преимущество исчезает». Показать оба состояния, сохранить коэффициент и связь с ревью.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Не говорить, что сортировке полностью безразличны дубли. Точный график показывает изменение её стоимости. Коэффициенты принадлежат этой серии, не являются универсальной границей выбора.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Исходная серия доли уникальных, Mac M2 Pro, N=2^20. U/N=1%:sort12,0,unordered3,2;100%:sort19,8,unordered51,6нс/элемент. Reserve(N) фиксирован: при малом U массив бакетов остаётся большим. Полная серия в share-full.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16: outcontract</a:t>
            </a:r>
          </a:p>
          <a:p xmlns:a="http://schemas.openxmlformats.org/drawingml/2006/main">
            <a:r>
              <a:t>*1:40 · к концу 15:40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Билды: 1 — любой порядок; 2 — отсортированный результат; 3 — порядок первого появления. У каждой строки собственные полные реализации и отношение их времени.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До сих пор мы обещали только множество значений: порядок любой. Но «массив без повторов» может скрывать разные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Первый контракт: любой порядок. В этой серии подходы близки. [щелчок] Второй: результат отсортирован. Таблица должна дополнительно отсортировать уникальные значения и начинает отставать. Именно здесь вернётся наш диф: прежний код возвращал отсортированный массив, новый молча изменил это свойство.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Третий контракт: сохранить порядок первого появления. Здесь хеш впереди больше чем втрое. Таблица только отвечает, встречался ли id; результат записывается по порядку входа. Сортировке приходится отдельно восстанавливать исходные позиции.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Условие «без повторов» у всех трёх вариантов одинаковое. Но требования к порядку меняют работу, которую надо выполнить, чтобы вернуть обещанный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не косметика. Если сравнить первый вариант таблицы с третьим вариантом сортировки, можно получить прекрасный график и неправильный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 ещё: «любой порядок» должен действительно означать любой. Если следующий этап или снапшот-тест тайком ждёт стабильной последовательности, требование просто живёт в другом месте. Быстрый контейнер не исправит неявный контракт. Сначала договоримся о результате, потом измерим скорость.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Убрать абзац про снапшот-тест. Сохранить три контракта и раскрытие ошибки исходного дифа.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Условия и конкретные реализации — на слайде и в bench.md. Для порядка первого появления не обещать стабильный порядок обхода самой таблицы: выход формируется по входу. На M2 вариант сортировки использует сортировку позиций; битовая маска относится к отдельному x86-опыту.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prep/research/apple.md и cpp.md §9. Mac M2 Pro,N=2^20,U/N=0,5. Первое появление: дляsort пары(ключ,индекс) и вторая сортировка; это конкретный вариант, не нижняя граница дляsort. Порядок обходаset не часть контракта.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17: inputorder</a:t>
            </a:r>
          </a:p>
          <a:p xmlns:a="http://schemas.openxmlformats.org/drawingml/2006/main">
            <a:r>
              <a:t>*1:15 · к концу 16:55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случайный порядок и серии одинаковых id. Билд 2: отсортированный вход и выигрыш libc++ sort около ×8. Билд 3: libstdc++ так не делает. Ответ на вопрос про отсортированный вход до билда 2 скрыт.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Есть ещё одна форма данных: последовательность тех же самых ключей.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Случайный порядок — знакомая картина. Серии одинаковых значений помогают хешу. Размер и число уникальных прежние, но порядок обращений изменился.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 теперь первое свойство нашего кейса: локальная часть уже отсортирована. Что произойдёт, если на вход сортировке дать полностью отсортированный массив? [пауза 3 с] [щелчок] В этой реализации sort плюс unique обгоняет хеш примерно в восемь 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Libc++ умеет замечать благоприятное разбиение и быстро завершать сортировку вставками. [щелчок] Libstdc++ так не делает. Поэтому «вызвали sort» тоже не полное описание опыта: важна реализация этого вызова.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собираем всё более точный вопрос: какие данные, какой результат, какая реализация. И видим работу, которую уже сделали до нас. Чуть позже используем её в решении исходной задачи. Но сначала нужно убедиться, что наши красивые числа вообще заслуживают доверия.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Убрать механизм libc++ и промежуточные случаи описать одной фразой. Отсортированный вход, паузу и переход оставить.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×8 — полностью отсортированный вход в конкретной libc++-серии. Локальная часть публичной задачи — лишь часть объединённого входа; её свойство будет использовано в merge. Не переносить ×8 на libstdc++.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prep/research/apple.md; bench/results/summary.md,E4. Mac M2 Pro,libc++;N=2^20,U/N=0,5. Перестановки одинаковых ключей и кратностей. Эвристика std::sort зависит от библиотеки; коэффициент не универсален.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18: learned</a:t>
            </a:r>
          </a:p>
          <a:p xmlns:a="http://schemas.openxmlformats.org/drawingml/2006/main">
            <a:r>
              <a:t>*2:00 · к концу 18:55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macOS/M2 Pro, sort, 1024 id — один вход 6,8 против 64 разных 14,4 нс/элемент. Билд 2: x86-контроль одинаковых копий и вывод. M2 Linux VM обсуждается устно; его качественный контроль виден только в модуле learned-table. Окружения явно разделены.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Здесь я сам наступил на грабли. Первая версия бенчмарка проходила проверку результата и показывала повторяемые цифры. Повторяемые — ещё не значит пригодные для нашего вопроса.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На macOS маленькая сортировка одного и того же массива давала примерно семь наносекунд на элемент. С шестьюдесятью четырьмя разными входами — четырнадцать. Вдвое дороже. Вход перед запуском восстанавливался: это не случай, когда второй раз сортируют уже отсортированное. Здесь меняется повторяемость исходных значений между запусками. Код сортировки не поменялся; поменялось то, что она получала между повторами.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Возникла гипотеза: процессор успевает привыкнуть к последовательности ветвлений. Как отличить её от эффекта ближайшего кэша? Если важна история ветвлений, одинаковое содержимое по разным адресам должно сохранить быстрый результат. Если важны адреса и размещение, копии могут оказаться дороже. Эти две причины внешне выглядят одинаково: повторяемый вход очень быстрый.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Для контроля взяли одинаковые копии: содержимое повторяется, адреса различаются. На x86 быстрый результат сохранился — история входов действительно влияет.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Контроль на M2 выполнялся уже в Linux-виртуалке и повёл себя иначе. Там адресная раскладка и кэш остаются рабочими гипотезами. Эти окружения нельзя склеить в одно доказательство механизма.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практики вывод простой: проверяйте, какой вопрос задаёт ваш цикл повторов. Одни и те же горячие данные — полноценный сценарий, если так живёт продукт. Но его нельзя молча выдать за множество разных входов. Теперь секундомер проверен; перейдём к переменной, которой в алгоритме нет.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(−40 с). Оставить наблюдение 6,8 → 14,4 и вывод о повторяемых входах. Билд контроля показать молча, объяснить одной фразой: «Механизм зависит и от окружения; подробный контроль в материалах».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Числа 6,8/14,4 относятся к macOS. Не объявлять причиной именно предсказатель на всех машинах. Полная таблица окружений — learned-table; модуль в modules.md. Не выдумывать число потерянных дней.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Раунд 4 — среда исполнения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bench/results/summary.md,E5; prep/research/apple.md. M2 native macOS6,8/14,4 — наблюдение; контроль с одинаковыми копиями на M2 выполнен в Linux VM. Нельзя считать его контролем нативной macOS. На x86 контрольE5 дополнен одним буфером 8 КиБ. Гипотезы не приписываются чипу как установленная причина.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19: qos</a:t>
            </a:r>
          </a:p>
          <a:p xmlns:a="http://schemas.openxmlformats.org/drawingml/2006/main">
            <a:r>
              <a:t>*1:50 · к концу 20:45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API pthread_set_qos_class_self_np и условия 512K, U=N/2 видны сразу. Билд 1: Mac/iPhone userInitiated и Mac utility — близкие результаты. Билд 2: iPhone utility, sort 55,3 / хеш 105,3, около ×1,9. Билд 3: Mac 1M, преимущество sort выросло ×1,3 → ×1,8.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Раунд четвёртый. До сих пор мы выбирали данные и реализацию. Теперь код алгоритма и входы остаются прежними.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Возвращается третье свойство: несрочная работа. В бенчмарке я выставляю QoS самому потоку — вот этот API. Для несрочной работы используется utility. А конкретное исполнение по-прежнему выбирает планировщик.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Возьмём полмиллиона id, половина — уникальные. [щелчок] На Mac при высоком приоритете близко. На iPhone при высоком приоритете тоже близко: хеш немного впереди. На Mac в utility опять близко.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А вот iPhone в utility: сортировка около пятидесяти пяти наносекунд, хеш — около ста пяти. [пауза 2 с] Лидер поменялся. Сортировка теперь быстрее почти вдвое.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не заменяли контейнер, не перемешивали вход, не добавляли потоки. Поменяли режим исполнения. И он повлиял на два алгоритма по-разному.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На большом входе сдвиг заметен и у Mac: преимущество сортировки тоже выросло. Вся история не сводится к одному правилу для utility. Но на телефоне эффект особенно нагляден. Посмотрим на следующий размер, а затем разберём, что могло произойти с процессором.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Не читать три близкие клетки по отдельности. «Три близких результата — и вот iPhone в utility». Условия, измеренный QoS и смену лидера на 512K сохранить.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512K iPhone userInitiated: sort 19,6, хеш 18,2; utility: 55,3 и 105,3. Здесь действительно меняется лидер. API: pthread_set_qos_class_self_np; не утверждать измеренный путь Swift Task. SE-0304: приоритет — предпочтение; ожидание результата может повысить приоритет. Mac на 1M: изменение разрыва ×1,3 → ×1,8 не доказывает смену типа ядра.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prep/research/apple.md §5–6. API pthread_set_qos_class_self_np; N=2^19,U/N=0,5. iPhone 14 Pro,A16 Bionic. ВысокийQoS19,6/18,2;utility55,3/105,3нс/элемент: смена лидера на 512K. Mac M2 Pro при 1M: изменения разрыва×1,3/×1,8. SwiftTask не измерялся. SE-0304: https://github.com/swiftlang/swift-evolution/blob/main/proposals/0304-structured-concurrency.md . Task может наследовать actor isolation; await может повысить приоритет.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20: x33</a:t>
            </a:r>
          </a:p>
          <a:p xmlns:a="http://schemas.openxmlformats.org/drawingml/2006/main">
            <a:r>
              <a:t>*0:50 · к концу 21:35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Статичный результат iPhone 14 Pro, A16, utility, N=1M, U=N/2. Билд 1: sort 57,4 и unordered_set 187,7 нс/элемент. Билд 2: ×3,3. Без видеоплейсхолдера и имитации живого прогона.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Тот же iPhone четырнадцать Pro, теперь миллион id. Это готовая тестовая серия в utility. [щелчок] Сортировка — около пятидесяти семи наносекунд на элемент. Узловая таблица — около ста восьмидесяти восьми.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Разница в три и три десятых раза. [пауза 3 с, смотрю в зал]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Смена лидера была показана на предыдущем размере. Здесь другой вывод: на большом входе цена выбранной реализации разошлась ещё сильнее.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Одна и та же средняя сложность таблицы ничего не сообщила об этом разрыве. Нужно понять, какое железо фактически получило нашу работу. На современном телефоне ответ может оказаться менее очевидным, чем название чипа.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(−10 с). Не читать абсолютные значения вслух. Оставить готовую серию, условия, коэффициент и переход к устройству процессора.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57,4/187,7 нс/элемент, N=2^20. Нет готового видео и парной 1M-серии переднего плана в этой сцене. Не говорить «переключаю», «сейчас запущу», «на миллионе сменился победитель». Смена лидера установлена на qos, 512K.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Исходная серия iPhone 14 Pro,A16 Bionic,pthreadQoS utility,N=2^20,U/N=0,5. sort57,4/uset187,7нс/элемент;187,7/57,4=3,27≈3,3. Парная серия другогоQoS на 1M здесь не заявлена. Модель: https://support.apple.com/en-my/111849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21: core-model</a:t>
            </a:r>
          </a:p>
          <a:p xmlns:a="http://schemas.openxmlformats.org/drawingml/2006/main">
            <a:r>
              <a:t>*1:00 · к концу 22:35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P — производительные и E — энергоэффективные ядра, свой кэш и своя частота. Билд 2: частота влияет на высоту кривой, размер кэша — на положение излома. Это концептуальная схема, не новые измерения.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Когда мы говорим «мой процессор», легко представить одинаковые ядра, которым просто выставляют разную частоту. [щелчок] У Apple Silicon есть производительные P-ядра и энергоэффективные E-ядра. У них разные ресурсы и размеры кэшей. Это два способа выполнить одну инструкцию внутри одного устройства.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Какой работе достанется какое ядро, решает планировщик. Приоритет сообщает намерение, но не закрепляет работу за 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Различие можно искать в задержках памяти. Частота влияет на время чтения — высоту линии. Размер кэша влияет на объём, после которого появится излом. Это разные признаки. Алгоритмы чувствительны к ним по-разному; одного слова «utility» ещё мало для объяснения.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Теперь задача расследования: как проверить предположение про ядра, если мы не можем просто приколоть поток к выбранному ядру?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(−15 с). «P и E — разные ядра, с разными ресурсами и кэшами. Приоритет сообщает намерение планировщику. Проверим предположение по памяти». Без остального пояснения.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Не называть E «медленным P». Не распространять конкретное назначение utility на все устройства. Схема объясняет модель; новые результаты здесь не заявляются.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Объясняющая схема. Размеркэша может сдвигать границу; частота особенно влияет на высоту внутриL1/L2, дляDRAM простая пропорция неприменима. P/E-модельiPhone 14 Pro: https://support.apple.com/en-my/111849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22: cores</a:t>
            </a:r>
          </a:p>
          <a:p xmlns:a="http://schemas.openxmlformats.org/drawingml/2006/main">
            <a:r>
              <a:t>*2:40 · к концу 25:15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крупная панель iPhone 14 Pro/A16, userInitiated и background. Билд 2: utility и вывод о косвенном признаке. Билд 3: меньшая панель Mac M2 Pro, userInitiated/background. Без неподтверждённых размеров кэша A16.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Можно спросить у памяти. Есть простой отдельный опыт: каждое чтение сообщает адрес следующего. Обращения вынуждены ждать друг друга, а объём памяти, по которому ходим, постепенно увеличивается.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Это лестница задержек памяти; метод описывал Ульрих Дреппер. Сначала iPhone. По горизонтали объём памяти, по которому идёт цепочка. По вертикали время одного зависимого чтения.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 набор небольшой, большинство обращений обслуживается ближайшим кэшем. Увеличиваем набор: в какой-то момент этой ёмкости не хватает, чтения становятся дороже. Ступеньки показывают масштаб памяти, доступной именно этой нагрузке. При высоком QoS userInitiated границы одни, при background — другие. Они согласуются с разными размерами кэшей P- и E-ядер.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Важно отличить размер кэша от частоты. Если ядро замедлить, чтение станет дороже, линия поднимется. Но граница, на которой данные перестали помещаться в кэш, от одной частоты не переедет.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Добавим utility. Смотрим не только на высоту линии, а на положение изломов. Utility ведёт себя ближе к background, чем к высокому QoS. Это косвенный признак другого типа ядра в данном опыте.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Справа контрольная картина на Mac: у высокого и фонового QoS тоже разные изломы. Это отдельная нагрузка на память, не трасса самого дедупа. Причина его коэффициента остаётся объяснением, которое согласуется с наблюдениями.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Однако картина понятна: обе реализации замедлились, а узловая таблица потеряла больше. Ей особенно важно, помещается ли рабочий набор и сколько стоят зависимые ожидания. Называть устройство недостаточно; нужно назвать ещё режим, в котором достался процессор. Теперь соберём ответы трёх машин.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(−35 с). Убрать подробный метод и Mac рассказать одним предложением. Сохранить отличие высоты от границы, iPhone и статус косвенного наблюдения.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Pointer-chasing — отдельная нагрузка, не трассировка дедупа. Модель телефона известна; iOS и размеры кэшей по самому устройству не подставлять по памяти. На Mac нет utility-лестницы в текущих данных; не обещать её. Utility-линия содержит измеренные особенности, не дорисовывать совпадение с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prep/research/apple.md §1–2; методDrepper. Отдельный pointer-chasing тест. Изломы — косвенный признак типа ядра, не CPU-трасса дедупа. userInitiated не равно foreground приложения. Версия iOS и размеры кэшей телефона не подставлены. iPhone utility содержит фактические особенности исходной линии.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23: flip</a:t>
            </a:r>
          </a:p>
          <a:p xmlns:a="http://schemas.openxmlformats.org/drawingml/2006/main">
            <a:r>
              <a:t>*1:40 · к концу 26:55 · 3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x86 и iPhone utility на 256K/1M. Билд 2: промежуточные 64K/512K. Билд 3: Mac разработчика и вывод про CI. Победитель и коэффициенты относятся к собственным строкам, без единой мнимой шкалы скорости машин.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Вот почему исходный диф может получить три ответа. Один бенчмарк, одинаковые тестовые входы, разные окружения.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Сначала два размера: двести пятьдесят шесть тысяч и миллион. На x86 с Linux узловая таблица впереди на меньшем, на миллионе близко. А на iPhone в utility в обоих случаях впереди сортировка; на миллионе разрыв уже видели.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Промежуточные размеры подтверждают, что рейтинг зависит от среды. На x86 таблица сохраняет преимущество, на iPhone сортировка получает его с ростом входа.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А здесь Mac разработчика: на средних размерах близко, большой вход помогает сортировке. Одного универсального ответа у этой таблицы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Ни одна машина не обязана подтвердить ответ другой. Отличаются кэши, стандартная библиотека, планировщик, режим выполнения. Перф-тест в CI полезен: он ловит изменения в контролируемом окружении. Но автоматически переносить его рейтинг алгоритмов на пользователя нельзя.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 не врёт. Он честно отвечает про свою машину.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относится и к серверу: разработчик, раннер и прод могут получить разное железо. А теперь вернёмся к нашей публичной задаче. Что с этим знанием действительно стоит выбирать?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Показать три колонки без чтения размеров. «x86 за хеш на средних N; Mac близко; iPhone utility за sort. CI отвечает про себя».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x86 — среда «как CI», не утверждение о конкретном настоящем CI-раннере. Для 1M не выдавать первоначальные проценты за устойчивый выигрыш, повтор дал близкие времена. Виртуальные hosted-раннеры не заменяют физический iPhone и его планировщик; конкретные ограничения зависят от конфигурации.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Практическая развязка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bench/results/summary.md,E2 и E2b; prep/research/apple.md. x86/Linux/libstdc++: повтор1,64/1,29/1,12/≈1,02(sort/uset) на 64K/256K/512K/1M. M2, libc++ и iPhone utility — исходные серии. Таблица рейтингов внутри машин, не общей скорости платформ.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24: merge</a:t>
            </a:r>
          </a:p>
          <a:p xmlns:a="http://schemas.openxmlformats.org/drawingml/2006/main">
            <a:r>
              <a:t>*1:20 · к концу 28:15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Локальная часть sorted unique. Билд 1: sort дельты → unique дельты → set_union. Билд 2: x86 ×3,5–6,6 относительно sort всего входа плюс unique; iPhone не измерялся.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Все раунды уточняли выбор между готовыми реализациями. Но у задачи есть свойство, которое важнее этого турнира: локальные id уже отсортированы и уникальны.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Их можно вообще не пересортировывать. Отсортировать только дельту, убрать в ней повторы, затем пройти двумя указателями по двум отсортированным последовательностям и собрать объединение. Каждый раз выбираем меньший id, равные выдаём один 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Шаг unique по дельте нужен обязательно: set_union сам по себе не превращает каждую входную последовательность в множество. В публичном примере локальная часть уже уникальна, дельту приводим к тому же условию.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На x86 такой подход в наших конфигурациях быстрее полной сортировки минимум в три с половиной раза; диапазон на экране связан с библиотекой и вариантом реализации. На iPhone эту серию не снимали.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публичной задачи я начал бы именно с этого решения: оно использует известную структуру входа и не требует новой контейнерной библиотеки. Хеш и radix останутся кандидатами для других условий. Мы перестали искать один универсальный победитель и нашли способ не выполнять лишнюю работу.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Код показать молча, рецепт прочитать одной фразой. Сохранить unique по дельте, исходный контракт и платформу коэффициента.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Рецепт: sort(D), D.erase(unique(D), D.end()), set_union(L,D,out); L sorted unique. Если L содержит повторы, это отдельный контракт и потребуется дедуп L. Коэффициенты x86 3,5–6,6 не переносить на iPhone.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bench/results/summary.md,E8; bench/dedup_bench.cpp. L=2^20sorted unique,D=2^16,U/N delta=0,5. Δ sort+unique перед set_union. ×3,5–6,6 — разные библиотечные связки x86, не серия наiPhone.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25: prod</a:t>
            </a:r>
          </a:p>
          <a:p xmlns:a="http://schemas.openxmlformats.org/drawingml/2006/main">
            <a:r>
              <a:t>*1:00 · к концу 29:15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Нейтральная лабораторная рамка. Билд 1: 512K, iPhone utility — примерно 29/55 мс, разница +26 мс и около +12 МиБ дополнительной памяти таблицы. Билд 2: следующий шаг публичной задачи — слияние; этап не вся синхронизация.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Переведём наносекунды в стоимость этапа. [щелчок] На полумиллионе id сортировка на этом iPhone в utility занимает около двадцати девяти миллисекунд, узловая таблица — пятьдесят пять.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Разница — двадцать шесть миллисекунд на один дедуп. Плюс примерно двенадцать мебибайт дополнительной памяти таблицы. Это лабораторная цена этапа на конкретном входе.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Для публичной задачи следующий шаг — слияние локальной части с подготовленной дельтой. Сначала используем знание о данных, затем сравниваем кандидатов в целевом режиме.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Получилось два результата: увидели, когда дорожает таблица, и нашли подходящее решение нашей задачи. Теперь заберём этот маршрут в свой стек.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«На 512K лабораторная разница +26 мс и около +12 МиБ. Для публичной задачи начал бы со слияния. Это цена дедупа, не всей синхронизации». Без остальных примеров.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Мс считаются из нс/элемент и N=2^19. Память — оценка дополнительной структуры, не измеренный RSS всего процесса. Время не равно энергии. Никакого реального выката или прод-процентов здесь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Лабораторная оценка из qos/x33:55,3×2^19≈29мс;105,3×2^19≈55мс;57,4×2^20≈60мс;187,7×2^20≈197мс. +12 МиБ — оценка структуры таблицы, не измеренный RSS. Не вся синхронизация и не продуктовый выкат.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26: platforms</a:t>
            </a:r>
          </a:p>
          <a:p xmlns:a="http://schemas.openxmlformats.org/drawingml/2006/main">
            <a:r>
              <a:t>*0:55 · к концу 30:10 · 2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Билд 1: бэкенд — целевые CPU/библиотека; мобильное — реальный executor/QoS. Билд 2: конкретная реализация контейнера в своём языке. Без чужих числовых коэффициентов.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Если вы не пишете на C++, маршрут расследования тот 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На сервере это x86 в CI и ARM в проде, другая библиотека или соседняя нагрузка. На телефоне — разные режимы и исполнители. Назовите среду, где действительно живёт этап.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Затем реализацию контейнера. В Java HashSet с числами добавляет объекты и аллокации. Современный map в Go и HashMap в Rust устроены плоско. У Swift и Python своя цена ключа и хеширования.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Множители не переносятся автоматически. Переносятся вопросы: данные, результат, реализация, окружение. Вернёмся к дифу и применим их.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Не перечислять языки вслух. «Контейнеры и хешеры разные, множители не переносятся. Переносятся четыре вопроса». К ревью.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Go Swiss tables — с 1.24; Rust HashMap через hashbrown. Конкретный хешер и библиотека влияют на числа. Swift Set и Python set — открытая адресация, их нельзя назвать узловыми аналогами unordered_set. Детали — модуль nb-lang в modules.md.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Применение метода, без новых измерений. prep/research/beyond.md; SE-0304. Контейнеры, actor isolation, executor и QoS различаются. CPU в CI не обязан повторять целевую платформу.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27: review</a:t>
            </a:r>
          </a:p>
          <a:p xmlns:a="http://schemas.openxmlformats.org/drawingml/2006/main">
            <a:r>
              <a:t>*1:45 · к концу 31:55 · 4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Диф виден сразу. Билд 1: Changes requested. Билды 2–4: контракт, данные, среда исполнения. Никакого автоматического счёта победителей голосования.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Снова вторник, семнадцать сорок. Тот же диф. Посмотрите на него ещё раз и за пять секунд сформулируйте один комментарий, который оставили бы коллеге. [пауза 5 с, смотрю в зал]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Я бы сначала попросил уточнения. Фраза «стало линейно» ещё не отвечает на вопрос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Первое: контракт. Выход раньше был отсортирован. Теперь это порядок обхода таблицы. Кто использует прежнее свойство и что ему на самом деле нужно?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Второе: данные. Какие размеры и повторы? Локальные уже отсортированы — можем ли мы отсортировать только дельту и слить?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Третье: где исполняется. На каком железе и в каком режиме получили замер? Соответствует ли он месту, где будет жить этот этап?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Вспомните свою первую букву. У сортировки появились конкретные условия, у хеша — тоже. А вопрос из варианта C получил содержание: эти три уточнения. Эти ответы можно приложить к перф-изменению в описании PR. Следующий человек сможет повторить замер и понять, к каким входам и среде относился вывод. Хорошее ревью не обязано сразу угадать победителя. Оно помогает поставить опыт, из которого действительно получится решение.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(−20 с). После пяти секунд сразу три вопроса, без вступительного комментария и возвращения к буквам. Паузу на самостоятельное применение сохранить.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Можно коротко вернуть конкретный вопрос из первого голосования, если он действительно прозвучал. Не выдумывать большинство или реакцию зала. Если обратный диалог затянулся раньше, здесь не брать новый открытый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Возврат к исходному публичному дифу. Пауза 5 секунд на собственный комментарий. Выводы привязаны к контракту, данным и окружению.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28: final</a:t>
            </a:r>
          </a:p>
          <a:p xmlns:a="http://schemas.openxmlformats.org/drawingml/2006/main">
            <a:r>
              <a:t>*1:00 · к концу 32:55 · 1 билдов*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</a:t>
            </a:r>
          </a:p>
          <a:p xmlns:a="http://schemas.openxmlformats.org/drawingml/2006/main">
            <a:r>
              <a:t>Материалы и QR видны сразу. Билд 1: «Ваш алгоритм не выбирал процессор. Проверьте, какой ему достался». Без счёта и перечня четырёх коэффициентов.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Бенчмарк, код и данные доступны по QR.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После конференции откройте один свой перф-тест. Посмотрите, какой вход он повторяет и где бежит. На телефоне — тот ли режим? На сервере — то ли окружение? Если ответ отличается от реальной задачи, вы уже знаете, что проверить первым.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[пауза 2 с]</a:t>
            </a:r>
          </a:p>
          <a:p xmlns:a="http://schemas.openxmlformats.org/drawingml/2006/main">
            <a:r>
              <a:t>Ваш алгоритм не выбирал процессор. Проверьте, какой ему достался. [пауза 2 с] Спасибо!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отстаю (−10 с). «Материалы по QR. Откройте свой перф-тест и проверьте его вход и окружение». Финальная фраза и паузы остаются.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</a:t>
            </a:r>
          </a:p>
          <a:p xmlns:a="http://schemas.openxmlformats.org/drawingml/2006/main">
            <a:r>
              <a:t>Финальный кадр остаётся на экране на время вопросов. Не открывать отдельный «Вопросы?» и не пролистывать автоматически в backup. QR ведёт к публичному репозиторию и материалам.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условия.</a:t>
            </a:r>
          </a:p>
          <a:p xmlns:a="http://schemas.openxmlformats.org/drawingml/2006/main">
            <a:r>
              <a:t>QR: https://github.com/Neoron95/conference-hardfest-algorithms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Слайды после этого — запас для вопросов, в основной хронометраж не входят. Номер на экране → слайд → вопросы из qa.md:</a:t>
            </a:r>
          </a:p>
          <a:p xmlns:a="http://schemas.openxmlformats.org/drawingml/2006/main">
            <a:r>
              <a:t>1 nb-where — «Какой iPhone? Где мерили? У нас CI на Mac-раннерах» (M1, M10, V7, P8) · 2 nb-kernel — «В XNU написано обратное» (I1, I9, H16) · 3 nb-dense — «rowid плотные, а мерили случайные» (M5, C8) · 4 nb-merge — «Почему не слить дельту?» (X1, C5, C10) · 5 nb-lang — «А в Java, Go, Rust, Swift, Python?» (B1–B3, B9, S1, X12) · 6 learned-table — «Почему на M2 не предсказатель?» (H15, H17) · 7 qos-bg — «Почему utility, а не background?» (I4, H13) · 8 systems — точка перехода на четырёх системах · 9 drift — две минуты под нагрузкой · 10 stdlib — libstdc++ против libc++ · 11 cachecost — рабочий набор против L2 · 12 sortmin, 13 hashtable, 14 radixmin — устройство алгоритмов за минуту · 15 reserve — «Почему reserve(N), а не под U?» (C12) · 16 checklist — восемь проверок честного замера · 17 sums — из чего складывается работа.</a:t>
            </a:r>
          </a:p>
          <a:p xmlns:a="http://schemas.openxmlformats.org/drawingml/2006/main">
            <a:r>
              <a:t>Схема любого ответа: сразу признать верное → точная формулировка → вывод держится → мостик: «на каком железе и в каком приоритете мерили».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Условия и источники (были в подвале слайда): Сырые данные, харнесс и условия замеров — github.com/Neoron95/conference-hardfest-algorithms · архив (скрыт): twoways, bigo, questions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Модуль radixmin</a:t>
            </a:r>
          </a:p>
          <a:p xmlns:a="http://schemas.openxmlformats.org/drawingml/2006/main">
            <a:r>
              <a:t>Длительность: 1:10. Место: после flat, перед share-q; либо ответ на «Почему не radix?».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Вход. «Перед следующей ставкой разберём кандидата, которого разрешило устройство нашего ключа».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 Существующая схема radix: короткие шестнадцатеричные числа и проходы по полубайтам.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Поразрядная сортировка раскладывает элементы по одной части ключа. Здесь младший полубайт, затем старший. Важное условие: внутри группы сохраняется порядок предыдущего прохода. Уже разобранные младшие части остаются упорядочены, когда переходим к старшим.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измеренной реализации шестидесятичетырёхбитный ключ обрабатывается восемью проходами по байтам. Вместо дерева сравнений получаем фиксированные проходы, счётчики и копирование. Цена — дополнительный буфер размером со вход.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Числовой ключ дал нам эту возможность. Но короткий массив, ограничение памяти или другой тип ключа могут изменить выбор. Одного названия radix тоже недостаточно.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Выход. «Вернёмся к дельте. Следующая ставка — как на знакомый выбор влияют повторы».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пропускаю. Переход flat → share-q из основного сценария самодостаточен.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 На схеме учебные полубайты, в бенчмарке байты. «Без сравнений ключей» не означает отсутствие вычислений. Варианты radix для строк здесь не разбираются.</a:t>
            </a:r>
          </a:p>
          <a:p xmlns:a="http://schemas.openxmlformats.org/drawingml/2006/main">
            <a:r>
              <a:t>Источники: prep/research/bench.md; cpp.md; apple.md; beyond.md; bench/results/summary.md.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Модуль learned-table</a:t>
            </a:r>
          </a:p>
          <a:p xmlns:a="http://schemas.openxmlformats.org/drawingml/2006/main">
            <a:r>
              <a:t>Длительность: 1:15. Место: после learned, перед qos; либо ответ о повторяемости бенчмарка.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Вход. «Вот два отдельных опыта, которые помогают сузить объяснение».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 Слева x86/Linux: один восстановленный вход 9,7; 64 одинаковые копии 9,6; 64 разных массива 46,9; разные входы через один буфер 8 КиБ — 46,8 нс/элемент. Справа отдельно: macOS/M2 — 6,8/14,4; качественный контроль M2/Linux VM — одинаковые копии тоже медленнее одного восстановленного массива.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Слева x86. Один восстановленный вход и одинаковые копии — около десяти наносекунд. Разные входы — около сорока семи.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 могло ли дело быть в адресах? В четвёртой строке разные значения проходят через один буфер. Адреса одинаковые, результат всё равно дорогой. Повторяемость содержимого здесь влияет сильнее, чем смена буфера.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Справа другой процессор. Нативная macOS показывает знакомое удорожание на разных входах. Отдельный контроль в Linux-виртуалке: одинаковые копии тоже медленнее одного восстановленного массива. Причина для M2 остаётся гипотезой.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Эти опыты помогают разделить возможные объяснения. При этом мы сохраняем границу между окружениями и не склеиваем их в одно доказательство.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Выход. «Теперь входы фиксируем. Следующая переменная — режим исполнения самого потока».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пропускаю. Последний абзац learned уже переводит к qos.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 Четыре x86-строки — данные текущей контрольной серии. Числа macOS — отдельное наблюдение; VM-контроль качественный. Не сравнивать абсолютные времена разных библиотек как чистый эффект ОС. Аппаратная причина для M2 не установлена этой таблицей.</a:t>
            </a:r>
          </a:p>
          <a:p xmlns:a="http://schemas.openxmlformats.org/drawingml/2006/main">
            <a:r>
              <a:t>Источники: prep/research/bench.md; cpp.md; apple.md; beyond.md; bench/results/summary.md.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Модуль nb-lang</a:t>
            </a:r>
          </a:p>
          <a:p xmlns:a="http://schemas.openxmlformats.org/drawingml/2006/main">
            <a:r>
              <a:t>Длительность: 1:10. Место: после platforms, перед review; либо ответ о конкретном языке.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Вход. «Вот несколько разных способов хранить одно множество».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экране. Существующая классификация контейнеров: узлы, открытая адресация, цепочки в массивах. Это устройство реализаций, не сравнительный бенчмарк языков.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Говорю.</a:t>
            </a:r>
          </a:p>
          <a:p xmlns:a="http://schemas.openxmlformats.org/drawingml/2006/main">
            <a:r>
              <a:t>У C++ unordered_set и Java HashSet есть отдельные узлы. В Java числовой ключ Long может добавить объект. Go с версии один двадцать четыре и Rust HashMap используют плоскую организацию.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Swift и Python открытая адресация, но свои хешеры и представление значений. Число в Python обычно является объектом. В C# цепочки хранятся в массивах: слово «цепочка» ещё не означает отдельную аллокацию на ключ.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даёт кандидатов для проверки, а не готовые коэффициенты. Сначала узнаём устройство своего контейнера. Затем ставим вопрос к своим данным и среде. Название set — лишь начало разговора.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Выход. «Представьте тот же диф в вашем языке. Какой комментарий оставили бы коллеге?»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пропускаю. Переход platforms → review остаётся из основного сценария.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рукой. Конкретные типы, версии и оптимизации влияют на боксинг и аллокации. Не говорить «два объекта всегда». Swift/Python не считать узловыми таблицами. Здесь нет измеренных коэффициентов GC или иных хешеров.</a:t>
            </a:r>
          </a:p>
          <a:p xmlns:a="http://schemas.openxmlformats.org/drawingml/2006/main">
            <a:r>
              <a:t>Источники: prep/research/bench.md; cpp.md; apple.md; beyond.md; bench/results/summary.md.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Последний счёт раунда: вызовы new. Вопрос вам, про себя: сколько раз unordered_set позовёт аллокатор на миллионе ключей? Ноль, тысячу или миллион? [пауза 3 с]</a:t>
            </a:r>
          </a:p>
          <a:p xmlns:a="http://schemas.openxmlformats.org/drawingml/2006/main">
            <a:r>
              <a:t>[щелчок] Сортировка: ноль, работает на месте.</a:t>
            </a:r>
          </a:p>
          <a:p xmlns:a="http://schemas.openxmlformats.org/drawingml/2006/main">
            <a:r>
              <a:t>[щелчок] Хеш-таблица: миллион. Узел на каждый ключ, плюс массив ячеек. С округлением это около сорока мегабайт. Расширению уведомлений на iPhone дают около двадцати четырёх, дальше его убивают — как OOM-killer на сервере. И платят за узлы дважды: миллион delete прячется за закрывающей фигурной скобкой.</a:t>
            </a:r>
          </a:p>
          <a:p xmlns:a="http://schemas.openxmlformats.org/drawingml/2006/main">
            <a:r>
              <a:t>[щелчок] Плоская таблица, о ней через минуту: один new на всё.</a:t>
            </a:r>
          </a:p>
          <a:p xmlns:a="http://schemas.openxmlformats.org/drawingml/2006/main">
            <a:r>
              <a:t>[пауза] Итог раунда: шагов у хеша меньше, но каждый — аллокация и прыжок по куче. Значит, уберём узлы.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Тайминг: 0:50, к концу 9:00.</a:t>
            </a:r>
          </a:p>
          <a:p xmlns:a="http://schemas.openxmlformats.org/drawingml/2006/main">
            <a:r>
              <a:t>Щелчки: 1 — sort + unique, 0, работает на месте; 2 — unordered_set, ≈1 млн, ≈42 МБ памяти+ миллион delete; 3 — flat_hash_set, 1, одна таблица на всё.</a:t>
            </a:r>
          </a:p>
          <a:p xmlns:a="http://schemas.openxmlformats.org/drawingml/2006/main">
            <a:r>
              <a:t>Если отстаю (−20 с): Вопрос риторический, без паузы; выбросить расширение уведомлений и x86. Оставить: ноль / миллион / один и «миллион delete за закрывающей скобкой».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1 048 577 вызовов = 2^20 узлов + массив ячеек; 33 554 432 Б запрошено (cpp.md §2.3). У Apple 24 → 32 Б, заголовка нет (apple.md §3.1, §3.4). Разбросаны не адреса — аллокатор раздаёт их почти подряд, — а порядок обхода.</a:t>
            </a:r>
          </a:p>
          <a:p xmlns:a="http://schemas.openxmlformats.org/drawingml/2006/main">
            <a:r>
              <a:t>— Фазы на x86 (bench.md E11, U = N, обе библиотеки): reserve и вставки ≈43%, выгрузка ≈26%, деструктор 28–30%. На M2 по фазам не раскладывал. «Сорок мегабайт здесь, двадцать четыре на prod?» — разные U: здесь все id разные, там половина — повторы.</a:t>
            </a:r>
          </a:p>
          <a:p xmlns:a="http://schemas.openxmlformats.org/drawingml/2006/main">
            <a:r>
              <a:t>— «Пул-аллокатор или pmr?» (qa C9): не мерил. monotonic_buffer_resource уберёт malloc и free, но не прыжки по узлам; ожидаю ближе к сортировке, не к flat — гипотеза. Share extension (~120 МБ) в пример не брать (errata P1-7).</a:t>
            </a:r>
          </a:p>
          <a:p xmlns:a="http://schemas.openxmlformats.org/drawingml/2006/main">
            <a:r>
              <a:t>— «Почему 18,9 МБ, если ключей на 8 МБ?» (errata P2-11): 2^20 — неудачная точка для Swiss Table: ёмкость 2^20 − 1 вмещает только 917 504 ключа при загрузке 7/8, поэтому reserve берёт 2^21 − 1 слотов — по 8 байт ключа и байту метаданных, 18,9 МБ, заполнение 50%.</a:t>
            </a:r>
          </a:p>
          <a:p xmlns:a="http://schemas.openxmlformats.org/drawingml/2006/main">
            <a:r>
              <a:t>Условия и источники (были в подвале слайда): N = U = 2²⁰, все id разные — как в голосовании · libc++ · вызовы посчитаны подменой operator new</a:t>
            </a:r>
          </a:p>
          <a:p xmlns:a="http://schemas.openxmlformats.org/drawingml/2006/main">
            <a:r>
              <a:t>С экрана убрано: unordered_set: запрошено 33,6 МБ, с округлением malloc ≈42 МБ; Notification Service Extension ~24 МБ, виджет ~30 МБ — наблюдаемые лимиты jetsam; x86: деструктор ≈30% времени; МБ = 10⁶ байт; N = U = 2²⁰, вызовы посчитаны подменой operator new (libc++)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Правило вместо нотации.</a:t>
            </a:r>
          </a:p>
          <a:p xmlns:a="http://schemas.openxmlformats.org/drawingml/2006/main">
            <a:r>
              <a:t>[щелчок] Первое. Уникальных мало или нужен порядок первого появления — хеш-таблица, лучше плоская.</a:t>
            </a:r>
          </a:p>
          <a:p xmlns:a="http://schemas.openxmlformats.org/drawingml/2006/main">
            <a:r>
              <a:t>[щелчок] Второе. Часть входа уже отсортирована — не трогайте её: остальное отсортируйте, схлопните и слейте.</a:t>
            </a:r>
          </a:p>
          <a:p xmlns:a="http://schemas.openxmlformats.org/drawingml/2006/main">
            <a:r>
              <a:t>[щелчок] Третье. Целые ключи, почти все разные, данных больше кэша — radix или плоская таблица. Узловая — последней.</a:t>
            </a:r>
          </a:p>
          <a:p xmlns:a="http://schemas.openxmlformats.org/drawingml/2006/main">
            <a:r>
              <a:t>[щелчок] Четвёртое, для всех. Код живёт не там, где мерили, — значит, цена шага другая. На телефоне в фоне — другое ядро. На бэкенде — ARM вместо x86 или контейнер, у которого кэш делят соседи.</a:t>
            </a:r>
          </a:p>
          <a:p xmlns:a="http://schemas.openxmlformats.org/drawingml/2006/main">
            <a:r>
              <a:t>[щелчок] И пятое, самое короткое: сомневаетесь — меряйте.</a:t>
            </a:r>
          </a:p>
          <a:p xmlns:a="http://schemas.openxmlformats.org/drawingml/2006/main">
            <a:r>
              <a:t>[пауза] Big-O нужен: он спасает от квадратичных катастроф. Но между двумя разумными алгоритмами он не выбирает: он считает шаги, а не их цену. [пауза] Вернёмся во вторник.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Тайминг: 1:00, к концу 23:40.</a:t>
            </a:r>
          </a:p>
          <a:p xmlns:a="http://schemas.openxmlformats.org/drawingml/2006/main">
            <a:r>
              <a:t>Щелчки: 1 — 1, Мало уникальных или нужен порядок появления→ хеш-таблица, лучше плоска; 2 — 2, Часть входа уже отсортирована→ отсортировать остальное, убрать повторы; 3 — 3, Целые ключи, почти все разные, больше кэша→ radix или плоская; узловая; 4 — 4, Код живёт не там, где мерили→ цена шага другая; 5 — 5, Сомневаетесь→ меряйте.</a:t>
            </a:r>
          </a:p>
          <a:p xmlns:a="http://schemas.openxmlformats.org/drawingml/2006/main">
            <a:r>
              <a:t>Если отстаю (−25 с): Правила 1–3 не читать: «Первые три — про данные и контракт, они на слайде». Четвёртое целиком, пятое и «Big-O считает шаги, а не их цену».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• Финальное состояние (все пять правил и строка про Big-O) держать 5 секунд: его фотографируют.</a:t>
            </a:r>
          </a:p>
          <a:p xmlns:a="http://schemas.openxmlformats.org/drawingml/2006/main">
            <a:r>
              <a:t>• Правило 4, числа со слайда cores (iPhone, отношение к userInitiated): utility ≈1,3× в L1 и на 64 МБ, до ≈5× на 8–16 МБ; background — до ≈15× на 4–32 МБ (errata P1-14; с графика ±10%, сверить с сырыми данными). CPU-лимит, то есть квота CFS, сам по себе тормозит оба алгоритма одинаково; цену шага меняют соседи по L3 — гипотеза, я мерил без соседей (qa B10). Не говорить «Graviton — это как E-ядро».</a:t>
            </a:r>
          </a:p>
          <a:p xmlns:a="http://schemas.openxmlformats.org/drawingml/2006/main">
            <a:r>
              <a:t>• Правило 1: при 1% уникальных flat с reserve(N) медленнее узловой таблицы (3,6 против 3,2 нс/эл) и берёт в 64 раза больше памяти (errata P2-19, backup reserve). Правило 3: radix и flat мерились на M2 Pro в userInitiated (6,9 и 11,7 против 19,9) и на x86 (bench.md E1: radix ≈40, flat ≈43, sort ≈84, unordered_set ≈260 нс/эл); на iPhone в .utility — не мерил (qa P7). Правило 2 — слайд merge: на x86 в 3,5–6,6 раза быстрее sort + unique; unique по дельте обязателен.</a:t>
            </a:r>
          </a:p>
          <a:p xmlns:a="http://schemas.openxmlformats.org/drawingml/2006/main">
            <a:r>
              <a:t>• «Postgres сам выбирает между HashAggregate и Sort» (qa B7): да, по оценке числа различных значений и work_mem — по данным и памяти, ровно по этому правилу; про ядро он тоже не знает. «Кнут: преждевременная оптимизация»: правило не про то, чтобы оптимизировать дедуп, а про то, чтобы не выбирать контейнер по нотации.</a:t>
            </a:r>
          </a:p>
          <a:p xmlns:a="http://schemas.openxmlformats.org/drawingml/2006/main">
            <a:r>
              <a:t>Условия и источники (были в подвале слайда): Никита Нагорнов · github.com/Neoron95/conference-hardfest-algorithms · слайд 24</a:t>
            </a:r>
          </a:p>
          <a:p xmlns:a="http://schemas.openxmlformats.org/drawingml/2006/main">
            <a:r>
              <a:t>С экрана убрано: Четвёртое подробнее: iPhone в .utility — чтение памяти до 5× дороже · ARM-инстанс вместо x86 · контейнер, где L3 делят соседи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[щелчок] Хеш. И сразу в три и семь десятых раза: уникальных всего десять тысяч, их узлы помещаются в кэш. [пауза 1 с] [одной фразой: угадало ли большинство]</a:t>
            </a:r>
          </a:p>
          <a:p xmlns:a="http://schemas.openxmlformats.org/drawingml/2006/main">
            <a:r>
              <a:t>Теперь вся сетка: слева все id одинаковые, справа все разные. Шкала по вертикали логарифмическая, ниже — лучше.</a:t>
            </a:r>
          </a:p>
          <a:p xmlns:a="http://schemas.openxmlformats.org/drawingml/2006/main">
            <a:r>
              <a:t>Синяя сортировка почти горизонтальна: от двенадцати до двадцати при стократной разнице в числе уникальных. Она в любом случае переставляет весь миллион.</a:t>
            </a:r>
          </a:p>
          <a:p xmlns:a="http://schemas.openxmlformats.org/drawingml/2006/main">
            <a:r>
              <a:t>[щелчок] Оранжевая хеш-таблица её пересекает. При половине повторов — почти ничья, двадцать против двадцати трёх. А когда все разные, хеш позади в два с половиной раза.</a:t>
            </a:r>
          </a:p>
          <a:p xmlns:a="http://schemas.openxmlformats.org/drawingml/2006/main">
            <a:r>
              <a:t>[щелчок] Зелёная плоская внизу почти везде.</a:t>
            </a:r>
          </a:p>
          <a:p xmlns:a="http://schemas.openxmlformats.org/drawingml/2006/main">
            <a:r>
              <a:t>[смотрю в зал] Так что и сортировка, и хеш правы — каждый в своей клетке. Победителя назначают данные.</a:t>
            </a:r>
          </a:p>
          <a:p xmlns:a="http://schemas.openxmlformats.org/drawingml/2006/main">
            <a:r>
              <a:t>Второе условие прячется не в данных, а в тикете.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Тайминг: 1:00, к концу 12:30.</a:t>
            </a:r>
          </a:p>
          <a:p xmlns:a="http://schemas.openxmlformats.org/drawingml/2006/main">
            <a:r>
              <a:t>Щелчки: 1 — [график], unordered_set, sort + unique, хеш ×3,7; 2 — [график], почти ничья20 против 23, sort ×2,6; 3 — [график], flat_hash_set, radix + unique.</a:t>
            </a:r>
          </a:p>
          <a:p xmlns:a="http://schemas.openxmlformats.org/drawingml/2006/main">
            <a:r>
              <a:t>Если отстаю (−20 с): Оси одной фразой: «слева все одинаковые, справа все разные». Выбросить «от двенадцати до двадцати…» и «Она в любом случае переставляет весь миллион». Оставить: «хеш, в три и семь десятых раза», почти ничья на половине, позади на всех разных, «победителя назначают данные».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Точки (M2 Pro, сессия Б, с графика ±2%): все равны — sort 1,2 · uset 2,0 · flat 2,9; 1% — 12,0 · 3,2 · 3,6; 50% — 20,3 · 23,0; 100% — 19,8 · 51,6 (errata §4.1). При 1% узловая быстрее flat: flat с reserve(N) платит за таблицу в 18,9 МБ на десять тысяч ключей (backup reserve) — поэтому «почти везде». Десять тысяч узлов по 32 Б — около 320 КБ.</a:t>
            </a:r>
          </a:p>
          <a:p xmlns:a="http://schemas.openxmlformats.org/drawingml/2006/main">
            <a:r>
              <a:t>— x86, повтор (bench.md E3): при 1% хеш быстрее сортировки в 6–8 раз, при 100% сортировка быстрее в 3,0–3,2 раза — направление то же, размах больше. Radix на x86 вровень с flat.</a:t>
            </a:r>
          </a:p>
          <a:p xmlns:a="http://schemas.openxmlformats.org/drawingml/2006/main">
            <a:r>
              <a:t>— «20 против 23, а на кривой было 26?» (qa M3): разные сессии; хеш на этой точке гуляет 22,6–26,3, сортировка — на полпроцента. Поэтому 50% подписано «почти ничья».</a:t>
            </a:r>
          </a:p>
          <a:p xmlns:a="http://schemas.openxmlformats.org/drawingml/2006/main">
            <a:r>
              <a:t>Условия и источники (были в подвале слайда): N = 2²⁰ · M2 Pro, macOS, libc++, userInitiated · id — случайные 64-битные · сессия Б  · flat и radix — только M2 Pro, userInitiated · «все равны» = U = 1 · ось X — категории, не шкала</a:t>
            </a:r>
          </a:p>
          <a:p xmlns:a="http://schemas.openxmlformats.org/drawingml/2006/main">
            <a:r>
              <a:t>С экрана убрано: N = 2²⁰ · M2 Pro, macOS, libc++, userInitiated · id — случайные 64-битные · сессия Б  · flat и radix — только M2 Pro, userInitiated · «все равны» = U = 1 · ось X — категории, не шкала; значения: 1% — хеш ×3,7; 50% — 20,3 против 23,0 (почти ничья); 100% — sort ×2,6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Вопросы про модель телефона, ОС, инструменты, физическое или виртуальное ядро.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• iPhone 14 Pro, A16 Bionic. Версия iOS и мобильные сырые данные не сохранены в доступных материалах исходной серии; размеры кэшей iPhone не подставлять из модели. Время — медианы, числа перенесены из существующей колоды. Версия iOS, полный номер сборки DedupBench и его флаги не сохранены в доступных материалах исходной серии. Не заполнять эти поля выдуманными значениями и не обещать, что полный мобильный паспорт лежит в репозитории.</a:t>
            </a:r>
          </a:p>
          <a:p xmlns:a="http://schemas.openxmlformats.org/drawingml/2006/main">
            <a:r>
              <a:t>• Mac — M2 Pro, macOS 27, исходная подпись Xcode 27.0/Apple clang 21.0.0, libc++, -O3. Конфигурация числа P/E ядер не сохранена; не выбирать 6P/8P по модели. Сохранённый sysctl: P L1D 128 КиБ/L2 16 МиБ; E L1D 64 КиБ/L2 4 МиБ; hw.cachelinesize 128 Б.</a:t>
            </a:r>
          </a:p>
          <a:p xmlns:a="http://schemas.openxmlformats.org/drawingml/2006/main">
            <a:r>
              <a:t>• Исходная x86-серия — Xeon в VM, GCC 13. Независимый повтор bench/results/env.txt: GCC 13.3/libstdc++, Clang 18.1/libc++, базовый x86-64 -O3, taskset -c 2; PMU недоступен. Объявленный L3 VM не доказывает фактически доступный кэш.</a:t>
            </a:r>
          </a:p>
          <a:p xmlns:a="http://schemas.openxmlformats.org/drawingml/2006/main">
            <a:r>
              <a:t>• Hosted macOS-раннеры обсуждались как отдельный пример VM: конфигурация раннера меняется во времени, точный CPU/perflevel проверить у конкретного запуска. Один виртуальный perflevel не гарантирует постоянного физического P-ядра и не исключает влияние QoS через хост.</a:t>
            </a:r>
          </a:p>
          <a:p xmlns:a="http://schemas.openxmlformats.org/drawingml/2006/main">
            <a:r>
              <a:t>• Swift Task: priority не задаёт executor. Task наследует actor isolation; созданный из MainActor Task с синхронным C++ вызовом может остаться на MainActor. Ожидание через await task.value может повысить приоритет. Замер через Swift Task не выполнялся. Первоисточник: SE-0304, разделы Task priorities, Priority Escalation, Context inheritance: https://github.com/swiftlang/swift-evolution/blob/main/proposals/0304-structured-concurrency.md . Не рекомендовать Task.detached автоматически: сначала определить реальный executor.</a:t>
            </a:r>
          </a:p>
          <a:p xmlns:a="http://schemas.openxmlformats.org/drawingml/2006/main">
            <a:r>
              <a:t>• UserInitiated — приоритет, не состояние приложения. Utility и реальный background процесса различаются. BGAppRefreshTask не измерялся; соответствие лаборатории продукту не утверждать.</a:t>
            </a:r>
          </a:p>
          <a:p xmlns:a="http://schemas.openxmlformats.org/drawingml/2006/main">
            <a:r>
              <a:t>Источники: prep/research/apple.md §2, §6–7; bench/README.md; bench/results/env.txt; SE-0304.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Вопросы про XNU, гарантии QoS и соответствие Swift Task.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• Apple формулирует влияние QoS на размещение: https://developer.apple.com/news/?id=vk3m204o (22.06.2020). Контроллер производительности задаёт рекомендации, исходники Edge допускают utility на всех CPU. Это описание модели планирования, не гарантия ядра для отдельного запуска.</a:t>
            </a:r>
          </a:p>
          <a:p xmlns:a="http://schemas.openxmlformats.org/drawingml/2006/main">
            <a:r>
              <a:t>• XNU xnu-12377.121.6, osfmk/kern/sched_clutch.c, стр. 6604–6612: https://github.com/apple-oss-distributions/xnu/blob/xnu-12377.121.6/osfmk/kern/sched_clutch.c#L6604-L6612 . Ограничение BG/Maintenance: performance controller would never recommend execution on the P-cores. На слайде пересказ, не универсальный закон будущих чипов и версий iOS.</a:t>
            </a:r>
          </a:p>
          <a:p xmlns:a="http://schemas.openxmlformats.org/drawingml/2006/main">
            <a:r>
              <a:t>• Цитата старого AMP «utility и bg только на E» относится к коду под !CONFIG_SCHED_EDGE. Не выдавать её за действующее правило текущего Edge. Нельзя подтвердить активный планировщик iPhone без сохранённого паспорта той версии iOS.</a:t>
            </a:r>
          </a:p>
          <a:p xmlns:a="http://schemas.openxmlformats.org/drawingml/2006/main">
            <a:r>
              <a:t>• iPhone 14 Pro, A16 Bionic. Версия iOS и мобильные сырые данные не сохранены в доступных материалах исходной серии; размеры кэшей iPhone не подставлять из модели. Время — медианы, числа перенесены из существующей колоды.</a:t>
            </a:r>
          </a:p>
          <a:p xmlns:a="http://schemas.openxmlformats.org/drawingml/2006/main">
            <a:r>
              <a:t>• Кривые отдельного memory probe дают косвенное свидетельство: utility на iPhone по изломам ближе к background. Сам дедуп не трассировали; размещение его потока не измерено. Линии Mac utility в материалах нет, поэтому «Mac utility — P» не является сохранённым результатом этого probe.</a:t>
            </a:r>
          </a:p>
          <a:p xmlns:a="http://schemas.openxmlformats.org/drawingml/2006/main">
            <a:r>
              <a:t>• Swift Task: priority не задаёт executor. Task наследует actor isolation; созданный из MainActor Task с синхронным C++ вызовом может остаться на MainActor. Ожидание через await task.value может повысить приоритет. Замер через Swift Task не выполнялся. Первоисточник: SE-0304, разделы Task priorities, Priority Escalation, Context inheritance: https://github.com/swiftlang/swift-evolution/blob/main/proposals/0304-structured-concurrency.md . Не рекомендовать Task.detached автоматически: сначала определить реальный executor.</a:t>
            </a:r>
          </a:p>
          <a:p xmlns:a="http://schemas.openxmlformats.org/drawingml/2006/main">
            <a:r>
              <a:t>• Приоритет потока, тип ядра и роль процесса — разные условия. Не переносить данные utility в BGAppRefreshTask автоматически. Thread affinity на Apple silicon не поддерживается: https://developer.apple.com/forums/thread/703361 .</a:t>
            </a:r>
          </a:p>
          <a:p xmlns:a="http://schemas.openxmlformats.org/drawingml/2006/main">
            <a:r>
              <a:t>Источники: prep/research/apple.md §1, §5; исходный cores; SE-0304.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Вопрос: «В кейсе rowid из SQLite — плотные, а мерили вы случайные 64-битные» (qa M5, Б2), «std::hash для целых — тождество» (C8).</a:t>
            </a:r>
          </a:p>
          <a:p xmlns:a="http://schemas.openxmlformats.org/drawingml/2006/main">
            <a:r>
              <a:t>Ответ: Справедливо. Случайные id выбраны намеренно, чтобы раскладка не зависела от удачи. На плотных id узловой таблице везёт: std::hash — тождество, коллизий ноль. На x86-повторе при половине дублей unordered_set на плотных в 1,65 раза быстрее, чем на случайных, и обгоняет сортировку в 1,7 раза; при всех уникальных — 320 против 68 нс/эл, в 4,7 раза. Radix делает 3 прохода вместо 8. Sort и flat от раскладки не зависят. Значит, на rowid победитель может смениться — это ровно тезис раунда 3. Серия на iPhone — серия на телефоне не выполнялась; не снял — так и сказать.</a:t>
            </a:r>
          </a:p>
          <a:p xmlns:a="http://schemas.openxmlformats.org/drawingml/2006/main">
            <a:r>
              <a:t>Обратный край: id с общими нулевыми младшими битами (снежинки с нулевым счётчиком, кратные 1024) в libc++ после reserve(2^k) сваливаются в одну цепочку: шаг 1024 — 64 ячейки из 65 536, вставка ×70; шаг 2^20 — ×1 500. libstdc++ простой модуль это скрывает, Abseil и boost перемешивают хеш. Проверьте гистограмму цепочек на своих id.</a:t>
            </a:r>
          </a:p>
          <a:p xmlns:a="http://schemas.openxmlformats.org/drawingml/2006/main">
            <a:r>
              <a:t>Мостик: для rowid лучший кандидат вообще не хеш и не sort, а слияние отсортированной дельты (следующий слайд) или битовая карта.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Условия и источники (были в подвале слайда): x86-повтор на отдельной VM: Xeon 2,1 ГГц; GCC 13 / libstdc++ и Clang 18 / libc++; медиана сессий · ловушка — тест cluster.cpp, x86, reserve(N) · все серии доклада сняты на случайных 64-битных id</a:t>
            </a:r>
          </a:p>
          <a:p xmlns:a="http://schemas.openxmlformats.org/drawingml/2006/main">
            <a:r>
              <a:t>С экрана убрано: x86-повтор, серия E7, плотные id — перемешаны. radix + unique: случайные 38,0 / 40,3, плотные 21,6 / 22,1; flat_hash_set: случайные 34,7 / 36,9, плотные 35,5 / 36,9 (нс/эл, libstdc++ / libc++). Ловушка libc++: id с шагом 2^k, std::hash — тождество: ячейка = младшие k бит id. 65 536 id: плотные 1..N — занято 65 536 ячеек, 40 нс на вставку (libstdc++: 39); шаг 1024 — 64 ячейки, 2 762 нс · ×70 (libstdc++: 41); шаг 2^20 — 1 ячейка, 60 540 нс · ×1 500 (libstdc++: 38). iPhone · userInitiated и .utility · 512K и 1M · случайные и плотные id: серия на телефоне не выполнялась. Для rowid победитель может смениться. Лучший кандидат — не хеш и не sort, а слияние дельты или битовая карта.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Вопросы: «Почему не отсортировать только дельту и слить?» (qa X1), «set_union не убирает дубли дельты» (C5), «std::flat_set — это flat_hash_set?» (C10).</a:t>
            </a:r>
          </a:p>
          <a:p xmlns:a="http://schemas.openxmlformats.org/drawingml/2006/main">
            <a:r>
              <a:t>Ответ: Для нашей задачи это правильный ответ, он же на слайде merge. Сортируем дельту, схлопываем в ней повторы и сливаем с отсортированными локальными id через set_union или inplace_merge + unique. Без unique по дельте set_union оставит её дубли: из второго диапазона он берёт max(n − m, 0) копий — на 1,06 млн осталось 32 966 дублей. На x86 это в 3,5–6,6 раза быстрее sort + unique и в 4–6 раз быстрее flat_hash_set. libc++ в sort + unique быстрее libstdc++ (31 против 42): вход уже на 94% отсортирован. iPhone: Серия на телефоне не снималась; не домерил — «на телефоне ещё не мерил, цифры появятся в репозитории», не «будет так же».</a:t>
            </a:r>
          </a:p>
          <a:p xmlns:a="http://schemas.openxmlformats.org/drawingml/2006/main">
            <a:r>
              <a:t>std::flat_set — не хеш-таблица, а отсортированный вектор; его insert(range) в libc++ — ровно этот рецепт: отсортировать хвост, inplace_merge, unique.</a:t>
            </a:r>
          </a:p>
          <a:p xmlns:a="http://schemas.openxmlformats.org/drawingml/2006/main">
            <a:r>
              <a:t>INSERT OR IGNORE в SQLite (X10) — B-дерево и журнал, ожидаю медленнее, не мерил. Битовая карта для плотных rowid (X5): 1M id — 125 КБ, не мерил.</a:t>
            </a:r>
          </a:p>
          <a:p xmlns:a="http://schemas.openxmlformats.org/drawingml/2006/main">
            <a:r>
              <a:t>Мостик: лучший алгоритм использует то, что о данных уже известно, — здесь «SQLite уже отсортировала».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Условия и источники (были в подвале слайда): L — 2^20 локальных id (отсортированы, уникальны) + дельта D — 2^16, половина — повторы · x86-повтор на отдельной VM (Xeon 2,1 ГГц; GCC 13, Clang 18), медиана сессий · так вставляет диапазон std::flat_set в libc++</a:t>
            </a:r>
          </a:p>
          <a:p xmlns:a="http://schemas.openxmlformats.org/drawingml/2006/main">
            <a:r>
              <a:t>С экрана убрано: Исходный заголовок: «Сортируем только дельту и сливаем: на x86 в 3,5–6,6 раза быстрее sort + unique». Код: std::sort(D.begin(), D.end()); D.erase(std::unique(D.begin(), D.end()), D.end()); — без этого шага set_union оставит дубли дельты; std::set_union(L.begin(), L.end(), D.begin(), D.end(), std::back_inserter(out)). radix + unique: 41,4 / 39,8 нс/эл, быстрее sort + unique в 1,0 / 0,8 раза. sort(Δ) + unique(Δ) + inplace_merge + unique: 6,7 / 8,6 нс/эл, быстрее в 6,3 / 3,6 раза.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Вопрос: «Почему utility? Apple для синхронизации советует background» (qa I4, errata P1-9).</a:t>
            </a:r>
          </a:p>
          <a:p xmlns:a="http://schemas.openxmlformats.org/drawingml/2006/main">
            <a:r>
              <a:t>Ответ: Да, в Energy Efficiency Guide синхронизация отнесена к background («such as indexing, synchronizing, and backups»). Utility — «не срочно, но результат нужен», им в проектах часто помечают синхронизацию. В background ещё дороже: на iPhone на 512K сортировка 145,6 нс/эл против 195,2 у хеша (×1,3), на Mac — 92,6 против 178,4 (×1,9). Вывод тот же: фон — это другое ядро и другая цена шага.</a:t>
            </a:r>
          </a:p>
          <a:p xmlns:a="http://schemas.openxmlformats.org/drawingml/2006/main">
            <a:r>
              <a:t>«Почему на iPhone в background разрыв меньше, чем в utility?» (H13): причину не мерил. Гипотеза: в background частота E-кластера ещё ниже; сортировка упирается в вычисления и теряет пропорционально больше, а хеш и так ждёт память, задержка которой от частоты ядра почти не зависит. Проверка — счётчики или запись частоты.</a:t>
            </a:r>
          </a:p>
          <a:p xmlns:a="http://schemas.openxmlformats.org/drawingml/2006/main">
            <a:r>
              <a:t>«Поставьте userInitiated» (I3): Apple просит, чтобы без действий пользователя приложение 90% времени работало в utility или ниже; в фоне потолок QoS к тому же режется ролью процесса. «А в настоящем фоне, в BGAppRefreshTask?» (I7): не мерил, ожидаю не лучше utility — гипотеза.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Условия и источники (были в подвале слайда): id случайные 64-битные · одинаковые входы · QoS через pthread_set_qos_class_self_np · Mac: macOS 27, libc++ · iPhone: 14 Pro, A16 Bionic; версия iOS не указана · thermalState nominal · медианы · BGAppRefreshTask не мерил</a:t>
            </a:r>
          </a:p>
          <a:p xmlns:a="http://schemas.openxmlformats.org/drawingml/2006/main">
            <a:r>
              <a:t>С экрана убрано: Исходный заголовок: «В background сортировка впереди и на Mac (×1,9), и на iPhone (×1,3)». Строка utility, N = 1M: Mac — sort 20,7, хеш 37,6 (sort ×1,8); iPhone — 57,4 и 187,7 (sort ×3,3). sort = sort + unique, хеш = unordered_set; «≈» — ничья. Почему в докладе utility, а не background? Apple в Energy Efficiency Guide относит синхронизацию к background: «such as indexing, synchronizing, and backups». Utility — «не срочно, но результат нужен»: им в проектах часто помечают синхронизацию. В background ещё дороже, и сортировка впереди на обоих устройствах.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Вопросы про другие системы и точку перехода.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• Крупные отношения — исходные результаты колоды при N = U = 2^20. x86 ×2,07 — пилот, исходные абсолютные 70 и 146 нс/эл округлены. Независимый повтор bench E1: ×3,1 с libstdc++, ×2,9 с libc++, вывод по направлению тот же. Не выдавать пилот за повтор.</a:t>
            </a:r>
          </a:p>
          <a:p xmlns:a="http://schemas.openxmlformats.org/drawingml/2006/main">
            <a:r>
              <a:t>• Строка x86 при U = N/2 — независимый повтор E2: sort впереди при N = 16 и от 2M; 1M близко, от 64 до 512K хеш или близко. При N = 16 увеличение пула снимает часть обучения: выигрыш sort ×1,75, не ×4 (E2b). Поэтому числа малого N — свойство конкретного харнесса.</a:t>
            </a:r>
          </a:p>
          <a:p xmlns:a="http://schemas.openxmlformats.org/drawingml/2006/main">
            <a:r>
              <a:t>• M2 Pro/Linux — VM 4 vCPU; физическое ядро под vCPU выбирает хост. Порог и отношение взяты из исходного systems; не объяснять VM как отдельный тип P/E.</a:t>
            </a:r>
          </a:p>
          <a:p xmlns:a="http://schemas.openxmlformats.org/drawingml/2006/main">
            <a:r>
              <a:t>• Mac/macOS — исходные userInitiated данные. На 1M возможен диапазон ×1,1–1,3 между сессиями. iPhone — исходная системная серия userInitiated; не смешивать её с utility из x33.</a:t>
            </a:r>
          </a:p>
          <a:p xmlns:a="http://schemas.openxmlformats.org/drawingml/2006/main">
            <a:r>
              <a:t>• iPhone 14 Pro, A16 Bionic. Версия iOS и мобильные сырые данные не сохранены в доступных материалах исходной серии; размеры кэшей iPhone не подставлять из модели. Время — медианы, числа перенесены из существующей колоды. Соответствие устройства между старыми системными сериями не подтверждается сырыми мобильными файлами; число ×2,53 сохраняется как опубликованный результат колоды.</a:t>
            </a:r>
          </a:p>
          <a:p xmlns:a="http://schemas.openxmlformats.org/drawingml/2006/main">
            <a:r>
              <a:t>• Сравниваются системы целиком, одновременно меняются CPU, ОС, компилятор, библиотека и режим. Эти числа не отделяют влияние CPU от остального.</a:t>
            </a:r>
          </a:p>
          <a:p xmlns:a="http://schemas.openxmlformats.org/drawingml/2006/main">
            <a:r>
              <a:t>• Swift Task: priority не задаёт executor. Task наследует actor isolation; созданный из MainActor Task с синхронным C++ вызовом может остаться на MainActor. Ожидание через await task.value может повысить приоритет. Замер через Swift Task не выполнялся. Первоисточник: SE-0304, разделы Task priorities, Priority Escalation, Context inheritance: https://github.com/swiftlang/swift-evolution/blob/main/proposals/0304-structured-concurrency.md . Не рекомендовать Task.detached автоматически: сначала определить реальный executor.</a:t>
            </a:r>
          </a:p>
          <a:p xmlns:a="http://schemas.openxmlformats.org/drawingml/2006/main">
            <a:r>
              <a:t>Источники: исходный systems; bench/results/summary.md E1/E2/E2b; prep/research/bench.md; apple.md.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</a:t>
            </a:r>
          </a:p>
          <a:p xmlns:a="http://schemas.openxmlformats.org/drawingml/2006/main">
            <a:r>
              <a:t>Q&amp;A: «А троттлинг? А под длительной нагрузкой?»</a:t>
            </a:r>
          </a:p>
          <a:p xmlns:a="http://schemas.openxmlformats.org/drawingml/2006/main">
            <a:r>
              <a:t>Ответ: две минуты непрерывно, алгоритмы чередуются. Время выросло на 10–14%, хеш начал дорожать раньше, порядок не изменился. thermalState всю серию nominal, поэтому причину дрейфа не называю: nominal не доказывает отсутствие ограничений. Пятая минута — следующий опыт.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Первое окно: сортировка 19,0, хеш 17,8 нс/эл; последнее: 20,9 и 20,3. Рост: 20,9 / 19,0 = +10%, 20,3 / 17,8 = +14%. Хеш впереди во всех четырёх окнах.</a:t>
            </a:r>
          </a:p>
          <a:p xmlns:a="http://schemas.openxmlformats.org/drawingml/2006/main">
            <a:r>
              <a:t>— Хеш дорожает с первой минуты (17,8 → 18,9), сортировка — со второй (19,0 → 19,0 → 20,5).</a:t>
            </a:r>
          </a:p>
          <a:p xmlns:a="http://schemas.openxmlformats.org/drawingml/2006/main">
            <a:r>
              <a:t>— Это 256K при половине дублей и userInitiated: там на переднем плане хеш и так чуть впереди. Короткий запуск и длительная нагрузка — разные режимы; решение принимается для того режима, в котором реально живёт ваш код.</a:t>
            </a:r>
          </a:p>
          <a:p xmlns:a="http://schemas.openxmlformats.org/drawingml/2006/main">
            <a:r>
              <a:t>— Устройство: модель и версия iOS в этой серии не зафиксированы — та же строка, что во всех подписях с iPhone.</a:t>
            </a:r>
          </a:p>
          <a:p xmlns:a="http://schemas.openxmlformats.org/drawingml/2006/main">
            <a:r>
              <a:t>Условия и источники (были в подвале слайда): iPhone модель и версия iOS в этой серии не зафиксированы · медиана по 15-секундным окнам · алгоритмы чередуются · 120 с непрерывной нагрузки · QoS userInitiated · id — случайные 64-битные · заряд 40–80%, без кабеля</a:t>
            </a:r>
          </a:p>
          <a:p xmlns:a="http://schemas.openxmlformats.org/drawingml/2006/main">
            <a:r>
              <a:t>С экрана убрано: Исходный заголовок: «Две минуты под нагрузкой: время выросло на 10–14%, порядок не изменился». Таблица, нс/эл, окна нагрузки 0–15 с / 45–60 с / 90–105 с / 105–120 с: sort + unique 19,0 / 19,0 / 20,5 / 20,9; unordered_set 17,8 / 18,9 / 19,5 / 20,3 (на графике точки — середины окон). Хеш начал дорожать с первой минуты, сортировка — со второй. Короткий запуск и длительная нагрузка — разные режимы; пятиминутная серия — следующий опыт.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</a:t>
            </a:r>
          </a:p>
          <a:p xmlns:a="http://schemas.openxmlformats.org/drawingml/2006/main">
            <a:r>
              <a:t>Q&amp;A: «Это же разница Linux против Apple?»</a:t>
            </a:r>
          </a:p>
          <a:p xmlns:a="http://schemas.openxmlformats.org/drawingml/2006/main">
            <a:r>
              <a:t>Ответ: одна машина x86, одинаковые входы, две стандартные библиотеки. Сортировка одинаковых чисел: libstdc++ — восемь наносекунд на элемент, libc++ — одна. Идеи pdqsort пришли в libc++ в LLVM 16, а одинаковые ключи она проходила за линейное время и раньше. Узел unordered_set: 16 байт против 24 — libc++ хранит в узле хеш. macOS, iOS и Android NDK — на libc++; отличается GCC на Linux. Алгоритм выбрали вы, библиотеку — тулчейн.</a:t>
            </a:r>
          </a:p>
          <a:p xmlns:a="http://schemas.openxmlformats.org/drawingml/2006/main">
            <a:r>
              <a:t>И на Apple этот std::sort живёт в системной библиотеке: какой алгоритм исполнится, решает версия ОС, а не Xcode.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Числа воспроизведены при проверке: 8,19 против 0,94 нс/эл (на слайде 7,8 и 1,2 — пилот). unordered_set на 1M уникальных — 146 против 139, разница 5%: в хеше библиотека почти ничего не решает, решают узлы.</a:t>
            </a:r>
          </a:p>
          <a:p xmlns:a="http://schemas.openxmlformats.org/drawingml/2006/main">
            <a:r>
              <a:t>— «libstdc++ экономнее: 16 байт против 24?» (qa C7): по запрошенным байтам да, 25 МБ против 34; по куче нет — glibc кладёт оба узла в чанк 32 Б, у Apple 24 Б тоже округляются до 32.</a:t>
            </a:r>
          </a:p>
          <a:p xmlns:a="http://schemas.openxmlformats.org/drawingml/2006/main">
            <a:r>
              <a:t>— «Какая libc++ сортирует на телефоне — та, что в Xcode?» (qa C4): нет, std::sort для uint64_t со стандартным компаратором вызывает уже инстанцированный __sort из libc++.dylib, а она — часть iOS.</a:t>
            </a:r>
          </a:p>
          <a:p xmlns:a="http://schemas.openxmlformats.org/drawingml/2006/main">
            <a:r>
              <a:t>— Версию, «с которой libc++ распознаёт паттерны», не называть: эвристика «разбиение без обменов → досортировать вставками» есть ещё до LLVM 14, BlockQuickSort и идеи pdqsort — LLVM 16 (errata P0-11).</a:t>
            </a:r>
          </a:p>
          <a:p xmlns:a="http://schemas.openxmlformats.org/drawingml/2006/main">
            <a:r>
              <a:t>Условия и источники (были в подвале слайда): Пилот · один x86, одинаковые входы · GCC 13 / libstdc++ против Clang 18 / libc++ · N = 2^20 · id для unordered_set — случайные 64-битные</a:t>
            </a:r>
          </a:p>
          <a:p xmlns:a="http://schemas.openxmlformats.org/drawingml/2006/main">
            <a:r>
              <a:t>С экрана убрано: Пилот · один x86, одинаковые входы · GCC 13 / libstdc++ против Clang 18 / libc++ · N = 2^20 · id для unordered_set — случайные 64-битные; sort на равных ключах — 7,8 против 1,2 нс/эл; unordered_set — 1M уникальных; узел unordered_set&lt;uint64_t&gt;: 16 Б против 24 Б; macOS, iOS и Android NDK используют libc++; GCC на Linux — libstdc++; версии, флаги и аллокатор тоже часть связки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Таблица за графиком curve.</a:t>
            </a:r>
          </a:p>
          <a:p xmlns:a="http://schemas.openxmlformats.org/drawingml/2006/main">
            <a:r>
              <a:t>Q&amp;A: «Почему ступенька именно там? Откуда двенадцать и двадцать четыре мегабайта?»</a:t>
            </a:r>
          </a:p>
          <a:p xmlns:a="http://schemas.openxmlformats.org/drawingml/2006/main">
            <a:r>
              <a:t>Ответ: сортировка дорожает плавно — плюс один уровень логарифма на каждое удвоение. Хеш-таблица почти не дорожает до полумиллиона, а между 512K и миллионом — ступенька: 18,7 → 26,3, на четырёх миллионах 55,7. Посчитаем рабочий набор. Узел в libc++ — 24 байта, аллокатор Apple округляет его до 32; заголовка перед блоком нет. Плюс по 8 байт на ячейку, а ячеек после reserve(N) — N, вдвое больше, чем ключей. На полумиллионе входа это около 12 мегабайт — влезает в 16 мегабайт L2. На миллионе — около 24, уже нет. Это арифметика, а не измерение причины: чтобы сказать «промахи», нужны счётчики, и это следующий шаг. Но сортировке этот порог безразличен — её буфер читается подряд.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32·U + 8·N (apple.md §3.3, cpp.md §2.4, errata P0-5): 512K (U = 256K): 8 + 4 = 12 МиБ (12,6 МБ); 1M: 16 + 8 = 24 МиБ (25,2 МБ). «А вход?» — ещё 8·N, на 512K это 4 МиБ. Его читают один раз подряд, префетчер ведёт поток, поэтому считаю таблицу. Но 12 + 4 = 16 — впритык, ещё одна причина говорить «гипотеза».</a:t>
            </a:r>
          </a:p>
          <a:p xmlns:a="http://schemas.openxmlformats.org/drawingml/2006/main">
            <a:r>
              <a:t>— «Почему нет счётчиков?» (qa H1): «Согласен, это гипотеза. Следующий шаг — Instruments → CPU Counters, L1D Cache Miss Sampling».</a:t>
            </a:r>
          </a:p>
          <a:p xmlns:a="http://schemas.openxmlformats.org/drawingml/2006/main">
            <a:r>
              <a:t>— «А TLB?» (qa H2): не исключал; 24 МиБ — около 1 500 страниц по 16 КБ. SLC 24 МБ не называть: sysctl его не отдаёт.</a:t>
            </a:r>
          </a:p>
          <a:p xmlns:a="http://schemas.openxmlformats.org/drawingml/2006/main">
            <a:r>
              <a:t>— «22,6 или 26,3?» (qa M3): разные сессии; хеш на этой точке гуляет на 16%, сортировка — на полпроцента. Здесь сессия А, как на curve.</a:t>
            </a:r>
          </a:p>
          <a:p xmlns:a="http://schemas.openxmlformats.org/drawingml/2006/main">
            <a:r>
              <a:t>— 1,4 раза: 26,3 / 18,7 = 1,41; сортировка 20,1 / 19,6 = +2,6%. На 4M сортировка быстрее в 2,6 раза (55,7 / 21,5).</a:t>
            </a:r>
          </a:p>
          <a:p xmlns:a="http://schemas.openxmlformats.org/drawingml/2006/main">
            <a:r>
              <a:t>Условия и источники (были в подвале слайда): нс на элемент · U = N/2 · M2 Pro, macOS, libc++, userInitiated · id — случайные 64-битные · медиана 4 блоков · сессия А  · unordered_set на 1M между сессиями: 22,6–26,3 нс/эл</a:t>
            </a:r>
          </a:p>
          <a:p xmlns:a="http://schemas.openxmlformats.org/drawingml/2006/main">
            <a:r>
              <a:t>С экрана убрано: сортировка дорожает плавно: +1 уровень log N на каждое удвоение. Рабочий набор ≈ 32·U + 8·N: узел libc++ 24 Б, malloc округляет до 32 Б (квант 16 Б, без заголовка), плюс 8 Б на ячейку, а ячеек после reserve(N) — N. 512K (U = 256K) → ≈12 МиБ — помещается в L2 P-кластера (16 МиБ по sysctl); 1M → ≈24 МиБ — уже нет; ступенька — между этими точками. Это арифметика, а не счётчики промахов: причина не измерена напрямую, счётчики — следующий шаг. Альтернативы: TLB, аллокатор.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В основном потоке его заменил nodes.</a:t>
            </a:r>
          </a:p>
          <a:p xmlns:a="http://schemas.openxmlformats.org/drawingml/2006/main">
            <a:r>
              <a:t>Q&amp;A: «А как именно работает sort + unique? Почему без аллокаций?»</a:t>
            </a:r>
          </a:p>
          <a:p xmlns:a="http://schemas.openxmlformats.org/drawingml/2006/main">
            <a:r>
              <a:t>Ответ: восемь чисел, четыре разных. std::sort — introsort, в libc++ с идеями pdqsort: раскладывает всё на «меньше» и «больше» опорного и повторяет в половинах — логарифм N уровней, на каждом проход по всем N. После сортировки одинаковые стоят рядом — std::unique одним проходом сдвигает уникальные влево, erase отрезает хвост. Ни одной аллокации, один буфер, который читается подряд — как книги на одной полке. Слово «подряд» и есть ответ на весь раунд 1.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Идеи pdqsort и BlockQuickSort пришли в libc++ в LLVM 16; introsort — с LLVM 14. На Apple std::sort для целых исполняется из системной libc++, так что алгоритм выбирает версия ОС (cpp.md §4.1, §4.4). libstdc++ — introsort с медианой трёх.</a:t>
            </a:r>
          </a:p>
          <a:p xmlns:a="http://schemas.openxmlformats.org/drawingml/2006/main">
            <a:r>
              <a:t>— Сравнений на случайных 64-битных при N = 2^20: libc++ — 22,2 на элемент, libstdc++ — 25,6; нижняя граница для сортировки сравнениями — 18,56 (cpp.md §7).</a:t>
            </a:r>
          </a:p>
          <a:p xmlns:a="http://schemas.openxmlformats.org/drawingml/2006/main">
            <a:r>
              <a:t>— «0 аллокаций» — в этой реализации: сортируем свежую копию на месте, unique и erase память не просят.</a:t>
            </a:r>
          </a:p>
          <a:p xmlns:a="http://schemas.openxmlformats.org/drawingml/2006/main">
            <a:r>
              <a:t>С экрана убрано: вход: 8 чисел, из них 4 разных. Сортировка — introsort (в libc++ — с идеями pdqsort): опорный элемент, раскладка «меньше / больше», повтор в половинах; ~log₂N уровней, на каждом проход по всем N. std::sort — одинаковые встали рядом. unique — один проход: сравниваем соседей, повтор пропускаем; на месте, без новой памяти. std::unique сдвигает уникальные влево, erase отрезает хвост. Один плотный буфер, который читается подряд.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В основном потоке его заменил nodes.</a:t>
            </a:r>
          </a:p>
          <a:p xmlns:a="http://schemas.openxmlformats.org/drawingml/2006/main">
            <a:r>
              <a:t>Q&amp;A: «Как устроена узловая хеш-таблица?» или «Деление в libc++ дорогое на ARM — может, хеш проиграл из-за него?»</a:t>
            </a:r>
          </a:p>
          <a:p xmlns:a="http://schemas.openxmlformats.org/drawingml/2006/main">
            <a:r>
              <a:t>Ответ: хеш-функция превращает ключ в номер ячейки — как библиотечный каталог превращает название в номер шкафа. Ключ 42, посчитали хеш, взяли остаток от деления на число ячеек — вот шкаф; на слайде учебный пример с восемью. Деталь для знатоков: «остаток от деления» в реальных библиотеках разный. libstdc++ держит простое число ячеек и честно делит. libc++ после reserve под степень двойки берёт маску — младшие биты ключа. В моих замерах деления нет: дорого не оно, а узлы. Коэффициент заполнения по умолчанию 1.0 — reserve(N) выделяет N ячеек; без reserve таблица растёт и перевешивает все узлы. Два разных ключа в одном шкафу — коллизия; узловая реализация решает её цепочкой: в шкафу записка, где лежит первая книга, а в книге — где следующая. Цепочки в среднем короткие, отсюда «O(1)». Для целых std::hash — тождество. В libc++ после reserve под степень двойки номер ячейки — это просто младшие биты id. Для моих случайных id это идеально. Для плотных rowid ещё лучше — коллизий нет вовсе. А id с нулями в младших битах соберутся в одну цепочку. Проверьте гистограмму цепочек. У flat_hash_set из второго раунда свой перемешивающий хешер, absl::Hash, — ему тождество не грозит. Самое важное: каждый узел — отдельный кусок памяти, отдельный вызов new. Стандарт требует, чтобы ссылки на элементы переживали рост таблицы, и узлы — привычный способ это выполнить.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Деление в libc++ появляется только при росте без reserve (как в дифе) или при N, не равном степени двойки; reserve(1048576) даёт ровно 1 048 576 ячеек и маску h &amp; (N−1) (cpp.md §2.2). libstdc++ делит всегда, даже на каждом шаге цепочки: хеш в узле не хранится (cpp.md §3).</a:t>
            </a:r>
          </a:p>
          <a:p xmlns:a="http://schemas.openxmlformats.org/drawingml/2006/main">
            <a:r>
              <a:t>— Id, кратные 1024, в libc++ после reserve(2^k) заняли 64 ячейки из 65 536, вставка медленнее в 70 раз; кратные 2^20 — в 1 500 раз (cpp.md §6, qa C8).</a:t>
            </a:r>
          </a:p>
          <a:p xmlns:a="http://schemas.openxmlformats.org/drawingml/2006/main">
            <a:r>
              <a:t>— Плотные rowid на x86 при U = N: вся операция в 4,7 раза быстрее случайных id (320 → 68 нс/эл). Готовый ответ: «Серии специально на случайных id, чтобы убрать удачу раскладки. Бенчмарк в репозитории — запустите на своих id».</a:t>
            </a:r>
          </a:p>
          <a:p xmlns:a="http://schemas.openxmlformats.org/drawingml/2006/main">
            <a:r>
              <a:t>Условия и источники (были в подвале слайда): Упрощённая схема узловых реализаций (libstdc++, libc++) · учебный hash и 8 ячеек · max_load_factor 1.0, std::hash для целых — тождество · стандарт требует, чтобы ссылки на элементы переживали rehash</a:t>
            </a:r>
          </a:p>
          <a:p xmlns:a="http://schemas.openxmlformats.org/drawingml/2006/main">
            <a:r>
              <a:t>С экрана убрано: Вставка: посчитать хеш → прийти в ячейку → пройти цепочку → если ключа нет, создать узел. В среднем цепочка короткая, поэтому «O(1) на операцию». Но каждый шаг цепочки — переход по указателю. Номер ячейки: в libstdc++ число ячеек простое — остаток от деления; в libc++ тоже простое, но после reserve(2^k) — степень двойки и маска по младшим битам. Коллизия: 42 и 50 попали в одну ячейку — висят цепочкой (узлы «42 · next», «50 · next»). Каждый узел — отдельный кусок памяти, свой вызов new. Ячейки (бакеты) — массив указателей.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</a:t>
            </a:r>
          </a:p>
          <a:p xmlns:a="http://schemas.openxmlformats.org/drawingml/2006/main">
            <a:r>
              <a:t>Q&amp;A: «Почему reserve(N), а не под U? Вы искусственно раздули flat».</a:t>
            </a:r>
          </a:p>
          <a:p xmlns:a="http://schemas.openxmlformats.org/drawingml/2006/main">
            <a:r>
              <a:t>Ответ: я резервировал под N, потому что N известен, а число уникальных — нет. При одном проценте уникальных это в 64 раза больше памяти и медленнее: 3,6 наносекунды на элемент против 2,9 — больше ёмкость, больше инициализации и обхода. Reserve — тоже решение, не бесплатная галочка, и зависит оно от доли уникальных. Оценить U по выборке — отдельный приём.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18 874 344 / 294 912 ≈ 64,0 по точным байтам; 3,6 / 2,9 = 1,24 — на 24% медленнее.</a:t>
            </a:r>
          </a:p>
          <a:p xmlns:a="http://schemas.openxmlformats.org/drawingml/2006/main">
            <a:r>
              <a:t>— «Почему 18,9 МБ, если ключей на 8 МБ?» (errata P2-11): 2^20 — неудачная точка для Swiss Table: ёмкость 2^20 − 1 вмещает только 917 504 ключа при загрузке 7/8, поэтому reserve берёт 2^21 − 1 слотов — по 8 байт ключа и байту метаданных, 18,9 МБ, заполнение 50%.</a:t>
            </a:r>
          </a:p>
          <a:p xmlns:a="http://schemas.openxmlformats.org/drawingml/2006/main">
            <a:r>
              <a:t>— Отсюда правило на decision: «мало уникальных → плоская хеш-таблица, без reserve под весь вход». При 1% уникальных узловая таблица (3,2 нс/эл) даже быстрее flat с reserve(N) (3,6).</a:t>
            </a:r>
          </a:p>
          <a:p xmlns:a="http://schemas.openxmlformats.org/drawingml/2006/main">
            <a:r>
              <a:t>Условия и источники (были в подвале слайда): flat_hash_set · N = 2^20, U/N = 1% · M2 Pro, macOS · нс на элемент · память — сумма запрошенных байт за операцию, МБ = 10^6 байт · id — случайные 64-битные</a:t>
            </a:r>
          </a:p>
          <a:p xmlns:a="http://schemas.openxmlformats.org/drawingml/2006/main">
            <a:r>
              <a:t>С экрана убрано: резерв под N при 1% уникальных сильно превышает число ключей: в 64 раза больше памяти (по точным байтам) и медленнее.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На review сказано: «полный чек-лист — в backup и в репозитории».</a:t>
            </a:r>
          </a:p>
          <a:p xmlns:a="http://schemas.openxmlformats.org/drawingml/2006/main">
            <a:r>
              <a:t>Q&amp;A: «Как вы проверяли, что замер честный?» или «Где полный чек-лист?»</a:t>
            </a:r>
          </a:p>
          <a:p xmlns:a="http://schemas.openxmlformats.org/drawingml/2006/main">
            <a:r>
              <a:t>Ответ: чек-лист — четыре группы, каждая сегодня уже сработала. Одинаковая задача: контракт до таймера, все участники проходят проверку корректности. Проверенные код и входы: разные массивы, а не один повторённый; свои N и доля уникальных. Повторения и условия: чередование, медиана, разброс, вторая сессия — мы видели, что между сессиями одна и та же точка гуляет на шестнадцать процентов: 22,6 против 26,3. Версия компилятора, библиотеки и ОС в логе — на Apple std::sort для целых живёт в системной libc++. Устройство и режим — модель, QoS, Low Power Mode, заряд, нагрев. И выводы в пределах данных: факт отдельно от гипотезы о причине — «узлы не влезли в L2» до счётчиков остаётся гипотезой.</a:t>
            </a:r>
          </a:p>
          <a:p xmlns:a="http://schemas.openxmlformats.org/drawingml/2006/main">
            <a:r>
              <a:t>Сфотографируйте — повторять не буду. [5 секунд]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Пункт 3 — урок learned: один массив в цикле давал сортировке тысячи id 6,8 нс/эл против 14,4 на 64 разных; на x86 виноват предсказатель, на M2 — что-то адресное, до счётчиков не дошёл.</a:t>
            </a:r>
          </a:p>
          <a:p xmlns:a="http://schemas.openxmlformats.org/drawingml/2006/main">
            <a:r>
              <a:t>— Пункт 5: 26,3 / 22,6 = 1,16 — unordered_set на 1M при U = N/2, сессии А и Б; сортировка между сессиями стабильна (20,1 против 20,2).</a:t>
            </a:r>
          </a:p>
          <a:p xmlns:a="http://schemas.openxmlformats.org/drawingml/2006/main">
            <a:r>
              <a:t>— Пункт 7: модель iPhone — конкретная модель, чип и версия iOS; пока её нет на слайдах, доклад нарушает свой же пункт 7 (qa M1).</a:t>
            </a:r>
          </a:p>
          <a:p xmlns:a="http://schemas.openxmlformats.org/drawingml/2006/main">
            <a:r>
              <a:t>С экрана убрано: полные формулировки пунктов: 1. Контракт записан до запуска таймера. 2. Все участники проходят проверку корректности. 3. Разные входы, а не один повторённый массив. 4. Свои N и доля уникальных, а не «случайные int». 5. Повторы, чередование, медиана и разброс, две сессии. 6. Версия компилятора, библиотеки и ОС в логе. 7. Целевое устройство и его состояние: модель, QoS, Low Power Mode, заряд, нагрев. 8. Факт отдельно от гипотезы о причине.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В основном потоке эту мысль несёт формула на memory.</a:t>
            </a:r>
          </a:p>
          <a:p xmlns:a="http://schemas.openxmlformats.org/drawingml/2006/main">
            <a:r>
              <a:t>Q&amp;A: «Из чего складывается работа каждого?»</a:t>
            </a:r>
          </a:p>
          <a:p xmlns:a="http://schemas.openxmlformats.org/drawingml/2006/main">
            <a:r>
              <a:t>Ответ: N — сколько чисел на входе, U — сколько разных. Сортировка — около N·log N сравнений и перестановок в одном плотном буфере, без единой аллокации. Хеш — хеши, обращения к ячейкам и узлам, проверки равенства, U аллокаций и U освобождений, обход при выгрузке. Шагов меньше — но какие это шаги.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Точное число действий хеша зависит от коллизий и дублей.</a:t>
            </a:r>
          </a:p>
          <a:p xmlns:a="http://schemas.openxmlformats.org/drawingml/2006/main">
            <a:r>
              <a:t>— Счётчик аллокаций (allocs): при N = U = 2^20 — 1 048 577 вызовов new, запрошено 33,6 МБ в libc++ и 25,2 МБ в libstdc++; с округлением malloc ≈ 42 МБ. Плюс миллион delete в деструкторе.</a:t>
            </a:r>
          </a:p>
          <a:p xmlns:a="http://schemas.openxmlformats.org/drawingml/2006/main">
            <a:r>
              <a:t>— Фазы на x86 (bench.md E11, U = N): reserve и вставки ≈43%, выгрузка ≈26%, деструктор 28–30%.</a:t>
            </a:r>
          </a:p>
          <a:p xmlns:a="http://schemas.openxmlformats.org/drawingml/2006/main">
            <a:r>
              <a:t>С экрана убрано: хеширование, обращения к ячейкам и узлам, проверки равенства (на экране — «хеш, ячейки, узлы, сравнения»); 0 аллокаций — в этой реализации; log₂(1 000 000) ≈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2:00–2:45. Дедупликация — это те самые три строчки из ревью. Два классических способа. Первый — отсортировать: после сортировки одинаковые id стоят рядом, и один проход их схлопывает. Это O(n log n). Второй — хеш-таблица: складываем id в множество, оно само отбрасывает повторы, потом выгружаем обратно. Это в среднем O(n) — линейно. Логарифм миллиона — около двадцати. На бумаге второй способ делает в двадцать раз меньше шагов. Я тоже сначала выбрал бы хеш-таблицу и закрыл тикет. Давайте проверим интуицию — вашу и мою.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С экрана убрано: Логарифм миллиона — около 20 (на экране: log₂ 10⁶ ≈ 20). Кажется, выбор очевиден.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7:15–8:15. Big-O отвечает на один вопрос: как растёт число шагов, когда растёт вход. Вдвое больше данных — примерно вдвое больше работы для линейной модели, чуть больше для N log N. Это по-настоящему полезно: Big-O спасает от катастрофы, когда данных станет в тысячу раз больше. Но время — это N, умноженное на число шагов, умноженное на цену шага. Big-O знает только средний множитель. Цена шага — от одной наносекунды за сложение в регистре до ста за поход в оперативную память: два порядка. А логарифм миллиона — двадцать. То есть память может перевесить логарифм в пять раз. Весь доклад — про этот последний множитель. → Переход: «Значит, надо посмотреть, из каких шагов состоит каждый соперник. Начнём с сортировки».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С экрана убрано: Что говорит O. Верхняя оценка роста работы: N log N растёт чуть быстрее линии, N² — за край задолго до конца. Между O(N) и O(N log N) на миллионе — множитель около 20. Big-O знает только средний множитель. Цена шага — от 1 до 100 нс, два порядка; log₂(10⁶) — множитель 20. Память может перевесить логарифм в пять раз.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28:30–29:15. Вернёмся к вашей руке. Кто начал бы с сортировки — на телефоне в фоне она быстрее этого unordered_set. Кто с хеша — flat_hash_set и данные с повторами на его стороне. А кто попросил условие — был прав с первой минуты. Вот эти условия: какой выход нужен, какие N и доля уникальных, какой именно контейнер, какая система и связка инструментов, первый запуск или длительная нагрузка и с каким приоритетом, и какую долю этапа занимает операция. Мне хотелось бы, чтобы после сегодняшнего фраза «так должно быть быстрее» чаще превращалась в «давайте проверим». → Переход: «И одно действие на понедельник».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С экрана убрано: Никита Нагорнов · код, сырые данные и условия замеров — в репозитории · Спасибо! Вопросы? (подпись и QR на репозиторий убраны со слайда).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bb829bf5c4c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fc710930e47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09fd3c0b941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d3727d07d4f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43be1d1f84a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021e1f1ed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F96853-D0E3-46A7-9964-765DA9614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433693-A46D-40A7-BF88-BEAA2D0F32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7251D6-9AE3-412F-AE2E-2873CA3FD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117BB2-FBC0-464E-98D8-F95F9055F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443073-79C8-4DD8-8DA4-496915FB78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A449FE-11D5-4AB3-AE26-8D21F61948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8AD467-84BF-4B0C-9CE6-4D10A308B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9A502C-DD0F-4638-9513-BC45385A7E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7A75F2-FF57-4AF7-A256-D93A04570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BCDC7E-4DEB-4053-A79A-ABE1F43A27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81a21c69c540f9" /><Relationship Type="http://schemas.openxmlformats.org/officeDocument/2006/relationships/slideLayout" Target="/ppt/slideLayouts/slideLayout1.xml" Id="Ra442e1341c504dd1" /><Relationship Type="http://schemas.openxmlformats.org/officeDocument/2006/relationships/slideLayout" Target="/ppt/slideLayouts/slideLayout2.xml" Id="R9124772549534a3f" /><Relationship Type="http://schemas.openxmlformats.org/officeDocument/2006/relationships/slideLayout" Target="/ppt/slideLayouts/slideLayout3.xml" Id="Re7a03f6a6f3549a7" /><Relationship Type="http://schemas.openxmlformats.org/officeDocument/2006/relationships/slideLayout" Target="/ppt/slideLayouts/slideLayout4.xml" Id="Rbb6f27df574148c9" /><Relationship Type="http://schemas.openxmlformats.org/officeDocument/2006/relationships/slideLayout" Target="/ppt/slideLayouts/slideLayout5.xml" Id="R50c5d92d575c4d60" /><Relationship Type="http://schemas.openxmlformats.org/officeDocument/2006/relationships/slideLayout" Target="/ppt/slideLayouts/slideLayout6.xml" Id="Rf30c238c6e1e4b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42e1341c504dd1"/>
    <p:sldLayoutId xmlns:r="http://schemas.openxmlformats.org/officeDocument/2006/relationships" id="2147483650" r:id="R9124772549534a3f"/>
    <p:sldLayoutId xmlns:r="http://schemas.openxmlformats.org/officeDocument/2006/relationships" id="2147483651" r:id="Re7a03f6a6f3549a7"/>
    <p:sldLayoutId xmlns:r="http://schemas.openxmlformats.org/officeDocument/2006/relationships" id="2147483652" r:id="Rbb6f27df574148c9"/>
    <p:sldLayoutId xmlns:r="http://schemas.openxmlformats.org/officeDocument/2006/relationships" id="2147483653" r:id="R50c5d92d575c4d60"/>
    <p:sldLayoutId xmlns:r="http://schemas.openxmlformats.org/officeDocument/2006/relationships" id="2147483654" r:id="Rf30c238c6e1e4b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a0e75372bc498f"/><Relationship Type="http://schemas.openxmlformats.org/officeDocument/2006/relationships/image" Target="/ppt/media/image.png" Id="R489f58802dc84c26"/><Relationship Type="http://schemas.openxmlformats.org/officeDocument/2006/relationships/image" Target="/ppt/media/image2.png" Id="R42bf541bdd32446e"/><Relationship Type="http://schemas.openxmlformats.org/officeDocument/2006/relationships/notesSlide" Target="/ppt/notesSlides/notesSlide1.xml" Id="Rf52c21a61bad405d"/><Relationship Id="rIdHFvideo1" Type="http://schemas.openxmlformats.org/officeDocument/2006/relationships/video" Target="../media/hf-animation-1.mp4"/><Relationship Id="rIdHFmedia1" Type="http://schemas.microsoft.com/office/2007/relationships/media" Target="../media/hf-animation-1.mp4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4c9d1f5a0d447d"/><Relationship Type="http://schemas.openxmlformats.org/officeDocument/2006/relationships/image" Target="/ppt/media/image3.png" Id="R3cd48fa9fada408c"/><Relationship Type="http://schemas.openxmlformats.org/officeDocument/2006/relationships/image" Target="/ppt/media/image4.png" Id="Rde520211df5c47c1"/><Relationship Type="http://schemas.openxmlformats.org/officeDocument/2006/relationships/notesSlide" Target="/ppt/notesSlides/notesSlide2.xml" Id="Rf66c5037697d49a7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0b5bb06e8f244d0"/><Relationship Type="http://schemas.openxmlformats.org/officeDocument/2006/relationships/image" Target="/ppt/media/image5.png" Id="Re2e3209013754f7f"/><Relationship Type="http://schemas.openxmlformats.org/officeDocument/2006/relationships/notesSlide" Target="/ppt/notesSlides/notesSlide3.xml" Id="R924b69958da14fd8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2a3ceae56de45b7"/><Relationship Type="http://schemas.openxmlformats.org/officeDocument/2006/relationships/image" Target="/ppt/media/image6.png" Id="R5654bfe1e82d40bf"/><Relationship Type="http://schemas.openxmlformats.org/officeDocument/2006/relationships/notesSlide" Target="/ppt/notesSlides/notesSlide4.xml" Id="R32b7255df78a4583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420c8f0a364e6c"/><Relationship Type="http://schemas.openxmlformats.org/officeDocument/2006/relationships/image" Target="/ppt/media/image7.png" Id="R4f5400a825d94eeb"/><Relationship Type="http://schemas.openxmlformats.org/officeDocument/2006/relationships/image" Target="/ppt/media/image8.png" Id="R1eec35412ddb4889"/><Relationship Type="http://schemas.openxmlformats.org/officeDocument/2006/relationships/notesSlide" Target="/ppt/notesSlides/notesSlide5.xml" Id="R4ca858fc049240b5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3ce95b45a424c61"/><Relationship Type="http://schemas.openxmlformats.org/officeDocument/2006/relationships/image" Target="/ppt/media/image9.png" Id="Rf62da7a0071b43ef"/><Relationship Type="http://schemas.openxmlformats.org/officeDocument/2006/relationships/notesSlide" Target="/ppt/notesSlides/notesSlide6.xml" Id="R560da48ff1e64e02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18593abf1a41ab"/><Relationship Type="http://schemas.openxmlformats.org/officeDocument/2006/relationships/image" Target="/ppt/media/image10.png" Id="R555576e728024eae"/><Relationship Type="http://schemas.openxmlformats.org/officeDocument/2006/relationships/notesSlide" Target="/ppt/notesSlides/notesSlide7.xml" Id="Rf2302e114315409d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dd476fc2e04b6a"/><Relationship Type="http://schemas.openxmlformats.org/officeDocument/2006/relationships/image" Target="/ppt/media/image11.png" Id="R3fc15e68f6cc4afe"/><Relationship Type="http://schemas.openxmlformats.org/officeDocument/2006/relationships/notesSlide" Target="/ppt/notesSlides/notesSlide8.xml" Id="R1e263cdabf484e54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76b88b21bd744f9"/><Relationship Type="http://schemas.openxmlformats.org/officeDocument/2006/relationships/image" Target="/ppt/media/image12.png" Id="R1a247c83ce234e4e"/><Relationship Type="http://schemas.openxmlformats.org/officeDocument/2006/relationships/notesSlide" Target="/ppt/notesSlides/notesSlide9.xml" Id="R171cd75df3bc435e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0fc5d8d23034e2b"/><Relationship Type="http://schemas.openxmlformats.org/officeDocument/2006/relationships/image" Target="/ppt/media/image13.png" Id="R00d6f7bdddea4f3d"/><Relationship Type="http://schemas.openxmlformats.org/officeDocument/2006/relationships/image" Target="/ppt/media/image14.png" Id="Ra2b10c56b6534230"/><Relationship Type="http://schemas.openxmlformats.org/officeDocument/2006/relationships/notesSlide" Target="/ppt/notesSlides/notesSlide10.xml" Id="R2bd17bc2ba924fdc"/><Relationship Id="rIdHFvideo2" Type="http://schemas.openxmlformats.org/officeDocument/2006/relationships/video" Target="../media/hf-animation-2.mp4"/><Relationship Id="rIdHFmedia2" Type="http://schemas.microsoft.com/office/2007/relationships/media" Target="../media/hf-animation-2.mp4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1aa86246414553"/><Relationship Type="http://schemas.openxmlformats.org/officeDocument/2006/relationships/image" Target="/ppt/media/image15.png" Id="Rffce46f68817404e"/><Relationship Type="http://schemas.openxmlformats.org/officeDocument/2006/relationships/image" Target="/ppt/media/image16.png" Id="Rdcd9236819074c80"/><Relationship Type="http://schemas.openxmlformats.org/officeDocument/2006/relationships/notesSlide" Target="/ppt/notesSlides/notesSlide11.xml" Id="R73992350e15742f3"/><Relationship Id="rIdHFvideo3" Type="http://schemas.openxmlformats.org/officeDocument/2006/relationships/video" Target="../media/hf-animation-3.mp4"/><Relationship Id="rIdHFmedia3" Type="http://schemas.microsoft.com/office/2007/relationships/media" Target="../media/hf-animation-3.mp4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e5ff18ea454289"/><Relationship Type="http://schemas.openxmlformats.org/officeDocument/2006/relationships/image" Target="/ppt/media/image17.png" Id="R39f2209a470c40dc"/><Relationship Type="http://schemas.openxmlformats.org/officeDocument/2006/relationships/image" Target="/ppt/media/image18.png" Id="Re3ec052b48ae4711"/><Relationship Type="http://schemas.openxmlformats.org/officeDocument/2006/relationships/image" Target="/ppt/media/image19.png" Id="Rec39e956b2c94114"/><Relationship Type="http://schemas.openxmlformats.org/officeDocument/2006/relationships/image" Target="/ppt/media/image20.png" Id="Rd3d3bb5cd5f2419c"/><Relationship Type="http://schemas.openxmlformats.org/officeDocument/2006/relationships/notesSlide" Target="/ppt/notesSlides/notesSlide12.xml" Id="Rb6fdaf3a973a4f7b"/><Relationship Id="rIdHFvideo4" Type="http://schemas.openxmlformats.org/officeDocument/2006/relationships/video" Target="../media/hf-animation-4.mp4"/><Relationship Id="rIdHFmedia4" Type="http://schemas.microsoft.com/office/2007/relationships/media" Target="../media/hf-animation-4.mp4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b604e7e9b848cb"/><Relationship Type="http://schemas.openxmlformats.org/officeDocument/2006/relationships/image" Target="/ppt/media/image21.png" Id="Ra3eb8e968b504929"/><Relationship Type="http://schemas.openxmlformats.org/officeDocument/2006/relationships/notesSlide" Target="/ppt/notesSlides/notesSlide13.xml" Id="R269d57255a9a4170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6f0e97fd7e84df9"/><Relationship Type="http://schemas.openxmlformats.org/officeDocument/2006/relationships/image" Target="/ppt/media/image22.png" Id="Rc6f0a7eebfd3473b"/><Relationship Type="http://schemas.openxmlformats.org/officeDocument/2006/relationships/notesSlide" Target="/ppt/notesSlides/notesSlide14.xml" Id="R97194970051b489a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f063f4c4a84278"/><Relationship Type="http://schemas.openxmlformats.org/officeDocument/2006/relationships/image" Target="/ppt/media/image23.png" Id="R84a896cbd60342b9"/><Relationship Type="http://schemas.openxmlformats.org/officeDocument/2006/relationships/notesSlide" Target="/ppt/notesSlides/notesSlide15.xml" Id="R3569c73cf98d4563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3baac1b43734382"/><Relationship Type="http://schemas.openxmlformats.org/officeDocument/2006/relationships/image" Target="/ppt/media/image24.png" Id="Rc3a9dea40f2e4942"/><Relationship Type="http://schemas.openxmlformats.org/officeDocument/2006/relationships/notesSlide" Target="/ppt/notesSlides/notesSlide16.xml" Id="Rea485db59fd049b9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36478ebd5aa480f"/><Relationship Type="http://schemas.openxmlformats.org/officeDocument/2006/relationships/image" Target="/ppt/media/image25.png" Id="Rdfef34c91ab8406e"/><Relationship Type="http://schemas.openxmlformats.org/officeDocument/2006/relationships/notesSlide" Target="/ppt/notesSlides/notesSlide17.xml" Id="R45970810b46b4cce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8003bbebf60401d"/><Relationship Type="http://schemas.openxmlformats.org/officeDocument/2006/relationships/image" Target="/ppt/media/image26.png" Id="R613ba9d271014d3c"/><Relationship Type="http://schemas.openxmlformats.org/officeDocument/2006/relationships/notesSlide" Target="/ppt/notesSlides/notesSlide18.xml" Id="Rab5676e915174af5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4174be2ca4646e2"/><Relationship Type="http://schemas.openxmlformats.org/officeDocument/2006/relationships/image" Target="/ppt/media/image27.png" Id="Rde338474aefe46b6"/><Relationship Type="http://schemas.openxmlformats.org/officeDocument/2006/relationships/notesSlide" Target="/ppt/notesSlides/notesSlide19.xml" Id="R72127468ef2149e0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7323549c0e64d4e"/><Relationship Type="http://schemas.openxmlformats.org/officeDocument/2006/relationships/image" Target="/ppt/media/image28.png" Id="R488b5454232741f0"/><Relationship Type="http://schemas.openxmlformats.org/officeDocument/2006/relationships/notesSlide" Target="/ppt/notesSlides/notesSlide20.xml" Id="R7505f7392cc24e68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08a7dac39b74ea0"/><Relationship Type="http://schemas.openxmlformats.org/officeDocument/2006/relationships/image" Target="/ppt/media/image29.png" Id="Rfd63d726a5db4af9"/><Relationship Type="http://schemas.openxmlformats.org/officeDocument/2006/relationships/notesSlide" Target="/ppt/notesSlides/notesSlide21.xml" Id="Rd50aadbeebb24a1e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e5e6265c1142ed"/><Relationship Type="http://schemas.openxmlformats.org/officeDocument/2006/relationships/image" Target="/ppt/media/image30.png" Id="Ra6cc7d2f6c704c1d"/><Relationship Type="http://schemas.openxmlformats.org/officeDocument/2006/relationships/notesSlide" Target="/ppt/notesSlides/notesSlide22.xml" Id="R7d7b15ab022b401c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5f772597b4747fd"/><Relationship Type="http://schemas.openxmlformats.org/officeDocument/2006/relationships/image" Target="/ppt/media/image31.png" Id="Rc9f340dc0847419d"/><Relationship Type="http://schemas.openxmlformats.org/officeDocument/2006/relationships/notesSlide" Target="/ppt/notesSlides/notesSlide23.xml" Id="Ra61bf8d789434e7f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e8a50ba9984ca1"/><Relationship Type="http://schemas.openxmlformats.org/officeDocument/2006/relationships/image" Target="/ppt/media/image32.png" Id="Re7727252f4ce46ec"/><Relationship Type="http://schemas.openxmlformats.org/officeDocument/2006/relationships/notesSlide" Target="/ppt/notesSlides/notesSlide24.xml" Id="R988cff46a3a14a82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223e5acdb1f4654"/><Relationship Type="http://schemas.openxmlformats.org/officeDocument/2006/relationships/image" Target="/ppt/media/image33.png" Id="R1dfab01d6f9e4bc7"/><Relationship Type="http://schemas.openxmlformats.org/officeDocument/2006/relationships/notesSlide" Target="/ppt/notesSlides/notesSlide25.xml" Id="R4cd93fcb4bb44990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8de996823a94165"/><Relationship Type="http://schemas.openxmlformats.org/officeDocument/2006/relationships/image" Target="/ppt/media/image34.png" Id="R1b8aaccaee6d43a9"/><Relationship Type="http://schemas.openxmlformats.org/officeDocument/2006/relationships/notesSlide" Target="/ppt/notesSlides/notesSlide26.xml" Id="Rced5fc3d690144f6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ced1e5467b14c3e"/><Relationship Type="http://schemas.openxmlformats.org/officeDocument/2006/relationships/image" Target="/ppt/media/image35.png" Id="Rf83d3dcc341543c7"/><Relationship Type="http://schemas.openxmlformats.org/officeDocument/2006/relationships/notesSlide" Target="/ppt/notesSlides/notesSlide27.xml" Id="R91ceea242ed345b1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400379d678470b"/><Relationship Type="http://schemas.openxmlformats.org/officeDocument/2006/relationships/image" Target="/ppt/media/image36.png" Id="R544e3653de594ecc"/><Relationship Type="http://schemas.openxmlformats.org/officeDocument/2006/relationships/image" Target="/ppt/media/image37.png" Id="Rc0fc37a25bb34014"/><Relationship Type="http://schemas.openxmlformats.org/officeDocument/2006/relationships/notesSlide" Target="/ppt/notesSlides/notesSlide28.xml" Id="R38d873155c0446ba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7c4bd9081449cd"/><Relationship Type="http://schemas.openxmlformats.org/officeDocument/2006/relationships/image" Target="/ppt/media/image38.png" Id="Rbde4644df4674e04"/><Relationship Type="http://schemas.openxmlformats.org/officeDocument/2006/relationships/image" Target="/ppt/media/image39.png" Id="Rc540cdc2961d449a"/><Relationship Type="http://schemas.openxmlformats.org/officeDocument/2006/relationships/notesSlide" Target="/ppt/notesSlides/notesSlide29.xml" Id="Ree0193a376d54b9f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0949ff8ba04150"/><Relationship Type="http://schemas.openxmlformats.org/officeDocument/2006/relationships/image" Target="/ppt/media/image40.png" Id="R78e0011e5f724a6d"/><Relationship Type="http://schemas.openxmlformats.org/officeDocument/2006/relationships/notesSlide" Target="/ppt/notesSlides/notesSlide30.xml" Id="Rb1b975e855eb4d84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7a9177eedc48b3"/><Relationship Type="http://schemas.openxmlformats.org/officeDocument/2006/relationships/image" Target="/ppt/media/image41.png" Id="R66031bd876f64c75"/><Relationship Type="http://schemas.openxmlformats.org/officeDocument/2006/relationships/notesSlide" Target="/ppt/notesSlides/notesSlide31.xml" Id="Rd357e5fe747c48d1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216d4bbd3fb4bae"/><Relationship Type="http://schemas.openxmlformats.org/officeDocument/2006/relationships/image" Target="/ppt/media/image42.png" Id="Re3ce260d281d4c0d"/><Relationship Type="http://schemas.openxmlformats.org/officeDocument/2006/relationships/notesSlide" Target="/ppt/notesSlides/notesSlide32.xml" Id="R68f4eaf6565c46b8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48865d927d44d5f"/><Relationship Type="http://schemas.openxmlformats.org/officeDocument/2006/relationships/image" Target="/ppt/media/image43.png" Id="Rff33ad1d7f984506"/><Relationship Type="http://schemas.openxmlformats.org/officeDocument/2006/relationships/notesSlide" Target="/ppt/notesSlides/notesSlide33.xml" Id="R78bbfb87aa40431c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e63ecf5e5654ea6"/><Relationship Type="http://schemas.openxmlformats.org/officeDocument/2006/relationships/image" Target="/ppt/media/image44.png" Id="R6e2dfb9570ee4698"/><Relationship Type="http://schemas.openxmlformats.org/officeDocument/2006/relationships/notesSlide" Target="/ppt/notesSlides/notesSlide34.xml" Id="Rbdad62b37cd34951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9395b7137944213"/><Relationship Type="http://schemas.openxmlformats.org/officeDocument/2006/relationships/image" Target="/ppt/media/image45.png" Id="R424f93e89db4446d"/><Relationship Type="http://schemas.openxmlformats.org/officeDocument/2006/relationships/notesSlide" Target="/ppt/notesSlides/notesSlide35.xml" Id="R2524deebcb3841e3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45a553b2a1f4008"/><Relationship Type="http://schemas.openxmlformats.org/officeDocument/2006/relationships/image" Target="/ppt/media/image46.png" Id="R233eea58457b40f2"/><Relationship Type="http://schemas.openxmlformats.org/officeDocument/2006/relationships/notesSlide" Target="/ppt/notesSlides/notesSlide36.xml" Id="R7fd839da262d4b74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394a5091c5c4d75"/><Relationship Type="http://schemas.openxmlformats.org/officeDocument/2006/relationships/image" Target="/ppt/media/image47.png" Id="R1734cf5fd91a4c2b"/><Relationship Type="http://schemas.openxmlformats.org/officeDocument/2006/relationships/notesSlide" Target="/ppt/notesSlides/notesSlide37.xml" Id="R707c2360a86a4c8b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7802321f7604c4c"/><Relationship Type="http://schemas.openxmlformats.org/officeDocument/2006/relationships/image" Target="/ppt/media/image48.png" Id="Rf8583e8d757141e1"/><Relationship Type="http://schemas.openxmlformats.org/officeDocument/2006/relationships/notesSlide" Target="/ppt/notesSlides/notesSlide38.xml" Id="R2c68f27f810f4850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e9ae6d4d7c942a8"/><Relationship Type="http://schemas.openxmlformats.org/officeDocument/2006/relationships/image" Target="/ppt/media/image49.png" Id="Ra305578aacdc4e5c"/><Relationship Type="http://schemas.openxmlformats.org/officeDocument/2006/relationships/notesSlide" Target="/ppt/notesSlides/notesSlide39.xml" Id="Re25db909af454e7d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791d51c3f5d4e5e"/><Relationship Type="http://schemas.openxmlformats.org/officeDocument/2006/relationships/image" Target="/ppt/media/image50.png" Id="R17d9a5df36b94ccc"/><Relationship Type="http://schemas.openxmlformats.org/officeDocument/2006/relationships/notesSlide" Target="/ppt/notesSlides/notesSlide40.xml" Id="R15c5cf5e002e4ccd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7885aa48b54303"/><Relationship Type="http://schemas.openxmlformats.org/officeDocument/2006/relationships/image" Target="/ppt/media/image51.png" Id="R7e177eb9c60e4400"/><Relationship Type="http://schemas.openxmlformats.org/officeDocument/2006/relationships/notesSlide" Target="/ppt/notesSlides/notesSlide41.xml" Id="Rc251ba926edf4e3d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15763b4d634a0d"/><Relationship Type="http://schemas.openxmlformats.org/officeDocument/2006/relationships/image" Target="/ppt/media/image52.png" Id="R1792fe21f16f4f06"/><Relationship Type="http://schemas.openxmlformats.org/officeDocument/2006/relationships/notesSlide" Target="/ppt/notesSlides/notesSlide42.xml" Id="R312d7f5a9fce4653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77caf2761fc4315"/><Relationship Type="http://schemas.openxmlformats.org/officeDocument/2006/relationships/image" Target="/ppt/media/image53.png" Id="R1a3c2984f41a45f3"/><Relationship Type="http://schemas.openxmlformats.org/officeDocument/2006/relationships/notesSlide" Target="/ppt/notesSlides/notesSlide43.xml" Id="R9647c43dd7ec4029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0de49c2393a4503"/><Relationship Type="http://schemas.openxmlformats.org/officeDocument/2006/relationships/image" Target="/ppt/media/image54.png" Id="Rfbefc74a45a84a73"/><Relationship Type="http://schemas.openxmlformats.org/officeDocument/2006/relationships/notesSlide" Target="/ppt/notesSlides/notesSlide44.xml" Id="Rf745c0c7be0e4122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51e9cbf228d453b"/><Relationship Type="http://schemas.openxmlformats.org/officeDocument/2006/relationships/image" Target="/ppt/media/image55.png" Id="R86c96e2c92ac4cef"/><Relationship Type="http://schemas.openxmlformats.org/officeDocument/2006/relationships/notesSlide" Target="/ppt/notesSlides/notesSlide45.xml" Id="Re0db86c4141c4c79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be14a7a61e4878"/><Relationship Type="http://schemas.openxmlformats.org/officeDocument/2006/relationships/image" Target="/ppt/media/image56.png" Id="R83f2677f9c464426"/><Relationship Type="http://schemas.openxmlformats.org/officeDocument/2006/relationships/notesSlide" Target="/ppt/notesSlides/notesSlide46.xml" Id="Rd0da5bf62051491b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814b1d239414d39"/><Relationship Type="http://schemas.openxmlformats.org/officeDocument/2006/relationships/image" Target="/ppt/media/image57.png" Id="R731a02885fa54c2e"/><Relationship Type="http://schemas.openxmlformats.org/officeDocument/2006/relationships/notesSlide" Target="/ppt/notesSlides/notesSlide47.xml" Id="R871a01d4d54145a3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55b43bc49794329"/><Relationship Type="http://schemas.openxmlformats.org/officeDocument/2006/relationships/image" Target="/ppt/media/image58.png" Id="R94ac3abcd1194213"/><Relationship Type="http://schemas.openxmlformats.org/officeDocument/2006/relationships/notesSlide" Target="/ppt/notesSlides/notesSlide48.xml" Id="R4b9a760143554fe7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86d6b2e5094373"/><Relationship Type="http://schemas.openxmlformats.org/officeDocument/2006/relationships/image" Target="/ppt/media/image59.png" Id="R5e912e8ff9f649d6"/><Relationship Type="http://schemas.openxmlformats.org/officeDocument/2006/relationships/notesSlide" Target="/ppt/notesSlides/notesSlide49.xml" Id="Re84f41dcbd734435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f2f7580d8c94369"/><Relationship Type="http://schemas.openxmlformats.org/officeDocument/2006/relationships/image" Target="/ppt/media/image60.png" Id="R3d547788ca4244ae"/><Relationship Type="http://schemas.openxmlformats.org/officeDocument/2006/relationships/notesSlide" Target="/ppt/notesSlides/notesSlide50.xml" Id="R6bf257e1932c451a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77b1c558274278"/><Relationship Type="http://schemas.openxmlformats.org/officeDocument/2006/relationships/image" Target="/ppt/media/image61.png" Id="R16da7b96f72e4f13"/><Relationship Type="http://schemas.openxmlformats.org/officeDocument/2006/relationships/notesSlide" Target="/ppt/notesSlides/notesSlide51.xml" Id="R6ec8f0b02f404b33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e1e1112e30f49b5"/><Relationship Type="http://schemas.openxmlformats.org/officeDocument/2006/relationships/image" Target="/ppt/media/image62.png" Id="R1befc4b309944cd8"/><Relationship Type="http://schemas.openxmlformats.org/officeDocument/2006/relationships/notesSlide" Target="/ppt/notesSlides/notesSlide52.xml" Id="R2bf625a4e2204ad2"/></Relationships>
</file>

<file path=ppt/slides/slide1.xml><?xml version="1.0" encoding="utf-8"?>
<p:sld xmlns:p="http://schemas.openxmlformats.org/presentationml/2006/main">
  <p:cSld name="cov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">
            <a:extLst xmlns:a="http://schemas.openxmlformats.org/drawingml/2006/main">
              <a:ext uri="{FF2B5EF4-FFF2-40B4-BE49-F238E27FC236}">
                <a16:creationId xmlns:a16="http://schemas.microsoft.com/office/drawing/2014/main" id="{439BAB23-4BE7-4F98-9092-BD953442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9564"/>
            <a:ext cx="329416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99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HardFest 2026 · трек «Разработка»</a:t>
            </a:r>
          </a:p>
        </p:txBody>
      </p:sp>
      <p:sp>
        <p:nvSpPr>
          <p:cNvPr id="3" name="hf-2">
            <a:extLst xmlns:a="http://schemas.openxmlformats.org/drawingml/2006/main">
              <a:ext uri="{FF2B5EF4-FFF2-40B4-BE49-F238E27FC236}">
                <a16:creationId xmlns:a16="http://schemas.microsoft.com/office/drawing/2014/main" id="{AF051F30-55B9-425C-AD98-2FF43370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20666"/>
            <a:ext cx="4195018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75"/>
              </a:lnSpc>
              <a:buNone/>
            </a:pPr>
            <a:r>
              <a:rPr sz="37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O(n) ПРОИГРАЛ</a:t>
            </a:r>
          </a:p>
        </p:txBody>
      </p:sp>
      <p:sp>
        <p:nvSpPr>
          <p:cNvPr id="4" name="hf-3">
            <a:extLst xmlns:a="http://schemas.openxmlformats.org/drawingml/2006/main">
              <a:ext uri="{FF2B5EF4-FFF2-40B4-BE49-F238E27FC236}">
                <a16:creationId xmlns:a16="http://schemas.microsoft.com/office/drawing/2014/main" id="{C34F4BC7-A803-4AAD-BFC2-56E61D72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63591"/>
            <a:ext cx="2554188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75"/>
              </a:lnSpc>
              <a:buNone/>
            </a:pPr>
            <a:r>
              <a:rPr sz="37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O(n log n)</a:t>
            </a:r>
          </a:p>
        </p:txBody>
      </p:sp>
      <p:sp>
        <p:nvSpPr>
          <p:cNvPr id="5" name="hf-4">
            <a:extLst xmlns:a="http://schemas.openxmlformats.org/drawingml/2006/main">
              <a:ext uri="{FF2B5EF4-FFF2-40B4-BE49-F238E27FC236}">
                <a16:creationId xmlns:a16="http://schemas.microsoft.com/office/drawing/2014/main" id="{18BA87F7-5E42-47E7-8919-A16F9D6C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96845"/>
            <a:ext cx="323790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325"/>
              </a:lnSpc>
              <a:buNone/>
            </a:pPr>
            <a:r>
              <a:rPr sz="1800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Ваш алгоритм не выбирал</a:t>
            </a:r>
          </a:p>
        </p:txBody>
      </p:sp>
      <p:sp>
        <p:nvSpPr>
          <p:cNvPr id="6" name="hf-5">
            <a:extLst xmlns:a="http://schemas.openxmlformats.org/drawingml/2006/main">
              <a:ext uri="{FF2B5EF4-FFF2-40B4-BE49-F238E27FC236}">
                <a16:creationId xmlns:a16="http://schemas.microsoft.com/office/drawing/2014/main" id="{48FED2B7-A582-4A6F-8B55-F35FB5D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92120"/>
            <a:ext cx="394617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325"/>
              </a:lnSpc>
              <a:buNone/>
            </a:pPr>
            <a:r>
              <a:rPr sz="1800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процессор, на котором работает</a:t>
            </a:r>
          </a:p>
        </p:txBody>
      </p:sp>
      <p:sp>
        <p:nvSpPr>
          <p:cNvPr id="7" name="hf-6">
            <a:extLst xmlns:a="http://schemas.openxmlformats.org/drawingml/2006/main">
              <a:ext uri="{FF2B5EF4-FFF2-40B4-BE49-F238E27FC236}">
                <a16:creationId xmlns:a16="http://schemas.microsoft.com/office/drawing/2014/main" id="{37FF8345-CF61-4FF1-93B2-0E372557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75354"/>
            <a:ext cx="187315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Никита Нагорнов</a:t>
            </a:r>
          </a:p>
        </p:txBody>
      </p:sp>
      <p:sp>
        <p:nvSpPr>
          <p:cNvPr id="8" name="hf-7">
            <a:extLst xmlns:a="http://schemas.openxmlformats.org/drawingml/2006/main">
              <a:ext uri="{FF2B5EF4-FFF2-40B4-BE49-F238E27FC236}">
                <a16:creationId xmlns:a16="http://schemas.microsoft.com/office/drawing/2014/main" id="{EA4735F4-6888-4A8E-A198-67587268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23004"/>
            <a:ext cx="311876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iOS, компания «Исходный код»</a:t>
            </a:r>
          </a:p>
        </p:txBody>
      </p:sp>
      <p:pic>
        <p:nvPicPr>
          <p:cNvPr id="11" name="hf-8-poster">
            <a:extLst xmlns:a="http://schemas.openxmlformats.org/drawingml/2006/main">
              <a:ext uri="{FF2B5EF4-FFF2-40B4-BE49-F238E27FC236}">
                <a16:creationId xmlns:a16="http://schemas.microsoft.com/office/drawing/2014/main" id="{B59DE59F-A448-4795-A14A-A74513744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f58802dc84c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49371" y="1524000"/>
            <a:ext cx="3541059" cy="3009900"/>
          </a:xfrm>
          <a:prstGeom xmlns:a="http://schemas.openxmlformats.org/drawingml/2006/main" prst="rect">
            <a:avLst/>
          </a:prstGeom>
        </p:spPr>
      </p:pic>
      <p:pic>
        <p:nvPicPr>
          <p:cNvPr id="9" name="hf-8">
            <a:extLst xmlns:a="http://schemas.openxmlformats.org/drawingml/2006/main">
              <a:ext uri="{FF2B5EF4-FFF2-40B4-BE49-F238E27FC236}">
                <a16:creationId xmlns:a16="http://schemas.microsoft.com/office/drawing/2014/main" id="{B59DE59F-A448-4795-A14A-A74513744C0F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HFvideo1"/>
            <p:extLst>
              <p:ext uri="{DAA4B4D4-6D71-4841-9C94-3DE7FCFB1B01}">
                <ns3:media xmlns:ns3="http://schemas.microsoft.com/office/powerpoint/2010/main" xmlns:ns4="http://schemas.openxmlformats.org/officeDocument/2006/relationships" ns4:embed="rIdHFmedia1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489f58802dc84c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49371" y="1524000"/>
            <a:ext cx="3541059" cy="3009900"/>
          </a:xfrm>
          <a:prstGeom xmlns:a="http://schemas.openxmlformats.org/drawingml/2006/main" prst="rect">
            <a:avLst/>
          </a:prstGeom>
        </p:spPr>
      </p:pic>
      <p:pic>
        <p:nvPicPr>
          <p:cNvPr id="10" name="hf-9">
            <a:extLst xmlns:a="http://schemas.openxmlformats.org/drawingml/2006/main">
              <a:ext uri="{FF2B5EF4-FFF2-40B4-BE49-F238E27FC236}">
                <a16:creationId xmlns:a16="http://schemas.microsoft.com/office/drawing/2014/main" id="{B67605EF-AFB8-49EB-BA26-2F3B388C13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f541bdd32446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38950" y="606893"/>
            <a:ext cx="1809750" cy="6197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69666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>
  <p:cSld name="abou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hf-10">
            <a:extLst xmlns:a="http://schemas.openxmlformats.org/drawingml/2006/main">
              <a:ext uri="{FF2B5EF4-FFF2-40B4-BE49-F238E27FC236}">
                <a16:creationId xmlns:a16="http://schemas.microsoft.com/office/drawing/2014/main" id="{16DCE807-A798-47E1-A238-B00ADC500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48fa9fada408c"/>
          <a:srcRect xmlns:a="http://schemas.openxmlformats.org/drawingml/2006/main" l="0" t="4718" r="0" b="4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213" y="1381125"/>
            <a:ext cx="3095625" cy="3095625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3" name="hf-11">
            <a:extLst xmlns:a="http://schemas.openxmlformats.org/drawingml/2006/main">
              <a:ext uri="{FF2B5EF4-FFF2-40B4-BE49-F238E27FC236}">
                <a16:creationId xmlns:a16="http://schemas.microsoft.com/office/drawing/2014/main" id="{D9C665F0-A187-465B-BBC5-7D80F7D8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11154"/>
            <a:ext cx="226196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350"/>
              </a:lnSpc>
              <a:buNone/>
            </a:pPr>
            <a:r>
              <a:rPr sz="37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НИКИТА</a:t>
            </a:r>
          </a:p>
        </p:txBody>
      </p:sp>
      <p:sp>
        <p:nvSpPr>
          <p:cNvPr id="4" name="hf-12">
            <a:extLst xmlns:a="http://schemas.openxmlformats.org/drawingml/2006/main">
              <a:ext uri="{FF2B5EF4-FFF2-40B4-BE49-F238E27FC236}">
                <a16:creationId xmlns:a16="http://schemas.microsoft.com/office/drawing/2014/main" id="{A35D2977-DD24-465D-A813-7BE476F2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63604"/>
            <a:ext cx="298080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350"/>
              </a:lnSpc>
              <a:buNone/>
            </a:pPr>
            <a:r>
              <a:rPr sz="37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НАГОРНОВ</a:t>
            </a:r>
          </a:p>
        </p:txBody>
      </p:sp>
      <p:sp>
        <p:nvSpPr>
          <p:cNvPr id="5" name="hf-13">
            <a:extLst xmlns:a="http://schemas.openxmlformats.org/drawingml/2006/main">
              <a:ext uri="{FF2B5EF4-FFF2-40B4-BE49-F238E27FC236}">
                <a16:creationId xmlns:a16="http://schemas.microsoft.com/office/drawing/2014/main" id="{CF552B47-B424-469A-A4E3-9992E2E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054020"/>
            <a:ext cx="254324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iOS · «Исходный код»</a:t>
            </a:r>
          </a:p>
        </p:txBody>
      </p:sp>
      <p:sp>
        <p:nvSpPr>
          <p:cNvPr id="6" name="hf-14">
            <a:extLst xmlns:a="http://schemas.openxmlformats.org/drawingml/2006/main">
              <a:ext uri="{FF2B5EF4-FFF2-40B4-BE49-F238E27FC236}">
                <a16:creationId xmlns:a16="http://schemas.microsoft.com/office/drawing/2014/main" id="{D4375140-35BF-46A9-87BF-D0D20414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765804"/>
            <a:ext cx="360275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Алгоритмы. Компиляторы. Айфоны.</a:t>
            </a:r>
          </a:p>
        </p:txBody>
      </p:sp>
      <p:pic>
        <p:nvPicPr>
          <p:cNvPr id="7" name="hf-15">
            <a:extLst xmlns:a="http://schemas.openxmlformats.org/drawingml/2006/main">
              <a:ext uri="{FF2B5EF4-FFF2-40B4-BE49-F238E27FC236}">
                <a16:creationId xmlns:a16="http://schemas.microsoft.com/office/drawing/2014/main" id="{1664E039-A357-49F8-99AA-354263EC9F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20211df5c47c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8" name="hf-16">
            <a:extLst xmlns:a="http://schemas.openxmlformats.org/drawingml/2006/main">
              <a:ext uri="{FF2B5EF4-FFF2-40B4-BE49-F238E27FC236}">
                <a16:creationId xmlns:a16="http://schemas.microsoft.com/office/drawing/2014/main" id="{6E29F6C2-9A53-436C-BA41-0EC681DB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1084472"/>
      </p:ext>
    </p:extLst>
  </p:cSld>
</p:sld>
</file>

<file path=ppt/slides/slide3.xml><?xml version="1.0" encoding="utf-8"?>
<p:sld xmlns:p="http://schemas.openxmlformats.org/presentationml/2006/main">
  <p:cSld name="audienc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7">
            <a:extLst xmlns:a="http://schemas.openxmlformats.org/drawingml/2006/main">
              <a:ext uri="{FF2B5EF4-FFF2-40B4-BE49-F238E27FC236}">
                <a16:creationId xmlns:a16="http://schemas.microsoft.com/office/drawing/2014/main" id="{25A24DCD-EB32-40A2-B8E5-3C6666E6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546377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КОМУ ПРИГОДИТСЯ ЭТОТ ДОКЛАД</a:t>
            </a:r>
          </a:p>
        </p:txBody>
      </p:sp>
      <p:sp>
        <p:nvSpPr>
          <p:cNvPr id="3" name="hf-18">
            <a:extLst xmlns:a="http://schemas.openxmlformats.org/drawingml/2006/main">
              <a:ext uri="{FF2B5EF4-FFF2-40B4-BE49-F238E27FC236}">
                <a16:creationId xmlns:a16="http://schemas.microsoft.com/office/drawing/2014/main" id="{C6D0CF68-D9AE-492C-9FEB-C15EBD32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72882"/>
            <a:ext cx="194897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Разработчикам</a:t>
            </a:r>
          </a:p>
        </p:txBody>
      </p:sp>
      <p:sp>
        <p:nvSpPr>
          <p:cNvPr id="4" name="hf-19">
            <a:extLst xmlns:a="http://schemas.openxmlformats.org/drawingml/2006/main">
              <a:ext uri="{FF2B5EF4-FFF2-40B4-BE49-F238E27FC236}">
                <a16:creationId xmlns:a16="http://schemas.microsoft.com/office/drawing/2014/main" id="{AE9ABA56-ADE9-437B-B7AF-938F984F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03629"/>
            <a:ext cx="23036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Выбираете алгоритмы</a:t>
            </a:r>
          </a:p>
        </p:txBody>
      </p:sp>
      <p:sp>
        <p:nvSpPr>
          <p:cNvPr id="5" name="hf-20">
            <a:extLst xmlns:a="http://schemas.openxmlformats.org/drawingml/2006/main">
              <a:ext uri="{FF2B5EF4-FFF2-40B4-BE49-F238E27FC236}">
                <a16:creationId xmlns:a16="http://schemas.microsoft.com/office/drawing/2014/main" id="{873429BE-E5A5-4169-AC60-DAB60C7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70329"/>
            <a:ext cx="14561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 контейнеры</a:t>
            </a:r>
          </a:p>
        </p:txBody>
      </p:sp>
      <p:sp>
        <p:nvSpPr>
          <p:cNvPr id="6" name="hf-21">
            <a:extLst xmlns:a="http://schemas.openxmlformats.org/drawingml/2006/main">
              <a:ext uri="{FF2B5EF4-FFF2-40B4-BE49-F238E27FC236}">
                <a16:creationId xmlns:a16="http://schemas.microsoft.com/office/drawing/2014/main" id="{7504A761-6462-42AB-9BFC-2872B6CC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82507"/>
            <a:ext cx="301890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Тимлидам и ревьюерам</a:t>
            </a:r>
          </a:p>
        </p:txBody>
      </p:sp>
      <p:sp>
        <p:nvSpPr>
          <p:cNvPr id="7" name="hf-22">
            <a:extLst xmlns:a="http://schemas.openxmlformats.org/drawingml/2006/main">
              <a:ext uri="{FF2B5EF4-FFF2-40B4-BE49-F238E27FC236}">
                <a16:creationId xmlns:a16="http://schemas.microsoft.com/office/drawing/2014/main" id="{94281FB6-4D77-4510-A1DD-F2592144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13254"/>
            <a:ext cx="303244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Проверяете перф-изменения</a:t>
            </a:r>
          </a:p>
        </p:txBody>
      </p:sp>
      <p:sp>
        <p:nvSpPr>
          <p:cNvPr id="8" name="hf-23">
            <a:extLst xmlns:a="http://schemas.openxmlformats.org/drawingml/2006/main">
              <a:ext uri="{FF2B5EF4-FFF2-40B4-BE49-F238E27FC236}">
                <a16:creationId xmlns:a16="http://schemas.microsoft.com/office/drawing/2014/main" id="{C3336AF1-FA65-4C8E-96D9-14EB906E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79954"/>
            <a:ext cx="98293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 ревью</a:t>
            </a:r>
          </a:p>
        </p:txBody>
      </p:sp>
      <p:sp>
        <p:nvSpPr>
          <p:cNvPr id="9" name="hf-24">
            <a:extLst xmlns:a="http://schemas.openxmlformats.org/drawingml/2006/main">
              <a:ext uri="{FF2B5EF4-FFF2-40B4-BE49-F238E27FC236}">
                <a16:creationId xmlns:a16="http://schemas.microsoft.com/office/drawing/2014/main" id="{E994B52A-2834-4B60-B2C1-80218B2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92132"/>
            <a:ext cx="270294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Авторам перф-тестов</a:t>
            </a:r>
          </a:p>
        </p:txBody>
      </p:sp>
      <p:sp>
        <p:nvSpPr>
          <p:cNvPr id="10" name="hf-25">
            <a:extLst xmlns:a="http://schemas.openxmlformats.org/drawingml/2006/main">
              <a:ext uri="{FF2B5EF4-FFF2-40B4-BE49-F238E27FC236}">
                <a16:creationId xmlns:a16="http://schemas.microsoft.com/office/drawing/2014/main" id="{3E05DF0D-0BF4-46CE-9E2F-AA8F2564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22879"/>
            <a:ext cx="123162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Мерите в CI</a:t>
            </a:r>
          </a:p>
        </p:txBody>
      </p:sp>
      <p:sp>
        <p:nvSpPr>
          <p:cNvPr id="11" name="hf-26">
            <a:extLst xmlns:a="http://schemas.openxmlformats.org/drawingml/2006/main">
              <a:ext uri="{FF2B5EF4-FFF2-40B4-BE49-F238E27FC236}">
                <a16:creationId xmlns:a16="http://schemas.microsoft.com/office/drawing/2014/main" id="{8C0C9BEE-7A64-479F-82D8-4AF61B2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89579"/>
            <a:ext cx="25598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 на целевом устройстве</a:t>
            </a:r>
          </a:p>
        </p:txBody>
      </p:sp>
      <p:sp>
        <p:nvSpPr>
          <p:cNvPr id="12" name="hf-27">
            <a:extLst xmlns:a="http://schemas.openxmlformats.org/drawingml/2006/main">
              <a:ext uri="{FF2B5EF4-FFF2-40B4-BE49-F238E27FC236}">
                <a16:creationId xmlns:a16="http://schemas.microsoft.com/office/drawing/2014/main" id="{61F007AD-DF73-4EB8-86C4-E3C3A367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12381"/>
            <a:ext cx="560248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Что выбрать — и как проверить, что стало быстрее</a:t>
            </a:r>
          </a:p>
        </p:txBody>
      </p:sp>
      <p:pic>
        <p:nvPicPr>
          <p:cNvPr id="13" name="hf-28">
            <a:extLst xmlns:a="http://schemas.openxmlformats.org/drawingml/2006/main">
              <a:ext uri="{FF2B5EF4-FFF2-40B4-BE49-F238E27FC236}">
                <a16:creationId xmlns:a16="http://schemas.microsoft.com/office/drawing/2014/main" id="{67A8F427-FD2B-480D-BC89-47859931D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3209013754f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4" name="hf-29">
            <a:extLst xmlns:a="http://schemas.openxmlformats.org/drawingml/2006/main">
              <a:ext uri="{FF2B5EF4-FFF2-40B4-BE49-F238E27FC236}">
                <a16:creationId xmlns:a16="http://schemas.microsoft.com/office/drawing/2014/main" id="{98588243-BB99-43AA-AC9F-F02E03EF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7169161"/>
      </p:ext>
    </p:extLst>
  </p:cSld>
</p:sld>
</file>

<file path=ppt/slides/slide4.xml><?xml version="1.0" encoding="utf-8"?>
<p:sld xmlns:p="http://schemas.openxmlformats.org/presentationml/2006/main">
  <p:cSld name="diff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0">
            <a:extLst xmlns:a="http://schemas.openxmlformats.org/drawingml/2006/main">
              <a:ext uri="{FF2B5EF4-FFF2-40B4-BE49-F238E27FC236}">
                <a16:creationId xmlns:a16="http://schemas.microsoft.com/office/drawing/2014/main" id="{10DE796A-CDCD-4298-8851-15438CCB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449483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КОД-РЕВЬЮ, ВТОРНИК, 17:40</a:t>
            </a:r>
          </a:p>
        </p:txBody>
      </p:sp>
      <p:sp>
        <p:nvSpPr>
          <p:cNvPr id="3" name="hf-31">
            <a:extLst xmlns:a="http://schemas.openxmlformats.org/drawingml/2006/main">
              <a:ext uri="{FF2B5EF4-FFF2-40B4-BE49-F238E27FC236}">
                <a16:creationId xmlns:a16="http://schemas.microsoft.com/office/drawing/2014/main" id="{4F22FBB4-3457-4999-9CC8-46027E35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190625"/>
            <a:ext cx="8029575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4" name="hf-32">
            <a:extLst xmlns:a="http://schemas.openxmlformats.org/drawingml/2006/main">
              <a:ext uri="{FF2B5EF4-FFF2-40B4-BE49-F238E27FC236}">
                <a16:creationId xmlns:a16="http://schemas.microsoft.com/office/drawing/2014/main" id="{48ACAED0-19B1-4329-8176-068AB8AA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364933"/>
            <a:ext cx="361257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// dedup ids after offline sync</a:t>
            </a:r>
          </a:p>
        </p:txBody>
      </p:sp>
      <p:sp>
        <p:nvSpPr>
          <p:cNvPr id="5" name="hf-33">
            <a:extLst xmlns:a="http://schemas.openxmlformats.org/drawingml/2006/main">
              <a:ext uri="{FF2B5EF4-FFF2-40B4-BE49-F238E27FC236}">
                <a16:creationId xmlns:a16="http://schemas.microsoft.com/office/drawing/2014/main" id="{E2C1B26D-45B2-4129-B3CB-121F65A9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669733"/>
            <a:ext cx="418601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F08A7A"/>
                </a:solidFill>
                <a:latin typeface="Menlo"/>
                <a:ea typeface="Menlo"/>
                <a:cs typeface="Menlo"/>
              </a:rPr>
              <a:t>- std::sort(ids.begin(), ids.end());</a:t>
            </a:r>
          </a:p>
        </p:txBody>
      </p:sp>
      <p:sp>
        <p:nvSpPr>
          <p:cNvPr id="6" name="hf-34">
            <a:extLst xmlns:a="http://schemas.openxmlformats.org/drawingml/2006/main">
              <a:ext uri="{FF2B5EF4-FFF2-40B4-BE49-F238E27FC236}">
                <a16:creationId xmlns:a16="http://schemas.microsoft.com/office/drawing/2014/main" id="{67C6518A-1249-4454-BDC9-63422FDE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974533"/>
            <a:ext cx="69385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F08A7A"/>
                </a:solidFill>
                <a:latin typeface="Menlo"/>
                <a:ea typeface="Menlo"/>
                <a:cs typeface="Menlo"/>
              </a:rPr>
              <a:t>- ids.erase(std::unique(ids.begin(), ids.end()), ids.end());</a:t>
            </a:r>
          </a:p>
        </p:txBody>
      </p:sp>
      <p:sp>
        <p:nvSpPr>
          <p:cNvPr id="7" name="hf-35">
            <a:extLst xmlns:a="http://schemas.openxmlformats.org/drawingml/2006/main">
              <a:ext uri="{FF2B5EF4-FFF2-40B4-BE49-F238E27FC236}">
                <a16:creationId xmlns:a16="http://schemas.microsoft.com/office/drawing/2014/main" id="{4A7AF66E-4FD0-4244-9887-B600E1B1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279333"/>
            <a:ext cx="659457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7BD88F"/>
                </a:solidFill>
                <a:latin typeface="Menlo"/>
                <a:ea typeface="Menlo"/>
                <a:cs typeface="Menlo"/>
              </a:rPr>
              <a:t>+ std::unordered_set&lt;uint64_t&gt; s(ids.begin(), ids.end());</a:t>
            </a:r>
          </a:p>
        </p:txBody>
      </p:sp>
      <p:sp>
        <p:nvSpPr>
          <p:cNvPr id="8" name="hf-36">
            <a:extLst xmlns:a="http://schemas.openxmlformats.org/drawingml/2006/main">
              <a:ext uri="{FF2B5EF4-FFF2-40B4-BE49-F238E27FC236}">
                <a16:creationId xmlns:a16="http://schemas.microsoft.com/office/drawing/2014/main" id="{546167A3-F7C1-4EA3-9653-517E3A7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584132"/>
            <a:ext cx="384199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7BD88F"/>
                </a:solidFill>
                <a:latin typeface="Menlo"/>
                <a:ea typeface="Menlo"/>
                <a:cs typeface="Menlo"/>
              </a:rPr>
              <a:t>+ ids.assign(s.begin(), s.end());</a:t>
            </a:r>
          </a:p>
        </p:txBody>
      </p:sp>
      <p:sp>
        <p:nvSpPr>
          <p:cNvPr id="9" name="hf-37">
            <a:extLst xmlns:a="http://schemas.openxmlformats.org/drawingml/2006/main">
              <a:ext uri="{FF2B5EF4-FFF2-40B4-BE49-F238E27FC236}">
                <a16:creationId xmlns:a16="http://schemas.microsoft.com/office/drawing/2014/main" id="{9DC8399A-D515-462B-A468-E09CAF9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47148"/>
            <a:ext cx="506737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1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Коллега:</a:t>
            </a: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«Линейно вместо n log n»</a:t>
            </a:r>
          </a:p>
        </p:txBody>
      </p:sp>
      <p:sp>
        <p:nvSpPr>
          <p:cNvPr id="10" name="hf-38">
            <a:extLst xmlns:a="http://schemas.openxmlformats.org/drawingml/2006/main">
              <a:ext uri="{FF2B5EF4-FFF2-40B4-BE49-F238E27FC236}">
                <a16:creationId xmlns:a16="http://schemas.microsoft.com/office/drawing/2014/main" id="{CF3CC7EB-3DF8-4657-B605-FC1B1D5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438525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1" name="hf-39">
            <a:extLst xmlns:a="http://schemas.openxmlformats.org/drawingml/2006/main">
              <a:ext uri="{FF2B5EF4-FFF2-40B4-BE49-F238E27FC236}">
                <a16:creationId xmlns:a16="http://schemas.microsoft.com/office/drawing/2014/main" id="{4E14832C-C9DA-4982-A6A9-EF30ED0D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149" y="3326987"/>
            <a:ext cx="164767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350"/>
              </a:lnSpc>
              <a:buNone/>
            </a:pPr>
            <a:r>
              <a:rPr sz="22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Approve ✓</a:t>
            </a:r>
          </a:p>
        </p:txBody>
      </p:sp>
      <p:pic>
        <p:nvPicPr>
          <p:cNvPr id="12" name="hf-40">
            <a:extLst xmlns:a="http://schemas.openxmlformats.org/drawingml/2006/main">
              <a:ext uri="{FF2B5EF4-FFF2-40B4-BE49-F238E27FC236}">
                <a16:creationId xmlns:a16="http://schemas.microsoft.com/office/drawing/2014/main" id="{948541FF-D2EE-43A5-AF28-40C45AC00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4bfe1e82d40b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3" name="hf-41">
            <a:extLst xmlns:a="http://schemas.openxmlformats.org/drawingml/2006/main">
              <a:ext uri="{FF2B5EF4-FFF2-40B4-BE49-F238E27FC236}">
                <a16:creationId xmlns:a16="http://schemas.microsoft.com/office/drawing/2014/main" id="{571E9A0A-7068-4DF0-8C7E-1B922282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2826503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5.xml><?xml version="1.0" encoding="utf-8"?>
<p:sld xmlns:p="http://schemas.openxmlformats.org/presentationml/2006/main">
  <p:cSld name="cas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2">
            <a:extLst xmlns:a="http://schemas.openxmlformats.org/drawingml/2006/main">
              <a:ext uri="{FF2B5EF4-FFF2-40B4-BE49-F238E27FC236}">
                <a16:creationId xmlns:a16="http://schemas.microsoft.com/office/drawing/2014/main" id="{E6D3521A-2E33-42C7-90F4-B2F8E6C7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03626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С ЧЕГО ВСЁ НАЧАЛОСЬ</a:t>
            </a:r>
          </a:p>
        </p:txBody>
      </p:sp>
      <p:sp>
        <p:nvSpPr>
          <p:cNvPr id="3" name="hf-43">
            <a:extLst xmlns:a="http://schemas.openxmlformats.org/drawingml/2006/main">
              <a:ext uri="{FF2B5EF4-FFF2-40B4-BE49-F238E27FC236}">
                <a16:creationId xmlns:a16="http://schemas.microsoft.com/office/drawing/2014/main" id="{AA7C9195-71AF-40AB-A0C6-7FD5EB51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7539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ЗАДАЧА: СКЛЕИТЬ ЛОКАЛЬНЫЕ id И</a:t>
            </a:r>
          </a:p>
        </p:txBody>
      </p:sp>
      <p:sp>
        <p:nvSpPr>
          <p:cNvPr id="4" name="hf-44">
            <a:extLst xmlns:a="http://schemas.openxmlformats.org/drawingml/2006/main">
              <a:ext uri="{FF2B5EF4-FFF2-40B4-BE49-F238E27FC236}">
                <a16:creationId xmlns:a16="http://schemas.microsoft.com/office/drawing/2014/main" id="{C643ED33-A57E-49FB-B0A8-EE74339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552978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ДЕЛЬТУ С СЕРВЕРА БЕЗ ПОВТОРОВ</a:t>
            </a:r>
          </a:p>
        </p:txBody>
      </p:sp>
      <p:pic>
        <p:nvPicPr>
          <p:cNvPr id="5" name="hf-45">
            <a:extLst xmlns:a="http://schemas.openxmlformats.org/drawingml/2006/main">
              <a:ext uri="{FF2B5EF4-FFF2-40B4-BE49-F238E27FC236}">
                <a16:creationId xmlns:a16="http://schemas.microsoft.com/office/drawing/2014/main" id="{191205E2-B5F6-4F38-AB12-A56BD01AFA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400a825d94ee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57213" y="1524000"/>
            <a:ext cx="4095750" cy="2667000"/>
          </a:xfrm>
          <a:prstGeom xmlns:a="http://schemas.openxmlformats.org/drawingml/2006/main" prst="rect">
            <a:avLst/>
          </a:prstGeom>
        </p:spPr>
      </p:pic>
      <p:sp>
        <p:nvSpPr>
          <p:cNvPr id="6" name="hf-46">
            <a:extLst xmlns:a="http://schemas.openxmlformats.org/drawingml/2006/main">
              <a:ext uri="{FF2B5EF4-FFF2-40B4-BE49-F238E27FC236}">
                <a16:creationId xmlns:a16="http://schemas.microsoft.com/office/drawing/2014/main" id="{E03087DC-D8F3-47EC-A61B-EF28CC34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49921"/>
            <a:ext cx="2113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7" name="hf-47">
            <a:extLst xmlns:a="http://schemas.openxmlformats.org/drawingml/2006/main">
              <a:ext uri="{FF2B5EF4-FFF2-40B4-BE49-F238E27FC236}">
                <a16:creationId xmlns:a16="http://schemas.microsoft.com/office/drawing/2014/main" id="{68DEEEE7-6EDF-4C3F-A7FC-2B2431EF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03629"/>
            <a:ext cx="298593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Локальные id отсортированы</a:t>
            </a:r>
          </a:p>
        </p:txBody>
      </p:sp>
      <p:sp>
        <p:nvSpPr>
          <p:cNvPr id="8" name="hf-48">
            <a:extLst xmlns:a="http://schemas.openxmlformats.org/drawingml/2006/main">
              <a:ext uri="{FF2B5EF4-FFF2-40B4-BE49-F238E27FC236}">
                <a16:creationId xmlns:a16="http://schemas.microsoft.com/office/drawing/2014/main" id="{F7980AEC-791A-4C32-BA9B-353131FD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1279"/>
            <a:ext cx="13294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 уникальны</a:t>
            </a:r>
          </a:p>
        </p:txBody>
      </p:sp>
      <p:sp>
        <p:nvSpPr>
          <p:cNvPr id="9" name="hf-49">
            <a:extLst xmlns:a="http://schemas.openxmlformats.org/drawingml/2006/main">
              <a:ext uri="{FF2B5EF4-FFF2-40B4-BE49-F238E27FC236}">
                <a16:creationId xmlns:a16="http://schemas.microsoft.com/office/drawing/2014/main" id="{68A890F9-7F0A-4D5A-8550-08F378D2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2421"/>
            <a:ext cx="28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0" name="hf-50">
            <a:extLst xmlns:a="http://schemas.openxmlformats.org/drawingml/2006/main">
              <a:ext uri="{FF2B5EF4-FFF2-40B4-BE49-F238E27FC236}">
                <a16:creationId xmlns:a16="http://schemas.microsoft.com/office/drawing/2014/main" id="{53A38C96-31A7-48A6-B835-1DBE394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3279"/>
            <a:ext cx="17954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Ключ — </a:t>
            </a: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uint64_t</a:t>
            </a:r>
          </a:p>
        </p:txBody>
      </p:sp>
      <p:sp>
        <p:nvSpPr>
          <p:cNvPr id="11" name="hf-51">
            <a:extLst xmlns:a="http://schemas.openxmlformats.org/drawingml/2006/main">
              <a:ext uri="{FF2B5EF4-FFF2-40B4-BE49-F238E27FC236}">
                <a16:creationId xmlns:a16="http://schemas.microsoft.com/office/drawing/2014/main" id="{321E7A6B-8DA2-4735-8EC6-EC7FD8A1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59671"/>
            <a:ext cx="2867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2" name="hf-52">
            <a:extLst xmlns:a="http://schemas.openxmlformats.org/drawingml/2006/main">
              <a:ext uri="{FF2B5EF4-FFF2-40B4-BE49-F238E27FC236}">
                <a16:creationId xmlns:a16="http://schemas.microsoft.com/office/drawing/2014/main" id="{6A9E5F65-10D2-4504-8041-A26CE508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50907"/>
            <a:ext cx="131876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QoS utility</a:t>
            </a:r>
          </a:p>
        </p:txBody>
      </p:sp>
      <p:sp>
        <p:nvSpPr>
          <p:cNvPr id="13" name="hf-53">
            <a:extLst xmlns:a="http://schemas.openxmlformats.org/drawingml/2006/main">
              <a:ext uri="{FF2B5EF4-FFF2-40B4-BE49-F238E27FC236}">
                <a16:creationId xmlns:a16="http://schemas.microsoft.com/office/drawing/2014/main" id="{102BD9BD-0354-4A6D-B294-1AEB422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72763"/>
            <a:ext cx="10542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«не срочно»</a:t>
            </a:r>
          </a:p>
        </p:txBody>
      </p:sp>
      <p:pic>
        <p:nvPicPr>
          <p:cNvPr id="14" name="hf-54">
            <a:extLst xmlns:a="http://schemas.openxmlformats.org/drawingml/2006/main">
              <a:ext uri="{FF2B5EF4-FFF2-40B4-BE49-F238E27FC236}">
                <a16:creationId xmlns:a16="http://schemas.microsoft.com/office/drawing/2014/main" id="{BC89B9CF-CB3F-401B-AF89-803B904E1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c35412ddb488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5" name="hf-55">
            <a:extLst xmlns:a="http://schemas.openxmlformats.org/drawingml/2006/main">
              <a:ext uri="{FF2B5EF4-FFF2-40B4-BE49-F238E27FC236}">
                <a16:creationId xmlns:a16="http://schemas.microsoft.com/office/drawing/2014/main" id="{948929E2-9387-46F2-BAB6-1B10F910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7667274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p="http://schemas.openxmlformats.org/presentationml/2006/main">
  <p:cSld name="vot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56">
            <a:extLst xmlns:a="http://schemas.openxmlformats.org/drawingml/2006/main">
              <a:ext uri="{FF2B5EF4-FFF2-40B4-BE49-F238E27FC236}">
                <a16:creationId xmlns:a16="http://schemas.microsoft.com/office/drawing/2014/main" id="{88C44F2D-3266-4605-9BE6-B135429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129733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ВАША СТАВКА</a:t>
            </a:r>
          </a:p>
        </p:txBody>
      </p:sp>
      <p:sp>
        <p:nvSpPr>
          <p:cNvPr id="3" name="hf-57">
            <a:extLst xmlns:a="http://schemas.openxmlformats.org/drawingml/2006/main">
              <a:ext uri="{FF2B5EF4-FFF2-40B4-BE49-F238E27FC236}">
                <a16:creationId xmlns:a16="http://schemas.microsoft.com/office/drawing/2014/main" id="{2987E473-5692-4B41-9AA4-AC78F8EA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1062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n log n ПРОТИВ ОЖИДАЕМОГО n</a:t>
            </a:r>
          </a:p>
        </p:txBody>
      </p:sp>
      <p:sp>
        <p:nvSpPr>
          <p:cNvPr id="4" name="hf-58">
            <a:extLst xmlns:a="http://schemas.openxmlformats.org/drawingml/2006/main">
              <a:ext uri="{FF2B5EF4-FFF2-40B4-BE49-F238E27FC236}">
                <a16:creationId xmlns:a16="http://schemas.microsoft.com/office/drawing/2014/main" id="{B1E37C0E-CFF4-4E3E-AD13-FC6F8E1A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8750"/>
            <a:ext cx="2552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5" name="hf-59">
            <a:extLst xmlns:a="http://schemas.openxmlformats.org/drawingml/2006/main">
              <a:ext uri="{FF2B5EF4-FFF2-40B4-BE49-F238E27FC236}">
                <a16:creationId xmlns:a16="http://schemas.microsoft.com/office/drawing/2014/main" id="{4B2ED756-C573-42E0-9BC7-83E58D65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1603667"/>
            <a:ext cx="411584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A</a:t>
            </a:r>
          </a:p>
        </p:txBody>
      </p:sp>
      <p:sp>
        <p:nvSpPr>
          <p:cNvPr id="6" name="hf-60">
            <a:extLst xmlns:a="http://schemas.openxmlformats.org/drawingml/2006/main">
              <a:ext uri="{FF2B5EF4-FFF2-40B4-BE49-F238E27FC236}">
                <a16:creationId xmlns:a16="http://schemas.microsoft.com/office/drawing/2014/main" id="{93D51A03-A901-4CBB-A27F-2E798AC5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2134857"/>
            <a:ext cx="161329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7" name="hf-61">
            <a:extLst xmlns:a="http://schemas.openxmlformats.org/drawingml/2006/main">
              <a:ext uri="{FF2B5EF4-FFF2-40B4-BE49-F238E27FC236}">
                <a16:creationId xmlns:a16="http://schemas.microsoft.com/office/drawing/2014/main" id="{2FA128FA-949A-4160-A0B5-A7F7DB8E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2498407"/>
            <a:ext cx="120409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O(n log n)</a:t>
            </a:r>
          </a:p>
        </p:txBody>
      </p:sp>
      <p:sp>
        <p:nvSpPr>
          <p:cNvPr id="8" name="hf-62">
            <a:extLst xmlns:a="http://schemas.openxmlformats.org/drawingml/2006/main">
              <a:ext uri="{FF2B5EF4-FFF2-40B4-BE49-F238E27FC236}">
                <a16:creationId xmlns:a16="http://schemas.microsoft.com/office/drawing/2014/main" id="{0711517A-919F-4469-B798-8581978F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2552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9" name="hf-63">
            <a:extLst xmlns:a="http://schemas.openxmlformats.org/drawingml/2006/main">
              <a:ext uri="{FF2B5EF4-FFF2-40B4-BE49-F238E27FC236}">
                <a16:creationId xmlns:a16="http://schemas.microsoft.com/office/drawing/2014/main" id="{B9298586-6ACC-4C63-8DF5-9EA16FC3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03667"/>
            <a:ext cx="40384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B</a:t>
            </a:r>
          </a:p>
        </p:txBody>
      </p:sp>
      <p:sp>
        <p:nvSpPr>
          <p:cNvPr id="10" name="hf-64">
            <a:extLst xmlns:a="http://schemas.openxmlformats.org/drawingml/2006/main">
              <a:ext uri="{FF2B5EF4-FFF2-40B4-BE49-F238E27FC236}">
                <a16:creationId xmlns:a16="http://schemas.microsoft.com/office/drawing/2014/main" id="{B874F013-0B11-42BC-899A-26D53262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4857"/>
            <a:ext cx="177656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1" name="hf-65">
            <a:extLst xmlns:a="http://schemas.openxmlformats.org/drawingml/2006/main">
              <a:ext uri="{FF2B5EF4-FFF2-40B4-BE49-F238E27FC236}">
                <a16:creationId xmlns:a16="http://schemas.microsoft.com/office/drawing/2014/main" id="{91361F56-D04A-4FE7-8816-18D1C0B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98407"/>
            <a:ext cx="166285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O(n) в среднем</a:t>
            </a:r>
          </a:p>
        </p:txBody>
      </p:sp>
      <p:sp>
        <p:nvSpPr>
          <p:cNvPr id="12" name="hf-66">
            <a:extLst xmlns:a="http://schemas.openxmlformats.org/drawingml/2006/main">
              <a:ext uri="{FF2B5EF4-FFF2-40B4-BE49-F238E27FC236}">
                <a16:creationId xmlns:a16="http://schemas.microsoft.com/office/drawing/2014/main" id="{8FBB3822-B0E4-4676-BC08-DAC6699C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1428750"/>
            <a:ext cx="2552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hf-67">
            <a:extLst xmlns:a="http://schemas.openxmlformats.org/drawingml/2006/main">
              <a:ext uri="{FF2B5EF4-FFF2-40B4-BE49-F238E27FC236}">
                <a16:creationId xmlns:a16="http://schemas.microsoft.com/office/drawing/2014/main" id="{0AD4235D-02F9-480C-A479-F2A2362C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88" y="1603667"/>
            <a:ext cx="386283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</a:t>
            </a:r>
          </a:p>
        </p:txBody>
      </p:sp>
      <p:sp>
        <p:nvSpPr>
          <p:cNvPr id="14" name="hf-68">
            <a:extLst xmlns:a="http://schemas.openxmlformats.org/drawingml/2006/main">
              <a:ext uri="{FF2B5EF4-FFF2-40B4-BE49-F238E27FC236}">
                <a16:creationId xmlns:a16="http://schemas.microsoft.com/office/drawing/2014/main" id="{763B81EE-C46B-4169-A961-16A2ACD1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88" y="2070354"/>
            <a:ext cx="21365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сначала спросил бы</a:t>
            </a:r>
          </a:p>
        </p:txBody>
      </p:sp>
      <p:sp>
        <p:nvSpPr>
          <p:cNvPr id="15" name="hf-69">
            <a:extLst xmlns:a="http://schemas.openxmlformats.org/drawingml/2006/main">
              <a:ext uri="{FF2B5EF4-FFF2-40B4-BE49-F238E27FC236}">
                <a16:creationId xmlns:a16="http://schemas.microsoft.com/office/drawing/2014/main" id="{AE2AAC4C-6991-4DFE-84BA-D3B9990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88" y="2298954"/>
            <a:ext cx="89557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условие</a:t>
            </a:r>
          </a:p>
        </p:txBody>
      </p:sp>
      <p:sp>
        <p:nvSpPr>
          <p:cNvPr id="16" name="hf-70">
            <a:extLst xmlns:a="http://schemas.openxmlformats.org/drawingml/2006/main">
              <a:ext uri="{FF2B5EF4-FFF2-40B4-BE49-F238E27FC236}">
                <a16:creationId xmlns:a16="http://schemas.microsoft.com/office/drawing/2014/main" id="{0594863E-91CF-49DF-BD33-2847CC2E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45517"/>
            <a:ext cx="389565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950"/>
              </a:lnSpc>
              <a:buNone/>
            </a:pPr>
            <a:r>
              <a:rPr sz="4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log₂ 10⁶ ≈ 20</a:t>
            </a:r>
          </a:p>
        </p:txBody>
      </p:sp>
      <p:sp>
        <p:nvSpPr>
          <p:cNvPr id="17" name="hf-71">
            <a:extLst xmlns:a="http://schemas.openxmlformats.org/drawingml/2006/main">
              <a:ext uri="{FF2B5EF4-FFF2-40B4-BE49-F238E27FC236}">
                <a16:creationId xmlns:a16="http://schemas.microsoft.com/office/drawing/2014/main" id="{9B97208A-56EE-4AD8-9ABC-A3829F78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3138240"/>
            <a:ext cx="197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1M 64-битных id · все</a:t>
            </a:r>
          </a:p>
        </p:txBody>
      </p:sp>
      <p:sp>
        <p:nvSpPr>
          <p:cNvPr id="18" name="hf-72">
            <a:extLst xmlns:a="http://schemas.openxmlformats.org/drawingml/2006/main">
              <a:ext uri="{FF2B5EF4-FFF2-40B4-BE49-F238E27FC236}">
                <a16:creationId xmlns:a16="http://schemas.microsoft.com/office/drawing/2014/main" id="{194F926F-9729-4C1D-A3CD-F757F0FE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3347790"/>
            <a:ext cx="201773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разные · один поток ·</a:t>
            </a:r>
          </a:p>
        </p:txBody>
      </p:sp>
      <p:sp>
        <p:nvSpPr>
          <p:cNvPr id="19" name="hf-73">
            <a:extLst xmlns:a="http://schemas.openxmlformats.org/drawingml/2006/main">
              <a:ext uri="{FF2B5EF4-FFF2-40B4-BE49-F238E27FC236}">
                <a16:creationId xmlns:a16="http://schemas.microsoft.com/office/drawing/2014/main" id="{A4794944-13B2-43D8-96F4-197D5470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3557340"/>
            <a:ext cx="17456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порядок не важен</a:t>
            </a:r>
          </a:p>
        </p:txBody>
      </p:sp>
      <p:sp>
        <p:nvSpPr>
          <p:cNvPr id="20" name="hf-74">
            <a:extLst xmlns:a="http://schemas.openxmlformats.org/drawingml/2006/main">
              <a:ext uri="{FF2B5EF4-FFF2-40B4-BE49-F238E27FC236}">
                <a16:creationId xmlns:a16="http://schemas.microsoft.com/office/drawing/2014/main" id="{4799F3AA-3362-4976-A754-35C3385D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77957"/>
            <a:ext cx="407320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Что первым отправим на замер?</a:t>
            </a:r>
          </a:p>
        </p:txBody>
      </p:sp>
      <p:pic>
        <p:nvPicPr>
          <p:cNvPr id="21" name="hf-75">
            <a:extLst xmlns:a="http://schemas.openxmlformats.org/drawingml/2006/main">
              <a:ext uri="{FF2B5EF4-FFF2-40B4-BE49-F238E27FC236}">
                <a16:creationId xmlns:a16="http://schemas.microsoft.com/office/drawing/2014/main" id="{B85F484F-7F82-404A-9CFF-C72A0CE83E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da7a0071b43e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2" name="hf-76">
            <a:extLst xmlns:a="http://schemas.openxmlformats.org/drawingml/2006/main">
              <a:ext uri="{FF2B5EF4-FFF2-40B4-BE49-F238E27FC236}">
                <a16:creationId xmlns:a16="http://schemas.microsoft.com/office/drawing/2014/main" id="{C5D21FFE-2EB6-4033-A13C-2189ACDB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0960940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p="http://schemas.openxmlformats.org/presentationml/2006/main">
  <p:cSld name="resul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7">
            <a:extLst xmlns:a="http://schemas.openxmlformats.org/drawingml/2006/main">
              <a:ext uri="{FF2B5EF4-FFF2-40B4-BE49-F238E27FC236}">
                <a16:creationId xmlns:a16="http://schemas.microsoft.com/office/drawing/2014/main" id="{0CB375D0-7177-42B3-9B7D-9DB5575E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362790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СТАВКА №1 · ЧТО ПОКАЗАЛ СЕКУНДОМЕР</a:t>
            </a:r>
          </a:p>
        </p:txBody>
      </p:sp>
      <p:sp>
        <p:nvSpPr>
          <p:cNvPr id="3" name="hf-78">
            <a:extLst xmlns:a="http://schemas.openxmlformats.org/drawingml/2006/main">
              <a:ext uri="{FF2B5EF4-FFF2-40B4-BE49-F238E27FC236}">
                <a16:creationId xmlns:a16="http://schemas.microsoft.com/office/drawing/2014/main" id="{AAC2C32B-A32B-4AD1-B18C-0FDAADE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256118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ПЕРВЫЙ ЗАМЕР</a:t>
            </a:r>
          </a:p>
        </p:txBody>
      </p:sp>
      <p:sp>
        <p:nvSpPr>
          <p:cNvPr id="4" name="hf-79">
            <a:extLst xmlns:a="http://schemas.openxmlformats.org/drawingml/2006/main">
              <a:ext uri="{FF2B5EF4-FFF2-40B4-BE49-F238E27FC236}">
                <a16:creationId xmlns:a16="http://schemas.microsoft.com/office/drawing/2014/main" id="{661EA84B-3FFE-4502-8F28-AACCB0D4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70267"/>
            <a:ext cx="66882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элемент · 1M уникальных id · Mac M2 Pro · меньше — лучше</a:t>
            </a:r>
          </a:p>
        </p:txBody>
      </p:sp>
      <p:sp>
        <p:nvSpPr>
          <p:cNvPr id="5" name="hf-80">
            <a:extLst xmlns:a="http://schemas.openxmlformats.org/drawingml/2006/main">
              <a:ext uri="{FF2B5EF4-FFF2-40B4-BE49-F238E27FC236}">
                <a16:creationId xmlns:a16="http://schemas.microsoft.com/office/drawing/2014/main" id="{E8617556-F6C6-4B62-BC98-749231F0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63382"/>
            <a:ext cx="161329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6" name="hf-81">
            <a:extLst xmlns:a="http://schemas.openxmlformats.org/drawingml/2006/main">
              <a:ext uri="{FF2B5EF4-FFF2-40B4-BE49-F238E27FC236}">
                <a16:creationId xmlns:a16="http://schemas.microsoft.com/office/drawing/2014/main" id="{393BB120-3BCD-4524-A643-9AA08CC4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95500"/>
            <a:ext cx="2024063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7" name="hf-82">
            <a:extLst xmlns:a="http://schemas.openxmlformats.org/drawingml/2006/main">
              <a:ext uri="{FF2B5EF4-FFF2-40B4-BE49-F238E27FC236}">
                <a16:creationId xmlns:a16="http://schemas.microsoft.com/office/drawing/2014/main" id="{D562393A-0473-4297-8349-DE33FD8A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32419"/>
            <a:ext cx="641226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19,9</a:t>
            </a:r>
          </a:p>
        </p:txBody>
      </p:sp>
      <p:sp>
        <p:nvSpPr>
          <p:cNvPr id="8" name="hf-83">
            <a:extLst xmlns:a="http://schemas.openxmlformats.org/drawingml/2006/main">
              <a:ext uri="{FF2B5EF4-FFF2-40B4-BE49-F238E27FC236}">
                <a16:creationId xmlns:a16="http://schemas.microsoft.com/office/drawing/2014/main" id="{6B473030-27DD-44BC-91B9-1B37E8CF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15882"/>
            <a:ext cx="177656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9" name="hf-84">
            <a:extLst xmlns:a="http://schemas.openxmlformats.org/drawingml/2006/main">
              <a:ext uri="{FF2B5EF4-FFF2-40B4-BE49-F238E27FC236}">
                <a16:creationId xmlns:a16="http://schemas.microsoft.com/office/drawing/2014/main" id="{622A47E4-2915-4C10-8919-6AFB2E3F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48000"/>
            <a:ext cx="52197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0" name="hf-85">
            <a:extLst xmlns:a="http://schemas.openxmlformats.org/drawingml/2006/main">
              <a:ext uri="{FF2B5EF4-FFF2-40B4-BE49-F238E27FC236}">
                <a16:creationId xmlns:a16="http://schemas.microsoft.com/office/drawing/2014/main" id="{ED06CB22-4C2C-4F48-B423-0A31D737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084919"/>
            <a:ext cx="621357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51,3</a:t>
            </a:r>
          </a:p>
        </p:txBody>
      </p:sp>
      <p:sp>
        <p:nvSpPr>
          <p:cNvPr id="11" name="hf-86">
            <a:extLst xmlns:a="http://schemas.openxmlformats.org/drawingml/2006/main">
              <a:ext uri="{FF2B5EF4-FFF2-40B4-BE49-F238E27FC236}">
                <a16:creationId xmlns:a16="http://schemas.microsoft.com/office/drawing/2014/main" id="{E59E8365-DB19-4857-A621-B07814A9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696" y="1668399"/>
            <a:ext cx="2421954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9000"/>
              </a:lnSpc>
              <a:buNone/>
            </a:pPr>
            <a:r>
              <a:rPr sz="90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×2,6</a:t>
            </a:r>
          </a:p>
        </p:txBody>
      </p:sp>
      <p:sp>
        <p:nvSpPr>
          <p:cNvPr id="12" name="hf-87">
            <a:extLst xmlns:a="http://schemas.openxmlformats.org/drawingml/2006/main">
              <a:ext uri="{FF2B5EF4-FFF2-40B4-BE49-F238E27FC236}">
                <a16:creationId xmlns:a16="http://schemas.microsoft.com/office/drawing/2014/main" id="{6261FB4A-8D0F-497D-9737-0A1E108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67150"/>
            <a:ext cx="2047875" cy="571500"/>
          </a:xfrm>
          <a:custGeom xmlns:a="http://schemas.openxmlformats.org/drawingml/2006/main">
            <a:pathLst>
              <a:path w="2047875" h="571500">
                <a:moveTo>
                  <a:pt x="0" y="0"/>
                </a:moveTo>
                <a:lnTo>
                  <a:pt x="1838325" y="0"/>
                </a:lnTo>
                <a:lnTo>
                  <a:pt x="2047875" y="285750"/>
                </a:lnTo>
                <a:lnTo>
                  <a:pt x="1838325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13" name="hf-88">
            <a:extLst xmlns:a="http://schemas.openxmlformats.org/drawingml/2006/main">
              <a:ext uri="{FF2B5EF4-FFF2-40B4-BE49-F238E27FC236}">
                <a16:creationId xmlns:a16="http://schemas.microsoft.com/office/drawing/2014/main" id="{37F59936-44D4-4B35-9B98-5CC42A05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8" y="3867150"/>
            <a:ext cx="2047875" cy="571500"/>
          </a:xfrm>
          <a:custGeom xmlns:a="http://schemas.openxmlformats.org/drawingml/2006/main">
            <a:pathLst>
              <a:path w="2047875" h="571500">
                <a:moveTo>
                  <a:pt x="0" y="0"/>
                </a:moveTo>
                <a:lnTo>
                  <a:pt x="1838325" y="0"/>
                </a:lnTo>
                <a:lnTo>
                  <a:pt x="2047875" y="285750"/>
                </a:lnTo>
                <a:lnTo>
                  <a:pt x="1838325" y="571500"/>
                </a:lnTo>
                <a:lnTo>
                  <a:pt x="0" y="571500"/>
                </a:lnTo>
                <a:lnTo>
                  <a:pt x="209550" y="285750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14" name="hf-89">
            <a:extLst xmlns:a="http://schemas.openxmlformats.org/drawingml/2006/main">
              <a:ext uri="{FF2B5EF4-FFF2-40B4-BE49-F238E27FC236}">
                <a16:creationId xmlns:a16="http://schemas.microsoft.com/office/drawing/2014/main" id="{9EF228D6-0A45-4831-AD82-6237558F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3867150"/>
            <a:ext cx="2047875" cy="571500"/>
          </a:xfrm>
          <a:custGeom xmlns:a="http://schemas.openxmlformats.org/drawingml/2006/main">
            <a:pathLst>
              <a:path w="2047875" h="571500">
                <a:moveTo>
                  <a:pt x="0" y="0"/>
                </a:moveTo>
                <a:lnTo>
                  <a:pt x="1838325" y="0"/>
                </a:lnTo>
                <a:lnTo>
                  <a:pt x="2047875" y="285750"/>
                </a:lnTo>
                <a:lnTo>
                  <a:pt x="1838325" y="571500"/>
                </a:lnTo>
                <a:lnTo>
                  <a:pt x="0" y="571500"/>
                </a:lnTo>
                <a:lnTo>
                  <a:pt x="209550" y="285750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15" name="hf-90">
            <a:extLst xmlns:a="http://schemas.openxmlformats.org/drawingml/2006/main">
              <a:ext uri="{FF2B5EF4-FFF2-40B4-BE49-F238E27FC236}">
                <a16:creationId xmlns:a16="http://schemas.microsoft.com/office/drawing/2014/main" id="{9CDD074F-920B-427D-AE9C-ACEB8210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88" y="3867150"/>
            <a:ext cx="2047875" cy="571500"/>
          </a:xfrm>
          <a:custGeom xmlns:a="http://schemas.openxmlformats.org/drawingml/2006/main">
            <a:pathLst>
              <a:path w="2047875" h="571500">
                <a:moveTo>
                  <a:pt x="0" y="0"/>
                </a:moveTo>
                <a:lnTo>
                  <a:pt x="1838325" y="0"/>
                </a:lnTo>
                <a:lnTo>
                  <a:pt x="2047875" y="285750"/>
                </a:lnTo>
                <a:lnTo>
                  <a:pt x="1838325" y="571500"/>
                </a:lnTo>
                <a:lnTo>
                  <a:pt x="0" y="571500"/>
                </a:lnTo>
                <a:lnTo>
                  <a:pt x="209550" y="285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763">
            <a:noFill/>
          </a:ln>
        </p:spPr>
      </p:sp>
      <p:sp>
        <p:nvSpPr>
          <p:cNvPr id="16" name="hf-91">
            <a:extLst xmlns:a="http://schemas.openxmlformats.org/drawingml/2006/main">
              <a:ext uri="{FF2B5EF4-FFF2-40B4-BE49-F238E27FC236}">
                <a16:creationId xmlns:a16="http://schemas.microsoft.com/office/drawing/2014/main" id="{DBCC2403-DFD5-4406-840A-9358C27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2029"/>
            <a:ext cx="9500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  <a:r>
              <a:rPr sz="1500" b="1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Память</a:t>
            </a:r>
          </a:p>
        </p:txBody>
      </p:sp>
      <p:sp>
        <p:nvSpPr>
          <p:cNvPr id="17" name="hf-92">
            <a:extLst xmlns:a="http://schemas.openxmlformats.org/drawingml/2006/main">
              <a:ext uri="{FF2B5EF4-FFF2-40B4-BE49-F238E27FC236}">
                <a16:creationId xmlns:a16="http://schemas.microsoft.com/office/drawing/2014/main" id="{84754FE1-4C41-4509-A127-F64316D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42029"/>
            <a:ext cx="146900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  <a:r>
              <a:rPr sz="1500" b="1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Реализация</a:t>
            </a:r>
          </a:p>
        </p:txBody>
      </p:sp>
      <p:sp>
        <p:nvSpPr>
          <p:cNvPr id="18" name="hf-93">
            <a:extLst xmlns:a="http://schemas.openxmlformats.org/drawingml/2006/main">
              <a:ext uri="{FF2B5EF4-FFF2-40B4-BE49-F238E27FC236}">
                <a16:creationId xmlns:a16="http://schemas.microsoft.com/office/drawing/2014/main" id="{5366C903-D50E-43D1-8CBA-CF7289DC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42029"/>
            <a:ext cx="104990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  <a:r>
              <a:rPr sz="1500" b="1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Данные</a:t>
            </a:r>
          </a:p>
        </p:txBody>
      </p:sp>
      <p:sp>
        <p:nvSpPr>
          <p:cNvPr id="19" name="hf-94">
            <a:extLst xmlns:a="http://schemas.openxmlformats.org/drawingml/2006/main">
              <a:ext uri="{FF2B5EF4-FFF2-40B4-BE49-F238E27FC236}">
                <a16:creationId xmlns:a16="http://schemas.microsoft.com/office/drawing/2014/main" id="{1BD9C985-530F-40C6-A606-D18CA05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42029"/>
            <a:ext cx="139228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  <a:r>
              <a:rPr sz="1500" b="1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Процессор</a:t>
            </a:r>
          </a:p>
        </p:txBody>
      </p:sp>
      <p:pic>
        <p:nvPicPr>
          <p:cNvPr id="20" name="hf-95">
            <a:extLst xmlns:a="http://schemas.openxmlformats.org/drawingml/2006/main">
              <a:ext uri="{FF2B5EF4-FFF2-40B4-BE49-F238E27FC236}">
                <a16:creationId xmlns:a16="http://schemas.microsoft.com/office/drawing/2014/main" id="{6E80ED70-49F7-498D-AC64-12D12EC59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576e728024ea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1" name="hf-96">
            <a:extLst xmlns:a="http://schemas.openxmlformats.org/drawingml/2006/main">
              <a:ext uri="{FF2B5EF4-FFF2-40B4-BE49-F238E27FC236}">
                <a16:creationId xmlns:a16="http://schemas.microsoft.com/office/drawing/2014/main" id="{7EE2C5B9-2ED6-4851-A22A-770E9DEB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6062875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p="http://schemas.openxmlformats.org/presentationml/2006/main">
  <p:cSld name="contrac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97">
            <a:extLst xmlns:a="http://schemas.openxmlformats.org/drawingml/2006/main">
              <a:ext uri="{FF2B5EF4-FFF2-40B4-BE49-F238E27FC236}">
                <a16:creationId xmlns:a16="http://schemas.microsoft.com/office/drawing/2014/main" id="{95A39A83-BC32-46E2-B409-4886C968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65494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ПЕРЕД ЧЕТЫРЬМЯ РАУНДАМИ</a:t>
            </a:r>
          </a:p>
        </p:txBody>
      </p:sp>
      <p:sp>
        <p:nvSpPr>
          <p:cNvPr id="3" name="hf-98">
            <a:extLst xmlns:a="http://schemas.openxmlformats.org/drawingml/2006/main">
              <a:ext uri="{FF2B5EF4-FFF2-40B4-BE49-F238E27FC236}">
                <a16:creationId xmlns:a16="http://schemas.microsoft.com/office/drawing/2014/main" id="{CE6BCBF7-FB80-4CE1-9043-47444AA5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04331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ПРАВИЛО: В ТАЙМЕРЕ ВСЯ ОПЕРАЦИЯ</a:t>
            </a:r>
          </a:p>
        </p:txBody>
      </p:sp>
      <p:sp>
        <p:nvSpPr>
          <p:cNvPr id="4" name="hf-99">
            <a:extLst xmlns:a="http://schemas.openxmlformats.org/drawingml/2006/main">
              <a:ext uri="{FF2B5EF4-FFF2-40B4-BE49-F238E27FC236}">
                <a16:creationId xmlns:a16="http://schemas.microsoft.com/office/drawing/2014/main" id="{7A448EE0-FD8E-456A-B8E1-382E0694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8750"/>
            <a:ext cx="80295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5" name="hf-100">
            <a:extLst xmlns:a="http://schemas.openxmlformats.org/drawingml/2006/main">
              <a:ext uri="{FF2B5EF4-FFF2-40B4-BE49-F238E27FC236}">
                <a16:creationId xmlns:a16="http://schemas.microsoft.com/office/drawing/2014/main" id="{26E47C64-859F-41BB-B2E2-D28BF2D9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584008"/>
            <a:ext cx="521828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auto v = input;                </a:t>
            </a:r>
            <a:r>
              <a:rPr sz="150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// вне таймера</a:t>
            </a:r>
          </a:p>
        </p:txBody>
      </p:sp>
      <p:sp>
        <p:nvSpPr>
          <p:cNvPr id="6" name="hf-101">
            <a:extLst xmlns:a="http://schemas.openxmlformats.org/drawingml/2006/main">
              <a:ext uri="{FF2B5EF4-FFF2-40B4-BE49-F238E27FC236}">
                <a16:creationId xmlns:a16="http://schemas.microsoft.com/office/drawing/2014/main" id="{1EF97882-DE13-4FCE-8FA0-71F21057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926908"/>
            <a:ext cx="41861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timer.start();</a:t>
            </a: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alg(v); </a:t>
            </a:r>
            <a:r>
              <a:rPr sz="150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timer.stop();</a:t>
            </a:r>
          </a:p>
        </p:txBody>
      </p:sp>
      <p:sp>
        <p:nvSpPr>
          <p:cNvPr id="7" name="hf-102">
            <a:extLst xmlns:a="http://schemas.openxmlformats.org/drawingml/2006/main">
              <a:ext uri="{FF2B5EF4-FFF2-40B4-BE49-F238E27FC236}">
                <a16:creationId xmlns:a16="http://schemas.microsoft.com/office/drawing/2014/main" id="{875BEE39-620B-4A25-BEE5-02DD372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269808"/>
            <a:ext cx="521828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(sorted(v) != ref) abort();  </a:t>
            </a:r>
            <a:r>
              <a:rPr sz="150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// и в релизе</a:t>
            </a:r>
          </a:p>
        </p:txBody>
      </p:sp>
      <p:sp>
        <p:nvSpPr>
          <p:cNvPr id="8" name="hf-103">
            <a:extLst xmlns:a="http://schemas.openxmlformats.org/drawingml/2006/main">
              <a:ext uri="{FF2B5EF4-FFF2-40B4-BE49-F238E27FC236}">
                <a16:creationId xmlns:a16="http://schemas.microsoft.com/office/drawing/2014/main" id="{0980BED0-A90A-4440-81B9-819C6E98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39313"/>
            <a:ext cx="92928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в таймере:</a:t>
            </a:r>
          </a:p>
        </p:txBody>
      </p:sp>
      <p:sp>
        <p:nvSpPr>
          <p:cNvPr id="9" name="hf-104">
            <a:extLst xmlns:a="http://schemas.openxmlformats.org/drawingml/2006/main">
              <a:ext uri="{FF2B5EF4-FFF2-40B4-BE49-F238E27FC236}">
                <a16:creationId xmlns:a16="http://schemas.microsoft.com/office/drawing/2014/main" id="{8B854D37-39E0-4FA2-A2A5-DCDFE421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67050"/>
            <a:ext cx="1285875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0" name="hf-105">
            <a:extLst xmlns:a="http://schemas.openxmlformats.org/drawingml/2006/main">
              <a:ext uri="{FF2B5EF4-FFF2-40B4-BE49-F238E27FC236}">
                <a16:creationId xmlns:a16="http://schemas.microsoft.com/office/drawing/2014/main" id="{8B2FE21E-0507-4B01-851F-3A11071E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120" y="3014415"/>
            <a:ext cx="70671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reserve</a:t>
            </a:r>
          </a:p>
        </p:txBody>
      </p:sp>
      <p:sp>
        <p:nvSpPr>
          <p:cNvPr id="11" name="hf-106">
            <a:extLst xmlns:a="http://schemas.openxmlformats.org/drawingml/2006/main">
              <a:ext uri="{FF2B5EF4-FFF2-40B4-BE49-F238E27FC236}">
                <a16:creationId xmlns:a16="http://schemas.microsoft.com/office/drawing/2014/main" id="{BE48AC91-3F2E-4D86-B1D2-06B5CE99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1285875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2" name="hf-107">
            <a:extLst xmlns:a="http://schemas.openxmlformats.org/drawingml/2006/main">
              <a:ext uri="{FF2B5EF4-FFF2-40B4-BE49-F238E27FC236}">
                <a16:creationId xmlns:a16="http://schemas.microsoft.com/office/drawing/2014/main" id="{0686CB12-71C2-45F9-96BF-8809FDD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654" y="3014415"/>
            <a:ext cx="78514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вставки</a:t>
            </a:r>
          </a:p>
        </p:txBody>
      </p:sp>
      <p:sp>
        <p:nvSpPr>
          <p:cNvPr id="13" name="hf-108">
            <a:extLst xmlns:a="http://schemas.openxmlformats.org/drawingml/2006/main">
              <a:ext uri="{FF2B5EF4-FFF2-40B4-BE49-F238E27FC236}">
                <a16:creationId xmlns:a16="http://schemas.microsoft.com/office/drawing/2014/main" id="{1A45F63B-0DC0-4D55-BDB1-E571E134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4" name="hf-109">
            <a:extLst xmlns:a="http://schemas.openxmlformats.org/drawingml/2006/main">
              <a:ext uri="{FF2B5EF4-FFF2-40B4-BE49-F238E27FC236}">
                <a16:creationId xmlns:a16="http://schemas.microsoft.com/office/drawing/2014/main" id="{D4007B96-ABED-4102-BF65-EBF8C62E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185" y="3014415"/>
            <a:ext cx="91053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выгрузка</a:t>
            </a:r>
          </a:p>
        </p:txBody>
      </p:sp>
      <p:sp>
        <p:nvSpPr>
          <p:cNvPr id="15" name="hf-110">
            <a:extLst xmlns:a="http://schemas.openxmlformats.org/drawingml/2006/main">
              <a:ext uri="{FF2B5EF4-FFF2-40B4-BE49-F238E27FC236}">
                <a16:creationId xmlns:a16="http://schemas.microsoft.com/office/drawing/2014/main" id="{F7ABC679-E621-4F83-8FE3-B41439D5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1571625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hf-111">
            <a:extLst xmlns:a="http://schemas.openxmlformats.org/drawingml/2006/main">
              <a:ext uri="{FF2B5EF4-FFF2-40B4-BE49-F238E27FC236}">
                <a16:creationId xmlns:a16="http://schemas.microsoft.com/office/drawing/2014/main" id="{31EDE692-177E-491E-AA7D-30FDAE20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690" y="3014415"/>
            <a:ext cx="110557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деструктор</a:t>
            </a:r>
          </a:p>
        </p:txBody>
      </p:sp>
      <p:sp>
        <p:nvSpPr>
          <p:cNvPr id="17" name="hf-112">
            <a:extLst xmlns:a="http://schemas.openxmlformats.org/drawingml/2006/main">
              <a:ext uri="{FF2B5EF4-FFF2-40B4-BE49-F238E27FC236}">
                <a16:creationId xmlns:a16="http://schemas.microsoft.com/office/drawing/2014/main" id="{83081C24-E6A1-4D6E-A179-078C8E7C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3714750"/>
            <a:ext cx="133350" cy="714375"/>
          </a:xfrm>
          <a:custGeom xmlns:a="http://schemas.openxmlformats.org/drawingml/2006/main">
            <a:pathLst>
              <a:path w="133350" h="714375">
                <a:moveTo>
                  <a:pt x="0" y="0"/>
                </a:moveTo>
                <a:lnTo>
                  <a:pt x="0" y="228600"/>
                </a:lnTo>
                <a:lnTo>
                  <a:pt x="133350" y="357188"/>
                </a:lnTo>
                <a:lnTo>
                  <a:pt x="0" y="485775"/>
                </a:ln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6CDAE"/>
            </a:solidFill>
          </a:ln>
        </p:spPr>
      </p:sp>
      <p:sp>
        <p:nvSpPr>
          <p:cNvPr id="18" name="hf-113">
            <a:extLst xmlns:a="http://schemas.openxmlformats.org/drawingml/2006/main">
              <a:ext uri="{FF2B5EF4-FFF2-40B4-BE49-F238E27FC236}">
                <a16:creationId xmlns:a16="http://schemas.microsoft.com/office/drawing/2014/main" id="{AB72D544-8147-4134-99E8-5CEAEF3F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56698"/>
            <a:ext cx="541094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Быстрое, но неправильное решение</a:t>
            </a:r>
          </a:p>
        </p:txBody>
      </p:sp>
      <p:sp>
        <p:nvSpPr>
          <p:cNvPr id="19" name="hf-114">
            <a:extLst xmlns:a="http://schemas.openxmlformats.org/drawingml/2006/main">
              <a:ext uri="{FF2B5EF4-FFF2-40B4-BE49-F238E27FC236}">
                <a16:creationId xmlns:a16="http://schemas.microsoft.com/office/drawing/2014/main" id="{0F1484C7-0089-44D4-B044-B71CAC40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80548"/>
            <a:ext cx="34591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 турнире не участвует</a:t>
            </a:r>
          </a:p>
        </p:txBody>
      </p:sp>
      <p:pic>
        <p:nvPicPr>
          <p:cNvPr id="20" name="hf-115">
            <a:extLst xmlns:a="http://schemas.openxmlformats.org/drawingml/2006/main">
              <a:ext uri="{FF2B5EF4-FFF2-40B4-BE49-F238E27FC236}">
                <a16:creationId xmlns:a16="http://schemas.microsoft.com/office/drawing/2014/main" id="{A59DB49C-CF90-4827-B0DD-DF7828EC58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5e68f6cc4af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1" name="hf-116">
            <a:extLst xmlns:a="http://schemas.openxmlformats.org/drawingml/2006/main">
              <a:ext uri="{FF2B5EF4-FFF2-40B4-BE49-F238E27FC236}">
                <a16:creationId xmlns:a16="http://schemas.microsoft.com/office/drawing/2014/main" id="{A32899C0-3389-43E9-82CB-0364985C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04004223"/>
      </p:ext>
    </p:extLst>
  </p:cSld>
</p:sld>
</file>

<file path=ppt/slides/slide9.xml><?xml version="1.0" encoding="utf-8"?>
<p:sld xmlns:p="http://schemas.openxmlformats.org/presentationml/2006/main">
  <p:cSld name="curv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7">
            <a:extLst xmlns:a="http://schemas.openxmlformats.org/drawingml/2006/main">
              <a:ext uri="{FF2B5EF4-FFF2-40B4-BE49-F238E27FC236}">
                <a16:creationId xmlns:a16="http://schemas.microsoft.com/office/drawing/2014/main" id="{BA2329B4-42E5-414C-9BC5-AE7BDF53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97447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РАЗМЕР И ПАМЯТЬ</a:t>
            </a:r>
          </a:p>
        </p:txBody>
      </p:sp>
      <p:sp>
        <p:nvSpPr>
          <p:cNvPr id="3" name="hf-118">
            <a:extLst xmlns:a="http://schemas.openxmlformats.org/drawingml/2006/main">
              <a:ext uri="{FF2B5EF4-FFF2-40B4-BE49-F238E27FC236}">
                <a16:creationId xmlns:a16="http://schemas.microsoft.com/office/drawing/2014/main" id="{836A1C0D-CE87-4842-B076-AE68550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453866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ХЕШ ДОРОЖАЕТ ПОСЛЕ 512K</a:t>
            </a:r>
          </a:p>
        </p:txBody>
      </p:sp>
      <p:sp>
        <p:nvSpPr>
          <p:cNvPr id="4" name="hf-119">
            <a:extLst xmlns:a="http://schemas.openxmlformats.org/drawingml/2006/main">
              <a:ext uri="{FF2B5EF4-FFF2-40B4-BE49-F238E27FC236}">
                <a16:creationId xmlns:a16="http://schemas.microsoft.com/office/drawing/2014/main" id="{3817E595-E46C-4F63-B222-0046E07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5017"/>
            <a:ext cx="317085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нс на элемент · ниже — лучше</a:t>
            </a:r>
          </a:p>
        </p:txBody>
      </p:sp>
      <p:sp>
        <p:nvSpPr>
          <p:cNvPr id="5" name="hf-120">
            <a:extLst xmlns:a="http://schemas.openxmlformats.org/drawingml/2006/main">
              <a:ext uri="{FF2B5EF4-FFF2-40B4-BE49-F238E27FC236}">
                <a16:creationId xmlns:a16="http://schemas.microsoft.com/office/drawing/2014/main" id="{22507A41-717D-45F1-87E3-2E59BCB9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1705570"/>
            <a:ext cx="5697141" cy="953"/>
          </a:xfrm>
          <a:custGeom xmlns:a="http://schemas.openxmlformats.org/drawingml/2006/main">
            <a:pathLst>
              <a:path w="5697141" h="476">
                <a:moveTo>
                  <a:pt x="0" y="0"/>
                </a:moveTo>
                <a:lnTo>
                  <a:pt x="5697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6" name="hf-121">
            <a:extLst xmlns:a="http://schemas.openxmlformats.org/drawingml/2006/main">
              <a:ext uri="{FF2B5EF4-FFF2-40B4-BE49-F238E27FC236}">
                <a16:creationId xmlns:a16="http://schemas.microsoft.com/office/drawing/2014/main" id="{3CB4B9AF-1248-44B9-993B-29DA929A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2375297"/>
            <a:ext cx="5697141" cy="953"/>
          </a:xfrm>
          <a:custGeom xmlns:a="http://schemas.openxmlformats.org/drawingml/2006/main">
            <a:pathLst>
              <a:path w="5697141" h="476">
                <a:moveTo>
                  <a:pt x="0" y="0"/>
                </a:moveTo>
                <a:lnTo>
                  <a:pt x="5697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7" name="hf-122">
            <a:extLst xmlns:a="http://schemas.openxmlformats.org/drawingml/2006/main">
              <a:ext uri="{FF2B5EF4-FFF2-40B4-BE49-F238E27FC236}">
                <a16:creationId xmlns:a16="http://schemas.microsoft.com/office/drawing/2014/main" id="{7E75DE83-5974-4463-984B-99BA23B9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3045023"/>
            <a:ext cx="5697141" cy="953"/>
          </a:xfrm>
          <a:custGeom xmlns:a="http://schemas.openxmlformats.org/drawingml/2006/main">
            <a:pathLst>
              <a:path w="5697141" h="476">
                <a:moveTo>
                  <a:pt x="0" y="0"/>
                </a:moveTo>
                <a:lnTo>
                  <a:pt x="5697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8" name="hf-123">
            <a:extLst xmlns:a="http://schemas.openxmlformats.org/drawingml/2006/main">
              <a:ext uri="{FF2B5EF4-FFF2-40B4-BE49-F238E27FC236}">
                <a16:creationId xmlns:a16="http://schemas.microsoft.com/office/drawing/2014/main" id="{E9E86AEF-970A-44B9-810F-B86FDE65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3714750"/>
            <a:ext cx="5697141" cy="953"/>
          </a:xfrm>
          <a:custGeom xmlns:a="http://schemas.openxmlformats.org/drawingml/2006/main">
            <a:pathLst>
              <a:path w="5697141" h="476">
                <a:moveTo>
                  <a:pt x="0" y="0"/>
                </a:moveTo>
                <a:lnTo>
                  <a:pt x="5697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8F8F8F"/>
            </a:solidFill>
          </a:ln>
        </p:spPr>
      </p:sp>
      <p:sp>
        <p:nvSpPr>
          <p:cNvPr id="9" name="hf-124">
            <a:extLst xmlns:a="http://schemas.openxmlformats.org/drawingml/2006/main">
              <a:ext uri="{FF2B5EF4-FFF2-40B4-BE49-F238E27FC236}">
                <a16:creationId xmlns:a16="http://schemas.microsoft.com/office/drawing/2014/main" id="{54407CEA-6A79-405A-9105-FC3F498F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8867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60</a:t>
            </a:r>
          </a:p>
        </p:txBody>
      </p:sp>
      <p:sp>
        <p:nvSpPr>
          <p:cNvPr id="10" name="hf-125">
            <a:extLst xmlns:a="http://schemas.openxmlformats.org/drawingml/2006/main">
              <a:ext uri="{FF2B5EF4-FFF2-40B4-BE49-F238E27FC236}">
                <a16:creationId xmlns:a16="http://schemas.microsoft.com/office/drawing/2014/main" id="{23E524EA-8BBB-4762-B6C1-4CEF032C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03" y="2270379"/>
            <a:ext cx="31469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40</a:t>
            </a:r>
          </a:p>
        </p:txBody>
      </p:sp>
      <p:sp>
        <p:nvSpPr>
          <p:cNvPr id="11" name="hf-126">
            <a:extLst xmlns:a="http://schemas.openxmlformats.org/drawingml/2006/main">
              <a:ext uri="{FF2B5EF4-FFF2-40B4-BE49-F238E27FC236}">
                <a16:creationId xmlns:a16="http://schemas.microsoft.com/office/drawing/2014/main" id="{07856893-BC40-4F5D-B116-8262DFD7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8" y="2937129"/>
            <a:ext cx="29624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20</a:t>
            </a:r>
          </a:p>
        </p:txBody>
      </p:sp>
      <p:sp>
        <p:nvSpPr>
          <p:cNvPr id="12" name="hf-127">
            <a:extLst xmlns:a="http://schemas.openxmlformats.org/drawingml/2006/main">
              <a:ext uri="{FF2B5EF4-FFF2-40B4-BE49-F238E27FC236}">
                <a16:creationId xmlns:a16="http://schemas.microsoft.com/office/drawing/2014/main" id="{DF2B0DEF-B53B-4F32-B019-C6D7A082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35" y="3608642"/>
            <a:ext cx="18536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0</a:t>
            </a:r>
          </a:p>
        </p:txBody>
      </p:sp>
      <p:sp>
        <p:nvSpPr>
          <p:cNvPr id="13" name="hf-128">
            <a:extLst xmlns:a="http://schemas.openxmlformats.org/drawingml/2006/main">
              <a:ext uri="{FF2B5EF4-FFF2-40B4-BE49-F238E27FC236}">
                <a16:creationId xmlns:a16="http://schemas.microsoft.com/office/drawing/2014/main" id="{FC49F105-DA17-4383-A862-0276478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43" y="3799142"/>
            <a:ext cx="2491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16</a:t>
            </a:r>
          </a:p>
        </p:txBody>
      </p:sp>
      <p:sp>
        <p:nvSpPr>
          <p:cNvPr id="14" name="hf-129">
            <a:extLst xmlns:a="http://schemas.openxmlformats.org/drawingml/2006/main">
              <a:ext uri="{FF2B5EF4-FFF2-40B4-BE49-F238E27FC236}">
                <a16:creationId xmlns:a16="http://schemas.microsoft.com/office/drawing/2014/main" id="{C6363D31-7654-435C-B3C4-C1DC0F1F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520" y="3799142"/>
            <a:ext cx="26863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1K</a:t>
            </a:r>
          </a:p>
        </p:txBody>
      </p:sp>
      <p:sp>
        <p:nvSpPr>
          <p:cNvPr id="15" name="hf-130">
            <a:extLst xmlns:a="http://schemas.openxmlformats.org/drawingml/2006/main">
              <a:ext uri="{FF2B5EF4-FFF2-40B4-BE49-F238E27FC236}">
                <a16:creationId xmlns:a16="http://schemas.microsoft.com/office/drawing/2014/main" id="{1BEB9524-5C50-489E-9090-3AAE23E6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764" y="3799142"/>
            <a:ext cx="44492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64K</a:t>
            </a:r>
          </a:p>
        </p:txBody>
      </p:sp>
      <p:sp>
        <p:nvSpPr>
          <p:cNvPr id="16" name="hf-131">
            <a:extLst xmlns:a="http://schemas.openxmlformats.org/drawingml/2006/main">
              <a:ext uri="{FF2B5EF4-FFF2-40B4-BE49-F238E27FC236}">
                <a16:creationId xmlns:a16="http://schemas.microsoft.com/office/drawing/2014/main" id="{6016AC1D-76C1-486F-A4FE-D5DB37F6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295" y="3799142"/>
            <a:ext cx="490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512K</a:t>
            </a:r>
          </a:p>
        </p:txBody>
      </p:sp>
      <p:sp>
        <p:nvSpPr>
          <p:cNvPr id="17" name="hf-132">
            <a:extLst xmlns:a="http://schemas.openxmlformats.org/drawingml/2006/main">
              <a:ext uri="{FF2B5EF4-FFF2-40B4-BE49-F238E27FC236}">
                <a16:creationId xmlns:a16="http://schemas.microsoft.com/office/drawing/2014/main" id="{7E3D9EF5-7F9D-424B-8ED1-197A8CB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676" y="3799142"/>
            <a:ext cx="36842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4M</a:t>
            </a:r>
          </a:p>
        </p:txBody>
      </p:sp>
      <p:sp>
        <p:nvSpPr>
          <p:cNvPr id="18" name="hf-133">
            <a:extLst xmlns:a="http://schemas.openxmlformats.org/drawingml/2006/main">
              <a:ext uri="{FF2B5EF4-FFF2-40B4-BE49-F238E27FC236}">
                <a16:creationId xmlns:a16="http://schemas.microsoft.com/office/drawing/2014/main" id="{0CA15EB0-BCA6-4763-A480-9F593B17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31" y="4037267"/>
            <a:ext cx="139228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N, лог. шкала</a:t>
            </a:r>
          </a:p>
        </p:txBody>
      </p:sp>
      <p:sp>
        <p:nvSpPr>
          <p:cNvPr id="19" name="hf-134">
            <a:extLst xmlns:a="http://schemas.openxmlformats.org/drawingml/2006/main">
              <a:ext uri="{FF2B5EF4-FFF2-40B4-BE49-F238E27FC236}">
                <a16:creationId xmlns:a16="http://schemas.microsoft.com/office/drawing/2014/main" id="{3645E3BA-7F3F-41A7-80CF-5AC4BBE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8" y="2995017"/>
            <a:ext cx="5625703" cy="615256"/>
          </a:xfrm>
          <a:custGeom xmlns:a="http://schemas.openxmlformats.org/drawingml/2006/main">
            <a:pathLst>
              <a:path w="5625703" h="615256">
                <a:moveTo>
                  <a:pt x="0" y="615256"/>
                </a:moveTo>
                <a:lnTo>
                  <a:pt x="312539" y="594271"/>
                </a:lnTo>
                <a:lnTo>
                  <a:pt x="625078" y="531316"/>
                </a:lnTo>
                <a:lnTo>
                  <a:pt x="937617" y="409873"/>
                </a:lnTo>
                <a:lnTo>
                  <a:pt x="1250156" y="309414"/>
                </a:lnTo>
                <a:lnTo>
                  <a:pt x="1562695" y="263426"/>
                </a:lnTo>
                <a:lnTo>
                  <a:pt x="1875234" y="238423"/>
                </a:lnTo>
                <a:lnTo>
                  <a:pt x="2187773" y="208955"/>
                </a:lnTo>
                <a:lnTo>
                  <a:pt x="2500313" y="183952"/>
                </a:lnTo>
                <a:lnTo>
                  <a:pt x="2812852" y="179933"/>
                </a:lnTo>
                <a:lnTo>
                  <a:pt x="3125391" y="162967"/>
                </a:lnTo>
                <a:lnTo>
                  <a:pt x="3437930" y="141982"/>
                </a:lnTo>
                <a:lnTo>
                  <a:pt x="3750469" y="125462"/>
                </a:lnTo>
                <a:lnTo>
                  <a:pt x="4063008" y="100013"/>
                </a:lnTo>
                <a:lnTo>
                  <a:pt x="4375547" y="83493"/>
                </a:lnTo>
                <a:lnTo>
                  <a:pt x="4688086" y="62508"/>
                </a:lnTo>
                <a:lnTo>
                  <a:pt x="5000625" y="45988"/>
                </a:lnTo>
                <a:lnTo>
                  <a:pt x="5313164" y="20538"/>
                </a:ln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184">
            <a:solidFill>
              <a:srgbClr val="46CDAE"/>
            </a:solidFill>
          </a:ln>
        </p:spPr>
      </p:sp>
      <p:sp>
        <p:nvSpPr>
          <p:cNvPr id="20" name="hf-135">
            <a:extLst xmlns:a="http://schemas.openxmlformats.org/drawingml/2006/main">
              <a:ext uri="{FF2B5EF4-FFF2-40B4-BE49-F238E27FC236}">
                <a16:creationId xmlns:a16="http://schemas.microsoft.com/office/drawing/2014/main" id="{96916045-F134-40FE-AD3F-5FD08149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46642"/>
            <a:ext cx="1353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21" name="hf-136">
            <a:extLst xmlns:a="http://schemas.openxmlformats.org/drawingml/2006/main">
              <a:ext uri="{FF2B5EF4-FFF2-40B4-BE49-F238E27FC236}">
                <a16:creationId xmlns:a16="http://schemas.microsoft.com/office/drawing/2014/main" id="{CCC3E071-B6EA-4AB4-97D4-0A7AEA2C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8" y="1847999"/>
            <a:ext cx="5625703" cy="1464915"/>
          </a:xfrm>
          <a:custGeom xmlns:a="http://schemas.openxmlformats.org/drawingml/2006/main">
            <a:pathLst>
              <a:path w="5625703" h="1464915">
                <a:moveTo>
                  <a:pt x="0" y="1422946"/>
                </a:moveTo>
                <a:lnTo>
                  <a:pt x="312539" y="1464915"/>
                </a:lnTo>
                <a:lnTo>
                  <a:pt x="625078" y="1464915"/>
                </a:lnTo>
                <a:lnTo>
                  <a:pt x="937617" y="1439912"/>
                </a:lnTo>
                <a:lnTo>
                  <a:pt x="1250156" y="1427411"/>
                </a:lnTo>
                <a:lnTo>
                  <a:pt x="1562695" y="1427411"/>
                </a:lnTo>
                <a:lnTo>
                  <a:pt x="1875234" y="1418927"/>
                </a:lnTo>
                <a:lnTo>
                  <a:pt x="2187773" y="1380976"/>
                </a:lnTo>
                <a:lnTo>
                  <a:pt x="2500313" y="1368475"/>
                </a:lnTo>
                <a:lnTo>
                  <a:pt x="2812852" y="1343471"/>
                </a:lnTo>
                <a:lnTo>
                  <a:pt x="3125391" y="1314004"/>
                </a:lnTo>
                <a:lnTo>
                  <a:pt x="3437930" y="1289000"/>
                </a:lnTo>
                <a:lnTo>
                  <a:pt x="3750469" y="1280964"/>
                </a:lnTo>
                <a:lnTo>
                  <a:pt x="4063008" y="1280964"/>
                </a:lnTo>
                <a:lnTo>
                  <a:pt x="4375547" y="1272480"/>
                </a:lnTo>
                <a:lnTo>
                  <a:pt x="4688086" y="1243012"/>
                </a:lnTo>
                <a:lnTo>
                  <a:pt x="5000625" y="987623"/>
                </a:lnTo>
                <a:lnTo>
                  <a:pt x="5313164" y="523280"/>
                </a:ln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184">
            <a:solidFill>
              <a:srgbClr val="E2489B"/>
            </a:solidFill>
          </a:ln>
        </p:spPr>
      </p:sp>
      <p:sp>
        <p:nvSpPr>
          <p:cNvPr id="22" name="hf-137">
            <a:extLst xmlns:a="http://schemas.openxmlformats.org/drawingml/2006/main">
              <a:ext uri="{FF2B5EF4-FFF2-40B4-BE49-F238E27FC236}">
                <a16:creationId xmlns:a16="http://schemas.microsoft.com/office/drawing/2014/main" id="{0049B714-51C3-4800-A17A-9C2C8D21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67" y="1857375"/>
            <a:ext cx="53578" cy="1129605"/>
          </a:xfrm>
          <a:custGeom xmlns:a="http://schemas.openxmlformats.org/drawingml/2006/main">
            <a:pathLst>
              <a:path w="53578" h="1129605">
                <a:moveTo>
                  <a:pt x="0" y="0"/>
                </a:moveTo>
                <a:lnTo>
                  <a:pt x="19324" y="0"/>
                </a:lnTo>
                <a:lnTo>
                  <a:pt x="38649" y="0"/>
                </a:lnTo>
                <a:lnTo>
                  <a:pt x="53578" y="4395"/>
                </a:lnTo>
                <a:lnTo>
                  <a:pt x="53578" y="23719"/>
                </a:lnTo>
                <a:lnTo>
                  <a:pt x="53578" y="43044"/>
                </a:lnTo>
                <a:lnTo>
                  <a:pt x="53578" y="62368"/>
                </a:lnTo>
                <a:lnTo>
                  <a:pt x="53578" y="81693"/>
                </a:lnTo>
                <a:lnTo>
                  <a:pt x="53578" y="101017"/>
                </a:lnTo>
                <a:lnTo>
                  <a:pt x="53578" y="120341"/>
                </a:lnTo>
                <a:lnTo>
                  <a:pt x="53578" y="139666"/>
                </a:lnTo>
                <a:lnTo>
                  <a:pt x="53578" y="158990"/>
                </a:lnTo>
                <a:lnTo>
                  <a:pt x="53578" y="178315"/>
                </a:lnTo>
                <a:lnTo>
                  <a:pt x="53578" y="197639"/>
                </a:lnTo>
                <a:lnTo>
                  <a:pt x="53578" y="216964"/>
                </a:lnTo>
                <a:lnTo>
                  <a:pt x="53578" y="236288"/>
                </a:lnTo>
                <a:lnTo>
                  <a:pt x="53578" y="255612"/>
                </a:lnTo>
                <a:lnTo>
                  <a:pt x="53578" y="274937"/>
                </a:lnTo>
                <a:lnTo>
                  <a:pt x="53578" y="294261"/>
                </a:lnTo>
                <a:lnTo>
                  <a:pt x="53578" y="313586"/>
                </a:lnTo>
                <a:lnTo>
                  <a:pt x="53578" y="332910"/>
                </a:lnTo>
                <a:lnTo>
                  <a:pt x="53578" y="352234"/>
                </a:lnTo>
                <a:lnTo>
                  <a:pt x="53578" y="371559"/>
                </a:lnTo>
                <a:lnTo>
                  <a:pt x="53578" y="390883"/>
                </a:lnTo>
                <a:lnTo>
                  <a:pt x="53578" y="410208"/>
                </a:lnTo>
                <a:lnTo>
                  <a:pt x="53578" y="429532"/>
                </a:lnTo>
                <a:lnTo>
                  <a:pt x="53578" y="448856"/>
                </a:lnTo>
                <a:lnTo>
                  <a:pt x="53578" y="468181"/>
                </a:lnTo>
                <a:lnTo>
                  <a:pt x="53578" y="487505"/>
                </a:lnTo>
                <a:lnTo>
                  <a:pt x="53578" y="506830"/>
                </a:lnTo>
                <a:lnTo>
                  <a:pt x="53578" y="526154"/>
                </a:lnTo>
                <a:lnTo>
                  <a:pt x="53578" y="545478"/>
                </a:lnTo>
                <a:lnTo>
                  <a:pt x="53578" y="564803"/>
                </a:lnTo>
                <a:lnTo>
                  <a:pt x="53578" y="584127"/>
                </a:lnTo>
                <a:lnTo>
                  <a:pt x="53578" y="603452"/>
                </a:lnTo>
                <a:lnTo>
                  <a:pt x="53578" y="622776"/>
                </a:lnTo>
                <a:lnTo>
                  <a:pt x="53578" y="642100"/>
                </a:lnTo>
                <a:lnTo>
                  <a:pt x="53578" y="661425"/>
                </a:lnTo>
                <a:lnTo>
                  <a:pt x="53578" y="680749"/>
                </a:lnTo>
                <a:lnTo>
                  <a:pt x="53578" y="700074"/>
                </a:lnTo>
                <a:lnTo>
                  <a:pt x="53578" y="719398"/>
                </a:lnTo>
                <a:lnTo>
                  <a:pt x="53578" y="738722"/>
                </a:lnTo>
                <a:lnTo>
                  <a:pt x="53578" y="758047"/>
                </a:lnTo>
                <a:lnTo>
                  <a:pt x="53578" y="777371"/>
                </a:lnTo>
                <a:lnTo>
                  <a:pt x="53578" y="796696"/>
                </a:lnTo>
                <a:lnTo>
                  <a:pt x="53578" y="816020"/>
                </a:lnTo>
                <a:lnTo>
                  <a:pt x="53578" y="835344"/>
                </a:lnTo>
                <a:lnTo>
                  <a:pt x="53578" y="854669"/>
                </a:lnTo>
                <a:lnTo>
                  <a:pt x="53578" y="873993"/>
                </a:lnTo>
                <a:lnTo>
                  <a:pt x="53578" y="893318"/>
                </a:lnTo>
                <a:lnTo>
                  <a:pt x="53578" y="912642"/>
                </a:lnTo>
                <a:lnTo>
                  <a:pt x="53578" y="931966"/>
                </a:lnTo>
                <a:lnTo>
                  <a:pt x="53578" y="951291"/>
                </a:lnTo>
                <a:lnTo>
                  <a:pt x="53578" y="970615"/>
                </a:lnTo>
                <a:lnTo>
                  <a:pt x="53578" y="989940"/>
                </a:lnTo>
                <a:lnTo>
                  <a:pt x="53578" y="1009264"/>
                </a:lnTo>
                <a:lnTo>
                  <a:pt x="53578" y="1028588"/>
                </a:lnTo>
                <a:lnTo>
                  <a:pt x="53578" y="1047913"/>
                </a:lnTo>
                <a:lnTo>
                  <a:pt x="53578" y="1067237"/>
                </a:lnTo>
                <a:lnTo>
                  <a:pt x="53578" y="1086562"/>
                </a:lnTo>
                <a:lnTo>
                  <a:pt x="53578" y="1105886"/>
                </a:lnTo>
                <a:lnTo>
                  <a:pt x="53578" y="1125210"/>
                </a:lnTo>
                <a:lnTo>
                  <a:pt x="38649" y="1129605"/>
                </a:lnTo>
                <a:lnTo>
                  <a:pt x="19324" y="1129605"/>
                </a:lnTo>
                <a:lnTo>
                  <a:pt x="0" y="1129605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8F8F8F"/>
            </a:solidFill>
          </a:ln>
        </p:spPr>
      </p:sp>
      <p:sp>
        <p:nvSpPr>
          <p:cNvPr id="23" name="hf-138">
            <a:extLst xmlns:a="http://schemas.openxmlformats.org/drawingml/2006/main">
              <a:ext uri="{FF2B5EF4-FFF2-40B4-BE49-F238E27FC236}">
                <a16:creationId xmlns:a16="http://schemas.microsoft.com/office/drawing/2014/main" id="{6852567D-BC44-4421-B7DB-E4E5F785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3167"/>
            <a:ext cx="14899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24" name="hf-139">
            <a:extLst xmlns:a="http://schemas.openxmlformats.org/drawingml/2006/main">
              <a:ext uri="{FF2B5EF4-FFF2-40B4-BE49-F238E27FC236}">
                <a16:creationId xmlns:a16="http://schemas.microsoft.com/office/drawing/2014/main" id="{3C02E50A-ABA2-49C0-8013-82D428F3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1680"/>
            <a:ext cx="78945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7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×2,6</a:t>
            </a:r>
          </a:p>
        </p:txBody>
      </p:sp>
      <p:sp>
        <p:nvSpPr>
          <p:cNvPr id="25" name="hf-140">
            <a:extLst xmlns:a="http://schemas.openxmlformats.org/drawingml/2006/main">
              <a:ext uri="{FF2B5EF4-FFF2-40B4-BE49-F238E27FC236}">
                <a16:creationId xmlns:a16="http://schemas.microsoft.com/office/drawing/2014/main" id="{A17432B4-991D-4D83-9F20-5183AEA8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38" y="2687836"/>
            <a:ext cx="553641" cy="535781"/>
          </a:xfrm>
          <a:prstGeom xmlns:a="http://schemas.openxmlformats.org/drawingml/2006/main" prst="roundRect">
            <a:avLst>
              <a:gd name="adj" fmla="val 21333"/>
            </a:avLst>
          </a:prstGeom>
          <a:noFill xmlns:a="http://schemas.openxmlformats.org/drawingml/2006/main"/>
          <a:ln xmlns:a="http://schemas.openxmlformats.org/drawingml/2006/main" w="22324">
            <a:solidFill>
              <a:srgbClr val="46CDAE"/>
            </a:solidFill>
          </a:ln>
        </p:spPr>
      </p:sp>
      <p:sp>
        <p:nvSpPr>
          <p:cNvPr id="26" name="hf-141">
            <a:extLst xmlns:a="http://schemas.openxmlformats.org/drawingml/2006/main">
              <a:ext uri="{FF2B5EF4-FFF2-40B4-BE49-F238E27FC236}">
                <a16:creationId xmlns:a16="http://schemas.microsoft.com/office/drawing/2014/main" id="{EBB87627-80A9-45C8-AA2E-846AFC53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4286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hf-142">
            <a:extLst xmlns:a="http://schemas.openxmlformats.org/drawingml/2006/main">
              <a:ext uri="{FF2B5EF4-FFF2-40B4-BE49-F238E27FC236}">
                <a16:creationId xmlns:a16="http://schemas.microsoft.com/office/drawing/2014/main" id="{D7ED753D-709E-4CC6-9C8F-E197C4BD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1656017"/>
            <a:ext cx="305127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L2 P-кластера M2 Pro: 16 МиБ</a:t>
            </a:r>
          </a:p>
        </p:txBody>
      </p:sp>
      <p:sp>
        <p:nvSpPr>
          <p:cNvPr id="28" name="hf-143">
            <a:extLst xmlns:a="http://schemas.openxmlformats.org/drawingml/2006/main">
              <a:ext uri="{FF2B5EF4-FFF2-40B4-BE49-F238E27FC236}">
                <a16:creationId xmlns:a16="http://schemas.microsoft.com/office/drawing/2014/main" id="{949908BA-1672-4A41-AE7A-2569461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1956054"/>
            <a:ext cx="212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N</a:t>
            </a:r>
          </a:p>
        </p:txBody>
      </p:sp>
      <p:sp>
        <p:nvSpPr>
          <p:cNvPr id="29" name="hf-144">
            <a:extLst xmlns:a="http://schemas.openxmlformats.org/drawingml/2006/main">
              <a:ext uri="{FF2B5EF4-FFF2-40B4-BE49-F238E27FC236}">
                <a16:creationId xmlns:a16="http://schemas.microsoft.com/office/drawing/2014/main" id="{3B11E9E2-55BE-41B1-BCB1-C089A0A8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1956054"/>
            <a:ext cx="892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Таблица</a:t>
            </a:r>
          </a:p>
        </p:txBody>
      </p:sp>
      <p:sp>
        <p:nvSpPr>
          <p:cNvPr id="30" name="hf-145">
            <a:extLst xmlns:a="http://schemas.openxmlformats.org/drawingml/2006/main">
              <a:ext uri="{FF2B5EF4-FFF2-40B4-BE49-F238E27FC236}">
                <a16:creationId xmlns:a16="http://schemas.microsoft.com/office/drawing/2014/main" id="{98A45FE7-8B0F-417E-932C-2BEE05D4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956054"/>
            <a:ext cx="5413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Вход</a:t>
            </a:r>
          </a:p>
        </p:txBody>
      </p:sp>
      <p:sp>
        <p:nvSpPr>
          <p:cNvPr id="31" name="hf-146">
            <a:extLst xmlns:a="http://schemas.openxmlformats.org/drawingml/2006/main">
              <a:ext uri="{FF2B5EF4-FFF2-40B4-BE49-F238E27FC236}">
                <a16:creationId xmlns:a16="http://schemas.microsoft.com/office/drawing/2014/main" id="{63893D1C-9738-4B4F-B7C6-0C8E6296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2237042"/>
            <a:ext cx="49857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512K</a:t>
            </a:r>
          </a:p>
        </p:txBody>
      </p:sp>
      <p:sp>
        <p:nvSpPr>
          <p:cNvPr id="32" name="hf-147">
            <a:extLst xmlns:a="http://schemas.openxmlformats.org/drawingml/2006/main">
              <a:ext uri="{FF2B5EF4-FFF2-40B4-BE49-F238E27FC236}">
                <a16:creationId xmlns:a16="http://schemas.microsoft.com/office/drawing/2014/main" id="{48D5D7A3-CD97-4E1F-8DED-4D2EA383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2237042"/>
            <a:ext cx="87161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≈12 МиБ</a:t>
            </a:r>
          </a:p>
        </p:txBody>
      </p:sp>
      <p:sp>
        <p:nvSpPr>
          <p:cNvPr id="33" name="hf-148">
            <a:extLst xmlns:a="http://schemas.openxmlformats.org/drawingml/2006/main">
              <a:ext uri="{FF2B5EF4-FFF2-40B4-BE49-F238E27FC236}">
                <a16:creationId xmlns:a16="http://schemas.microsoft.com/office/drawing/2014/main" id="{31593B60-ED97-4DE1-A512-EA14B9DE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2237042"/>
            <a:ext cx="81647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+4 МиБ</a:t>
            </a:r>
          </a:p>
        </p:txBody>
      </p:sp>
      <p:sp>
        <p:nvSpPr>
          <p:cNvPr id="34" name="hf-149">
            <a:extLst xmlns:a="http://schemas.openxmlformats.org/drawingml/2006/main">
              <a:ext uri="{FF2B5EF4-FFF2-40B4-BE49-F238E27FC236}">
                <a16:creationId xmlns:a16="http://schemas.microsoft.com/office/drawing/2014/main" id="{76F3E11B-4C55-420A-B66F-D55CE1A3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2513267"/>
            <a:ext cx="31373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1M</a:t>
            </a:r>
          </a:p>
        </p:txBody>
      </p:sp>
      <p:sp>
        <p:nvSpPr>
          <p:cNvPr id="35" name="hf-150">
            <a:extLst xmlns:a="http://schemas.openxmlformats.org/drawingml/2006/main">
              <a:ext uri="{FF2B5EF4-FFF2-40B4-BE49-F238E27FC236}">
                <a16:creationId xmlns:a16="http://schemas.microsoft.com/office/drawing/2014/main" id="{7365253A-74D8-4DFE-BB29-9DCFD043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2513267"/>
            <a:ext cx="9262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≈24 МиБ</a:t>
            </a:r>
          </a:p>
        </p:txBody>
      </p:sp>
      <p:sp>
        <p:nvSpPr>
          <p:cNvPr id="36" name="hf-151">
            <a:extLst xmlns:a="http://schemas.openxmlformats.org/drawingml/2006/main">
              <a:ext uri="{FF2B5EF4-FFF2-40B4-BE49-F238E27FC236}">
                <a16:creationId xmlns:a16="http://schemas.microsoft.com/office/drawing/2014/main" id="{5CFD2391-E3C2-44AE-AA8D-D74284C4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2513267"/>
            <a:ext cx="81029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+8 МиБ</a:t>
            </a:r>
          </a:p>
        </p:txBody>
      </p:sp>
      <p:sp>
        <p:nvSpPr>
          <p:cNvPr id="37" name="hf-152">
            <a:extLst xmlns:a="http://schemas.openxmlformats.org/drawingml/2006/main">
              <a:ext uri="{FF2B5EF4-FFF2-40B4-BE49-F238E27FC236}">
                <a16:creationId xmlns:a16="http://schemas.microsoft.com/office/drawing/2014/main" id="{0340AD51-A8EC-4628-B99E-C29DE659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2799017"/>
            <a:ext cx="40372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Гипотеза о кэше. Промахи не измерены</a:t>
            </a:r>
          </a:p>
        </p:txBody>
      </p:sp>
      <p:pic>
        <p:nvPicPr>
          <p:cNvPr id="38" name="hf-153">
            <a:extLst xmlns:a="http://schemas.openxmlformats.org/drawingml/2006/main">
              <a:ext uri="{FF2B5EF4-FFF2-40B4-BE49-F238E27FC236}">
                <a16:creationId xmlns:a16="http://schemas.microsoft.com/office/drawing/2014/main" id="{EA5791CA-8820-40D8-A26D-2F248E8A11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47c83ce234e4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9" name="hf-154">
            <a:extLst xmlns:a="http://schemas.openxmlformats.org/drawingml/2006/main">
              <a:ext uri="{FF2B5EF4-FFF2-40B4-BE49-F238E27FC236}">
                <a16:creationId xmlns:a16="http://schemas.microsoft.com/office/drawing/2014/main" id="{EBF3FA65-A5A0-4140-95A5-CDBC2C4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83823493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.xml><?xml version="1.0" encoding="utf-8"?>
<p:sld xmlns:p="http://schemas.openxmlformats.org/presentationml/2006/main">
  <p:cSld name="node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55">
            <a:extLst xmlns:a="http://schemas.openxmlformats.org/drawingml/2006/main">
              <a:ext uri="{FF2B5EF4-FFF2-40B4-BE49-F238E27FC236}">
                <a16:creationId xmlns:a16="http://schemas.microsoft.com/office/drawing/2014/main" id="{B4ED04F1-12CB-4C88-9475-DFE40C0B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97447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РАЗМЕР И ПАМЯТЬ</a:t>
            </a:r>
          </a:p>
        </p:txBody>
      </p:sp>
      <p:sp>
        <p:nvSpPr>
          <p:cNvPr id="3" name="hf-156">
            <a:extLst xmlns:a="http://schemas.openxmlformats.org/drawingml/2006/main">
              <a:ext uri="{FF2B5EF4-FFF2-40B4-BE49-F238E27FC236}">
                <a16:creationId xmlns:a16="http://schemas.microsoft.com/office/drawing/2014/main" id="{C4CDD18C-75EE-4D83-8FDE-A742306A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21878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УЗЛЫ СТОЯТ АЛЛОКАЦИЙ И ПРЫЖКОВ</a:t>
            </a:r>
          </a:p>
        </p:txBody>
      </p:sp>
      <p:sp>
        <p:nvSpPr>
          <p:cNvPr id="4" name="hf-157">
            <a:extLst xmlns:a="http://schemas.openxmlformats.org/drawingml/2006/main">
              <a:ext uri="{FF2B5EF4-FFF2-40B4-BE49-F238E27FC236}">
                <a16:creationId xmlns:a16="http://schemas.microsoft.com/office/drawing/2014/main" id="{AFD61F15-9127-4E93-99E2-378A2A45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3931"/>
            <a:ext cx="15070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sort + unique</a:t>
            </a:r>
          </a:p>
        </p:txBody>
      </p:sp>
      <p:sp>
        <p:nvSpPr>
          <p:cNvPr id="5" name="hf-158">
            <a:extLst xmlns:a="http://schemas.openxmlformats.org/drawingml/2006/main">
              <a:ext uri="{FF2B5EF4-FFF2-40B4-BE49-F238E27FC236}">
                <a16:creationId xmlns:a16="http://schemas.microsoft.com/office/drawing/2014/main" id="{48871BC8-9FF9-4FEE-948B-21F6BD5B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32192"/>
            <a:ext cx="166605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vector&lt;uint64_t&gt;</a:t>
            </a:r>
          </a:p>
        </p:txBody>
      </p:sp>
      <p:sp>
        <p:nvSpPr>
          <p:cNvPr id="6" name="hf-159">
            <a:extLst xmlns:a="http://schemas.openxmlformats.org/drawingml/2006/main">
              <a:ext uri="{FF2B5EF4-FFF2-40B4-BE49-F238E27FC236}">
                <a16:creationId xmlns:a16="http://schemas.microsoft.com/office/drawing/2014/main" id="{5D5A5101-E1DB-4946-B7C5-022D3EFB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1866900"/>
            <a:ext cx="30670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7" name="hf-160">
            <a:extLst xmlns:a="http://schemas.openxmlformats.org/drawingml/2006/main">
              <a:ext uri="{FF2B5EF4-FFF2-40B4-BE49-F238E27FC236}">
                <a16:creationId xmlns:a16="http://schemas.microsoft.com/office/drawing/2014/main" id="{616E0B3D-C296-448D-BBCA-F97119B4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8" name="hf-161">
            <a:extLst xmlns:a="http://schemas.openxmlformats.org/drawingml/2006/main">
              <a:ext uri="{FF2B5EF4-FFF2-40B4-BE49-F238E27FC236}">
                <a16:creationId xmlns:a16="http://schemas.microsoft.com/office/drawing/2014/main" id="{1A6715DE-A589-4B26-B2D0-51CF2BE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9" name="hf-162">
            <a:extLst xmlns:a="http://schemas.openxmlformats.org/drawingml/2006/main">
              <a:ext uri="{FF2B5EF4-FFF2-40B4-BE49-F238E27FC236}">
                <a16:creationId xmlns:a16="http://schemas.microsoft.com/office/drawing/2014/main" id="{A77DEDE9-33DB-46A8-AEF1-AFEBF58F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881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0" name="hf-163">
            <a:extLst xmlns:a="http://schemas.openxmlformats.org/drawingml/2006/main">
              <a:ext uri="{FF2B5EF4-FFF2-40B4-BE49-F238E27FC236}">
                <a16:creationId xmlns:a16="http://schemas.microsoft.com/office/drawing/2014/main" id="{51874B49-9E2D-4F1D-9A17-0226BFF5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3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1" name="hf-164">
            <a:extLst xmlns:a="http://schemas.openxmlformats.org/drawingml/2006/main">
              <a:ext uri="{FF2B5EF4-FFF2-40B4-BE49-F238E27FC236}">
                <a16:creationId xmlns:a16="http://schemas.microsoft.com/office/drawing/2014/main" id="{5AA7681A-344D-44BC-9E26-28F57D45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644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2" name="hf-165">
            <a:extLst xmlns:a="http://schemas.openxmlformats.org/drawingml/2006/main">
              <a:ext uri="{FF2B5EF4-FFF2-40B4-BE49-F238E27FC236}">
                <a16:creationId xmlns:a16="http://schemas.microsoft.com/office/drawing/2014/main" id="{AAA6AD1E-AD2B-4051-B66B-394C044C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3" name="hf-166">
            <a:extLst xmlns:a="http://schemas.openxmlformats.org/drawingml/2006/main">
              <a:ext uri="{FF2B5EF4-FFF2-40B4-BE49-F238E27FC236}">
                <a16:creationId xmlns:a16="http://schemas.microsoft.com/office/drawing/2014/main" id="{705CCDE8-85DD-4C56-95DD-323A98D9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406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4" name="hf-167">
            <a:extLst xmlns:a="http://schemas.openxmlformats.org/drawingml/2006/main">
              <a:ext uri="{FF2B5EF4-FFF2-40B4-BE49-F238E27FC236}">
                <a16:creationId xmlns:a16="http://schemas.microsoft.com/office/drawing/2014/main" id="{A5914713-0868-47EB-81D7-72CAF821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69293"/>
            <a:ext cx="22458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 Б на ключ, подряд</a:t>
            </a:r>
          </a:p>
        </p:txBody>
      </p:sp>
      <p:pic>
        <p:nvPicPr>
          <p:cNvPr id="25" name="hf-168-poster">
            <a:extLst xmlns:a="http://schemas.openxmlformats.org/drawingml/2006/main">
              <a:ext uri="{FF2B5EF4-FFF2-40B4-BE49-F238E27FC236}">
                <a16:creationId xmlns:a16="http://schemas.microsoft.com/office/drawing/2014/main" id="{62CEFF40-840B-498B-B708-5E1AC861A7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6f7bdddea4f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82416" y="1428750"/>
            <a:ext cx="4046293" cy="2238375"/>
          </a:xfrm>
          <a:prstGeom xmlns:a="http://schemas.openxmlformats.org/drawingml/2006/main" prst="rect">
            <a:avLst/>
          </a:prstGeom>
        </p:spPr>
      </p:pic>
      <p:pic>
        <p:nvPicPr>
          <p:cNvPr id="15" name="hf-168">
            <a:extLst xmlns:a="http://schemas.openxmlformats.org/drawingml/2006/main">
              <a:ext uri="{FF2B5EF4-FFF2-40B4-BE49-F238E27FC236}">
                <a16:creationId xmlns:a16="http://schemas.microsoft.com/office/drawing/2014/main" id="{62CEFF40-840B-498B-B708-5E1AC861A755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HFvideo2"/>
            <p:extLst>
              <p:ext uri="{DAA4B4D4-6D71-4841-9C94-3DE7FCFB1B01}">
                <ns3:media xmlns:ns3="http://schemas.microsoft.com/office/powerpoint/2010/main" xmlns:ns4="http://schemas.openxmlformats.org/officeDocument/2006/relationships" ns4:embed="rIdHFmedia2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00d6f7bdddea4f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82416" y="1428750"/>
            <a:ext cx="4046293" cy="2238375"/>
          </a:xfrm>
          <a:prstGeom xmlns:a="http://schemas.openxmlformats.org/drawingml/2006/main" prst="rect">
            <a:avLst/>
          </a:prstGeom>
        </p:spPr>
      </p:pic>
      <p:sp>
        <p:nvSpPr>
          <p:cNvPr id="16" name="hf-169">
            <a:extLst xmlns:a="http://schemas.openxmlformats.org/drawingml/2006/main">
              <a:ext uri="{FF2B5EF4-FFF2-40B4-BE49-F238E27FC236}">
                <a16:creationId xmlns:a16="http://schemas.microsoft.com/office/drawing/2014/main" id="{08215180-71E2-4A30-A2FB-E0D8CAD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73931"/>
            <a:ext cx="165727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</a:p>
        </p:txBody>
      </p:sp>
      <p:sp>
        <p:nvSpPr>
          <p:cNvPr id="17" name="hf-170">
            <a:extLst xmlns:a="http://schemas.openxmlformats.org/drawingml/2006/main">
              <a:ext uri="{FF2B5EF4-FFF2-40B4-BE49-F238E27FC236}">
                <a16:creationId xmlns:a16="http://schemas.microsoft.com/office/drawing/2014/main" id="{3A62A5EC-E4B3-49DB-A51A-23D83036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40793"/>
            <a:ext cx="277274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65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Узлы: адрес следующего</a:t>
            </a:r>
          </a:p>
        </p:txBody>
      </p:sp>
      <p:sp>
        <p:nvSpPr>
          <p:cNvPr id="18" name="hf-171">
            <a:extLst xmlns:a="http://schemas.openxmlformats.org/drawingml/2006/main">
              <a:ext uri="{FF2B5EF4-FFF2-40B4-BE49-F238E27FC236}">
                <a16:creationId xmlns:a16="http://schemas.microsoft.com/office/drawing/2014/main" id="{912198B0-7BF5-4887-9B1F-A00052FF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17018"/>
            <a:ext cx="343182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65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узнаём после чтения текущего</a:t>
            </a:r>
          </a:p>
        </p:txBody>
      </p:sp>
      <p:sp>
        <p:nvSpPr>
          <p:cNvPr id="19" name="hf-172">
            <a:extLst xmlns:a="http://schemas.openxmlformats.org/drawingml/2006/main">
              <a:ext uri="{FF2B5EF4-FFF2-40B4-BE49-F238E27FC236}">
                <a16:creationId xmlns:a16="http://schemas.microsoft.com/office/drawing/2014/main" id="{38186D63-65AC-4EA1-BBEA-514DCE9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01904"/>
            <a:ext cx="1613371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125"/>
              </a:lnSpc>
              <a:buNone/>
            </a:pPr>
            <a:r>
              <a:rPr sz="37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0 new</a:t>
            </a:r>
          </a:p>
        </p:txBody>
      </p:sp>
      <p:sp>
        <p:nvSpPr>
          <p:cNvPr id="20" name="hf-173">
            <a:extLst xmlns:a="http://schemas.openxmlformats.org/drawingml/2006/main">
              <a:ext uri="{FF2B5EF4-FFF2-40B4-BE49-F238E27FC236}">
                <a16:creationId xmlns:a16="http://schemas.microsoft.com/office/drawing/2014/main" id="{092184B7-58BE-49EA-A24B-99D1EB5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01904"/>
            <a:ext cx="2959894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125"/>
              </a:lnSpc>
              <a:buNone/>
            </a:pPr>
            <a:r>
              <a:rPr sz="375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≈1 млн new</a:t>
            </a:r>
          </a:p>
        </p:txBody>
      </p:sp>
      <p:sp>
        <p:nvSpPr>
          <p:cNvPr id="21" name="hf-174">
            <a:extLst xmlns:a="http://schemas.openxmlformats.org/drawingml/2006/main">
              <a:ext uri="{FF2B5EF4-FFF2-40B4-BE49-F238E27FC236}">
                <a16:creationId xmlns:a16="http://schemas.microsoft.com/office/drawing/2014/main" id="{8C1A884B-D0B4-4076-A41F-6BF1AF7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32542"/>
            <a:ext cx="2851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Вход готов. N = U = 2²⁰, libc++</a:t>
            </a:r>
          </a:p>
        </p:txBody>
      </p:sp>
      <p:sp>
        <p:nvSpPr>
          <p:cNvPr id="22" name="hf-175">
            <a:extLst xmlns:a="http://schemas.openxmlformats.org/drawingml/2006/main">
              <a:ext uri="{FF2B5EF4-FFF2-40B4-BE49-F238E27FC236}">
                <a16:creationId xmlns:a16="http://schemas.microsoft.com/office/drawing/2014/main" id="{9906C291-75C9-4FC6-B9FA-AEBF47B0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2542"/>
            <a:ext cx="298958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≈42 МБ с округлением malloc</a:t>
            </a:r>
          </a:p>
        </p:txBody>
      </p:sp>
      <p:pic>
        <p:nvPicPr>
          <p:cNvPr id="23" name="hf-176">
            <a:extLst xmlns:a="http://schemas.openxmlformats.org/drawingml/2006/main">
              <a:ext uri="{FF2B5EF4-FFF2-40B4-BE49-F238E27FC236}">
                <a16:creationId xmlns:a16="http://schemas.microsoft.com/office/drawing/2014/main" id="{97AEF7BD-3772-4D97-A4BF-A7A14649D6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10c56b653423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4" name="hf-177">
            <a:extLst xmlns:a="http://schemas.openxmlformats.org/drawingml/2006/main">
              <a:ext uri="{FF2B5EF4-FFF2-40B4-BE49-F238E27FC236}">
                <a16:creationId xmlns:a16="http://schemas.microsoft.com/office/drawing/2014/main" id="{B9B0D0F1-B87E-4D08-B867-D07EB095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974523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7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6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p="http://schemas.openxmlformats.org/presentationml/2006/main">
  <p:cSld name="memory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78">
            <a:extLst xmlns:a="http://schemas.openxmlformats.org/drawingml/2006/main">
              <a:ext uri="{FF2B5EF4-FFF2-40B4-BE49-F238E27FC236}">
                <a16:creationId xmlns:a16="http://schemas.microsoft.com/office/drawing/2014/main" id="{2C66B319-096F-47F2-838C-4369FDE1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97447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РАЗМЕР И ПАМЯТЬ</a:t>
            </a:r>
          </a:p>
        </p:txBody>
      </p:sp>
      <p:sp>
        <p:nvSpPr>
          <p:cNvPr id="3" name="hf-179">
            <a:extLst xmlns:a="http://schemas.openxmlformats.org/drawingml/2006/main">
              <a:ext uri="{FF2B5EF4-FFF2-40B4-BE49-F238E27FC236}">
                <a16:creationId xmlns:a16="http://schemas.microsoft.com/office/drawing/2014/main" id="{D38F84AC-5E60-4B9A-8267-A62A244C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82228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ПРОЦЕССОР МОЖЕТ ЖДАТЬ КАЖДЫЙ ШАГ</a:t>
            </a:r>
          </a:p>
        </p:txBody>
      </p:sp>
      <p:pic>
        <p:nvPicPr>
          <p:cNvPr id="10" name="hf-180-poster">
            <a:extLst xmlns:a="http://schemas.openxmlformats.org/drawingml/2006/main">
              <a:ext uri="{FF2B5EF4-FFF2-40B4-BE49-F238E27FC236}">
                <a16:creationId xmlns:a16="http://schemas.microsoft.com/office/drawing/2014/main" id="{079C453E-E5E8-4689-A672-457091BD1B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e46f68817404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76375" y="1548089"/>
            <a:ext cx="6191250" cy="3023634"/>
          </a:xfrm>
          <a:prstGeom xmlns:a="http://schemas.openxmlformats.org/drawingml/2006/main" prst="rect">
            <a:avLst/>
          </a:prstGeom>
        </p:spPr>
      </p:pic>
      <p:pic>
        <p:nvPicPr>
          <p:cNvPr id="4" name="hf-180">
            <a:extLst xmlns:a="http://schemas.openxmlformats.org/drawingml/2006/main">
              <a:ext uri="{FF2B5EF4-FFF2-40B4-BE49-F238E27FC236}">
                <a16:creationId xmlns:a16="http://schemas.microsoft.com/office/drawing/2014/main" id="{079C453E-E5E8-4689-A672-457091BD1BDD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HFvideo3"/>
            <p:extLst>
              <p:ext uri="{DAA4B4D4-6D71-4841-9C94-3DE7FCFB1B01}">
                <ns3:media xmlns:ns3="http://schemas.microsoft.com/office/powerpoint/2010/main" xmlns:ns4="http://schemas.openxmlformats.org/officeDocument/2006/relationships" ns4:embed="rIdHFmedia3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ffce46f68817404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76375" y="1548089"/>
            <a:ext cx="6191250" cy="3023634"/>
          </a:xfrm>
          <a:prstGeom xmlns:a="http://schemas.openxmlformats.org/drawingml/2006/main" prst="rect">
            <a:avLst/>
          </a:prstGeom>
        </p:spPr>
      </p:pic>
      <p:sp>
        <p:nvSpPr>
          <p:cNvPr id="5" name="hf-181">
            <a:extLst xmlns:a="http://schemas.openxmlformats.org/drawingml/2006/main">
              <a:ext uri="{FF2B5EF4-FFF2-40B4-BE49-F238E27FC236}">
                <a16:creationId xmlns:a16="http://schemas.microsoft.com/office/drawing/2014/main" id="{D1A19A3A-C1D6-4F8D-85ED-A7151F11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110920"/>
            <a:ext cx="53692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Время ≈ N × шагов на элемент × </a:t>
            </a:r>
            <a:r>
              <a:rPr sz="18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цена шага</a:t>
            </a:r>
          </a:p>
        </p:txBody>
      </p:sp>
      <p:sp>
        <p:nvSpPr>
          <p:cNvPr id="6" name="hf-182">
            <a:extLst xmlns:a="http://schemas.openxmlformats.org/drawingml/2006/main">
              <a:ext uri="{FF2B5EF4-FFF2-40B4-BE49-F238E27FC236}">
                <a16:creationId xmlns:a16="http://schemas.microsoft.com/office/drawing/2014/main" id="{F9C392BA-FB3A-4BAC-B0F6-48324274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46467"/>
            <a:ext cx="725529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Упрощённая модель: число шагов растёт, цена шага зависит от машины</a:t>
            </a:r>
          </a:p>
        </p:txBody>
      </p:sp>
      <p:sp>
        <p:nvSpPr>
          <p:cNvPr id="7" name="hf-183">
            <a:extLst xmlns:a="http://schemas.openxmlformats.org/drawingml/2006/main">
              <a:ext uri="{FF2B5EF4-FFF2-40B4-BE49-F238E27FC236}">
                <a16:creationId xmlns:a16="http://schemas.microsoft.com/office/drawing/2014/main" id="{EAC1F016-30B9-46AB-B524-0AC2600B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70629"/>
            <a:ext cx="690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Независимые чтения перекрываются. Зависимые ждут друг друга</a:t>
            </a:r>
          </a:p>
        </p:txBody>
      </p:sp>
      <p:pic>
        <p:nvPicPr>
          <p:cNvPr id="8" name="hf-184">
            <a:extLst xmlns:a="http://schemas.openxmlformats.org/drawingml/2006/main">
              <a:ext uri="{FF2B5EF4-FFF2-40B4-BE49-F238E27FC236}">
                <a16:creationId xmlns:a16="http://schemas.microsoft.com/office/drawing/2014/main" id="{84882D1A-4D3B-4EE8-9334-7BCD26E45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9236819074c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9" name="hf-185">
            <a:extLst xmlns:a="http://schemas.openxmlformats.org/drawingml/2006/main">
              <a:ext uri="{FF2B5EF4-FFF2-40B4-BE49-F238E27FC236}">
                <a16:creationId xmlns:a16="http://schemas.microsoft.com/office/drawing/2014/main" id="{62BF5435-DBE8-4C92-BC47-9479E382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34627852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7" grpId="0" animBg="1"/>
    </p:bldLst>
  </p:timing>
</p:sld>
</file>

<file path=ppt/slides/slide12.xml><?xml version="1.0" encoding="utf-8"?>
<p:sld xmlns:p="http://schemas.openxmlformats.org/presentationml/2006/main">
  <p:cSld name="flatmin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86">
            <a:extLst xmlns:a="http://schemas.openxmlformats.org/drawingml/2006/main">
              <a:ext uri="{FF2B5EF4-FFF2-40B4-BE49-F238E27FC236}">
                <a16:creationId xmlns:a16="http://schemas.microsoft.com/office/drawing/2014/main" id="{1E05B02D-E8BB-4C38-8B5A-10CC12D3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309056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РЕАЛИЗАЦИЯ ХЕША</a:t>
            </a:r>
          </a:p>
        </p:txBody>
      </p:sp>
      <p:sp>
        <p:nvSpPr>
          <p:cNvPr id="3" name="hf-187">
            <a:extLst xmlns:a="http://schemas.openxmlformats.org/drawingml/2006/main">
              <a:ext uri="{FF2B5EF4-FFF2-40B4-BE49-F238E27FC236}">
                <a16:creationId xmlns:a16="http://schemas.microsoft.com/office/drawing/2014/main" id="{08159653-1021-4BD9-859F-D9491DC3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41828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ПЛОСКАЯ ТАБЛИЦА: КЛЮЧИ В МАССИВЕ</a:t>
            </a:r>
          </a:p>
        </p:txBody>
      </p:sp>
      <p:sp>
        <p:nvSpPr>
          <p:cNvPr id="4" name="hf-188">
            <a:extLst xmlns:a="http://schemas.openxmlformats.org/drawingml/2006/main">
              <a:ext uri="{FF2B5EF4-FFF2-40B4-BE49-F238E27FC236}">
                <a16:creationId xmlns:a16="http://schemas.microsoft.com/office/drawing/2014/main" id="{83028920-7DF2-4DFF-AA34-1E2CCC12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16806"/>
            <a:ext cx="165727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</a:p>
        </p:txBody>
      </p:sp>
      <p:sp>
        <p:nvSpPr>
          <p:cNvPr id="5" name="hf-189">
            <a:extLst xmlns:a="http://schemas.openxmlformats.org/drawingml/2006/main">
              <a:ext uri="{FF2B5EF4-FFF2-40B4-BE49-F238E27FC236}">
                <a16:creationId xmlns:a16="http://schemas.microsoft.com/office/drawing/2014/main" id="{66F1D030-21DD-45FA-86A9-7A4CD1C6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48" y="1914213"/>
            <a:ext cx="2201915" cy="313243"/>
          </a:xfrm>
          <a:prstGeom xmlns:a="http://schemas.openxmlformats.org/drawingml/2006/main" prst="roundRect">
            <a:avLst>
              <a:gd name="adj" fmla="val 12163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6" name="hf-190">
            <a:extLst xmlns:a="http://schemas.openxmlformats.org/drawingml/2006/main">
              <a:ext uri="{FF2B5EF4-FFF2-40B4-BE49-F238E27FC236}">
                <a16:creationId xmlns:a16="http://schemas.microsoft.com/office/drawing/2014/main" id="{98C8F50A-1915-4850-AB09-14A3E8FD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63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7" name="hf-191">
            <a:extLst xmlns:a="http://schemas.openxmlformats.org/drawingml/2006/main">
              <a:ext uri="{FF2B5EF4-FFF2-40B4-BE49-F238E27FC236}">
                <a16:creationId xmlns:a16="http://schemas.microsoft.com/office/drawing/2014/main" id="{D41B985E-8934-4578-A779-F0AAF4DA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85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8" name="hf-192">
            <a:extLst xmlns:a="http://schemas.openxmlformats.org/drawingml/2006/main">
              <a:ext uri="{FF2B5EF4-FFF2-40B4-BE49-F238E27FC236}">
                <a16:creationId xmlns:a16="http://schemas.microsoft.com/office/drawing/2014/main" id="{AE42E15F-36BA-4801-94BE-4E93BEFD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06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9" name="hf-193">
            <a:extLst xmlns:a="http://schemas.openxmlformats.org/drawingml/2006/main">
              <a:ext uri="{FF2B5EF4-FFF2-40B4-BE49-F238E27FC236}">
                <a16:creationId xmlns:a16="http://schemas.microsoft.com/office/drawing/2014/main" id="{0F6BCE42-A8F4-4881-93D6-7339F0B7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927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10" name="hf-194">
            <a:extLst xmlns:a="http://schemas.openxmlformats.org/drawingml/2006/main">
              <a:ext uri="{FF2B5EF4-FFF2-40B4-BE49-F238E27FC236}">
                <a16:creationId xmlns:a16="http://schemas.microsoft.com/office/drawing/2014/main" id="{49D7CBA6-D9B9-493D-BA8C-498FE7E4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449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11" name="hf-195">
            <a:extLst xmlns:a="http://schemas.openxmlformats.org/drawingml/2006/main">
              <a:ext uri="{FF2B5EF4-FFF2-40B4-BE49-F238E27FC236}">
                <a16:creationId xmlns:a16="http://schemas.microsoft.com/office/drawing/2014/main" id="{F662DC8A-F90F-403B-B106-248BCFA0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88" y="2715747"/>
            <a:ext cx="589634" cy="294817"/>
          </a:xfrm>
          <a:prstGeom xmlns:a="http://schemas.openxmlformats.org/drawingml/2006/main" prst="roundRect">
            <a:avLst>
              <a:gd name="adj" fmla="val 1615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2" name="hf-196">
            <a:extLst xmlns:a="http://schemas.openxmlformats.org/drawingml/2006/main">
              <a:ext uri="{FF2B5EF4-FFF2-40B4-BE49-F238E27FC236}">
                <a16:creationId xmlns:a16="http://schemas.microsoft.com/office/drawing/2014/main" id="{DA76EC3E-CE88-428D-A449-7D2E9AC5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03" y="2070835"/>
            <a:ext cx="133589" cy="617273"/>
          </a:xfrm>
          <a:custGeom xmlns:a="http://schemas.openxmlformats.org/drawingml/2006/main">
            <a:pathLst>
              <a:path w="133589" h="617273">
                <a:moveTo>
                  <a:pt x="0" y="0"/>
                </a:moveTo>
                <a:lnTo>
                  <a:pt x="133589" y="617273"/>
                </a:lnTo>
              </a:path>
            </a:pathLst>
          </a:custGeom>
          <a:noFill xmlns:a="http://schemas.openxmlformats.org/drawingml/2006/main"/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3" name="hf-197">
            <a:extLst xmlns:a="http://schemas.openxmlformats.org/drawingml/2006/main">
              <a:ext uri="{FF2B5EF4-FFF2-40B4-BE49-F238E27FC236}">
                <a16:creationId xmlns:a16="http://schemas.microsoft.com/office/drawing/2014/main" id="{6E3C4400-F02C-41B4-91F7-38F9399F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50" y="2033982"/>
            <a:ext cx="73704" cy="73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4607">
            <a:noFill/>
          </a:ln>
        </p:spPr>
      </p:sp>
      <p:sp>
        <p:nvSpPr>
          <p:cNvPr id="14" name="hf-198">
            <a:extLst xmlns:a="http://schemas.openxmlformats.org/drawingml/2006/main">
              <a:ext uri="{FF2B5EF4-FFF2-40B4-BE49-F238E27FC236}">
                <a16:creationId xmlns:a16="http://schemas.microsoft.com/office/drawing/2014/main" id="{B84D98C7-1D47-4545-A5A5-BF34A37B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095" y="2973712"/>
            <a:ext cx="589634" cy="294817"/>
          </a:xfrm>
          <a:prstGeom xmlns:a="http://schemas.openxmlformats.org/drawingml/2006/main" prst="roundRect">
            <a:avLst>
              <a:gd name="adj" fmla="val 1615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5" name="hf-199">
            <a:extLst xmlns:a="http://schemas.openxmlformats.org/drawingml/2006/main">
              <a:ext uri="{FF2B5EF4-FFF2-40B4-BE49-F238E27FC236}">
                <a16:creationId xmlns:a16="http://schemas.microsoft.com/office/drawing/2014/main" id="{6CCE563D-3F91-46C1-B74F-9309C661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45" y="2070835"/>
            <a:ext cx="363915" cy="875238"/>
          </a:xfrm>
          <a:custGeom xmlns:a="http://schemas.openxmlformats.org/drawingml/2006/main">
            <a:pathLst>
              <a:path w="363915" h="875238">
                <a:moveTo>
                  <a:pt x="0" y="0"/>
                </a:moveTo>
                <a:lnTo>
                  <a:pt x="363915" y="875238"/>
                </a:lnTo>
              </a:path>
            </a:pathLst>
          </a:custGeom>
          <a:noFill xmlns:a="http://schemas.openxmlformats.org/drawingml/2006/main"/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6" name="hf-200">
            <a:extLst xmlns:a="http://schemas.openxmlformats.org/drawingml/2006/main">
              <a:ext uri="{FF2B5EF4-FFF2-40B4-BE49-F238E27FC236}">
                <a16:creationId xmlns:a16="http://schemas.microsoft.com/office/drawing/2014/main" id="{86003190-8970-4EA7-AA08-06B41C4F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93" y="2033982"/>
            <a:ext cx="73704" cy="73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4607">
            <a:noFill/>
          </a:ln>
        </p:spPr>
      </p:sp>
      <p:sp>
        <p:nvSpPr>
          <p:cNvPr id="17" name="hf-201">
            <a:extLst xmlns:a="http://schemas.openxmlformats.org/drawingml/2006/main">
              <a:ext uri="{FF2B5EF4-FFF2-40B4-BE49-F238E27FC236}">
                <a16:creationId xmlns:a16="http://schemas.microsoft.com/office/drawing/2014/main" id="{9786D066-2750-4A68-90C4-7B3F407E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63" y="2595978"/>
            <a:ext cx="589634" cy="294817"/>
          </a:xfrm>
          <a:prstGeom xmlns:a="http://schemas.openxmlformats.org/drawingml/2006/main" prst="roundRect">
            <a:avLst>
              <a:gd name="adj" fmla="val 1615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8" name="hf-202">
            <a:extLst xmlns:a="http://schemas.openxmlformats.org/drawingml/2006/main">
              <a:ext uri="{FF2B5EF4-FFF2-40B4-BE49-F238E27FC236}">
                <a16:creationId xmlns:a16="http://schemas.microsoft.com/office/drawing/2014/main" id="{58CF5508-3E60-4EBE-8ABC-AABAE6F4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709" y="2070835"/>
            <a:ext cx="409980" cy="497504"/>
          </a:xfrm>
          <a:custGeom xmlns:a="http://schemas.openxmlformats.org/drawingml/2006/main">
            <a:pathLst>
              <a:path w="409980" h="497504">
                <a:moveTo>
                  <a:pt x="0" y="0"/>
                </a:moveTo>
                <a:lnTo>
                  <a:pt x="409980" y="497504"/>
                </a:lnTo>
              </a:path>
            </a:pathLst>
          </a:custGeom>
          <a:noFill xmlns:a="http://schemas.openxmlformats.org/drawingml/2006/main"/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9" name="hf-203">
            <a:extLst xmlns:a="http://schemas.openxmlformats.org/drawingml/2006/main">
              <a:ext uri="{FF2B5EF4-FFF2-40B4-BE49-F238E27FC236}">
                <a16:creationId xmlns:a16="http://schemas.microsoft.com/office/drawing/2014/main" id="{65683652-F2FB-4390-A92C-7BB88ED6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857" y="2033982"/>
            <a:ext cx="73704" cy="73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4607">
            <a:noFill/>
          </a:ln>
        </p:spPr>
      </p:sp>
      <p:sp>
        <p:nvSpPr>
          <p:cNvPr id="20" name="hf-204">
            <a:extLst xmlns:a="http://schemas.openxmlformats.org/drawingml/2006/main">
              <a:ext uri="{FF2B5EF4-FFF2-40B4-BE49-F238E27FC236}">
                <a16:creationId xmlns:a16="http://schemas.microsoft.com/office/drawing/2014/main" id="{B79F4519-3611-43B2-BA1A-82760879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3" y="2722817"/>
            <a:ext cx="2973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42</a:t>
            </a:r>
          </a:p>
        </p:txBody>
      </p:sp>
      <p:sp>
        <p:nvSpPr>
          <p:cNvPr id="21" name="hf-205">
            <a:extLst xmlns:a="http://schemas.openxmlformats.org/drawingml/2006/main">
              <a:ext uri="{FF2B5EF4-FFF2-40B4-BE49-F238E27FC236}">
                <a16:creationId xmlns:a16="http://schemas.microsoft.com/office/drawing/2014/main" id="{7D5FB111-236A-4BFD-AD21-19807164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218" y="2979992"/>
            <a:ext cx="29661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50</a:t>
            </a:r>
          </a:p>
        </p:txBody>
      </p:sp>
      <p:sp>
        <p:nvSpPr>
          <p:cNvPr id="22" name="hf-206">
            <a:extLst xmlns:a="http://schemas.openxmlformats.org/drawingml/2006/main">
              <a:ext uri="{FF2B5EF4-FFF2-40B4-BE49-F238E27FC236}">
                <a16:creationId xmlns:a16="http://schemas.microsoft.com/office/drawing/2014/main" id="{283F5AE2-4255-46AA-8A0F-8F776BBB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319" y="2598992"/>
            <a:ext cx="17308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23" name="hf-207">
            <a:extLst xmlns:a="http://schemas.openxmlformats.org/drawingml/2006/main">
              <a:ext uri="{FF2B5EF4-FFF2-40B4-BE49-F238E27FC236}">
                <a16:creationId xmlns:a16="http://schemas.microsoft.com/office/drawing/2014/main" id="{AD6275DF-1127-4B70-8D62-94DAE5A6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32429"/>
            <a:ext cx="27021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Свой new на каждый ключ</a:t>
            </a:r>
          </a:p>
        </p:txBody>
      </p:sp>
      <p:pic>
        <p:nvPicPr>
          <p:cNvPr id="36" name="hf-208-poster">
            <a:extLst xmlns:a="http://schemas.openxmlformats.org/drawingml/2006/main">
              <a:ext uri="{FF2B5EF4-FFF2-40B4-BE49-F238E27FC236}">
                <a16:creationId xmlns:a16="http://schemas.microsoft.com/office/drawing/2014/main" id="{A8D3A0BF-8DF4-49F0-89BD-E6176D06B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2209a470c40d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500" y="1572419"/>
            <a:ext cx="4572000" cy="2336800"/>
          </a:xfrm>
          <a:prstGeom xmlns:a="http://schemas.openxmlformats.org/drawingml/2006/main" prst="rect">
            <a:avLst/>
          </a:prstGeom>
        </p:spPr>
      </p:pic>
      <p:pic>
        <p:nvPicPr>
          <p:cNvPr id="24" name="hf-208">
            <a:extLst xmlns:a="http://schemas.openxmlformats.org/drawingml/2006/main">
              <a:ext uri="{FF2B5EF4-FFF2-40B4-BE49-F238E27FC236}">
                <a16:creationId xmlns:a16="http://schemas.microsoft.com/office/drawing/2014/main" id="{A8D3A0BF-8DF4-49F0-89BD-E6176D06BCCF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HFvideo4"/>
            <p:extLst>
              <p:ext uri="{DAA4B4D4-6D71-4841-9C94-3DE7FCFB1B01}">
                <ns3:media xmlns:ns3="http://schemas.microsoft.com/office/powerpoint/2010/main" xmlns:ns4="http://schemas.openxmlformats.org/officeDocument/2006/relationships" ns4:embed="rIdHFmedia4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39f2209a470c40d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500" y="1572419"/>
            <a:ext cx="4572000" cy="2336800"/>
          </a:xfrm>
          <a:prstGeom xmlns:a="http://schemas.openxmlformats.org/drawingml/2006/main" prst="rect">
            <a:avLst/>
          </a:prstGeom>
        </p:spPr>
      </p:pic>
      <p:sp>
        <p:nvSpPr>
          <p:cNvPr id="25" name="hf-209">
            <a:extLst xmlns:a="http://schemas.openxmlformats.org/drawingml/2006/main">
              <a:ext uri="{FF2B5EF4-FFF2-40B4-BE49-F238E27FC236}">
                <a16:creationId xmlns:a16="http://schemas.microsoft.com/office/drawing/2014/main" id="{E3F7D5D9-DEC4-45A7-B5CA-4C70171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16806"/>
            <a:ext cx="286055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flat_hash_set </a:t>
            </a:r>
            <a:r>
              <a:rPr sz="165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· Swiss Table</a:t>
            </a:r>
          </a:p>
        </p:txBody>
      </p:sp>
      <p:sp>
        <p:nvSpPr>
          <p:cNvPr id="26" name="hf-210">
            <a:extLst xmlns:a="http://schemas.openxmlformats.org/drawingml/2006/main">
              <a:ext uri="{FF2B5EF4-FFF2-40B4-BE49-F238E27FC236}">
                <a16:creationId xmlns:a16="http://schemas.microsoft.com/office/drawing/2014/main" id="{DC9AF0E1-79EF-452F-B9BA-943ECB97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1928813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7" name="hf-211">
            <a:extLst xmlns:a="http://schemas.openxmlformats.org/drawingml/2006/main">
              <a:ext uri="{FF2B5EF4-FFF2-40B4-BE49-F238E27FC236}">
                <a16:creationId xmlns:a16="http://schemas.microsoft.com/office/drawing/2014/main" id="{83C7E217-15F2-4BF2-BF4D-2AA79918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2046542"/>
            <a:ext cx="13457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Байты-метки</a:t>
            </a:r>
          </a:p>
        </p:txBody>
      </p:sp>
      <p:pic>
        <p:nvPicPr>
          <p:cNvPr id="28" name="hf-212">
            <a:extLst xmlns:a="http://schemas.openxmlformats.org/drawingml/2006/main">
              <a:ext uri="{FF2B5EF4-FFF2-40B4-BE49-F238E27FC236}">
                <a16:creationId xmlns:a16="http://schemas.microsoft.com/office/drawing/2014/main" id="{5942C152-988A-40B0-AB57-ACFE38807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c052b48ae471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500" y="3738563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hf-213">
            <a:extLst xmlns:a="http://schemas.openxmlformats.org/drawingml/2006/main">
              <a:ext uri="{FF2B5EF4-FFF2-40B4-BE49-F238E27FC236}">
                <a16:creationId xmlns:a16="http://schemas.microsoft.com/office/drawing/2014/main" id="{E4BBC3AF-4A25-4537-BB3C-523C6735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22942"/>
            <a:ext cx="329036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Одна аллокация на всю таблицу</a:t>
            </a:r>
          </a:p>
        </p:txBody>
      </p:sp>
      <p:pic>
        <p:nvPicPr>
          <p:cNvPr id="30" name="hf-214">
            <a:extLst xmlns:a="http://schemas.openxmlformats.org/drawingml/2006/main">
              <a:ext uri="{FF2B5EF4-FFF2-40B4-BE49-F238E27FC236}">
                <a16:creationId xmlns:a16="http://schemas.microsoft.com/office/drawing/2014/main" id="{B5669DF8-84BB-4C4C-8E33-1D8CACA28A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9e956b2c941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500" y="409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hf-215">
            <a:extLst xmlns:a="http://schemas.openxmlformats.org/drawingml/2006/main">
              <a:ext uri="{FF2B5EF4-FFF2-40B4-BE49-F238E27FC236}">
                <a16:creationId xmlns:a16="http://schemas.microsoft.com/office/drawing/2014/main" id="{76749058-AB98-4CE4-9804-A57C8727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80129"/>
            <a:ext cx="29095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Ссылки не переживают рост</a:t>
            </a:r>
          </a:p>
        </p:txBody>
      </p:sp>
      <p:sp>
        <p:nvSpPr>
          <p:cNvPr id="32" name="hf-216">
            <a:extLst xmlns:a="http://schemas.openxmlformats.org/drawingml/2006/main">
              <a:ext uri="{FF2B5EF4-FFF2-40B4-BE49-F238E27FC236}">
                <a16:creationId xmlns:a16="http://schemas.microsoft.com/office/drawing/2014/main" id="{BDC9CB28-BFE5-4926-A5E5-D0BEBAB1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56292"/>
            <a:ext cx="168666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Тот же принцип:</a:t>
            </a:r>
          </a:p>
        </p:txBody>
      </p:sp>
      <p:sp>
        <p:nvSpPr>
          <p:cNvPr id="33" name="hf-217">
            <a:extLst xmlns:a="http://schemas.openxmlformats.org/drawingml/2006/main">
              <a:ext uri="{FF2B5EF4-FFF2-40B4-BE49-F238E27FC236}">
                <a16:creationId xmlns:a16="http://schemas.microsoft.com/office/drawing/2014/main" id="{1F2BE5CB-4AD3-47CD-9C40-0D3A00F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22992"/>
            <a:ext cx="319258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map в Go ≥ 1.24, HashMap в Rust</a:t>
            </a:r>
          </a:p>
        </p:txBody>
      </p:sp>
      <p:pic>
        <p:nvPicPr>
          <p:cNvPr id="34" name="hf-218">
            <a:extLst xmlns:a="http://schemas.openxmlformats.org/drawingml/2006/main">
              <a:ext uri="{FF2B5EF4-FFF2-40B4-BE49-F238E27FC236}">
                <a16:creationId xmlns:a16="http://schemas.microsoft.com/office/drawing/2014/main" id="{7A6C4DB6-2B2B-432F-A302-B66CC8110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3bb5cd5f2419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5" name="hf-219">
            <a:extLst xmlns:a="http://schemas.openxmlformats.org/drawingml/2006/main">
              <a:ext uri="{FF2B5EF4-FFF2-40B4-BE49-F238E27FC236}">
                <a16:creationId xmlns:a16="http://schemas.microsoft.com/office/drawing/2014/main" id="{32E2320D-9F6A-4A9E-BBB7-3CE81EBD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420571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3" dur="600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04" repeatCount="indefinite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  <p:bldLst>
      <p:bldP spid="4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p="http://schemas.openxmlformats.org/presentationml/2006/main">
  <p:cSld name="fla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20">
            <a:extLst xmlns:a="http://schemas.openxmlformats.org/drawingml/2006/main">
              <a:ext uri="{FF2B5EF4-FFF2-40B4-BE49-F238E27FC236}">
                <a16:creationId xmlns:a16="http://schemas.microsoft.com/office/drawing/2014/main" id="{1A08D51C-E3F6-4761-8B1E-EE3DF07E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309056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РЕАЛИЗАЦИЯ ХЕША</a:t>
            </a:r>
          </a:p>
        </p:txBody>
      </p:sp>
      <p:sp>
        <p:nvSpPr>
          <p:cNvPr id="3" name="hf-221">
            <a:extLst xmlns:a="http://schemas.openxmlformats.org/drawingml/2006/main">
              <a:ext uri="{FF2B5EF4-FFF2-40B4-BE49-F238E27FC236}">
                <a16:creationId xmlns:a16="http://schemas.microsoft.com/office/drawing/2014/main" id="{B2C146EE-F133-4B84-A528-3BE7D199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497733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ТРИ РЕАЛИЗАЦИИ, ОДИН ВХОД</a:t>
            </a:r>
          </a:p>
        </p:txBody>
      </p:sp>
      <p:sp>
        <p:nvSpPr>
          <p:cNvPr id="4" name="hf-222">
            <a:extLst xmlns:a="http://schemas.openxmlformats.org/drawingml/2006/main">
              <a:ext uri="{FF2B5EF4-FFF2-40B4-BE49-F238E27FC236}">
                <a16:creationId xmlns:a16="http://schemas.microsoft.com/office/drawing/2014/main" id="{7D92DC0B-91E4-4E46-98D4-83764C4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5017"/>
            <a:ext cx="622734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нс на элемент · 1M уникальных id · M2 Pro · меньше — лучше</a:t>
            </a:r>
          </a:p>
        </p:txBody>
      </p:sp>
      <p:sp>
        <p:nvSpPr>
          <p:cNvPr id="5" name="hf-223">
            <a:extLst xmlns:a="http://schemas.openxmlformats.org/drawingml/2006/main">
              <a:ext uri="{FF2B5EF4-FFF2-40B4-BE49-F238E27FC236}">
                <a16:creationId xmlns:a16="http://schemas.microsoft.com/office/drawing/2014/main" id="{09C1F855-F13B-4F6F-B2A5-50973D5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08404"/>
            <a:ext cx="148999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6" name="hf-224">
            <a:extLst xmlns:a="http://schemas.openxmlformats.org/drawingml/2006/main">
              <a:ext uri="{FF2B5EF4-FFF2-40B4-BE49-F238E27FC236}">
                <a16:creationId xmlns:a16="http://schemas.microsoft.com/office/drawing/2014/main" id="{3C7505AC-D072-49AA-8655-3E079F47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90700"/>
            <a:ext cx="39052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7" name="hf-225">
            <a:extLst xmlns:a="http://schemas.openxmlformats.org/drawingml/2006/main">
              <a:ext uri="{FF2B5EF4-FFF2-40B4-BE49-F238E27FC236}">
                <a16:creationId xmlns:a16="http://schemas.microsoft.com/office/drawing/2014/main" id="{C51E628A-FE26-4282-9689-C55AE40F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56448"/>
            <a:ext cx="5508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51,3</a:t>
            </a:r>
          </a:p>
        </p:txBody>
      </p:sp>
      <p:sp>
        <p:nvSpPr>
          <p:cNvPr id="8" name="hf-226">
            <a:extLst xmlns:a="http://schemas.openxmlformats.org/drawingml/2006/main">
              <a:ext uri="{FF2B5EF4-FFF2-40B4-BE49-F238E27FC236}">
                <a16:creationId xmlns:a16="http://schemas.microsoft.com/office/drawing/2014/main" id="{40F07D91-D640-48EA-82A5-547B8459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32279"/>
            <a:ext cx="135396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9" name="hf-227">
            <a:extLst xmlns:a="http://schemas.openxmlformats.org/drawingml/2006/main">
              <a:ext uri="{FF2B5EF4-FFF2-40B4-BE49-F238E27FC236}">
                <a16:creationId xmlns:a16="http://schemas.microsoft.com/office/drawing/2014/main" id="{6487EFF2-8D87-4AB4-895F-983DBA6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14575"/>
            <a:ext cx="1514475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0" name="hf-228">
            <a:extLst xmlns:a="http://schemas.openxmlformats.org/drawingml/2006/main">
              <a:ext uri="{FF2B5EF4-FFF2-40B4-BE49-F238E27FC236}">
                <a16:creationId xmlns:a16="http://schemas.microsoft.com/office/drawing/2014/main" id="{116942E8-C658-4AB6-B92D-229AA25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80323"/>
            <a:ext cx="56822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19,9</a:t>
            </a:r>
          </a:p>
        </p:txBody>
      </p:sp>
      <p:sp>
        <p:nvSpPr>
          <p:cNvPr id="11" name="hf-229">
            <a:extLst xmlns:a="http://schemas.openxmlformats.org/drawingml/2006/main">
              <a:ext uri="{FF2B5EF4-FFF2-40B4-BE49-F238E27FC236}">
                <a16:creationId xmlns:a16="http://schemas.microsoft.com/office/drawing/2014/main" id="{30510AE5-84CE-481D-AD8E-6F338D7C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56154"/>
            <a:ext cx="13494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flat_hash_set</a:t>
            </a:r>
          </a:p>
        </p:txBody>
      </p:sp>
      <p:sp>
        <p:nvSpPr>
          <p:cNvPr id="12" name="hf-230">
            <a:extLst xmlns:a="http://schemas.openxmlformats.org/drawingml/2006/main">
              <a:ext uri="{FF2B5EF4-FFF2-40B4-BE49-F238E27FC236}">
                <a16:creationId xmlns:a16="http://schemas.microsoft.com/office/drawing/2014/main" id="{D1E87FCA-85CC-474C-8F39-14AE6D77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890588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hf-231">
            <a:extLst xmlns:a="http://schemas.openxmlformats.org/drawingml/2006/main">
              <a:ext uri="{FF2B5EF4-FFF2-40B4-BE49-F238E27FC236}">
                <a16:creationId xmlns:a16="http://schemas.microsoft.com/office/drawing/2014/main" id="{A809EC27-3624-422D-846C-637751A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3" y="2804198"/>
            <a:ext cx="497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11,7</a:t>
            </a:r>
          </a:p>
        </p:txBody>
      </p:sp>
      <p:sp>
        <p:nvSpPr>
          <p:cNvPr id="14" name="hf-232">
            <a:extLst xmlns:a="http://schemas.openxmlformats.org/drawingml/2006/main">
              <a:ext uri="{FF2B5EF4-FFF2-40B4-BE49-F238E27FC236}">
                <a16:creationId xmlns:a16="http://schemas.microsoft.com/office/drawing/2014/main" id="{40EA6ADA-2A6F-44D9-8A4A-9063B5FB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904" y="2650808"/>
            <a:ext cx="1800746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7500"/>
              </a:lnSpc>
              <a:buNone/>
            </a:pPr>
            <a:r>
              <a:rPr sz="75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×1,7</a:t>
            </a:r>
          </a:p>
        </p:txBody>
      </p:sp>
      <p:sp>
        <p:nvSpPr>
          <p:cNvPr id="15" name="hf-233">
            <a:extLst xmlns:a="http://schemas.openxmlformats.org/drawingml/2006/main">
              <a:ext uri="{FF2B5EF4-FFF2-40B4-BE49-F238E27FC236}">
                <a16:creationId xmlns:a16="http://schemas.microsoft.com/office/drawing/2014/main" id="{C79DAE43-BF4B-4C8B-B9AF-EFA94955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473" y="3608642"/>
            <a:ext cx="251117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flat против sort + unique</a:t>
            </a:r>
          </a:p>
        </p:txBody>
      </p:sp>
      <p:sp>
        <p:nvSpPr>
          <p:cNvPr id="16" name="hf-234">
            <a:extLst xmlns:a="http://schemas.openxmlformats.org/drawingml/2006/main">
              <a:ext uri="{FF2B5EF4-FFF2-40B4-BE49-F238E27FC236}">
                <a16:creationId xmlns:a16="http://schemas.microsoft.com/office/drawing/2014/main" id="{AD3D19BC-EF43-4D26-A044-2371AAD8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27742"/>
            <a:ext cx="235364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9B87F5"/>
                </a:solidFill>
                <a:latin typeface="Montserrat"/>
                <a:ea typeface="Montserrat"/>
                <a:cs typeface="Montserrat"/>
              </a:rPr>
              <a:t>radix + unique: 6,9 нс/эл</a:t>
            </a:r>
          </a:p>
        </p:txBody>
      </p:sp>
      <p:sp>
        <p:nvSpPr>
          <p:cNvPr id="17" name="hf-235">
            <a:extLst xmlns:a="http://schemas.openxmlformats.org/drawingml/2006/main">
              <a:ext uri="{FF2B5EF4-FFF2-40B4-BE49-F238E27FC236}">
                <a16:creationId xmlns:a16="http://schemas.microsoft.com/office/drawing/2014/main" id="{7097D20E-BAE5-45D3-9AC2-3C97142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84917"/>
            <a:ext cx="510517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Только целые ключи. Дополнительный буфер на N</a:t>
            </a:r>
          </a:p>
        </p:txBody>
      </p:sp>
      <p:pic>
        <p:nvPicPr>
          <p:cNvPr id="18" name="hf-236">
            <a:extLst xmlns:a="http://schemas.openxmlformats.org/drawingml/2006/main">
              <a:ext uri="{FF2B5EF4-FFF2-40B4-BE49-F238E27FC236}">
                <a16:creationId xmlns:a16="http://schemas.microsoft.com/office/drawing/2014/main" id="{75877450-3364-4A57-A0AA-DEE95030C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b8e968b50492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9" name="hf-237">
            <a:extLst xmlns:a="http://schemas.openxmlformats.org/drawingml/2006/main">
              <a:ext uri="{FF2B5EF4-FFF2-40B4-BE49-F238E27FC236}">
                <a16:creationId xmlns:a16="http://schemas.microsoft.com/office/drawing/2014/main" id="{F3D74A8A-1E53-49FA-9843-E26B66D8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6512505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p="http://schemas.openxmlformats.org/presentationml/2006/main">
  <p:cSld name="share-q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38">
            <a:extLst xmlns:a="http://schemas.openxmlformats.org/drawingml/2006/main">
              <a:ext uri="{FF2B5EF4-FFF2-40B4-BE49-F238E27FC236}">
                <a16:creationId xmlns:a16="http://schemas.microsoft.com/office/drawing/2014/main" id="{681BBC7E-133F-4C1D-8D99-B43C560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403986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СТАВКА №2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· РАУНД 3 ИЗ 4 · ДАННЫЕ И ТИКЕТ</a:t>
            </a:r>
          </a:p>
        </p:txBody>
      </p:sp>
      <p:sp>
        <p:nvSpPr>
          <p:cNvPr id="3" name="hf-239">
            <a:extLst xmlns:a="http://schemas.openxmlformats.org/drawingml/2006/main">
              <a:ext uri="{FF2B5EF4-FFF2-40B4-BE49-F238E27FC236}">
                <a16:creationId xmlns:a16="http://schemas.microsoft.com/office/drawing/2014/main" id="{55221523-B1B1-4CB4-B399-2F19AEBE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388225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СОРТИРОВКА ИЛИ ХЕШ?</a:t>
            </a:r>
          </a:p>
        </p:txBody>
      </p:sp>
      <p:sp>
        <p:nvSpPr>
          <p:cNvPr id="4" name="hf-240">
            <a:extLst xmlns:a="http://schemas.openxmlformats.org/drawingml/2006/main">
              <a:ext uri="{FF2B5EF4-FFF2-40B4-BE49-F238E27FC236}">
                <a16:creationId xmlns:a16="http://schemas.microsoft.com/office/drawing/2014/main" id="{6F28BD35-D5B4-4671-96CB-733506E3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7188"/>
            <a:ext cx="424442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точка отсчёта — ставка №1: миллион id, все разные</a:t>
            </a:r>
          </a:p>
        </p:txBody>
      </p:sp>
      <p:sp>
        <p:nvSpPr>
          <p:cNvPr id="5" name="hf-241">
            <a:extLst xmlns:a="http://schemas.openxmlformats.org/drawingml/2006/main">
              <a:ext uri="{FF2B5EF4-FFF2-40B4-BE49-F238E27FC236}">
                <a16:creationId xmlns:a16="http://schemas.microsoft.com/office/drawing/2014/main" id="{6DA6EE9A-0237-4864-993C-0268237C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08379"/>
            <a:ext cx="135396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6" name="hf-242">
            <a:extLst xmlns:a="http://schemas.openxmlformats.org/drawingml/2006/main">
              <a:ext uri="{FF2B5EF4-FFF2-40B4-BE49-F238E27FC236}">
                <a16:creationId xmlns:a16="http://schemas.microsoft.com/office/drawing/2014/main" id="{7C2ABFD5-C9AF-4AB6-83AA-4277F85C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1428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7" name="hf-243">
            <a:extLst xmlns:a="http://schemas.openxmlformats.org/drawingml/2006/main">
              <a:ext uri="{FF2B5EF4-FFF2-40B4-BE49-F238E27FC236}">
                <a16:creationId xmlns:a16="http://schemas.microsoft.com/office/drawing/2014/main" id="{EF0A4C1C-E381-47A1-A1FA-196ECAFF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34782"/>
            <a:ext cx="34401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20</a:t>
            </a:r>
          </a:p>
        </p:txBody>
      </p:sp>
      <p:sp>
        <p:nvSpPr>
          <p:cNvPr id="8" name="hf-244">
            <a:extLst xmlns:a="http://schemas.openxmlformats.org/drawingml/2006/main">
              <a:ext uri="{FF2B5EF4-FFF2-40B4-BE49-F238E27FC236}">
                <a16:creationId xmlns:a16="http://schemas.microsoft.com/office/drawing/2014/main" id="{65AB2A46-FA97-4783-A753-74F07F82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37004"/>
            <a:ext cx="148999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9" name="hf-245">
            <a:extLst xmlns:a="http://schemas.openxmlformats.org/drawingml/2006/main">
              <a:ext uri="{FF2B5EF4-FFF2-40B4-BE49-F238E27FC236}">
                <a16:creationId xmlns:a16="http://schemas.microsoft.com/office/drawing/2014/main" id="{B761CEC8-17E1-45CD-9309-7C9B133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28825"/>
            <a:ext cx="3643313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0" name="hf-246">
            <a:extLst xmlns:a="http://schemas.openxmlformats.org/drawingml/2006/main">
              <a:ext uri="{FF2B5EF4-FFF2-40B4-BE49-F238E27FC236}">
                <a16:creationId xmlns:a16="http://schemas.microsoft.com/office/drawing/2014/main" id="{62229C75-31CE-4589-A4EB-D5B192B1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1963407"/>
            <a:ext cx="277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51</a:t>
            </a:r>
          </a:p>
        </p:txBody>
      </p:sp>
      <p:sp>
        <p:nvSpPr>
          <p:cNvPr id="11" name="hf-247">
            <a:extLst xmlns:a="http://schemas.openxmlformats.org/drawingml/2006/main">
              <a:ext uri="{FF2B5EF4-FFF2-40B4-BE49-F238E27FC236}">
                <a16:creationId xmlns:a16="http://schemas.microsoft.com/office/drawing/2014/main" id="{4195BFCC-142C-4E49-84C6-EAA98E30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683" y="1764221"/>
            <a:ext cx="85196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3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×2,6</a:t>
            </a:r>
          </a:p>
        </p:txBody>
      </p:sp>
      <p:sp>
        <p:nvSpPr>
          <p:cNvPr id="12" name="hf-248">
            <a:extLst xmlns:a="http://schemas.openxmlformats.org/drawingml/2006/main">
              <a:ext uri="{FF2B5EF4-FFF2-40B4-BE49-F238E27FC236}">
                <a16:creationId xmlns:a16="http://schemas.microsoft.com/office/drawing/2014/main" id="{25F95AAD-51F9-45F0-AF3D-0A07F5C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56992"/>
            <a:ext cx="31550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225"/>
              </a:lnSpc>
              <a:buNone/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Тот же миллион.</a:t>
            </a:r>
          </a:p>
        </p:txBody>
      </p:sp>
      <p:sp>
        <p:nvSpPr>
          <p:cNvPr id="13" name="hf-249">
            <a:extLst xmlns:a="http://schemas.openxmlformats.org/drawingml/2006/main">
              <a:ext uri="{FF2B5EF4-FFF2-40B4-BE49-F238E27FC236}">
                <a16:creationId xmlns:a16="http://schemas.microsoft.com/office/drawing/2014/main" id="{B0AA2A66-7E37-426E-8FF9-B9616DB6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66567"/>
            <a:ext cx="34424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225"/>
              </a:lnSpc>
              <a:buNone/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Уникальных — </a:t>
            </a:r>
            <a:r>
              <a:rPr sz="27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1%</a:t>
            </a: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14" name="hf-250">
            <a:extLst xmlns:a="http://schemas.openxmlformats.org/drawingml/2006/main">
              <a:ext uri="{FF2B5EF4-FFF2-40B4-BE49-F238E27FC236}">
                <a16:creationId xmlns:a16="http://schemas.microsoft.com/office/drawing/2014/main" id="{E8FE64FE-8E33-4BD9-BC5A-8C26A20D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09492"/>
            <a:ext cx="260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225"/>
              </a:lnSpc>
              <a:buNone/>
            </a:pPr>
            <a:r>
              <a:rPr sz="27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Кто впереди?</a:t>
            </a:r>
          </a:p>
        </p:txBody>
      </p:sp>
      <p:sp>
        <p:nvSpPr>
          <p:cNvPr id="15" name="hf-251">
            <a:extLst xmlns:a="http://schemas.openxmlformats.org/drawingml/2006/main">
              <a:ext uri="{FF2B5EF4-FFF2-40B4-BE49-F238E27FC236}">
                <a16:creationId xmlns:a16="http://schemas.microsoft.com/office/drawing/2014/main" id="{177F816E-A11E-47A7-AC39-6A55BED8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1428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6" name="hf-252">
            <a:extLst xmlns:a="http://schemas.openxmlformats.org/drawingml/2006/main">
              <a:ext uri="{FF2B5EF4-FFF2-40B4-BE49-F238E27FC236}">
                <a16:creationId xmlns:a16="http://schemas.microsoft.com/office/drawing/2014/main" id="{1934F4D9-15C8-43C8-A9C1-E169503F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964" y="3308642"/>
            <a:ext cx="1006971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sort</a:t>
            </a:r>
          </a:p>
        </p:txBody>
      </p:sp>
      <p:sp>
        <p:nvSpPr>
          <p:cNvPr id="17" name="hf-253">
            <a:extLst xmlns:a="http://schemas.openxmlformats.org/drawingml/2006/main">
              <a:ext uri="{FF2B5EF4-FFF2-40B4-BE49-F238E27FC236}">
                <a16:creationId xmlns:a16="http://schemas.microsoft.com/office/drawing/2014/main" id="{4A039202-7681-4D4B-A054-50F29A93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038" y="2857500"/>
            <a:ext cx="1428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18" name="hf-254">
            <a:extLst xmlns:a="http://schemas.openxmlformats.org/drawingml/2006/main">
              <a:ext uri="{FF2B5EF4-FFF2-40B4-BE49-F238E27FC236}">
                <a16:creationId xmlns:a16="http://schemas.microsoft.com/office/drawing/2014/main" id="{A651B4F6-1EB5-4538-89F2-F2E17910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248" y="3308642"/>
            <a:ext cx="1069479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хеш</a:t>
            </a:r>
          </a:p>
        </p:txBody>
      </p:sp>
      <p:pic>
        <p:nvPicPr>
          <p:cNvPr id="19" name="hf-255">
            <a:extLst xmlns:a="http://schemas.openxmlformats.org/drawingml/2006/main">
              <a:ext uri="{FF2B5EF4-FFF2-40B4-BE49-F238E27FC236}">
                <a16:creationId xmlns:a16="http://schemas.microsoft.com/office/drawing/2014/main" id="{029B4305-7483-4D68-B388-045BFCF1E2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0a7eebfd3473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0" name="hf-256">
            <a:extLst xmlns:a="http://schemas.openxmlformats.org/drawingml/2006/main">
              <a:ext uri="{FF2B5EF4-FFF2-40B4-BE49-F238E27FC236}">
                <a16:creationId xmlns:a16="http://schemas.microsoft.com/office/drawing/2014/main" id="{A5C1829B-B215-4DF3-8965-F58734FB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65463742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8" grpId="0" animBg="1"/>
    </p:bldLst>
  </p:timing>
</p:sld>
</file>

<file path=ppt/slides/slide15.xml><?xml version="1.0" encoding="utf-8"?>
<p:sld xmlns:p="http://schemas.openxmlformats.org/presentationml/2006/main">
  <p:cSld name="shar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57">
            <a:extLst xmlns:a="http://schemas.openxmlformats.org/drawingml/2006/main">
              <a:ext uri="{FF2B5EF4-FFF2-40B4-BE49-F238E27FC236}">
                <a16:creationId xmlns:a16="http://schemas.microsoft.com/office/drawing/2014/main" id="{652389AB-518D-42B8-89AF-C3D0AC2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89225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ДАННЫЕ И ТИКЕТ</a:t>
            </a:r>
          </a:p>
        </p:txBody>
      </p:sp>
      <p:sp>
        <p:nvSpPr>
          <p:cNvPr id="3" name="hf-258">
            <a:extLst xmlns:a="http://schemas.openxmlformats.org/drawingml/2006/main">
              <a:ext uri="{FF2B5EF4-FFF2-40B4-BE49-F238E27FC236}">
                <a16:creationId xmlns:a16="http://schemas.microsoft.com/office/drawing/2014/main" id="{7E9F040E-5AC4-467B-A408-0208CEA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76299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ПОБЕДИТЕЛЯ НАЗНАЧАЮТ ДАННЫЕ</a:t>
            </a:r>
          </a:p>
        </p:txBody>
      </p:sp>
      <p:sp>
        <p:nvSpPr>
          <p:cNvPr id="4" name="hf-259">
            <a:extLst xmlns:a="http://schemas.openxmlformats.org/drawingml/2006/main">
              <a:ext uri="{FF2B5EF4-FFF2-40B4-BE49-F238E27FC236}">
                <a16:creationId xmlns:a16="http://schemas.microsoft.com/office/drawing/2014/main" id="{C9966F65-3CB8-4839-B99B-4527B543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175004"/>
            <a:ext cx="49370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нс на элемент · N = 2²⁰ · M2 Pro · меньше — лучше</a:t>
            </a:r>
          </a:p>
        </p:txBody>
      </p:sp>
      <p:sp>
        <p:nvSpPr>
          <p:cNvPr id="5" name="hf-260">
            <a:extLst xmlns:a="http://schemas.openxmlformats.org/drawingml/2006/main">
              <a:ext uri="{FF2B5EF4-FFF2-40B4-BE49-F238E27FC236}">
                <a16:creationId xmlns:a16="http://schemas.microsoft.com/office/drawing/2014/main" id="{67707D3B-D6DE-446E-9408-E0F91929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32179"/>
            <a:ext cx="477738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Одинаковая линейная шкала полос: 0–60 нс/эл</a:t>
            </a:r>
          </a:p>
        </p:txBody>
      </p:sp>
      <p:sp>
        <p:nvSpPr>
          <p:cNvPr id="6" name="hf-261">
            <a:extLst xmlns:a="http://schemas.openxmlformats.org/drawingml/2006/main">
              <a:ext uri="{FF2B5EF4-FFF2-40B4-BE49-F238E27FC236}">
                <a16:creationId xmlns:a16="http://schemas.microsoft.com/office/drawing/2014/main" id="{FA5BCF5D-B551-4DC9-AE45-4513AB31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52771"/>
            <a:ext cx="20935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1% уникальных</a:t>
            </a:r>
          </a:p>
        </p:txBody>
      </p:sp>
      <p:sp>
        <p:nvSpPr>
          <p:cNvPr id="7" name="hf-262">
            <a:extLst xmlns:a="http://schemas.openxmlformats.org/drawingml/2006/main">
              <a:ext uri="{FF2B5EF4-FFF2-40B4-BE49-F238E27FC236}">
                <a16:creationId xmlns:a16="http://schemas.microsoft.com/office/drawing/2014/main" id="{8F105C0B-6C20-44E0-BA07-CDB0C169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98929"/>
            <a:ext cx="14899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8" name="hf-263">
            <a:extLst xmlns:a="http://schemas.openxmlformats.org/drawingml/2006/main">
              <a:ext uri="{FF2B5EF4-FFF2-40B4-BE49-F238E27FC236}">
                <a16:creationId xmlns:a16="http://schemas.microsoft.com/office/drawing/2014/main" id="{C6765875-094E-4968-9CE5-2151CE29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274290" cy="304800"/>
          </a:xfrm>
          <a:prstGeom xmlns:a="http://schemas.openxmlformats.org/drawingml/2006/main" prst="roundRect">
            <a:avLst>
              <a:gd name="adj" fmla="val 17363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9" name="hf-264">
            <a:extLst xmlns:a="http://schemas.openxmlformats.org/drawingml/2006/main">
              <a:ext uri="{FF2B5EF4-FFF2-40B4-BE49-F238E27FC236}">
                <a16:creationId xmlns:a16="http://schemas.microsoft.com/office/drawing/2014/main" id="{88A87544-FB6D-4387-AFC8-FF10F03A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33771"/>
            <a:ext cx="4172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3,2</a:t>
            </a:r>
          </a:p>
        </p:txBody>
      </p:sp>
      <p:sp>
        <p:nvSpPr>
          <p:cNvPr id="10" name="hf-265">
            <a:extLst xmlns:a="http://schemas.openxmlformats.org/drawingml/2006/main">
              <a:ext uri="{FF2B5EF4-FFF2-40B4-BE49-F238E27FC236}">
                <a16:creationId xmlns:a16="http://schemas.microsoft.com/office/drawing/2014/main" id="{8340C145-CA51-416F-B523-012E07EB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27554"/>
            <a:ext cx="135396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11" name="hf-266">
            <a:extLst xmlns:a="http://schemas.openxmlformats.org/drawingml/2006/main">
              <a:ext uri="{FF2B5EF4-FFF2-40B4-BE49-F238E27FC236}">
                <a16:creationId xmlns:a16="http://schemas.microsoft.com/office/drawing/2014/main" id="{4CCB3B34-6797-46D6-B858-90B92B4D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10287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2" name="hf-267">
            <a:extLst xmlns:a="http://schemas.openxmlformats.org/drawingml/2006/main">
              <a:ext uri="{FF2B5EF4-FFF2-40B4-BE49-F238E27FC236}">
                <a16:creationId xmlns:a16="http://schemas.microsoft.com/office/drawing/2014/main" id="{035B2930-2F17-4F2B-90B6-FE0F9A7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396"/>
            <a:ext cx="5326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12,0</a:t>
            </a:r>
          </a:p>
        </p:txBody>
      </p:sp>
      <p:sp>
        <p:nvSpPr>
          <p:cNvPr id="13" name="hf-268">
            <a:extLst xmlns:a="http://schemas.openxmlformats.org/drawingml/2006/main">
              <a:ext uri="{FF2B5EF4-FFF2-40B4-BE49-F238E27FC236}">
                <a16:creationId xmlns:a16="http://schemas.microsoft.com/office/drawing/2014/main" id="{258E9076-4D36-4D7D-835B-F141A70B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9" y="2087404"/>
            <a:ext cx="2269331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500"/>
              </a:lnSpc>
              <a:buNone/>
            </a:pPr>
            <a:r>
              <a:rPr sz="375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хеш ×3,7</a:t>
            </a:r>
          </a:p>
        </p:txBody>
      </p:sp>
      <p:sp>
        <p:nvSpPr>
          <p:cNvPr id="14" name="hf-269">
            <a:extLst xmlns:a="http://schemas.openxmlformats.org/drawingml/2006/main">
              <a:ext uri="{FF2B5EF4-FFF2-40B4-BE49-F238E27FC236}">
                <a16:creationId xmlns:a16="http://schemas.microsoft.com/office/drawing/2014/main" id="{15BA96CE-D27D-4E83-8671-D618C209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86271"/>
            <a:ext cx="24296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100% уникальных</a:t>
            </a:r>
          </a:p>
        </p:txBody>
      </p:sp>
      <p:sp>
        <p:nvSpPr>
          <p:cNvPr id="15" name="hf-270">
            <a:extLst xmlns:a="http://schemas.openxmlformats.org/drawingml/2006/main">
              <a:ext uri="{FF2B5EF4-FFF2-40B4-BE49-F238E27FC236}">
                <a16:creationId xmlns:a16="http://schemas.microsoft.com/office/drawing/2014/main" id="{BFC86B3D-992A-4EFE-9A04-6CFA658C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80054"/>
            <a:ext cx="135396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16" name="hf-271">
            <a:extLst xmlns:a="http://schemas.openxmlformats.org/drawingml/2006/main">
              <a:ext uri="{FF2B5EF4-FFF2-40B4-BE49-F238E27FC236}">
                <a16:creationId xmlns:a16="http://schemas.microsoft.com/office/drawing/2014/main" id="{81B36BE0-F1AE-430D-9F63-DFD2863A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169731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7" name="hf-272">
            <a:extLst xmlns:a="http://schemas.openxmlformats.org/drawingml/2006/main">
              <a:ext uri="{FF2B5EF4-FFF2-40B4-BE49-F238E27FC236}">
                <a16:creationId xmlns:a16="http://schemas.microsoft.com/office/drawing/2014/main" id="{049DC1AD-8DFA-4A2D-8B7F-ACA13022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14896"/>
            <a:ext cx="53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19,8</a:t>
            </a:r>
          </a:p>
        </p:txBody>
      </p:sp>
      <p:sp>
        <p:nvSpPr>
          <p:cNvPr id="18" name="hf-273">
            <a:extLst xmlns:a="http://schemas.openxmlformats.org/drawingml/2006/main">
              <a:ext uri="{FF2B5EF4-FFF2-40B4-BE49-F238E27FC236}">
                <a16:creationId xmlns:a16="http://schemas.microsoft.com/office/drawing/2014/main" id="{5D1F662C-2772-4618-971A-8511EFC8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08679"/>
            <a:ext cx="14899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9" name="hf-274">
            <a:extLst xmlns:a="http://schemas.openxmlformats.org/drawingml/2006/main">
              <a:ext uri="{FF2B5EF4-FFF2-40B4-BE49-F238E27FC236}">
                <a16:creationId xmlns:a16="http://schemas.microsoft.com/office/drawing/2014/main" id="{88A7109A-F66C-4ACB-8ECC-8D4B0A91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52875"/>
            <a:ext cx="442339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20" name="hf-275">
            <a:extLst xmlns:a="http://schemas.openxmlformats.org/drawingml/2006/main">
              <a:ext uri="{FF2B5EF4-FFF2-40B4-BE49-F238E27FC236}">
                <a16:creationId xmlns:a16="http://schemas.microsoft.com/office/drawing/2014/main" id="{91F19369-9420-47C6-BD90-98FA0ABD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13" y="3943521"/>
            <a:ext cx="52119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51,6</a:t>
            </a:r>
          </a:p>
        </p:txBody>
      </p:sp>
      <p:sp>
        <p:nvSpPr>
          <p:cNvPr id="21" name="hf-276">
            <a:extLst xmlns:a="http://schemas.openxmlformats.org/drawingml/2006/main">
              <a:ext uri="{FF2B5EF4-FFF2-40B4-BE49-F238E27FC236}">
                <a16:creationId xmlns:a16="http://schemas.microsoft.com/office/drawing/2014/main" id="{F3CAC105-F736-4792-A8FE-E6659075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423" y="3087529"/>
            <a:ext cx="2222227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500"/>
              </a:lnSpc>
              <a:buNone/>
            </a:pPr>
            <a:r>
              <a:rPr sz="37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sort ×2,6</a:t>
            </a:r>
          </a:p>
        </p:txBody>
      </p:sp>
      <p:pic>
        <p:nvPicPr>
          <p:cNvPr id="22" name="hf-277">
            <a:extLst xmlns:a="http://schemas.openxmlformats.org/drawingml/2006/main">
              <a:ext uri="{FF2B5EF4-FFF2-40B4-BE49-F238E27FC236}">
                <a16:creationId xmlns:a16="http://schemas.microsoft.com/office/drawing/2014/main" id="{4B9E39F9-4EC8-430A-AE92-5EBB2EE106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896cbd60342b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3" name="hf-278">
            <a:extLst xmlns:a="http://schemas.openxmlformats.org/drawingml/2006/main">
              <a:ext uri="{FF2B5EF4-FFF2-40B4-BE49-F238E27FC236}">
                <a16:creationId xmlns:a16="http://schemas.microsoft.com/office/drawing/2014/main" id="{0AABB2B4-1DDA-4A4B-9DEA-B1E5E16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84705412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6.xml><?xml version="1.0" encoding="utf-8"?>
<p:sld xmlns:p="http://schemas.openxmlformats.org/presentationml/2006/main">
  <p:cSld name="outcontrac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79">
            <a:extLst xmlns:a="http://schemas.openxmlformats.org/drawingml/2006/main">
              <a:ext uri="{FF2B5EF4-FFF2-40B4-BE49-F238E27FC236}">
                <a16:creationId xmlns:a16="http://schemas.microsoft.com/office/drawing/2014/main" id="{512BC5AC-A934-4354-BFBB-380B9ADE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89225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ДАННЫЕ И ТИКЕТ</a:t>
            </a:r>
          </a:p>
        </p:txBody>
      </p:sp>
      <p:sp>
        <p:nvSpPr>
          <p:cNvPr id="3" name="hf-280">
            <a:extLst xmlns:a="http://schemas.openxmlformats.org/drawingml/2006/main">
              <a:ext uri="{FF2B5EF4-FFF2-40B4-BE49-F238E27FC236}">
                <a16:creationId xmlns:a16="http://schemas.microsoft.com/office/drawing/2014/main" id="{1E1DD8BE-703E-4EAE-A1B6-C49ADA8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04118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ТРЕБОВАНИЕ В ТИКЕТЕ МЕНЯЕТ</a:t>
            </a:r>
          </a:p>
        </p:txBody>
      </p:sp>
      <p:sp>
        <p:nvSpPr>
          <p:cNvPr id="4" name="hf-281">
            <a:extLst xmlns:a="http://schemas.openxmlformats.org/drawingml/2006/main">
              <a:ext uri="{FF2B5EF4-FFF2-40B4-BE49-F238E27FC236}">
                <a16:creationId xmlns:a16="http://schemas.microsoft.com/office/drawing/2014/main" id="{17DF9248-C117-40F3-AC0A-59F435CC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17452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ПОБЕДИТЕЛЯ</a:t>
            </a:r>
          </a:p>
        </p:txBody>
      </p:sp>
      <p:sp>
        <p:nvSpPr>
          <p:cNvPr id="5" name="hf-282">
            <a:extLst xmlns:a="http://schemas.openxmlformats.org/drawingml/2006/main">
              <a:ext uri="{FF2B5EF4-FFF2-40B4-BE49-F238E27FC236}">
                <a16:creationId xmlns:a16="http://schemas.microsoft.com/office/drawing/2014/main" id="{9570439A-DD08-4D2F-B983-17931D09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22642"/>
            <a:ext cx="381907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что нужно на выходе · нс на элемент</a:t>
            </a:r>
          </a:p>
        </p:txBody>
      </p:sp>
      <p:sp>
        <p:nvSpPr>
          <p:cNvPr id="6" name="hf-283">
            <a:extLst xmlns:a="http://schemas.openxmlformats.org/drawingml/2006/main">
              <a:ext uri="{FF2B5EF4-FFF2-40B4-BE49-F238E27FC236}">
                <a16:creationId xmlns:a16="http://schemas.microsoft.com/office/drawing/2014/main" id="{6BDEAE63-251C-4776-AB77-DAADFA97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002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7" name="hf-284">
            <a:extLst xmlns:a="http://schemas.openxmlformats.org/drawingml/2006/main">
              <a:ext uri="{FF2B5EF4-FFF2-40B4-BE49-F238E27FC236}">
                <a16:creationId xmlns:a16="http://schemas.microsoft.com/office/drawing/2014/main" id="{BED42772-D4B1-4AB7-87A3-34D835F5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87182"/>
            <a:ext cx="361942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Уникальные, порядок любой</a:t>
            </a:r>
          </a:p>
        </p:txBody>
      </p:sp>
      <p:sp>
        <p:nvSpPr>
          <p:cNvPr id="8" name="hf-285">
            <a:extLst xmlns:a="http://schemas.openxmlformats.org/drawingml/2006/main">
              <a:ext uri="{FF2B5EF4-FFF2-40B4-BE49-F238E27FC236}">
                <a16:creationId xmlns:a16="http://schemas.microsoft.com/office/drawing/2014/main" id="{D1EA9A4A-8516-4824-A3F9-6932030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84629"/>
            <a:ext cx="18207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20,2 · хеш 22,6</a:t>
            </a:r>
          </a:p>
        </p:txBody>
      </p:sp>
      <p:sp>
        <p:nvSpPr>
          <p:cNvPr id="9" name="hf-286">
            <a:extLst xmlns:a="http://schemas.openxmlformats.org/drawingml/2006/main">
              <a:ext uri="{FF2B5EF4-FFF2-40B4-BE49-F238E27FC236}">
                <a16:creationId xmlns:a16="http://schemas.microsoft.com/office/drawing/2014/main" id="{19BB88C5-2E6B-4930-A887-A1EC3157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173355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0" name="hf-287">
            <a:extLst xmlns:a="http://schemas.openxmlformats.org/drawingml/2006/main">
              <a:ext uri="{FF2B5EF4-FFF2-40B4-BE49-F238E27FC236}">
                <a16:creationId xmlns:a16="http://schemas.microsoft.com/office/drawing/2014/main" id="{21D3C57E-B6E8-45E8-B9EA-9D94D87D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877" y="1668132"/>
            <a:ext cx="114672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≈ близко</a:t>
            </a:r>
          </a:p>
        </p:txBody>
      </p:sp>
      <p:sp>
        <p:nvSpPr>
          <p:cNvPr id="11" name="hf-288">
            <a:extLst xmlns:a="http://schemas.openxmlformats.org/drawingml/2006/main">
              <a:ext uri="{FF2B5EF4-FFF2-40B4-BE49-F238E27FC236}">
                <a16:creationId xmlns:a16="http://schemas.microsoft.com/office/drawing/2014/main" id="{80ABA999-D5CC-405D-AF98-5FA30615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336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2" name="hf-289">
            <a:extLst xmlns:a="http://schemas.openxmlformats.org/drawingml/2006/main">
              <a:ext uri="{FF2B5EF4-FFF2-40B4-BE49-F238E27FC236}">
                <a16:creationId xmlns:a16="http://schemas.microsoft.com/office/drawing/2014/main" id="{72E89CFD-3130-47E0-916C-98E03534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20607"/>
            <a:ext cx="230430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Отсортированные</a:t>
            </a:r>
          </a:p>
        </p:txBody>
      </p:sp>
      <p:sp>
        <p:nvSpPr>
          <p:cNvPr id="13" name="hf-290">
            <a:extLst xmlns:a="http://schemas.openxmlformats.org/drawingml/2006/main">
              <a:ext uri="{FF2B5EF4-FFF2-40B4-BE49-F238E27FC236}">
                <a16:creationId xmlns:a16="http://schemas.microsoft.com/office/drawing/2014/main" id="{6284136E-FB70-4855-80F0-00BE515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18054"/>
            <a:ext cx="181912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20,2 · хеш 32,6</a:t>
            </a:r>
          </a:p>
        </p:txBody>
      </p:sp>
      <p:sp>
        <p:nvSpPr>
          <p:cNvPr id="14" name="hf-291">
            <a:extLst xmlns:a="http://schemas.openxmlformats.org/drawingml/2006/main">
              <a:ext uri="{FF2B5EF4-FFF2-40B4-BE49-F238E27FC236}">
                <a16:creationId xmlns:a16="http://schemas.microsoft.com/office/drawing/2014/main" id="{5D4142B2-E556-41EE-BCD9-4BB4F673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246697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5" name="hf-292">
            <a:extLst xmlns:a="http://schemas.openxmlformats.org/drawingml/2006/main">
              <a:ext uri="{FF2B5EF4-FFF2-40B4-BE49-F238E27FC236}">
                <a16:creationId xmlns:a16="http://schemas.microsoft.com/office/drawing/2014/main" id="{B2693FF4-2D9A-4A8C-B14F-75AC4895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343" y="2401557"/>
            <a:ext cx="1023789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sort ×1,6</a:t>
            </a:r>
          </a:p>
        </p:txBody>
      </p:sp>
      <p:sp>
        <p:nvSpPr>
          <p:cNvPr id="16" name="hf-293">
            <a:extLst xmlns:a="http://schemas.openxmlformats.org/drawingml/2006/main">
              <a:ext uri="{FF2B5EF4-FFF2-40B4-BE49-F238E27FC236}">
                <a16:creationId xmlns:a16="http://schemas.microsoft.com/office/drawing/2014/main" id="{88D29AA8-F260-41A8-BE54-CE81F12C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670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294">
            <a:extLst xmlns:a="http://schemas.openxmlformats.org/drawingml/2006/main">
              <a:ext uri="{FF2B5EF4-FFF2-40B4-BE49-F238E27FC236}">
                <a16:creationId xmlns:a16="http://schemas.microsoft.com/office/drawing/2014/main" id="{8F5CD8FB-39C2-4B2C-9953-A1087B95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54032"/>
            <a:ext cx="379809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 порядке первого появления</a:t>
            </a:r>
          </a:p>
        </p:txBody>
      </p:sp>
      <p:sp>
        <p:nvSpPr>
          <p:cNvPr id="18" name="hf-295">
            <a:extLst xmlns:a="http://schemas.openxmlformats.org/drawingml/2006/main">
              <a:ext uri="{FF2B5EF4-FFF2-40B4-BE49-F238E27FC236}">
                <a16:creationId xmlns:a16="http://schemas.microsoft.com/office/drawing/2014/main" id="{F9FD8B29-33C5-496A-BE09-426C7539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51479"/>
            <a:ext cx="183229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74,6 · хеш 22,0</a:t>
            </a:r>
          </a:p>
        </p:txBody>
      </p:sp>
      <p:sp>
        <p:nvSpPr>
          <p:cNvPr id="19" name="hf-296">
            <a:extLst xmlns:a="http://schemas.openxmlformats.org/drawingml/2006/main">
              <a:ext uri="{FF2B5EF4-FFF2-40B4-BE49-F238E27FC236}">
                <a16:creationId xmlns:a16="http://schemas.microsoft.com/office/drawing/2014/main" id="{FA6E1262-E18E-48C7-8704-33066A58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320040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20" name="hf-297">
            <a:extLst xmlns:a="http://schemas.openxmlformats.org/drawingml/2006/main">
              <a:ext uri="{FF2B5EF4-FFF2-40B4-BE49-F238E27FC236}">
                <a16:creationId xmlns:a16="http://schemas.microsoft.com/office/drawing/2014/main" id="{56532909-5F28-49EA-B7F9-427FF6C5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992" y="3134982"/>
            <a:ext cx="111249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 ×3,4</a:t>
            </a:r>
          </a:p>
        </p:txBody>
      </p:sp>
      <p:sp>
        <p:nvSpPr>
          <p:cNvPr id="21" name="hf-298">
            <a:extLst xmlns:a="http://schemas.openxmlformats.org/drawingml/2006/main">
              <a:ext uri="{FF2B5EF4-FFF2-40B4-BE49-F238E27FC236}">
                <a16:creationId xmlns:a16="http://schemas.microsoft.com/office/drawing/2014/main" id="{E52B47AC-33A8-4E57-AD4F-0477626E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38575"/>
            <a:ext cx="802957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hf-299">
            <a:extLst xmlns:a="http://schemas.openxmlformats.org/drawingml/2006/main">
              <a:ext uri="{FF2B5EF4-FFF2-40B4-BE49-F238E27FC236}">
                <a16:creationId xmlns:a16="http://schemas.microsoft.com/office/drawing/2014/main" id="{E2E8C304-3706-4C11-8856-E5D70DDE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908679"/>
            <a:ext cx="419211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«Порядок любой» = любой </a:t>
            </a: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каждый раз</a:t>
            </a:r>
            <a:r>
              <a:rPr sz="150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:</a:t>
            </a:r>
          </a:p>
        </p:txBody>
      </p:sp>
      <p:sp>
        <p:nvSpPr>
          <p:cNvPr id="23" name="hf-300">
            <a:extLst xmlns:a="http://schemas.openxmlformats.org/drawingml/2006/main">
              <a:ext uri="{FF2B5EF4-FFF2-40B4-BE49-F238E27FC236}">
                <a16:creationId xmlns:a16="http://schemas.microsoft.com/office/drawing/2014/main" id="{11D73EFF-6A9C-4EC8-AC53-764568F1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4137279"/>
            <a:ext cx="70373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flat_hash_set, Set в Swift и map в Go меняют его от запуска к запуску</a:t>
            </a:r>
          </a:p>
        </p:txBody>
      </p:sp>
      <p:pic>
        <p:nvPicPr>
          <p:cNvPr id="24" name="hf-301">
            <a:extLst xmlns:a="http://schemas.openxmlformats.org/drawingml/2006/main">
              <a:ext uri="{FF2B5EF4-FFF2-40B4-BE49-F238E27FC236}">
                <a16:creationId xmlns:a16="http://schemas.microsoft.com/office/drawing/2014/main" id="{2F3986EE-A228-403A-AC5A-78828D1CB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9dea40f2e49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5" name="hf-302">
            <a:extLst xmlns:a="http://schemas.openxmlformats.org/drawingml/2006/main">
              <a:ext uri="{FF2B5EF4-FFF2-40B4-BE49-F238E27FC236}">
                <a16:creationId xmlns:a16="http://schemas.microsoft.com/office/drawing/2014/main" id="{88C47B59-EE2B-48A8-8503-FC856CD8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2557200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20" grpId="0" animBg="1"/>
      <p:bldP spid="22" grpId="0" animBg="1"/>
      <p:bldP spid="23" grpId="0" animBg="1"/>
    </p:bldLst>
  </p:timing>
</p:sld>
</file>

<file path=ppt/slides/slide17.xml><?xml version="1.0" encoding="utf-8"?>
<p:sld xmlns:p="http://schemas.openxmlformats.org/presentationml/2006/main">
  <p:cSld name="inputord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03">
            <a:extLst xmlns:a="http://schemas.openxmlformats.org/drawingml/2006/main">
              <a:ext uri="{FF2B5EF4-FFF2-40B4-BE49-F238E27FC236}">
                <a16:creationId xmlns:a16="http://schemas.microsoft.com/office/drawing/2014/main" id="{DEA7E095-C7E0-4249-AA18-94BF81F9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89225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ДАННЫЕ И ТИКЕТ</a:t>
            </a:r>
          </a:p>
        </p:txBody>
      </p:sp>
      <p:sp>
        <p:nvSpPr>
          <p:cNvPr id="3" name="hf-304">
            <a:extLst xmlns:a="http://schemas.openxmlformats.org/drawingml/2006/main">
              <a:ext uri="{FF2B5EF4-FFF2-40B4-BE49-F238E27FC236}">
                <a16:creationId xmlns:a16="http://schemas.microsoft.com/office/drawing/2014/main" id="{51497C8A-F387-47AA-8425-8324EA6F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424271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ПОРЯДОК ТОГО ЖЕ ВХОДА</a:t>
            </a:r>
          </a:p>
        </p:txBody>
      </p:sp>
      <p:sp>
        <p:nvSpPr>
          <p:cNvPr id="4" name="hf-305">
            <a:extLst xmlns:a="http://schemas.openxmlformats.org/drawingml/2006/main">
              <a:ext uri="{FF2B5EF4-FFF2-40B4-BE49-F238E27FC236}">
                <a16:creationId xmlns:a16="http://schemas.microsoft.com/office/drawing/2014/main" id="{4973A555-41A6-4BB6-B993-3C406632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17892"/>
            <a:ext cx="643361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те же ключи и повторы, другой порядок входа · нс на элемент</a:t>
            </a:r>
          </a:p>
        </p:txBody>
      </p:sp>
      <p:sp>
        <p:nvSpPr>
          <p:cNvPr id="5" name="hf-306">
            <a:extLst xmlns:a="http://schemas.openxmlformats.org/drawingml/2006/main">
              <a:ext uri="{FF2B5EF4-FFF2-40B4-BE49-F238E27FC236}">
                <a16:creationId xmlns:a16="http://schemas.microsoft.com/office/drawing/2014/main" id="{E43138CF-4463-485C-8A89-14D3FF80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145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6" name="hf-307">
            <a:extLst xmlns:a="http://schemas.openxmlformats.org/drawingml/2006/main">
              <a:ext uri="{FF2B5EF4-FFF2-40B4-BE49-F238E27FC236}">
                <a16:creationId xmlns:a16="http://schemas.microsoft.com/office/drawing/2014/main" id="{6EAF2195-9EC5-4798-9B90-6CE860A5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830057"/>
            <a:ext cx="144809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Случайный</a:t>
            </a:r>
          </a:p>
        </p:txBody>
      </p:sp>
      <p:sp>
        <p:nvSpPr>
          <p:cNvPr id="7" name="hf-308">
            <a:extLst xmlns:a="http://schemas.openxmlformats.org/drawingml/2006/main">
              <a:ext uri="{FF2B5EF4-FFF2-40B4-BE49-F238E27FC236}">
                <a16:creationId xmlns:a16="http://schemas.microsoft.com/office/drawing/2014/main" id="{6EEAC57C-9EC6-4A85-A217-0C011937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27504"/>
            <a:ext cx="18207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20,2 · хеш 22,6</a:t>
            </a:r>
          </a:p>
        </p:txBody>
      </p:sp>
      <p:sp>
        <p:nvSpPr>
          <p:cNvPr id="8" name="hf-309">
            <a:extLst xmlns:a="http://schemas.openxmlformats.org/drawingml/2006/main">
              <a:ext uri="{FF2B5EF4-FFF2-40B4-BE49-F238E27FC236}">
                <a16:creationId xmlns:a16="http://schemas.microsoft.com/office/drawing/2014/main" id="{2D02CA69-4DF5-40A5-92D9-3380A8F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187642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hf-310">
            <a:extLst xmlns:a="http://schemas.openxmlformats.org/drawingml/2006/main">
              <a:ext uri="{FF2B5EF4-FFF2-40B4-BE49-F238E27FC236}">
                <a16:creationId xmlns:a16="http://schemas.microsoft.com/office/drawing/2014/main" id="{0A8AFFB3-DD47-4863-8085-BC80047D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877" y="1811007"/>
            <a:ext cx="114672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≈ близко</a:t>
            </a:r>
          </a:p>
        </p:txBody>
      </p:sp>
      <p:sp>
        <p:nvSpPr>
          <p:cNvPr id="10" name="hf-311">
            <a:extLst xmlns:a="http://schemas.openxmlformats.org/drawingml/2006/main">
              <a:ext uri="{FF2B5EF4-FFF2-40B4-BE49-F238E27FC236}">
                <a16:creationId xmlns:a16="http://schemas.microsoft.com/office/drawing/2014/main" id="{5BFB388F-1C9C-4C1B-8D07-FA845366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955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1" name="hf-312">
            <a:extLst xmlns:a="http://schemas.openxmlformats.org/drawingml/2006/main">
              <a:ext uri="{FF2B5EF4-FFF2-40B4-BE49-F238E27FC236}">
                <a16:creationId xmlns:a16="http://schemas.microsoft.com/office/drawing/2014/main" id="{03367764-BD10-4CCC-B710-163A2585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11107"/>
            <a:ext cx="273330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Сериями одинаковых</a:t>
            </a:r>
          </a:p>
        </p:txBody>
      </p:sp>
      <p:sp>
        <p:nvSpPr>
          <p:cNvPr id="12" name="hf-313">
            <a:extLst xmlns:a="http://schemas.openxmlformats.org/drawingml/2006/main">
              <a:ext uri="{FF2B5EF4-FFF2-40B4-BE49-F238E27FC236}">
                <a16:creationId xmlns:a16="http://schemas.microsoft.com/office/drawing/2014/main" id="{F10670FD-605D-4872-BF27-7255D6DE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08554"/>
            <a:ext cx="17703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20,5 · хеш 15,5</a:t>
            </a:r>
          </a:p>
        </p:txBody>
      </p:sp>
      <p:sp>
        <p:nvSpPr>
          <p:cNvPr id="13" name="hf-314">
            <a:extLst xmlns:a="http://schemas.openxmlformats.org/drawingml/2006/main">
              <a:ext uri="{FF2B5EF4-FFF2-40B4-BE49-F238E27FC236}">
                <a16:creationId xmlns:a16="http://schemas.microsoft.com/office/drawing/2014/main" id="{77F08D42-1BA5-4359-9E9E-9C682D23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265747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4" name="hf-315">
            <a:extLst xmlns:a="http://schemas.openxmlformats.org/drawingml/2006/main">
              <a:ext uri="{FF2B5EF4-FFF2-40B4-BE49-F238E27FC236}">
                <a16:creationId xmlns:a16="http://schemas.microsoft.com/office/drawing/2014/main" id="{50128BD0-4A9A-4086-B30F-55C4E22F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735" y="2592057"/>
            <a:ext cx="104693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 ×1,3</a:t>
            </a:r>
          </a:p>
        </p:txBody>
      </p:sp>
      <p:sp>
        <p:nvSpPr>
          <p:cNvPr id="15" name="hf-316">
            <a:extLst xmlns:a="http://schemas.openxmlformats.org/drawingml/2006/main">
              <a:ext uri="{FF2B5EF4-FFF2-40B4-BE49-F238E27FC236}">
                <a16:creationId xmlns:a16="http://schemas.microsoft.com/office/drawing/2014/main" id="{A8F54218-4E97-41F2-B1E7-9BE27B7A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766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6" name="hf-317">
            <a:extLst xmlns:a="http://schemas.openxmlformats.org/drawingml/2006/main">
              <a:ext uri="{FF2B5EF4-FFF2-40B4-BE49-F238E27FC236}">
                <a16:creationId xmlns:a16="http://schemas.microsoft.com/office/drawing/2014/main" id="{23C09798-5569-4C12-8AB4-424CF2A8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92157"/>
            <a:ext cx="283130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Уже отсортированный</a:t>
            </a:r>
          </a:p>
        </p:txBody>
      </p:sp>
      <p:sp>
        <p:nvSpPr>
          <p:cNvPr id="17" name="hf-318">
            <a:extLst xmlns:a="http://schemas.openxmlformats.org/drawingml/2006/main">
              <a:ext uri="{FF2B5EF4-FFF2-40B4-BE49-F238E27FC236}">
                <a16:creationId xmlns:a16="http://schemas.microsoft.com/office/drawing/2014/main" id="{1CEFA9FE-6E62-4DD4-B2F5-E234BDC5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099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8" name="hf-319">
            <a:extLst xmlns:a="http://schemas.openxmlformats.org/drawingml/2006/main">
              <a:ext uri="{FF2B5EF4-FFF2-40B4-BE49-F238E27FC236}">
                <a16:creationId xmlns:a16="http://schemas.microsoft.com/office/drawing/2014/main" id="{FD3399FF-126E-493B-B695-F76205D3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979" y="3365754"/>
            <a:ext cx="13424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19" name="hf-320">
            <a:extLst xmlns:a="http://schemas.openxmlformats.org/drawingml/2006/main">
              <a:ext uri="{FF2B5EF4-FFF2-40B4-BE49-F238E27FC236}">
                <a16:creationId xmlns:a16="http://schemas.microsoft.com/office/drawing/2014/main" id="{F26BF819-484C-458B-8137-4DE66A19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89604"/>
            <a:ext cx="16751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2,0 · хеш 16,5</a:t>
            </a:r>
          </a:p>
        </p:txBody>
      </p:sp>
      <p:sp>
        <p:nvSpPr>
          <p:cNvPr id="20" name="hf-321">
            <a:extLst xmlns:a="http://schemas.openxmlformats.org/drawingml/2006/main">
              <a:ext uri="{FF2B5EF4-FFF2-40B4-BE49-F238E27FC236}">
                <a16:creationId xmlns:a16="http://schemas.microsoft.com/office/drawing/2014/main" id="{B2AA23B0-7663-4FC1-8101-9BFADDF3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343852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21" name="hf-322">
            <a:extLst xmlns:a="http://schemas.openxmlformats.org/drawingml/2006/main">
              <a:ext uri="{FF2B5EF4-FFF2-40B4-BE49-F238E27FC236}">
                <a16:creationId xmlns:a16="http://schemas.microsoft.com/office/drawing/2014/main" id="{4CEFC2B3-90CD-4E4A-ABC4-F57DFD40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86" y="3366173"/>
            <a:ext cx="104090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21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 ×8</a:t>
            </a:r>
          </a:p>
        </p:txBody>
      </p:sp>
      <p:sp>
        <p:nvSpPr>
          <p:cNvPr id="22" name="hf-323">
            <a:extLst xmlns:a="http://schemas.openxmlformats.org/drawingml/2006/main">
              <a:ext uri="{FF2B5EF4-FFF2-40B4-BE49-F238E27FC236}">
                <a16:creationId xmlns:a16="http://schemas.microsoft.com/office/drawing/2014/main" id="{D552D718-7119-4CC9-903C-F2DE026E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70604"/>
            <a:ext cx="435203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libc++: ≈2 сравнения на элемент вместо ≈22</a:t>
            </a:r>
          </a:p>
        </p:txBody>
      </p:sp>
      <p:sp>
        <p:nvSpPr>
          <p:cNvPr id="23" name="hf-324">
            <a:extLst xmlns:a="http://schemas.openxmlformats.org/drawingml/2006/main">
              <a:ext uri="{FF2B5EF4-FFF2-40B4-BE49-F238E27FC236}">
                <a16:creationId xmlns:a16="http://schemas.microsoft.com/office/drawing/2014/main" id="{65BA335B-443A-4D8A-8FAE-C1EB8B3C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761" y="4070604"/>
            <a:ext cx="229217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libstdc++ так не делает</a:t>
            </a:r>
          </a:p>
        </p:txBody>
      </p:sp>
      <p:pic>
        <p:nvPicPr>
          <p:cNvPr id="24" name="hf-325">
            <a:extLst xmlns:a="http://schemas.openxmlformats.org/drawingml/2006/main">
              <a:ext uri="{FF2B5EF4-FFF2-40B4-BE49-F238E27FC236}">
                <a16:creationId xmlns:a16="http://schemas.microsoft.com/office/drawing/2014/main" id="{4B1665A7-0399-48D1-B67A-F41C372877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f34c91ab8406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5" name="hf-326">
            <a:extLst xmlns:a="http://schemas.openxmlformats.org/drawingml/2006/main">
              <a:ext uri="{FF2B5EF4-FFF2-40B4-BE49-F238E27FC236}">
                <a16:creationId xmlns:a16="http://schemas.microsoft.com/office/drawing/2014/main" id="{2AB5E513-5DDD-4AA3-A94C-F6348F93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25270225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p="http://schemas.openxmlformats.org/presentationml/2006/main">
  <p:cSld name="learned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27">
            <a:extLst xmlns:a="http://schemas.openxmlformats.org/drawingml/2006/main">
              <a:ext uri="{FF2B5EF4-FFF2-40B4-BE49-F238E27FC236}">
                <a16:creationId xmlns:a16="http://schemas.microsoft.com/office/drawing/2014/main" id="{4ABEE9AF-B221-4B5C-BE44-0B6AAFA7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30391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ВОСПРОИЗВОДИМЫЙ РЕЗУЛЬТАТ ТОЖЕ</a:t>
            </a:r>
          </a:p>
        </p:txBody>
      </p:sp>
      <p:sp>
        <p:nvSpPr>
          <p:cNvPr id="3" name="hf-328">
            <a:extLst xmlns:a="http://schemas.openxmlformats.org/drawingml/2006/main">
              <a:ext uri="{FF2B5EF4-FFF2-40B4-BE49-F238E27FC236}">
                <a16:creationId xmlns:a16="http://schemas.microsoft.com/office/drawing/2014/main" id="{CD442D62-96B4-4085-A497-8FC5DDBD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04796"/>
            <a:ext cx="306295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МОЖЕТ ОБМАНУТЬ</a:t>
            </a:r>
          </a:p>
        </p:txBody>
      </p:sp>
      <p:sp>
        <p:nvSpPr>
          <p:cNvPr id="4" name="hf-329">
            <a:extLst xmlns:a="http://schemas.openxmlformats.org/drawingml/2006/main">
              <a:ext uri="{FF2B5EF4-FFF2-40B4-BE49-F238E27FC236}">
                <a16:creationId xmlns:a16="http://schemas.microsoft.com/office/drawing/2014/main" id="{1277036A-FECA-43B7-9F13-A7CBE905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51217"/>
            <a:ext cx="61797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sort + unique · 1024 id · нативная macOS, M2 Pro · нс/элемент</a:t>
            </a:r>
          </a:p>
        </p:txBody>
      </p:sp>
      <p:sp>
        <p:nvSpPr>
          <p:cNvPr id="5" name="hf-330">
            <a:extLst xmlns:a="http://schemas.openxmlformats.org/drawingml/2006/main">
              <a:ext uri="{FF2B5EF4-FFF2-40B4-BE49-F238E27FC236}">
                <a16:creationId xmlns:a16="http://schemas.microsoft.com/office/drawing/2014/main" id="{9014200F-F30A-4057-BA63-03B4D5DF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842935"/>
            <a:ext cx="1372344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600"/>
              </a:lnSpc>
              <a:buNone/>
            </a:pPr>
            <a:r>
              <a:rPr sz="66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6,8</a:t>
            </a:r>
          </a:p>
        </p:txBody>
      </p:sp>
      <p:sp>
        <p:nvSpPr>
          <p:cNvPr id="6" name="hf-331">
            <a:extLst xmlns:a="http://schemas.openxmlformats.org/drawingml/2006/main">
              <a:ext uri="{FF2B5EF4-FFF2-40B4-BE49-F238E27FC236}">
                <a16:creationId xmlns:a16="http://schemas.microsoft.com/office/drawing/2014/main" id="{D038869C-1697-451D-80FF-2FCE9AF1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73032"/>
            <a:ext cx="24176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Один и тот же вход</a:t>
            </a:r>
          </a:p>
        </p:txBody>
      </p:sp>
      <p:sp>
        <p:nvSpPr>
          <p:cNvPr id="7" name="hf-332">
            <a:extLst xmlns:a="http://schemas.openxmlformats.org/drawingml/2006/main">
              <a:ext uri="{FF2B5EF4-FFF2-40B4-BE49-F238E27FC236}">
                <a16:creationId xmlns:a16="http://schemas.microsoft.com/office/drawing/2014/main" id="{413D8C20-EE9E-42DF-8DF0-FCFD3971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2935"/>
            <a:ext cx="177060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600"/>
              </a:lnSpc>
              <a:buNone/>
            </a:pPr>
            <a:r>
              <a:rPr sz="6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14,4</a:t>
            </a:r>
          </a:p>
        </p:txBody>
      </p:sp>
      <p:sp>
        <p:nvSpPr>
          <p:cNvPr id="8" name="hf-333">
            <a:extLst xmlns:a="http://schemas.openxmlformats.org/drawingml/2006/main">
              <a:ext uri="{FF2B5EF4-FFF2-40B4-BE49-F238E27FC236}">
                <a16:creationId xmlns:a16="http://schemas.microsoft.com/office/drawing/2014/main" id="{9E47816C-0BCB-4F7B-B4C5-2F21CAD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73032"/>
            <a:ext cx="208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64 разных входа</a:t>
            </a:r>
          </a:p>
        </p:txBody>
      </p:sp>
      <p:sp>
        <p:nvSpPr>
          <p:cNvPr id="9" name="hf-334">
            <a:extLst xmlns:a="http://schemas.openxmlformats.org/drawingml/2006/main">
              <a:ext uri="{FF2B5EF4-FFF2-40B4-BE49-F238E27FC236}">
                <a16:creationId xmlns:a16="http://schemas.microsoft.com/office/drawing/2014/main" id="{F3EF669D-A1C0-4BB5-9C03-43C9FF6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39770"/>
            <a:ext cx="533742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325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на x86: одинаковые входы быстры</a:t>
            </a:r>
          </a:p>
        </p:txBody>
      </p:sp>
      <p:sp>
        <p:nvSpPr>
          <p:cNvPr id="10" name="hf-335">
            <a:extLst xmlns:a="http://schemas.openxmlformats.org/drawingml/2006/main">
              <a:ext uri="{FF2B5EF4-FFF2-40B4-BE49-F238E27FC236}">
                <a16:creationId xmlns:a16="http://schemas.microsoft.com/office/drawing/2014/main" id="{86857D76-17FA-4EA1-8657-9AED768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35045"/>
            <a:ext cx="309309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325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даже по разным адресам</a:t>
            </a:r>
          </a:p>
        </p:txBody>
      </p:sp>
      <p:sp>
        <p:nvSpPr>
          <p:cNvPr id="11" name="hf-336">
            <a:extLst xmlns:a="http://schemas.openxmlformats.org/drawingml/2006/main">
              <a:ext uri="{FF2B5EF4-FFF2-40B4-BE49-F238E27FC236}">
                <a16:creationId xmlns:a16="http://schemas.microsoft.com/office/drawing/2014/main" id="{312C584E-C091-4E90-AD0D-FEAE70A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54157"/>
            <a:ext cx="718214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Повторяемость и проверка результата ещё не проверяют</a:t>
            </a:r>
          </a:p>
        </p:txBody>
      </p:sp>
      <p:sp>
        <p:nvSpPr>
          <p:cNvPr id="12" name="hf-337">
            <a:extLst xmlns:a="http://schemas.openxmlformats.org/drawingml/2006/main">
              <a:ext uri="{FF2B5EF4-FFF2-40B4-BE49-F238E27FC236}">
                <a16:creationId xmlns:a16="http://schemas.microsoft.com/office/drawing/2014/main" id="{EEF0D2C7-818B-4F95-AA02-D9206576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439907"/>
            <a:ext cx="178221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модель опыта</a:t>
            </a:r>
          </a:p>
        </p:txBody>
      </p:sp>
      <p:pic>
        <p:nvPicPr>
          <p:cNvPr id="13" name="hf-338">
            <a:extLst xmlns:a="http://schemas.openxmlformats.org/drawingml/2006/main">
              <a:ext uri="{FF2B5EF4-FFF2-40B4-BE49-F238E27FC236}">
                <a16:creationId xmlns:a16="http://schemas.microsoft.com/office/drawing/2014/main" id="{67240962-2AC2-409D-BCE3-BC008E1669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ba9d271014d3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4" name="hf-339">
            <a:extLst xmlns:a="http://schemas.openxmlformats.org/drawingml/2006/main">
              <a:ext uri="{FF2B5EF4-FFF2-40B4-BE49-F238E27FC236}">
                <a16:creationId xmlns:a16="http://schemas.microsoft.com/office/drawing/2014/main" id="{FBDAE16C-28D9-42E2-B81E-7CFADF10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11097938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9.xml><?xml version="1.0" encoding="utf-8"?>
<p:sld xmlns:p="http://schemas.openxmlformats.org/presentationml/2006/main">
  <p:cSld name="qo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40">
            <a:extLst xmlns:a="http://schemas.openxmlformats.org/drawingml/2006/main">
              <a:ext uri="{FF2B5EF4-FFF2-40B4-BE49-F238E27FC236}">
                <a16:creationId xmlns:a16="http://schemas.microsoft.com/office/drawing/2014/main" id="{28FF2F8A-08BE-4CF5-8B55-CC4D833B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44212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ПРОЦЕССОР</a:t>
            </a:r>
          </a:p>
        </p:txBody>
      </p:sp>
      <p:sp>
        <p:nvSpPr>
          <p:cNvPr id="3" name="hf-341">
            <a:extLst xmlns:a="http://schemas.openxmlformats.org/drawingml/2006/main">
              <a:ext uri="{FF2B5EF4-FFF2-40B4-BE49-F238E27FC236}">
                <a16:creationId xmlns:a16="http://schemas.microsoft.com/office/drawing/2014/main" id="{1480214F-80BE-483C-B710-4A331C1E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57071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МЕНЯЕМ QoS ПОТОКА — МЕНЯЕТСЯ</a:t>
            </a:r>
          </a:p>
        </p:txBody>
      </p:sp>
      <p:sp>
        <p:nvSpPr>
          <p:cNvPr id="4" name="hf-342">
            <a:extLst xmlns:a="http://schemas.openxmlformats.org/drawingml/2006/main">
              <a:ext uri="{FF2B5EF4-FFF2-40B4-BE49-F238E27FC236}">
                <a16:creationId xmlns:a16="http://schemas.microsoft.com/office/drawing/2014/main" id="{587D3765-3947-419A-AF08-4754C2E9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82187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РЕЗУЛЬТАТ</a:t>
            </a:r>
          </a:p>
        </p:txBody>
      </p:sp>
      <p:sp>
        <p:nvSpPr>
          <p:cNvPr id="5" name="hf-343">
            <a:extLst xmlns:a="http://schemas.openxmlformats.org/drawingml/2006/main">
              <a:ext uri="{FF2B5EF4-FFF2-40B4-BE49-F238E27FC236}">
                <a16:creationId xmlns:a16="http://schemas.microsoft.com/office/drawing/2014/main" id="{ED123F91-5EFE-4628-BF58-35534321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53538"/>
            <a:ext cx="425841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38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pthread_set_qos_class_self_np(</a:t>
            </a:r>
          </a:p>
        </p:txBody>
      </p:sp>
      <p:sp>
        <p:nvSpPr>
          <p:cNvPr id="6" name="hf-344">
            <a:extLst xmlns:a="http://schemas.openxmlformats.org/drawingml/2006/main">
              <a:ext uri="{FF2B5EF4-FFF2-40B4-BE49-F238E27FC236}">
                <a16:creationId xmlns:a16="http://schemas.microsoft.com/office/drawing/2014/main" id="{C25350E4-D5CA-442A-8557-E2653F0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58338"/>
            <a:ext cx="36982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38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    QOS_CLASS_UTILITY, 0);</a:t>
            </a:r>
          </a:p>
        </p:txBody>
      </p:sp>
      <p:sp>
        <p:nvSpPr>
          <p:cNvPr id="7" name="hf-345">
            <a:extLst xmlns:a="http://schemas.openxmlformats.org/drawingml/2006/main">
              <a:ext uri="{FF2B5EF4-FFF2-40B4-BE49-F238E27FC236}">
                <a16:creationId xmlns:a16="http://schemas.microsoft.com/office/drawing/2014/main" id="{169AE629-6634-4DF6-A61B-BE07DA3C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05295"/>
            <a:ext cx="5856461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512K id · половина уникальных · sort / unordered_set, нс на элемент</a:t>
            </a:r>
          </a:p>
        </p:txBody>
      </p:sp>
      <p:sp>
        <p:nvSpPr>
          <p:cNvPr id="8" name="hf-346">
            <a:extLst xmlns:a="http://schemas.openxmlformats.org/drawingml/2006/main">
              <a:ext uri="{FF2B5EF4-FFF2-40B4-BE49-F238E27FC236}">
                <a16:creationId xmlns:a16="http://schemas.microsoft.com/office/drawing/2014/main" id="{0485F079-51CF-40C3-AB55-76855686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315" y="2184111"/>
            <a:ext cx="1368996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userInitiated</a:t>
            </a:r>
          </a:p>
        </p:txBody>
      </p:sp>
      <p:sp>
        <p:nvSpPr>
          <p:cNvPr id="9" name="hf-347">
            <a:extLst xmlns:a="http://schemas.openxmlformats.org/drawingml/2006/main">
              <a:ext uri="{FF2B5EF4-FFF2-40B4-BE49-F238E27FC236}">
                <a16:creationId xmlns:a16="http://schemas.microsoft.com/office/drawing/2014/main" id="{3EB33C3E-0718-416E-A4CD-0066F57A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411" y="2184111"/>
            <a:ext cx="64554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utility</a:t>
            </a:r>
          </a:p>
        </p:txBody>
      </p:sp>
      <p:sp>
        <p:nvSpPr>
          <p:cNvPr id="10" name="hf-348">
            <a:extLst xmlns:a="http://schemas.openxmlformats.org/drawingml/2006/main">
              <a:ext uri="{FF2B5EF4-FFF2-40B4-BE49-F238E27FC236}">
                <a16:creationId xmlns:a16="http://schemas.microsoft.com/office/drawing/2014/main" id="{5EA5D550-42DC-4B4F-A926-4D3213BE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25395"/>
            <a:ext cx="54731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</a:t>
            </a:r>
          </a:p>
        </p:txBody>
      </p:sp>
      <p:sp>
        <p:nvSpPr>
          <p:cNvPr id="11" name="hf-349">
            <a:extLst xmlns:a="http://schemas.openxmlformats.org/drawingml/2006/main">
              <a:ext uri="{FF2B5EF4-FFF2-40B4-BE49-F238E27FC236}">
                <a16:creationId xmlns:a16="http://schemas.microsoft.com/office/drawing/2014/main" id="{6CBDC383-D7FE-4CDB-9558-1AA93593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05420"/>
            <a:ext cx="636687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M2 Pro</a:t>
            </a:r>
          </a:p>
        </p:txBody>
      </p:sp>
      <p:sp>
        <p:nvSpPr>
          <p:cNvPr id="12" name="hf-350">
            <a:extLst xmlns:a="http://schemas.openxmlformats.org/drawingml/2006/main">
              <a:ext uri="{FF2B5EF4-FFF2-40B4-BE49-F238E27FC236}">
                <a16:creationId xmlns:a16="http://schemas.microsoft.com/office/drawing/2014/main" id="{F34780A6-75A3-453E-AD36-42A8FCF9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79511"/>
            <a:ext cx="146402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13" name="hf-351">
            <a:extLst xmlns:a="http://schemas.openxmlformats.org/drawingml/2006/main">
              <a:ext uri="{FF2B5EF4-FFF2-40B4-BE49-F238E27FC236}">
                <a16:creationId xmlns:a16="http://schemas.microsoft.com/office/drawing/2014/main" id="{9AD098DF-D835-4833-B2AC-2DF1D853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53145"/>
            <a:ext cx="90576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A16 Bionic</a:t>
            </a:r>
          </a:p>
        </p:txBody>
      </p:sp>
      <p:sp>
        <p:nvSpPr>
          <p:cNvPr id="14" name="hf-352">
            <a:extLst xmlns:a="http://schemas.openxmlformats.org/drawingml/2006/main">
              <a:ext uri="{FF2B5EF4-FFF2-40B4-BE49-F238E27FC236}">
                <a16:creationId xmlns:a16="http://schemas.microsoft.com/office/drawing/2014/main" id="{30F2F2BD-C0E8-4871-A4B2-7AB9889B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486025"/>
            <a:ext cx="2857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5" name="hf-353">
            <a:extLst xmlns:a="http://schemas.openxmlformats.org/drawingml/2006/main">
              <a:ext uri="{FF2B5EF4-FFF2-40B4-BE49-F238E27FC236}">
                <a16:creationId xmlns:a16="http://schemas.microsoft.com/office/drawing/2014/main" id="{35C910D3-1C3D-434A-88B8-32A0F75A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569602"/>
            <a:ext cx="1016496" cy="275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16"/>
              </a:lnSpc>
              <a:buNone/>
            </a:pPr>
            <a:r>
              <a:rPr sz="1613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6" name="hf-354">
            <a:extLst xmlns:a="http://schemas.openxmlformats.org/drawingml/2006/main">
              <a:ext uri="{FF2B5EF4-FFF2-40B4-BE49-F238E27FC236}">
                <a16:creationId xmlns:a16="http://schemas.microsoft.com/office/drawing/2014/main" id="{1FA03310-A8EF-4959-8A4E-C492742E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59910"/>
            <a:ext cx="942231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48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19,6 / 18,7</a:t>
            </a:r>
          </a:p>
        </p:txBody>
      </p:sp>
      <p:sp>
        <p:nvSpPr>
          <p:cNvPr id="17" name="hf-355">
            <a:extLst xmlns:a="http://schemas.openxmlformats.org/drawingml/2006/main">
              <a:ext uri="{FF2B5EF4-FFF2-40B4-BE49-F238E27FC236}">
                <a16:creationId xmlns:a16="http://schemas.microsoft.com/office/drawing/2014/main" id="{82C955D5-A9D4-4A04-8E55-AB3692AC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3062288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8" name="hf-356">
            <a:extLst xmlns:a="http://schemas.openxmlformats.org/drawingml/2006/main">
              <a:ext uri="{FF2B5EF4-FFF2-40B4-BE49-F238E27FC236}">
                <a16:creationId xmlns:a16="http://schemas.microsoft.com/office/drawing/2014/main" id="{3788F72A-4D55-4179-8D83-53B82332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69602"/>
            <a:ext cx="1016496" cy="275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16"/>
              </a:lnSpc>
              <a:buNone/>
            </a:pPr>
            <a:r>
              <a:rPr sz="1613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9" name="hf-357">
            <a:extLst xmlns:a="http://schemas.openxmlformats.org/drawingml/2006/main">
              <a:ext uri="{FF2B5EF4-FFF2-40B4-BE49-F238E27FC236}">
                <a16:creationId xmlns:a16="http://schemas.microsoft.com/office/drawing/2014/main" id="{C963B88A-4995-4712-B550-3EB2A3BD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9910"/>
            <a:ext cx="943049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48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20,1 / 21,0</a:t>
            </a:r>
          </a:p>
        </p:txBody>
      </p:sp>
      <p:sp>
        <p:nvSpPr>
          <p:cNvPr id="20" name="hf-358">
            <a:extLst xmlns:a="http://schemas.openxmlformats.org/drawingml/2006/main">
              <a:ext uri="{FF2B5EF4-FFF2-40B4-BE49-F238E27FC236}">
                <a16:creationId xmlns:a16="http://schemas.microsoft.com/office/drawing/2014/main" id="{3972921A-9F58-4A04-853F-CF2BE00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52800"/>
            <a:ext cx="2857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1" name="hf-359">
            <a:extLst xmlns:a="http://schemas.openxmlformats.org/drawingml/2006/main">
              <a:ext uri="{FF2B5EF4-FFF2-40B4-BE49-F238E27FC236}">
                <a16:creationId xmlns:a16="http://schemas.microsoft.com/office/drawing/2014/main" id="{1A46E49A-D679-4F95-8E58-27552206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436377"/>
            <a:ext cx="1016496" cy="275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16"/>
              </a:lnSpc>
              <a:buNone/>
            </a:pPr>
            <a:r>
              <a:rPr sz="1613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22" name="hf-360">
            <a:extLst xmlns:a="http://schemas.openxmlformats.org/drawingml/2006/main">
              <a:ext uri="{FF2B5EF4-FFF2-40B4-BE49-F238E27FC236}">
                <a16:creationId xmlns:a16="http://schemas.microsoft.com/office/drawing/2014/main" id="{E3B5D4E5-A4BC-4877-801E-F91BC6CC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26685"/>
            <a:ext cx="942529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48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19,6 / 18,2</a:t>
            </a:r>
          </a:p>
        </p:txBody>
      </p:sp>
      <p:sp>
        <p:nvSpPr>
          <p:cNvPr id="23" name="hf-361">
            <a:extLst xmlns:a="http://schemas.openxmlformats.org/drawingml/2006/main">
              <a:ext uri="{FF2B5EF4-FFF2-40B4-BE49-F238E27FC236}">
                <a16:creationId xmlns:a16="http://schemas.microsoft.com/office/drawing/2014/main" id="{165FFEDA-279C-457B-952E-5C649AEB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3062288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hf-362">
            <a:extLst xmlns:a="http://schemas.openxmlformats.org/drawingml/2006/main">
              <a:ext uri="{FF2B5EF4-FFF2-40B4-BE49-F238E27FC236}">
                <a16:creationId xmlns:a16="http://schemas.microsoft.com/office/drawing/2014/main" id="{1914744B-D090-4A24-B277-10E1CE73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36377"/>
            <a:ext cx="904503" cy="275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16"/>
              </a:lnSpc>
              <a:buNone/>
            </a:pPr>
            <a:r>
              <a:rPr sz="1613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sort ×1,9</a:t>
            </a:r>
          </a:p>
        </p:txBody>
      </p:sp>
      <p:sp>
        <p:nvSpPr>
          <p:cNvPr id="25" name="hf-363">
            <a:extLst xmlns:a="http://schemas.openxmlformats.org/drawingml/2006/main">
              <a:ext uri="{FF2B5EF4-FFF2-40B4-BE49-F238E27FC236}">
                <a16:creationId xmlns:a16="http://schemas.microsoft.com/office/drawing/2014/main" id="{C6204A82-818C-4CFC-91D9-69F76C4A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26685"/>
            <a:ext cx="108674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48"/>
              </a:lnSpc>
              <a:buNone/>
            </a:pPr>
            <a:r>
              <a:rPr sz="1575" b="0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55,3 / 105,3</a:t>
            </a:r>
          </a:p>
        </p:txBody>
      </p:sp>
      <p:sp>
        <p:nvSpPr>
          <p:cNvPr id="26" name="hf-364">
            <a:extLst xmlns:a="http://schemas.openxmlformats.org/drawingml/2006/main">
              <a:ext uri="{FF2B5EF4-FFF2-40B4-BE49-F238E27FC236}">
                <a16:creationId xmlns:a16="http://schemas.microsoft.com/office/drawing/2014/main" id="{04ABA6F3-9CE4-4171-9179-C8612F38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43073"/>
            <a:ext cx="5149155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Mac, 1M: преимущество sort тоже выросло — ×1,3 → ×1,8</a:t>
            </a:r>
          </a:p>
        </p:txBody>
      </p:sp>
      <p:pic>
        <p:nvPicPr>
          <p:cNvPr id="27" name="hf-365">
            <a:extLst xmlns:a="http://schemas.openxmlformats.org/drawingml/2006/main">
              <a:ext uri="{FF2B5EF4-FFF2-40B4-BE49-F238E27FC236}">
                <a16:creationId xmlns:a16="http://schemas.microsoft.com/office/drawing/2014/main" id="{F3143994-0524-4F27-BE13-C75117330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38474aefe46b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8" name="hf-366">
            <a:extLst xmlns:a="http://schemas.openxmlformats.org/drawingml/2006/main">
              <a:ext uri="{FF2B5EF4-FFF2-40B4-BE49-F238E27FC236}">
                <a16:creationId xmlns:a16="http://schemas.microsoft.com/office/drawing/2014/main" id="{90205954-4943-49E4-BA06-AE6122FD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41288801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p="http://schemas.openxmlformats.org/presentationml/2006/main">
  <p:cSld name="x33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67">
            <a:extLst xmlns:a="http://schemas.openxmlformats.org/drawingml/2006/main">
              <a:ext uri="{FF2B5EF4-FFF2-40B4-BE49-F238E27FC236}">
                <a16:creationId xmlns:a16="http://schemas.microsoft.com/office/drawing/2014/main" id="{B857BC9D-AE72-4FED-BC05-F426A673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44212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ПРОЦЕССОР</a:t>
            </a:r>
          </a:p>
        </p:txBody>
      </p:sp>
      <p:sp>
        <p:nvSpPr>
          <p:cNvPr id="3" name="hf-368">
            <a:extLst xmlns:a="http://schemas.openxmlformats.org/drawingml/2006/main">
              <a:ext uri="{FF2B5EF4-FFF2-40B4-BE49-F238E27FC236}">
                <a16:creationId xmlns:a16="http://schemas.microsoft.com/office/drawing/2014/main" id="{640C793A-B2F7-4714-B00F-5C687119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828532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НА МИЛЛИОНЕ id СОРТИРОВКА ВПЕРЕДИ В</a:t>
            </a:r>
          </a:p>
        </p:txBody>
      </p:sp>
      <p:sp>
        <p:nvSpPr>
          <p:cNvPr id="4" name="hf-369">
            <a:extLst xmlns:a="http://schemas.openxmlformats.org/drawingml/2006/main">
              <a:ext uri="{FF2B5EF4-FFF2-40B4-BE49-F238E27FC236}">
                <a16:creationId xmlns:a16="http://schemas.microsoft.com/office/drawing/2014/main" id="{F6DAF3AE-A312-471E-A5CD-07B4ACD9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39414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3,3 РАЗА</a:t>
            </a:r>
          </a:p>
        </p:txBody>
      </p:sp>
      <p:sp>
        <p:nvSpPr>
          <p:cNvPr id="5" name="hf-370">
            <a:extLst xmlns:a="http://schemas.openxmlformats.org/drawingml/2006/main">
              <a:ext uri="{FF2B5EF4-FFF2-40B4-BE49-F238E27FC236}">
                <a16:creationId xmlns:a16="http://schemas.microsoft.com/office/drawing/2014/main" id="{25478281-B59F-4370-A68D-9D4D3C1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02506"/>
            <a:ext cx="4096717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 · A16 Bionic · QoS utility</a:t>
            </a:r>
          </a:p>
        </p:txBody>
      </p:sp>
      <p:sp>
        <p:nvSpPr>
          <p:cNvPr id="6" name="hf-371">
            <a:extLst xmlns:a="http://schemas.openxmlformats.org/drawingml/2006/main">
              <a:ext uri="{FF2B5EF4-FFF2-40B4-BE49-F238E27FC236}">
                <a16:creationId xmlns:a16="http://schemas.microsoft.com/office/drawing/2014/main" id="{9359F1B9-B857-4A8F-8E5F-4D32CB5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77238"/>
            <a:ext cx="262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/ элемент · меньше — лучше</a:t>
            </a:r>
          </a:p>
        </p:txBody>
      </p:sp>
      <p:sp>
        <p:nvSpPr>
          <p:cNvPr id="7" name="hf-372">
            <a:extLst xmlns:a="http://schemas.openxmlformats.org/drawingml/2006/main">
              <a:ext uri="{FF2B5EF4-FFF2-40B4-BE49-F238E27FC236}">
                <a16:creationId xmlns:a16="http://schemas.microsoft.com/office/drawing/2014/main" id="{EC4F4423-5C56-4F39-92A0-B423C76B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97831"/>
            <a:ext cx="148359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8" name="hf-373">
            <a:extLst xmlns:a="http://schemas.openxmlformats.org/drawingml/2006/main">
              <a:ext uri="{FF2B5EF4-FFF2-40B4-BE49-F238E27FC236}">
                <a16:creationId xmlns:a16="http://schemas.microsoft.com/office/drawing/2014/main" id="{13A7D32D-1B20-4780-8B7F-8B93371C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992" y="1980571"/>
            <a:ext cx="822945" cy="399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92"/>
              </a:lnSpc>
              <a:buNone/>
            </a:pPr>
            <a:r>
              <a:rPr sz="28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57,4</a:t>
            </a:r>
          </a:p>
        </p:txBody>
      </p:sp>
      <p:sp>
        <p:nvSpPr>
          <p:cNvPr id="9" name="hf-374">
            <a:extLst xmlns:a="http://schemas.openxmlformats.org/drawingml/2006/main">
              <a:ext uri="{FF2B5EF4-FFF2-40B4-BE49-F238E27FC236}">
                <a16:creationId xmlns:a16="http://schemas.microsoft.com/office/drawing/2014/main" id="{0123B069-0C51-42B2-B5BB-445714A6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947738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0" name="hf-375">
            <a:extLst xmlns:a="http://schemas.openxmlformats.org/drawingml/2006/main">
              <a:ext uri="{FF2B5EF4-FFF2-40B4-BE49-F238E27FC236}">
                <a16:creationId xmlns:a16="http://schemas.microsoft.com/office/drawing/2014/main" id="{E0D41217-0630-4F8B-9C7D-D969108A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0318"/>
            <a:ext cx="163331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1" name="hf-376">
            <a:extLst xmlns:a="http://schemas.openxmlformats.org/drawingml/2006/main">
              <a:ext uri="{FF2B5EF4-FFF2-40B4-BE49-F238E27FC236}">
                <a16:creationId xmlns:a16="http://schemas.microsoft.com/office/drawing/2014/main" id="{517CB66A-0A31-4134-BF3E-722478EE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856" y="2833059"/>
            <a:ext cx="958081" cy="399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92"/>
              </a:lnSpc>
              <a:buNone/>
            </a:pPr>
            <a:r>
              <a:rPr sz="285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187,7</a:t>
            </a:r>
          </a:p>
        </p:txBody>
      </p:sp>
      <p:sp>
        <p:nvSpPr>
          <p:cNvPr id="12" name="hf-377">
            <a:extLst xmlns:a="http://schemas.openxmlformats.org/drawingml/2006/main">
              <a:ext uri="{FF2B5EF4-FFF2-40B4-BE49-F238E27FC236}">
                <a16:creationId xmlns:a16="http://schemas.microsoft.com/office/drawing/2014/main" id="{57F2CC09-32FC-47C3-B828-4CBB6BC6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5638"/>
            <a:ext cx="3095625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3" name="hf-378">
            <a:extLst xmlns:a="http://schemas.openxmlformats.org/drawingml/2006/main">
              <a:ext uri="{FF2B5EF4-FFF2-40B4-BE49-F238E27FC236}">
                <a16:creationId xmlns:a16="http://schemas.microsoft.com/office/drawing/2014/main" id="{02391A2C-0A30-4A7D-A644-A17970A7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19811"/>
            <a:ext cx="269044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0125"/>
              </a:lnSpc>
              <a:buNone/>
            </a:pPr>
            <a:r>
              <a:rPr sz="10125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×3,3</a:t>
            </a:r>
          </a:p>
        </p:txBody>
      </p:sp>
      <p:sp>
        <p:nvSpPr>
          <p:cNvPr id="14" name="hf-379">
            <a:extLst xmlns:a="http://schemas.openxmlformats.org/drawingml/2006/main">
              <a:ext uri="{FF2B5EF4-FFF2-40B4-BE49-F238E27FC236}">
                <a16:creationId xmlns:a16="http://schemas.microsoft.com/office/drawing/2014/main" id="{D1EB115A-A3FE-4BE1-8D1F-BBF32709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34995"/>
            <a:ext cx="161329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15" name="hf-380">
            <a:extLst xmlns:a="http://schemas.openxmlformats.org/drawingml/2006/main">
              <a:ext uri="{FF2B5EF4-FFF2-40B4-BE49-F238E27FC236}">
                <a16:creationId xmlns:a16="http://schemas.microsoft.com/office/drawing/2014/main" id="{E0D31FE2-7772-465B-9040-81AABCD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20745"/>
            <a:ext cx="288049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быстрее unordered_set</a:t>
            </a:r>
          </a:p>
        </p:txBody>
      </p:sp>
      <p:sp>
        <p:nvSpPr>
          <p:cNvPr id="16" name="hf-381">
            <a:extLst xmlns:a="http://schemas.openxmlformats.org/drawingml/2006/main">
              <a:ext uri="{FF2B5EF4-FFF2-40B4-BE49-F238E27FC236}">
                <a16:creationId xmlns:a16="http://schemas.microsoft.com/office/drawing/2014/main" id="{0A3DDD17-C756-44DB-8468-126D8150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04973"/>
            <a:ext cx="4692476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1M id · половина уникальных · одинаковые входы</a:t>
            </a:r>
          </a:p>
        </p:txBody>
      </p:sp>
      <p:pic>
        <p:nvPicPr>
          <p:cNvPr id="17" name="hf-382">
            <a:extLst xmlns:a="http://schemas.openxmlformats.org/drawingml/2006/main">
              <a:ext uri="{FF2B5EF4-FFF2-40B4-BE49-F238E27FC236}">
                <a16:creationId xmlns:a16="http://schemas.microsoft.com/office/drawing/2014/main" id="{7B9499BD-BFC3-45AF-B480-3DFDE1B9CD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b5454232741f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8" name="hf-383">
            <a:extLst xmlns:a="http://schemas.openxmlformats.org/drawingml/2006/main">
              <a:ext uri="{FF2B5EF4-FFF2-40B4-BE49-F238E27FC236}">
                <a16:creationId xmlns:a16="http://schemas.microsoft.com/office/drawing/2014/main" id="{BA10F805-635A-49C3-B045-8E41279F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73624180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21.xml><?xml version="1.0" encoding="utf-8"?>
<p:sld xmlns:p="http://schemas.openxmlformats.org/presentationml/2006/main">
  <p:cSld name="core-model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84">
            <a:extLst xmlns:a="http://schemas.openxmlformats.org/drawingml/2006/main">
              <a:ext uri="{FF2B5EF4-FFF2-40B4-BE49-F238E27FC236}">
                <a16:creationId xmlns:a16="http://schemas.microsoft.com/office/drawing/2014/main" id="{F92CC8F0-2600-43B0-BB0E-16D018F7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44212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ПРОЦЕССОР</a:t>
            </a:r>
          </a:p>
        </p:txBody>
      </p:sp>
      <p:sp>
        <p:nvSpPr>
          <p:cNvPr id="3" name="hf-385">
            <a:extLst xmlns:a="http://schemas.openxmlformats.org/drawingml/2006/main">
              <a:ext uri="{FF2B5EF4-FFF2-40B4-BE49-F238E27FC236}">
                <a16:creationId xmlns:a16="http://schemas.microsoft.com/office/drawing/2014/main" id="{E00A72E1-AB90-45FA-BE35-6E531F0E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067574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КРИВУЮ МЕНЯЮТ ЧАСТОТА И РАЗМЕР</a:t>
            </a:r>
          </a:p>
        </p:txBody>
      </p:sp>
      <p:sp>
        <p:nvSpPr>
          <p:cNvPr id="4" name="hf-386">
            <a:extLst xmlns:a="http://schemas.openxmlformats.org/drawingml/2006/main">
              <a:ext uri="{FF2B5EF4-FFF2-40B4-BE49-F238E27FC236}">
                <a16:creationId xmlns:a16="http://schemas.microsoft.com/office/drawing/2014/main" id="{3D590675-C8C4-4E25-8D44-97E451A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00250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КЭША</a:t>
            </a:r>
          </a:p>
        </p:txBody>
      </p:sp>
      <p:sp>
        <p:nvSpPr>
          <p:cNvPr id="5" name="hf-387">
            <a:extLst xmlns:a="http://schemas.openxmlformats.org/drawingml/2006/main">
              <a:ext uri="{FF2B5EF4-FFF2-40B4-BE49-F238E27FC236}">
                <a16:creationId xmlns:a16="http://schemas.microsoft.com/office/drawing/2014/main" id="{B5F3DD3F-CD2A-44F8-BF5B-90B03818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04950"/>
            <a:ext cx="3786188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6" name="hf-388">
            <a:extLst xmlns:a="http://schemas.openxmlformats.org/drawingml/2006/main">
              <a:ext uri="{FF2B5EF4-FFF2-40B4-BE49-F238E27FC236}">
                <a16:creationId xmlns:a16="http://schemas.microsoft.com/office/drawing/2014/main" id="{CCECC98A-E9E2-4F43-B07B-F4BF33A0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04950"/>
            <a:ext cx="3786188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7" name="hf-389">
            <a:extLst xmlns:a="http://schemas.openxmlformats.org/drawingml/2006/main">
              <a:ext uri="{FF2B5EF4-FFF2-40B4-BE49-F238E27FC236}">
                <a16:creationId xmlns:a16="http://schemas.microsoft.com/office/drawing/2014/main" id="{DE53DC9D-879B-4E7B-9DB1-410E4E36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1766983"/>
            <a:ext cx="534367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5250"/>
              </a:lnSpc>
              <a:buNone/>
            </a:pPr>
            <a:r>
              <a:rPr sz="52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</a:t>
            </a:r>
          </a:p>
        </p:txBody>
      </p:sp>
      <p:sp>
        <p:nvSpPr>
          <p:cNvPr id="8" name="hf-390">
            <a:extLst xmlns:a="http://schemas.openxmlformats.org/drawingml/2006/main">
              <a:ext uri="{FF2B5EF4-FFF2-40B4-BE49-F238E27FC236}">
                <a16:creationId xmlns:a16="http://schemas.microsoft.com/office/drawing/2014/main" id="{3C8723AA-3648-4E57-8C3D-9192690A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8" y="1773450"/>
            <a:ext cx="2332658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Производительное</a:t>
            </a:r>
          </a:p>
        </p:txBody>
      </p:sp>
      <p:sp>
        <p:nvSpPr>
          <p:cNvPr id="9" name="hf-391">
            <a:extLst xmlns:a="http://schemas.openxmlformats.org/drawingml/2006/main">
              <a:ext uri="{FF2B5EF4-FFF2-40B4-BE49-F238E27FC236}">
                <a16:creationId xmlns:a16="http://schemas.microsoft.com/office/drawing/2014/main" id="{13704290-1B1C-4BC4-9E5E-104A02C7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8" y="2047294"/>
            <a:ext cx="635124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ядро</a:t>
            </a:r>
          </a:p>
        </p:txBody>
      </p:sp>
      <p:sp>
        <p:nvSpPr>
          <p:cNvPr id="10" name="hf-392">
            <a:extLst xmlns:a="http://schemas.openxmlformats.org/drawingml/2006/main">
              <a:ext uri="{FF2B5EF4-FFF2-40B4-BE49-F238E27FC236}">
                <a16:creationId xmlns:a16="http://schemas.microsoft.com/office/drawing/2014/main" id="{219C6006-056D-42FE-8DD5-5C301911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766983"/>
            <a:ext cx="490984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5250"/>
              </a:lnSpc>
              <a:buNone/>
            </a:pPr>
            <a:r>
              <a:rPr sz="5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E</a:t>
            </a:r>
          </a:p>
        </p:txBody>
      </p:sp>
      <p:sp>
        <p:nvSpPr>
          <p:cNvPr id="11" name="hf-393">
            <a:extLst xmlns:a="http://schemas.openxmlformats.org/drawingml/2006/main">
              <a:ext uri="{FF2B5EF4-FFF2-40B4-BE49-F238E27FC236}">
                <a16:creationId xmlns:a16="http://schemas.microsoft.com/office/drawing/2014/main" id="{5053744D-58A0-4D61-B0FE-8B20B16F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75079"/>
            <a:ext cx="217921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Энергоэффективное</a:t>
            </a:r>
          </a:p>
        </p:txBody>
      </p:sp>
      <p:sp>
        <p:nvSpPr>
          <p:cNvPr id="12" name="hf-394">
            <a:extLst xmlns:a="http://schemas.openxmlformats.org/drawingml/2006/main">
              <a:ext uri="{FF2B5EF4-FFF2-40B4-BE49-F238E27FC236}">
                <a16:creationId xmlns:a16="http://schemas.microsoft.com/office/drawing/2014/main" id="{36A664AF-948F-4332-8C76-838C3061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13204"/>
            <a:ext cx="55974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ядро</a:t>
            </a:r>
          </a:p>
        </p:txBody>
      </p:sp>
      <p:sp>
        <p:nvSpPr>
          <p:cNvPr id="13" name="hf-395">
            <a:extLst xmlns:a="http://schemas.openxmlformats.org/drawingml/2006/main">
              <a:ext uri="{FF2B5EF4-FFF2-40B4-BE49-F238E27FC236}">
                <a16:creationId xmlns:a16="http://schemas.microsoft.com/office/drawing/2014/main" id="{B2B66A7C-BECD-43E4-B757-23432CAC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671448"/>
            <a:ext cx="2358703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Свой кэш и своя частота</a:t>
            </a:r>
          </a:p>
        </p:txBody>
      </p:sp>
      <p:sp>
        <p:nvSpPr>
          <p:cNvPr id="14" name="hf-396">
            <a:extLst xmlns:a="http://schemas.openxmlformats.org/drawingml/2006/main">
              <a:ext uri="{FF2B5EF4-FFF2-40B4-BE49-F238E27FC236}">
                <a16:creationId xmlns:a16="http://schemas.microsoft.com/office/drawing/2014/main" id="{3ADB6A13-52CA-4D04-B271-0D2051A3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71448"/>
            <a:ext cx="2358703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Свой кэш и своя частота</a:t>
            </a:r>
          </a:p>
        </p:txBody>
      </p:sp>
      <p:sp>
        <p:nvSpPr>
          <p:cNvPr id="15" name="hf-397">
            <a:extLst xmlns:a="http://schemas.openxmlformats.org/drawingml/2006/main">
              <a:ext uri="{FF2B5EF4-FFF2-40B4-BE49-F238E27FC236}">
                <a16:creationId xmlns:a16="http://schemas.microsoft.com/office/drawing/2014/main" id="{74F564A7-F65C-46B9-BD4C-0D54737E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32417"/>
            <a:ext cx="52520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У разных типов ядер — разные параметры памяти</a:t>
            </a:r>
          </a:p>
        </p:txBody>
      </p:sp>
      <p:sp>
        <p:nvSpPr>
          <p:cNvPr id="16" name="hf-398">
            <a:extLst xmlns:a="http://schemas.openxmlformats.org/drawingml/2006/main">
              <a:ext uri="{FF2B5EF4-FFF2-40B4-BE49-F238E27FC236}">
                <a16:creationId xmlns:a16="http://schemas.microsoft.com/office/drawing/2014/main" id="{F86B46A6-A63C-41C8-9A14-124D631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052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399">
            <a:extLst xmlns:a="http://schemas.openxmlformats.org/drawingml/2006/main">
              <a:ext uri="{FF2B5EF4-FFF2-40B4-BE49-F238E27FC236}">
                <a16:creationId xmlns:a16="http://schemas.microsoft.com/office/drawing/2014/main" id="{FB447674-E9F6-4461-B5C0-D344DB4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97525"/>
            <a:ext cx="960611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Частота</a:t>
            </a:r>
          </a:p>
        </p:txBody>
      </p:sp>
      <p:sp>
        <p:nvSpPr>
          <p:cNvPr id="18" name="hf-400">
            <a:extLst xmlns:a="http://schemas.openxmlformats.org/drawingml/2006/main">
              <a:ext uri="{FF2B5EF4-FFF2-40B4-BE49-F238E27FC236}">
                <a16:creationId xmlns:a16="http://schemas.microsoft.com/office/drawing/2014/main" id="{D3C2E297-DD8A-40FE-82DA-F546F79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94429"/>
            <a:ext cx="2297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меняет высоту кривой</a:t>
            </a:r>
          </a:p>
        </p:txBody>
      </p:sp>
      <p:sp>
        <p:nvSpPr>
          <p:cNvPr id="19" name="hf-401">
            <a:extLst xmlns:a="http://schemas.openxmlformats.org/drawingml/2006/main">
              <a:ext uri="{FF2B5EF4-FFF2-40B4-BE49-F238E27FC236}">
                <a16:creationId xmlns:a16="http://schemas.microsoft.com/office/drawing/2014/main" id="{C9A216BB-2C22-4A69-B2DF-3584638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97525"/>
            <a:ext cx="1593949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Размер кэша</a:t>
            </a:r>
          </a:p>
        </p:txBody>
      </p:sp>
      <p:sp>
        <p:nvSpPr>
          <p:cNvPr id="20" name="hf-402">
            <a:extLst xmlns:a="http://schemas.openxmlformats.org/drawingml/2006/main">
              <a:ext uri="{FF2B5EF4-FFF2-40B4-BE49-F238E27FC236}">
                <a16:creationId xmlns:a16="http://schemas.microsoft.com/office/drawing/2014/main" id="{2774200B-2A66-496B-BB5A-92E63F69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94429"/>
            <a:ext cx="27450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меняет положение излома</a:t>
            </a:r>
          </a:p>
        </p:txBody>
      </p:sp>
      <p:pic>
        <p:nvPicPr>
          <p:cNvPr id="21" name="hf-403">
            <a:extLst xmlns:a="http://schemas.openxmlformats.org/drawingml/2006/main">
              <a:ext uri="{FF2B5EF4-FFF2-40B4-BE49-F238E27FC236}">
                <a16:creationId xmlns:a16="http://schemas.microsoft.com/office/drawing/2014/main" id="{27691E73-BE19-43D5-8E9B-9A272A290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3d726a5db4af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2" name="hf-404">
            <a:extLst xmlns:a="http://schemas.openxmlformats.org/drawingml/2006/main">
              <a:ext uri="{FF2B5EF4-FFF2-40B4-BE49-F238E27FC236}">
                <a16:creationId xmlns:a16="http://schemas.microsoft.com/office/drawing/2014/main" id="{8EA43EE2-E1EB-404A-B994-2F868874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58503178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p="http://schemas.openxmlformats.org/presentationml/2006/main">
  <p:cSld name="core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05">
            <a:extLst xmlns:a="http://schemas.openxmlformats.org/drawingml/2006/main">
              <a:ext uri="{FF2B5EF4-FFF2-40B4-BE49-F238E27FC236}">
                <a16:creationId xmlns:a16="http://schemas.microsoft.com/office/drawing/2014/main" id="{AFCDBA9C-7A24-414E-B7AF-A80BA1A0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44212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ПРОЦЕССОР</a:t>
            </a:r>
          </a:p>
        </p:txBody>
      </p:sp>
      <p:sp>
        <p:nvSpPr>
          <p:cNvPr id="3" name="hf-406">
            <a:extLst xmlns:a="http://schemas.openxmlformats.org/drawingml/2006/main">
              <a:ext uri="{FF2B5EF4-FFF2-40B4-BE49-F238E27FC236}">
                <a16:creationId xmlns:a16="http://schemas.microsoft.com/office/drawing/2014/main" id="{6C15F8AD-9634-4E15-A2AB-D1BF6C8D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59799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ИЗЛОМЫ ПОХОЖИ НА СМЕНУ ТИПА ЯДРА</a:t>
            </a:r>
          </a:p>
        </p:txBody>
      </p:sp>
      <p:sp>
        <p:nvSpPr>
          <p:cNvPr id="4" name="hf-407">
            <a:extLst xmlns:a="http://schemas.openxmlformats.org/drawingml/2006/main">
              <a:ext uri="{FF2B5EF4-FFF2-40B4-BE49-F238E27FC236}">
                <a16:creationId xmlns:a16="http://schemas.microsoft.com/office/drawing/2014/main" id="{C4BC0EAF-D511-4905-A839-BBE96883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26861"/>
            <a:ext cx="2679278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 · A16 Bionic</a:t>
            </a:r>
          </a:p>
        </p:txBody>
      </p:sp>
      <p:sp>
        <p:nvSpPr>
          <p:cNvPr id="5" name="hf-408">
            <a:extLst xmlns:a="http://schemas.openxmlformats.org/drawingml/2006/main">
              <a:ext uri="{FF2B5EF4-FFF2-40B4-BE49-F238E27FC236}">
                <a16:creationId xmlns:a16="http://schemas.microsoft.com/office/drawing/2014/main" id="{B8E80668-A964-4DF3-938B-CA38D3F0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05258"/>
            <a:ext cx="3195712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чтение · КиБ/МиБ · лог. шкалы</a:t>
            </a:r>
          </a:p>
        </p:txBody>
      </p:sp>
      <p:sp>
        <p:nvSpPr>
          <p:cNvPr id="6" name="hf-409">
            <a:extLst xmlns:a="http://schemas.openxmlformats.org/drawingml/2006/main">
              <a:ext uri="{FF2B5EF4-FFF2-40B4-BE49-F238E27FC236}">
                <a16:creationId xmlns:a16="http://schemas.microsoft.com/office/drawing/2014/main" id="{ACD614E5-9F81-42D3-B8B6-0E9D6971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14713"/>
            <a:ext cx="4524375" cy="953"/>
          </a:xfrm>
          <a:custGeom xmlns:a="http://schemas.openxmlformats.org/drawingml/2006/main">
            <a:pathLst>
              <a:path w="4524375" h="476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7" name="hf-410">
            <a:extLst xmlns:a="http://schemas.openxmlformats.org/drawingml/2006/main">
              <a:ext uri="{FF2B5EF4-FFF2-40B4-BE49-F238E27FC236}">
                <a16:creationId xmlns:a16="http://schemas.microsoft.com/office/drawing/2014/main" id="{76F88BC4-7A2A-448C-9235-6E327A2A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14713"/>
            <a:ext cx="4524375" cy="953"/>
          </a:xfrm>
          <a:custGeom xmlns:a="http://schemas.openxmlformats.org/drawingml/2006/main">
            <a:pathLst>
              <a:path w="4524375" h="476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8" name="hf-411">
            <a:extLst xmlns:a="http://schemas.openxmlformats.org/drawingml/2006/main">
              <a:ext uri="{FF2B5EF4-FFF2-40B4-BE49-F238E27FC236}">
                <a16:creationId xmlns:a16="http://schemas.microsoft.com/office/drawing/2014/main" id="{1E58A065-0936-4F25-B1AF-BBD401DD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16" y="3290888"/>
            <a:ext cx="1068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" name="hf-412">
            <a:extLst xmlns:a="http://schemas.openxmlformats.org/drawingml/2006/main">
              <a:ext uri="{FF2B5EF4-FFF2-40B4-BE49-F238E27FC236}">
                <a16:creationId xmlns:a16="http://schemas.microsoft.com/office/drawing/2014/main" id="{101B143C-70C8-4377-BD07-4816A1B4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25604"/>
            <a:ext cx="4524375" cy="953"/>
          </a:xfrm>
          <a:custGeom xmlns:a="http://schemas.openxmlformats.org/drawingml/2006/main">
            <a:pathLst>
              <a:path w="4524375" h="476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0" name="hf-413">
            <a:extLst xmlns:a="http://schemas.openxmlformats.org/drawingml/2006/main">
              <a:ext uri="{FF2B5EF4-FFF2-40B4-BE49-F238E27FC236}">
                <a16:creationId xmlns:a16="http://schemas.microsoft.com/office/drawing/2014/main" id="{6E4CE1E9-D0DC-4A67-9F07-9D94EEF3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85" y="2801779"/>
            <a:ext cx="2329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1" name="hf-414">
            <a:extLst xmlns:a="http://schemas.openxmlformats.org/drawingml/2006/main">
              <a:ext uri="{FF2B5EF4-FFF2-40B4-BE49-F238E27FC236}">
                <a16:creationId xmlns:a16="http://schemas.microsoft.com/office/drawing/2014/main" id="{3FAAB8B7-5654-46A6-BF7D-9D61C68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6971"/>
            <a:ext cx="4524375" cy="953"/>
          </a:xfrm>
          <a:custGeom xmlns:a="http://schemas.openxmlformats.org/drawingml/2006/main">
            <a:pathLst>
              <a:path w="4524375" h="476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2" name="hf-415">
            <a:extLst xmlns:a="http://schemas.openxmlformats.org/drawingml/2006/main">
              <a:ext uri="{FF2B5EF4-FFF2-40B4-BE49-F238E27FC236}">
                <a16:creationId xmlns:a16="http://schemas.microsoft.com/office/drawing/2014/main" id="{5AAE0179-2230-4590-9351-6AA9734C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53" y="2313146"/>
            <a:ext cx="35912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100</a:t>
            </a:r>
          </a:p>
        </p:txBody>
      </p:sp>
      <p:sp>
        <p:nvSpPr>
          <p:cNvPr id="13" name="hf-416">
            <a:extLst xmlns:a="http://schemas.openxmlformats.org/drawingml/2006/main">
              <a:ext uri="{FF2B5EF4-FFF2-40B4-BE49-F238E27FC236}">
                <a16:creationId xmlns:a16="http://schemas.microsoft.com/office/drawing/2014/main" id="{E634E858-900C-479A-88A6-41A8D9A3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14" name="hf-417">
            <a:extLst xmlns:a="http://schemas.openxmlformats.org/drawingml/2006/main">
              <a:ext uri="{FF2B5EF4-FFF2-40B4-BE49-F238E27FC236}">
                <a16:creationId xmlns:a16="http://schemas.microsoft.com/office/drawing/2014/main" id="{262D45BA-81E0-42F7-86B9-77286E74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54" y="3486150"/>
            <a:ext cx="35659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16К</a:t>
            </a:r>
          </a:p>
        </p:txBody>
      </p:sp>
      <p:sp>
        <p:nvSpPr>
          <p:cNvPr id="15" name="hf-418">
            <a:extLst xmlns:a="http://schemas.openxmlformats.org/drawingml/2006/main">
              <a:ext uri="{FF2B5EF4-FFF2-40B4-BE49-F238E27FC236}">
                <a16:creationId xmlns:a16="http://schemas.microsoft.com/office/drawing/2014/main" id="{68591306-EDFD-4B96-8485-CE8AD2C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494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16" name="hf-419">
            <a:extLst xmlns:a="http://schemas.openxmlformats.org/drawingml/2006/main">
              <a:ext uri="{FF2B5EF4-FFF2-40B4-BE49-F238E27FC236}">
                <a16:creationId xmlns:a16="http://schemas.microsoft.com/office/drawing/2014/main" id="{31DE2054-A5AB-44CE-8D4D-1E060F7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95" y="3486150"/>
            <a:ext cx="47029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128К</a:t>
            </a:r>
          </a:p>
        </p:txBody>
      </p:sp>
      <p:sp>
        <p:nvSpPr>
          <p:cNvPr id="17" name="hf-420">
            <a:extLst xmlns:a="http://schemas.openxmlformats.org/drawingml/2006/main">
              <a:ext uri="{FF2B5EF4-FFF2-40B4-BE49-F238E27FC236}">
                <a16:creationId xmlns:a16="http://schemas.microsoft.com/office/drawing/2014/main" id="{313A87F2-1618-43F7-8983-C959FE3D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18" name="hf-421">
            <a:extLst xmlns:a="http://schemas.openxmlformats.org/drawingml/2006/main">
              <a:ext uri="{FF2B5EF4-FFF2-40B4-BE49-F238E27FC236}">
                <a16:creationId xmlns:a16="http://schemas.microsoft.com/office/drawing/2014/main" id="{C459207E-6697-4E5C-BCF7-7E8679EF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456" y="3486150"/>
            <a:ext cx="2903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1М</a:t>
            </a:r>
          </a:p>
        </p:txBody>
      </p:sp>
      <p:sp>
        <p:nvSpPr>
          <p:cNvPr id="19" name="hf-422">
            <a:extLst xmlns:a="http://schemas.openxmlformats.org/drawingml/2006/main">
              <a:ext uri="{FF2B5EF4-FFF2-40B4-BE49-F238E27FC236}">
                <a16:creationId xmlns:a16="http://schemas.microsoft.com/office/drawing/2014/main" id="{59D4D6D2-A4E6-47B8-90AB-A8AE482D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871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20" name="hf-423">
            <a:extLst xmlns:a="http://schemas.openxmlformats.org/drawingml/2006/main">
              <a:ext uri="{FF2B5EF4-FFF2-40B4-BE49-F238E27FC236}">
                <a16:creationId xmlns:a16="http://schemas.microsoft.com/office/drawing/2014/main" id="{48F69A41-56DD-4EB8-ACF1-6CA03A74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734" y="3486150"/>
            <a:ext cx="40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16М</a:t>
            </a:r>
          </a:p>
        </p:txBody>
      </p:sp>
      <p:sp>
        <p:nvSpPr>
          <p:cNvPr id="21" name="hf-424">
            <a:extLst xmlns:a="http://schemas.openxmlformats.org/drawingml/2006/main">
              <a:ext uri="{FF2B5EF4-FFF2-40B4-BE49-F238E27FC236}">
                <a16:creationId xmlns:a16="http://schemas.microsoft.com/office/drawing/2014/main" id="{DA66957E-2143-4F5B-9D7D-15959A9B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22" name="hf-425">
            <a:extLst xmlns:a="http://schemas.openxmlformats.org/drawingml/2006/main">
              <a:ext uri="{FF2B5EF4-FFF2-40B4-BE49-F238E27FC236}">
                <a16:creationId xmlns:a16="http://schemas.microsoft.com/office/drawing/2014/main" id="{38749C77-1A6F-4C67-9843-EBBADD1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275" y="3486150"/>
            <a:ext cx="46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64М</a:t>
            </a:r>
          </a:p>
        </p:txBody>
      </p:sp>
      <p:sp>
        <p:nvSpPr>
          <p:cNvPr id="23" name="hf-426">
            <a:extLst xmlns:a="http://schemas.openxmlformats.org/drawingml/2006/main">
              <a:ext uri="{FF2B5EF4-FFF2-40B4-BE49-F238E27FC236}">
                <a16:creationId xmlns:a16="http://schemas.microsoft.com/office/drawing/2014/main" id="{C2FA1B97-022F-4695-A784-801F8C57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96979"/>
            <a:ext cx="4524375" cy="800576"/>
          </a:xfrm>
          <a:custGeom xmlns:a="http://schemas.openxmlformats.org/drawingml/2006/main">
            <a:pathLst>
              <a:path w="4524375" h="800576">
                <a:moveTo>
                  <a:pt x="0" y="796766"/>
                </a:moveTo>
                <a:lnTo>
                  <a:pt x="220027" y="796766"/>
                </a:lnTo>
                <a:lnTo>
                  <a:pt x="374809" y="796766"/>
                </a:lnTo>
                <a:lnTo>
                  <a:pt x="594836" y="796766"/>
                </a:lnTo>
                <a:lnTo>
                  <a:pt x="756285" y="796766"/>
                </a:lnTo>
                <a:lnTo>
                  <a:pt x="976313" y="800576"/>
                </a:lnTo>
                <a:lnTo>
                  <a:pt x="1131094" y="800576"/>
                </a:lnTo>
                <a:lnTo>
                  <a:pt x="1351121" y="543877"/>
                </a:lnTo>
                <a:lnTo>
                  <a:pt x="1505903" y="536257"/>
                </a:lnTo>
                <a:lnTo>
                  <a:pt x="1725930" y="536257"/>
                </a:lnTo>
                <a:lnTo>
                  <a:pt x="1887379" y="536257"/>
                </a:lnTo>
                <a:lnTo>
                  <a:pt x="2107406" y="536257"/>
                </a:lnTo>
                <a:lnTo>
                  <a:pt x="2262188" y="536257"/>
                </a:lnTo>
                <a:lnTo>
                  <a:pt x="2482215" y="536257"/>
                </a:lnTo>
                <a:lnTo>
                  <a:pt x="2636996" y="536257"/>
                </a:lnTo>
                <a:lnTo>
                  <a:pt x="2857024" y="525304"/>
                </a:lnTo>
                <a:lnTo>
                  <a:pt x="3018472" y="513398"/>
                </a:lnTo>
                <a:lnTo>
                  <a:pt x="3238500" y="498634"/>
                </a:lnTo>
                <a:lnTo>
                  <a:pt x="3393281" y="494824"/>
                </a:lnTo>
                <a:lnTo>
                  <a:pt x="3613309" y="457200"/>
                </a:lnTo>
                <a:lnTo>
                  <a:pt x="3768090" y="404336"/>
                </a:lnTo>
                <a:lnTo>
                  <a:pt x="3988118" y="279559"/>
                </a:lnTo>
                <a:lnTo>
                  <a:pt x="4149566" y="143351"/>
                </a:lnTo>
                <a:lnTo>
                  <a:pt x="4369594" y="38100"/>
                </a:ln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24" name="hf-427">
            <a:extLst xmlns:a="http://schemas.openxmlformats.org/drawingml/2006/main">
              <a:ext uri="{FF2B5EF4-FFF2-40B4-BE49-F238E27FC236}">
                <a16:creationId xmlns:a16="http://schemas.microsoft.com/office/drawing/2014/main" id="{6FA8036B-C3B9-4BFF-ADB6-B671BF4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08359"/>
            <a:ext cx="4524375" cy="853440"/>
          </a:xfrm>
          <a:custGeom xmlns:a="http://schemas.openxmlformats.org/drawingml/2006/main">
            <a:pathLst>
              <a:path w="4524375" h="853440">
                <a:moveTo>
                  <a:pt x="0" y="853440"/>
                </a:moveTo>
                <a:lnTo>
                  <a:pt x="220027" y="853440"/>
                </a:lnTo>
                <a:lnTo>
                  <a:pt x="374809" y="853440"/>
                </a:lnTo>
                <a:lnTo>
                  <a:pt x="594836" y="853440"/>
                </a:lnTo>
                <a:lnTo>
                  <a:pt x="756285" y="853440"/>
                </a:lnTo>
                <a:lnTo>
                  <a:pt x="976313" y="626745"/>
                </a:lnTo>
                <a:lnTo>
                  <a:pt x="1131094" y="592455"/>
                </a:lnTo>
                <a:lnTo>
                  <a:pt x="1351121" y="634365"/>
                </a:lnTo>
                <a:lnTo>
                  <a:pt x="1505903" y="622935"/>
                </a:lnTo>
                <a:lnTo>
                  <a:pt x="1725930" y="619125"/>
                </a:lnTo>
                <a:lnTo>
                  <a:pt x="1887379" y="619125"/>
                </a:lnTo>
                <a:lnTo>
                  <a:pt x="2107406" y="615791"/>
                </a:lnTo>
                <a:lnTo>
                  <a:pt x="2262188" y="619125"/>
                </a:lnTo>
                <a:lnTo>
                  <a:pt x="2482215" y="619125"/>
                </a:lnTo>
                <a:lnTo>
                  <a:pt x="2636996" y="603885"/>
                </a:lnTo>
                <a:lnTo>
                  <a:pt x="2857024" y="513397"/>
                </a:lnTo>
                <a:lnTo>
                  <a:pt x="3018472" y="445294"/>
                </a:lnTo>
                <a:lnTo>
                  <a:pt x="3238500" y="384810"/>
                </a:lnTo>
                <a:lnTo>
                  <a:pt x="3393281" y="358616"/>
                </a:lnTo>
                <a:lnTo>
                  <a:pt x="3613309" y="317183"/>
                </a:lnTo>
                <a:lnTo>
                  <a:pt x="3768090" y="196215"/>
                </a:lnTo>
                <a:lnTo>
                  <a:pt x="3988118" y="124778"/>
                </a:lnTo>
                <a:lnTo>
                  <a:pt x="4149566" y="71437"/>
                </a:lnTo>
                <a:lnTo>
                  <a:pt x="4369594" y="18574"/>
                </a:ln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8F8F"/>
            </a:solidFill>
            <a:custDash>
              <a:ds d="233333" sp="166667"/>
            </a:custDash>
          </a:ln>
        </p:spPr>
      </p:sp>
      <p:sp>
        <p:nvSpPr>
          <p:cNvPr id="25" name="hf-428">
            <a:extLst xmlns:a="http://schemas.openxmlformats.org/drawingml/2006/main">
              <a:ext uri="{FF2B5EF4-FFF2-40B4-BE49-F238E27FC236}">
                <a16:creationId xmlns:a16="http://schemas.microsoft.com/office/drawing/2014/main" id="{A9AF9018-58F5-4D32-A304-3ECA8FF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6971"/>
            <a:ext cx="4524375" cy="781050"/>
          </a:xfrm>
          <a:custGeom xmlns:a="http://schemas.openxmlformats.org/drawingml/2006/main">
            <a:pathLst>
              <a:path w="4524375" h="781050">
                <a:moveTo>
                  <a:pt x="0" y="781050"/>
                </a:moveTo>
                <a:lnTo>
                  <a:pt x="220027" y="781050"/>
                </a:lnTo>
                <a:lnTo>
                  <a:pt x="374809" y="781050"/>
                </a:lnTo>
                <a:lnTo>
                  <a:pt x="594836" y="781050"/>
                </a:lnTo>
                <a:lnTo>
                  <a:pt x="756285" y="773906"/>
                </a:lnTo>
                <a:lnTo>
                  <a:pt x="976313" y="547211"/>
                </a:lnTo>
                <a:lnTo>
                  <a:pt x="1131094" y="551021"/>
                </a:lnTo>
                <a:lnTo>
                  <a:pt x="1351121" y="551021"/>
                </a:lnTo>
                <a:lnTo>
                  <a:pt x="1505903" y="551021"/>
                </a:lnTo>
                <a:lnTo>
                  <a:pt x="1725930" y="551021"/>
                </a:lnTo>
                <a:lnTo>
                  <a:pt x="1887379" y="547211"/>
                </a:lnTo>
                <a:lnTo>
                  <a:pt x="2107406" y="551021"/>
                </a:lnTo>
                <a:lnTo>
                  <a:pt x="2262188" y="539591"/>
                </a:lnTo>
                <a:lnTo>
                  <a:pt x="2482215" y="362426"/>
                </a:lnTo>
                <a:lnTo>
                  <a:pt x="2636996" y="532448"/>
                </a:lnTo>
                <a:lnTo>
                  <a:pt x="2857024" y="498158"/>
                </a:lnTo>
                <a:lnTo>
                  <a:pt x="3018472" y="350996"/>
                </a:lnTo>
                <a:lnTo>
                  <a:pt x="3238500" y="275273"/>
                </a:lnTo>
                <a:lnTo>
                  <a:pt x="3393281" y="245269"/>
                </a:lnTo>
                <a:lnTo>
                  <a:pt x="3613309" y="184785"/>
                </a:lnTo>
                <a:lnTo>
                  <a:pt x="3768090" y="131921"/>
                </a:lnTo>
                <a:lnTo>
                  <a:pt x="3988118" y="79058"/>
                </a:lnTo>
                <a:lnTo>
                  <a:pt x="4149566" y="52388"/>
                </a:lnTo>
                <a:lnTo>
                  <a:pt x="4369594" y="18574"/>
                </a:ln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6CDAE"/>
            </a:solidFill>
          </a:ln>
        </p:spPr>
      </p:sp>
      <p:sp>
        <p:nvSpPr>
          <p:cNvPr id="26" name="hf-429">
            <a:extLst xmlns:a="http://schemas.openxmlformats.org/drawingml/2006/main">
              <a:ext uri="{FF2B5EF4-FFF2-40B4-BE49-F238E27FC236}">
                <a16:creationId xmlns:a16="http://schemas.microsoft.com/office/drawing/2014/main" id="{F549045E-268C-45BC-964E-3B82FAB9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9629"/>
            <a:ext cx="13065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userInitiated</a:t>
            </a:r>
          </a:p>
        </p:txBody>
      </p:sp>
      <p:sp>
        <p:nvSpPr>
          <p:cNvPr id="27" name="hf-430">
            <a:extLst xmlns:a="http://schemas.openxmlformats.org/drawingml/2006/main">
              <a:ext uri="{FF2B5EF4-FFF2-40B4-BE49-F238E27FC236}">
                <a16:creationId xmlns:a16="http://schemas.microsoft.com/office/drawing/2014/main" id="{7A7303B2-6D74-4DB7-A3C7-1EB0E0E2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3889629"/>
            <a:ext cx="125350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background</a:t>
            </a:r>
          </a:p>
        </p:txBody>
      </p:sp>
      <p:sp>
        <p:nvSpPr>
          <p:cNvPr id="28" name="hf-431">
            <a:extLst xmlns:a="http://schemas.openxmlformats.org/drawingml/2006/main">
              <a:ext uri="{FF2B5EF4-FFF2-40B4-BE49-F238E27FC236}">
                <a16:creationId xmlns:a16="http://schemas.microsoft.com/office/drawing/2014/main" id="{73638040-2144-4C08-8535-94E24E43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9629"/>
            <a:ext cx="6174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utility</a:t>
            </a:r>
          </a:p>
        </p:txBody>
      </p:sp>
      <p:sp>
        <p:nvSpPr>
          <p:cNvPr id="29" name="hf-432">
            <a:extLst xmlns:a="http://schemas.openxmlformats.org/drawingml/2006/main">
              <a:ext uri="{FF2B5EF4-FFF2-40B4-BE49-F238E27FC236}">
                <a16:creationId xmlns:a16="http://schemas.microsoft.com/office/drawing/2014/main" id="{68020CB3-9CBA-4C20-9513-8FEAACCA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326861"/>
            <a:ext cx="1368996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 · M2 Pro</a:t>
            </a:r>
          </a:p>
        </p:txBody>
      </p:sp>
      <p:sp>
        <p:nvSpPr>
          <p:cNvPr id="30" name="hf-433">
            <a:extLst xmlns:a="http://schemas.openxmlformats.org/drawingml/2006/main">
              <a:ext uri="{FF2B5EF4-FFF2-40B4-BE49-F238E27FC236}">
                <a16:creationId xmlns:a16="http://schemas.microsoft.com/office/drawing/2014/main" id="{C7D61349-CC4A-4323-BEB6-2DD5322B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614783"/>
            <a:ext cx="1177826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тот же метод</a:t>
            </a:r>
          </a:p>
        </p:txBody>
      </p:sp>
      <p:sp>
        <p:nvSpPr>
          <p:cNvPr id="31" name="hf-434">
            <a:extLst xmlns:a="http://schemas.openxmlformats.org/drawingml/2006/main">
              <a:ext uri="{FF2B5EF4-FFF2-40B4-BE49-F238E27FC236}">
                <a16:creationId xmlns:a16="http://schemas.microsoft.com/office/drawing/2014/main" id="{547A86FF-AC5D-428D-9CFE-CE0D0B2C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62338"/>
            <a:ext cx="1776413" cy="953"/>
          </a:xfrm>
          <a:custGeom xmlns:a="http://schemas.openxmlformats.org/drawingml/2006/main">
            <a:pathLst>
              <a:path w="1776413" h="476">
                <a:moveTo>
                  <a:pt x="0" y="0"/>
                </a:moveTo>
                <a:lnTo>
                  <a:pt x="1776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32" name="hf-435">
            <a:extLst xmlns:a="http://schemas.openxmlformats.org/drawingml/2006/main">
              <a:ext uri="{FF2B5EF4-FFF2-40B4-BE49-F238E27FC236}">
                <a16:creationId xmlns:a16="http://schemas.microsoft.com/office/drawing/2014/main" id="{B713AFFA-DB07-44B0-BC76-3AE9BD7A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62338"/>
            <a:ext cx="1776413" cy="953"/>
          </a:xfrm>
          <a:custGeom xmlns:a="http://schemas.openxmlformats.org/drawingml/2006/main">
            <a:pathLst>
              <a:path w="1776413" h="476">
                <a:moveTo>
                  <a:pt x="0" y="0"/>
                </a:moveTo>
                <a:lnTo>
                  <a:pt x="1776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3" name="hf-436">
            <a:extLst xmlns:a="http://schemas.openxmlformats.org/drawingml/2006/main">
              <a:ext uri="{FF2B5EF4-FFF2-40B4-BE49-F238E27FC236}">
                <a16:creationId xmlns:a16="http://schemas.microsoft.com/office/drawing/2014/main" id="{55E9F77F-0BA3-4B98-B1F8-D69223EF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641" y="3338513"/>
            <a:ext cx="1068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4" name="hf-437">
            <a:extLst xmlns:a="http://schemas.openxmlformats.org/drawingml/2006/main">
              <a:ext uri="{FF2B5EF4-FFF2-40B4-BE49-F238E27FC236}">
                <a16:creationId xmlns:a16="http://schemas.microsoft.com/office/drawing/2014/main" id="{00C07661-4CAD-4456-BF93-1CAA0BB3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73229"/>
            <a:ext cx="1776413" cy="953"/>
          </a:xfrm>
          <a:custGeom xmlns:a="http://schemas.openxmlformats.org/drawingml/2006/main">
            <a:pathLst>
              <a:path w="1776413" h="476">
                <a:moveTo>
                  <a:pt x="0" y="0"/>
                </a:moveTo>
                <a:lnTo>
                  <a:pt x="1776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5" name="hf-438">
            <a:extLst xmlns:a="http://schemas.openxmlformats.org/drawingml/2006/main">
              <a:ext uri="{FF2B5EF4-FFF2-40B4-BE49-F238E27FC236}">
                <a16:creationId xmlns:a16="http://schemas.microsoft.com/office/drawing/2014/main" id="{B0488890-1BBC-4551-A22A-64B44AEB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510" y="2849404"/>
            <a:ext cx="2329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36" name="hf-439">
            <a:extLst xmlns:a="http://schemas.openxmlformats.org/drawingml/2006/main">
              <a:ext uri="{FF2B5EF4-FFF2-40B4-BE49-F238E27FC236}">
                <a16:creationId xmlns:a16="http://schemas.microsoft.com/office/drawing/2014/main" id="{9C4DBE44-26EB-40E6-AF58-38E23CC4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84596"/>
            <a:ext cx="1776413" cy="953"/>
          </a:xfrm>
          <a:custGeom xmlns:a="http://schemas.openxmlformats.org/drawingml/2006/main">
            <a:pathLst>
              <a:path w="1776413" h="476">
                <a:moveTo>
                  <a:pt x="0" y="0"/>
                </a:moveTo>
                <a:lnTo>
                  <a:pt x="1776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7" name="hf-440">
            <a:extLst xmlns:a="http://schemas.openxmlformats.org/drawingml/2006/main">
              <a:ext uri="{FF2B5EF4-FFF2-40B4-BE49-F238E27FC236}">
                <a16:creationId xmlns:a16="http://schemas.microsoft.com/office/drawing/2014/main" id="{EC095081-E895-4349-8706-0FF0F124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378" y="2360771"/>
            <a:ext cx="35912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100</a:t>
            </a:r>
          </a:p>
        </p:txBody>
      </p:sp>
      <p:sp>
        <p:nvSpPr>
          <p:cNvPr id="38" name="hf-441">
            <a:extLst xmlns:a="http://schemas.openxmlformats.org/drawingml/2006/main">
              <a:ext uri="{FF2B5EF4-FFF2-40B4-BE49-F238E27FC236}">
                <a16:creationId xmlns:a16="http://schemas.microsoft.com/office/drawing/2014/main" id="{EDE035A4-63C6-4671-9E34-0EB52BE5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62338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39" name="hf-442">
            <a:extLst xmlns:a="http://schemas.openxmlformats.org/drawingml/2006/main">
              <a:ext uri="{FF2B5EF4-FFF2-40B4-BE49-F238E27FC236}">
                <a16:creationId xmlns:a16="http://schemas.microsoft.com/office/drawing/2014/main" id="{F5F78797-4607-4574-B776-FD1BECF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879" y="3533775"/>
            <a:ext cx="35659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16К</a:t>
            </a:r>
          </a:p>
        </p:txBody>
      </p:sp>
      <p:sp>
        <p:nvSpPr>
          <p:cNvPr id="40" name="hf-443">
            <a:extLst xmlns:a="http://schemas.openxmlformats.org/drawingml/2006/main">
              <a:ext uri="{FF2B5EF4-FFF2-40B4-BE49-F238E27FC236}">
                <a16:creationId xmlns:a16="http://schemas.microsoft.com/office/drawing/2014/main" id="{4323C358-CC50-437B-9D15-FEA5C007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331" y="3462338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41" name="hf-444">
            <a:extLst xmlns:a="http://schemas.openxmlformats.org/drawingml/2006/main">
              <a:ext uri="{FF2B5EF4-FFF2-40B4-BE49-F238E27FC236}">
                <a16:creationId xmlns:a16="http://schemas.microsoft.com/office/drawing/2014/main" id="{6BB6945B-F823-447F-8683-98B34251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99" y="3533775"/>
            <a:ext cx="2903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1М</a:t>
            </a:r>
          </a:p>
        </p:txBody>
      </p:sp>
      <p:sp>
        <p:nvSpPr>
          <p:cNvPr id="42" name="hf-445">
            <a:extLst xmlns:a="http://schemas.openxmlformats.org/drawingml/2006/main">
              <a:ext uri="{FF2B5EF4-FFF2-40B4-BE49-F238E27FC236}">
                <a16:creationId xmlns:a16="http://schemas.microsoft.com/office/drawing/2014/main" id="{AC05069F-22F1-4C75-9166-0683640C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462338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43" name="hf-446">
            <a:extLst xmlns:a="http://schemas.openxmlformats.org/drawingml/2006/main">
              <a:ext uri="{FF2B5EF4-FFF2-40B4-BE49-F238E27FC236}">
                <a16:creationId xmlns:a16="http://schemas.microsoft.com/office/drawing/2014/main" id="{ACA689A6-8905-410F-9CEF-398B2C92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038" y="3533775"/>
            <a:ext cx="46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64М</a:t>
            </a:r>
          </a:p>
        </p:txBody>
      </p:sp>
      <p:sp>
        <p:nvSpPr>
          <p:cNvPr id="44" name="hf-447">
            <a:extLst xmlns:a="http://schemas.openxmlformats.org/drawingml/2006/main">
              <a:ext uri="{FF2B5EF4-FFF2-40B4-BE49-F238E27FC236}">
                <a16:creationId xmlns:a16="http://schemas.microsoft.com/office/drawing/2014/main" id="{AA2E3D4E-7E79-4F9A-B358-1EAADAA8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3166"/>
            <a:ext cx="1776413" cy="872014"/>
          </a:xfrm>
          <a:custGeom xmlns:a="http://schemas.openxmlformats.org/drawingml/2006/main">
            <a:pathLst>
              <a:path w="1776413" h="872014">
                <a:moveTo>
                  <a:pt x="0" y="872014"/>
                </a:moveTo>
                <a:lnTo>
                  <a:pt x="86201" y="864394"/>
                </a:lnTo>
                <a:lnTo>
                  <a:pt x="147161" y="868204"/>
                </a:lnTo>
                <a:lnTo>
                  <a:pt x="233363" y="868204"/>
                </a:lnTo>
                <a:lnTo>
                  <a:pt x="296704" y="864394"/>
                </a:lnTo>
                <a:lnTo>
                  <a:pt x="383381" y="864394"/>
                </a:lnTo>
                <a:lnTo>
                  <a:pt x="443865" y="864394"/>
                </a:lnTo>
                <a:lnTo>
                  <a:pt x="530542" y="622935"/>
                </a:lnTo>
                <a:lnTo>
                  <a:pt x="591502" y="596741"/>
                </a:lnTo>
                <a:lnTo>
                  <a:pt x="677704" y="592931"/>
                </a:lnTo>
                <a:lnTo>
                  <a:pt x="741045" y="600551"/>
                </a:lnTo>
                <a:lnTo>
                  <a:pt x="827246" y="592931"/>
                </a:lnTo>
                <a:lnTo>
                  <a:pt x="888206" y="592931"/>
                </a:lnTo>
                <a:lnTo>
                  <a:pt x="974408" y="592931"/>
                </a:lnTo>
                <a:lnTo>
                  <a:pt x="1035367" y="592931"/>
                </a:lnTo>
                <a:lnTo>
                  <a:pt x="1121569" y="592931"/>
                </a:lnTo>
                <a:lnTo>
                  <a:pt x="1184910" y="592931"/>
                </a:lnTo>
                <a:lnTo>
                  <a:pt x="1271588" y="566261"/>
                </a:lnTo>
                <a:lnTo>
                  <a:pt x="1332547" y="517207"/>
                </a:lnTo>
                <a:lnTo>
                  <a:pt x="1418749" y="203835"/>
                </a:lnTo>
                <a:lnTo>
                  <a:pt x="1479709" y="56674"/>
                </a:lnTo>
                <a:lnTo>
                  <a:pt x="1565910" y="33814"/>
                </a:lnTo>
                <a:lnTo>
                  <a:pt x="1629251" y="15240"/>
                </a:lnTo>
                <a:lnTo>
                  <a:pt x="1715453" y="0"/>
                </a:lnTo>
                <a:lnTo>
                  <a:pt x="1776413" y="381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5" name="hf-448">
            <a:extLst xmlns:a="http://schemas.openxmlformats.org/drawingml/2006/main">
              <a:ext uri="{FF2B5EF4-FFF2-40B4-BE49-F238E27FC236}">
                <a16:creationId xmlns:a16="http://schemas.microsoft.com/office/drawing/2014/main" id="{138256DA-B89B-4CC1-8432-E513C37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4571"/>
            <a:ext cx="1776413" cy="872014"/>
          </a:xfrm>
          <a:custGeom xmlns:a="http://schemas.openxmlformats.org/drawingml/2006/main">
            <a:pathLst>
              <a:path w="1776413" h="872014">
                <a:moveTo>
                  <a:pt x="0" y="872014"/>
                </a:moveTo>
                <a:lnTo>
                  <a:pt x="86201" y="800100"/>
                </a:lnTo>
                <a:lnTo>
                  <a:pt x="147161" y="803910"/>
                </a:lnTo>
                <a:lnTo>
                  <a:pt x="233363" y="815340"/>
                </a:lnTo>
                <a:lnTo>
                  <a:pt x="296704" y="803910"/>
                </a:lnTo>
                <a:lnTo>
                  <a:pt x="383381" y="607695"/>
                </a:lnTo>
                <a:lnTo>
                  <a:pt x="443865" y="607695"/>
                </a:lnTo>
                <a:lnTo>
                  <a:pt x="530542" y="554831"/>
                </a:lnTo>
                <a:lnTo>
                  <a:pt x="591502" y="558641"/>
                </a:lnTo>
                <a:lnTo>
                  <a:pt x="677704" y="611505"/>
                </a:lnTo>
                <a:lnTo>
                  <a:pt x="741045" y="581501"/>
                </a:lnTo>
                <a:lnTo>
                  <a:pt x="827246" y="554831"/>
                </a:lnTo>
                <a:lnTo>
                  <a:pt x="888206" y="614839"/>
                </a:lnTo>
                <a:lnTo>
                  <a:pt x="974408" y="614839"/>
                </a:lnTo>
                <a:lnTo>
                  <a:pt x="1035367" y="626269"/>
                </a:lnTo>
                <a:lnTo>
                  <a:pt x="1121569" y="452914"/>
                </a:lnTo>
                <a:lnTo>
                  <a:pt x="1184910" y="161925"/>
                </a:lnTo>
                <a:lnTo>
                  <a:pt x="1271588" y="67628"/>
                </a:lnTo>
                <a:lnTo>
                  <a:pt x="1332547" y="41434"/>
                </a:lnTo>
                <a:lnTo>
                  <a:pt x="1418749" y="37148"/>
                </a:lnTo>
                <a:lnTo>
                  <a:pt x="1479709" y="14764"/>
                </a:lnTo>
                <a:lnTo>
                  <a:pt x="1565910" y="7144"/>
                </a:lnTo>
                <a:lnTo>
                  <a:pt x="1629251" y="45244"/>
                </a:lnTo>
                <a:lnTo>
                  <a:pt x="1715453" y="0"/>
                </a:lnTo>
                <a:lnTo>
                  <a:pt x="1776413" y="714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8F8F"/>
            </a:solidFill>
            <a:custDash>
              <a:ds d="233333" sp="166667"/>
            </a:custDash>
          </a:ln>
        </p:spPr>
      </p:sp>
      <p:sp>
        <p:nvSpPr>
          <p:cNvPr id="46" name="hf-449">
            <a:extLst xmlns:a="http://schemas.openxmlformats.org/drawingml/2006/main">
              <a:ext uri="{FF2B5EF4-FFF2-40B4-BE49-F238E27FC236}">
                <a16:creationId xmlns:a16="http://schemas.microsoft.com/office/drawing/2014/main" id="{5DF6A8BF-9B64-427D-BAED-651EFFC3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90698"/>
            <a:ext cx="535119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utility-кривая похожа на E-ядро; это косвенный признак</a:t>
            </a:r>
          </a:p>
        </p:txBody>
      </p:sp>
      <p:pic>
        <p:nvPicPr>
          <p:cNvPr id="47" name="hf-450">
            <a:extLst xmlns:a="http://schemas.openxmlformats.org/drawingml/2006/main">
              <a:ext uri="{FF2B5EF4-FFF2-40B4-BE49-F238E27FC236}">
                <a16:creationId xmlns:a16="http://schemas.microsoft.com/office/drawing/2014/main" id="{37D2DBF9-6632-439A-8871-C5F4811987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c7d2f6c704c1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48" name="hf-451">
            <a:extLst xmlns:a="http://schemas.openxmlformats.org/drawingml/2006/main">
              <a:ext uri="{FF2B5EF4-FFF2-40B4-BE49-F238E27FC236}">
                <a16:creationId xmlns:a16="http://schemas.microsoft.com/office/drawing/2014/main" id="{0DADF0FA-D0CB-40FE-B66F-936D2E7C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62385426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6" grpId="0" animBg="1"/>
      <p:bldP spid="27" grpId="0" animBg="1"/>
      <p:bldP spid="28" grpId="0" animBg="1"/>
      <p:bldP spid="46" grpId="0" animBg="1"/>
      <p:bldP spid="29" grpId="0" animBg="1"/>
      <p:bldP spid="30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</p:bldLst>
  </p:timing>
</p:sld>
</file>

<file path=ppt/slides/slide23.xml><?xml version="1.0" encoding="utf-8"?>
<p:sld xmlns:p="http://schemas.openxmlformats.org/presentationml/2006/main">
  <p:cSld name="flip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52">
            <a:extLst xmlns:a="http://schemas.openxmlformats.org/drawingml/2006/main">
              <a:ext uri="{FF2B5EF4-FFF2-40B4-BE49-F238E27FC236}">
                <a16:creationId xmlns:a16="http://schemas.microsoft.com/office/drawing/2014/main" id="{D2997263-0BAF-4930-A7D7-21A09277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44212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ПРОЦЕССОР</a:t>
            </a:r>
          </a:p>
        </p:txBody>
      </p:sp>
      <p:sp>
        <p:nvSpPr>
          <p:cNvPr id="3" name="hf-453">
            <a:extLst xmlns:a="http://schemas.openxmlformats.org/drawingml/2006/main">
              <a:ext uri="{FF2B5EF4-FFF2-40B4-BE49-F238E27FC236}">
                <a16:creationId xmlns:a16="http://schemas.microsoft.com/office/drawing/2014/main" id="{993D7532-2E79-41E5-8816-BA8F5D8A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92797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ОДИН БЕНЧМАРК — РАЗНЫЕ ОТВЕТЫ</a:t>
            </a:r>
          </a:p>
        </p:txBody>
      </p:sp>
      <p:sp>
        <p:nvSpPr>
          <p:cNvPr id="4" name="hf-454">
            <a:extLst xmlns:a="http://schemas.openxmlformats.org/drawingml/2006/main">
              <a:ext uri="{FF2B5EF4-FFF2-40B4-BE49-F238E27FC236}">
                <a16:creationId xmlns:a16="http://schemas.microsoft.com/office/drawing/2014/main" id="{9D8DC7D8-01CC-4BD0-9402-E75910EA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09983"/>
            <a:ext cx="6211937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sort + unique против unordered_set · U = N/2 · × — выигрыш по времени</a:t>
            </a:r>
          </a:p>
        </p:txBody>
      </p:sp>
      <p:sp>
        <p:nvSpPr>
          <p:cNvPr id="5" name="hf-455">
            <a:extLst xmlns:a="http://schemas.openxmlformats.org/drawingml/2006/main">
              <a:ext uri="{FF2B5EF4-FFF2-40B4-BE49-F238E27FC236}">
                <a16:creationId xmlns:a16="http://schemas.microsoft.com/office/drawing/2014/main" id="{9AF9FD99-9FF0-41BE-B018-4D5C17F1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78743"/>
            <a:ext cx="22696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</a:t>
            </a:r>
          </a:p>
        </p:txBody>
      </p:sp>
      <p:sp>
        <p:nvSpPr>
          <p:cNvPr id="6" name="hf-456">
            <a:extLst xmlns:a="http://schemas.openxmlformats.org/drawingml/2006/main">
              <a:ext uri="{FF2B5EF4-FFF2-40B4-BE49-F238E27FC236}">
                <a16:creationId xmlns:a16="http://schemas.microsoft.com/office/drawing/2014/main" id="{53878251-8A48-423D-91FC-F4BB845A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1622136"/>
            <a:ext cx="1048048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Linux x86</a:t>
            </a:r>
          </a:p>
        </p:txBody>
      </p:sp>
      <p:sp>
        <p:nvSpPr>
          <p:cNvPr id="7" name="hf-457">
            <a:extLst xmlns:a="http://schemas.openxmlformats.org/drawingml/2006/main">
              <a:ext uri="{FF2B5EF4-FFF2-40B4-BE49-F238E27FC236}">
                <a16:creationId xmlns:a16="http://schemas.microsoft.com/office/drawing/2014/main" id="{A3D2D8C2-3746-4707-A286-1A3F1EAE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1896313"/>
            <a:ext cx="145472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повтор · Xeon VM</a:t>
            </a:r>
          </a:p>
        </p:txBody>
      </p:sp>
      <p:sp>
        <p:nvSpPr>
          <p:cNvPr id="8" name="hf-458">
            <a:extLst xmlns:a="http://schemas.openxmlformats.org/drawingml/2006/main">
              <a:ext uri="{FF2B5EF4-FFF2-40B4-BE49-F238E27FC236}">
                <a16:creationId xmlns:a16="http://schemas.microsoft.com/office/drawing/2014/main" id="{D617826F-5274-4D0A-8933-74ABC0CC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1622679"/>
            <a:ext cx="139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9" name="hf-459">
            <a:extLst xmlns:a="http://schemas.openxmlformats.org/drawingml/2006/main">
              <a:ext uri="{FF2B5EF4-FFF2-40B4-BE49-F238E27FC236}">
                <a16:creationId xmlns:a16="http://schemas.microsoft.com/office/drawing/2014/main" id="{058D6DB8-750A-4779-B0CD-67601EBD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1896313"/>
            <a:ext cx="86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QoS utility</a:t>
            </a:r>
          </a:p>
        </p:txBody>
      </p:sp>
      <p:sp>
        <p:nvSpPr>
          <p:cNvPr id="10" name="hf-460">
            <a:extLst xmlns:a="http://schemas.openxmlformats.org/drawingml/2006/main">
              <a:ext uri="{FF2B5EF4-FFF2-40B4-BE49-F238E27FC236}">
                <a16:creationId xmlns:a16="http://schemas.microsoft.com/office/drawing/2014/main" id="{7AE8F93A-9B44-4541-8820-A6E99BC3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22679"/>
            <a:ext cx="119992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 M2 Pro</a:t>
            </a:r>
          </a:p>
        </p:txBody>
      </p:sp>
      <p:sp>
        <p:nvSpPr>
          <p:cNvPr id="11" name="hf-461">
            <a:extLst xmlns:a="http://schemas.openxmlformats.org/drawingml/2006/main">
              <a:ext uri="{FF2B5EF4-FFF2-40B4-BE49-F238E27FC236}">
                <a16:creationId xmlns:a16="http://schemas.microsoft.com/office/drawing/2014/main" id="{7F3D2EAA-96A4-4E71-ACF0-188411F7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96313"/>
            <a:ext cx="10566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userInitiated</a:t>
            </a:r>
          </a:p>
        </p:txBody>
      </p:sp>
      <p:sp>
        <p:nvSpPr>
          <p:cNvPr id="12" name="hf-462">
            <a:extLst xmlns:a="http://schemas.openxmlformats.org/drawingml/2006/main">
              <a:ext uri="{FF2B5EF4-FFF2-40B4-BE49-F238E27FC236}">
                <a16:creationId xmlns:a16="http://schemas.microsoft.com/office/drawing/2014/main" id="{862F9E8A-A867-414C-AE2C-688E313E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907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3" name="hf-463">
            <a:extLst xmlns:a="http://schemas.openxmlformats.org/drawingml/2006/main">
              <a:ext uri="{FF2B5EF4-FFF2-40B4-BE49-F238E27FC236}">
                <a16:creationId xmlns:a16="http://schemas.microsoft.com/office/drawing/2014/main" id="{816FA068-77ED-449F-9DE0-1F11ED19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77732"/>
            <a:ext cx="52246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64K</a:t>
            </a:r>
          </a:p>
        </p:txBody>
      </p:sp>
      <p:sp>
        <p:nvSpPr>
          <p:cNvPr id="14" name="hf-464">
            <a:extLst xmlns:a="http://schemas.openxmlformats.org/drawingml/2006/main">
              <a:ext uri="{FF2B5EF4-FFF2-40B4-BE49-F238E27FC236}">
                <a16:creationId xmlns:a16="http://schemas.microsoft.com/office/drawing/2014/main" id="{DEFC2EB3-2EFA-47E5-B671-9C8A5B66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2274056"/>
            <a:ext cx="108927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хеш ×1,64</a:t>
            </a:r>
          </a:p>
        </p:txBody>
      </p:sp>
      <p:sp>
        <p:nvSpPr>
          <p:cNvPr id="15" name="hf-465">
            <a:extLst xmlns:a="http://schemas.openxmlformats.org/drawingml/2006/main">
              <a:ext uri="{FF2B5EF4-FFF2-40B4-BE49-F238E27FC236}">
                <a16:creationId xmlns:a16="http://schemas.microsoft.com/office/drawing/2014/main" id="{63B1ACF2-D640-4613-B386-D1C4E938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2274056"/>
            <a:ext cx="1038820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6" name="hf-466">
            <a:extLst xmlns:a="http://schemas.openxmlformats.org/drawingml/2006/main">
              <a:ext uri="{FF2B5EF4-FFF2-40B4-BE49-F238E27FC236}">
                <a16:creationId xmlns:a16="http://schemas.microsoft.com/office/drawing/2014/main" id="{7DD6C6E4-A61F-4C02-BEF8-FB74C93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74599"/>
            <a:ext cx="99417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7" name="hf-467">
            <a:extLst xmlns:a="http://schemas.openxmlformats.org/drawingml/2006/main">
              <a:ext uri="{FF2B5EF4-FFF2-40B4-BE49-F238E27FC236}">
                <a16:creationId xmlns:a16="http://schemas.microsoft.com/office/drawing/2014/main" id="{1E7A1C4C-2943-4C0F-A677-986FAC0A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19388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8" name="hf-468">
            <a:extLst xmlns:a="http://schemas.openxmlformats.org/drawingml/2006/main">
              <a:ext uri="{FF2B5EF4-FFF2-40B4-BE49-F238E27FC236}">
                <a16:creationId xmlns:a16="http://schemas.microsoft.com/office/drawing/2014/main" id="{3C7123A0-DA41-4D7A-B761-FC15351C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06370"/>
            <a:ext cx="63378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256K</a:t>
            </a:r>
          </a:p>
        </p:txBody>
      </p:sp>
      <p:sp>
        <p:nvSpPr>
          <p:cNvPr id="19" name="hf-469">
            <a:extLst xmlns:a="http://schemas.openxmlformats.org/drawingml/2006/main">
              <a:ext uri="{FF2B5EF4-FFF2-40B4-BE49-F238E27FC236}">
                <a16:creationId xmlns:a16="http://schemas.microsoft.com/office/drawing/2014/main" id="{8BAF2218-5589-45ED-939B-1E76B8F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2802693"/>
            <a:ext cx="1073572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хеш ×1,29</a:t>
            </a:r>
          </a:p>
        </p:txBody>
      </p:sp>
      <p:sp>
        <p:nvSpPr>
          <p:cNvPr id="20" name="hf-470">
            <a:extLst xmlns:a="http://schemas.openxmlformats.org/drawingml/2006/main">
              <a:ext uri="{FF2B5EF4-FFF2-40B4-BE49-F238E27FC236}">
                <a16:creationId xmlns:a16="http://schemas.microsoft.com/office/drawing/2014/main" id="{97918560-C178-472C-93ED-748AC82A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2802693"/>
            <a:ext cx="916781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×1,3</a:t>
            </a:r>
          </a:p>
        </p:txBody>
      </p:sp>
      <p:sp>
        <p:nvSpPr>
          <p:cNvPr id="21" name="hf-471">
            <a:extLst xmlns:a="http://schemas.openxmlformats.org/drawingml/2006/main">
              <a:ext uri="{FF2B5EF4-FFF2-40B4-BE49-F238E27FC236}">
                <a16:creationId xmlns:a16="http://schemas.microsoft.com/office/drawing/2014/main" id="{A58BBB3F-5959-4336-B36A-3FAF949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3236"/>
            <a:ext cx="99417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22" name="hf-472">
            <a:extLst xmlns:a="http://schemas.openxmlformats.org/drawingml/2006/main">
              <a:ext uri="{FF2B5EF4-FFF2-40B4-BE49-F238E27FC236}">
                <a16:creationId xmlns:a16="http://schemas.microsoft.com/office/drawing/2014/main" id="{403782B6-F447-4498-BFC5-B7A9FC5C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480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3" name="hf-473">
            <a:extLst xmlns:a="http://schemas.openxmlformats.org/drawingml/2006/main">
              <a:ext uri="{FF2B5EF4-FFF2-40B4-BE49-F238E27FC236}">
                <a16:creationId xmlns:a16="http://schemas.microsoft.com/office/drawing/2014/main" id="{D931885C-5C6C-4DBD-845E-8854DB58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35007"/>
            <a:ext cx="57745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512K</a:t>
            </a:r>
          </a:p>
        </p:txBody>
      </p:sp>
      <p:sp>
        <p:nvSpPr>
          <p:cNvPr id="24" name="hf-474">
            <a:extLst xmlns:a="http://schemas.openxmlformats.org/drawingml/2006/main">
              <a:ext uri="{FF2B5EF4-FFF2-40B4-BE49-F238E27FC236}">
                <a16:creationId xmlns:a16="http://schemas.microsoft.com/office/drawing/2014/main" id="{78C8EA84-042B-47F7-8910-D2E1D2F9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3331331"/>
            <a:ext cx="101679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хеш ×1,12</a:t>
            </a:r>
          </a:p>
        </p:txBody>
      </p:sp>
      <p:sp>
        <p:nvSpPr>
          <p:cNvPr id="25" name="hf-475">
            <a:extLst xmlns:a="http://schemas.openxmlformats.org/drawingml/2006/main">
              <a:ext uri="{FF2B5EF4-FFF2-40B4-BE49-F238E27FC236}">
                <a16:creationId xmlns:a16="http://schemas.microsoft.com/office/drawing/2014/main" id="{348DAE24-524B-432E-9118-7C91C543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3331331"/>
            <a:ext cx="924148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×1,9</a:t>
            </a:r>
          </a:p>
        </p:txBody>
      </p:sp>
      <p:sp>
        <p:nvSpPr>
          <p:cNvPr id="26" name="hf-476">
            <a:extLst xmlns:a="http://schemas.openxmlformats.org/drawingml/2006/main">
              <a:ext uri="{FF2B5EF4-FFF2-40B4-BE49-F238E27FC236}">
                <a16:creationId xmlns:a16="http://schemas.microsoft.com/office/drawing/2014/main" id="{DAD07053-11A8-4F34-A94A-548E3379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1874"/>
            <a:ext cx="99417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27" name="hf-477">
            <a:extLst xmlns:a="http://schemas.openxmlformats.org/drawingml/2006/main">
              <a:ext uri="{FF2B5EF4-FFF2-40B4-BE49-F238E27FC236}">
                <a16:creationId xmlns:a16="http://schemas.microsoft.com/office/drawing/2014/main" id="{6F56360B-9978-4FF5-934D-72772A63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76663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8" name="hf-478">
            <a:extLst xmlns:a="http://schemas.openxmlformats.org/drawingml/2006/main">
              <a:ext uri="{FF2B5EF4-FFF2-40B4-BE49-F238E27FC236}">
                <a16:creationId xmlns:a16="http://schemas.microsoft.com/office/drawing/2014/main" id="{867547BD-99A4-4C87-95ED-E543A326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63645"/>
            <a:ext cx="36247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1M</a:t>
            </a:r>
          </a:p>
        </p:txBody>
      </p:sp>
      <p:sp>
        <p:nvSpPr>
          <p:cNvPr id="29" name="hf-479">
            <a:extLst xmlns:a="http://schemas.openxmlformats.org/drawingml/2006/main">
              <a:ext uri="{FF2B5EF4-FFF2-40B4-BE49-F238E27FC236}">
                <a16:creationId xmlns:a16="http://schemas.microsoft.com/office/drawing/2014/main" id="{93F075C0-75A1-48FB-ADEF-B71AFC4F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3859968"/>
            <a:ext cx="1038820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30" name="hf-480">
            <a:extLst xmlns:a="http://schemas.openxmlformats.org/drawingml/2006/main">
              <a:ext uri="{FF2B5EF4-FFF2-40B4-BE49-F238E27FC236}">
                <a16:creationId xmlns:a16="http://schemas.microsoft.com/office/drawing/2014/main" id="{466FE39D-D324-4A24-A230-0D9CF55D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3859968"/>
            <a:ext cx="95897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×3,3</a:t>
            </a:r>
          </a:p>
        </p:txBody>
      </p:sp>
      <p:sp>
        <p:nvSpPr>
          <p:cNvPr id="31" name="hf-481">
            <a:extLst xmlns:a="http://schemas.openxmlformats.org/drawingml/2006/main">
              <a:ext uri="{FF2B5EF4-FFF2-40B4-BE49-F238E27FC236}">
                <a16:creationId xmlns:a16="http://schemas.microsoft.com/office/drawing/2014/main" id="{DB251857-850C-432D-BA6F-808A04E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0511"/>
            <a:ext cx="877714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×1,3</a:t>
            </a:r>
          </a:p>
        </p:txBody>
      </p:sp>
      <p:sp>
        <p:nvSpPr>
          <p:cNvPr id="32" name="hf-482">
            <a:extLst xmlns:a="http://schemas.openxmlformats.org/drawingml/2006/main">
              <a:ext uri="{FF2B5EF4-FFF2-40B4-BE49-F238E27FC236}">
                <a16:creationId xmlns:a16="http://schemas.microsoft.com/office/drawing/2014/main" id="{E57ED528-A700-4793-A9DF-9E0D31E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91730"/>
            <a:ext cx="6080820" cy="24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CI отвечает про свою среду. Пользовательский код живёт в другой.</a:t>
            </a:r>
          </a:p>
        </p:txBody>
      </p:sp>
      <p:pic>
        <p:nvPicPr>
          <p:cNvPr id="33" name="hf-483">
            <a:extLst xmlns:a="http://schemas.openxmlformats.org/drawingml/2006/main">
              <a:ext uri="{FF2B5EF4-FFF2-40B4-BE49-F238E27FC236}">
                <a16:creationId xmlns:a16="http://schemas.microsoft.com/office/drawing/2014/main" id="{BE286253-D8BC-4CF7-8FE3-F7F6C0F16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340dc0847419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4" name="hf-484">
            <a:extLst xmlns:a="http://schemas.openxmlformats.org/drawingml/2006/main">
              <a:ext uri="{FF2B5EF4-FFF2-40B4-BE49-F238E27FC236}">
                <a16:creationId xmlns:a16="http://schemas.microsoft.com/office/drawing/2014/main" id="{7436C081-7431-49D4-AF92-34E48F3B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2766636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8" grpId="0" animBg="1"/>
      <p:bldP spid="29" grpId="0" animBg="1"/>
      <p:bldP spid="30" grpId="0" animBg="1"/>
      <p:bldP spid="13" grpId="0" animBg="1"/>
      <p:bldP spid="14" grpId="0" animBg="1"/>
      <p:bldP spid="15" grpId="0" animBg="1"/>
      <p:bldP spid="23" grpId="0" animBg="1"/>
      <p:bldP spid="24" grpId="0" animBg="1"/>
      <p:bldP spid="25" grpId="0" animBg="1"/>
      <p:bldP spid="10" grpId="0" animBg="1"/>
      <p:bldP spid="11" grpId="0" animBg="1"/>
      <p:bldP spid="16" grpId="0" animBg="1"/>
      <p:bldP spid="21" grpId="0" animBg="1"/>
      <p:bldP spid="26" grpId="0" animBg="1"/>
      <p:bldP spid="31" grpId="0" animBg="1"/>
      <p:bldP spid="32" grpId="0" animBg="1"/>
    </p:bldLst>
  </p:timing>
</p:sld>
</file>

<file path=ppt/slides/slide24.xml><?xml version="1.0" encoding="utf-8"?>
<p:sld xmlns:p="http://schemas.openxmlformats.org/presentationml/2006/main">
  <p:cSld name="merg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85">
            <a:extLst xmlns:a="http://schemas.openxmlformats.org/drawingml/2006/main">
              <a:ext uri="{FF2B5EF4-FFF2-40B4-BE49-F238E27FC236}">
                <a16:creationId xmlns:a16="http://schemas.microsoft.com/office/drawing/2014/main" id="{DC302218-830B-4314-8BD3-FAA427FC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79261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РАЗВЯЗКА · ИСХОДНАЯ ЗАДАЧА</a:t>
            </a:r>
          </a:p>
        </p:txBody>
      </p:sp>
      <p:sp>
        <p:nvSpPr>
          <p:cNvPr id="3" name="hf-486">
            <a:extLst xmlns:a="http://schemas.openxmlformats.org/drawingml/2006/main">
              <a:ext uri="{FF2B5EF4-FFF2-40B4-BE49-F238E27FC236}">
                <a16:creationId xmlns:a16="http://schemas.microsoft.com/office/drawing/2014/main" id="{FD1A18D9-909A-40AC-A1CE-26E7C557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44889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СОРТИРОВКА ДЕЛЬТЫ И СЛИЯНИЕ</a:t>
            </a:r>
          </a:p>
        </p:txBody>
      </p:sp>
      <p:sp>
        <p:nvSpPr>
          <p:cNvPr id="4" name="hf-487">
            <a:extLst xmlns:a="http://schemas.openxmlformats.org/drawingml/2006/main">
              <a:ext uri="{FF2B5EF4-FFF2-40B4-BE49-F238E27FC236}">
                <a16:creationId xmlns:a16="http://schemas.microsoft.com/office/drawing/2014/main" id="{011CC228-1A22-46C7-8BCB-DEACFBD4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76375"/>
            <a:ext cx="1952625" cy="619125"/>
          </a:xfrm>
          <a:custGeom xmlns:a="http://schemas.openxmlformats.org/drawingml/2006/main">
            <a:pathLst>
              <a:path w="1952625" h="619125">
                <a:moveTo>
                  <a:pt x="0" y="0"/>
                </a:moveTo>
                <a:lnTo>
                  <a:pt x="1714500" y="0"/>
                </a:lnTo>
                <a:lnTo>
                  <a:pt x="1952625" y="309563"/>
                </a:lnTo>
                <a:lnTo>
                  <a:pt x="1714500" y="619125"/>
                </a:lnTo>
                <a:lnTo>
                  <a:pt x="0" y="619125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5" name="hf-488">
            <a:extLst xmlns:a="http://schemas.openxmlformats.org/drawingml/2006/main">
              <a:ext uri="{FF2B5EF4-FFF2-40B4-BE49-F238E27FC236}">
                <a16:creationId xmlns:a16="http://schemas.microsoft.com/office/drawing/2014/main" id="{0DE9AB9C-C9EC-438E-9C8A-96309B2B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3" y="1476375"/>
            <a:ext cx="1952625" cy="619125"/>
          </a:xfrm>
          <a:custGeom xmlns:a="http://schemas.openxmlformats.org/drawingml/2006/main">
            <a:pathLst>
              <a:path w="1952625" h="619125">
                <a:moveTo>
                  <a:pt x="0" y="0"/>
                </a:moveTo>
                <a:lnTo>
                  <a:pt x="1714500" y="0"/>
                </a:lnTo>
                <a:lnTo>
                  <a:pt x="1952625" y="309563"/>
                </a:lnTo>
                <a:lnTo>
                  <a:pt x="1714500" y="619125"/>
                </a:lnTo>
                <a:lnTo>
                  <a:pt x="0" y="619125"/>
                </a:lnTo>
                <a:lnTo>
                  <a:pt x="238125" y="309563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6" name="hf-489">
            <a:extLst xmlns:a="http://schemas.openxmlformats.org/drawingml/2006/main">
              <a:ext uri="{FF2B5EF4-FFF2-40B4-BE49-F238E27FC236}">
                <a16:creationId xmlns:a16="http://schemas.microsoft.com/office/drawing/2014/main" id="{CB687227-7930-4ACC-B230-9301B428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1476375"/>
            <a:ext cx="2238375" cy="619125"/>
          </a:xfrm>
          <a:custGeom xmlns:a="http://schemas.openxmlformats.org/drawingml/2006/main">
            <a:pathLst>
              <a:path w="2238375" h="619125">
                <a:moveTo>
                  <a:pt x="0" y="0"/>
                </a:moveTo>
                <a:lnTo>
                  <a:pt x="2000250" y="0"/>
                </a:lnTo>
                <a:lnTo>
                  <a:pt x="2238375" y="309563"/>
                </a:lnTo>
                <a:lnTo>
                  <a:pt x="2000250" y="619125"/>
                </a:lnTo>
                <a:lnTo>
                  <a:pt x="0" y="619125"/>
                </a:lnTo>
                <a:lnTo>
                  <a:pt x="238125" y="309563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7" name="hf-490">
            <a:extLst xmlns:a="http://schemas.openxmlformats.org/drawingml/2006/main">
              <a:ext uri="{FF2B5EF4-FFF2-40B4-BE49-F238E27FC236}">
                <a16:creationId xmlns:a16="http://schemas.microsoft.com/office/drawing/2014/main" id="{EADA96E3-00F0-4BA1-8667-2E711ED2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7429"/>
            <a:ext cx="46084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</a:t>
            </a:r>
          </a:p>
        </p:txBody>
      </p:sp>
      <p:sp>
        <p:nvSpPr>
          <p:cNvPr id="8" name="hf-491">
            <a:extLst xmlns:a="http://schemas.openxmlformats.org/drawingml/2006/main">
              <a:ext uri="{FF2B5EF4-FFF2-40B4-BE49-F238E27FC236}">
                <a16:creationId xmlns:a16="http://schemas.microsoft.com/office/drawing/2014/main" id="{684EB290-D3CF-430C-A401-01999AEC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6029"/>
            <a:ext cx="123073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дельты 64K</a:t>
            </a:r>
          </a:p>
        </p:txBody>
      </p:sp>
      <p:sp>
        <p:nvSpPr>
          <p:cNvPr id="9" name="hf-492">
            <a:extLst xmlns:a="http://schemas.openxmlformats.org/drawingml/2006/main">
              <a:ext uri="{FF2B5EF4-FFF2-40B4-BE49-F238E27FC236}">
                <a16:creationId xmlns:a16="http://schemas.microsoft.com/office/drawing/2014/main" id="{EDC609C5-A173-439B-8D94-09BF556D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1651254"/>
            <a:ext cx="7678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unique</a:t>
            </a:r>
          </a:p>
        </p:txBody>
      </p:sp>
      <p:sp>
        <p:nvSpPr>
          <p:cNvPr id="10" name="hf-493">
            <a:extLst xmlns:a="http://schemas.openxmlformats.org/drawingml/2006/main">
              <a:ext uri="{FF2B5EF4-FFF2-40B4-BE49-F238E27FC236}">
                <a16:creationId xmlns:a16="http://schemas.microsoft.com/office/drawing/2014/main" id="{BA9BD0BE-6D23-499D-9169-D9A61D30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1527429"/>
            <a:ext cx="6628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слить</a:t>
            </a:r>
          </a:p>
        </p:txBody>
      </p:sp>
      <p:sp>
        <p:nvSpPr>
          <p:cNvPr id="11" name="hf-494">
            <a:extLst xmlns:a="http://schemas.openxmlformats.org/drawingml/2006/main">
              <a:ext uri="{FF2B5EF4-FFF2-40B4-BE49-F238E27FC236}">
                <a16:creationId xmlns:a16="http://schemas.microsoft.com/office/drawing/2014/main" id="{EA9F402B-942B-4AE7-B2BE-9FC0637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1756029"/>
            <a:ext cx="181748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с локальными 1M</a:t>
            </a:r>
          </a:p>
        </p:txBody>
      </p:sp>
      <p:sp>
        <p:nvSpPr>
          <p:cNvPr id="12" name="hf-495">
            <a:extLst xmlns:a="http://schemas.openxmlformats.org/drawingml/2006/main">
              <a:ext uri="{FF2B5EF4-FFF2-40B4-BE49-F238E27FC236}">
                <a16:creationId xmlns:a16="http://schemas.microsoft.com/office/drawing/2014/main" id="{4E942F25-2A1D-4A75-9F78-91B0D761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1476375"/>
            <a:ext cx="185737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hf-496">
            <a:extLst xmlns:a="http://schemas.openxmlformats.org/drawingml/2006/main">
              <a:ext uri="{FF2B5EF4-FFF2-40B4-BE49-F238E27FC236}">
                <a16:creationId xmlns:a16="http://schemas.microsoft.com/office/drawing/2014/main" id="{E96655D9-47B0-41B0-9E36-7D390A60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957" y="1617917"/>
            <a:ext cx="162736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Уникальные id</a:t>
            </a:r>
          </a:p>
        </p:txBody>
      </p:sp>
      <p:sp>
        <p:nvSpPr>
          <p:cNvPr id="14" name="hf-497">
            <a:extLst xmlns:a="http://schemas.openxmlformats.org/drawingml/2006/main">
              <a:ext uri="{FF2B5EF4-FFF2-40B4-BE49-F238E27FC236}">
                <a16:creationId xmlns:a16="http://schemas.microsoft.com/office/drawing/2014/main" id="{0B8AEFB8-BAFD-421F-BAAA-DC28576B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33625"/>
            <a:ext cx="80295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5" name="hf-498">
            <a:extLst xmlns:a="http://schemas.openxmlformats.org/drawingml/2006/main">
              <a:ext uri="{FF2B5EF4-FFF2-40B4-BE49-F238E27FC236}">
                <a16:creationId xmlns:a16="http://schemas.microsoft.com/office/drawing/2014/main" id="{261013CC-7E90-4090-97D2-4EB1FD40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3" y="2752725"/>
            <a:ext cx="6191250" cy="2762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2B26"/>
          </a:solidFill>
          <a:ln xmlns:a="http://schemas.openxmlformats.org/drawingml/2006/main" w="0">
            <a:noFill/>
          </a:ln>
        </p:spPr>
      </p:sp>
      <p:sp>
        <p:nvSpPr>
          <p:cNvPr id="16" name="hf-499">
            <a:extLst xmlns:a="http://schemas.openxmlformats.org/drawingml/2006/main">
              <a:ext uri="{FF2B5EF4-FFF2-40B4-BE49-F238E27FC236}">
                <a16:creationId xmlns:a16="http://schemas.microsoft.com/office/drawing/2014/main" id="{F89DB81F-DF4C-4A7B-8BF1-4A1EB89F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459546"/>
            <a:ext cx="3153817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std::sort(D.begin(), D.end());</a:t>
            </a:r>
          </a:p>
        </p:txBody>
      </p:sp>
      <p:sp>
        <p:nvSpPr>
          <p:cNvPr id="17" name="hf-500">
            <a:extLst xmlns:a="http://schemas.openxmlformats.org/drawingml/2006/main">
              <a:ext uri="{FF2B5EF4-FFF2-40B4-BE49-F238E27FC236}">
                <a16:creationId xmlns:a16="http://schemas.microsoft.com/office/drawing/2014/main" id="{64611501-B9D3-4B63-BA36-E2C888B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735771"/>
            <a:ext cx="521828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35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D.erase(std::unique(D.begin(), D.end()), D.end());</a:t>
            </a:r>
          </a:p>
        </p:txBody>
      </p:sp>
      <p:sp>
        <p:nvSpPr>
          <p:cNvPr id="18" name="hf-501">
            <a:extLst xmlns:a="http://schemas.openxmlformats.org/drawingml/2006/main">
              <a:ext uri="{FF2B5EF4-FFF2-40B4-BE49-F238E27FC236}">
                <a16:creationId xmlns:a16="http://schemas.microsoft.com/office/drawing/2014/main" id="{189899F9-926F-4443-99A3-7598A03D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011996"/>
            <a:ext cx="62504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std::set_union(L.begin(), L.end(), D.begin(), D.end(), out);</a:t>
            </a:r>
          </a:p>
        </p:txBody>
      </p:sp>
      <p:sp>
        <p:nvSpPr>
          <p:cNvPr id="19" name="hf-502">
            <a:extLst xmlns:a="http://schemas.openxmlformats.org/drawingml/2006/main">
              <a:ext uri="{FF2B5EF4-FFF2-40B4-BE49-F238E27FC236}">
                <a16:creationId xmlns:a16="http://schemas.microsoft.com/office/drawing/2014/main" id="{DA977F0F-5235-4184-A0C6-7DFB27DC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581" y="3272542"/>
            <a:ext cx="2286819" cy="24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без unique дубли дельты</a:t>
            </a:r>
          </a:p>
        </p:txBody>
      </p:sp>
      <p:sp>
        <p:nvSpPr>
          <p:cNvPr id="20" name="hf-503">
            <a:extLst xmlns:a="http://schemas.openxmlformats.org/drawingml/2006/main">
              <a:ext uri="{FF2B5EF4-FFF2-40B4-BE49-F238E27FC236}">
                <a16:creationId xmlns:a16="http://schemas.microsoft.com/office/drawing/2014/main" id="{2D04F5A2-57ED-4CAB-9D09-4CA060A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605" y="3495412"/>
            <a:ext cx="927795" cy="24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останутся</a:t>
            </a:r>
          </a:p>
        </p:txBody>
      </p:sp>
      <p:sp>
        <p:nvSpPr>
          <p:cNvPr id="21" name="hf-504">
            <a:extLst xmlns:a="http://schemas.openxmlformats.org/drawingml/2006/main">
              <a:ext uri="{FF2B5EF4-FFF2-40B4-BE49-F238E27FC236}">
                <a16:creationId xmlns:a16="http://schemas.microsoft.com/office/drawing/2014/main" id="{B78FC44F-21C8-4195-846F-7D57880D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10429"/>
            <a:ext cx="2530376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875"/>
              </a:lnSpc>
              <a:buNone/>
            </a:pPr>
            <a:r>
              <a:rPr sz="4875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×3,5–6,6</a:t>
            </a:r>
          </a:p>
        </p:txBody>
      </p:sp>
      <p:sp>
        <p:nvSpPr>
          <p:cNvPr id="22" name="hf-505">
            <a:extLst xmlns:a="http://schemas.openxmlformats.org/drawingml/2006/main">
              <a:ext uri="{FF2B5EF4-FFF2-40B4-BE49-F238E27FC236}">
                <a16:creationId xmlns:a16="http://schemas.microsoft.com/office/drawing/2014/main" id="{44840F74-027E-4464-989D-AEBB9359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94379"/>
            <a:ext cx="29279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быстрее полной сортировки</a:t>
            </a:r>
          </a:p>
        </p:txBody>
      </p:sp>
      <p:sp>
        <p:nvSpPr>
          <p:cNvPr id="23" name="hf-506">
            <a:extLst xmlns:a="http://schemas.openxmlformats.org/drawingml/2006/main">
              <a:ext uri="{FF2B5EF4-FFF2-40B4-BE49-F238E27FC236}">
                <a16:creationId xmlns:a16="http://schemas.microsoft.com/office/drawing/2014/main" id="{804CBC94-5EFA-4982-B1E4-C056DE6F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2029"/>
            <a:ext cx="136430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Замер на x86</a:t>
            </a:r>
          </a:p>
        </p:txBody>
      </p:sp>
      <p:pic>
        <p:nvPicPr>
          <p:cNvPr id="24" name="hf-507">
            <a:extLst xmlns:a="http://schemas.openxmlformats.org/drawingml/2006/main">
              <a:ext uri="{FF2B5EF4-FFF2-40B4-BE49-F238E27FC236}">
                <a16:creationId xmlns:a16="http://schemas.microsoft.com/office/drawing/2014/main" id="{56D2AE60-F7C4-4536-99EA-AE04C62A8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27252f4ce46e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5" name="hf-508">
            <a:extLst xmlns:a="http://schemas.openxmlformats.org/drawingml/2006/main">
              <a:ext uri="{FF2B5EF4-FFF2-40B4-BE49-F238E27FC236}">
                <a16:creationId xmlns:a16="http://schemas.microsoft.com/office/drawing/2014/main" id="{3E0F3132-6AF3-44CE-B1AB-298D4081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75931813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p="http://schemas.openxmlformats.org/presentationml/2006/main">
  <p:cSld name="prod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509">
            <a:extLst xmlns:a="http://schemas.openxmlformats.org/drawingml/2006/main">
              <a:ext uri="{FF2B5EF4-FFF2-40B4-BE49-F238E27FC236}">
                <a16:creationId xmlns:a16="http://schemas.microsoft.com/office/drawing/2014/main" id="{F4426C82-D745-4BDA-978A-8264C451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11239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ПРАКТИЧЕСКИЙ ВЫБОР</a:t>
            </a:r>
          </a:p>
        </p:txBody>
      </p:sp>
      <p:sp>
        <p:nvSpPr>
          <p:cNvPr id="3" name="hf-510">
            <a:extLst xmlns:a="http://schemas.openxmlformats.org/drawingml/2006/main">
              <a:ext uri="{FF2B5EF4-FFF2-40B4-BE49-F238E27FC236}">
                <a16:creationId xmlns:a16="http://schemas.microsoft.com/office/drawing/2014/main" id="{DB3E950C-02A4-4215-8CE0-9F782823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4187130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ЦЕНА В МИЛЛИСЕКУНДАХ</a:t>
            </a:r>
          </a:p>
        </p:txBody>
      </p:sp>
      <p:sp>
        <p:nvSpPr>
          <p:cNvPr id="4" name="hf-511">
            <a:extLst xmlns:a="http://schemas.openxmlformats.org/drawingml/2006/main">
              <a:ext uri="{FF2B5EF4-FFF2-40B4-BE49-F238E27FC236}">
                <a16:creationId xmlns:a16="http://schemas.microsoft.com/office/drawing/2014/main" id="{D1D3DFFC-C447-4265-A7F0-55F0F48A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30007"/>
            <a:ext cx="582952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Лабораторная серия · iPhone 14 Pro · QoS utility</a:t>
            </a:r>
          </a:p>
        </p:txBody>
      </p:sp>
      <p:sp>
        <p:nvSpPr>
          <p:cNvPr id="5" name="hf-512">
            <a:extLst xmlns:a="http://schemas.openxmlformats.org/drawingml/2006/main">
              <a:ext uri="{FF2B5EF4-FFF2-40B4-BE49-F238E27FC236}">
                <a16:creationId xmlns:a16="http://schemas.microsoft.com/office/drawing/2014/main" id="{DE309029-D01A-44BB-A9A7-6F5C3CB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53882"/>
            <a:ext cx="3800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512K id · половина уникальных</a:t>
            </a:r>
          </a:p>
        </p:txBody>
      </p:sp>
      <p:sp>
        <p:nvSpPr>
          <p:cNvPr id="6" name="hf-513">
            <a:extLst xmlns:a="http://schemas.openxmlformats.org/drawingml/2006/main">
              <a:ext uri="{FF2B5EF4-FFF2-40B4-BE49-F238E27FC236}">
                <a16:creationId xmlns:a16="http://schemas.microsoft.com/office/drawing/2014/main" id="{A7526705-D9CE-4615-AA9C-378BC22C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28215"/>
            <a:ext cx="4000426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sort ≈29 мс · unordered_set ≈55 мс</a:t>
            </a:r>
          </a:p>
        </p:txBody>
      </p:sp>
      <p:sp>
        <p:nvSpPr>
          <p:cNvPr id="7" name="hf-514">
            <a:extLst xmlns:a="http://schemas.openxmlformats.org/drawingml/2006/main">
              <a:ext uri="{FF2B5EF4-FFF2-40B4-BE49-F238E27FC236}">
                <a16:creationId xmlns:a16="http://schemas.microsoft.com/office/drawing/2014/main" id="{40891ED7-C866-4703-8519-8DFD7F0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90901"/>
            <a:ext cx="465824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410"/>
              </a:lnSpc>
              <a:buNone/>
            </a:pPr>
            <a:r>
              <a:rPr sz="42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+26 мс · +12 МиБ</a:t>
            </a:r>
          </a:p>
        </p:txBody>
      </p:sp>
      <p:sp>
        <p:nvSpPr>
          <p:cNvPr id="8" name="hf-515">
            <a:extLst xmlns:a="http://schemas.openxmlformats.org/drawingml/2006/main">
              <a:ext uri="{FF2B5EF4-FFF2-40B4-BE49-F238E27FC236}">
                <a16:creationId xmlns:a16="http://schemas.microsoft.com/office/drawing/2014/main" id="{98741FCA-067F-425A-9D1A-06C3C28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41954"/>
            <a:ext cx="354620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На тестовом 1M: ≈60 против ≈197 мс</a:t>
            </a:r>
          </a:p>
        </p:txBody>
      </p:sp>
      <p:sp>
        <p:nvSpPr>
          <p:cNvPr id="9" name="hf-516">
            <a:extLst xmlns:a="http://schemas.openxmlformats.org/drawingml/2006/main">
              <a:ext uri="{FF2B5EF4-FFF2-40B4-BE49-F238E27FC236}">
                <a16:creationId xmlns:a16="http://schemas.microsoft.com/office/drawing/2014/main" id="{E9FA236A-6D8E-47ED-9634-FCBDEBA4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92232"/>
            <a:ext cx="7339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Для нашего примера: сортировать дельту, убрать повторы,</a:t>
            </a:r>
          </a:p>
        </p:txBody>
      </p:sp>
      <p:sp>
        <p:nvSpPr>
          <p:cNvPr id="10" name="hf-517">
            <a:extLst xmlns:a="http://schemas.openxmlformats.org/drawingml/2006/main">
              <a:ext uri="{FF2B5EF4-FFF2-40B4-BE49-F238E27FC236}">
                <a16:creationId xmlns:a16="http://schemas.microsoft.com/office/drawing/2014/main" id="{C1A0B8BA-2435-4F4B-BA7E-2A4005F9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77982"/>
            <a:ext cx="74897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слить</a:t>
            </a:r>
          </a:p>
        </p:txBody>
      </p:sp>
      <p:pic>
        <p:nvPicPr>
          <p:cNvPr id="11" name="hf-518">
            <a:extLst xmlns:a="http://schemas.openxmlformats.org/drawingml/2006/main">
              <a:ext uri="{FF2B5EF4-FFF2-40B4-BE49-F238E27FC236}">
                <a16:creationId xmlns:a16="http://schemas.microsoft.com/office/drawing/2014/main" id="{6AA7CC63-C1CA-4551-B8E1-AA0C0196B0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ab01d6f9e4bc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2" name="hf-519">
            <a:extLst xmlns:a="http://schemas.openxmlformats.org/drawingml/2006/main">
              <a:ext uri="{FF2B5EF4-FFF2-40B4-BE49-F238E27FC236}">
                <a16:creationId xmlns:a16="http://schemas.microsoft.com/office/drawing/2014/main" id="{3162E7A8-1CFE-4BA2-BF62-EAEAC2F6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13698114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p="http://schemas.openxmlformats.org/presentationml/2006/main">
  <p:cSld name="platform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520">
            <a:extLst xmlns:a="http://schemas.openxmlformats.org/drawingml/2006/main">
              <a:ext uri="{FF2B5EF4-FFF2-40B4-BE49-F238E27FC236}">
                <a16:creationId xmlns:a16="http://schemas.microsoft.com/office/drawing/2014/main" id="{B399B4B5-FE63-4AFA-8657-A707AB73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494481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ПОСЛЕ ЧЕТЫРЁХ РАУНДОВ · ПЕРЕНОС НА СВОЮ ЗАДАЧУ</a:t>
            </a:r>
          </a:p>
        </p:txBody>
      </p:sp>
      <p:sp>
        <p:nvSpPr>
          <p:cNvPr id="3" name="hf-521">
            <a:extLst xmlns:a="http://schemas.openxmlformats.org/drawingml/2006/main">
              <a:ext uri="{FF2B5EF4-FFF2-40B4-BE49-F238E27FC236}">
                <a16:creationId xmlns:a16="http://schemas.microsoft.com/office/drawing/2014/main" id="{C7104B86-D72E-448E-9E9F-E74CE8F3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32318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ЭТОТ МЕТОД РАБОТАЕТ ЗА ПРЕДЕЛАМИ</a:t>
            </a:r>
          </a:p>
        </p:txBody>
      </p:sp>
      <p:sp>
        <p:nvSpPr>
          <p:cNvPr id="4" name="hf-522">
            <a:extLst xmlns:a="http://schemas.openxmlformats.org/drawingml/2006/main">
              <a:ext uri="{FF2B5EF4-FFF2-40B4-BE49-F238E27FC236}">
                <a16:creationId xmlns:a16="http://schemas.microsoft.com/office/drawing/2014/main" id="{DE7EC87B-6995-4163-8FEB-C1A0B8C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10891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iPhone</a:t>
            </a:r>
          </a:p>
        </p:txBody>
      </p:sp>
      <p:sp>
        <p:nvSpPr>
          <p:cNvPr id="5" name="hf-523">
            <a:extLst xmlns:a="http://schemas.openxmlformats.org/drawingml/2006/main">
              <a:ext uri="{FF2B5EF4-FFF2-40B4-BE49-F238E27FC236}">
                <a16:creationId xmlns:a16="http://schemas.microsoft.com/office/drawing/2014/main" id="{A6AD911D-E4B0-48F7-B4E4-1CFE54E2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47996"/>
            <a:ext cx="1029146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38"/>
              </a:lnSpc>
              <a:buNone/>
            </a:pPr>
            <a:r>
              <a:rPr sz="19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Бэкенд</a:t>
            </a:r>
          </a:p>
        </p:txBody>
      </p:sp>
      <p:sp>
        <p:nvSpPr>
          <p:cNvPr id="6" name="hf-524">
            <a:extLst xmlns:a="http://schemas.openxmlformats.org/drawingml/2006/main">
              <a:ext uri="{FF2B5EF4-FFF2-40B4-BE49-F238E27FC236}">
                <a16:creationId xmlns:a16="http://schemas.microsoft.com/office/drawing/2014/main" id="{AF792CFB-41FF-427F-989E-2FDA7F9B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1625813"/>
            <a:ext cx="4747022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Целевой CPU и библиотека как в проде</a:t>
            </a:r>
          </a:p>
        </p:txBody>
      </p:sp>
      <p:sp>
        <p:nvSpPr>
          <p:cNvPr id="7" name="hf-525">
            <a:extLst xmlns:a="http://schemas.openxmlformats.org/drawingml/2006/main">
              <a:ext uri="{FF2B5EF4-FFF2-40B4-BE49-F238E27FC236}">
                <a16:creationId xmlns:a16="http://schemas.microsoft.com/office/drawing/2014/main" id="{8109A1A8-85AA-4829-AEE7-85B89DFF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14563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8" name="hf-526">
            <a:extLst xmlns:a="http://schemas.openxmlformats.org/drawingml/2006/main">
              <a:ext uri="{FF2B5EF4-FFF2-40B4-BE49-F238E27FC236}">
                <a16:creationId xmlns:a16="http://schemas.microsoft.com/office/drawing/2014/main" id="{6F5BDD83-9FED-493E-A09F-CABE002F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05246"/>
            <a:ext cx="1590303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38"/>
              </a:lnSpc>
              <a:buNone/>
            </a:pPr>
            <a:r>
              <a:rPr sz="19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Мобильное</a:t>
            </a:r>
          </a:p>
        </p:txBody>
      </p:sp>
      <p:sp>
        <p:nvSpPr>
          <p:cNvPr id="9" name="hf-527">
            <a:extLst xmlns:a="http://schemas.openxmlformats.org/drawingml/2006/main">
              <a:ext uri="{FF2B5EF4-FFF2-40B4-BE49-F238E27FC236}">
                <a16:creationId xmlns:a16="http://schemas.microsoft.com/office/drawing/2014/main" id="{E9693163-995C-49D8-89E8-AD46144A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2483063"/>
            <a:ext cx="4754166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Реальный executor и QoS на устройстве</a:t>
            </a:r>
          </a:p>
        </p:txBody>
      </p:sp>
      <p:sp>
        <p:nvSpPr>
          <p:cNvPr id="10" name="hf-528">
            <a:extLst xmlns:a="http://schemas.openxmlformats.org/drawingml/2006/main">
              <a:ext uri="{FF2B5EF4-FFF2-40B4-BE49-F238E27FC236}">
                <a16:creationId xmlns:a16="http://schemas.microsoft.com/office/drawing/2014/main" id="{3DC66FC5-5E92-462C-B724-8CE51577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71813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1" name="hf-529">
            <a:extLst xmlns:a="http://schemas.openxmlformats.org/drawingml/2006/main">
              <a:ext uri="{FF2B5EF4-FFF2-40B4-BE49-F238E27FC236}">
                <a16:creationId xmlns:a16="http://schemas.microsoft.com/office/drawing/2014/main" id="{6399F26D-1DC9-48C9-B62B-21B756A1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62496"/>
            <a:ext cx="73469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38"/>
              </a:lnSpc>
              <a:buNone/>
            </a:pPr>
            <a:r>
              <a:rPr sz="19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Язык</a:t>
            </a:r>
          </a:p>
        </p:txBody>
      </p:sp>
      <p:sp>
        <p:nvSpPr>
          <p:cNvPr id="12" name="hf-530">
            <a:extLst xmlns:a="http://schemas.openxmlformats.org/drawingml/2006/main">
              <a:ext uri="{FF2B5EF4-FFF2-40B4-BE49-F238E27FC236}">
                <a16:creationId xmlns:a16="http://schemas.microsoft.com/office/drawing/2014/main" id="{91D4C0DE-86F4-490C-8046-21B5A37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3340313"/>
            <a:ext cx="4378151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Конкретная реализация контейнера</a:t>
            </a:r>
          </a:p>
        </p:txBody>
      </p:sp>
      <p:sp>
        <p:nvSpPr>
          <p:cNvPr id="13" name="hf-531">
            <a:extLst xmlns:a="http://schemas.openxmlformats.org/drawingml/2006/main">
              <a:ext uri="{FF2B5EF4-FFF2-40B4-BE49-F238E27FC236}">
                <a16:creationId xmlns:a16="http://schemas.microsoft.com/office/drawing/2014/main" id="{3B2E7D5D-6339-49DB-AD2B-8913681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37279"/>
            <a:ext cx="609190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Название Set не обещает одинакового устройства или цены</a:t>
            </a:r>
          </a:p>
        </p:txBody>
      </p:sp>
      <p:pic>
        <p:nvPicPr>
          <p:cNvPr id="14" name="hf-532">
            <a:extLst xmlns:a="http://schemas.openxmlformats.org/drawingml/2006/main">
              <a:ext uri="{FF2B5EF4-FFF2-40B4-BE49-F238E27FC236}">
                <a16:creationId xmlns:a16="http://schemas.microsoft.com/office/drawing/2014/main" id="{F352F6D4-1ECB-4AA1-BF56-25CF20C13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aaccaee6d43a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5" name="hf-533">
            <a:extLst xmlns:a="http://schemas.openxmlformats.org/drawingml/2006/main">
              <a:ext uri="{FF2B5EF4-FFF2-40B4-BE49-F238E27FC236}">
                <a16:creationId xmlns:a16="http://schemas.microsoft.com/office/drawing/2014/main" id="{965D8C0F-0B3F-4D72-9D7F-73B75DA9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4020767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27.xml><?xml version="1.0" encoding="utf-8"?>
<p:sld xmlns:p="http://schemas.openxmlformats.org/presentationml/2006/main">
  <p:cSld name="review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534">
            <a:extLst xmlns:a="http://schemas.openxmlformats.org/drawingml/2006/main">
              <a:ext uri="{FF2B5EF4-FFF2-40B4-BE49-F238E27FC236}">
                <a16:creationId xmlns:a16="http://schemas.microsoft.com/office/drawing/2014/main" id="{9B4D3A17-1C92-4B01-B187-6614B214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250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ВОЗВРАЩАЕМСЯ К ДИФУ</a:t>
            </a:r>
          </a:p>
        </p:txBody>
      </p:sp>
      <p:sp>
        <p:nvSpPr>
          <p:cNvPr id="3" name="hf-535">
            <a:extLst xmlns:a="http://schemas.openxmlformats.org/drawingml/2006/main">
              <a:ext uri="{FF2B5EF4-FFF2-40B4-BE49-F238E27FC236}">
                <a16:creationId xmlns:a16="http://schemas.microsoft.com/office/drawing/2014/main" id="{3D7F30EA-172C-45DF-92C5-23DC3088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449483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КОД-РЕВЬЮ, ВТОРНИК, 17:40</a:t>
            </a:r>
          </a:p>
        </p:txBody>
      </p:sp>
      <p:sp>
        <p:nvSpPr>
          <p:cNvPr id="4" name="hf-536">
            <a:extLst xmlns:a="http://schemas.openxmlformats.org/drawingml/2006/main">
              <a:ext uri="{FF2B5EF4-FFF2-40B4-BE49-F238E27FC236}">
                <a16:creationId xmlns:a16="http://schemas.microsoft.com/office/drawing/2014/main" id="{639EC45C-90B6-466D-B0C5-E5DB030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38250"/>
            <a:ext cx="538162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5" name="hf-537">
            <a:extLst xmlns:a="http://schemas.openxmlformats.org/drawingml/2006/main">
              <a:ext uri="{FF2B5EF4-FFF2-40B4-BE49-F238E27FC236}">
                <a16:creationId xmlns:a16="http://schemas.microsoft.com/office/drawing/2014/main" id="{6CE2205B-F9B3-4DBE-B190-72EA81E6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1366171"/>
            <a:ext cx="30792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C8C8C8"/>
                </a:solidFill>
                <a:latin typeface="Menlo"/>
                <a:ea typeface="Menlo"/>
                <a:cs typeface="Menlo"/>
              </a:rPr>
              <a:t>// dedup ids after offline sync</a:t>
            </a:r>
          </a:p>
        </p:txBody>
      </p:sp>
      <p:sp>
        <p:nvSpPr>
          <p:cNvPr id="6" name="hf-538">
            <a:extLst xmlns:a="http://schemas.openxmlformats.org/drawingml/2006/main">
              <a:ext uri="{FF2B5EF4-FFF2-40B4-BE49-F238E27FC236}">
                <a16:creationId xmlns:a16="http://schemas.microsoft.com/office/drawing/2014/main" id="{8E14998A-52BA-4E67-9397-133A8715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1642396"/>
            <a:ext cx="35667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F08A7A"/>
                </a:solidFill>
                <a:latin typeface="Menlo"/>
                <a:ea typeface="Menlo"/>
                <a:cs typeface="Menlo"/>
              </a:rPr>
              <a:t>- std::sort(ids.begin(), ids.end());</a:t>
            </a:r>
          </a:p>
        </p:txBody>
      </p:sp>
      <p:sp>
        <p:nvSpPr>
          <p:cNvPr id="7" name="hf-539">
            <a:extLst xmlns:a="http://schemas.openxmlformats.org/drawingml/2006/main">
              <a:ext uri="{FF2B5EF4-FFF2-40B4-BE49-F238E27FC236}">
                <a16:creationId xmlns:a16="http://schemas.microsoft.com/office/drawing/2014/main" id="{A3EDA75C-A143-4DB8-A8EF-16488A9B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1918621"/>
            <a:ext cx="38591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F08A7A"/>
                </a:solidFill>
                <a:latin typeface="Menlo"/>
                <a:ea typeface="Menlo"/>
                <a:cs typeface="Menlo"/>
              </a:rPr>
              <a:t>- ids.erase(std::unique(…), ids.end());</a:t>
            </a:r>
          </a:p>
        </p:txBody>
      </p:sp>
      <p:sp>
        <p:nvSpPr>
          <p:cNvPr id="8" name="hf-540">
            <a:extLst xmlns:a="http://schemas.openxmlformats.org/drawingml/2006/main">
              <a:ext uri="{FF2B5EF4-FFF2-40B4-BE49-F238E27FC236}">
                <a16:creationId xmlns:a16="http://schemas.microsoft.com/office/drawing/2014/main" id="{A358D9F3-54DD-425F-8CFE-026D4D7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194846"/>
            <a:ext cx="35667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7BD88F"/>
                </a:solidFill>
                <a:latin typeface="Menlo"/>
                <a:ea typeface="Menlo"/>
                <a:cs typeface="Menlo"/>
              </a:rPr>
              <a:t>+ std::unordered_set&lt;uint64_t&gt; s(…);</a:t>
            </a:r>
          </a:p>
        </p:txBody>
      </p:sp>
      <p:sp>
        <p:nvSpPr>
          <p:cNvPr id="9" name="hf-541">
            <a:extLst xmlns:a="http://schemas.openxmlformats.org/drawingml/2006/main">
              <a:ext uri="{FF2B5EF4-FFF2-40B4-BE49-F238E27FC236}">
                <a16:creationId xmlns:a16="http://schemas.microsoft.com/office/drawing/2014/main" id="{3D78460E-2FA7-491A-9D6E-CC183934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471071"/>
            <a:ext cx="327429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7BD88F"/>
                </a:solidFill>
                <a:latin typeface="Menlo"/>
                <a:ea typeface="Menlo"/>
                <a:cs typeface="Menlo"/>
              </a:rPr>
              <a:t>+ ids.assign(s.begin(), s.end());</a:t>
            </a:r>
          </a:p>
        </p:txBody>
      </p:sp>
      <p:sp>
        <p:nvSpPr>
          <p:cNvPr id="10" name="hf-542">
            <a:extLst xmlns:a="http://schemas.openxmlformats.org/drawingml/2006/main">
              <a:ext uri="{FF2B5EF4-FFF2-40B4-BE49-F238E27FC236}">
                <a16:creationId xmlns:a16="http://schemas.microsoft.com/office/drawing/2014/main" id="{EDF19623-7901-46FD-B3ED-1024B89D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96682"/>
            <a:ext cx="8008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Какой</a:t>
            </a:r>
          </a:p>
        </p:txBody>
      </p:sp>
      <p:sp>
        <p:nvSpPr>
          <p:cNvPr id="11" name="hf-543">
            <a:extLst xmlns:a="http://schemas.openxmlformats.org/drawingml/2006/main">
              <a:ext uri="{FF2B5EF4-FFF2-40B4-BE49-F238E27FC236}">
                <a16:creationId xmlns:a16="http://schemas.microsoft.com/office/drawing/2014/main" id="{921F45D2-F39E-4FFF-8D24-73FEDCA7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82432"/>
            <a:ext cx="174694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комментарий</a:t>
            </a:r>
          </a:p>
        </p:txBody>
      </p:sp>
      <p:sp>
        <p:nvSpPr>
          <p:cNvPr id="12" name="hf-544">
            <a:extLst xmlns:a="http://schemas.openxmlformats.org/drawingml/2006/main">
              <a:ext uri="{FF2B5EF4-FFF2-40B4-BE49-F238E27FC236}">
                <a16:creationId xmlns:a16="http://schemas.microsoft.com/office/drawing/2014/main" id="{17189AE4-5F3E-40DF-8C26-B3348101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68182"/>
            <a:ext cx="167044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вы оставите?</a:t>
            </a:r>
          </a:p>
        </p:txBody>
      </p:sp>
      <p:sp>
        <p:nvSpPr>
          <p:cNvPr id="13" name="hf-545">
            <a:extLst xmlns:a="http://schemas.openxmlformats.org/drawingml/2006/main">
              <a:ext uri="{FF2B5EF4-FFF2-40B4-BE49-F238E27FC236}">
                <a16:creationId xmlns:a16="http://schemas.microsoft.com/office/drawing/2014/main" id="{D736CA5F-C740-42DF-929B-D02DF9E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3482"/>
            <a:ext cx="235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Changes requested</a:t>
            </a:r>
          </a:p>
        </p:txBody>
      </p:sp>
      <p:sp>
        <p:nvSpPr>
          <p:cNvPr id="14" name="hf-546">
            <a:extLst xmlns:a="http://schemas.openxmlformats.org/drawingml/2006/main">
              <a:ext uri="{FF2B5EF4-FFF2-40B4-BE49-F238E27FC236}">
                <a16:creationId xmlns:a16="http://schemas.microsoft.com/office/drawing/2014/main" id="{C1591CE1-2972-401C-9984-7FF95480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40621"/>
            <a:ext cx="2113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15" name="hf-547">
            <a:extLst xmlns:a="http://schemas.openxmlformats.org/drawingml/2006/main">
              <a:ext uri="{FF2B5EF4-FFF2-40B4-BE49-F238E27FC236}">
                <a16:creationId xmlns:a16="http://schemas.microsoft.com/office/drawing/2014/main" id="{DD619B0B-3B4D-4D32-9B51-627A1217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430257"/>
            <a:ext cx="118787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Контракт</a:t>
            </a:r>
          </a:p>
        </p:txBody>
      </p:sp>
      <p:sp>
        <p:nvSpPr>
          <p:cNvPr id="16" name="hf-548">
            <a:extLst xmlns:a="http://schemas.openxmlformats.org/drawingml/2006/main">
              <a:ext uri="{FF2B5EF4-FFF2-40B4-BE49-F238E27FC236}">
                <a16:creationId xmlns:a16="http://schemas.microsoft.com/office/drawing/2014/main" id="{58FBB0CA-B48B-467F-9497-E0F62A15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803904"/>
            <a:ext cx="210986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Какой выход нужен?</a:t>
            </a:r>
          </a:p>
        </p:txBody>
      </p:sp>
      <p:sp>
        <p:nvSpPr>
          <p:cNvPr id="17" name="hf-549">
            <a:extLst xmlns:a="http://schemas.openxmlformats.org/drawingml/2006/main">
              <a:ext uri="{FF2B5EF4-FFF2-40B4-BE49-F238E27FC236}">
                <a16:creationId xmlns:a16="http://schemas.microsoft.com/office/drawing/2014/main" id="{B34BD76D-0C54-4FA5-8375-D5DB15D8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40621"/>
            <a:ext cx="28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8" name="hf-550">
            <a:extLst xmlns:a="http://schemas.openxmlformats.org/drawingml/2006/main">
              <a:ext uri="{FF2B5EF4-FFF2-40B4-BE49-F238E27FC236}">
                <a16:creationId xmlns:a16="http://schemas.microsoft.com/office/drawing/2014/main" id="{99559489-5952-4EE7-92D1-A9BE675F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30257"/>
            <a:ext cx="10301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Данные</a:t>
            </a:r>
          </a:p>
        </p:txBody>
      </p:sp>
      <p:sp>
        <p:nvSpPr>
          <p:cNvPr id="19" name="hf-551">
            <a:extLst xmlns:a="http://schemas.openxmlformats.org/drawingml/2006/main">
              <a:ext uri="{FF2B5EF4-FFF2-40B4-BE49-F238E27FC236}">
                <a16:creationId xmlns:a16="http://schemas.microsoft.com/office/drawing/2014/main" id="{996ADC18-FFAB-4516-8B33-AAE1E48F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3904"/>
            <a:ext cx="17813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Размер, повторы,</a:t>
            </a:r>
          </a:p>
        </p:txBody>
      </p:sp>
      <p:sp>
        <p:nvSpPr>
          <p:cNvPr id="20" name="hf-552">
            <a:extLst xmlns:a="http://schemas.openxmlformats.org/drawingml/2006/main">
              <a:ext uri="{FF2B5EF4-FFF2-40B4-BE49-F238E27FC236}">
                <a16:creationId xmlns:a16="http://schemas.microsoft.com/office/drawing/2014/main" id="{8D713E01-DBE4-487E-9849-86D5771C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1554"/>
            <a:ext cx="163696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порядок входа?</a:t>
            </a:r>
          </a:p>
        </p:txBody>
      </p:sp>
      <p:sp>
        <p:nvSpPr>
          <p:cNvPr id="21" name="hf-553">
            <a:extLst xmlns:a="http://schemas.openxmlformats.org/drawingml/2006/main">
              <a:ext uri="{FF2B5EF4-FFF2-40B4-BE49-F238E27FC236}">
                <a16:creationId xmlns:a16="http://schemas.microsoft.com/office/drawing/2014/main" id="{FC7A1169-1C98-45CF-8D35-91733BF4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0621"/>
            <a:ext cx="2867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22" name="hf-554">
            <a:extLst xmlns:a="http://schemas.openxmlformats.org/drawingml/2006/main">
              <a:ext uri="{FF2B5EF4-FFF2-40B4-BE49-F238E27FC236}">
                <a16:creationId xmlns:a16="http://schemas.microsoft.com/office/drawing/2014/main" id="{053AA2DF-4C86-456E-BC65-784CBBD4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30257"/>
            <a:ext cx="159499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Исполнение</a:t>
            </a:r>
          </a:p>
        </p:txBody>
      </p:sp>
      <p:sp>
        <p:nvSpPr>
          <p:cNvPr id="23" name="hf-555">
            <a:extLst xmlns:a="http://schemas.openxmlformats.org/drawingml/2006/main">
              <a:ext uri="{FF2B5EF4-FFF2-40B4-BE49-F238E27FC236}">
                <a16:creationId xmlns:a16="http://schemas.microsoft.com/office/drawing/2014/main" id="{0E7FFD26-B98A-47C4-A02C-F8FD7FFD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03904"/>
            <a:ext cx="12245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Устройство,</a:t>
            </a:r>
          </a:p>
        </p:txBody>
      </p:sp>
      <p:sp>
        <p:nvSpPr>
          <p:cNvPr id="24" name="hf-556">
            <a:extLst xmlns:a="http://schemas.openxmlformats.org/drawingml/2006/main">
              <a:ext uri="{FF2B5EF4-FFF2-40B4-BE49-F238E27FC236}">
                <a16:creationId xmlns:a16="http://schemas.microsoft.com/office/drawing/2014/main" id="{E8DCB3DC-F3EE-44F2-B0BA-8EABD5DD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51554"/>
            <a:ext cx="18213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библиотека, QoS?</a:t>
            </a:r>
          </a:p>
        </p:txBody>
      </p:sp>
      <p:pic>
        <p:nvPicPr>
          <p:cNvPr id="25" name="hf-557">
            <a:extLst xmlns:a="http://schemas.openxmlformats.org/drawingml/2006/main">
              <a:ext uri="{FF2B5EF4-FFF2-40B4-BE49-F238E27FC236}">
                <a16:creationId xmlns:a16="http://schemas.microsoft.com/office/drawing/2014/main" id="{67BCABE9-821D-431D-8474-85EC46E5C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d3dcc341543c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6" name="hf-558">
            <a:extLst xmlns:a="http://schemas.openxmlformats.org/drawingml/2006/main">
              <a:ext uri="{FF2B5EF4-FFF2-40B4-BE49-F238E27FC236}">
                <a16:creationId xmlns:a16="http://schemas.microsoft.com/office/drawing/2014/main" id="{B018A3A8-8291-4E93-9159-55DC4FDC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2792316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p="http://schemas.openxmlformats.org/presentationml/2006/main">
  <p:cSld name="final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559">
            <a:extLst xmlns:a="http://schemas.openxmlformats.org/drawingml/2006/main">
              <a:ext uri="{FF2B5EF4-FFF2-40B4-BE49-F238E27FC236}">
                <a16:creationId xmlns:a16="http://schemas.microsoft.com/office/drawing/2014/main" id="{92A5EAC0-18F4-4082-AD13-CFA5A89C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775772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ВАШ АЛГОРИТМ НЕ ВЫБИРАЛ ПРОЦЕССОР</a:t>
            </a:r>
          </a:p>
        </p:txBody>
      </p:sp>
      <p:sp>
        <p:nvSpPr>
          <p:cNvPr id="3" name="hf-560">
            <a:extLst xmlns:a="http://schemas.openxmlformats.org/drawingml/2006/main">
              <a:ext uri="{FF2B5EF4-FFF2-40B4-BE49-F238E27FC236}">
                <a16:creationId xmlns:a16="http://schemas.microsoft.com/office/drawing/2014/main" id="{5C160C91-FAF3-46BE-8F4C-C30A150E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22838"/>
            <a:ext cx="27661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34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Проверьте,</a:t>
            </a:r>
          </a:p>
        </p:txBody>
      </p:sp>
      <p:sp>
        <p:nvSpPr>
          <p:cNvPr id="4" name="hf-561">
            <a:extLst xmlns:a="http://schemas.openxmlformats.org/drawingml/2006/main">
              <a:ext uri="{FF2B5EF4-FFF2-40B4-BE49-F238E27FC236}">
                <a16:creationId xmlns:a16="http://schemas.microsoft.com/office/drawing/2014/main" id="{1FEFDF5A-959A-4BD7-904D-18CAF55A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56238"/>
            <a:ext cx="4908054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34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какой ему достался</a:t>
            </a:r>
          </a:p>
        </p:txBody>
      </p:sp>
      <p:sp>
        <p:nvSpPr>
          <p:cNvPr id="5" name="hf-562">
            <a:extLst xmlns:a="http://schemas.openxmlformats.org/drawingml/2006/main">
              <a:ext uri="{FF2B5EF4-FFF2-40B4-BE49-F238E27FC236}">
                <a16:creationId xmlns:a16="http://schemas.microsoft.com/office/drawing/2014/main" id="{FC56285B-E6B9-4AEB-85F5-F97D693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15932"/>
            <a:ext cx="366280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Начните с одного перф-теста</a:t>
            </a:r>
          </a:p>
        </p:txBody>
      </p:sp>
      <p:sp>
        <p:nvSpPr>
          <p:cNvPr id="6" name="hf-563">
            <a:extLst xmlns:a="http://schemas.openxmlformats.org/drawingml/2006/main">
              <a:ext uri="{FF2B5EF4-FFF2-40B4-BE49-F238E27FC236}">
                <a16:creationId xmlns:a16="http://schemas.microsoft.com/office/drawing/2014/main" id="{78083F9A-9B58-4E87-90E6-79C1D5FF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01682"/>
            <a:ext cx="293169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на целевом устройстве</a:t>
            </a:r>
          </a:p>
        </p:txBody>
      </p:sp>
      <p:pic>
        <p:nvPicPr>
          <p:cNvPr id="7" name="hf-564">
            <a:extLst xmlns:a="http://schemas.openxmlformats.org/drawingml/2006/main">
              <a:ext uri="{FF2B5EF4-FFF2-40B4-BE49-F238E27FC236}">
                <a16:creationId xmlns:a16="http://schemas.microsoft.com/office/drawing/2014/main" id="{666DA35C-6104-47CB-B1B7-1F885AB182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e3653de594ec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762750" y="1552575"/>
            <a:ext cx="1824038" cy="1824038"/>
          </a:xfrm>
          <a:prstGeom xmlns:a="http://schemas.openxmlformats.org/drawingml/2006/main" prst="rect">
            <a:avLst/>
          </a:prstGeom>
        </p:spPr>
      </p:pic>
      <p:sp>
        <p:nvSpPr>
          <p:cNvPr id="8" name="hf-565">
            <a:extLst xmlns:a="http://schemas.openxmlformats.org/drawingml/2006/main">
              <a:ext uri="{FF2B5EF4-FFF2-40B4-BE49-F238E27FC236}">
                <a16:creationId xmlns:a16="http://schemas.microsoft.com/office/drawing/2014/main" id="{C5B84065-EAD5-46B0-9B4C-2D7BA398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08704"/>
            <a:ext cx="52580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github.com/Neoron95/conference-hardfest-algorithms</a:t>
            </a:r>
          </a:p>
        </p:txBody>
      </p:sp>
      <p:pic>
        <p:nvPicPr>
          <p:cNvPr id="9" name="hf-566">
            <a:extLst xmlns:a="http://schemas.openxmlformats.org/drawingml/2006/main">
              <a:ext uri="{FF2B5EF4-FFF2-40B4-BE49-F238E27FC236}">
                <a16:creationId xmlns:a16="http://schemas.microsoft.com/office/drawing/2014/main" id="{69E7A3D4-F51D-47CB-A439-55631E9E6B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c37a25bb340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0" name="hf-567">
            <a:extLst xmlns:a="http://schemas.openxmlformats.org/drawingml/2006/main">
              <a:ext uri="{FF2B5EF4-FFF2-40B4-BE49-F238E27FC236}">
                <a16:creationId xmlns:a16="http://schemas.microsoft.com/office/drawing/2014/main" id="{ECCCC5C7-8BD6-4AD6-B705-94F4DAFE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40001009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9.xml><?xml version="1.0" encoding="utf-8"?>
<p:sld xmlns:p="http://schemas.openxmlformats.org/presentationml/2006/main" show="0">
  <p:cSld name="backup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hf-568">
            <a:extLst xmlns:a="http://schemas.openxmlformats.org/drawingml/2006/main">
              <a:ext uri="{FF2B5EF4-FFF2-40B4-BE49-F238E27FC236}">
                <a16:creationId xmlns:a16="http://schemas.microsoft.com/office/drawing/2014/main" id="{5838FCE4-5A1F-4A58-8CDA-2F7327EDB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644df4674e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36195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hf-569">
            <a:extLst xmlns:a="http://schemas.openxmlformats.org/drawingml/2006/main">
              <a:ext uri="{FF2B5EF4-FFF2-40B4-BE49-F238E27FC236}">
                <a16:creationId xmlns:a16="http://schemas.microsoft.com/office/drawing/2014/main" id="{1B11E666-DCB2-4A55-AD64-DA93CC31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67599"/>
            <a:ext cx="2651596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875"/>
              </a:lnSpc>
              <a:buNone/>
            </a:pPr>
            <a:r>
              <a:rPr sz="45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BACKUP</a:t>
            </a:r>
          </a:p>
        </p:txBody>
      </p:sp>
      <p:sp>
        <p:nvSpPr>
          <p:cNvPr id="4" name="hf-570">
            <a:extLst xmlns:a="http://schemas.openxmlformats.org/drawingml/2006/main">
              <a:ext uri="{FF2B5EF4-FFF2-40B4-BE49-F238E27FC236}">
                <a16:creationId xmlns:a16="http://schemas.microsoft.com/office/drawing/2014/main" id="{284D574C-904C-488A-B216-D3223DCB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8306"/>
            <a:ext cx="390867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для вопросов · ответ — в заметках</a:t>
            </a:r>
          </a:p>
        </p:txBody>
      </p:sp>
      <p:sp>
        <p:nvSpPr>
          <p:cNvPr id="5" name="hf-571">
            <a:extLst xmlns:a="http://schemas.openxmlformats.org/drawingml/2006/main">
              <a:ext uri="{FF2B5EF4-FFF2-40B4-BE49-F238E27FC236}">
                <a16:creationId xmlns:a16="http://schemas.microsoft.com/office/drawing/2014/main" id="{38F55D30-E539-4AD9-986E-4C7E1BD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8288"/>
            <a:ext cx="120930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28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Где мерили</a:t>
            </a:r>
          </a:p>
        </p:txBody>
      </p:sp>
      <p:sp>
        <p:nvSpPr>
          <p:cNvPr id="6" name="hf-572">
            <a:extLst xmlns:a="http://schemas.openxmlformats.org/drawingml/2006/main">
              <a:ext uri="{FF2B5EF4-FFF2-40B4-BE49-F238E27FC236}">
                <a16:creationId xmlns:a16="http://schemas.microsoft.com/office/drawing/2014/main" id="{C69F1622-9740-486C-9F25-7D79250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838"/>
            <a:ext cx="17949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29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Кто выбирает ядро</a:t>
            </a:r>
          </a:p>
        </p:txBody>
      </p:sp>
      <p:sp>
        <p:nvSpPr>
          <p:cNvPr id="7" name="hf-573">
            <a:extLst xmlns:a="http://schemas.openxmlformats.org/drawingml/2006/main">
              <a:ext uri="{FF2B5EF4-FFF2-40B4-BE49-F238E27FC236}">
                <a16:creationId xmlns:a16="http://schemas.microsoft.com/office/drawing/2014/main" id="{0F5B33FC-7611-4885-A20B-C1C20C58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7388"/>
            <a:ext cx="14661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30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Плотные rowid</a:t>
            </a:r>
          </a:p>
        </p:txBody>
      </p:sp>
      <p:sp>
        <p:nvSpPr>
          <p:cNvPr id="8" name="hf-574">
            <a:extLst xmlns:a="http://schemas.openxmlformats.org/drawingml/2006/main">
              <a:ext uri="{FF2B5EF4-FFF2-40B4-BE49-F238E27FC236}">
                <a16:creationId xmlns:a16="http://schemas.microsoft.com/office/drawing/2014/main" id="{50DFBA4C-06AC-4D89-A949-38F70AAE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938"/>
            <a:ext cx="154491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31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Слияние дельты</a:t>
            </a:r>
          </a:p>
        </p:txBody>
      </p:sp>
      <p:sp>
        <p:nvSpPr>
          <p:cNvPr id="9" name="hf-575">
            <a:extLst xmlns:a="http://schemas.openxmlformats.org/drawingml/2006/main">
              <a:ext uri="{FF2B5EF4-FFF2-40B4-BE49-F238E27FC236}">
                <a16:creationId xmlns:a16="http://schemas.microsoft.com/office/drawing/2014/main" id="{B6461186-01F6-49C9-86D7-5E4BEA3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6488"/>
            <a:ext cx="138283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32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Другие языки</a:t>
            </a:r>
          </a:p>
        </p:txBody>
      </p:sp>
      <p:sp>
        <p:nvSpPr>
          <p:cNvPr id="10" name="hf-576">
            <a:extLst xmlns:a="http://schemas.openxmlformats.org/drawingml/2006/main">
              <a:ext uri="{FF2B5EF4-FFF2-40B4-BE49-F238E27FC236}">
                <a16:creationId xmlns:a16="http://schemas.microsoft.com/office/drawing/2014/main" id="{A47BEEC0-6236-41C7-A592-F47D0C1C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06038"/>
            <a:ext cx="19774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33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«Бенчмарк врал»: 3×3</a:t>
            </a:r>
          </a:p>
        </p:txBody>
      </p:sp>
      <p:sp>
        <p:nvSpPr>
          <p:cNvPr id="11" name="hf-577">
            <a:extLst xmlns:a="http://schemas.openxmlformats.org/drawingml/2006/main">
              <a:ext uri="{FF2B5EF4-FFF2-40B4-BE49-F238E27FC236}">
                <a16:creationId xmlns:a16="http://schemas.microsoft.com/office/drawing/2014/main" id="{E55D60A5-00F1-4185-BE39-386DD805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5588"/>
            <a:ext cx="21382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34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Приоритет background</a:t>
            </a:r>
          </a:p>
        </p:txBody>
      </p:sp>
      <p:sp>
        <p:nvSpPr>
          <p:cNvPr id="12" name="hf-578">
            <a:extLst xmlns:a="http://schemas.openxmlformats.org/drawingml/2006/main">
              <a:ext uri="{FF2B5EF4-FFF2-40B4-BE49-F238E27FC236}">
                <a16:creationId xmlns:a16="http://schemas.microsoft.com/office/drawing/2014/main" id="{8F272855-080D-47A9-A9A8-30441A96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5138"/>
            <a:ext cx="151730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35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Точка перехода</a:t>
            </a:r>
          </a:p>
        </p:txBody>
      </p:sp>
      <p:sp>
        <p:nvSpPr>
          <p:cNvPr id="13" name="hf-579">
            <a:extLst xmlns:a="http://schemas.openxmlformats.org/drawingml/2006/main">
              <a:ext uri="{FF2B5EF4-FFF2-40B4-BE49-F238E27FC236}">
                <a16:creationId xmlns:a16="http://schemas.microsoft.com/office/drawing/2014/main" id="{48D28940-676E-43B0-AE30-515DDC82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4688"/>
            <a:ext cx="202748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36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Дрейф под нагрузкой</a:t>
            </a:r>
          </a:p>
        </p:txBody>
      </p:sp>
      <p:sp>
        <p:nvSpPr>
          <p:cNvPr id="14" name="hf-580">
            <a:extLst xmlns:a="http://schemas.openxmlformats.org/drawingml/2006/main">
              <a:ext uri="{FF2B5EF4-FFF2-40B4-BE49-F238E27FC236}">
                <a16:creationId xmlns:a16="http://schemas.microsoft.com/office/drawing/2014/main" id="{4D84A6F7-779C-4C7E-A3E2-F4AEF8EA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58288"/>
            <a:ext cx="159261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37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libstdc++ и libc++</a:t>
            </a:r>
          </a:p>
        </p:txBody>
      </p:sp>
      <p:sp>
        <p:nvSpPr>
          <p:cNvPr id="15" name="hf-581">
            <a:extLst xmlns:a="http://schemas.openxmlformats.org/drawingml/2006/main">
              <a:ext uri="{FF2B5EF4-FFF2-40B4-BE49-F238E27FC236}">
                <a16:creationId xmlns:a16="http://schemas.microsoft.com/office/drawing/2014/main" id="{0139E88E-ABE9-414E-8716-752D569E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838"/>
            <a:ext cx="201639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38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Рабочий набор и кэш</a:t>
            </a:r>
          </a:p>
        </p:txBody>
      </p:sp>
      <p:sp>
        <p:nvSpPr>
          <p:cNvPr id="16" name="hf-582">
            <a:extLst xmlns:a="http://schemas.openxmlformats.org/drawingml/2006/main">
              <a:ext uri="{FF2B5EF4-FFF2-40B4-BE49-F238E27FC236}">
                <a16:creationId xmlns:a16="http://schemas.microsoft.com/office/drawing/2014/main" id="{0166B236-B56D-468D-809F-3D0E6A4D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77388"/>
            <a:ext cx="129190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39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sort + unique</a:t>
            </a:r>
          </a:p>
        </p:txBody>
      </p:sp>
      <p:sp>
        <p:nvSpPr>
          <p:cNvPr id="17" name="hf-583">
            <a:extLst xmlns:a="http://schemas.openxmlformats.org/drawingml/2006/main">
              <a:ext uri="{FF2B5EF4-FFF2-40B4-BE49-F238E27FC236}">
                <a16:creationId xmlns:a16="http://schemas.microsoft.com/office/drawing/2014/main" id="{8F190633-2118-4392-AA5D-E1010152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938"/>
            <a:ext cx="16525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40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Узловая таблица</a:t>
            </a:r>
          </a:p>
        </p:txBody>
      </p:sp>
      <p:sp>
        <p:nvSpPr>
          <p:cNvPr id="18" name="hf-584">
            <a:extLst xmlns:a="http://schemas.openxmlformats.org/drawingml/2006/main">
              <a:ext uri="{FF2B5EF4-FFF2-40B4-BE49-F238E27FC236}">
                <a16:creationId xmlns:a16="http://schemas.microsoft.com/office/drawing/2014/main" id="{E1681253-F081-4A7E-9570-E4CC0990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6488"/>
            <a:ext cx="10185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41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Radix sort</a:t>
            </a:r>
          </a:p>
        </p:txBody>
      </p:sp>
      <p:sp>
        <p:nvSpPr>
          <p:cNvPr id="19" name="hf-585">
            <a:extLst xmlns:a="http://schemas.openxmlformats.org/drawingml/2006/main">
              <a:ext uri="{FF2B5EF4-FFF2-40B4-BE49-F238E27FC236}">
                <a16:creationId xmlns:a16="http://schemas.microsoft.com/office/drawing/2014/main" id="{78B59BE0-FE78-44EF-A3A3-36D7574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06038"/>
            <a:ext cx="106985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42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reserve(N)</a:t>
            </a:r>
          </a:p>
        </p:txBody>
      </p:sp>
      <p:sp>
        <p:nvSpPr>
          <p:cNvPr id="20" name="hf-586">
            <a:extLst xmlns:a="http://schemas.openxmlformats.org/drawingml/2006/main">
              <a:ext uri="{FF2B5EF4-FFF2-40B4-BE49-F238E27FC236}">
                <a16:creationId xmlns:a16="http://schemas.microsoft.com/office/drawing/2014/main" id="{936D3226-E011-4D3C-A11B-50B8F5C4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5588"/>
            <a:ext cx="150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43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Честный замер</a:t>
            </a:r>
          </a:p>
        </p:txBody>
      </p:sp>
      <p:sp>
        <p:nvSpPr>
          <p:cNvPr id="21" name="hf-587">
            <a:extLst xmlns:a="http://schemas.openxmlformats.org/drawingml/2006/main">
              <a:ext uri="{FF2B5EF4-FFF2-40B4-BE49-F238E27FC236}">
                <a16:creationId xmlns:a16="http://schemas.microsoft.com/office/drawing/2014/main" id="{5203D806-8C58-4EDB-A036-62F51BEF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25138"/>
            <a:ext cx="153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44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Шаги и их цена</a:t>
            </a:r>
          </a:p>
        </p:txBody>
      </p:sp>
      <p:pic>
        <p:nvPicPr>
          <p:cNvPr id="22" name="hf-588">
            <a:extLst xmlns:a="http://schemas.openxmlformats.org/drawingml/2006/main">
              <a:ext uri="{FF2B5EF4-FFF2-40B4-BE49-F238E27FC236}">
                <a16:creationId xmlns:a16="http://schemas.microsoft.com/office/drawing/2014/main" id="{E7529D17-6286-49D1-B287-96A8C7B1F8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0cdc2961d449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3" name="hf-589">
            <a:extLst xmlns:a="http://schemas.openxmlformats.org/drawingml/2006/main">
              <a:ext uri="{FF2B5EF4-FFF2-40B4-BE49-F238E27FC236}">
                <a16:creationId xmlns:a16="http://schemas.microsoft.com/office/drawing/2014/main" id="{7C51567A-25BB-401A-864F-26860D09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06796642"/>
      </p:ext>
    </p:extLst>
  </p:cSld>
</p:sld>
</file>

<file path=ppt/slides/slide30.xml><?xml version="1.0" encoding="utf-8"?>
<p:sld xmlns:p="http://schemas.openxmlformats.org/presentationml/2006/main" show="0">
  <p:cSld name="radixmin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590">
            <a:extLst xmlns:a="http://schemas.openxmlformats.org/drawingml/2006/main">
              <a:ext uri="{FF2B5EF4-FFF2-40B4-BE49-F238E27FC236}">
                <a16:creationId xmlns:a16="http://schemas.microsoft.com/office/drawing/2014/main" id="{53A309D2-16DD-4741-8CE4-2349CBF4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324847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ДОПОЛНИТЕЛЬНЫЙ МОДУЛЬ · RADIX</a:t>
            </a:r>
          </a:p>
        </p:txBody>
      </p:sp>
      <p:sp>
        <p:nvSpPr>
          <p:cNvPr id="3" name="hf-591">
            <a:extLst xmlns:a="http://schemas.openxmlformats.org/drawingml/2006/main">
              <a:ext uri="{FF2B5EF4-FFF2-40B4-BE49-F238E27FC236}">
                <a16:creationId xmlns:a16="http://schemas.microsoft.com/office/drawing/2014/main" id="{78F10525-70F8-4A07-B442-2351F400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53251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Radix sort: СОРТИРОВКА БЕЗ СРАВНЕНИЙ</a:t>
            </a:r>
          </a:p>
        </p:txBody>
      </p:sp>
      <p:sp>
        <p:nvSpPr>
          <p:cNvPr id="4" name="hf-592">
            <a:extLst xmlns:a="http://schemas.openxmlformats.org/drawingml/2006/main">
              <a:ext uri="{FF2B5EF4-FFF2-40B4-BE49-F238E27FC236}">
                <a16:creationId xmlns:a16="http://schemas.microsoft.com/office/drawing/2014/main" id="{EBF845EC-D1A9-485C-BD36-E9436843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" name="hf-593">
            <a:extLst xmlns:a="http://schemas.openxmlformats.org/drawingml/2006/main">
              <a:ext uri="{FF2B5EF4-FFF2-40B4-BE49-F238E27FC236}">
                <a16:creationId xmlns:a16="http://schemas.microsoft.com/office/drawing/2014/main" id="{F8F2620D-62B9-451A-993D-F0C0CA48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hf-594">
            <a:extLst xmlns:a="http://schemas.openxmlformats.org/drawingml/2006/main">
              <a:ext uri="{FF2B5EF4-FFF2-40B4-BE49-F238E27FC236}">
                <a16:creationId xmlns:a16="http://schemas.microsoft.com/office/drawing/2014/main" id="{1469C4FC-519C-432A-AFBD-5C0E8997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hf-595">
            <a:extLst xmlns:a="http://schemas.openxmlformats.org/drawingml/2006/main">
              <a:ext uri="{FF2B5EF4-FFF2-40B4-BE49-F238E27FC236}">
                <a16:creationId xmlns:a16="http://schemas.microsoft.com/office/drawing/2014/main" id="{390E0A85-5820-4715-BA29-CD88BB6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hf-596">
            <a:extLst xmlns:a="http://schemas.openxmlformats.org/drawingml/2006/main">
              <a:ext uri="{FF2B5EF4-FFF2-40B4-BE49-F238E27FC236}">
                <a16:creationId xmlns:a16="http://schemas.microsoft.com/office/drawing/2014/main" id="{EB95A73F-07C3-4230-B87A-E7AC0E69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51447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9" name="hf-597">
            <a:extLst xmlns:a="http://schemas.openxmlformats.org/drawingml/2006/main">
              <a:ext uri="{FF2B5EF4-FFF2-40B4-BE49-F238E27FC236}">
                <a16:creationId xmlns:a16="http://schemas.microsoft.com/office/drawing/2014/main" id="{A010CE58-8249-46A9-8F1F-141BB296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0" name="hf-598">
            <a:extLst xmlns:a="http://schemas.openxmlformats.org/drawingml/2006/main">
              <a:ext uri="{FF2B5EF4-FFF2-40B4-BE49-F238E27FC236}">
                <a16:creationId xmlns:a16="http://schemas.microsoft.com/office/drawing/2014/main" id="{AF892C68-23C5-4827-A7DD-65F5B96B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51447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1" name="hf-599">
            <a:extLst xmlns:a="http://schemas.openxmlformats.org/drawingml/2006/main">
              <a:ext uri="{FF2B5EF4-FFF2-40B4-BE49-F238E27FC236}">
                <a16:creationId xmlns:a16="http://schemas.microsoft.com/office/drawing/2014/main" id="{7001EA44-2DDE-4E5D-861A-95C952AB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2" name="hf-600">
            <a:extLst xmlns:a="http://schemas.openxmlformats.org/drawingml/2006/main">
              <a:ext uri="{FF2B5EF4-FFF2-40B4-BE49-F238E27FC236}">
                <a16:creationId xmlns:a16="http://schemas.microsoft.com/office/drawing/2014/main" id="{1E90BADC-157D-4908-A40C-29E97B66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1447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3" name="hf-601">
            <a:extLst xmlns:a="http://schemas.openxmlformats.org/drawingml/2006/main">
              <a:ext uri="{FF2B5EF4-FFF2-40B4-BE49-F238E27FC236}">
                <a16:creationId xmlns:a16="http://schemas.microsoft.com/office/drawing/2014/main" id="{98CB93E0-2A29-4069-9D82-4126C8B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4" name="hf-602">
            <a:extLst xmlns:a="http://schemas.openxmlformats.org/drawingml/2006/main">
              <a:ext uri="{FF2B5EF4-FFF2-40B4-BE49-F238E27FC236}">
                <a16:creationId xmlns:a16="http://schemas.microsoft.com/office/drawing/2014/main" id="{BF221078-D806-4573-9B8F-27C08E5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431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5" name="hf-603">
            <a:extLst xmlns:a="http://schemas.openxmlformats.org/drawingml/2006/main">
              <a:ext uri="{FF2B5EF4-FFF2-40B4-BE49-F238E27FC236}">
                <a16:creationId xmlns:a16="http://schemas.microsoft.com/office/drawing/2014/main" id="{98189169-4EE2-41ED-A281-F0B6FD70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863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6" name="hf-604">
            <a:extLst xmlns:a="http://schemas.openxmlformats.org/drawingml/2006/main">
              <a:ext uri="{FF2B5EF4-FFF2-40B4-BE49-F238E27FC236}">
                <a16:creationId xmlns:a16="http://schemas.microsoft.com/office/drawing/2014/main" id="{BE0C07C5-4B48-4CC9-81CF-76D8CD4C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7" name="hf-605">
            <a:extLst xmlns:a="http://schemas.openxmlformats.org/drawingml/2006/main">
              <a:ext uri="{FF2B5EF4-FFF2-40B4-BE49-F238E27FC236}">
                <a16:creationId xmlns:a16="http://schemas.microsoft.com/office/drawing/2014/main" id="{00032D10-C556-44E6-97D6-9B6514A1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8" name="hf-606">
            <a:extLst xmlns:a="http://schemas.openxmlformats.org/drawingml/2006/main">
              <a:ext uri="{FF2B5EF4-FFF2-40B4-BE49-F238E27FC236}">
                <a16:creationId xmlns:a16="http://schemas.microsoft.com/office/drawing/2014/main" id="{8B2BD0F7-F360-4DF6-803D-19E7BE26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9" name="hf-607">
            <a:extLst xmlns:a="http://schemas.openxmlformats.org/drawingml/2006/main">
              <a:ext uri="{FF2B5EF4-FFF2-40B4-BE49-F238E27FC236}">
                <a16:creationId xmlns:a16="http://schemas.microsoft.com/office/drawing/2014/main" id="{5DF69FFB-6785-48EA-A2B3-A53146EE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1943100"/>
            <a:ext cx="376238" cy="953"/>
          </a:xfrm>
          <a:custGeom xmlns:a="http://schemas.openxmlformats.org/drawingml/2006/main">
            <a:pathLst>
              <a:path w="376238" h="476">
                <a:moveTo>
                  <a:pt x="0" y="0"/>
                </a:moveTo>
                <a:lnTo>
                  <a:pt x="3762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B87F5"/>
            </a:solidFill>
          </a:ln>
        </p:spPr>
      </p:sp>
      <p:sp>
        <p:nvSpPr>
          <p:cNvPr id="20" name="hf-608">
            <a:extLst xmlns:a="http://schemas.openxmlformats.org/drawingml/2006/main">
              <a:ext uri="{FF2B5EF4-FFF2-40B4-BE49-F238E27FC236}">
                <a16:creationId xmlns:a16="http://schemas.microsoft.com/office/drawing/2014/main" id="{C9D92E6E-1EC7-4A23-80BF-579994B9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43100"/>
            <a:ext cx="442913" cy="953"/>
          </a:xfrm>
          <a:custGeom xmlns:a="http://schemas.openxmlformats.org/drawingml/2006/main">
            <a:pathLst>
              <a:path w="442913" h="476">
                <a:moveTo>
                  <a:pt x="0" y="0"/>
                </a:moveTo>
                <a:lnTo>
                  <a:pt x="44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B87F5"/>
            </a:solidFill>
          </a:ln>
        </p:spPr>
      </p:sp>
      <p:sp>
        <p:nvSpPr>
          <p:cNvPr id="21" name="hf-609">
            <a:extLst xmlns:a="http://schemas.openxmlformats.org/drawingml/2006/main">
              <a:ext uri="{FF2B5EF4-FFF2-40B4-BE49-F238E27FC236}">
                <a16:creationId xmlns:a16="http://schemas.microsoft.com/office/drawing/2014/main" id="{225F307A-A9A0-4BC0-BECF-507D3F9B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2" name="hf-610">
            <a:extLst xmlns:a="http://schemas.openxmlformats.org/drawingml/2006/main">
              <a:ext uri="{FF2B5EF4-FFF2-40B4-BE49-F238E27FC236}">
                <a16:creationId xmlns:a16="http://schemas.microsoft.com/office/drawing/2014/main" id="{12D8250D-4567-4430-81E6-BF27A31B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3" name="hf-611">
            <a:extLst xmlns:a="http://schemas.openxmlformats.org/drawingml/2006/main">
              <a:ext uri="{FF2B5EF4-FFF2-40B4-BE49-F238E27FC236}">
                <a16:creationId xmlns:a16="http://schemas.microsoft.com/office/drawing/2014/main" id="{49A45561-1065-48C3-A7B6-32F6DD3D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4" name="hf-612">
            <a:extLst xmlns:a="http://schemas.openxmlformats.org/drawingml/2006/main">
              <a:ext uri="{FF2B5EF4-FFF2-40B4-BE49-F238E27FC236}">
                <a16:creationId xmlns:a16="http://schemas.microsoft.com/office/drawing/2014/main" id="{31F68ADB-72F3-47BA-905B-E0767ED7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5" name="hf-613">
            <a:extLst xmlns:a="http://schemas.openxmlformats.org/drawingml/2006/main">
              <a:ext uri="{FF2B5EF4-FFF2-40B4-BE49-F238E27FC236}">
                <a16:creationId xmlns:a16="http://schemas.microsoft.com/office/drawing/2014/main" id="{D20605A4-6A41-40A7-ADD7-02B54D29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2892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6" name="hf-614">
            <a:extLst xmlns:a="http://schemas.openxmlformats.org/drawingml/2006/main">
              <a:ext uri="{FF2B5EF4-FFF2-40B4-BE49-F238E27FC236}">
                <a16:creationId xmlns:a16="http://schemas.microsoft.com/office/drawing/2014/main" id="{E71D3EC3-985C-47B4-8B57-7C989507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7" name="hf-615">
            <a:extLst xmlns:a="http://schemas.openxmlformats.org/drawingml/2006/main">
              <a:ext uri="{FF2B5EF4-FFF2-40B4-BE49-F238E27FC236}">
                <a16:creationId xmlns:a16="http://schemas.microsoft.com/office/drawing/2014/main" id="{BA04C1BE-26D9-4F10-9634-DF85C06C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2892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8" name="hf-616">
            <a:extLst xmlns:a="http://schemas.openxmlformats.org/drawingml/2006/main">
              <a:ext uri="{FF2B5EF4-FFF2-40B4-BE49-F238E27FC236}">
                <a16:creationId xmlns:a16="http://schemas.microsoft.com/office/drawing/2014/main" id="{06B7EE0F-62D3-4945-8417-D7D69028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9" name="hf-617">
            <a:extLst xmlns:a="http://schemas.openxmlformats.org/drawingml/2006/main">
              <a:ext uri="{FF2B5EF4-FFF2-40B4-BE49-F238E27FC236}">
                <a16:creationId xmlns:a16="http://schemas.microsoft.com/office/drawing/2014/main" id="{729A8A72-5642-4297-B14B-6885D52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575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0" name="hf-618">
            <a:extLst xmlns:a="http://schemas.openxmlformats.org/drawingml/2006/main">
              <a:ext uri="{FF2B5EF4-FFF2-40B4-BE49-F238E27FC236}">
                <a16:creationId xmlns:a16="http://schemas.microsoft.com/office/drawing/2014/main" id="{29AA5336-B6A6-4CC3-BDDC-186FA05C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2892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1" name="hf-619">
            <a:extLst xmlns:a="http://schemas.openxmlformats.org/drawingml/2006/main">
              <a:ext uri="{FF2B5EF4-FFF2-40B4-BE49-F238E27FC236}">
                <a16:creationId xmlns:a16="http://schemas.microsoft.com/office/drawing/2014/main" id="{27E86E6F-DDE1-462C-8513-1894EF3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2" name="hf-620">
            <a:extLst xmlns:a="http://schemas.openxmlformats.org/drawingml/2006/main">
              <a:ext uri="{FF2B5EF4-FFF2-40B4-BE49-F238E27FC236}">
                <a16:creationId xmlns:a16="http://schemas.microsoft.com/office/drawing/2014/main" id="{1876D545-B3F1-48A1-B052-7867ED11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863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87F5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3" name="hf-621">
            <a:extLst xmlns:a="http://schemas.openxmlformats.org/drawingml/2006/main">
              <a:ext uri="{FF2B5EF4-FFF2-40B4-BE49-F238E27FC236}">
                <a16:creationId xmlns:a16="http://schemas.microsoft.com/office/drawing/2014/main" id="{12550E0F-BC0F-4488-BACF-714900C9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87F5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4" name="hf-622">
            <a:extLst xmlns:a="http://schemas.openxmlformats.org/drawingml/2006/main">
              <a:ext uri="{FF2B5EF4-FFF2-40B4-BE49-F238E27FC236}">
                <a16:creationId xmlns:a16="http://schemas.microsoft.com/office/drawing/2014/main" id="{7BC73682-5980-4000-8597-FE776CBE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87F5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5" name="hf-623">
            <a:extLst xmlns:a="http://schemas.openxmlformats.org/drawingml/2006/main">
              <a:ext uri="{FF2B5EF4-FFF2-40B4-BE49-F238E27FC236}">
                <a16:creationId xmlns:a16="http://schemas.microsoft.com/office/drawing/2014/main" id="{68AC8F6D-7D58-41D1-AAAB-C4E4E7E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87F5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6" name="hf-624">
            <a:extLst xmlns:a="http://schemas.openxmlformats.org/drawingml/2006/main">
              <a:ext uri="{FF2B5EF4-FFF2-40B4-BE49-F238E27FC236}">
                <a16:creationId xmlns:a16="http://schemas.microsoft.com/office/drawing/2014/main" id="{5E6CED3A-E776-4703-B283-CE8F856C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257550"/>
            <a:ext cx="376238" cy="953"/>
          </a:xfrm>
          <a:custGeom xmlns:a="http://schemas.openxmlformats.org/drawingml/2006/main">
            <a:pathLst>
              <a:path w="376238" h="476">
                <a:moveTo>
                  <a:pt x="0" y="0"/>
                </a:moveTo>
                <a:lnTo>
                  <a:pt x="3762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B87F5"/>
            </a:solidFill>
          </a:ln>
        </p:spPr>
      </p:sp>
      <p:sp>
        <p:nvSpPr>
          <p:cNvPr id="37" name="hf-625">
            <a:extLst xmlns:a="http://schemas.openxmlformats.org/drawingml/2006/main">
              <a:ext uri="{FF2B5EF4-FFF2-40B4-BE49-F238E27FC236}">
                <a16:creationId xmlns:a16="http://schemas.microsoft.com/office/drawing/2014/main" id="{CF4BE2BB-F2E5-47BD-A655-1CB415DC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57550"/>
            <a:ext cx="442913" cy="953"/>
          </a:xfrm>
          <a:custGeom xmlns:a="http://schemas.openxmlformats.org/drawingml/2006/main">
            <a:pathLst>
              <a:path w="442913" h="476">
                <a:moveTo>
                  <a:pt x="0" y="0"/>
                </a:moveTo>
                <a:lnTo>
                  <a:pt x="44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B87F5"/>
            </a:solidFill>
          </a:ln>
        </p:spPr>
      </p:sp>
      <p:sp>
        <p:nvSpPr>
          <p:cNvPr id="38" name="hf-626">
            <a:extLst xmlns:a="http://schemas.openxmlformats.org/drawingml/2006/main">
              <a:ext uri="{FF2B5EF4-FFF2-40B4-BE49-F238E27FC236}">
                <a16:creationId xmlns:a16="http://schemas.microsoft.com/office/drawing/2014/main" id="{F2313780-D5B4-4D77-B117-D6F110CE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7188"/>
            <a:ext cx="43673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вход</a:t>
            </a:r>
          </a:p>
        </p:txBody>
      </p:sp>
      <p:sp>
        <p:nvSpPr>
          <p:cNvPr id="39" name="hf-627">
            <a:extLst xmlns:a="http://schemas.openxmlformats.org/drawingml/2006/main">
              <a:ext uri="{FF2B5EF4-FFF2-40B4-BE49-F238E27FC236}">
                <a16:creationId xmlns:a16="http://schemas.microsoft.com/office/drawing/2014/main" id="{1920034C-0174-4B62-9837-06FB2572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277188"/>
            <a:ext cx="246035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</a:rPr>
              <a:t>проход 1 · младший полубайт</a:t>
            </a:r>
          </a:p>
        </p:txBody>
      </p:sp>
      <p:sp>
        <p:nvSpPr>
          <p:cNvPr id="40" name="hf-628">
            <a:extLst xmlns:a="http://schemas.openxmlformats.org/drawingml/2006/main">
              <a:ext uri="{FF2B5EF4-FFF2-40B4-BE49-F238E27FC236}">
                <a16:creationId xmlns:a16="http://schemas.microsoft.com/office/drawing/2014/main" id="{044C7071-0EA8-4ECE-BFDD-38C56D49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1277188"/>
            <a:ext cx="8726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после 1-го</a:t>
            </a:r>
          </a:p>
        </p:txBody>
      </p:sp>
      <p:sp>
        <p:nvSpPr>
          <p:cNvPr id="41" name="hf-629">
            <a:extLst xmlns:a="http://schemas.openxmlformats.org/drawingml/2006/main">
              <a:ext uri="{FF2B5EF4-FFF2-40B4-BE49-F238E27FC236}">
                <a16:creationId xmlns:a16="http://schemas.microsoft.com/office/drawing/2014/main" id="{C4806171-236C-4331-B489-72DA4B1A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19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42" name="hf-630">
            <a:extLst xmlns:a="http://schemas.openxmlformats.org/drawingml/2006/main">
              <a:ext uri="{FF2B5EF4-FFF2-40B4-BE49-F238E27FC236}">
                <a16:creationId xmlns:a16="http://schemas.microsoft.com/office/drawing/2014/main" id="{6372E567-DA7F-495E-A10F-EFFC205C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94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43" name="hf-631">
            <a:extLst xmlns:a="http://schemas.openxmlformats.org/drawingml/2006/main">
              <a:ext uri="{FF2B5EF4-FFF2-40B4-BE49-F238E27FC236}">
                <a16:creationId xmlns:a16="http://schemas.microsoft.com/office/drawing/2014/main" id="{85216CFC-4BD6-4017-AC54-0CBE3C5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169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44" name="hf-632">
            <a:extLst xmlns:a="http://schemas.openxmlformats.org/drawingml/2006/main">
              <a:ext uri="{FF2B5EF4-FFF2-40B4-BE49-F238E27FC236}">
                <a16:creationId xmlns:a16="http://schemas.microsoft.com/office/drawing/2014/main" id="{77AF22C6-C846-4ACD-BD23-7CCEE056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244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45" name="hf-633">
            <a:extLst xmlns:a="http://schemas.openxmlformats.org/drawingml/2006/main">
              <a:ext uri="{FF2B5EF4-FFF2-40B4-BE49-F238E27FC236}">
                <a16:creationId xmlns:a16="http://schemas.microsoft.com/office/drawing/2014/main" id="{F7DF519C-3D54-45F0-B526-121625EF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579" y="1593533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·1</a:t>
            </a:r>
          </a:p>
        </p:txBody>
      </p:sp>
      <p:sp>
        <p:nvSpPr>
          <p:cNvPr id="46" name="hf-634">
            <a:extLst xmlns:a="http://schemas.openxmlformats.org/drawingml/2006/main">
              <a:ext uri="{FF2B5EF4-FFF2-40B4-BE49-F238E27FC236}">
                <a16:creationId xmlns:a16="http://schemas.microsoft.com/office/drawing/2014/main" id="{F6241BEC-6AEA-4E14-A823-B7BAEBC1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906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47" name="hf-635">
            <a:extLst xmlns:a="http://schemas.openxmlformats.org/drawingml/2006/main">
              <a:ext uri="{FF2B5EF4-FFF2-40B4-BE49-F238E27FC236}">
                <a16:creationId xmlns:a16="http://schemas.microsoft.com/office/drawing/2014/main" id="{65E91BF4-181E-4BDE-8222-90B440D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529" y="1593533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·3</a:t>
            </a:r>
          </a:p>
        </p:txBody>
      </p:sp>
      <p:sp>
        <p:nvSpPr>
          <p:cNvPr id="48" name="hf-636">
            <a:extLst xmlns:a="http://schemas.openxmlformats.org/drawingml/2006/main">
              <a:ext uri="{FF2B5EF4-FFF2-40B4-BE49-F238E27FC236}">
                <a16:creationId xmlns:a16="http://schemas.microsoft.com/office/drawing/2014/main" id="{E9596682-FFDB-4F85-B3E9-FFD0C0F8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856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49" name="hf-637">
            <a:extLst xmlns:a="http://schemas.openxmlformats.org/drawingml/2006/main">
              <a:ext uri="{FF2B5EF4-FFF2-40B4-BE49-F238E27FC236}">
                <a16:creationId xmlns:a16="http://schemas.microsoft.com/office/drawing/2014/main" id="{ED506CFF-4EF9-48EE-8B66-DB25ABA3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479" y="1593533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·A</a:t>
            </a:r>
          </a:p>
        </p:txBody>
      </p:sp>
      <p:sp>
        <p:nvSpPr>
          <p:cNvPr id="50" name="hf-638">
            <a:extLst xmlns:a="http://schemas.openxmlformats.org/drawingml/2006/main">
              <a:ext uri="{FF2B5EF4-FFF2-40B4-BE49-F238E27FC236}">
                <a16:creationId xmlns:a16="http://schemas.microsoft.com/office/drawing/2014/main" id="{24A101D4-47A3-4347-9960-E87B9CCD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806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51" name="hf-639">
            <a:extLst xmlns:a="http://schemas.openxmlformats.org/drawingml/2006/main">
              <a:ext uri="{FF2B5EF4-FFF2-40B4-BE49-F238E27FC236}">
                <a16:creationId xmlns:a16="http://schemas.microsoft.com/office/drawing/2014/main" id="{1D03F44B-64F4-4E73-8650-67E9F0C2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806" y="21174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52" name="hf-640">
            <a:extLst xmlns:a="http://schemas.openxmlformats.org/drawingml/2006/main">
              <a:ext uri="{FF2B5EF4-FFF2-40B4-BE49-F238E27FC236}">
                <a16:creationId xmlns:a16="http://schemas.microsoft.com/office/drawing/2014/main" id="{E54E1CB9-C0CA-4433-A993-BDA59487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144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53" name="hf-641">
            <a:extLst xmlns:a="http://schemas.openxmlformats.org/drawingml/2006/main">
              <a:ext uri="{FF2B5EF4-FFF2-40B4-BE49-F238E27FC236}">
                <a16:creationId xmlns:a16="http://schemas.microsoft.com/office/drawing/2014/main" id="{E85B7103-9729-4CEC-9552-9CDE42EE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219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54" name="hf-642">
            <a:extLst xmlns:a="http://schemas.openxmlformats.org/drawingml/2006/main">
              <a:ext uri="{FF2B5EF4-FFF2-40B4-BE49-F238E27FC236}">
                <a16:creationId xmlns:a16="http://schemas.microsoft.com/office/drawing/2014/main" id="{D01DF9DB-9C4F-448B-8B7F-CC9E827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4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55" name="hf-643">
            <a:extLst xmlns:a="http://schemas.openxmlformats.org/drawingml/2006/main">
              <a:ext uri="{FF2B5EF4-FFF2-40B4-BE49-F238E27FC236}">
                <a16:creationId xmlns:a16="http://schemas.microsoft.com/office/drawing/2014/main" id="{286DB080-91E7-4609-A56C-7F27B8AE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369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56" name="hf-644">
            <a:extLst xmlns:a="http://schemas.openxmlformats.org/drawingml/2006/main">
              <a:ext uri="{FF2B5EF4-FFF2-40B4-BE49-F238E27FC236}">
                <a16:creationId xmlns:a16="http://schemas.microsoft.com/office/drawing/2014/main" id="{C165BC9E-3213-43F2-83EB-F15ACB6B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91638"/>
            <a:ext cx="8726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после 1-го</a:t>
            </a:r>
          </a:p>
        </p:txBody>
      </p:sp>
      <p:sp>
        <p:nvSpPr>
          <p:cNvPr id="57" name="hf-645">
            <a:extLst xmlns:a="http://schemas.openxmlformats.org/drawingml/2006/main">
              <a:ext uri="{FF2B5EF4-FFF2-40B4-BE49-F238E27FC236}">
                <a16:creationId xmlns:a16="http://schemas.microsoft.com/office/drawing/2014/main" id="{8A2DB913-C19F-4A72-80AC-2B737AF0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1638"/>
            <a:ext cx="243624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</a:rPr>
              <a:t>проход 2 · старший полубайт</a:t>
            </a:r>
          </a:p>
        </p:txBody>
      </p:sp>
      <p:sp>
        <p:nvSpPr>
          <p:cNvPr id="58" name="hf-646">
            <a:extLst xmlns:a="http://schemas.openxmlformats.org/drawingml/2006/main">
              <a:ext uri="{FF2B5EF4-FFF2-40B4-BE49-F238E27FC236}">
                <a16:creationId xmlns:a16="http://schemas.microsoft.com/office/drawing/2014/main" id="{C536007E-AD19-4E26-84AD-0CC25F2F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2591638"/>
            <a:ext cx="129339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</a:rPr>
              <a:t>отсортировано</a:t>
            </a:r>
          </a:p>
        </p:txBody>
      </p:sp>
      <p:sp>
        <p:nvSpPr>
          <p:cNvPr id="59" name="hf-647">
            <a:extLst xmlns:a="http://schemas.openxmlformats.org/drawingml/2006/main">
              <a:ext uri="{FF2B5EF4-FFF2-40B4-BE49-F238E27FC236}">
                <a16:creationId xmlns:a16="http://schemas.microsoft.com/office/drawing/2014/main" id="{7C3C6269-067F-4F58-BD0D-0DCB3AE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19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60" name="hf-648">
            <a:extLst xmlns:a="http://schemas.openxmlformats.org/drawingml/2006/main">
              <a:ext uri="{FF2B5EF4-FFF2-40B4-BE49-F238E27FC236}">
                <a16:creationId xmlns:a16="http://schemas.microsoft.com/office/drawing/2014/main" id="{C23FD49C-3FC3-4A05-8BF8-A4FDDF0B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94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61" name="hf-649">
            <a:extLst xmlns:a="http://schemas.openxmlformats.org/drawingml/2006/main">
              <a:ext uri="{FF2B5EF4-FFF2-40B4-BE49-F238E27FC236}">
                <a16:creationId xmlns:a16="http://schemas.microsoft.com/office/drawing/2014/main" id="{7DE4D92A-2693-4C5D-948C-81E7D980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169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62" name="hf-650">
            <a:extLst xmlns:a="http://schemas.openxmlformats.org/drawingml/2006/main">
              <a:ext uri="{FF2B5EF4-FFF2-40B4-BE49-F238E27FC236}">
                <a16:creationId xmlns:a16="http://schemas.microsoft.com/office/drawing/2014/main" id="{B205B7F0-B5E7-4C75-848D-DE878E0B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244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63" name="hf-651">
            <a:extLst xmlns:a="http://schemas.openxmlformats.org/drawingml/2006/main">
              <a:ext uri="{FF2B5EF4-FFF2-40B4-BE49-F238E27FC236}">
                <a16:creationId xmlns:a16="http://schemas.microsoft.com/office/drawing/2014/main" id="{EF6CD089-22D7-49AD-B77D-CE6D4A15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579" y="2907982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0·</a:t>
            </a:r>
          </a:p>
        </p:txBody>
      </p:sp>
      <p:sp>
        <p:nvSpPr>
          <p:cNvPr id="64" name="hf-652">
            <a:extLst xmlns:a="http://schemas.openxmlformats.org/drawingml/2006/main">
              <a:ext uri="{FF2B5EF4-FFF2-40B4-BE49-F238E27FC236}">
                <a16:creationId xmlns:a16="http://schemas.microsoft.com/office/drawing/2014/main" id="{CF64F1A4-1F32-4553-92FA-4E31BEA5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906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65" name="hf-653">
            <a:extLst xmlns:a="http://schemas.openxmlformats.org/drawingml/2006/main">
              <a:ext uri="{FF2B5EF4-FFF2-40B4-BE49-F238E27FC236}">
                <a16:creationId xmlns:a16="http://schemas.microsoft.com/office/drawing/2014/main" id="{5313BBA2-D266-4993-884A-BE3A474F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529" y="2907982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1·</a:t>
            </a:r>
          </a:p>
        </p:txBody>
      </p:sp>
      <p:sp>
        <p:nvSpPr>
          <p:cNvPr id="66" name="hf-654">
            <a:extLst xmlns:a="http://schemas.openxmlformats.org/drawingml/2006/main">
              <a:ext uri="{FF2B5EF4-FFF2-40B4-BE49-F238E27FC236}">
                <a16:creationId xmlns:a16="http://schemas.microsoft.com/office/drawing/2014/main" id="{EF22B18E-CA17-4765-9A16-A364F878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856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67" name="hf-655">
            <a:extLst xmlns:a="http://schemas.openxmlformats.org/drawingml/2006/main">
              <a:ext uri="{FF2B5EF4-FFF2-40B4-BE49-F238E27FC236}">
                <a16:creationId xmlns:a16="http://schemas.microsoft.com/office/drawing/2014/main" id="{585946C9-0F53-4D5A-9B1D-AAE69948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856" y="34318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68" name="hf-656">
            <a:extLst xmlns:a="http://schemas.openxmlformats.org/drawingml/2006/main">
              <a:ext uri="{FF2B5EF4-FFF2-40B4-BE49-F238E27FC236}">
                <a16:creationId xmlns:a16="http://schemas.microsoft.com/office/drawing/2014/main" id="{EBF4234D-AFBF-4872-9CD5-A99E6429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479" y="2907982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2·</a:t>
            </a:r>
          </a:p>
        </p:txBody>
      </p:sp>
      <p:sp>
        <p:nvSpPr>
          <p:cNvPr id="69" name="hf-657">
            <a:extLst xmlns:a="http://schemas.openxmlformats.org/drawingml/2006/main">
              <a:ext uri="{FF2B5EF4-FFF2-40B4-BE49-F238E27FC236}">
                <a16:creationId xmlns:a16="http://schemas.microsoft.com/office/drawing/2014/main" id="{D3262F65-B904-4D11-B1F2-682AE511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806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70" name="hf-658">
            <a:extLst xmlns:a="http://schemas.openxmlformats.org/drawingml/2006/main">
              <a:ext uri="{FF2B5EF4-FFF2-40B4-BE49-F238E27FC236}">
                <a16:creationId xmlns:a16="http://schemas.microsoft.com/office/drawing/2014/main" id="{CAAE6A20-5254-4ED9-94CA-00F09E9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144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71" name="hf-659">
            <a:extLst xmlns:a="http://schemas.openxmlformats.org/drawingml/2006/main">
              <a:ext uri="{FF2B5EF4-FFF2-40B4-BE49-F238E27FC236}">
                <a16:creationId xmlns:a16="http://schemas.microsoft.com/office/drawing/2014/main" id="{879BE36E-8F20-4C47-87DD-73412453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219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72" name="hf-660">
            <a:extLst xmlns:a="http://schemas.openxmlformats.org/drawingml/2006/main">
              <a:ext uri="{FF2B5EF4-FFF2-40B4-BE49-F238E27FC236}">
                <a16:creationId xmlns:a16="http://schemas.microsoft.com/office/drawing/2014/main" id="{C66EC2EA-5774-4558-A222-3EFB4A4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4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73" name="hf-661">
            <a:extLst xmlns:a="http://schemas.openxmlformats.org/drawingml/2006/main">
              <a:ext uri="{FF2B5EF4-FFF2-40B4-BE49-F238E27FC236}">
                <a16:creationId xmlns:a16="http://schemas.microsoft.com/office/drawing/2014/main" id="{B83FE9F8-19ED-4550-B11B-F1BA8E9A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369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74" name="hf-662">
            <a:extLst xmlns:a="http://schemas.openxmlformats.org/drawingml/2006/main">
              <a:ext uri="{FF2B5EF4-FFF2-40B4-BE49-F238E27FC236}">
                <a16:creationId xmlns:a16="http://schemas.microsoft.com/office/drawing/2014/main" id="{D69BA5CC-6DD4-46E5-80D5-FEE8897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528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75" name="hf-663">
            <a:extLst xmlns:a="http://schemas.openxmlformats.org/drawingml/2006/main">
              <a:ext uri="{FF2B5EF4-FFF2-40B4-BE49-F238E27FC236}">
                <a16:creationId xmlns:a16="http://schemas.microsoft.com/office/drawing/2014/main" id="{696E2475-83D9-4E65-B22C-A13A2E8F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95255"/>
            <a:ext cx="29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700" b="1" i="0">
                <a:solidFill>
                  <a:srgbClr val="9B87F5"/>
                </a:solidFill>
                <a:latin typeface="Montserrat ExtraBold"/>
                <a:ea typeface="Montserrat ExtraBold"/>
                <a:cs typeface="Montserrat ExtraBold"/>
              </a:rPr>
              <a:t>0</a:t>
            </a:r>
          </a:p>
        </p:txBody>
      </p:sp>
      <p:sp>
        <p:nvSpPr>
          <p:cNvPr id="76" name="hf-664">
            <a:extLst xmlns:a="http://schemas.openxmlformats.org/drawingml/2006/main">
              <a:ext uri="{FF2B5EF4-FFF2-40B4-BE49-F238E27FC236}">
                <a16:creationId xmlns:a16="http://schemas.microsoft.com/office/drawing/2014/main" id="{33BC2F8A-3739-46E8-A862-7872B462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12" y="4064756"/>
            <a:ext cx="136430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сравнений</a:t>
            </a:r>
          </a:p>
        </p:txBody>
      </p:sp>
      <p:sp>
        <p:nvSpPr>
          <p:cNvPr id="77" name="hf-665">
            <a:extLst xmlns:a="http://schemas.openxmlformats.org/drawingml/2006/main">
              <a:ext uri="{FF2B5EF4-FFF2-40B4-BE49-F238E27FC236}">
                <a16:creationId xmlns:a16="http://schemas.microsoft.com/office/drawing/2014/main" id="{6B69AA0C-E4D0-44B2-BB01-C72AB5E0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67" y="4095255"/>
            <a:ext cx="3335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700" b="1" i="0">
                <a:solidFill>
                  <a:srgbClr val="9B87F5"/>
                </a:solidFill>
                <a:latin typeface="Montserrat ExtraBold"/>
                <a:ea typeface="Montserrat ExtraBold"/>
                <a:cs typeface="Montserrat ExtraBold"/>
              </a:rPr>
              <a:t>N</a:t>
            </a:r>
          </a:p>
        </p:txBody>
      </p:sp>
      <p:sp>
        <p:nvSpPr>
          <p:cNvPr id="78" name="hf-666">
            <a:extLst xmlns:a="http://schemas.openxmlformats.org/drawingml/2006/main">
              <a:ext uri="{FF2B5EF4-FFF2-40B4-BE49-F238E27FC236}">
                <a16:creationId xmlns:a16="http://schemas.microsoft.com/office/drawing/2014/main" id="{480055E3-76E1-4F2B-9C0A-36E3EC1A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64756"/>
            <a:ext cx="11694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буфер на </a:t>
            </a:r>
          </a:p>
        </p:txBody>
      </p:sp>
      <p:sp>
        <p:nvSpPr>
          <p:cNvPr id="79" name="hf-667">
            <a:extLst xmlns:a="http://schemas.openxmlformats.org/drawingml/2006/main">
              <a:ext uri="{FF2B5EF4-FFF2-40B4-BE49-F238E27FC236}">
                <a16:creationId xmlns:a16="http://schemas.microsoft.com/office/drawing/2014/main" id="{42D13F09-ED1A-46FF-A407-77EF2AF8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64756"/>
            <a:ext cx="14485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для </a:t>
            </a:r>
            <a:r>
              <a:rPr sz="1650" b="1" i="0">
                <a:solidFill>
                  <a:srgbClr val="9B87F5"/>
                </a:solidFill>
                <a:latin typeface="Montserrat"/>
                <a:ea typeface="Montserrat"/>
                <a:cs typeface="Montserrat"/>
              </a:rPr>
              <a:t>uint64_t</a:t>
            </a:r>
          </a:p>
        </p:txBody>
      </p:sp>
      <p:pic>
        <p:nvPicPr>
          <p:cNvPr id="80" name="hf-668">
            <a:extLst xmlns:a="http://schemas.openxmlformats.org/drawingml/2006/main">
              <a:ext uri="{FF2B5EF4-FFF2-40B4-BE49-F238E27FC236}">
                <a16:creationId xmlns:a16="http://schemas.microsoft.com/office/drawing/2014/main" id="{D134A01A-C14C-41B6-9907-7E56BBA5A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0011e5f724a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81" name="hf-669">
            <a:extLst xmlns:a="http://schemas.openxmlformats.org/drawingml/2006/main">
              <a:ext uri="{FF2B5EF4-FFF2-40B4-BE49-F238E27FC236}">
                <a16:creationId xmlns:a16="http://schemas.microsoft.com/office/drawing/2014/main" id="{095D2B15-7D1C-4B34-94C5-610787FF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46898774"/>
      </p:ext>
    </p:extLst>
  </p:cSld>
</p:sld>
</file>

<file path=ppt/slides/slide31.xml><?xml version="1.0" encoding="utf-8"?>
<p:sld xmlns:p="http://schemas.openxmlformats.org/presentationml/2006/main" show="0">
  <p:cSld name="learned-tabl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670">
            <a:extLst xmlns:a="http://schemas.openxmlformats.org/drawingml/2006/main">
              <a:ext uri="{FF2B5EF4-FFF2-40B4-BE49-F238E27FC236}">
                <a16:creationId xmlns:a16="http://schemas.microsoft.com/office/drawing/2014/main" id="{2C3C56BE-F027-47F8-91C1-F551ADBB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43390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ДОПОЛНИТЕЛЬНЫЙ МОДУЛЬ · КОНТРОЛЬ ОПЫТА</a:t>
            </a:r>
          </a:p>
        </p:txBody>
      </p:sp>
      <p:sp>
        <p:nvSpPr>
          <p:cNvPr id="3" name="hf-671">
            <a:extLst xmlns:a="http://schemas.openxmlformats.org/drawingml/2006/main">
              <a:ext uri="{FF2B5EF4-FFF2-40B4-BE49-F238E27FC236}">
                <a16:creationId xmlns:a16="http://schemas.microsoft.com/office/drawing/2014/main" id="{574DDE0C-F28C-426C-A09C-9D1DE024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825430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КОНТРОЛЬНЫЕ ОПЫТЫ БЕНЧМАРКА</a:t>
            </a:r>
          </a:p>
        </p:txBody>
      </p:sp>
      <p:sp>
        <p:nvSpPr>
          <p:cNvPr id="4" name="hf-672">
            <a:extLst xmlns:a="http://schemas.openxmlformats.org/drawingml/2006/main">
              <a:ext uri="{FF2B5EF4-FFF2-40B4-BE49-F238E27FC236}">
                <a16:creationId xmlns:a16="http://schemas.microsoft.com/office/drawing/2014/main" id="{531AA44D-4614-453B-806A-5F7C9466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68107"/>
            <a:ext cx="131750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x86 · Linux</a:t>
            </a:r>
          </a:p>
        </p:txBody>
      </p:sp>
      <p:sp>
        <p:nvSpPr>
          <p:cNvPr id="5" name="hf-673">
            <a:extLst xmlns:a="http://schemas.openxmlformats.org/drawingml/2006/main">
              <a:ext uri="{FF2B5EF4-FFF2-40B4-BE49-F238E27FC236}">
                <a16:creationId xmlns:a16="http://schemas.microsoft.com/office/drawing/2014/main" id="{D48CF95D-0D01-4B22-A90C-04FE792C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846517"/>
            <a:ext cx="2814191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восстановленный: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9,7</a:t>
            </a:r>
          </a:p>
        </p:txBody>
      </p:sp>
      <p:sp>
        <p:nvSpPr>
          <p:cNvPr id="6" name="hf-674">
            <a:extLst xmlns:a="http://schemas.openxmlformats.org/drawingml/2006/main">
              <a:ext uri="{FF2B5EF4-FFF2-40B4-BE49-F238E27FC236}">
                <a16:creationId xmlns:a16="http://schemas.microsoft.com/office/drawing/2014/main" id="{C58D2FE9-B4C1-4F89-9BB8-48A65DDA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79892"/>
            <a:ext cx="262317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64 одинаковые копии: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9,6</a:t>
            </a:r>
          </a:p>
        </p:txBody>
      </p:sp>
      <p:sp>
        <p:nvSpPr>
          <p:cNvPr id="7" name="hf-675">
            <a:extLst xmlns:a="http://schemas.openxmlformats.org/drawingml/2006/main">
              <a:ext uri="{FF2B5EF4-FFF2-40B4-BE49-F238E27FC236}">
                <a16:creationId xmlns:a16="http://schemas.microsoft.com/office/drawing/2014/main" id="{C1B278CE-56C2-48EA-A893-15BABAFB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13267"/>
            <a:ext cx="246883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64 разных массива: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46,9</a:t>
            </a:r>
          </a:p>
        </p:txBody>
      </p:sp>
      <p:sp>
        <p:nvSpPr>
          <p:cNvPr id="8" name="hf-676">
            <a:extLst xmlns:a="http://schemas.openxmlformats.org/drawingml/2006/main">
              <a:ext uri="{FF2B5EF4-FFF2-40B4-BE49-F238E27FC236}">
                <a16:creationId xmlns:a16="http://schemas.microsoft.com/office/drawing/2014/main" id="{09E58DD9-DF87-49BB-B337-449A43F1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46642"/>
            <a:ext cx="318075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Разные через один буфер: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46,8</a:t>
            </a:r>
          </a:p>
        </p:txBody>
      </p:sp>
      <p:sp>
        <p:nvSpPr>
          <p:cNvPr id="9" name="hf-677">
            <a:extLst xmlns:a="http://schemas.openxmlformats.org/drawingml/2006/main">
              <a:ext uri="{FF2B5EF4-FFF2-40B4-BE49-F238E27FC236}">
                <a16:creationId xmlns:a16="http://schemas.microsoft.com/office/drawing/2014/main" id="{B08D67B3-DD71-43B0-B781-DEBE5975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41942"/>
            <a:ext cx="3414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нс на элемент · один буфер 8 КиБ</a:t>
            </a:r>
          </a:p>
        </p:txBody>
      </p:sp>
      <p:sp>
        <p:nvSpPr>
          <p:cNvPr id="10" name="hf-678">
            <a:extLst xmlns:a="http://schemas.openxmlformats.org/drawingml/2006/main">
              <a:ext uri="{FF2B5EF4-FFF2-40B4-BE49-F238E27FC236}">
                <a16:creationId xmlns:a16="http://schemas.microsoft.com/office/drawing/2014/main" id="{4996F7EE-D0AC-4297-8A5F-A5EBCA2B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8107"/>
            <a:ext cx="87533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M2 Pro</a:t>
            </a:r>
          </a:p>
        </p:txBody>
      </p:sp>
      <p:sp>
        <p:nvSpPr>
          <p:cNvPr id="11" name="hf-679">
            <a:extLst xmlns:a="http://schemas.openxmlformats.org/drawingml/2006/main">
              <a:ext uri="{FF2B5EF4-FFF2-40B4-BE49-F238E27FC236}">
                <a16:creationId xmlns:a16="http://schemas.microsoft.com/office/drawing/2014/main" id="{E0105A04-8658-4DB7-8455-036F4FE1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70329"/>
            <a:ext cx="181681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Нативная macOS</a:t>
            </a:r>
          </a:p>
        </p:txBody>
      </p:sp>
      <p:sp>
        <p:nvSpPr>
          <p:cNvPr id="12" name="hf-680">
            <a:extLst xmlns:a="http://schemas.openxmlformats.org/drawingml/2006/main">
              <a:ext uri="{FF2B5EF4-FFF2-40B4-BE49-F238E27FC236}">
                <a16:creationId xmlns:a16="http://schemas.microsoft.com/office/drawing/2014/main" id="{89622EBB-69CD-4E6B-A535-4EADB2AD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6079"/>
            <a:ext cx="300141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массив 6,8 · разные 14,4</a:t>
            </a:r>
          </a:p>
        </p:txBody>
      </p:sp>
      <p:sp>
        <p:nvSpPr>
          <p:cNvPr id="13" name="hf-681">
            <a:extLst xmlns:a="http://schemas.openxmlformats.org/drawingml/2006/main">
              <a:ext uri="{FF2B5EF4-FFF2-40B4-BE49-F238E27FC236}">
                <a16:creationId xmlns:a16="http://schemas.microsoft.com/office/drawing/2014/main" id="{ECD90E3F-6D14-4B44-9E1F-E2A642F7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79954"/>
            <a:ext cx="219722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в Linux VM</a:t>
            </a:r>
          </a:p>
        </p:txBody>
      </p:sp>
      <p:sp>
        <p:nvSpPr>
          <p:cNvPr id="14" name="hf-682">
            <a:extLst xmlns:a="http://schemas.openxmlformats.org/drawingml/2006/main">
              <a:ext uri="{FF2B5EF4-FFF2-40B4-BE49-F238E27FC236}">
                <a16:creationId xmlns:a16="http://schemas.microsoft.com/office/drawing/2014/main" id="{C0DFF286-3E02-4424-9A14-1D559C02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65704"/>
            <a:ext cx="36874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Одинаковые копии тоже медленнее</a:t>
            </a:r>
          </a:p>
        </p:txBody>
      </p:sp>
      <p:sp>
        <p:nvSpPr>
          <p:cNvPr id="15" name="hf-683">
            <a:extLst xmlns:a="http://schemas.openxmlformats.org/drawingml/2006/main">
              <a:ext uri="{FF2B5EF4-FFF2-40B4-BE49-F238E27FC236}">
                <a16:creationId xmlns:a16="http://schemas.microsoft.com/office/drawing/2014/main" id="{D98747F4-7EB6-4D83-91FA-F65AB70E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51454"/>
            <a:ext cx="352886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одного восстановленного массива</a:t>
            </a:r>
          </a:p>
        </p:txBody>
      </p:sp>
      <p:sp>
        <p:nvSpPr>
          <p:cNvPr id="16" name="hf-684">
            <a:extLst xmlns:a="http://schemas.openxmlformats.org/drawingml/2006/main">
              <a:ext uri="{FF2B5EF4-FFF2-40B4-BE49-F238E27FC236}">
                <a16:creationId xmlns:a16="http://schemas.microsoft.com/office/drawing/2014/main" id="{82E21D15-FA28-4E4C-A07A-748A79D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671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685">
            <a:extLst xmlns:a="http://schemas.openxmlformats.org/drawingml/2006/main">
              <a:ext uri="{FF2B5EF4-FFF2-40B4-BE49-F238E27FC236}">
                <a16:creationId xmlns:a16="http://schemas.microsoft.com/office/drawing/2014/main" id="{EEC8FB65-80A8-4E9B-9AE2-89F979A6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36181"/>
            <a:ext cx="707402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Контроли сужают объяснение. Причина для M2 пока гипотеза</a:t>
            </a:r>
          </a:p>
        </p:txBody>
      </p:sp>
      <p:pic>
        <p:nvPicPr>
          <p:cNvPr id="18" name="hf-686">
            <a:extLst xmlns:a="http://schemas.openxmlformats.org/drawingml/2006/main">
              <a:ext uri="{FF2B5EF4-FFF2-40B4-BE49-F238E27FC236}">
                <a16:creationId xmlns:a16="http://schemas.microsoft.com/office/drawing/2014/main" id="{9B53F687-B165-46DE-9BCF-A1D007910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31bd876f64c7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9" name="hf-687">
            <a:extLst xmlns:a="http://schemas.openxmlformats.org/drawingml/2006/main">
              <a:ext uri="{FF2B5EF4-FFF2-40B4-BE49-F238E27FC236}">
                <a16:creationId xmlns:a16="http://schemas.microsoft.com/office/drawing/2014/main" id="{62B1EF9E-7AB9-4509-8BD1-12D2208C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90799649"/>
      </p:ext>
    </p:extLst>
  </p:cSld>
</p:sld>
</file>

<file path=ppt/slides/slide32.xml><?xml version="1.0" encoding="utf-8"?>
<p:sld xmlns:p="http://schemas.openxmlformats.org/presentationml/2006/main" show="0">
  <p:cSld name="nb-lang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688">
            <a:extLst xmlns:a="http://schemas.openxmlformats.org/drawingml/2006/main">
              <a:ext uri="{FF2B5EF4-FFF2-40B4-BE49-F238E27FC236}">
                <a16:creationId xmlns:a16="http://schemas.microsoft.com/office/drawing/2014/main" id="{D17134A6-6830-4CA3-A220-C74416A3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689">
            <a:extLst xmlns:a="http://schemas.openxmlformats.org/drawingml/2006/main">
              <a:ext uri="{FF2B5EF4-FFF2-40B4-BE49-F238E27FC236}">
                <a16:creationId xmlns:a16="http://schemas.microsoft.com/office/drawing/2014/main" id="{9410ADB2-3214-4CEA-BA0F-09909BD6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3316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КОНТЕЙНЕРЫ В РАЗНЫХ ЯЗЫКАХ</a:t>
            </a:r>
          </a:p>
        </p:txBody>
      </p:sp>
      <p:sp>
        <p:nvSpPr>
          <p:cNvPr id="4" name="hf-690">
            <a:extLst xmlns:a="http://schemas.openxmlformats.org/drawingml/2006/main">
              <a:ext uri="{FF2B5EF4-FFF2-40B4-BE49-F238E27FC236}">
                <a16:creationId xmlns:a16="http://schemas.microsoft.com/office/drawing/2014/main" id="{4CB07391-62D4-406F-8E0D-3C335643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8750"/>
            <a:ext cx="3619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5" name="hf-691">
            <a:extLst xmlns:a="http://schemas.openxmlformats.org/drawingml/2006/main">
              <a:ext uri="{FF2B5EF4-FFF2-40B4-BE49-F238E27FC236}">
                <a16:creationId xmlns:a16="http://schemas.microsoft.com/office/drawing/2014/main" id="{1FB52982-4876-4CB1-9512-A0E74512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1556004"/>
            <a:ext cx="21824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узел на каждый ключ</a:t>
            </a:r>
          </a:p>
        </p:txBody>
      </p:sp>
      <p:sp>
        <p:nvSpPr>
          <p:cNvPr id="6" name="hf-692">
            <a:extLst xmlns:a="http://schemas.openxmlformats.org/drawingml/2006/main">
              <a:ext uri="{FF2B5EF4-FFF2-40B4-BE49-F238E27FC236}">
                <a16:creationId xmlns:a16="http://schemas.microsoft.com/office/drawing/2014/main" id="{AEA7F40F-195E-4012-B0F0-4B45625A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1908467"/>
            <a:ext cx="93404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C++</a:t>
            </a:r>
          </a:p>
        </p:txBody>
      </p:sp>
      <p:sp>
        <p:nvSpPr>
          <p:cNvPr id="7" name="hf-693">
            <a:extLst xmlns:a="http://schemas.openxmlformats.org/drawingml/2006/main">
              <a:ext uri="{FF2B5EF4-FFF2-40B4-BE49-F238E27FC236}">
                <a16:creationId xmlns:a16="http://schemas.microsoft.com/office/drawing/2014/main" id="{25CF612F-D5C8-4FE7-AC00-35B7F7E4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2394204"/>
            <a:ext cx="18294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std::unordered_set</a:t>
            </a:r>
          </a:p>
        </p:txBody>
      </p:sp>
      <p:sp>
        <p:nvSpPr>
          <p:cNvPr id="8" name="hf-694">
            <a:extLst xmlns:a="http://schemas.openxmlformats.org/drawingml/2006/main">
              <a:ext uri="{FF2B5EF4-FFF2-40B4-BE49-F238E27FC236}">
                <a16:creationId xmlns:a16="http://schemas.microsoft.com/office/drawing/2014/main" id="{D79D894C-D92C-4CA2-9FAD-3347BC99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2857957"/>
            <a:ext cx="230892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105"/>
              </a:lnSpc>
              <a:buNone/>
            </a:pPr>
            <a:r>
              <a:rPr sz="27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Java / Kotlin</a:t>
            </a:r>
          </a:p>
        </p:txBody>
      </p:sp>
      <p:sp>
        <p:nvSpPr>
          <p:cNvPr id="9" name="hf-695">
            <a:extLst xmlns:a="http://schemas.openxmlformats.org/drawingml/2006/main">
              <a:ext uri="{FF2B5EF4-FFF2-40B4-BE49-F238E27FC236}">
                <a16:creationId xmlns:a16="http://schemas.microsoft.com/office/drawing/2014/main" id="{81E38328-F277-4F1F-9ACD-3536FB10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280029"/>
            <a:ext cx="24967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HashSet&lt;Long&gt;, distinct()</a:t>
            </a:r>
          </a:p>
        </p:txBody>
      </p:sp>
      <p:sp>
        <p:nvSpPr>
          <p:cNvPr id="10" name="hf-696">
            <a:extLst xmlns:a="http://schemas.openxmlformats.org/drawingml/2006/main">
              <a:ext uri="{FF2B5EF4-FFF2-40B4-BE49-F238E27FC236}">
                <a16:creationId xmlns:a16="http://schemas.microsoft.com/office/drawing/2014/main" id="{50B38969-1F72-40DE-98C0-A168922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508629"/>
            <a:ext cx="292008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боксинг числового ключа</a:t>
            </a:r>
          </a:p>
        </p:txBody>
      </p:sp>
      <p:sp>
        <p:nvSpPr>
          <p:cNvPr id="11" name="hf-697">
            <a:extLst xmlns:a="http://schemas.openxmlformats.org/drawingml/2006/main">
              <a:ext uri="{FF2B5EF4-FFF2-40B4-BE49-F238E27FC236}">
                <a16:creationId xmlns:a16="http://schemas.microsoft.com/office/drawing/2014/main" id="{52A12AA4-7757-4E9B-A102-56644563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13129"/>
            <a:ext cx="174099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без узла на ключ</a:t>
            </a:r>
          </a:p>
        </p:txBody>
      </p:sp>
      <p:sp>
        <p:nvSpPr>
          <p:cNvPr id="12" name="hf-698">
            <a:extLst xmlns:a="http://schemas.openxmlformats.org/drawingml/2006/main">
              <a:ext uri="{FF2B5EF4-FFF2-40B4-BE49-F238E27FC236}">
                <a16:creationId xmlns:a16="http://schemas.microsoft.com/office/drawing/2014/main" id="{D14C5B08-0720-48FB-8340-4AE39A4D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2081"/>
            <a:ext cx="606400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Swift</a:t>
            </a:r>
          </a:p>
        </p:txBody>
      </p:sp>
      <p:sp>
        <p:nvSpPr>
          <p:cNvPr id="13" name="hf-699">
            <a:extLst xmlns:a="http://schemas.openxmlformats.org/drawingml/2006/main">
              <a:ext uri="{FF2B5EF4-FFF2-40B4-BE49-F238E27FC236}">
                <a16:creationId xmlns:a16="http://schemas.microsoft.com/office/drawing/2014/main" id="{791E453A-A6AD-4ED0-B4F0-8F43893B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6979"/>
            <a:ext cx="210033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открытая адресация</a:t>
            </a:r>
          </a:p>
        </p:txBody>
      </p:sp>
      <p:sp>
        <p:nvSpPr>
          <p:cNvPr id="14" name="hf-700">
            <a:extLst xmlns:a="http://schemas.openxmlformats.org/drawingml/2006/main">
              <a:ext uri="{FF2B5EF4-FFF2-40B4-BE49-F238E27FC236}">
                <a16:creationId xmlns:a16="http://schemas.microsoft.com/office/drawing/2014/main" id="{595CE6BD-078F-490A-A632-22786B68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41100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5" name="hf-701">
            <a:extLst xmlns:a="http://schemas.openxmlformats.org/drawingml/2006/main">
              <a:ext uri="{FF2B5EF4-FFF2-40B4-BE49-F238E27FC236}">
                <a16:creationId xmlns:a16="http://schemas.microsoft.com/office/drawing/2014/main" id="{118DB154-397F-403F-896F-B03D7B03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9281"/>
            <a:ext cx="987326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Go ≥ 1.24</a:t>
            </a:r>
          </a:p>
        </p:txBody>
      </p:sp>
      <p:sp>
        <p:nvSpPr>
          <p:cNvPr id="16" name="hf-702">
            <a:extLst xmlns:a="http://schemas.openxmlformats.org/drawingml/2006/main">
              <a:ext uri="{FF2B5EF4-FFF2-40B4-BE49-F238E27FC236}">
                <a16:creationId xmlns:a16="http://schemas.microsoft.com/office/drawing/2014/main" id="{9CDF070C-DE94-4A38-A783-75465049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4179"/>
            <a:ext cx="110862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Swiss table</a:t>
            </a:r>
          </a:p>
        </p:txBody>
      </p:sp>
      <p:sp>
        <p:nvSpPr>
          <p:cNvPr id="17" name="hf-703">
            <a:extLst xmlns:a="http://schemas.openxmlformats.org/drawingml/2006/main">
              <a:ext uri="{FF2B5EF4-FFF2-40B4-BE49-F238E27FC236}">
                <a16:creationId xmlns:a16="http://schemas.microsoft.com/office/drawing/2014/main" id="{5F1745CB-A15A-402F-9F5C-43A3D343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41100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8" name="hf-704">
            <a:extLst xmlns:a="http://schemas.openxmlformats.org/drawingml/2006/main">
              <a:ext uri="{FF2B5EF4-FFF2-40B4-BE49-F238E27FC236}">
                <a16:creationId xmlns:a16="http://schemas.microsoft.com/office/drawing/2014/main" id="{A3E9FBF6-5925-4CCF-9178-10737A83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6481"/>
            <a:ext cx="550069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Rust</a:t>
            </a:r>
          </a:p>
        </p:txBody>
      </p:sp>
      <p:sp>
        <p:nvSpPr>
          <p:cNvPr id="19" name="hf-705">
            <a:extLst xmlns:a="http://schemas.openxmlformats.org/drawingml/2006/main">
              <a:ext uri="{FF2B5EF4-FFF2-40B4-BE49-F238E27FC236}">
                <a16:creationId xmlns:a16="http://schemas.microsoft.com/office/drawing/2014/main" id="{5642454E-6B1D-4E19-BB59-9D175BAA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51379"/>
            <a:ext cx="236316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Swiss table (hashbrown)</a:t>
            </a:r>
          </a:p>
        </p:txBody>
      </p:sp>
      <p:sp>
        <p:nvSpPr>
          <p:cNvPr id="20" name="hf-706">
            <a:extLst xmlns:a="http://schemas.openxmlformats.org/drawingml/2006/main">
              <a:ext uri="{FF2B5EF4-FFF2-40B4-BE49-F238E27FC236}">
                <a16:creationId xmlns:a16="http://schemas.microsoft.com/office/drawing/2014/main" id="{739A606D-78CA-4FA2-A5AD-2281BEE6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41100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1" name="hf-707">
            <a:extLst xmlns:a="http://schemas.openxmlformats.org/drawingml/2006/main">
              <a:ext uri="{FF2B5EF4-FFF2-40B4-BE49-F238E27FC236}">
                <a16:creationId xmlns:a16="http://schemas.microsoft.com/office/drawing/2014/main" id="{FE58917B-0AC5-4682-B09C-19F8B555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3681"/>
            <a:ext cx="842516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Python</a:t>
            </a:r>
          </a:p>
        </p:txBody>
      </p:sp>
      <p:sp>
        <p:nvSpPr>
          <p:cNvPr id="22" name="hf-708">
            <a:extLst xmlns:a="http://schemas.openxmlformats.org/drawingml/2006/main">
              <a:ext uri="{FF2B5EF4-FFF2-40B4-BE49-F238E27FC236}">
                <a16:creationId xmlns:a16="http://schemas.microsoft.com/office/drawing/2014/main" id="{0287FE54-2284-4146-B415-716CA33A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8579"/>
            <a:ext cx="248528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плоская, но int — объект</a:t>
            </a:r>
          </a:p>
        </p:txBody>
      </p:sp>
      <p:sp>
        <p:nvSpPr>
          <p:cNvPr id="23" name="hf-709">
            <a:extLst xmlns:a="http://schemas.openxmlformats.org/drawingml/2006/main">
              <a:ext uri="{FF2B5EF4-FFF2-40B4-BE49-F238E27FC236}">
                <a16:creationId xmlns:a16="http://schemas.microsoft.com/office/drawing/2014/main" id="{EE527D4C-3FDB-4A56-9A3E-2A55AD4B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41100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4" name="hf-710">
            <a:extLst xmlns:a="http://schemas.openxmlformats.org/drawingml/2006/main">
              <a:ext uri="{FF2B5EF4-FFF2-40B4-BE49-F238E27FC236}">
                <a16:creationId xmlns:a16="http://schemas.microsoft.com/office/drawing/2014/main" id="{0CD7CF21-5941-4B0C-8F9D-8D8FD3E2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0881"/>
            <a:ext cx="356667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C#</a:t>
            </a:r>
          </a:p>
        </p:txBody>
      </p:sp>
      <p:sp>
        <p:nvSpPr>
          <p:cNvPr id="25" name="hf-711">
            <a:extLst xmlns:a="http://schemas.openxmlformats.org/drawingml/2006/main">
              <a:ext uri="{FF2B5EF4-FFF2-40B4-BE49-F238E27FC236}">
                <a16:creationId xmlns:a16="http://schemas.microsoft.com/office/drawing/2014/main" id="{74E922FA-7199-4C69-A1EB-3F6FAE0C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5779"/>
            <a:ext cx="20588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цепочки в массивах</a:t>
            </a:r>
          </a:p>
        </p:txBody>
      </p:sp>
      <p:sp>
        <p:nvSpPr>
          <p:cNvPr id="26" name="hf-712">
            <a:extLst xmlns:a="http://schemas.openxmlformats.org/drawingml/2006/main">
              <a:ext uri="{FF2B5EF4-FFF2-40B4-BE49-F238E27FC236}">
                <a16:creationId xmlns:a16="http://schemas.microsoft.com/office/drawing/2014/main" id="{1274756A-02B6-4112-8A80-5CF86539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75379"/>
            <a:ext cx="534054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по исходникам стандартных библиотек — не замеры</a:t>
            </a:r>
          </a:p>
        </p:txBody>
      </p:sp>
      <p:pic>
        <p:nvPicPr>
          <p:cNvPr id="27" name="hf-713">
            <a:extLst xmlns:a="http://schemas.openxmlformats.org/drawingml/2006/main">
              <a:ext uri="{FF2B5EF4-FFF2-40B4-BE49-F238E27FC236}">
                <a16:creationId xmlns:a16="http://schemas.microsoft.com/office/drawing/2014/main" id="{AF6A8C1A-D8DA-4DDE-A3F2-954BDC533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e260d281d4c0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8" name="hf-714">
            <a:extLst xmlns:a="http://schemas.openxmlformats.org/drawingml/2006/main">
              <a:ext uri="{FF2B5EF4-FFF2-40B4-BE49-F238E27FC236}">
                <a16:creationId xmlns:a16="http://schemas.microsoft.com/office/drawing/2014/main" id="{5E24AC3E-4E5E-4640-AECF-556BD6F4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658121636"/>
      </p:ext>
    </p:extLst>
  </p:cSld>
</p:sld>
</file>

<file path=ppt/slides/slide33.xml><?xml version="1.0" encoding="utf-8"?>
<p:sld xmlns:p="http://schemas.openxmlformats.org/presentationml/2006/main" show="0">
  <p:cSld name="alloc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15">
            <a:extLst xmlns:a="http://schemas.openxmlformats.org/drawingml/2006/main">
              <a:ext uri="{FF2B5EF4-FFF2-40B4-BE49-F238E27FC236}">
                <a16:creationId xmlns:a16="http://schemas.microsoft.com/office/drawing/2014/main" id="{D06F6073-7089-4549-BB75-13EB746F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97447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РАЗМЕР И ПАМЯТЬ</a:t>
            </a:r>
          </a:p>
        </p:txBody>
      </p:sp>
      <p:sp>
        <p:nvSpPr>
          <p:cNvPr id="3" name="hf-716">
            <a:extLst xmlns:a="http://schemas.openxmlformats.org/drawingml/2006/main">
              <a:ext uri="{FF2B5EF4-FFF2-40B4-BE49-F238E27FC236}">
                <a16:creationId xmlns:a16="http://schemas.microsoft.com/office/drawing/2014/main" id="{7E76B250-9142-4999-8C5D-E837581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77088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МИЛЛИОН ЭЛЕМЕНТОВ — МИЛЛИОН</a:t>
            </a:r>
          </a:p>
        </p:txBody>
      </p:sp>
      <p:sp>
        <p:nvSpPr>
          <p:cNvPr id="4" name="hf-717">
            <a:extLst xmlns:a="http://schemas.openxmlformats.org/drawingml/2006/main">
              <a:ext uri="{FF2B5EF4-FFF2-40B4-BE49-F238E27FC236}">
                <a16:creationId xmlns:a16="http://schemas.microsoft.com/office/drawing/2014/main" id="{83801DA9-9EB4-4B70-A17C-46A6C3C9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34932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ВЫЗОВОВ new</a:t>
            </a:r>
          </a:p>
        </p:txBody>
      </p:sp>
      <p:sp>
        <p:nvSpPr>
          <p:cNvPr id="5" name="hf-718">
            <a:extLst xmlns:a="http://schemas.openxmlformats.org/drawingml/2006/main">
              <a:ext uri="{FF2B5EF4-FFF2-40B4-BE49-F238E27FC236}">
                <a16:creationId xmlns:a16="http://schemas.microsoft.com/office/drawing/2014/main" id="{067851B0-CAA9-425D-BA8B-54344AFC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0482"/>
            <a:ext cx="560717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Сколько вызовов new: 0, 1 000 или 1 000 000?</a:t>
            </a:r>
          </a:p>
        </p:txBody>
      </p:sp>
      <p:sp>
        <p:nvSpPr>
          <p:cNvPr id="6" name="hf-719">
            <a:extLst xmlns:a="http://schemas.openxmlformats.org/drawingml/2006/main">
              <a:ext uri="{FF2B5EF4-FFF2-40B4-BE49-F238E27FC236}">
                <a16:creationId xmlns:a16="http://schemas.microsoft.com/office/drawing/2014/main" id="{618F5489-6A71-40C7-A8D4-C255C785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35931"/>
            <a:ext cx="148359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7" name="hf-720">
            <a:extLst xmlns:a="http://schemas.openxmlformats.org/drawingml/2006/main">
              <a:ext uri="{FF2B5EF4-FFF2-40B4-BE49-F238E27FC236}">
                <a16:creationId xmlns:a16="http://schemas.microsoft.com/office/drawing/2014/main" id="{EBF8FC6F-141C-4580-A247-27373404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90216"/>
            <a:ext cx="565026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0</a:t>
            </a:r>
          </a:p>
        </p:txBody>
      </p:sp>
      <p:sp>
        <p:nvSpPr>
          <p:cNvPr id="8" name="hf-721">
            <a:extLst xmlns:a="http://schemas.openxmlformats.org/drawingml/2006/main">
              <a:ext uri="{FF2B5EF4-FFF2-40B4-BE49-F238E27FC236}">
                <a16:creationId xmlns:a16="http://schemas.microsoft.com/office/drawing/2014/main" id="{FB49C1D4-1438-4863-9CEC-55BE4C38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21187"/>
            <a:ext cx="1591345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работает на месте</a:t>
            </a:r>
          </a:p>
        </p:txBody>
      </p:sp>
      <p:sp>
        <p:nvSpPr>
          <p:cNvPr id="9" name="hf-722">
            <a:extLst xmlns:a="http://schemas.openxmlformats.org/drawingml/2006/main">
              <a:ext uri="{FF2B5EF4-FFF2-40B4-BE49-F238E27FC236}">
                <a16:creationId xmlns:a16="http://schemas.microsoft.com/office/drawing/2014/main" id="{3D64D3E3-499B-4DE3-82DE-B32CFE61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5931"/>
            <a:ext cx="163331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0" name="hf-723">
            <a:extLst xmlns:a="http://schemas.openxmlformats.org/drawingml/2006/main">
              <a:ext uri="{FF2B5EF4-FFF2-40B4-BE49-F238E27FC236}">
                <a16:creationId xmlns:a16="http://schemas.microsoft.com/office/drawing/2014/main" id="{390C39EE-60F4-469E-BA2C-D47BB59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90216"/>
            <a:ext cx="80136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≈1</a:t>
            </a:r>
          </a:p>
        </p:txBody>
      </p:sp>
      <p:sp>
        <p:nvSpPr>
          <p:cNvPr id="11" name="hf-724">
            <a:extLst xmlns:a="http://schemas.openxmlformats.org/drawingml/2006/main">
              <a:ext uri="{FF2B5EF4-FFF2-40B4-BE49-F238E27FC236}">
                <a16:creationId xmlns:a16="http://schemas.microsoft.com/office/drawing/2014/main" id="{F15162B1-5719-4AA3-B226-EF99BFC2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865" y="2407158"/>
            <a:ext cx="1009129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30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 млн</a:t>
            </a:r>
          </a:p>
        </p:txBody>
      </p:sp>
      <p:sp>
        <p:nvSpPr>
          <p:cNvPr id="12" name="hf-725">
            <a:extLst xmlns:a="http://schemas.openxmlformats.org/drawingml/2006/main">
              <a:ext uri="{FF2B5EF4-FFF2-40B4-BE49-F238E27FC236}">
                <a16:creationId xmlns:a16="http://schemas.microsoft.com/office/drawing/2014/main" id="{2973DFC4-5BB9-4FF4-BEEC-22C20DE5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21187"/>
            <a:ext cx="1325017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≈42 МБ памяти</a:t>
            </a:r>
          </a:p>
        </p:txBody>
      </p:sp>
      <p:sp>
        <p:nvSpPr>
          <p:cNvPr id="13" name="hf-726">
            <a:extLst xmlns:a="http://schemas.openxmlformats.org/drawingml/2006/main">
              <a:ext uri="{FF2B5EF4-FFF2-40B4-BE49-F238E27FC236}">
                <a16:creationId xmlns:a16="http://schemas.microsoft.com/office/drawing/2014/main" id="{BB095498-980A-48C2-9AAD-75D2CECA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31629"/>
            <a:ext cx="1576908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+ миллион delete</a:t>
            </a:r>
          </a:p>
        </p:txBody>
      </p:sp>
      <p:sp>
        <p:nvSpPr>
          <p:cNvPr id="14" name="hf-727">
            <a:extLst xmlns:a="http://schemas.openxmlformats.org/drawingml/2006/main">
              <a:ext uri="{FF2B5EF4-FFF2-40B4-BE49-F238E27FC236}">
                <a16:creationId xmlns:a16="http://schemas.microsoft.com/office/drawing/2014/main" id="{E1050AE5-89DE-41D2-BA19-6CA56D1E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5931"/>
            <a:ext cx="1478756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flat_hash_set</a:t>
            </a:r>
          </a:p>
        </p:txBody>
      </p:sp>
      <p:sp>
        <p:nvSpPr>
          <p:cNvPr id="15" name="hf-728">
            <a:extLst xmlns:a="http://schemas.openxmlformats.org/drawingml/2006/main">
              <a:ext uri="{FF2B5EF4-FFF2-40B4-BE49-F238E27FC236}">
                <a16:creationId xmlns:a16="http://schemas.microsoft.com/office/drawing/2014/main" id="{878862D1-B8AB-47F6-9853-C66EAA58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0216"/>
            <a:ext cx="351234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16" name="hf-729">
            <a:extLst xmlns:a="http://schemas.openxmlformats.org/drawingml/2006/main">
              <a:ext uri="{FF2B5EF4-FFF2-40B4-BE49-F238E27FC236}">
                <a16:creationId xmlns:a16="http://schemas.microsoft.com/office/drawing/2014/main" id="{5D7ADB02-8335-4BF6-ADC8-1D11B2FB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1187"/>
            <a:ext cx="1783854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одна таблица на всё</a:t>
            </a:r>
          </a:p>
        </p:txBody>
      </p:sp>
      <p:pic>
        <p:nvPicPr>
          <p:cNvPr id="17" name="hf-730">
            <a:extLst xmlns:a="http://schemas.openxmlformats.org/drawingml/2006/main">
              <a:ext uri="{FF2B5EF4-FFF2-40B4-BE49-F238E27FC236}">
                <a16:creationId xmlns:a16="http://schemas.microsoft.com/office/drawing/2014/main" id="{88062913-F71A-4E9B-82EC-AF5FB84786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3ad1d7f9845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8" name="hf-731">
            <a:extLst xmlns:a="http://schemas.openxmlformats.org/drawingml/2006/main">
              <a:ext uri="{FF2B5EF4-FFF2-40B4-BE49-F238E27FC236}">
                <a16:creationId xmlns:a16="http://schemas.microsoft.com/office/drawing/2014/main" id="{AA8536BD-31FE-4D45-A14E-F781C55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225470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4.xml><?xml version="1.0" encoding="utf-8"?>
<p:sld xmlns:p="http://schemas.openxmlformats.org/presentationml/2006/main" show="0">
  <p:cSld name="decision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32">
            <a:extLst xmlns:a="http://schemas.openxmlformats.org/drawingml/2006/main">
              <a:ext uri="{FF2B5EF4-FFF2-40B4-BE49-F238E27FC236}">
                <a16:creationId xmlns:a16="http://schemas.microsoft.com/office/drawing/2014/main" id="{ED37606F-39F0-4CB7-98E8-41CDC39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37135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ПОСЛЕ ЧЕТЫРЁХ РАУНДОВ</a:t>
            </a:r>
          </a:p>
        </p:txBody>
      </p:sp>
      <p:sp>
        <p:nvSpPr>
          <p:cNvPr id="3" name="hf-733">
            <a:extLst xmlns:a="http://schemas.openxmlformats.org/drawingml/2006/main">
              <a:ext uri="{FF2B5EF4-FFF2-40B4-BE49-F238E27FC236}">
                <a16:creationId xmlns:a16="http://schemas.microsoft.com/office/drawing/2014/main" id="{6A86F342-E217-4F42-9632-D9AEA73C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304502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ПРАВИЛО ВЫБОРА</a:t>
            </a:r>
          </a:p>
        </p:txBody>
      </p:sp>
      <p:sp>
        <p:nvSpPr>
          <p:cNvPr id="4" name="hf-734">
            <a:extLst xmlns:a="http://schemas.openxmlformats.org/drawingml/2006/main">
              <a:ext uri="{FF2B5EF4-FFF2-40B4-BE49-F238E27FC236}">
                <a16:creationId xmlns:a16="http://schemas.microsoft.com/office/drawing/2014/main" id="{CE50482F-3A68-449E-9394-12537735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83221"/>
            <a:ext cx="2113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5" name="hf-735">
            <a:extLst xmlns:a="http://schemas.openxmlformats.org/drawingml/2006/main">
              <a:ext uri="{FF2B5EF4-FFF2-40B4-BE49-F238E27FC236}">
                <a16:creationId xmlns:a16="http://schemas.microsoft.com/office/drawing/2014/main" id="{6286A07D-3FD5-4E48-B37E-35FD63C2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57817"/>
            <a:ext cx="548550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Мало уникальных или нужен порядок появления</a:t>
            </a:r>
          </a:p>
        </p:txBody>
      </p:sp>
      <p:sp>
        <p:nvSpPr>
          <p:cNvPr id="6" name="hf-736">
            <a:extLst xmlns:a="http://schemas.openxmlformats.org/drawingml/2006/main">
              <a:ext uri="{FF2B5EF4-FFF2-40B4-BE49-F238E27FC236}">
                <a16:creationId xmlns:a16="http://schemas.microsoft.com/office/drawing/2014/main" id="{411F264E-3AFE-4DF9-B6A8-D5FB43EA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95942"/>
            <a:ext cx="334595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хеш-таблица, лучше плоская</a:t>
            </a:r>
          </a:p>
        </p:txBody>
      </p:sp>
      <p:sp>
        <p:nvSpPr>
          <p:cNvPr id="7" name="hf-737">
            <a:extLst xmlns:a="http://schemas.openxmlformats.org/drawingml/2006/main">
              <a:ext uri="{FF2B5EF4-FFF2-40B4-BE49-F238E27FC236}">
                <a16:creationId xmlns:a16="http://schemas.microsoft.com/office/drawing/2014/main" id="{6467B73E-C9A2-40C8-9078-89A91BCE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35671"/>
            <a:ext cx="28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8" name="hf-738">
            <a:extLst xmlns:a="http://schemas.openxmlformats.org/drawingml/2006/main">
              <a:ext uri="{FF2B5EF4-FFF2-40B4-BE49-F238E27FC236}">
                <a16:creationId xmlns:a16="http://schemas.microsoft.com/office/drawing/2014/main" id="{73D4B4B5-81B3-4A11-A1C1-4E6A771F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10267"/>
            <a:ext cx="353310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Часть входа уже отсортирована</a:t>
            </a:r>
          </a:p>
        </p:txBody>
      </p:sp>
      <p:sp>
        <p:nvSpPr>
          <p:cNvPr id="9" name="hf-739">
            <a:extLst xmlns:a="http://schemas.openxmlformats.org/drawingml/2006/main">
              <a:ext uri="{FF2B5EF4-FFF2-40B4-BE49-F238E27FC236}">
                <a16:creationId xmlns:a16="http://schemas.microsoft.com/office/drawing/2014/main" id="{FFCEEDBD-F3F0-4946-9B6B-D501E86B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8392"/>
            <a:ext cx="549041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отсортировать остальное, убрать повторы, слить</a:t>
            </a:r>
          </a:p>
        </p:txBody>
      </p:sp>
      <p:sp>
        <p:nvSpPr>
          <p:cNvPr id="10" name="hf-740">
            <a:extLst xmlns:a="http://schemas.openxmlformats.org/drawingml/2006/main">
              <a:ext uri="{FF2B5EF4-FFF2-40B4-BE49-F238E27FC236}">
                <a16:creationId xmlns:a16="http://schemas.microsoft.com/office/drawing/2014/main" id="{150FF9B0-CC47-4298-B22C-1485F05E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88121"/>
            <a:ext cx="2867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1" name="hf-741">
            <a:extLst xmlns:a="http://schemas.openxmlformats.org/drawingml/2006/main">
              <a:ext uri="{FF2B5EF4-FFF2-40B4-BE49-F238E27FC236}">
                <a16:creationId xmlns:a16="http://schemas.microsoft.com/office/drawing/2014/main" id="{6C45BB8F-1E6D-49E1-B1A6-8119DC1F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2717"/>
            <a:ext cx="516597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Целые ключи, почти все разные, больше кэша</a:t>
            </a:r>
          </a:p>
        </p:txBody>
      </p:sp>
      <p:sp>
        <p:nvSpPr>
          <p:cNvPr id="12" name="hf-742">
            <a:extLst xmlns:a="http://schemas.openxmlformats.org/drawingml/2006/main">
              <a:ext uri="{FF2B5EF4-FFF2-40B4-BE49-F238E27FC236}">
                <a16:creationId xmlns:a16="http://schemas.microsoft.com/office/drawing/2014/main" id="{9F8F7958-7188-4E39-AE6F-310CB763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0842"/>
            <a:ext cx="458502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radix или плоская; узловая — последней</a:t>
            </a:r>
          </a:p>
        </p:txBody>
      </p:sp>
      <p:sp>
        <p:nvSpPr>
          <p:cNvPr id="13" name="hf-743">
            <a:extLst xmlns:a="http://schemas.openxmlformats.org/drawingml/2006/main">
              <a:ext uri="{FF2B5EF4-FFF2-40B4-BE49-F238E27FC236}">
                <a16:creationId xmlns:a16="http://schemas.microsoft.com/office/drawing/2014/main" id="{AC470D7D-4562-4D3F-88FD-C385103B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40571"/>
            <a:ext cx="3239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14" name="hf-744">
            <a:extLst xmlns:a="http://schemas.openxmlformats.org/drawingml/2006/main">
              <a:ext uri="{FF2B5EF4-FFF2-40B4-BE49-F238E27FC236}">
                <a16:creationId xmlns:a16="http://schemas.microsoft.com/office/drawing/2014/main" id="{E22D8B4A-385D-4784-85A2-2B6E9AC9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5167"/>
            <a:ext cx="33542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Код живёт не там, где мерили</a:t>
            </a:r>
          </a:p>
        </p:txBody>
      </p:sp>
      <p:sp>
        <p:nvSpPr>
          <p:cNvPr id="15" name="hf-745">
            <a:extLst xmlns:a="http://schemas.openxmlformats.org/drawingml/2006/main">
              <a:ext uri="{FF2B5EF4-FFF2-40B4-BE49-F238E27FC236}">
                <a16:creationId xmlns:a16="http://schemas.microsoft.com/office/drawing/2014/main" id="{6597E048-BE9C-46EB-8219-BF8BB345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3292"/>
            <a:ext cx="212921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цена шага другая</a:t>
            </a:r>
          </a:p>
        </p:txBody>
      </p:sp>
      <p:sp>
        <p:nvSpPr>
          <p:cNvPr id="16" name="hf-746">
            <a:extLst xmlns:a="http://schemas.openxmlformats.org/drawingml/2006/main">
              <a:ext uri="{FF2B5EF4-FFF2-40B4-BE49-F238E27FC236}">
                <a16:creationId xmlns:a16="http://schemas.microsoft.com/office/drawing/2014/main" id="{18536628-13F2-4F81-BA67-3D510BC9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93021"/>
            <a:ext cx="288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17" name="hf-747">
            <a:extLst xmlns:a="http://schemas.openxmlformats.org/drawingml/2006/main">
              <a:ext uri="{FF2B5EF4-FFF2-40B4-BE49-F238E27FC236}">
                <a16:creationId xmlns:a16="http://schemas.microsoft.com/office/drawing/2014/main" id="{F649356D-697C-467B-8EC9-98C90E55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7617"/>
            <a:ext cx="160072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Сомневаетесь</a:t>
            </a:r>
          </a:p>
        </p:txBody>
      </p:sp>
      <p:sp>
        <p:nvSpPr>
          <p:cNvPr id="18" name="hf-748">
            <a:extLst xmlns:a="http://schemas.openxmlformats.org/drawingml/2006/main">
              <a:ext uri="{FF2B5EF4-FFF2-40B4-BE49-F238E27FC236}">
                <a16:creationId xmlns:a16="http://schemas.microsoft.com/office/drawing/2014/main" id="{565B110F-6D0B-4DFE-B807-45325CA1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5742"/>
            <a:ext cx="114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меряйте</a:t>
            </a:r>
          </a:p>
        </p:txBody>
      </p:sp>
      <p:sp>
        <p:nvSpPr>
          <p:cNvPr id="19" name="hf-749">
            <a:extLst xmlns:a="http://schemas.openxmlformats.org/drawingml/2006/main">
              <a:ext uri="{FF2B5EF4-FFF2-40B4-BE49-F238E27FC236}">
                <a16:creationId xmlns:a16="http://schemas.microsoft.com/office/drawing/2014/main" id="{BB86ACC8-AE4F-4311-9934-D5935DD1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54024"/>
            <a:ext cx="4574679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42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Big-O считает шаги, а не их цену</a:t>
            </a:r>
          </a:p>
        </p:txBody>
      </p:sp>
      <p:pic>
        <p:nvPicPr>
          <p:cNvPr id="20" name="hf-750">
            <a:extLst xmlns:a="http://schemas.openxmlformats.org/drawingml/2006/main">
              <a:ext uri="{FF2B5EF4-FFF2-40B4-BE49-F238E27FC236}">
                <a16:creationId xmlns:a16="http://schemas.microsoft.com/office/drawing/2014/main" id="{D0320757-D6D9-4385-83C8-11A51C4D7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dfb9570ee469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1" name="hf-751">
            <a:extLst xmlns:a="http://schemas.openxmlformats.org/drawingml/2006/main">
              <a:ext uri="{FF2B5EF4-FFF2-40B4-BE49-F238E27FC236}">
                <a16:creationId xmlns:a16="http://schemas.microsoft.com/office/drawing/2014/main" id="{0552F9FE-74B2-41FF-88CE-1B7BD049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73593781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p="http://schemas.openxmlformats.org/presentationml/2006/main" show="0">
  <p:cSld name="share-full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52">
            <a:extLst xmlns:a="http://schemas.openxmlformats.org/drawingml/2006/main">
              <a:ext uri="{FF2B5EF4-FFF2-40B4-BE49-F238E27FC236}">
                <a16:creationId xmlns:a16="http://schemas.microsoft.com/office/drawing/2014/main" id="{76965499-E3D4-4595-9FA6-9D6677F1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89225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ДАННЫЕ И ТИКЕТ</a:t>
            </a:r>
          </a:p>
        </p:txBody>
      </p:sp>
      <p:sp>
        <p:nvSpPr>
          <p:cNvPr id="3" name="hf-753">
            <a:extLst xmlns:a="http://schemas.openxmlformats.org/drawingml/2006/main">
              <a:ext uri="{FF2B5EF4-FFF2-40B4-BE49-F238E27FC236}">
                <a16:creationId xmlns:a16="http://schemas.microsoft.com/office/drawing/2014/main" id="{F1780781-C4E8-408C-ADAB-6625E80E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76299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ПОБЕДИТЕЛЯ НАЗНАЧАЮТ ДАННЫЕ</a:t>
            </a:r>
          </a:p>
        </p:txBody>
      </p:sp>
      <p:sp>
        <p:nvSpPr>
          <p:cNvPr id="4" name="hf-754">
            <a:extLst xmlns:a="http://schemas.openxmlformats.org/drawingml/2006/main">
              <a:ext uri="{FF2B5EF4-FFF2-40B4-BE49-F238E27FC236}">
                <a16:creationId xmlns:a16="http://schemas.microsoft.com/office/drawing/2014/main" id="{ED292175-F358-4805-B02C-E5D409F5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34338"/>
            <a:ext cx="348503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элемент, лог. шкала · ниже — лучше</a:t>
            </a:r>
          </a:p>
        </p:txBody>
      </p:sp>
      <p:sp>
        <p:nvSpPr>
          <p:cNvPr id="5" name="hf-755">
            <a:extLst xmlns:a="http://schemas.openxmlformats.org/drawingml/2006/main">
              <a:ext uri="{FF2B5EF4-FFF2-40B4-BE49-F238E27FC236}">
                <a16:creationId xmlns:a16="http://schemas.microsoft.com/office/drawing/2014/main" id="{50475EC2-46D5-4266-8323-1608326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4105"/>
            <a:ext cx="5625703" cy="953"/>
          </a:xfrm>
          <a:custGeom xmlns:a="http://schemas.openxmlformats.org/drawingml/2006/main">
            <a:pathLst>
              <a:path w="5625703" h="476">
                <a:moveTo>
                  <a:pt x="0" y="0"/>
                </a:move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6" name="hf-756">
            <a:extLst xmlns:a="http://schemas.openxmlformats.org/drawingml/2006/main">
              <a:ext uri="{FF2B5EF4-FFF2-40B4-BE49-F238E27FC236}">
                <a16:creationId xmlns:a16="http://schemas.microsoft.com/office/drawing/2014/main" id="{CD31192C-DD1C-44FA-866A-87AD2C6C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0648"/>
            <a:ext cx="5625703" cy="953"/>
          </a:xfrm>
          <a:custGeom xmlns:a="http://schemas.openxmlformats.org/drawingml/2006/main">
            <a:pathLst>
              <a:path w="5625703" h="476">
                <a:moveTo>
                  <a:pt x="0" y="0"/>
                </a:move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7" name="hf-757">
            <a:extLst xmlns:a="http://schemas.openxmlformats.org/drawingml/2006/main">
              <a:ext uri="{FF2B5EF4-FFF2-40B4-BE49-F238E27FC236}">
                <a16:creationId xmlns:a16="http://schemas.microsoft.com/office/drawing/2014/main" id="{EE24831A-9D49-4A57-BA10-C8ED2F6E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1840"/>
            <a:ext cx="5625703" cy="953"/>
          </a:xfrm>
          <a:custGeom xmlns:a="http://schemas.openxmlformats.org/drawingml/2006/main">
            <a:pathLst>
              <a:path w="5625703" h="476">
                <a:moveTo>
                  <a:pt x="0" y="0"/>
                </a:move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8" name="hf-758">
            <a:extLst xmlns:a="http://schemas.openxmlformats.org/drawingml/2006/main">
              <a:ext uri="{FF2B5EF4-FFF2-40B4-BE49-F238E27FC236}">
                <a16:creationId xmlns:a16="http://schemas.microsoft.com/office/drawing/2014/main" id="{CEFFE8D1-CB4F-47DA-8776-40EDBC19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2914"/>
            <a:ext cx="5625703" cy="953"/>
          </a:xfrm>
          <a:custGeom xmlns:a="http://schemas.openxmlformats.org/drawingml/2006/main">
            <a:pathLst>
              <a:path w="5625703" h="476">
                <a:moveTo>
                  <a:pt x="0" y="0"/>
                </a:move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8F8F8F"/>
            </a:solidFill>
          </a:ln>
        </p:spPr>
      </p:sp>
      <p:sp>
        <p:nvSpPr>
          <p:cNvPr id="9" name="hf-759">
            <a:extLst xmlns:a="http://schemas.openxmlformats.org/drawingml/2006/main">
              <a:ext uri="{FF2B5EF4-FFF2-40B4-BE49-F238E27FC236}">
                <a16:creationId xmlns:a16="http://schemas.microsoft.com/office/drawing/2014/main" id="{92672A3B-FD2E-4976-863C-6368C2A5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07" y="3210763"/>
            <a:ext cx="1151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10" name="hf-760">
            <a:extLst xmlns:a="http://schemas.openxmlformats.org/drawingml/2006/main">
              <a:ext uri="{FF2B5EF4-FFF2-40B4-BE49-F238E27FC236}">
                <a16:creationId xmlns:a16="http://schemas.microsoft.com/office/drawing/2014/main" id="{BD4E6BA2-0607-424C-9B97-F2E13D5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48" y="2739276"/>
            <a:ext cx="14585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1" name="hf-761">
            <a:extLst xmlns:a="http://schemas.openxmlformats.org/drawingml/2006/main">
              <a:ext uri="{FF2B5EF4-FFF2-40B4-BE49-F238E27FC236}">
                <a16:creationId xmlns:a16="http://schemas.microsoft.com/office/drawing/2014/main" id="{C0CC5E91-E48C-47EE-934C-DAFE400A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64" y="2224926"/>
            <a:ext cx="21773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10</a:t>
            </a:r>
          </a:p>
        </p:txBody>
      </p:sp>
      <p:sp>
        <p:nvSpPr>
          <p:cNvPr id="12" name="hf-762">
            <a:extLst xmlns:a="http://schemas.openxmlformats.org/drawingml/2006/main">
              <a:ext uri="{FF2B5EF4-FFF2-40B4-BE49-F238E27FC236}">
                <a16:creationId xmlns:a16="http://schemas.microsoft.com/office/drawing/2014/main" id="{687C6642-A9BA-47BA-9B56-7634635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06" y="1758201"/>
            <a:ext cx="24839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30</a:t>
            </a:r>
          </a:p>
        </p:txBody>
      </p:sp>
      <p:sp>
        <p:nvSpPr>
          <p:cNvPr id="13" name="hf-763">
            <a:extLst xmlns:a="http://schemas.openxmlformats.org/drawingml/2006/main">
              <a:ext uri="{FF2B5EF4-FFF2-40B4-BE49-F238E27FC236}">
                <a16:creationId xmlns:a16="http://schemas.microsoft.com/office/drawing/2014/main" id="{14F7052C-8DF7-472C-BE3E-56DCFE9E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52" y="3401263"/>
            <a:ext cx="89907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все равны</a:t>
            </a:r>
          </a:p>
        </p:txBody>
      </p:sp>
      <p:sp>
        <p:nvSpPr>
          <p:cNvPr id="14" name="hf-764">
            <a:extLst xmlns:a="http://schemas.openxmlformats.org/drawingml/2006/main">
              <a:ext uri="{FF2B5EF4-FFF2-40B4-BE49-F238E27FC236}">
                <a16:creationId xmlns:a16="http://schemas.microsoft.com/office/drawing/2014/main" id="{FCCAB414-077B-407A-8FE3-F3F4A8F5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132" y="3401263"/>
            <a:ext cx="24616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1%</a:t>
            </a:r>
          </a:p>
        </p:txBody>
      </p:sp>
      <p:sp>
        <p:nvSpPr>
          <p:cNvPr id="15" name="hf-765">
            <a:extLst xmlns:a="http://schemas.openxmlformats.org/drawingml/2006/main">
              <a:ext uri="{FF2B5EF4-FFF2-40B4-BE49-F238E27FC236}">
                <a16:creationId xmlns:a16="http://schemas.microsoft.com/office/drawing/2014/main" id="{58665A5D-3799-4F61-9637-68914D9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123" y="3401263"/>
            <a:ext cx="34870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10%</a:t>
            </a:r>
          </a:p>
        </p:txBody>
      </p:sp>
      <p:sp>
        <p:nvSpPr>
          <p:cNvPr id="16" name="hf-766">
            <a:extLst xmlns:a="http://schemas.openxmlformats.org/drawingml/2006/main">
              <a:ext uri="{FF2B5EF4-FFF2-40B4-BE49-F238E27FC236}">
                <a16:creationId xmlns:a16="http://schemas.microsoft.com/office/drawing/2014/main" id="{3C728A22-374A-449D-A184-45898122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833" y="3401263"/>
            <a:ext cx="3797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50%</a:t>
            </a:r>
          </a:p>
        </p:txBody>
      </p:sp>
      <p:sp>
        <p:nvSpPr>
          <p:cNvPr id="17" name="hf-767">
            <a:extLst xmlns:a="http://schemas.openxmlformats.org/drawingml/2006/main">
              <a:ext uri="{FF2B5EF4-FFF2-40B4-BE49-F238E27FC236}">
                <a16:creationId xmlns:a16="http://schemas.microsoft.com/office/drawing/2014/main" id="{029489BB-5ECC-49F9-A8AB-CF36657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377" y="3401263"/>
            <a:ext cx="45124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100%</a:t>
            </a:r>
          </a:p>
        </p:txBody>
      </p:sp>
      <p:sp>
        <p:nvSpPr>
          <p:cNvPr id="18" name="hf-768">
            <a:extLst xmlns:a="http://schemas.openxmlformats.org/drawingml/2006/main">
              <a:ext uri="{FF2B5EF4-FFF2-40B4-BE49-F238E27FC236}">
                <a16:creationId xmlns:a16="http://schemas.microsoft.com/office/drawing/2014/main" id="{F5FC88E9-B290-4D50-B705-B889AA1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1263"/>
            <a:ext cx="14865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доля уникальных</a:t>
            </a:r>
          </a:p>
        </p:txBody>
      </p:sp>
      <p:sp>
        <p:nvSpPr>
          <p:cNvPr id="19" name="hf-769">
            <a:extLst xmlns:a="http://schemas.openxmlformats.org/drawingml/2006/main">
              <a:ext uri="{FF2B5EF4-FFF2-40B4-BE49-F238E27FC236}">
                <a16:creationId xmlns:a16="http://schemas.microsoft.com/office/drawing/2014/main" id="{50E8A41C-2ACE-485B-923E-48E67FB0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2027932"/>
            <a:ext cx="5357813" cy="1207294"/>
          </a:xfrm>
          <a:custGeom xmlns:a="http://schemas.openxmlformats.org/drawingml/2006/main">
            <a:pathLst>
              <a:path w="5357813" h="1207294">
                <a:moveTo>
                  <a:pt x="0" y="1207294"/>
                </a:moveTo>
                <a:lnTo>
                  <a:pt x="1339453" y="225028"/>
                </a:lnTo>
                <a:lnTo>
                  <a:pt x="2678906" y="57150"/>
                </a:lnTo>
                <a:lnTo>
                  <a:pt x="4018359" y="0"/>
                </a:lnTo>
                <a:lnTo>
                  <a:pt x="5357813" y="12055"/>
                </a:lnTo>
              </a:path>
            </a:pathLst>
          </a:custGeom>
          <a:noFill xmlns:a="http://schemas.openxmlformats.org/drawingml/2006/main"/>
          <a:ln xmlns:a="http://schemas.openxmlformats.org/drawingml/2006/main" w="35719">
            <a:solidFill>
              <a:srgbClr val="46CDAE"/>
            </a:solidFill>
          </a:ln>
        </p:spPr>
      </p:sp>
      <p:sp>
        <p:nvSpPr>
          <p:cNvPr id="20" name="hf-770">
            <a:extLst xmlns:a="http://schemas.openxmlformats.org/drawingml/2006/main">
              <a:ext uri="{FF2B5EF4-FFF2-40B4-BE49-F238E27FC236}">
                <a16:creationId xmlns:a16="http://schemas.microsoft.com/office/drawing/2014/main" id="{18EEEDA7-0B40-446E-A44A-ABE8EE25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1630561"/>
            <a:ext cx="5357813" cy="1387673"/>
          </a:xfrm>
          <a:custGeom xmlns:a="http://schemas.openxmlformats.org/drawingml/2006/main">
            <a:pathLst>
              <a:path w="5357813" h="1387673">
                <a:moveTo>
                  <a:pt x="0" y="1387673"/>
                </a:moveTo>
                <a:lnTo>
                  <a:pt x="1339453" y="1183184"/>
                </a:lnTo>
                <a:lnTo>
                  <a:pt x="2678906" y="884039"/>
                </a:lnTo>
                <a:lnTo>
                  <a:pt x="4018359" y="343793"/>
                </a:lnTo>
                <a:lnTo>
                  <a:pt x="5357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9">
            <a:solidFill>
              <a:srgbClr val="E2489B"/>
            </a:solidFill>
          </a:ln>
        </p:spPr>
      </p:sp>
      <p:sp>
        <p:nvSpPr>
          <p:cNvPr id="21" name="hf-771">
            <a:extLst xmlns:a="http://schemas.openxmlformats.org/drawingml/2006/main">
              <a:ext uri="{FF2B5EF4-FFF2-40B4-BE49-F238E27FC236}">
                <a16:creationId xmlns:a16="http://schemas.microsoft.com/office/drawing/2014/main" id="{A01F769A-E45E-4A48-94BC-CD23E144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447" y="2303859"/>
            <a:ext cx="953" cy="455414"/>
          </a:xfrm>
          <a:custGeom xmlns:a="http://schemas.openxmlformats.org/drawingml/2006/main">
            <a:pathLst>
              <a:path w="476" h="455414">
                <a:moveTo>
                  <a:pt x="0" y="0"/>
                </a:moveTo>
                <a:lnTo>
                  <a:pt x="0" y="455414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FFFFFF"/>
            </a:solidFill>
            <a:custDash>
              <a:ds d="213333" sp="213333"/>
            </a:custDash>
          </a:ln>
        </p:spPr>
      </p:sp>
      <p:sp>
        <p:nvSpPr>
          <p:cNvPr id="22" name="hf-772">
            <a:extLst xmlns:a="http://schemas.openxmlformats.org/drawingml/2006/main">
              <a:ext uri="{FF2B5EF4-FFF2-40B4-BE49-F238E27FC236}">
                <a16:creationId xmlns:a16="http://schemas.microsoft.com/office/drawing/2014/main" id="{42803C90-41F6-4C04-9017-CCB94BFE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334" y="2203847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23" name="hf-773">
            <a:extLst xmlns:a="http://schemas.openxmlformats.org/drawingml/2006/main">
              <a:ext uri="{FF2B5EF4-FFF2-40B4-BE49-F238E27FC236}">
                <a16:creationId xmlns:a16="http://schemas.microsoft.com/office/drawing/2014/main" id="{DA0E23F4-D18A-4F70-8EEB-93F08635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334" y="2764631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24" name="hf-774">
            <a:extLst xmlns:a="http://schemas.openxmlformats.org/drawingml/2006/main">
              <a:ext uri="{FF2B5EF4-FFF2-40B4-BE49-F238E27FC236}">
                <a16:creationId xmlns:a16="http://schemas.microsoft.com/office/drawing/2014/main" id="{F107FE09-776A-4EA3-BB82-13B95B30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8515"/>
            <a:ext cx="134674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25" name="hf-775">
            <a:extLst xmlns:a="http://schemas.openxmlformats.org/drawingml/2006/main">
              <a:ext uri="{FF2B5EF4-FFF2-40B4-BE49-F238E27FC236}">
                <a16:creationId xmlns:a16="http://schemas.microsoft.com/office/drawing/2014/main" id="{90B0D643-16C9-4AF6-81E3-7E967EF7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99990"/>
            <a:ext cx="12242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26" name="hf-776">
            <a:extLst xmlns:a="http://schemas.openxmlformats.org/drawingml/2006/main">
              <a:ext uri="{FF2B5EF4-FFF2-40B4-BE49-F238E27FC236}">
                <a16:creationId xmlns:a16="http://schemas.microsoft.com/office/drawing/2014/main" id="{597AB034-E84B-4DD9-9C12-2C5D96F9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37147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27" name="hf-777">
            <a:extLst xmlns:a="http://schemas.openxmlformats.org/drawingml/2006/main">
              <a:ext uri="{FF2B5EF4-FFF2-40B4-BE49-F238E27FC236}">
                <a16:creationId xmlns:a16="http://schemas.microsoft.com/office/drawing/2014/main" id="{47E1A180-79D2-4ADD-9CB3-241FCB4F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01" y="3659943"/>
            <a:ext cx="10065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 ×3,7</a:t>
            </a:r>
          </a:p>
        </p:txBody>
      </p:sp>
      <p:sp>
        <p:nvSpPr>
          <p:cNvPr id="28" name="hf-778">
            <a:extLst xmlns:a="http://schemas.openxmlformats.org/drawingml/2006/main">
              <a:ext uri="{FF2B5EF4-FFF2-40B4-BE49-F238E27FC236}">
                <a16:creationId xmlns:a16="http://schemas.microsoft.com/office/drawing/2014/main" id="{1878DD91-8F77-4C00-8A3B-EBE6F53F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240" y="1978819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29" name="hf-779">
            <a:extLst xmlns:a="http://schemas.openxmlformats.org/drawingml/2006/main">
              <a:ext uri="{FF2B5EF4-FFF2-40B4-BE49-F238E27FC236}">
                <a16:creationId xmlns:a16="http://schemas.microsoft.com/office/drawing/2014/main" id="{00ED8A2D-3800-4B9A-8C8F-C4AD95E4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240" y="1925241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30" name="hf-780">
            <a:extLst xmlns:a="http://schemas.openxmlformats.org/drawingml/2006/main">
              <a:ext uri="{FF2B5EF4-FFF2-40B4-BE49-F238E27FC236}">
                <a16:creationId xmlns:a16="http://schemas.microsoft.com/office/drawing/2014/main" id="{0131B5C1-4DBE-4234-8AE6-5C6A45D3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806" y="1687711"/>
            <a:ext cx="953" cy="294680"/>
          </a:xfrm>
          <a:custGeom xmlns:a="http://schemas.openxmlformats.org/drawingml/2006/main">
            <a:pathLst>
              <a:path w="476" h="294680">
                <a:moveTo>
                  <a:pt x="0" y="0"/>
                </a:moveTo>
                <a:lnTo>
                  <a:pt x="0" y="294680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FFFFFF"/>
            </a:solidFill>
            <a:custDash>
              <a:ds d="213333" sp="213333"/>
            </a:custDash>
          </a:ln>
        </p:spPr>
      </p:sp>
      <p:sp>
        <p:nvSpPr>
          <p:cNvPr id="31" name="hf-781">
            <a:extLst xmlns:a="http://schemas.openxmlformats.org/drawingml/2006/main">
              <a:ext uri="{FF2B5EF4-FFF2-40B4-BE49-F238E27FC236}">
                <a16:creationId xmlns:a16="http://schemas.microsoft.com/office/drawing/2014/main" id="{77F97351-D12A-4D71-9BD2-C68810B9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693" y="1990874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32" name="hf-782">
            <a:extLst xmlns:a="http://schemas.openxmlformats.org/drawingml/2006/main">
              <a:ext uri="{FF2B5EF4-FFF2-40B4-BE49-F238E27FC236}">
                <a16:creationId xmlns:a16="http://schemas.microsoft.com/office/drawing/2014/main" id="{EAC29B0A-9F75-4D1C-8F98-079AC056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693" y="1581448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33" name="hf-783">
            <a:extLst xmlns:a="http://schemas.openxmlformats.org/drawingml/2006/main">
              <a:ext uri="{FF2B5EF4-FFF2-40B4-BE49-F238E27FC236}">
                <a16:creationId xmlns:a16="http://schemas.microsoft.com/office/drawing/2014/main" id="{13938EA6-DCCB-4CC2-B797-9B49D80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858" y="3671640"/>
            <a:ext cx="121175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почти ничья</a:t>
            </a:r>
          </a:p>
        </p:txBody>
      </p:sp>
      <p:sp>
        <p:nvSpPr>
          <p:cNvPr id="34" name="hf-784">
            <a:extLst xmlns:a="http://schemas.openxmlformats.org/drawingml/2006/main">
              <a:ext uri="{FF2B5EF4-FFF2-40B4-BE49-F238E27FC236}">
                <a16:creationId xmlns:a16="http://schemas.microsoft.com/office/drawing/2014/main" id="{7F94B77B-5FB9-4D58-BC77-631EA447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905" y="3881190"/>
            <a:ext cx="12235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20 против 23</a:t>
            </a:r>
          </a:p>
        </p:txBody>
      </p:sp>
      <p:sp>
        <p:nvSpPr>
          <p:cNvPr id="35" name="hf-785">
            <a:extLst xmlns:a="http://schemas.openxmlformats.org/drawingml/2006/main">
              <a:ext uri="{FF2B5EF4-FFF2-40B4-BE49-F238E27FC236}">
                <a16:creationId xmlns:a16="http://schemas.microsoft.com/office/drawing/2014/main" id="{EAC52369-40C7-48EF-995B-1D9B2126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36" name="hf-786">
            <a:extLst xmlns:a="http://schemas.openxmlformats.org/drawingml/2006/main">
              <a:ext uri="{FF2B5EF4-FFF2-40B4-BE49-F238E27FC236}">
                <a16:creationId xmlns:a16="http://schemas.microsoft.com/office/drawing/2014/main" id="{F3A28B9C-AB19-43B6-A737-960E94B7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560" y="3659943"/>
            <a:ext cx="986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sort ×2,6</a:t>
            </a:r>
          </a:p>
        </p:txBody>
      </p:sp>
      <p:sp>
        <p:nvSpPr>
          <p:cNvPr id="37" name="hf-787">
            <a:extLst xmlns:a="http://schemas.openxmlformats.org/drawingml/2006/main">
              <a:ext uri="{FF2B5EF4-FFF2-40B4-BE49-F238E27FC236}">
                <a16:creationId xmlns:a16="http://schemas.microsoft.com/office/drawing/2014/main" id="{E032FF4A-17A4-47AA-98B6-A284C481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2150715"/>
            <a:ext cx="5357813" cy="773311"/>
          </a:xfrm>
          <a:custGeom xmlns:a="http://schemas.openxmlformats.org/drawingml/2006/main">
            <a:pathLst>
              <a:path w="5357813" h="773311">
                <a:moveTo>
                  <a:pt x="0" y="773311"/>
                </a:moveTo>
                <a:lnTo>
                  <a:pt x="1339453" y="0"/>
                </a:lnTo>
                <a:lnTo>
                  <a:pt x="2678906" y="36612"/>
                </a:lnTo>
                <a:lnTo>
                  <a:pt x="4018359" y="175915"/>
                </a:lnTo>
                <a:lnTo>
                  <a:pt x="5357813" y="339775"/>
                </a:lnTo>
              </a:path>
            </a:pathLst>
          </a:custGeom>
          <a:noFill xmlns:a="http://schemas.openxmlformats.org/drawingml/2006/main"/>
          <a:ln xmlns:a="http://schemas.openxmlformats.org/drawingml/2006/main" w="17859">
            <a:solidFill>
              <a:srgbClr val="9B87F5"/>
            </a:solidFill>
          </a:ln>
        </p:spPr>
      </p:sp>
      <p:sp>
        <p:nvSpPr>
          <p:cNvPr id="38" name="hf-788">
            <a:extLst xmlns:a="http://schemas.openxmlformats.org/drawingml/2006/main">
              <a:ext uri="{FF2B5EF4-FFF2-40B4-BE49-F238E27FC236}">
                <a16:creationId xmlns:a16="http://schemas.microsoft.com/office/drawing/2014/main" id="{03A212E9-69EB-4662-B0A7-5F27AF40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2260997"/>
            <a:ext cx="5357813" cy="601861"/>
          </a:xfrm>
          <a:custGeom xmlns:a="http://schemas.openxmlformats.org/drawingml/2006/main">
            <a:pathLst>
              <a:path w="5357813" h="601861">
                <a:moveTo>
                  <a:pt x="0" y="601861"/>
                </a:moveTo>
                <a:lnTo>
                  <a:pt x="1339453" y="507653"/>
                </a:lnTo>
                <a:lnTo>
                  <a:pt x="2678906" y="319236"/>
                </a:lnTo>
                <a:lnTo>
                  <a:pt x="4018359" y="0"/>
                </a:lnTo>
                <a:lnTo>
                  <a:pt x="5357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9">
            <a:solidFill>
              <a:srgbClr val="FFFFFF"/>
            </a:solidFill>
          </a:ln>
        </p:spPr>
      </p:sp>
      <p:sp>
        <p:nvSpPr>
          <p:cNvPr id="39" name="hf-789">
            <a:extLst xmlns:a="http://schemas.openxmlformats.org/drawingml/2006/main">
              <a:ext uri="{FF2B5EF4-FFF2-40B4-BE49-F238E27FC236}">
                <a16:creationId xmlns:a16="http://schemas.microsoft.com/office/drawing/2014/main" id="{5BBFBAD8-2E65-4904-AB1A-30D422DE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7640"/>
            <a:ext cx="122031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flat_hash_set</a:t>
            </a:r>
          </a:p>
        </p:txBody>
      </p:sp>
      <p:sp>
        <p:nvSpPr>
          <p:cNvPr id="40" name="hf-790">
            <a:extLst xmlns:a="http://schemas.openxmlformats.org/drawingml/2006/main">
              <a:ext uri="{FF2B5EF4-FFF2-40B4-BE49-F238E27FC236}">
                <a16:creationId xmlns:a16="http://schemas.microsoft.com/office/drawing/2014/main" id="{9C5A74D0-7992-4781-A415-BDB0CEE7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95290"/>
            <a:ext cx="131244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</a:rPr>
              <a:t>radix + unique</a:t>
            </a:r>
          </a:p>
        </p:txBody>
      </p:sp>
      <p:pic>
        <p:nvPicPr>
          <p:cNvPr id="41" name="hf-791">
            <a:extLst xmlns:a="http://schemas.openxmlformats.org/drawingml/2006/main">
              <a:ext uri="{FF2B5EF4-FFF2-40B4-BE49-F238E27FC236}">
                <a16:creationId xmlns:a16="http://schemas.microsoft.com/office/drawing/2014/main" id="{2D3E3808-BBE5-49A2-A738-B6514A053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f93e89db444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42" name="hf-792">
            <a:extLst xmlns:a="http://schemas.openxmlformats.org/drawingml/2006/main">
              <a:ext uri="{FF2B5EF4-FFF2-40B4-BE49-F238E27FC236}">
                <a16:creationId xmlns:a16="http://schemas.microsoft.com/office/drawing/2014/main" id="{D0F63BCD-7734-46E8-A77E-F5755016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25303778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33" grpId="0" animBg="1"/>
      <p:bldP spid="34" grpId="0" animBg="1"/>
      <p:bldP spid="36" grpId="0" animBg="1"/>
      <p:bldP spid="39" grpId="0" animBg="1"/>
      <p:bldP spid="40" grpId="0" animBg="1"/>
    </p:bldLst>
  </p:timing>
</p:sld>
</file>

<file path=ppt/slides/slide36.xml><?xml version="1.0" encoding="utf-8"?>
<p:sld xmlns:p="http://schemas.openxmlformats.org/presentationml/2006/main" show="0">
  <p:cSld name="nb-wher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93">
            <a:extLst xmlns:a="http://schemas.openxmlformats.org/drawingml/2006/main">
              <a:ext uri="{FF2B5EF4-FFF2-40B4-BE49-F238E27FC236}">
                <a16:creationId xmlns:a16="http://schemas.microsoft.com/office/drawing/2014/main" id="{219A6A42-5E9E-4B88-960F-28F9FE33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794">
            <a:extLst xmlns:a="http://schemas.openxmlformats.org/drawingml/2006/main">
              <a:ext uri="{FF2B5EF4-FFF2-40B4-BE49-F238E27FC236}">
                <a16:creationId xmlns:a16="http://schemas.microsoft.com/office/drawing/2014/main" id="{3E3544E1-DFF3-48B7-B5AD-9760ECFC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63371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ПАСПОРТ УСЛОВИЙ НУЖЕН ДЛЯ КАЖДОЙ</a:t>
            </a:r>
          </a:p>
        </p:txBody>
      </p:sp>
      <p:sp>
        <p:nvSpPr>
          <p:cNvPr id="4" name="hf-795">
            <a:extLst xmlns:a="http://schemas.openxmlformats.org/drawingml/2006/main">
              <a:ext uri="{FF2B5EF4-FFF2-40B4-BE49-F238E27FC236}">
                <a16:creationId xmlns:a16="http://schemas.microsoft.com/office/drawing/2014/main" id="{2E4EB9B0-01FC-4FA9-B609-4D5954DA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10988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СЕРИИ</a:t>
            </a:r>
          </a:p>
        </p:txBody>
      </p:sp>
      <p:sp>
        <p:nvSpPr>
          <p:cNvPr id="5" name="hf-796">
            <a:extLst xmlns:a="http://schemas.openxmlformats.org/drawingml/2006/main">
              <a:ext uri="{FF2B5EF4-FFF2-40B4-BE49-F238E27FC236}">
                <a16:creationId xmlns:a16="http://schemas.microsoft.com/office/drawing/2014/main" id="{C1C3FCF1-F397-4DB4-BC8C-4F686FB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07824"/>
            <a:ext cx="146402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6" name="hf-797">
            <a:extLst xmlns:a="http://schemas.openxmlformats.org/drawingml/2006/main">
              <a:ext uri="{FF2B5EF4-FFF2-40B4-BE49-F238E27FC236}">
                <a16:creationId xmlns:a16="http://schemas.microsoft.com/office/drawing/2014/main" id="{51B7B87A-D3AF-4F1D-9B6A-386A8042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81458"/>
            <a:ext cx="90576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A16 Bionic</a:t>
            </a:r>
          </a:p>
        </p:txBody>
      </p:sp>
      <p:sp>
        <p:nvSpPr>
          <p:cNvPr id="7" name="hf-798">
            <a:extLst xmlns:a="http://schemas.openxmlformats.org/drawingml/2006/main">
              <a:ext uri="{FF2B5EF4-FFF2-40B4-BE49-F238E27FC236}">
                <a16:creationId xmlns:a16="http://schemas.microsoft.com/office/drawing/2014/main" id="{4866BBA3-A309-4FDA-880D-EC979E3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07281"/>
            <a:ext cx="506462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</a:t>
            </a:r>
          </a:p>
        </p:txBody>
      </p:sp>
      <p:sp>
        <p:nvSpPr>
          <p:cNvPr id="8" name="hf-799">
            <a:extLst xmlns:a="http://schemas.openxmlformats.org/drawingml/2006/main">
              <a:ext uri="{FF2B5EF4-FFF2-40B4-BE49-F238E27FC236}">
                <a16:creationId xmlns:a16="http://schemas.microsoft.com/office/drawing/2014/main" id="{04C492B3-2857-4C02-B011-06003006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81458"/>
            <a:ext cx="636687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M2 Pro</a:t>
            </a:r>
          </a:p>
        </p:txBody>
      </p:sp>
      <p:sp>
        <p:nvSpPr>
          <p:cNvPr id="9" name="hf-800">
            <a:extLst xmlns:a="http://schemas.openxmlformats.org/drawingml/2006/main">
              <a:ext uri="{FF2B5EF4-FFF2-40B4-BE49-F238E27FC236}">
                <a16:creationId xmlns:a16="http://schemas.microsoft.com/office/drawing/2014/main" id="{C583FBD6-A27D-4635-8043-B908A27F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7281"/>
            <a:ext cx="1095226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Linux x86</a:t>
            </a:r>
          </a:p>
        </p:txBody>
      </p:sp>
      <p:sp>
        <p:nvSpPr>
          <p:cNvPr id="10" name="hf-801">
            <a:extLst xmlns:a="http://schemas.openxmlformats.org/drawingml/2006/main">
              <a:ext uri="{FF2B5EF4-FFF2-40B4-BE49-F238E27FC236}">
                <a16:creationId xmlns:a16="http://schemas.microsoft.com/office/drawing/2014/main" id="{98E7EACF-7701-409C-AD66-1395CA19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1458"/>
            <a:ext cx="88604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Xeon · VM</a:t>
            </a:r>
          </a:p>
        </p:txBody>
      </p:sp>
      <p:sp>
        <p:nvSpPr>
          <p:cNvPr id="11" name="hf-802">
            <a:extLst xmlns:a="http://schemas.openxmlformats.org/drawingml/2006/main">
              <a:ext uri="{FF2B5EF4-FFF2-40B4-BE49-F238E27FC236}">
                <a16:creationId xmlns:a16="http://schemas.microsoft.com/office/drawing/2014/main" id="{56418084-E256-45B9-B5E7-E1437D43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478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2" name="hf-803">
            <a:extLst xmlns:a="http://schemas.openxmlformats.org/drawingml/2006/main">
              <a:ext uri="{FF2B5EF4-FFF2-40B4-BE49-F238E27FC236}">
                <a16:creationId xmlns:a16="http://schemas.microsoft.com/office/drawing/2014/main" id="{E798264D-1713-4261-B856-C88CBE0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56092"/>
            <a:ext cx="44097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Код</a:t>
            </a:r>
          </a:p>
        </p:txBody>
      </p:sp>
      <p:sp>
        <p:nvSpPr>
          <p:cNvPr id="13" name="hf-804">
            <a:extLst xmlns:a="http://schemas.openxmlformats.org/drawingml/2006/main">
              <a:ext uri="{FF2B5EF4-FFF2-40B4-BE49-F238E27FC236}">
                <a16:creationId xmlns:a16="http://schemas.microsoft.com/office/drawing/2014/main" id="{F8783DC0-3B6C-44D3-8C12-17E7F081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52348"/>
            <a:ext cx="1062856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C++ · libc++</a:t>
            </a:r>
          </a:p>
        </p:txBody>
      </p:sp>
      <p:sp>
        <p:nvSpPr>
          <p:cNvPr id="14" name="hf-805">
            <a:extLst xmlns:a="http://schemas.openxmlformats.org/drawingml/2006/main">
              <a:ext uri="{FF2B5EF4-FFF2-40B4-BE49-F238E27FC236}">
                <a16:creationId xmlns:a16="http://schemas.microsoft.com/office/drawing/2014/main" id="{222B729F-E047-420A-B56B-95222BDC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52348"/>
            <a:ext cx="1062856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C++ · libc++</a:t>
            </a:r>
          </a:p>
        </p:txBody>
      </p:sp>
      <p:sp>
        <p:nvSpPr>
          <p:cNvPr id="15" name="hf-806">
            <a:extLst xmlns:a="http://schemas.openxmlformats.org/drawingml/2006/main">
              <a:ext uri="{FF2B5EF4-FFF2-40B4-BE49-F238E27FC236}">
                <a16:creationId xmlns:a16="http://schemas.microsoft.com/office/drawing/2014/main" id="{30816E29-D7DD-447B-AC9F-AC37D923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3367"/>
            <a:ext cx="1472729" cy="24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libstdc++ / libc++</a:t>
            </a:r>
          </a:p>
        </p:txBody>
      </p:sp>
      <p:sp>
        <p:nvSpPr>
          <p:cNvPr id="16" name="hf-807">
            <a:extLst xmlns:a="http://schemas.openxmlformats.org/drawingml/2006/main">
              <a:ext uri="{FF2B5EF4-FFF2-40B4-BE49-F238E27FC236}">
                <a16:creationId xmlns:a16="http://schemas.microsoft.com/office/drawing/2014/main" id="{96705B1D-8EA8-495B-B3C2-732652FE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146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808">
            <a:extLst xmlns:a="http://schemas.openxmlformats.org/drawingml/2006/main">
              <a:ext uri="{FF2B5EF4-FFF2-40B4-BE49-F238E27FC236}">
                <a16:creationId xmlns:a16="http://schemas.microsoft.com/office/drawing/2014/main" id="{179587F6-A4F4-4B65-98E2-E1DACC21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22842"/>
            <a:ext cx="76497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Режим</a:t>
            </a:r>
          </a:p>
        </p:txBody>
      </p:sp>
      <p:sp>
        <p:nvSpPr>
          <p:cNvPr id="18" name="hf-809">
            <a:extLst xmlns:a="http://schemas.openxmlformats.org/drawingml/2006/main">
              <a:ext uri="{FF2B5EF4-FFF2-40B4-BE49-F238E27FC236}">
                <a16:creationId xmlns:a16="http://schemas.microsoft.com/office/drawing/2014/main" id="{7F692AC6-B95F-4A1F-8D46-FE8655B6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19098"/>
            <a:ext cx="1206178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pthread QoS</a:t>
            </a:r>
          </a:p>
        </p:txBody>
      </p:sp>
      <p:sp>
        <p:nvSpPr>
          <p:cNvPr id="19" name="hf-810">
            <a:extLst xmlns:a="http://schemas.openxmlformats.org/drawingml/2006/main">
              <a:ext uri="{FF2B5EF4-FFF2-40B4-BE49-F238E27FC236}">
                <a16:creationId xmlns:a16="http://schemas.microsoft.com/office/drawing/2014/main" id="{0DA07F1A-434C-4CFD-BA39-B4C2AB8F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9098"/>
            <a:ext cx="1206178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pthread QoS</a:t>
            </a:r>
          </a:p>
        </p:txBody>
      </p:sp>
      <p:sp>
        <p:nvSpPr>
          <p:cNvPr id="20" name="hf-811">
            <a:extLst xmlns:a="http://schemas.openxmlformats.org/drawingml/2006/main">
              <a:ext uri="{FF2B5EF4-FFF2-40B4-BE49-F238E27FC236}">
                <a16:creationId xmlns:a16="http://schemas.microsoft.com/office/drawing/2014/main" id="{E4C7D04C-C32D-42DC-97A2-101F47D3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9098"/>
            <a:ext cx="1385069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одно ядро VM</a:t>
            </a:r>
          </a:p>
        </p:txBody>
      </p:sp>
      <p:sp>
        <p:nvSpPr>
          <p:cNvPr id="21" name="hf-812">
            <a:extLst xmlns:a="http://schemas.openxmlformats.org/drawingml/2006/main">
              <a:ext uri="{FF2B5EF4-FFF2-40B4-BE49-F238E27FC236}">
                <a16:creationId xmlns:a16="http://schemas.microsoft.com/office/drawing/2014/main" id="{3813F798-A6D2-4051-89C3-16164BF9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813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2" name="hf-813">
            <a:extLst xmlns:a="http://schemas.openxmlformats.org/drawingml/2006/main">
              <a:ext uri="{FF2B5EF4-FFF2-40B4-BE49-F238E27FC236}">
                <a16:creationId xmlns:a16="http://schemas.microsoft.com/office/drawing/2014/main" id="{AD5EFD0D-7BE5-4E59-A033-AD9F450B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95700"/>
            <a:ext cx="8029575" cy="757238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hf-814">
            <a:extLst xmlns:a="http://schemas.openxmlformats.org/drawingml/2006/main">
              <a:ext uri="{FF2B5EF4-FFF2-40B4-BE49-F238E27FC236}">
                <a16:creationId xmlns:a16="http://schemas.microsoft.com/office/drawing/2014/main" id="{3B626129-0618-4F0E-A532-CEC2363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821868"/>
            <a:ext cx="686514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Паспорт конкретного прогона важнее названия платформы</a:t>
            </a:r>
          </a:p>
        </p:txBody>
      </p:sp>
      <p:pic>
        <p:nvPicPr>
          <p:cNvPr id="24" name="hf-815">
            <a:extLst xmlns:a="http://schemas.openxmlformats.org/drawingml/2006/main">
              <a:ext uri="{FF2B5EF4-FFF2-40B4-BE49-F238E27FC236}">
                <a16:creationId xmlns:a16="http://schemas.microsoft.com/office/drawing/2014/main" id="{BB7F855D-229A-447B-910E-F1188D1EE7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eea58457b40f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5" name="hf-816">
            <a:extLst xmlns:a="http://schemas.openxmlformats.org/drawingml/2006/main">
              <a:ext uri="{FF2B5EF4-FFF2-40B4-BE49-F238E27FC236}">
                <a16:creationId xmlns:a16="http://schemas.microsoft.com/office/drawing/2014/main" id="{8732C60F-6E45-4051-B1A1-5F837037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782657452"/>
      </p:ext>
    </p:extLst>
  </p:cSld>
</p:sld>
</file>

<file path=ppt/slides/slide37.xml><?xml version="1.0" encoding="utf-8"?>
<p:sld xmlns:p="http://schemas.openxmlformats.org/presentationml/2006/main" show="0">
  <p:cSld name="nb-kernel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17">
            <a:extLst xmlns:a="http://schemas.openxmlformats.org/drawingml/2006/main">
              <a:ext uri="{FF2B5EF4-FFF2-40B4-BE49-F238E27FC236}">
                <a16:creationId xmlns:a16="http://schemas.microsoft.com/office/drawing/2014/main" id="{E58C5719-5E72-4742-BD97-A08F5657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818">
            <a:extLst xmlns:a="http://schemas.openxmlformats.org/drawingml/2006/main">
              <a:ext uri="{FF2B5EF4-FFF2-40B4-BE49-F238E27FC236}">
                <a16:creationId xmlns:a16="http://schemas.microsoft.com/office/drawing/2014/main" id="{2BC96658-4314-45C4-87D4-E93E40D1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81627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QoS ВЛИЯЕТ НА ВЫБОР ЯДРА, НО НЕ</a:t>
            </a:r>
          </a:p>
        </p:txBody>
      </p:sp>
      <p:sp>
        <p:nvSpPr>
          <p:cNvPr id="4" name="hf-819">
            <a:extLst xmlns:a="http://schemas.openxmlformats.org/drawingml/2006/main">
              <a:ext uri="{FF2B5EF4-FFF2-40B4-BE49-F238E27FC236}">
                <a16:creationId xmlns:a16="http://schemas.microsoft.com/office/drawing/2014/main" id="{B7AEB4A0-820D-4283-B06E-32C69DAE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26419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ОБЕЩАЕТ ЕГО</a:t>
            </a:r>
          </a:p>
        </p:txBody>
      </p:sp>
      <p:sp>
        <p:nvSpPr>
          <p:cNvPr id="5" name="hf-820">
            <a:extLst xmlns:a="http://schemas.openxmlformats.org/drawingml/2006/main">
              <a:ext uri="{FF2B5EF4-FFF2-40B4-BE49-F238E27FC236}">
                <a16:creationId xmlns:a16="http://schemas.microsoft.com/office/drawing/2014/main" id="{6895DC6F-73A6-461F-8E7B-BD3B9996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87700"/>
            <a:ext cx="3309491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QoS влияет на размещение</a:t>
            </a:r>
          </a:p>
        </p:txBody>
      </p:sp>
      <p:sp>
        <p:nvSpPr>
          <p:cNvPr id="6" name="hf-821">
            <a:extLst xmlns:a="http://schemas.openxmlformats.org/drawingml/2006/main">
              <a:ext uri="{FF2B5EF4-FFF2-40B4-BE49-F238E27FC236}">
                <a16:creationId xmlns:a16="http://schemas.microsoft.com/office/drawing/2014/main" id="{9F4424AC-D8F3-4CC3-B217-AC335EFD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22717"/>
            <a:ext cx="296502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utility допускает разные ядра</a:t>
            </a:r>
          </a:p>
        </p:txBody>
      </p:sp>
      <p:sp>
        <p:nvSpPr>
          <p:cNvPr id="7" name="hf-822">
            <a:extLst xmlns:a="http://schemas.openxmlformats.org/drawingml/2006/main">
              <a:ext uri="{FF2B5EF4-FFF2-40B4-BE49-F238E27FC236}">
                <a16:creationId xmlns:a16="http://schemas.microsoft.com/office/drawing/2014/main" id="{1CFC60D4-D83F-41C0-A8B0-41B70E2F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94192"/>
            <a:ext cx="229522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Рекомендацию задаёт</a:t>
            </a:r>
          </a:p>
        </p:txBody>
      </p:sp>
      <p:sp>
        <p:nvSpPr>
          <p:cNvPr id="8" name="hf-823">
            <a:extLst xmlns:a="http://schemas.openxmlformats.org/drawingml/2006/main">
              <a:ext uri="{FF2B5EF4-FFF2-40B4-BE49-F238E27FC236}">
                <a16:creationId xmlns:a16="http://schemas.microsoft.com/office/drawing/2014/main" id="{7687CD9D-DB54-45AF-B31B-B4807C83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41842"/>
            <a:ext cx="185633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контроллер Apple</a:t>
            </a:r>
          </a:p>
        </p:txBody>
      </p:sp>
      <p:sp>
        <p:nvSpPr>
          <p:cNvPr id="9" name="hf-824">
            <a:extLst xmlns:a="http://schemas.openxmlformats.org/drawingml/2006/main">
              <a:ext uri="{FF2B5EF4-FFF2-40B4-BE49-F238E27FC236}">
                <a16:creationId xmlns:a16="http://schemas.microsoft.com/office/drawing/2014/main" id="{A54393B1-C861-4785-A9E7-9C56D22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86088"/>
            <a:ext cx="3810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0" name="hf-825">
            <a:extLst xmlns:a="http://schemas.openxmlformats.org/drawingml/2006/main">
              <a:ext uri="{FF2B5EF4-FFF2-40B4-BE49-F238E27FC236}">
                <a16:creationId xmlns:a16="http://schemas.microsoft.com/office/drawing/2014/main" id="{1DF48E5B-C14C-48F4-9E1E-187AFCB8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02743"/>
            <a:ext cx="1373088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background</a:t>
            </a:r>
          </a:p>
        </p:txBody>
      </p:sp>
      <p:sp>
        <p:nvSpPr>
          <p:cNvPr id="11" name="hf-826">
            <a:extLst xmlns:a="http://schemas.openxmlformats.org/drawingml/2006/main">
              <a:ext uri="{FF2B5EF4-FFF2-40B4-BE49-F238E27FC236}">
                <a16:creationId xmlns:a16="http://schemas.microsoft.com/office/drawing/2014/main" id="{35B7FAC9-6C68-4EEB-95F0-9230AE42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28698"/>
            <a:ext cx="2352154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 описанном Edge-коде</a:t>
            </a:r>
          </a:p>
        </p:txBody>
      </p:sp>
      <p:sp>
        <p:nvSpPr>
          <p:cNvPr id="12" name="hf-827">
            <a:extLst xmlns:a="http://schemas.openxmlformats.org/drawingml/2006/main">
              <a:ext uri="{FF2B5EF4-FFF2-40B4-BE49-F238E27FC236}">
                <a16:creationId xmlns:a16="http://schemas.microsoft.com/office/drawing/2014/main" id="{3404537F-F1CC-4A00-9FE6-2C410DEA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63921"/>
            <a:ext cx="2931393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контроллер не рекомендует P</a:t>
            </a:r>
          </a:p>
        </p:txBody>
      </p:sp>
      <p:sp>
        <p:nvSpPr>
          <p:cNvPr id="13" name="hf-828">
            <a:extLst xmlns:a="http://schemas.openxmlformats.org/drawingml/2006/main">
              <a:ext uri="{FF2B5EF4-FFF2-40B4-BE49-F238E27FC236}">
                <a16:creationId xmlns:a16="http://schemas.microsoft.com/office/drawing/2014/main" id="{D68BCA2D-88C0-4FE6-B09D-2B7813C6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00188"/>
            <a:ext cx="3786188" cy="1709738"/>
          </a:xfrm>
          <a:prstGeom xmlns:a="http://schemas.openxmlformats.org/drawingml/2006/main" prst="roundRect">
            <a:avLst>
              <a:gd name="adj" fmla="val 6685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hf-829">
            <a:extLst xmlns:a="http://schemas.openxmlformats.org/drawingml/2006/main">
              <a:ext uri="{FF2B5EF4-FFF2-40B4-BE49-F238E27FC236}">
                <a16:creationId xmlns:a16="http://schemas.microsoft.com/office/drawing/2014/main" id="{88A6FA76-2EF1-42FB-8A5A-98CCBBF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84049"/>
            <a:ext cx="2546896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Наблюдение на iPhone</a:t>
            </a:r>
          </a:p>
        </p:txBody>
      </p:sp>
      <p:sp>
        <p:nvSpPr>
          <p:cNvPr id="15" name="hf-830">
            <a:extLst xmlns:a="http://schemas.openxmlformats.org/drawingml/2006/main">
              <a:ext uri="{FF2B5EF4-FFF2-40B4-BE49-F238E27FC236}">
                <a16:creationId xmlns:a16="http://schemas.microsoft.com/office/drawing/2014/main" id="{6033B14D-58C7-4346-B946-DC9E582F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44111"/>
            <a:ext cx="2011189" cy="310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97"/>
              </a:lnSpc>
              <a:buNone/>
            </a:pPr>
            <a:r>
              <a:rPr sz="1838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utility-лестница</a:t>
            </a:r>
          </a:p>
        </p:txBody>
      </p:sp>
      <p:sp>
        <p:nvSpPr>
          <p:cNvPr id="16" name="hf-831">
            <a:extLst xmlns:a="http://schemas.openxmlformats.org/drawingml/2006/main">
              <a:ext uri="{FF2B5EF4-FFF2-40B4-BE49-F238E27FC236}">
                <a16:creationId xmlns:a16="http://schemas.microsoft.com/office/drawing/2014/main" id="{BE5675A5-401C-4561-A4B9-BAC8121C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5814"/>
            <a:ext cx="2266206" cy="310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97"/>
              </a:lnSpc>
              <a:buNone/>
            </a:pPr>
            <a:r>
              <a:rPr sz="1838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похожа на E-ядро</a:t>
            </a:r>
          </a:p>
        </p:txBody>
      </p:sp>
      <p:sp>
        <p:nvSpPr>
          <p:cNvPr id="17" name="hf-832">
            <a:extLst xmlns:a="http://schemas.openxmlformats.org/drawingml/2006/main">
              <a:ext uri="{FF2B5EF4-FFF2-40B4-BE49-F238E27FC236}">
                <a16:creationId xmlns:a16="http://schemas.microsoft.com/office/drawing/2014/main" id="{A2E1AFB4-0A8A-403E-9ED3-A2B1FBCE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18142"/>
            <a:ext cx="284871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Размещение самого дедупа</a:t>
            </a:r>
          </a:p>
        </p:txBody>
      </p:sp>
      <p:sp>
        <p:nvSpPr>
          <p:cNvPr id="18" name="hf-833">
            <a:extLst xmlns:a="http://schemas.openxmlformats.org/drawingml/2006/main">
              <a:ext uri="{FF2B5EF4-FFF2-40B4-BE49-F238E27FC236}">
                <a16:creationId xmlns:a16="http://schemas.microsoft.com/office/drawing/2014/main" id="{1417F7B1-404B-4138-900C-DDA4438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65792"/>
            <a:ext cx="17584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не трассировали</a:t>
            </a:r>
          </a:p>
        </p:txBody>
      </p:sp>
      <p:sp>
        <p:nvSpPr>
          <p:cNvPr id="19" name="hf-834">
            <a:extLst xmlns:a="http://schemas.openxmlformats.org/drawingml/2006/main">
              <a:ext uri="{FF2B5EF4-FFF2-40B4-BE49-F238E27FC236}">
                <a16:creationId xmlns:a16="http://schemas.microsoft.com/office/drawing/2014/main" id="{B528BA71-9AF3-43A9-8FD6-6D6B306E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47848"/>
            <a:ext cx="4759672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Приоритет задачи не назначает конкретное ядро</a:t>
            </a:r>
          </a:p>
        </p:txBody>
      </p:sp>
      <p:pic>
        <p:nvPicPr>
          <p:cNvPr id="20" name="hf-835">
            <a:extLst xmlns:a="http://schemas.openxmlformats.org/drawingml/2006/main">
              <a:ext uri="{FF2B5EF4-FFF2-40B4-BE49-F238E27FC236}">
                <a16:creationId xmlns:a16="http://schemas.microsoft.com/office/drawing/2014/main" id="{C91DF7AD-5237-461D-98AB-0A7BDB439B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4cf5fd91a4c2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1" name="hf-836">
            <a:extLst xmlns:a="http://schemas.openxmlformats.org/drawingml/2006/main">
              <a:ext uri="{FF2B5EF4-FFF2-40B4-BE49-F238E27FC236}">
                <a16:creationId xmlns:a16="http://schemas.microsoft.com/office/drawing/2014/main" id="{CE5C883D-B1C0-401E-AD3F-7D7E5466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424532717"/>
      </p:ext>
    </p:extLst>
  </p:cSld>
</p:sld>
</file>

<file path=ppt/slides/slide38.xml><?xml version="1.0" encoding="utf-8"?>
<p:sld xmlns:p="http://schemas.openxmlformats.org/presentationml/2006/main" show="0">
  <p:cSld name="nb-dens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37">
            <a:extLst xmlns:a="http://schemas.openxmlformats.org/drawingml/2006/main">
              <a:ext uri="{FF2B5EF4-FFF2-40B4-BE49-F238E27FC236}">
                <a16:creationId xmlns:a16="http://schemas.microsoft.com/office/drawing/2014/main" id="{F5FB7B96-2862-4463-A566-7702E72B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838">
            <a:extLst xmlns:a="http://schemas.openxmlformats.org/drawingml/2006/main">
              <a:ext uri="{FF2B5EF4-FFF2-40B4-BE49-F238E27FC236}">
                <a16:creationId xmlns:a16="http://schemas.microsoft.com/office/drawing/2014/main" id="{7CE023EB-9169-403E-BD71-3494247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14608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ПЛОТНЫЕ rowid: НА x86 ХЕШ ВПЕРЕДИ</a:t>
            </a:r>
          </a:p>
        </p:txBody>
      </p:sp>
      <p:sp>
        <p:nvSpPr>
          <p:cNvPr id="4" name="hf-839">
            <a:extLst xmlns:a="http://schemas.openxmlformats.org/drawingml/2006/main">
              <a:ext uri="{FF2B5EF4-FFF2-40B4-BE49-F238E27FC236}">
                <a16:creationId xmlns:a16="http://schemas.microsoft.com/office/drawing/2014/main" id="{0F295364-D236-4CE1-AD93-B362C48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62810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 1,7 РАЗА</a:t>
            </a:r>
          </a:p>
        </p:txBody>
      </p:sp>
      <p:sp>
        <p:nvSpPr>
          <p:cNvPr id="5" name="hf-840">
            <a:extLst xmlns:a="http://schemas.openxmlformats.org/drawingml/2006/main">
              <a:ext uri="{FF2B5EF4-FFF2-40B4-BE49-F238E27FC236}">
                <a16:creationId xmlns:a16="http://schemas.microsoft.com/office/drawing/2014/main" id="{D2B3B7C7-9B04-46EA-A943-0F99303B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444482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x86 · N = 2^20, U = N/2 · нс на элемент: libstdc++ / libc++</a:t>
            </a:r>
          </a:p>
        </p:txBody>
      </p:sp>
      <p:sp>
        <p:nvSpPr>
          <p:cNvPr id="6" name="hf-841">
            <a:extLst xmlns:a="http://schemas.openxmlformats.org/drawingml/2006/main">
              <a:ext uri="{FF2B5EF4-FFF2-40B4-BE49-F238E27FC236}">
                <a16:creationId xmlns:a16="http://schemas.microsoft.com/office/drawing/2014/main" id="{5BE82E65-87ED-4D21-AB96-252F1FEC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806" y="1665542"/>
            <a:ext cx="1353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7" name="hf-842">
            <a:extLst xmlns:a="http://schemas.openxmlformats.org/drawingml/2006/main">
              <a:ext uri="{FF2B5EF4-FFF2-40B4-BE49-F238E27FC236}">
                <a16:creationId xmlns:a16="http://schemas.microsoft.com/office/drawing/2014/main" id="{FF2B94C8-530B-4E39-BB67-88C60055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416" y="1665542"/>
            <a:ext cx="14899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8" name="hf-843">
            <a:extLst xmlns:a="http://schemas.openxmlformats.org/drawingml/2006/main">
              <a:ext uri="{FF2B5EF4-FFF2-40B4-BE49-F238E27FC236}">
                <a16:creationId xmlns:a16="http://schemas.microsoft.com/office/drawing/2014/main" id="{ECA92DD8-C7C7-4570-86C2-B42B7178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002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9" name="hf-844">
            <a:extLst xmlns:a="http://schemas.openxmlformats.org/drawingml/2006/main">
              <a:ext uri="{FF2B5EF4-FFF2-40B4-BE49-F238E27FC236}">
                <a16:creationId xmlns:a16="http://schemas.microsoft.com/office/drawing/2014/main" id="{DB9BE9EF-C2C7-42A5-9537-725CB529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21656"/>
            <a:ext cx="1290861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случайные</a:t>
            </a:r>
          </a:p>
        </p:txBody>
      </p:sp>
      <p:sp>
        <p:nvSpPr>
          <p:cNvPr id="10" name="hf-845">
            <a:extLst xmlns:a="http://schemas.openxmlformats.org/drawingml/2006/main">
              <a:ext uri="{FF2B5EF4-FFF2-40B4-BE49-F238E27FC236}">
                <a16:creationId xmlns:a16="http://schemas.microsoft.com/office/drawing/2014/main" id="{0101F06E-4082-4C97-AE53-46353B05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82" y="2127504"/>
            <a:ext cx="102401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86,4 / 89,0</a:t>
            </a:r>
          </a:p>
        </p:txBody>
      </p:sp>
      <p:sp>
        <p:nvSpPr>
          <p:cNvPr id="11" name="hf-846">
            <a:extLst xmlns:a="http://schemas.openxmlformats.org/drawingml/2006/main">
              <a:ext uri="{FF2B5EF4-FFF2-40B4-BE49-F238E27FC236}">
                <a16:creationId xmlns:a16="http://schemas.microsoft.com/office/drawing/2014/main" id="{B58FEDB9-3E0C-46E8-8184-10E1C7F1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685" y="2127504"/>
            <a:ext cx="99945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85,6 / 88,7</a:t>
            </a:r>
          </a:p>
        </p:txBody>
      </p:sp>
      <p:sp>
        <p:nvSpPr>
          <p:cNvPr id="12" name="hf-847">
            <a:extLst xmlns:a="http://schemas.openxmlformats.org/drawingml/2006/main">
              <a:ext uri="{FF2B5EF4-FFF2-40B4-BE49-F238E27FC236}">
                <a16:creationId xmlns:a16="http://schemas.microsoft.com/office/drawing/2014/main" id="{A1BD87D3-16F7-4B36-A22E-A59F951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20764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3" name="hf-848">
            <a:extLst xmlns:a="http://schemas.openxmlformats.org/drawingml/2006/main">
              <a:ext uri="{FF2B5EF4-FFF2-40B4-BE49-F238E27FC236}">
                <a16:creationId xmlns:a16="http://schemas.microsoft.com/office/drawing/2014/main" id="{C1180022-8916-4F71-A6DD-4C97D8B4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59" y="2026406"/>
            <a:ext cx="91975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≈ ничья</a:t>
            </a:r>
          </a:p>
        </p:txBody>
      </p:sp>
      <p:sp>
        <p:nvSpPr>
          <p:cNvPr id="14" name="hf-849">
            <a:extLst xmlns:a="http://schemas.openxmlformats.org/drawingml/2006/main">
              <a:ext uri="{FF2B5EF4-FFF2-40B4-BE49-F238E27FC236}">
                <a16:creationId xmlns:a16="http://schemas.microsoft.com/office/drawing/2014/main" id="{36305FED-34A2-4912-9E12-C22312BD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527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5" name="hf-850">
            <a:extLst xmlns:a="http://schemas.openxmlformats.org/drawingml/2006/main">
              <a:ext uri="{FF2B5EF4-FFF2-40B4-BE49-F238E27FC236}">
                <a16:creationId xmlns:a16="http://schemas.microsoft.com/office/drawing/2014/main" id="{D011E9D2-82C6-4D14-8A34-9803F256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74106"/>
            <a:ext cx="170021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плотные rowid</a:t>
            </a:r>
          </a:p>
        </p:txBody>
      </p:sp>
      <p:sp>
        <p:nvSpPr>
          <p:cNvPr id="16" name="hf-851">
            <a:extLst xmlns:a="http://schemas.openxmlformats.org/drawingml/2006/main">
              <a:ext uri="{FF2B5EF4-FFF2-40B4-BE49-F238E27FC236}">
                <a16:creationId xmlns:a16="http://schemas.microsoft.com/office/drawing/2014/main" id="{5B9C5EC6-E027-49B5-B485-B26340A1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116" y="2679954"/>
            <a:ext cx="100734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87,8 / 89,8</a:t>
            </a:r>
          </a:p>
        </p:txBody>
      </p:sp>
      <p:sp>
        <p:nvSpPr>
          <p:cNvPr id="17" name="hf-852">
            <a:extLst xmlns:a="http://schemas.openxmlformats.org/drawingml/2006/main">
              <a:ext uri="{FF2B5EF4-FFF2-40B4-BE49-F238E27FC236}">
                <a16:creationId xmlns:a16="http://schemas.microsoft.com/office/drawing/2014/main" id="{4E6BE6F2-9274-4196-9FDE-515F1379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28900"/>
            <a:ext cx="1714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0">
            <a:noFill/>
          </a:ln>
        </p:spPr>
      </p:sp>
      <p:sp>
        <p:nvSpPr>
          <p:cNvPr id="18" name="hf-853">
            <a:extLst xmlns:a="http://schemas.openxmlformats.org/drawingml/2006/main">
              <a:ext uri="{FF2B5EF4-FFF2-40B4-BE49-F238E27FC236}">
                <a16:creationId xmlns:a16="http://schemas.microsoft.com/office/drawing/2014/main" id="{40621937-41F9-43C9-ACAD-641184C0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570" y="2679954"/>
            <a:ext cx="103368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52,8 / 53,3</a:t>
            </a:r>
          </a:p>
        </p:txBody>
      </p:sp>
      <p:sp>
        <p:nvSpPr>
          <p:cNvPr id="19" name="hf-854">
            <a:extLst xmlns:a="http://schemas.openxmlformats.org/drawingml/2006/main">
              <a:ext uri="{FF2B5EF4-FFF2-40B4-BE49-F238E27FC236}">
                <a16:creationId xmlns:a16="http://schemas.microsoft.com/office/drawing/2014/main" id="{6D31FBCA-4869-4639-8A22-D45D12B6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262890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20" name="hf-855">
            <a:extLst xmlns:a="http://schemas.openxmlformats.org/drawingml/2006/main">
              <a:ext uri="{FF2B5EF4-FFF2-40B4-BE49-F238E27FC236}">
                <a16:creationId xmlns:a16="http://schemas.microsoft.com/office/drawing/2014/main" id="{347E9910-647C-4CEB-B002-DE8F38A1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086" y="2592057"/>
            <a:ext cx="1047229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 ×1,7</a:t>
            </a:r>
          </a:p>
        </p:txBody>
      </p:sp>
      <p:sp>
        <p:nvSpPr>
          <p:cNvPr id="21" name="hf-856">
            <a:extLst xmlns:a="http://schemas.openxmlformats.org/drawingml/2006/main">
              <a:ext uri="{FF2B5EF4-FFF2-40B4-BE49-F238E27FC236}">
                <a16:creationId xmlns:a16="http://schemas.microsoft.com/office/drawing/2014/main" id="{45E274F8-D292-4253-86B3-735F9206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051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2" name="hf-857">
            <a:extLst xmlns:a="http://schemas.openxmlformats.org/drawingml/2006/main">
              <a:ext uri="{FF2B5EF4-FFF2-40B4-BE49-F238E27FC236}">
                <a16:creationId xmlns:a16="http://schemas.microsoft.com/office/drawing/2014/main" id="{717AC93C-5D6C-42A6-A7FF-35B5E6DB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33750"/>
            <a:ext cx="80295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hf-858">
            <a:extLst xmlns:a="http://schemas.openxmlformats.org/drawingml/2006/main">
              <a:ext uri="{FF2B5EF4-FFF2-40B4-BE49-F238E27FC236}">
                <a16:creationId xmlns:a16="http://schemas.microsoft.com/office/drawing/2014/main" id="{84A73679-A432-4106-8A8E-40D327B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422904"/>
            <a:ext cx="4204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Обратный край — libc++, id с шагом 2^k:</a:t>
            </a:r>
          </a:p>
        </p:txBody>
      </p:sp>
      <p:sp>
        <p:nvSpPr>
          <p:cNvPr id="24" name="hf-859">
            <a:extLst xmlns:a="http://schemas.openxmlformats.org/drawingml/2006/main">
              <a:ext uri="{FF2B5EF4-FFF2-40B4-BE49-F238E27FC236}">
                <a16:creationId xmlns:a16="http://schemas.microsoft.com/office/drawing/2014/main" id="{12C5E8A7-727F-4779-9574-87B2580E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670554"/>
            <a:ext cx="33159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шаг 2^20 → все id в одной ячейке</a:t>
            </a:r>
          </a:p>
        </p:txBody>
      </p:sp>
      <p:sp>
        <p:nvSpPr>
          <p:cNvPr id="25" name="hf-860">
            <a:extLst xmlns:a="http://schemas.openxmlformats.org/drawingml/2006/main">
              <a:ext uri="{FF2B5EF4-FFF2-40B4-BE49-F238E27FC236}">
                <a16:creationId xmlns:a16="http://schemas.microsoft.com/office/drawing/2014/main" id="{661662A2-BA38-499D-9E1C-3C508FCD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154" y="3461042"/>
            <a:ext cx="1529283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×1 500</a:t>
            </a:r>
          </a:p>
        </p:txBody>
      </p:sp>
      <p:pic>
        <p:nvPicPr>
          <p:cNvPr id="26" name="hf-861">
            <a:extLst xmlns:a="http://schemas.openxmlformats.org/drawingml/2006/main">
              <a:ext uri="{FF2B5EF4-FFF2-40B4-BE49-F238E27FC236}">
                <a16:creationId xmlns:a16="http://schemas.microsoft.com/office/drawing/2014/main" id="{62EB3822-962E-475E-8DC0-CBD484D8E5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83e8d757141e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7" name="hf-862">
            <a:extLst xmlns:a="http://schemas.openxmlformats.org/drawingml/2006/main">
              <a:ext uri="{FF2B5EF4-FFF2-40B4-BE49-F238E27FC236}">
                <a16:creationId xmlns:a16="http://schemas.microsoft.com/office/drawing/2014/main" id="{0EC6342E-71AC-470F-9D90-DE8BB6F9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142894346"/>
      </p:ext>
    </p:extLst>
  </p:cSld>
</p:sld>
</file>

<file path=ppt/slides/slide39.xml><?xml version="1.0" encoding="utf-8"?>
<p:sld xmlns:p="http://schemas.openxmlformats.org/presentationml/2006/main" show="0">
  <p:cSld name="nb-merg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63">
            <a:extLst xmlns:a="http://schemas.openxmlformats.org/drawingml/2006/main">
              <a:ext uri="{FF2B5EF4-FFF2-40B4-BE49-F238E27FC236}">
                <a16:creationId xmlns:a16="http://schemas.microsoft.com/office/drawing/2014/main" id="{0EB2E665-453A-4D50-9215-3A22B5D1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864">
            <a:extLst xmlns:a="http://schemas.openxmlformats.org/drawingml/2006/main">
              <a:ext uri="{FF2B5EF4-FFF2-40B4-BE49-F238E27FC236}">
                <a16:creationId xmlns:a16="http://schemas.microsoft.com/office/drawing/2014/main" id="{8C7AC8BF-FFEC-4B84-94BB-75D2F440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48870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ДЕЛЬТА + СЛИЯНИЕ: В 3,5–6,6 РАЗА</a:t>
            </a:r>
          </a:p>
        </p:txBody>
      </p:sp>
      <p:sp>
        <p:nvSpPr>
          <p:cNvPr id="4" name="hf-865">
            <a:extLst xmlns:a="http://schemas.openxmlformats.org/drawingml/2006/main">
              <a:ext uri="{FF2B5EF4-FFF2-40B4-BE49-F238E27FC236}">
                <a16:creationId xmlns:a16="http://schemas.microsoft.com/office/drawing/2014/main" id="{DCEAB148-F4EF-4573-A57D-45AED5FD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356956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БЫСТРЕЕ sort + unique</a:t>
            </a:r>
          </a:p>
        </p:txBody>
      </p:sp>
      <p:sp>
        <p:nvSpPr>
          <p:cNvPr id="5" name="hf-866">
            <a:extLst xmlns:a="http://schemas.openxmlformats.org/drawingml/2006/main">
              <a:ext uri="{FF2B5EF4-FFF2-40B4-BE49-F238E27FC236}">
                <a16:creationId xmlns:a16="http://schemas.microsoft.com/office/drawing/2014/main" id="{F2550D31-F385-4D70-9341-82A2451B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50547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x86 · 2^20 отсортированных id + дельта 2^16 · libstdc++ / libc++</a:t>
            </a:r>
          </a:p>
        </p:txBody>
      </p:sp>
      <p:sp>
        <p:nvSpPr>
          <p:cNvPr id="6" name="hf-867">
            <a:extLst xmlns:a="http://schemas.openxmlformats.org/drawingml/2006/main">
              <a:ext uri="{FF2B5EF4-FFF2-40B4-BE49-F238E27FC236}">
                <a16:creationId xmlns:a16="http://schemas.microsoft.com/office/drawing/2014/main" id="{04189AFF-1F68-4E80-8EE0-8E35EFE0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055" y="1658188"/>
            <a:ext cx="12173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элемент</a:t>
            </a:r>
          </a:p>
        </p:txBody>
      </p:sp>
      <p:sp>
        <p:nvSpPr>
          <p:cNvPr id="7" name="hf-868">
            <a:extLst xmlns:a="http://schemas.openxmlformats.org/drawingml/2006/main">
              <a:ext uri="{FF2B5EF4-FFF2-40B4-BE49-F238E27FC236}">
                <a16:creationId xmlns:a16="http://schemas.microsoft.com/office/drawing/2014/main" id="{C39EEF62-CAF3-46EA-8A4E-28A8EE35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025" y="1658188"/>
            <a:ext cx="218918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быстрее sort + unique, раз</a:t>
            </a:r>
          </a:p>
        </p:txBody>
      </p:sp>
      <p:sp>
        <p:nvSpPr>
          <p:cNvPr id="8" name="hf-869">
            <a:extLst xmlns:a="http://schemas.openxmlformats.org/drawingml/2006/main">
              <a:ext uri="{FF2B5EF4-FFF2-40B4-BE49-F238E27FC236}">
                <a16:creationId xmlns:a16="http://schemas.microsoft.com/office/drawing/2014/main" id="{11297CBA-67DF-437E-BD7F-969E9E03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050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9" name="hf-870">
            <a:extLst xmlns:a="http://schemas.openxmlformats.org/drawingml/2006/main">
              <a:ext uri="{FF2B5EF4-FFF2-40B4-BE49-F238E27FC236}">
                <a16:creationId xmlns:a16="http://schemas.microsoft.com/office/drawing/2014/main" id="{1082A86A-E6BF-46A9-979E-5DB069A9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65579"/>
            <a:ext cx="253089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sort + unique всего входа</a:t>
            </a:r>
          </a:p>
        </p:txBody>
      </p:sp>
      <p:sp>
        <p:nvSpPr>
          <p:cNvPr id="10" name="hf-871">
            <a:extLst xmlns:a="http://schemas.openxmlformats.org/drawingml/2006/main">
              <a:ext uri="{FF2B5EF4-FFF2-40B4-BE49-F238E27FC236}">
                <a16:creationId xmlns:a16="http://schemas.microsoft.com/office/drawing/2014/main" id="{CF486DCE-10D7-41B9-B69F-F753B7B6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17" y="1965579"/>
            <a:ext cx="94721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42,4 / 31,2</a:t>
            </a:r>
          </a:p>
        </p:txBody>
      </p:sp>
      <p:sp>
        <p:nvSpPr>
          <p:cNvPr id="11" name="hf-872">
            <a:extLst xmlns:a="http://schemas.openxmlformats.org/drawingml/2006/main">
              <a:ext uri="{FF2B5EF4-FFF2-40B4-BE49-F238E27FC236}">
                <a16:creationId xmlns:a16="http://schemas.microsoft.com/office/drawing/2014/main" id="{36E82F19-BE22-40D1-9D2D-021B32D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702" y="1965579"/>
            <a:ext cx="12590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hf-873">
            <a:extLst xmlns:a="http://schemas.openxmlformats.org/drawingml/2006/main">
              <a:ext uri="{FF2B5EF4-FFF2-40B4-BE49-F238E27FC236}">
                <a16:creationId xmlns:a16="http://schemas.microsoft.com/office/drawing/2014/main" id="{44B1934A-C59D-4779-9184-E6151919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145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3" name="hf-874">
            <a:extLst xmlns:a="http://schemas.openxmlformats.org/drawingml/2006/main">
              <a:ext uri="{FF2B5EF4-FFF2-40B4-BE49-F238E27FC236}">
                <a16:creationId xmlns:a16="http://schemas.microsoft.com/office/drawing/2014/main" id="{90A44712-12A2-4F21-AC09-E0D4F75C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75154"/>
            <a:ext cx="14527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</a:p>
        </p:txBody>
      </p:sp>
      <p:sp>
        <p:nvSpPr>
          <p:cNvPr id="14" name="hf-875">
            <a:extLst xmlns:a="http://schemas.openxmlformats.org/drawingml/2006/main">
              <a:ext uri="{FF2B5EF4-FFF2-40B4-BE49-F238E27FC236}">
                <a16:creationId xmlns:a16="http://schemas.microsoft.com/office/drawing/2014/main" id="{4A8A763A-3241-4EE1-A55E-9C5287AD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037" y="2375154"/>
            <a:ext cx="122537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240,8 / 247,0</a:t>
            </a:r>
          </a:p>
        </p:txBody>
      </p:sp>
      <p:sp>
        <p:nvSpPr>
          <p:cNvPr id="15" name="hf-876">
            <a:extLst xmlns:a="http://schemas.openxmlformats.org/drawingml/2006/main">
              <a:ext uri="{FF2B5EF4-FFF2-40B4-BE49-F238E27FC236}">
                <a16:creationId xmlns:a16="http://schemas.microsoft.com/office/drawing/2014/main" id="{8C2E5C27-3E4C-46CA-BBFA-1CD3B834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70" y="2375154"/>
            <a:ext cx="911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0,18 / 0,13</a:t>
            </a:r>
          </a:p>
        </p:txBody>
      </p:sp>
      <p:sp>
        <p:nvSpPr>
          <p:cNvPr id="16" name="hf-877">
            <a:extLst xmlns:a="http://schemas.openxmlformats.org/drawingml/2006/main">
              <a:ext uri="{FF2B5EF4-FFF2-40B4-BE49-F238E27FC236}">
                <a16:creationId xmlns:a16="http://schemas.microsoft.com/office/drawing/2014/main" id="{E5018DFA-7883-46DE-B9BA-58A7078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241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878">
            <a:extLst xmlns:a="http://schemas.openxmlformats.org/drawingml/2006/main">
              <a:ext uri="{FF2B5EF4-FFF2-40B4-BE49-F238E27FC236}">
                <a16:creationId xmlns:a16="http://schemas.microsoft.com/office/drawing/2014/main" id="{41F7DC1F-4660-458F-ADEC-279F0C1F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84729"/>
            <a:ext cx="13103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flat_hash_set</a:t>
            </a:r>
          </a:p>
        </p:txBody>
      </p:sp>
      <p:sp>
        <p:nvSpPr>
          <p:cNvPr id="18" name="hf-879">
            <a:extLst xmlns:a="http://schemas.openxmlformats.org/drawingml/2006/main">
              <a:ext uri="{FF2B5EF4-FFF2-40B4-BE49-F238E27FC236}">
                <a16:creationId xmlns:a16="http://schemas.microsoft.com/office/drawing/2014/main" id="{86605C9C-FB42-4C6A-90BA-8F8B391E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002" y="2784729"/>
            <a:ext cx="98152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39,3 / 36,4</a:t>
            </a:r>
          </a:p>
        </p:txBody>
      </p:sp>
      <p:sp>
        <p:nvSpPr>
          <p:cNvPr id="19" name="hf-880">
            <a:extLst xmlns:a="http://schemas.openxmlformats.org/drawingml/2006/main">
              <a:ext uri="{FF2B5EF4-FFF2-40B4-BE49-F238E27FC236}">
                <a16:creationId xmlns:a16="http://schemas.microsoft.com/office/drawing/2014/main" id="{9E83E346-E4FF-4283-9D4C-B47EBE33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221" y="2784729"/>
            <a:ext cx="6768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1,1 / 0,9</a:t>
            </a:r>
          </a:p>
        </p:txBody>
      </p:sp>
      <p:sp>
        <p:nvSpPr>
          <p:cNvPr id="20" name="hf-881">
            <a:extLst xmlns:a="http://schemas.openxmlformats.org/drawingml/2006/main">
              <a:ext uri="{FF2B5EF4-FFF2-40B4-BE49-F238E27FC236}">
                <a16:creationId xmlns:a16="http://schemas.microsoft.com/office/drawing/2014/main" id="{B2A9FEC2-BCD8-4BAB-AC5E-E95CD9B8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19450"/>
            <a:ext cx="80295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hf-882">
            <a:extLst xmlns:a="http://schemas.openxmlformats.org/drawingml/2006/main">
              <a:ext uri="{FF2B5EF4-FFF2-40B4-BE49-F238E27FC236}">
                <a16:creationId xmlns:a16="http://schemas.microsoft.com/office/drawing/2014/main" id="{772BA181-0CC0-49C9-B912-2FB9C92E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308604"/>
            <a:ext cx="319705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sort(Δ) + unique(Δ) + set_union</a:t>
            </a:r>
          </a:p>
        </p:txBody>
      </p:sp>
      <p:sp>
        <p:nvSpPr>
          <p:cNvPr id="22" name="hf-883">
            <a:extLst xmlns:a="http://schemas.openxmlformats.org/drawingml/2006/main">
              <a:ext uri="{FF2B5EF4-FFF2-40B4-BE49-F238E27FC236}">
                <a16:creationId xmlns:a16="http://schemas.microsoft.com/office/drawing/2014/main" id="{4B0086D8-C506-40FC-AF49-05875EC7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585162"/>
            <a:ext cx="29816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12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без unique(Δ) дубли дельты останутся</a:t>
            </a:r>
          </a:p>
        </p:txBody>
      </p:sp>
      <p:sp>
        <p:nvSpPr>
          <p:cNvPr id="23" name="hf-884">
            <a:extLst xmlns:a="http://schemas.openxmlformats.org/drawingml/2006/main">
              <a:ext uri="{FF2B5EF4-FFF2-40B4-BE49-F238E27FC236}">
                <a16:creationId xmlns:a16="http://schemas.microsoft.com/office/drawing/2014/main" id="{37B31348-E401-432D-86D7-1BC49925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477" y="3435020"/>
            <a:ext cx="100057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800" b="1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6,4 / 8,9</a:t>
            </a:r>
          </a:p>
        </p:txBody>
      </p:sp>
      <p:sp>
        <p:nvSpPr>
          <p:cNvPr id="24" name="hf-885">
            <a:extLst xmlns:a="http://schemas.openxmlformats.org/drawingml/2006/main">
              <a:ext uri="{FF2B5EF4-FFF2-40B4-BE49-F238E27FC236}">
                <a16:creationId xmlns:a16="http://schemas.microsoft.com/office/drawing/2014/main" id="{07DE4B7E-122B-4D4D-B8BC-917ADDFA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32" y="3356267"/>
            <a:ext cx="1873374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6,6 / 3,5</a:t>
            </a:r>
          </a:p>
        </p:txBody>
      </p:sp>
      <p:sp>
        <p:nvSpPr>
          <p:cNvPr id="25" name="hf-886">
            <a:extLst xmlns:a="http://schemas.openxmlformats.org/drawingml/2006/main">
              <a:ext uri="{FF2B5EF4-FFF2-40B4-BE49-F238E27FC236}">
                <a16:creationId xmlns:a16="http://schemas.microsoft.com/office/drawing/2014/main" id="{C94705F4-6765-46A4-91BB-D28D0CAC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80129"/>
            <a:ext cx="17453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iPhone, </a:t>
            </a:r>
            <a:r>
              <a:rPr sz="150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.utility</a:t>
            </a:r>
          </a:p>
        </p:txBody>
      </p:sp>
      <p:sp>
        <p:nvSpPr>
          <p:cNvPr id="26" name="hf-887">
            <a:extLst xmlns:a="http://schemas.openxmlformats.org/drawingml/2006/main">
              <a:ext uri="{FF2B5EF4-FFF2-40B4-BE49-F238E27FC236}">
                <a16:creationId xmlns:a16="http://schemas.microsoft.com/office/drawing/2014/main" id="{D862D6EB-FD3E-4C57-B76F-DF329FDF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881" y="4080129"/>
            <a:ext cx="340035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Серия на телефоне не снималась</a:t>
            </a:r>
          </a:p>
        </p:txBody>
      </p:sp>
      <p:pic>
        <p:nvPicPr>
          <p:cNvPr id="27" name="hf-888">
            <a:extLst xmlns:a="http://schemas.openxmlformats.org/drawingml/2006/main">
              <a:ext uri="{FF2B5EF4-FFF2-40B4-BE49-F238E27FC236}">
                <a16:creationId xmlns:a16="http://schemas.microsoft.com/office/drawing/2014/main" id="{5C11E9AA-372F-4394-84E4-A17AEBDD5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5578aacdc4e5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8" name="hf-889">
            <a:extLst xmlns:a="http://schemas.openxmlformats.org/drawingml/2006/main">
              <a:ext uri="{FF2B5EF4-FFF2-40B4-BE49-F238E27FC236}">
                <a16:creationId xmlns:a16="http://schemas.microsoft.com/office/drawing/2014/main" id="{6673965C-30C4-40A4-AC41-1F077AD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415138045"/>
      </p:ext>
    </p:extLst>
  </p:cSld>
</p:sld>
</file>

<file path=ppt/slides/slide40.xml><?xml version="1.0" encoding="utf-8"?>
<p:sld xmlns:p="http://schemas.openxmlformats.org/presentationml/2006/main" show="0">
  <p:cSld name="qos-bg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90">
            <a:extLst xmlns:a="http://schemas.openxmlformats.org/drawingml/2006/main">
              <a:ext uri="{FF2B5EF4-FFF2-40B4-BE49-F238E27FC236}">
                <a16:creationId xmlns:a16="http://schemas.microsoft.com/office/drawing/2014/main" id="{FB584BD8-909F-4D00-8532-283A9CA8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891">
            <a:extLst xmlns:a="http://schemas.openxmlformats.org/drawingml/2006/main">
              <a:ext uri="{FF2B5EF4-FFF2-40B4-BE49-F238E27FC236}">
                <a16:creationId xmlns:a16="http://schemas.microsoft.com/office/drawing/2014/main" id="{77E2098A-7974-4960-BA40-A1D9ABE4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75828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 background СОРТИРОВКА ВПЕРЕДИ И НА</a:t>
            </a:r>
          </a:p>
        </p:txBody>
      </p:sp>
      <p:sp>
        <p:nvSpPr>
          <p:cNvPr id="4" name="hf-892">
            <a:extLst xmlns:a="http://schemas.openxmlformats.org/drawingml/2006/main">
              <a:ext uri="{FF2B5EF4-FFF2-40B4-BE49-F238E27FC236}">
                <a16:creationId xmlns:a16="http://schemas.microsoft.com/office/drawing/2014/main" id="{7181299A-0096-49EF-8382-82773162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73732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Mac, И НА iPhone</a:t>
            </a:r>
          </a:p>
        </p:txBody>
      </p:sp>
      <p:sp>
        <p:nvSpPr>
          <p:cNvPr id="5" name="hf-893">
            <a:extLst xmlns:a="http://schemas.openxmlformats.org/drawingml/2006/main">
              <a:ext uri="{FF2B5EF4-FFF2-40B4-BE49-F238E27FC236}">
                <a16:creationId xmlns:a16="http://schemas.microsoft.com/office/drawing/2014/main" id="{341AF08B-44A6-4A18-8243-32070D21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425551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 = 512K, U = N/2 · в клетке: sort / хеш, нс на элемент</a:t>
            </a:r>
          </a:p>
        </p:txBody>
      </p:sp>
      <p:sp>
        <p:nvSpPr>
          <p:cNvPr id="6" name="hf-894">
            <a:extLst xmlns:a="http://schemas.openxmlformats.org/drawingml/2006/main">
              <a:ext uri="{FF2B5EF4-FFF2-40B4-BE49-F238E27FC236}">
                <a16:creationId xmlns:a16="http://schemas.microsoft.com/office/drawing/2014/main" id="{898659BF-4B84-44FD-940B-26121B7D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544" y="1684592"/>
            <a:ext cx="13064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 · M2 Pro</a:t>
            </a:r>
          </a:p>
        </p:txBody>
      </p:sp>
      <p:sp>
        <p:nvSpPr>
          <p:cNvPr id="7" name="hf-895">
            <a:extLst xmlns:a="http://schemas.openxmlformats.org/drawingml/2006/main">
              <a:ext uri="{FF2B5EF4-FFF2-40B4-BE49-F238E27FC236}">
                <a16:creationId xmlns:a16="http://schemas.microsoft.com/office/drawing/2014/main" id="{BCE7E104-6D79-4027-A788-E4C6ACE4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463" y="1684592"/>
            <a:ext cx="139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8" name="hf-896">
            <a:extLst xmlns:a="http://schemas.openxmlformats.org/drawingml/2006/main">
              <a:ext uri="{FF2B5EF4-FFF2-40B4-BE49-F238E27FC236}">
                <a16:creationId xmlns:a16="http://schemas.microsoft.com/office/drawing/2014/main" id="{EA60BA03-3BDB-4FE9-9E5C-C3728DF4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13217"/>
            <a:ext cx="13065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userInitiated</a:t>
            </a:r>
          </a:p>
        </p:txBody>
      </p:sp>
      <p:sp>
        <p:nvSpPr>
          <p:cNvPr id="9" name="hf-897">
            <a:extLst xmlns:a="http://schemas.openxmlformats.org/drawingml/2006/main">
              <a:ext uri="{FF2B5EF4-FFF2-40B4-BE49-F238E27FC236}">
                <a16:creationId xmlns:a16="http://schemas.microsoft.com/office/drawing/2014/main" id="{44784D6D-31F5-4465-9ACC-EB57EF4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79967"/>
            <a:ext cx="6174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utility</a:t>
            </a:r>
          </a:p>
        </p:txBody>
      </p:sp>
      <p:sp>
        <p:nvSpPr>
          <p:cNvPr id="10" name="hf-898">
            <a:extLst xmlns:a="http://schemas.openxmlformats.org/drawingml/2006/main">
              <a:ext uri="{FF2B5EF4-FFF2-40B4-BE49-F238E27FC236}">
                <a16:creationId xmlns:a16="http://schemas.microsoft.com/office/drawing/2014/main" id="{505778A0-F957-4AC9-B3FB-53D17069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46717"/>
            <a:ext cx="125350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background</a:t>
            </a:r>
          </a:p>
        </p:txBody>
      </p:sp>
      <p:sp>
        <p:nvSpPr>
          <p:cNvPr id="11" name="hf-899">
            <a:extLst xmlns:a="http://schemas.openxmlformats.org/drawingml/2006/main">
              <a:ext uri="{FF2B5EF4-FFF2-40B4-BE49-F238E27FC236}">
                <a16:creationId xmlns:a16="http://schemas.microsoft.com/office/drawing/2014/main" id="{EB42320F-31F9-410F-A6F8-97C4BE1A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2" name="hf-900">
            <a:extLst xmlns:a="http://schemas.openxmlformats.org/drawingml/2006/main">
              <a:ext uri="{FF2B5EF4-FFF2-40B4-BE49-F238E27FC236}">
                <a16:creationId xmlns:a16="http://schemas.microsoft.com/office/drawing/2014/main" id="{0E72128F-6B4D-4249-B900-10B2764E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37029"/>
            <a:ext cx="10596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≈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19,6 / 18,7</a:t>
            </a:r>
          </a:p>
        </p:txBody>
      </p:sp>
      <p:sp>
        <p:nvSpPr>
          <p:cNvPr id="13" name="hf-901">
            <a:extLst xmlns:a="http://schemas.openxmlformats.org/drawingml/2006/main">
              <a:ext uri="{FF2B5EF4-FFF2-40B4-BE49-F238E27FC236}">
                <a16:creationId xmlns:a16="http://schemas.microsoft.com/office/drawing/2014/main" id="{B917D7F9-596D-4A35-8ABF-845025E4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0002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4" name="hf-902">
            <a:extLst xmlns:a="http://schemas.openxmlformats.org/drawingml/2006/main">
              <a:ext uri="{FF2B5EF4-FFF2-40B4-BE49-F238E27FC236}">
                <a16:creationId xmlns:a16="http://schemas.microsoft.com/office/drawing/2014/main" id="{5EC87079-4542-46E8-9EED-94667627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2137029"/>
            <a:ext cx="10599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≈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19,6 / 18,2</a:t>
            </a:r>
          </a:p>
        </p:txBody>
      </p:sp>
      <p:sp>
        <p:nvSpPr>
          <p:cNvPr id="15" name="hf-903">
            <a:extLst xmlns:a="http://schemas.openxmlformats.org/drawingml/2006/main">
              <a:ext uri="{FF2B5EF4-FFF2-40B4-BE49-F238E27FC236}">
                <a16:creationId xmlns:a16="http://schemas.microsoft.com/office/drawing/2014/main" id="{F49F1624-76BA-42B3-BBC3-ECDEEE3B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hf-904">
            <a:extLst xmlns:a="http://schemas.openxmlformats.org/drawingml/2006/main">
              <a:ext uri="{FF2B5EF4-FFF2-40B4-BE49-F238E27FC236}">
                <a16:creationId xmlns:a16="http://schemas.microsoft.com/office/drawing/2014/main" id="{98B2C111-588B-47DE-96B4-8FC3AF24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3779"/>
            <a:ext cx="106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≈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20,1 / 21,0</a:t>
            </a:r>
          </a:p>
        </p:txBody>
      </p:sp>
      <p:sp>
        <p:nvSpPr>
          <p:cNvPr id="17" name="hf-905">
            <a:extLst xmlns:a="http://schemas.openxmlformats.org/drawingml/2006/main">
              <a:ext uri="{FF2B5EF4-FFF2-40B4-BE49-F238E27FC236}">
                <a16:creationId xmlns:a16="http://schemas.microsoft.com/office/drawing/2014/main" id="{A8300BFA-8204-4BAF-80EA-898A68F2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6670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8" name="hf-906">
            <a:extLst xmlns:a="http://schemas.openxmlformats.org/drawingml/2006/main">
              <a:ext uri="{FF2B5EF4-FFF2-40B4-BE49-F238E27FC236}">
                <a16:creationId xmlns:a16="http://schemas.microsoft.com/office/drawing/2014/main" id="{3028DBF8-9F36-499A-BDDC-27EA7765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2710034"/>
            <a:ext cx="1208112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sort ×1,9 </a:t>
            </a:r>
          </a:p>
        </p:txBody>
      </p:sp>
      <p:sp>
        <p:nvSpPr>
          <p:cNvPr id="19" name="hf-907">
            <a:extLst xmlns:a="http://schemas.openxmlformats.org/drawingml/2006/main">
              <a:ext uri="{FF2B5EF4-FFF2-40B4-BE49-F238E27FC236}">
                <a16:creationId xmlns:a16="http://schemas.microsoft.com/office/drawing/2014/main" id="{5A50202F-CB34-4E2A-A5C3-576D7E94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500" y="2688727"/>
            <a:ext cx="930771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55,3 / 105,3</a:t>
            </a:r>
          </a:p>
        </p:txBody>
      </p:sp>
      <p:sp>
        <p:nvSpPr>
          <p:cNvPr id="20" name="hf-908">
            <a:extLst xmlns:a="http://schemas.openxmlformats.org/drawingml/2006/main">
              <a:ext uri="{FF2B5EF4-FFF2-40B4-BE49-F238E27FC236}">
                <a16:creationId xmlns:a16="http://schemas.microsoft.com/office/drawing/2014/main" id="{C69934A3-FC00-40BC-98A4-B9B23326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hf-909">
            <a:extLst xmlns:a="http://schemas.openxmlformats.org/drawingml/2006/main">
              <a:ext uri="{FF2B5EF4-FFF2-40B4-BE49-F238E27FC236}">
                <a16:creationId xmlns:a16="http://schemas.microsoft.com/office/drawing/2014/main" id="{CD019F82-9A45-4470-B7A6-3CE165CB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6784"/>
            <a:ext cx="1208112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9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 ×1,9 </a:t>
            </a:r>
          </a:p>
        </p:txBody>
      </p:sp>
      <p:sp>
        <p:nvSpPr>
          <p:cNvPr id="22" name="hf-910">
            <a:extLst xmlns:a="http://schemas.openxmlformats.org/drawingml/2006/main">
              <a:ext uri="{FF2B5EF4-FFF2-40B4-BE49-F238E27FC236}">
                <a16:creationId xmlns:a16="http://schemas.microsoft.com/office/drawing/2014/main" id="{E0EE8FCE-6CC6-4685-AC7E-34F30726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962" y="3355477"/>
            <a:ext cx="955849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27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92,6 / 178,4</a:t>
            </a:r>
          </a:p>
        </p:txBody>
      </p:sp>
      <p:sp>
        <p:nvSpPr>
          <p:cNvPr id="23" name="hf-911">
            <a:extLst xmlns:a="http://schemas.openxmlformats.org/drawingml/2006/main">
              <a:ext uri="{FF2B5EF4-FFF2-40B4-BE49-F238E27FC236}">
                <a16:creationId xmlns:a16="http://schemas.microsoft.com/office/drawing/2014/main" id="{BB6B7CD6-FBB4-4B68-AA65-20A60A6D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33337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hf-912">
            <a:extLst xmlns:a="http://schemas.openxmlformats.org/drawingml/2006/main">
              <a:ext uri="{FF2B5EF4-FFF2-40B4-BE49-F238E27FC236}">
                <a16:creationId xmlns:a16="http://schemas.microsoft.com/office/drawing/2014/main" id="{F40CA005-4C34-421F-BB9F-8A4EB6EB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3376784"/>
            <a:ext cx="11991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9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 ×1,3 </a:t>
            </a:r>
          </a:p>
        </p:txBody>
      </p:sp>
      <p:sp>
        <p:nvSpPr>
          <p:cNvPr id="25" name="hf-913">
            <a:extLst xmlns:a="http://schemas.openxmlformats.org/drawingml/2006/main">
              <a:ext uri="{FF2B5EF4-FFF2-40B4-BE49-F238E27FC236}">
                <a16:creationId xmlns:a16="http://schemas.microsoft.com/office/drawing/2014/main" id="{962EE215-1E6E-4C5B-8656-5A0A7345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496" y="3355477"/>
            <a:ext cx="100481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27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145,6 / 195,2</a:t>
            </a:r>
          </a:p>
        </p:txBody>
      </p:sp>
      <p:sp>
        <p:nvSpPr>
          <p:cNvPr id="26" name="hf-914">
            <a:extLst xmlns:a="http://schemas.openxmlformats.org/drawingml/2006/main">
              <a:ext uri="{FF2B5EF4-FFF2-40B4-BE49-F238E27FC236}">
                <a16:creationId xmlns:a16="http://schemas.microsoft.com/office/drawing/2014/main" id="{51159864-F611-4BF0-961A-488C54BA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08704"/>
            <a:ext cx="61407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 этой серии </a:t>
            </a: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background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sort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впереди на обоих устройствах</a:t>
            </a:r>
          </a:p>
        </p:txBody>
      </p:sp>
      <p:pic>
        <p:nvPicPr>
          <p:cNvPr id="27" name="hf-915">
            <a:extLst xmlns:a="http://schemas.openxmlformats.org/drawingml/2006/main">
              <a:ext uri="{FF2B5EF4-FFF2-40B4-BE49-F238E27FC236}">
                <a16:creationId xmlns:a16="http://schemas.microsoft.com/office/drawing/2014/main" id="{E24BB95F-87BC-4F1F-8A81-FEBBF3F02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9a5df36b94cc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8" name="hf-916">
            <a:extLst xmlns:a="http://schemas.openxmlformats.org/drawingml/2006/main">
              <a:ext uri="{FF2B5EF4-FFF2-40B4-BE49-F238E27FC236}">
                <a16:creationId xmlns:a16="http://schemas.microsoft.com/office/drawing/2014/main" id="{64B61E0E-BE0E-45CD-B393-9C72EEF2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892724405"/>
      </p:ext>
    </p:extLst>
  </p:cSld>
</p:sld>
</file>

<file path=ppt/slides/slide41.xml><?xml version="1.0" encoding="utf-8"?>
<p:sld xmlns:p="http://schemas.openxmlformats.org/presentationml/2006/main" show="0">
  <p:cSld name="system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917">
            <a:extLst xmlns:a="http://schemas.openxmlformats.org/drawingml/2006/main">
              <a:ext uri="{FF2B5EF4-FFF2-40B4-BE49-F238E27FC236}">
                <a16:creationId xmlns:a16="http://schemas.microsoft.com/office/drawing/2014/main" id="{E5B98B32-612E-4FC2-B939-7895EA7A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918">
            <a:extLst xmlns:a="http://schemas.openxmlformats.org/drawingml/2006/main">
              <a:ext uri="{FF2B5EF4-FFF2-40B4-BE49-F238E27FC236}">
                <a16:creationId xmlns:a16="http://schemas.microsoft.com/office/drawing/2014/main" id="{21DF3F64-9A3B-447F-ACF4-097A0A8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48223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У КАЖДОЙ СИСТЕМЫ СВОЯ ТОЧКА</a:t>
            </a:r>
          </a:p>
        </p:txBody>
      </p:sp>
      <p:sp>
        <p:nvSpPr>
          <p:cNvPr id="4" name="hf-919">
            <a:extLst xmlns:a="http://schemas.openxmlformats.org/drawingml/2006/main">
              <a:ext uri="{FF2B5EF4-FFF2-40B4-BE49-F238E27FC236}">
                <a16:creationId xmlns:a16="http://schemas.microsoft.com/office/drawing/2014/main" id="{FBE70D27-E776-4D64-8964-E5B8C9F3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76130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ПЕРЕХОДА</a:t>
            </a:r>
          </a:p>
        </p:txBody>
      </p:sp>
      <p:sp>
        <p:nvSpPr>
          <p:cNvPr id="5" name="hf-920">
            <a:extLst xmlns:a="http://schemas.openxmlformats.org/drawingml/2006/main">
              <a:ext uri="{FF2B5EF4-FFF2-40B4-BE49-F238E27FC236}">
                <a16:creationId xmlns:a16="http://schemas.microsoft.com/office/drawing/2014/main" id="{A4AA1282-449E-448E-A404-BB49DE6C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62370"/>
            <a:ext cx="4709666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 = U = 2²⁰: во сколько раз sort быстрее unordered_set</a:t>
            </a:r>
          </a:p>
        </p:txBody>
      </p:sp>
      <p:sp>
        <p:nvSpPr>
          <p:cNvPr id="6" name="hf-921">
            <a:extLst xmlns:a="http://schemas.openxmlformats.org/drawingml/2006/main">
              <a:ext uri="{FF2B5EF4-FFF2-40B4-BE49-F238E27FC236}">
                <a16:creationId xmlns:a16="http://schemas.microsoft.com/office/drawing/2014/main" id="{EBE13F4A-29A0-46CF-8CC7-D71AEFEA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1" y="1789909"/>
            <a:ext cx="105496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81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x86 · Linux</a:t>
            </a:r>
          </a:p>
        </p:txBody>
      </p:sp>
      <p:sp>
        <p:nvSpPr>
          <p:cNvPr id="7" name="hf-922">
            <a:extLst xmlns:a="http://schemas.openxmlformats.org/drawingml/2006/main">
              <a:ext uri="{FF2B5EF4-FFF2-40B4-BE49-F238E27FC236}">
                <a16:creationId xmlns:a16="http://schemas.microsoft.com/office/drawing/2014/main" id="{92806888-6BC2-4869-84B5-5A8A68C9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91" y="2096881"/>
            <a:ext cx="1315343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Xeon VM · GCC 13</a:t>
            </a:r>
          </a:p>
        </p:txBody>
      </p:sp>
      <p:sp>
        <p:nvSpPr>
          <p:cNvPr id="8" name="hf-923">
            <a:extLst xmlns:a="http://schemas.openxmlformats.org/drawingml/2006/main">
              <a:ext uri="{FF2B5EF4-FFF2-40B4-BE49-F238E27FC236}">
                <a16:creationId xmlns:a16="http://schemas.microsoft.com/office/drawing/2014/main" id="{B28E08B7-53FB-4FA3-9931-AFCA2C9E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28875"/>
            <a:ext cx="180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hf-924">
            <a:extLst xmlns:a="http://schemas.openxmlformats.org/drawingml/2006/main">
              <a:ext uri="{FF2B5EF4-FFF2-40B4-BE49-F238E27FC236}">
                <a16:creationId xmlns:a16="http://schemas.microsoft.com/office/drawing/2014/main" id="{FDB7D718-09AB-488B-A1DC-F5E85E30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7" y="2552757"/>
            <a:ext cx="1154311" cy="439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08"/>
              </a:lnSpc>
              <a:buNone/>
            </a:pPr>
            <a:r>
              <a:rPr sz="31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×2,07</a:t>
            </a:r>
          </a:p>
        </p:txBody>
      </p:sp>
      <p:sp>
        <p:nvSpPr>
          <p:cNvPr id="10" name="hf-925">
            <a:extLst xmlns:a="http://schemas.openxmlformats.org/drawingml/2006/main">
              <a:ext uri="{FF2B5EF4-FFF2-40B4-BE49-F238E27FC236}">
                <a16:creationId xmlns:a16="http://schemas.microsoft.com/office/drawing/2014/main" id="{CC788F2A-2581-4503-9B69-6662977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" y="3597412"/>
            <a:ext cx="1185788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= 16 и от 2M</a:t>
            </a:r>
          </a:p>
        </p:txBody>
      </p:sp>
      <p:sp>
        <p:nvSpPr>
          <p:cNvPr id="11" name="hf-926">
            <a:extLst xmlns:a="http://schemas.openxmlformats.org/drawingml/2006/main">
              <a:ext uri="{FF2B5EF4-FFF2-40B4-BE49-F238E27FC236}">
                <a16:creationId xmlns:a16="http://schemas.microsoft.com/office/drawing/2014/main" id="{84EF6760-BBF9-4FBA-8C1F-96311887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698" y="1789909"/>
            <a:ext cx="136780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81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M2 Pro · Linux</a:t>
            </a:r>
          </a:p>
        </p:txBody>
      </p:sp>
      <p:sp>
        <p:nvSpPr>
          <p:cNvPr id="12" name="hf-927">
            <a:extLst xmlns:a="http://schemas.openxmlformats.org/drawingml/2006/main">
              <a:ext uri="{FF2B5EF4-FFF2-40B4-BE49-F238E27FC236}">
                <a16:creationId xmlns:a16="http://schemas.microsoft.com/office/drawing/2014/main" id="{239A98B5-D02C-4CD3-A312-FB3C66FA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827" y="2096881"/>
            <a:ext cx="873547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VM · GCC 11</a:t>
            </a:r>
          </a:p>
        </p:txBody>
      </p:sp>
      <p:sp>
        <p:nvSpPr>
          <p:cNvPr id="13" name="hf-928">
            <a:extLst xmlns:a="http://schemas.openxmlformats.org/drawingml/2006/main">
              <a:ext uri="{FF2B5EF4-FFF2-40B4-BE49-F238E27FC236}">
                <a16:creationId xmlns:a16="http://schemas.microsoft.com/office/drawing/2014/main" id="{5705225C-E962-4C0E-A9DA-964BA94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428875"/>
            <a:ext cx="180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4" name="hf-929">
            <a:extLst xmlns:a="http://schemas.openxmlformats.org/drawingml/2006/main">
              <a:ext uri="{FF2B5EF4-FFF2-40B4-BE49-F238E27FC236}">
                <a16:creationId xmlns:a16="http://schemas.microsoft.com/office/drawing/2014/main" id="{CE6E4927-95EF-4DE6-91DD-8E5EEE1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700" y="2552757"/>
            <a:ext cx="1139800" cy="439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08"/>
              </a:lnSpc>
              <a:buNone/>
            </a:pPr>
            <a:r>
              <a:rPr sz="31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×2,67</a:t>
            </a:r>
          </a:p>
        </p:txBody>
      </p:sp>
      <p:sp>
        <p:nvSpPr>
          <p:cNvPr id="15" name="hf-930">
            <a:extLst xmlns:a="http://schemas.openxmlformats.org/drawingml/2006/main">
              <a:ext uri="{FF2B5EF4-FFF2-40B4-BE49-F238E27FC236}">
                <a16:creationId xmlns:a16="http://schemas.microsoft.com/office/drawing/2014/main" id="{C2DA1856-0DD1-40D1-AD4B-D8E1CFF0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412" y="3597412"/>
            <a:ext cx="1282378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≤ 128 и от 2M</a:t>
            </a:r>
          </a:p>
        </p:txBody>
      </p:sp>
      <p:sp>
        <p:nvSpPr>
          <p:cNvPr id="16" name="hf-931">
            <a:extLst xmlns:a="http://schemas.openxmlformats.org/drawingml/2006/main">
              <a:ext uri="{FF2B5EF4-FFF2-40B4-BE49-F238E27FC236}">
                <a16:creationId xmlns:a16="http://schemas.microsoft.com/office/drawing/2014/main" id="{FCE104B3-BF62-454D-805E-9EC0005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678" y="1789909"/>
            <a:ext cx="152779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81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M2 Pro · macOS</a:t>
            </a:r>
          </a:p>
        </p:txBody>
      </p:sp>
      <p:sp>
        <p:nvSpPr>
          <p:cNvPr id="17" name="hf-932">
            <a:extLst xmlns:a="http://schemas.openxmlformats.org/drawingml/2006/main">
              <a:ext uri="{FF2B5EF4-FFF2-40B4-BE49-F238E27FC236}">
                <a16:creationId xmlns:a16="http://schemas.microsoft.com/office/drawing/2014/main" id="{D19737CC-9DB8-4ABC-B911-51A3EEBF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58" y="2096881"/>
            <a:ext cx="487635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libc++</a:t>
            </a:r>
          </a:p>
        </p:txBody>
      </p:sp>
      <p:sp>
        <p:nvSpPr>
          <p:cNvPr id="18" name="hf-933">
            <a:extLst xmlns:a="http://schemas.openxmlformats.org/drawingml/2006/main">
              <a:ext uri="{FF2B5EF4-FFF2-40B4-BE49-F238E27FC236}">
                <a16:creationId xmlns:a16="http://schemas.microsoft.com/office/drawing/2014/main" id="{B8C6DF6E-5066-490F-8CA8-3B35741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2428875"/>
            <a:ext cx="180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9" name="hf-934">
            <a:extLst xmlns:a="http://schemas.openxmlformats.org/drawingml/2006/main">
              <a:ext uri="{FF2B5EF4-FFF2-40B4-BE49-F238E27FC236}">
                <a16:creationId xmlns:a16="http://schemas.microsoft.com/office/drawing/2014/main" id="{BDC2C943-EB35-4913-9951-C9E86DCE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610" y="2552757"/>
            <a:ext cx="1136005" cy="439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08"/>
              </a:lnSpc>
              <a:buNone/>
            </a:pPr>
            <a:r>
              <a:rPr sz="31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×2,59</a:t>
            </a:r>
          </a:p>
        </p:txBody>
      </p:sp>
      <p:sp>
        <p:nvSpPr>
          <p:cNvPr id="20" name="hf-935">
            <a:extLst xmlns:a="http://schemas.openxmlformats.org/drawingml/2006/main">
              <a:ext uri="{FF2B5EF4-FFF2-40B4-BE49-F238E27FC236}">
                <a16:creationId xmlns:a16="http://schemas.microsoft.com/office/drawing/2014/main" id="{2A016A0A-D9F3-4147-B5D6-E99DBDF1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917" y="3597412"/>
            <a:ext cx="1277392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≤ 256 и от 1M</a:t>
            </a:r>
          </a:p>
        </p:txBody>
      </p:sp>
      <p:sp>
        <p:nvSpPr>
          <p:cNvPr id="21" name="hf-936">
            <a:extLst xmlns:a="http://schemas.openxmlformats.org/drawingml/2006/main">
              <a:ext uri="{FF2B5EF4-FFF2-40B4-BE49-F238E27FC236}">
                <a16:creationId xmlns:a16="http://schemas.microsoft.com/office/drawing/2014/main" id="{9858967A-FADC-40D9-8CD6-4C9A5842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499" y="1789909"/>
            <a:ext cx="1330077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81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22" name="hf-937">
            <a:extLst xmlns:a="http://schemas.openxmlformats.org/drawingml/2006/main">
              <a:ext uri="{FF2B5EF4-FFF2-40B4-BE49-F238E27FC236}">
                <a16:creationId xmlns:a16="http://schemas.microsoft.com/office/drawing/2014/main" id="{16C44AE8-4FBA-4305-893A-858E3121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585" y="2096881"/>
            <a:ext cx="805904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A16 Bionic</a:t>
            </a:r>
          </a:p>
        </p:txBody>
      </p:sp>
      <p:sp>
        <p:nvSpPr>
          <p:cNvPr id="23" name="hf-938">
            <a:extLst xmlns:a="http://schemas.openxmlformats.org/drawingml/2006/main">
              <a:ext uri="{FF2B5EF4-FFF2-40B4-BE49-F238E27FC236}">
                <a16:creationId xmlns:a16="http://schemas.microsoft.com/office/drawing/2014/main" id="{1021C6C1-9EAC-4874-B4D6-13E228E5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2428875"/>
            <a:ext cx="17716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4" name="hf-939">
            <a:extLst xmlns:a="http://schemas.openxmlformats.org/drawingml/2006/main">
              <a:ext uri="{FF2B5EF4-FFF2-40B4-BE49-F238E27FC236}">
                <a16:creationId xmlns:a16="http://schemas.microsoft.com/office/drawing/2014/main" id="{D2B47098-D954-4451-9E98-7BA66FB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804" y="2552757"/>
            <a:ext cx="1115467" cy="439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08"/>
              </a:lnSpc>
              <a:buNone/>
            </a:pPr>
            <a:r>
              <a:rPr sz="31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×2,53</a:t>
            </a:r>
          </a:p>
        </p:txBody>
      </p:sp>
      <p:sp>
        <p:nvSpPr>
          <p:cNvPr id="25" name="hf-940">
            <a:extLst xmlns:a="http://schemas.openxmlformats.org/drawingml/2006/main">
              <a:ext uri="{FF2B5EF4-FFF2-40B4-BE49-F238E27FC236}">
                <a16:creationId xmlns:a16="http://schemas.microsoft.com/office/drawing/2014/main" id="{8360AAEA-77D7-49A7-9C51-A72F0D32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842" y="3597412"/>
            <a:ext cx="1277392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≤ 256 и от 1M</a:t>
            </a:r>
          </a:p>
        </p:txBody>
      </p:sp>
      <p:sp>
        <p:nvSpPr>
          <p:cNvPr id="26" name="hf-941">
            <a:extLst xmlns:a="http://schemas.openxmlformats.org/drawingml/2006/main">
              <a:ext uri="{FF2B5EF4-FFF2-40B4-BE49-F238E27FC236}">
                <a16:creationId xmlns:a16="http://schemas.microsoft.com/office/drawing/2014/main" id="{D8DE4AF5-D429-4595-A90F-B3428170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34045"/>
            <a:ext cx="219610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U = N/2: где sort впереди</a:t>
            </a:r>
          </a:p>
        </p:txBody>
      </p:sp>
      <p:sp>
        <p:nvSpPr>
          <p:cNvPr id="27" name="hf-942">
            <a:extLst xmlns:a="http://schemas.openxmlformats.org/drawingml/2006/main">
              <a:ext uri="{FF2B5EF4-FFF2-40B4-BE49-F238E27FC236}">
                <a16:creationId xmlns:a16="http://schemas.microsoft.com/office/drawing/2014/main" id="{B0AEE176-3EDC-447F-A573-AF170C3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95738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8" name="hf-943">
            <a:extLst xmlns:a="http://schemas.openxmlformats.org/drawingml/2006/main">
              <a:ext uri="{FF2B5EF4-FFF2-40B4-BE49-F238E27FC236}">
                <a16:creationId xmlns:a16="http://schemas.microsoft.com/office/drawing/2014/main" id="{1F39810E-C579-477E-9E2A-3AFA096A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90686"/>
            <a:ext cx="5911528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Системы целиком: CPU, ОС, библиотека и режим исполнения</a:t>
            </a:r>
          </a:p>
        </p:txBody>
      </p:sp>
      <p:pic>
        <p:nvPicPr>
          <p:cNvPr id="29" name="hf-944">
            <a:extLst xmlns:a="http://schemas.openxmlformats.org/drawingml/2006/main">
              <a:ext uri="{FF2B5EF4-FFF2-40B4-BE49-F238E27FC236}">
                <a16:creationId xmlns:a16="http://schemas.microsoft.com/office/drawing/2014/main" id="{2DEF24EB-2DA4-4583-84CB-9BAB8C9B2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77eb9c60e44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0" name="hf-945">
            <a:extLst xmlns:a="http://schemas.openxmlformats.org/drawingml/2006/main">
              <a:ext uri="{FF2B5EF4-FFF2-40B4-BE49-F238E27FC236}">
                <a16:creationId xmlns:a16="http://schemas.microsoft.com/office/drawing/2014/main" id="{F19376FF-2D99-470E-835D-5E8BB38E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430392290"/>
      </p:ext>
    </p:extLst>
  </p:cSld>
</p:sld>
</file>

<file path=ppt/slides/slide42.xml><?xml version="1.0" encoding="utf-8"?>
<p:sld xmlns:p="http://schemas.openxmlformats.org/presentationml/2006/main" show="0">
  <p:cSld name="drif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946">
            <a:extLst xmlns:a="http://schemas.openxmlformats.org/drawingml/2006/main">
              <a:ext uri="{FF2B5EF4-FFF2-40B4-BE49-F238E27FC236}">
                <a16:creationId xmlns:a16="http://schemas.microsoft.com/office/drawing/2014/main" id="{52F43B23-E910-442E-B68D-2807C87D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947">
            <a:extLst xmlns:a="http://schemas.openxmlformats.org/drawingml/2006/main">
              <a:ext uri="{FF2B5EF4-FFF2-40B4-BE49-F238E27FC236}">
                <a16:creationId xmlns:a16="http://schemas.microsoft.com/office/drawing/2014/main" id="{FCFF0ED4-67DD-4D2C-AA6F-CF6C46BD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60484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ДВЕ МИНУТЫ ПОД НАГРУЗКОЙ: ПОРЯДОК</a:t>
            </a:r>
          </a:p>
        </p:txBody>
      </p:sp>
      <p:sp>
        <p:nvSpPr>
          <p:cNvPr id="4" name="hf-948">
            <a:extLst xmlns:a="http://schemas.openxmlformats.org/drawingml/2006/main">
              <a:ext uri="{FF2B5EF4-FFF2-40B4-BE49-F238E27FC236}">
                <a16:creationId xmlns:a16="http://schemas.microsoft.com/office/drawing/2014/main" id="{6856056D-736E-451E-B947-1AEABCAE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51445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НЕ ИЗМЕНИЛСЯ</a:t>
            </a:r>
          </a:p>
        </p:txBody>
      </p:sp>
      <p:sp>
        <p:nvSpPr>
          <p:cNvPr id="5" name="hf-949">
            <a:extLst xmlns:a="http://schemas.openxmlformats.org/drawingml/2006/main">
              <a:ext uri="{FF2B5EF4-FFF2-40B4-BE49-F238E27FC236}">
                <a16:creationId xmlns:a16="http://schemas.microsoft.com/office/drawing/2014/main" id="{B4E51100-D579-4D5A-9C0F-085DD4A6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46281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iPhone · N = 256K, U = N/2 · нс на элемент, ниже — лучше</a:t>
            </a:r>
          </a:p>
        </p:txBody>
      </p:sp>
      <p:sp>
        <p:nvSpPr>
          <p:cNvPr id="6" name="hf-950">
            <a:extLst xmlns:a="http://schemas.openxmlformats.org/drawingml/2006/main">
              <a:ext uri="{FF2B5EF4-FFF2-40B4-BE49-F238E27FC236}">
                <a16:creationId xmlns:a16="http://schemas.microsoft.com/office/drawing/2014/main" id="{A34FD6CD-93A0-4411-BC89-E63411C5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7" name="hf-951">
            <a:extLst xmlns:a="http://schemas.openxmlformats.org/drawingml/2006/main">
              <a:ext uri="{FF2B5EF4-FFF2-40B4-BE49-F238E27FC236}">
                <a16:creationId xmlns:a16="http://schemas.microsoft.com/office/drawing/2014/main" id="{86354BE0-96A0-4A0B-808E-F45DE28B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8" name="hf-952">
            <a:extLst xmlns:a="http://schemas.openxmlformats.org/drawingml/2006/main">
              <a:ext uri="{FF2B5EF4-FFF2-40B4-BE49-F238E27FC236}">
                <a16:creationId xmlns:a16="http://schemas.microsoft.com/office/drawing/2014/main" id="{6978ACF3-2432-4DB1-80D3-B08366C7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9" name="hf-953">
            <a:extLst xmlns:a="http://schemas.openxmlformats.org/drawingml/2006/main">
              <a:ext uri="{FF2B5EF4-FFF2-40B4-BE49-F238E27FC236}">
                <a16:creationId xmlns:a16="http://schemas.microsoft.com/office/drawing/2014/main" id="{BD13433C-BD42-471C-ACFA-9009DC9D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0" name="hf-954">
            <a:extLst xmlns:a="http://schemas.openxmlformats.org/drawingml/2006/main">
              <a:ext uri="{FF2B5EF4-FFF2-40B4-BE49-F238E27FC236}">
                <a16:creationId xmlns:a16="http://schemas.microsoft.com/office/drawing/2014/main" id="{86A0DFB7-0371-47E8-B6B1-A0B34418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F8F8F"/>
            </a:solidFill>
          </a:ln>
        </p:spPr>
      </p:sp>
      <p:sp>
        <p:nvSpPr>
          <p:cNvPr id="11" name="hf-955">
            <a:extLst xmlns:a="http://schemas.openxmlformats.org/drawingml/2006/main">
              <a:ext uri="{FF2B5EF4-FFF2-40B4-BE49-F238E27FC236}">
                <a16:creationId xmlns:a16="http://schemas.microsoft.com/office/drawing/2014/main" id="{389F2F7C-2651-4234-891A-5673A364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3" y="2316480"/>
            <a:ext cx="3800475" cy="1333500"/>
          </a:xfrm>
          <a:custGeom xmlns:a="http://schemas.openxmlformats.org/drawingml/2006/main">
            <a:pathLst>
              <a:path w="3800475" h="1333500">
                <a:moveTo>
                  <a:pt x="0" y="1333500"/>
                </a:moveTo>
                <a:lnTo>
                  <a:pt x="1628775" y="746760"/>
                </a:lnTo>
                <a:lnTo>
                  <a:pt x="3257550" y="426720"/>
                </a:lnTo>
                <a:lnTo>
                  <a:pt x="3800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2489B"/>
            </a:solidFill>
          </a:ln>
        </p:spPr>
      </p:sp>
      <p:sp>
        <p:nvSpPr>
          <p:cNvPr id="12" name="hf-956">
            <a:extLst xmlns:a="http://schemas.openxmlformats.org/drawingml/2006/main">
              <a:ext uri="{FF2B5EF4-FFF2-40B4-BE49-F238E27FC236}">
                <a16:creationId xmlns:a16="http://schemas.microsoft.com/office/drawing/2014/main" id="{D6A50684-8193-4D43-A7E2-47A49B21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59759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hf-957">
            <a:extLst xmlns:a="http://schemas.openxmlformats.org/drawingml/2006/main">
              <a:ext uri="{FF2B5EF4-FFF2-40B4-BE49-F238E27FC236}">
                <a16:creationId xmlns:a16="http://schemas.microsoft.com/office/drawing/2014/main" id="{9663ECB3-ED9F-4A85-A668-AA73EB0B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1085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4" name="hf-958">
            <a:extLst xmlns:a="http://schemas.openxmlformats.org/drawingml/2006/main">
              <a:ext uri="{FF2B5EF4-FFF2-40B4-BE49-F238E27FC236}">
                <a16:creationId xmlns:a16="http://schemas.microsoft.com/office/drawing/2014/main" id="{86590262-F119-4142-A1EB-17B93139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90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hf-959">
            <a:extLst xmlns:a="http://schemas.openxmlformats.org/drawingml/2006/main">
              <a:ext uri="{FF2B5EF4-FFF2-40B4-BE49-F238E27FC236}">
                <a16:creationId xmlns:a16="http://schemas.microsoft.com/office/drawing/2014/main" id="{7F9CABBC-EBD3-4957-8325-60034BB0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409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6" name="hf-960">
            <a:extLst xmlns:a="http://schemas.openxmlformats.org/drawingml/2006/main">
              <a:ext uri="{FF2B5EF4-FFF2-40B4-BE49-F238E27FC236}">
                <a16:creationId xmlns:a16="http://schemas.microsoft.com/office/drawing/2014/main" id="{9417DD17-79E2-4D5C-8BAD-6E9418A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3" y="1996440"/>
            <a:ext cx="3800475" cy="1013460"/>
          </a:xfrm>
          <a:custGeom xmlns:a="http://schemas.openxmlformats.org/drawingml/2006/main">
            <a:pathLst>
              <a:path w="3800475" h="1013460">
                <a:moveTo>
                  <a:pt x="0" y="1013460"/>
                </a:moveTo>
                <a:lnTo>
                  <a:pt x="1628775" y="1013460"/>
                </a:lnTo>
                <a:lnTo>
                  <a:pt x="3257550" y="213360"/>
                </a:lnTo>
                <a:lnTo>
                  <a:pt x="3800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6CDAE"/>
            </a:solidFill>
          </a:ln>
        </p:spPr>
      </p:sp>
      <p:sp>
        <p:nvSpPr>
          <p:cNvPr id="17" name="hf-961">
            <a:extLst xmlns:a="http://schemas.openxmlformats.org/drawingml/2006/main">
              <a:ext uri="{FF2B5EF4-FFF2-40B4-BE49-F238E27FC236}">
                <a16:creationId xmlns:a16="http://schemas.microsoft.com/office/drawing/2014/main" id="{197007DE-652B-43DA-A72A-E0AD6023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9575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" name="hf-962">
            <a:extLst xmlns:a="http://schemas.openxmlformats.org/drawingml/2006/main">
              <a:ext uri="{FF2B5EF4-FFF2-40B4-BE49-F238E27FC236}">
                <a16:creationId xmlns:a16="http://schemas.microsoft.com/office/drawing/2014/main" id="{15DC4FF4-4972-4ED5-8B19-912A96CE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75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hf-963">
            <a:extLst xmlns:a="http://schemas.openxmlformats.org/drawingml/2006/main">
              <a:ext uri="{FF2B5EF4-FFF2-40B4-BE49-F238E27FC236}">
                <a16:creationId xmlns:a16="http://schemas.microsoft.com/office/drawing/2014/main" id="{F1A6BBE6-028D-452F-A014-A151D4E7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574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0" name="hf-964">
            <a:extLst xmlns:a="http://schemas.openxmlformats.org/drawingml/2006/main">
              <a:ext uri="{FF2B5EF4-FFF2-40B4-BE49-F238E27FC236}">
                <a16:creationId xmlns:a16="http://schemas.microsoft.com/office/drawing/2014/main" id="{4AFABAFA-5250-4A0D-9CDA-23D77296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405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hf-965">
            <a:extLst xmlns:a="http://schemas.openxmlformats.org/drawingml/2006/main">
              <a:ext uri="{FF2B5EF4-FFF2-40B4-BE49-F238E27FC236}">
                <a16:creationId xmlns:a16="http://schemas.microsoft.com/office/drawing/2014/main" id="{3C8CB842-590C-4FE2-9C8B-CF87D4B5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270" y="2870454"/>
            <a:ext cx="40421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19,0</a:t>
            </a:r>
          </a:p>
        </p:txBody>
      </p:sp>
      <p:sp>
        <p:nvSpPr>
          <p:cNvPr id="22" name="hf-966">
            <a:extLst xmlns:a="http://schemas.openxmlformats.org/drawingml/2006/main">
              <a:ext uri="{FF2B5EF4-FFF2-40B4-BE49-F238E27FC236}">
                <a16:creationId xmlns:a16="http://schemas.microsoft.com/office/drawing/2014/main" id="{CD63C075-2048-4BEF-9A4E-3B6A9F27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97" y="3508629"/>
            <a:ext cx="3917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17,8</a:t>
            </a:r>
          </a:p>
        </p:txBody>
      </p:sp>
      <p:sp>
        <p:nvSpPr>
          <p:cNvPr id="23" name="hf-967">
            <a:extLst xmlns:a="http://schemas.openxmlformats.org/drawingml/2006/main">
              <a:ext uri="{FF2B5EF4-FFF2-40B4-BE49-F238E27FC236}">
                <a16:creationId xmlns:a16="http://schemas.microsoft.com/office/drawing/2014/main" id="{EB4A953E-14C4-453A-945D-5386A833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1827467"/>
            <a:ext cx="44544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20,9</a:t>
            </a:r>
          </a:p>
        </p:txBody>
      </p:sp>
      <p:sp>
        <p:nvSpPr>
          <p:cNvPr id="24" name="hf-968">
            <a:extLst xmlns:a="http://schemas.openxmlformats.org/drawingml/2006/main">
              <a:ext uri="{FF2B5EF4-FFF2-40B4-BE49-F238E27FC236}">
                <a16:creationId xmlns:a16="http://schemas.microsoft.com/office/drawing/2014/main" id="{19EA5BEC-4FAA-4AA2-87E2-7DDAF9FC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203704"/>
            <a:ext cx="438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20,3</a:t>
            </a:r>
          </a:p>
        </p:txBody>
      </p:sp>
      <p:sp>
        <p:nvSpPr>
          <p:cNvPr id="25" name="hf-969">
            <a:extLst xmlns:a="http://schemas.openxmlformats.org/drawingml/2006/main">
              <a:ext uri="{FF2B5EF4-FFF2-40B4-BE49-F238E27FC236}">
                <a16:creationId xmlns:a16="http://schemas.microsoft.com/office/drawing/2014/main" id="{E771DB69-8895-4FB7-887A-890B6AC6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218" y="3906088"/>
            <a:ext cx="29021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0 с</a:t>
            </a:r>
          </a:p>
        </p:txBody>
      </p:sp>
      <p:sp>
        <p:nvSpPr>
          <p:cNvPr id="26" name="hf-970">
            <a:extLst xmlns:a="http://schemas.openxmlformats.org/drawingml/2006/main">
              <a:ext uri="{FF2B5EF4-FFF2-40B4-BE49-F238E27FC236}">
                <a16:creationId xmlns:a16="http://schemas.microsoft.com/office/drawing/2014/main" id="{A34725BF-E9C6-473B-8C29-021892E8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3906088"/>
            <a:ext cx="3857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60 с</a:t>
            </a:r>
          </a:p>
        </p:txBody>
      </p:sp>
      <p:sp>
        <p:nvSpPr>
          <p:cNvPr id="27" name="hf-971">
            <a:extLst xmlns:a="http://schemas.openxmlformats.org/drawingml/2006/main">
              <a:ext uri="{FF2B5EF4-FFF2-40B4-BE49-F238E27FC236}">
                <a16:creationId xmlns:a16="http://schemas.microsoft.com/office/drawing/2014/main" id="{9D06D018-70A9-46A8-8359-156BC17F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245" y="3906088"/>
            <a:ext cx="43688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120 с</a:t>
            </a:r>
          </a:p>
        </p:txBody>
      </p:sp>
      <p:sp>
        <p:nvSpPr>
          <p:cNvPr id="28" name="hf-972">
            <a:extLst xmlns:a="http://schemas.openxmlformats.org/drawingml/2006/main">
              <a:ext uri="{FF2B5EF4-FFF2-40B4-BE49-F238E27FC236}">
                <a16:creationId xmlns:a16="http://schemas.microsoft.com/office/drawing/2014/main" id="{03DA281B-4FD5-4234-B3E0-CBE2DC5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1267"/>
            <a:ext cx="1353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29" name="hf-973">
            <a:extLst xmlns:a="http://schemas.openxmlformats.org/drawingml/2006/main">
              <a:ext uri="{FF2B5EF4-FFF2-40B4-BE49-F238E27FC236}">
                <a16:creationId xmlns:a16="http://schemas.microsoft.com/office/drawing/2014/main" id="{77834CCD-30EF-4530-A9BA-86BD2668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1817"/>
            <a:ext cx="1214363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+10%</a:t>
            </a:r>
          </a:p>
        </p:txBody>
      </p:sp>
      <p:sp>
        <p:nvSpPr>
          <p:cNvPr id="30" name="hf-974">
            <a:extLst xmlns:a="http://schemas.openxmlformats.org/drawingml/2006/main">
              <a:ext uri="{FF2B5EF4-FFF2-40B4-BE49-F238E27FC236}">
                <a16:creationId xmlns:a16="http://schemas.microsoft.com/office/drawing/2014/main" id="{A72418EE-13E3-4509-8B41-9D299898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51392"/>
            <a:ext cx="14899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31" name="hf-975">
            <a:extLst xmlns:a="http://schemas.openxmlformats.org/drawingml/2006/main">
              <a:ext uri="{FF2B5EF4-FFF2-40B4-BE49-F238E27FC236}">
                <a16:creationId xmlns:a16="http://schemas.microsoft.com/office/drawing/2014/main" id="{63655753-1119-42DD-AC61-88F8CE4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1942"/>
            <a:ext cx="1207517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+14%</a:t>
            </a:r>
          </a:p>
        </p:txBody>
      </p:sp>
      <p:sp>
        <p:nvSpPr>
          <p:cNvPr id="32" name="hf-976">
            <a:extLst xmlns:a="http://schemas.openxmlformats.org/drawingml/2006/main">
              <a:ext uri="{FF2B5EF4-FFF2-40B4-BE49-F238E27FC236}">
                <a16:creationId xmlns:a16="http://schemas.microsoft.com/office/drawing/2014/main" id="{6A2A453F-3B99-426C-983D-8A9B4F9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23004"/>
            <a:ext cx="68018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thermalState всё время nominal — причина дрейфа не установлена</a:t>
            </a:r>
          </a:p>
        </p:txBody>
      </p:sp>
      <p:pic>
        <p:nvPicPr>
          <p:cNvPr id="33" name="hf-977">
            <a:extLst xmlns:a="http://schemas.openxmlformats.org/drawingml/2006/main">
              <a:ext uri="{FF2B5EF4-FFF2-40B4-BE49-F238E27FC236}">
                <a16:creationId xmlns:a16="http://schemas.microsoft.com/office/drawing/2014/main" id="{E1E0FC86-DF9D-41EB-97EC-D89B2147D6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2fe21f16f4f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4" name="hf-978">
            <a:extLst xmlns:a="http://schemas.openxmlformats.org/drawingml/2006/main">
              <a:ext uri="{FF2B5EF4-FFF2-40B4-BE49-F238E27FC236}">
                <a16:creationId xmlns:a16="http://schemas.microsoft.com/office/drawing/2014/main" id="{A94E6F71-9026-4861-B8E0-A65B6B05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710533407"/>
      </p:ext>
    </p:extLst>
  </p:cSld>
</p:sld>
</file>

<file path=ppt/slides/slide43.xml><?xml version="1.0" encoding="utf-8"?>
<p:sld xmlns:p="http://schemas.openxmlformats.org/presentationml/2006/main" show="0">
  <p:cSld name="stdlib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979">
            <a:extLst xmlns:a="http://schemas.openxmlformats.org/drawingml/2006/main">
              <a:ext uri="{FF2B5EF4-FFF2-40B4-BE49-F238E27FC236}">
                <a16:creationId xmlns:a16="http://schemas.microsoft.com/office/drawing/2014/main" id="{80809373-9CAE-49E3-BA96-CF6A1E71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980">
            <a:extLst xmlns:a="http://schemas.openxmlformats.org/drawingml/2006/main">
              <a:ext uri="{FF2B5EF4-FFF2-40B4-BE49-F238E27FC236}">
                <a16:creationId xmlns:a16="http://schemas.microsoft.com/office/drawing/2014/main" id="{4B5D4A62-7AA3-40CB-A8AA-DD31D15F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1762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ТА ЖЕ МАШИНА, ДРУГАЯ БИБЛИОТЕКА</a:t>
            </a:r>
          </a:p>
        </p:txBody>
      </p:sp>
      <p:sp>
        <p:nvSpPr>
          <p:cNvPr id="4" name="hf-981">
            <a:extLst xmlns:a="http://schemas.openxmlformats.org/drawingml/2006/main">
              <a:ext uri="{FF2B5EF4-FFF2-40B4-BE49-F238E27FC236}">
                <a16:creationId xmlns:a16="http://schemas.microsoft.com/office/drawing/2014/main" id="{2C749C7E-B188-4C0A-BB63-AC5DC91A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39088"/>
            <a:ext cx="456507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один x86 · одинаковые входы · N = 2^20 · нс на элемент</a:t>
            </a:r>
          </a:p>
        </p:txBody>
      </p:sp>
      <p:sp>
        <p:nvSpPr>
          <p:cNvPr id="5" name="hf-982">
            <a:extLst xmlns:a="http://schemas.openxmlformats.org/drawingml/2006/main">
              <a:ext uri="{FF2B5EF4-FFF2-40B4-BE49-F238E27FC236}">
                <a16:creationId xmlns:a16="http://schemas.microsoft.com/office/drawing/2014/main" id="{5874F04C-969C-4704-ADD4-B7455EC1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047" y="1506207"/>
            <a:ext cx="111368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libstdc++</a:t>
            </a:r>
          </a:p>
        </p:txBody>
      </p:sp>
      <p:sp>
        <p:nvSpPr>
          <p:cNvPr id="6" name="hf-983">
            <a:extLst xmlns:a="http://schemas.openxmlformats.org/drawingml/2006/main">
              <a:ext uri="{FF2B5EF4-FFF2-40B4-BE49-F238E27FC236}">
                <a16:creationId xmlns:a16="http://schemas.microsoft.com/office/drawing/2014/main" id="{31E91783-BA54-4C07-8A83-D6FD2048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540" y="1801063"/>
            <a:ext cx="9466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GCC · Linux</a:t>
            </a:r>
          </a:p>
        </p:txBody>
      </p:sp>
      <p:sp>
        <p:nvSpPr>
          <p:cNvPr id="7" name="hf-984">
            <a:extLst xmlns:a="http://schemas.openxmlformats.org/drawingml/2006/main">
              <a:ext uri="{FF2B5EF4-FFF2-40B4-BE49-F238E27FC236}">
                <a16:creationId xmlns:a16="http://schemas.microsoft.com/office/drawing/2014/main" id="{6362FE7E-CA89-4069-A7E0-99124AA5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837" y="1506207"/>
            <a:ext cx="74592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libc++</a:t>
            </a:r>
          </a:p>
        </p:txBody>
      </p:sp>
      <p:sp>
        <p:nvSpPr>
          <p:cNvPr id="8" name="hf-985">
            <a:extLst xmlns:a="http://schemas.openxmlformats.org/drawingml/2006/main">
              <a:ext uri="{FF2B5EF4-FFF2-40B4-BE49-F238E27FC236}">
                <a16:creationId xmlns:a16="http://schemas.microsoft.com/office/drawing/2014/main" id="{5802D2AC-759B-44CA-9272-CB819891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847" y="1801063"/>
            <a:ext cx="168190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Apple · Android NDK</a:t>
            </a:r>
          </a:p>
        </p:txBody>
      </p:sp>
      <p:sp>
        <p:nvSpPr>
          <p:cNvPr id="9" name="hf-986">
            <a:extLst xmlns:a="http://schemas.openxmlformats.org/drawingml/2006/main">
              <a:ext uri="{FF2B5EF4-FFF2-40B4-BE49-F238E27FC236}">
                <a16:creationId xmlns:a16="http://schemas.microsoft.com/office/drawing/2014/main" id="{ACC054FC-B302-4B36-8081-25FB708E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764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0" name="hf-987">
            <a:extLst xmlns:a="http://schemas.openxmlformats.org/drawingml/2006/main">
              <a:ext uri="{FF2B5EF4-FFF2-40B4-BE49-F238E27FC236}">
                <a16:creationId xmlns:a16="http://schemas.microsoft.com/office/drawing/2014/main" id="{5EA89747-FE3B-459A-A14D-D91A6CAC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88343"/>
            <a:ext cx="253655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</a:t>
            </a: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, все ключи равны</a:t>
            </a:r>
          </a:p>
        </p:txBody>
      </p:sp>
      <p:sp>
        <p:nvSpPr>
          <p:cNvPr id="11" name="hf-988">
            <a:extLst xmlns:a="http://schemas.openxmlformats.org/drawingml/2006/main">
              <a:ext uri="{FF2B5EF4-FFF2-40B4-BE49-F238E27FC236}">
                <a16:creationId xmlns:a16="http://schemas.microsoft.com/office/drawing/2014/main" id="{C9F53B78-03E3-493E-B5E7-994048F6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915" y="2222792"/>
            <a:ext cx="749871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7,8</a:t>
            </a:r>
          </a:p>
        </p:txBody>
      </p:sp>
      <p:sp>
        <p:nvSpPr>
          <p:cNvPr id="12" name="hf-989">
            <a:extLst xmlns:a="http://schemas.openxmlformats.org/drawingml/2006/main">
              <a:ext uri="{FF2B5EF4-FFF2-40B4-BE49-F238E27FC236}">
                <a16:creationId xmlns:a16="http://schemas.microsoft.com/office/drawing/2014/main" id="{371BAB3B-E9A7-4AD9-BDFD-3540A65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2143125"/>
            <a:ext cx="214312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hf-990">
            <a:extLst xmlns:a="http://schemas.openxmlformats.org/drawingml/2006/main">
              <a:ext uri="{FF2B5EF4-FFF2-40B4-BE49-F238E27FC236}">
                <a16:creationId xmlns:a16="http://schemas.microsoft.com/office/drawing/2014/main" id="{8E6101DA-D8DE-4275-88E8-A6E5B661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052" y="2222792"/>
            <a:ext cx="635422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1,2</a:t>
            </a:r>
          </a:p>
        </p:txBody>
      </p:sp>
      <p:sp>
        <p:nvSpPr>
          <p:cNvPr id="14" name="hf-991">
            <a:extLst xmlns:a="http://schemas.openxmlformats.org/drawingml/2006/main">
              <a:ext uri="{FF2B5EF4-FFF2-40B4-BE49-F238E27FC236}">
                <a16:creationId xmlns:a16="http://schemas.microsoft.com/office/drawing/2014/main" id="{F9D4F428-6750-4075-8C37-C74C80D9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194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5" name="hf-992">
            <a:extLst xmlns:a="http://schemas.openxmlformats.org/drawingml/2006/main">
              <a:ext uri="{FF2B5EF4-FFF2-40B4-BE49-F238E27FC236}">
                <a16:creationId xmlns:a16="http://schemas.microsoft.com/office/drawing/2014/main" id="{24F69DFE-7E4E-4019-A2A3-09DED5F8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89504"/>
            <a:ext cx="30373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, 1M уникальных</a:t>
            </a:r>
          </a:p>
        </p:txBody>
      </p:sp>
      <p:sp>
        <p:nvSpPr>
          <p:cNvPr id="16" name="hf-993">
            <a:extLst xmlns:a="http://schemas.openxmlformats.org/drawingml/2006/main">
              <a:ext uri="{FF2B5EF4-FFF2-40B4-BE49-F238E27FC236}">
                <a16:creationId xmlns:a16="http://schemas.microsoft.com/office/drawing/2014/main" id="{F5EE80B6-BA63-42BF-9EFB-AC870572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506" y="2868282"/>
            <a:ext cx="44268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146</a:t>
            </a:r>
          </a:p>
        </p:txBody>
      </p:sp>
      <p:sp>
        <p:nvSpPr>
          <p:cNvPr id="17" name="hf-994">
            <a:extLst xmlns:a="http://schemas.openxmlformats.org/drawingml/2006/main">
              <a:ext uri="{FF2B5EF4-FFF2-40B4-BE49-F238E27FC236}">
                <a16:creationId xmlns:a16="http://schemas.microsoft.com/office/drawing/2014/main" id="{A8D8E9F7-CFC1-45CF-9AE8-AB0DC73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506" y="2868282"/>
            <a:ext cx="42051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139</a:t>
            </a:r>
          </a:p>
        </p:txBody>
      </p:sp>
      <p:sp>
        <p:nvSpPr>
          <p:cNvPr id="18" name="hf-995">
            <a:extLst xmlns:a="http://schemas.openxmlformats.org/drawingml/2006/main">
              <a:ext uri="{FF2B5EF4-FFF2-40B4-BE49-F238E27FC236}">
                <a16:creationId xmlns:a16="http://schemas.microsoft.com/office/drawing/2014/main" id="{15726E43-6FE0-415E-AC68-40E616D7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480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9" name="hf-996">
            <a:extLst xmlns:a="http://schemas.openxmlformats.org/drawingml/2006/main">
              <a:ext uri="{FF2B5EF4-FFF2-40B4-BE49-F238E27FC236}">
                <a16:creationId xmlns:a16="http://schemas.microsoft.com/office/drawing/2014/main" id="{8C954EB7-771B-459A-934A-71DC4B00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18129"/>
            <a:ext cx="19466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узел </a:t>
            </a:r>
            <a:r>
              <a:rPr sz="1500" b="0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</a:p>
        </p:txBody>
      </p:sp>
      <p:sp>
        <p:nvSpPr>
          <p:cNvPr id="20" name="hf-997">
            <a:extLst xmlns:a="http://schemas.openxmlformats.org/drawingml/2006/main">
              <a:ext uri="{FF2B5EF4-FFF2-40B4-BE49-F238E27FC236}">
                <a16:creationId xmlns:a16="http://schemas.microsoft.com/office/drawing/2014/main" id="{08EDB340-C45A-4978-AD7E-8F6CBC8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629" y="3296907"/>
            <a:ext cx="5184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16 Б</a:t>
            </a:r>
          </a:p>
        </p:txBody>
      </p:sp>
      <p:sp>
        <p:nvSpPr>
          <p:cNvPr id="21" name="hf-998">
            <a:extLst xmlns:a="http://schemas.openxmlformats.org/drawingml/2006/main">
              <a:ext uri="{FF2B5EF4-FFF2-40B4-BE49-F238E27FC236}">
                <a16:creationId xmlns:a16="http://schemas.microsoft.com/office/drawing/2014/main" id="{C9C66FF3-DC41-40D4-B101-1F0296DA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306" y="3296907"/>
            <a:ext cx="57291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24 Б</a:t>
            </a:r>
          </a:p>
        </p:txBody>
      </p:sp>
      <p:sp>
        <p:nvSpPr>
          <p:cNvPr id="22" name="hf-999">
            <a:extLst xmlns:a="http://schemas.openxmlformats.org/drawingml/2006/main">
              <a:ext uri="{FF2B5EF4-FFF2-40B4-BE49-F238E27FC236}">
                <a16:creationId xmlns:a16="http://schemas.microsoft.com/office/drawing/2014/main" id="{93EB3574-B9F9-4430-BC57-5ED03482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766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3" name="hf-1000">
            <a:extLst xmlns:a="http://schemas.openxmlformats.org/drawingml/2006/main">
              <a:ext uri="{FF2B5EF4-FFF2-40B4-BE49-F238E27FC236}">
                <a16:creationId xmlns:a16="http://schemas.microsoft.com/office/drawing/2014/main" id="{1692BE8A-7246-4F23-82BA-A78FF8F1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46754"/>
            <a:ext cx="80292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std::sort</a:t>
            </a:r>
          </a:p>
        </p:txBody>
      </p:sp>
      <p:sp>
        <p:nvSpPr>
          <p:cNvPr id="24" name="hf-1001">
            <a:extLst xmlns:a="http://schemas.openxmlformats.org/drawingml/2006/main">
              <a:ext uri="{FF2B5EF4-FFF2-40B4-BE49-F238E27FC236}">
                <a16:creationId xmlns:a16="http://schemas.microsoft.com/office/drawing/2014/main" id="{A50E8C00-9C5B-4011-AD45-212F624A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291" y="3746754"/>
            <a:ext cx="87711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introsort</a:t>
            </a:r>
          </a:p>
        </p:txBody>
      </p:sp>
      <p:sp>
        <p:nvSpPr>
          <p:cNvPr id="25" name="hf-1002">
            <a:extLst xmlns:a="http://schemas.openxmlformats.org/drawingml/2006/main">
              <a:ext uri="{FF2B5EF4-FFF2-40B4-BE49-F238E27FC236}">
                <a16:creationId xmlns:a16="http://schemas.microsoft.com/office/drawing/2014/main" id="{4FAB320A-9A6A-440E-A613-E749FA30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37" y="3746754"/>
            <a:ext cx="152705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идеи pdqsort</a:t>
            </a:r>
          </a:p>
        </p:txBody>
      </p:sp>
      <p:sp>
        <p:nvSpPr>
          <p:cNvPr id="26" name="hf-1003">
            <a:extLst xmlns:a="http://schemas.openxmlformats.org/drawingml/2006/main">
              <a:ext uri="{FF2B5EF4-FFF2-40B4-BE49-F238E27FC236}">
                <a16:creationId xmlns:a16="http://schemas.microsoft.com/office/drawing/2014/main" id="{981787C8-420A-4C57-96FE-FB360C0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33850"/>
            <a:ext cx="8029575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hf-1004">
            <a:extLst xmlns:a="http://schemas.openxmlformats.org/drawingml/2006/main">
              <a:ext uri="{FF2B5EF4-FFF2-40B4-BE49-F238E27FC236}">
                <a16:creationId xmlns:a16="http://schemas.microsoft.com/office/drawing/2014/main" id="{015E3DDA-A017-490D-AB47-AB41CDD8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4203954"/>
            <a:ext cx="727873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 Apple </a:t>
            </a: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std::sort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— из системной libc++: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алгоритм выбирает версия ОС</a:t>
            </a:r>
          </a:p>
        </p:txBody>
      </p:sp>
      <p:pic>
        <p:nvPicPr>
          <p:cNvPr id="28" name="hf-1005">
            <a:extLst xmlns:a="http://schemas.openxmlformats.org/drawingml/2006/main">
              <a:ext uri="{FF2B5EF4-FFF2-40B4-BE49-F238E27FC236}">
                <a16:creationId xmlns:a16="http://schemas.microsoft.com/office/drawing/2014/main" id="{829BF9DA-D148-47AC-B407-DE9C5BF20F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c2984f41a45f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9" name="hf-1006">
            <a:extLst xmlns:a="http://schemas.openxmlformats.org/drawingml/2006/main">
              <a:ext uri="{FF2B5EF4-FFF2-40B4-BE49-F238E27FC236}">
                <a16:creationId xmlns:a16="http://schemas.microsoft.com/office/drawing/2014/main" id="{36EC3CC3-CB07-4D49-9CFA-2B8E946A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37992674"/>
      </p:ext>
    </p:extLst>
  </p:cSld>
</p:sld>
</file>

<file path=ppt/slides/slide44.xml><?xml version="1.0" encoding="utf-8"?>
<p:sld xmlns:p="http://schemas.openxmlformats.org/presentationml/2006/main" show="0">
  <p:cSld name="cachecos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007">
            <a:extLst xmlns:a="http://schemas.openxmlformats.org/drawingml/2006/main">
              <a:ext uri="{FF2B5EF4-FFF2-40B4-BE49-F238E27FC236}">
                <a16:creationId xmlns:a16="http://schemas.microsoft.com/office/drawing/2014/main" id="{30EB82E1-5103-4E3B-985A-EE7A113A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008">
            <a:extLst xmlns:a="http://schemas.openxmlformats.org/drawingml/2006/main">
              <a:ext uri="{FF2B5EF4-FFF2-40B4-BE49-F238E27FC236}">
                <a16:creationId xmlns:a16="http://schemas.microsoft.com/office/drawing/2014/main" id="{FAC224BB-A4DF-4478-90F9-9B90C2B3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3984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ОТ 512K К 1M ХЕШ ДОРОЖАЕТ В 1,4 РАЗА,</a:t>
            </a:r>
          </a:p>
        </p:txBody>
      </p:sp>
      <p:sp>
        <p:nvSpPr>
          <p:cNvPr id="4" name="hf-1009">
            <a:extLst xmlns:a="http://schemas.openxmlformats.org/drawingml/2006/main">
              <a:ext uri="{FF2B5EF4-FFF2-40B4-BE49-F238E27FC236}">
                <a16:creationId xmlns:a16="http://schemas.microsoft.com/office/drawing/2014/main" id="{E9CDD3B5-74AF-4424-922A-5D300A64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3567410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СОРТИРОВКА — НА 3%</a:t>
            </a:r>
          </a:p>
        </p:txBody>
      </p:sp>
      <p:sp>
        <p:nvSpPr>
          <p:cNvPr id="5" name="hf-1010">
            <a:extLst xmlns:a="http://schemas.openxmlformats.org/drawingml/2006/main">
              <a:ext uri="{FF2B5EF4-FFF2-40B4-BE49-F238E27FC236}">
                <a16:creationId xmlns:a16="http://schemas.microsoft.com/office/drawing/2014/main" id="{8ACA5F21-4F76-452A-8D2C-EF7D98F9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72438"/>
            <a:ext cx="2580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элемент · U = N/2 · M2 Pro</a:t>
            </a:r>
          </a:p>
        </p:txBody>
      </p:sp>
      <p:sp>
        <p:nvSpPr>
          <p:cNvPr id="6" name="hf-1011">
            <a:extLst xmlns:a="http://schemas.openxmlformats.org/drawingml/2006/main">
              <a:ext uri="{FF2B5EF4-FFF2-40B4-BE49-F238E27FC236}">
                <a16:creationId xmlns:a16="http://schemas.microsoft.com/office/drawing/2014/main" id="{DD995B84-283D-49E5-B8E2-5CF8C462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10563"/>
            <a:ext cx="18067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</a:t>
            </a:r>
          </a:p>
        </p:txBody>
      </p:sp>
      <p:sp>
        <p:nvSpPr>
          <p:cNvPr id="7" name="hf-1012">
            <a:extLst xmlns:a="http://schemas.openxmlformats.org/drawingml/2006/main">
              <a:ext uri="{FF2B5EF4-FFF2-40B4-BE49-F238E27FC236}">
                <a16:creationId xmlns:a16="http://schemas.microsoft.com/office/drawing/2014/main" id="{558E238A-515E-4EB5-86C0-76BC9044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094" y="1610563"/>
            <a:ext cx="109455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8" name="hf-1013">
            <a:extLst xmlns:a="http://schemas.openxmlformats.org/drawingml/2006/main">
              <a:ext uri="{FF2B5EF4-FFF2-40B4-BE49-F238E27FC236}">
                <a16:creationId xmlns:a16="http://schemas.microsoft.com/office/drawing/2014/main" id="{4074DD0C-51D6-4887-A1DF-C3AA97D9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351" y="1610563"/>
            <a:ext cx="120342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9" name="hf-1014">
            <a:extLst xmlns:a="http://schemas.openxmlformats.org/drawingml/2006/main">
              <a:ext uri="{FF2B5EF4-FFF2-40B4-BE49-F238E27FC236}">
                <a16:creationId xmlns:a16="http://schemas.microsoft.com/office/drawing/2014/main" id="{BBCCE527-84EB-48DE-B943-FF001DAB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866900"/>
            <a:ext cx="420528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0" name="hf-1015">
            <a:extLst xmlns:a="http://schemas.openxmlformats.org/drawingml/2006/main">
              <a:ext uri="{FF2B5EF4-FFF2-40B4-BE49-F238E27FC236}">
                <a16:creationId xmlns:a16="http://schemas.microsoft.com/office/drawing/2014/main" id="{0592B71B-280C-4FE8-86A9-C397F48B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76525"/>
            <a:ext cx="4205288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B26"/>
          </a:solidFill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1" name="hf-1016">
            <a:extLst xmlns:a="http://schemas.openxmlformats.org/drawingml/2006/main">
              <a:ext uri="{FF2B5EF4-FFF2-40B4-BE49-F238E27FC236}">
                <a16:creationId xmlns:a16="http://schemas.microsoft.com/office/drawing/2014/main" id="{CF3BCDE1-CEED-4424-BEB4-A75ABC78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1883531"/>
            <a:ext cx="2897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1K</a:t>
            </a:r>
          </a:p>
        </p:txBody>
      </p:sp>
      <p:sp>
        <p:nvSpPr>
          <p:cNvPr id="12" name="hf-1017">
            <a:extLst xmlns:a="http://schemas.openxmlformats.org/drawingml/2006/main">
              <a:ext uri="{FF2B5EF4-FFF2-40B4-BE49-F238E27FC236}">
                <a16:creationId xmlns:a16="http://schemas.microsoft.com/office/drawing/2014/main" id="{7E5DCB30-9120-41E0-9869-63322FF4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846" y="1883531"/>
            <a:ext cx="4758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14,4</a:t>
            </a:r>
          </a:p>
        </p:txBody>
      </p:sp>
      <p:sp>
        <p:nvSpPr>
          <p:cNvPr id="13" name="hf-1018">
            <a:extLst xmlns:a="http://schemas.openxmlformats.org/drawingml/2006/main">
              <a:ext uri="{FF2B5EF4-FFF2-40B4-BE49-F238E27FC236}">
                <a16:creationId xmlns:a16="http://schemas.microsoft.com/office/drawing/2014/main" id="{CD9DB176-8C2A-4260-AFC0-C62653F6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792" y="1883531"/>
            <a:ext cx="43398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13,3</a:t>
            </a:r>
          </a:p>
        </p:txBody>
      </p:sp>
      <p:sp>
        <p:nvSpPr>
          <p:cNvPr id="14" name="hf-1019">
            <a:extLst xmlns:a="http://schemas.openxmlformats.org/drawingml/2006/main">
              <a:ext uri="{FF2B5EF4-FFF2-40B4-BE49-F238E27FC236}">
                <a16:creationId xmlns:a16="http://schemas.microsoft.com/office/drawing/2014/main" id="{8BE90743-7509-4A3B-8418-361094F3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2264531"/>
            <a:ext cx="48369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64K</a:t>
            </a:r>
          </a:p>
        </p:txBody>
      </p:sp>
      <p:sp>
        <p:nvSpPr>
          <p:cNvPr id="15" name="hf-1020">
            <a:extLst xmlns:a="http://schemas.openxmlformats.org/drawingml/2006/main">
              <a:ext uri="{FF2B5EF4-FFF2-40B4-BE49-F238E27FC236}">
                <a16:creationId xmlns:a16="http://schemas.microsoft.com/office/drawing/2014/main" id="{B3BB1D28-AF20-4BB2-971B-14E6E0D8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919" y="2264531"/>
            <a:ext cx="44373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17,8</a:t>
            </a:r>
          </a:p>
        </p:txBody>
      </p:sp>
      <p:sp>
        <p:nvSpPr>
          <p:cNvPr id="16" name="hf-1021">
            <a:extLst xmlns:a="http://schemas.openxmlformats.org/drawingml/2006/main">
              <a:ext uri="{FF2B5EF4-FFF2-40B4-BE49-F238E27FC236}">
                <a16:creationId xmlns:a16="http://schemas.microsoft.com/office/drawing/2014/main" id="{567C7119-7CA5-41E6-8B6A-6AF98B90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341" y="2264531"/>
            <a:ext cx="42743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17,5</a:t>
            </a:r>
          </a:p>
        </p:txBody>
      </p:sp>
      <p:sp>
        <p:nvSpPr>
          <p:cNvPr id="17" name="hf-1022">
            <a:extLst xmlns:a="http://schemas.openxmlformats.org/drawingml/2006/main">
              <a:ext uri="{FF2B5EF4-FFF2-40B4-BE49-F238E27FC236}">
                <a16:creationId xmlns:a16="http://schemas.microsoft.com/office/drawing/2014/main" id="{1938E4A0-F398-4728-8330-DFAF514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2645531"/>
            <a:ext cx="5427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512K</a:t>
            </a:r>
          </a:p>
        </p:txBody>
      </p:sp>
      <p:sp>
        <p:nvSpPr>
          <p:cNvPr id="18" name="hf-1023">
            <a:extLst xmlns:a="http://schemas.openxmlformats.org/drawingml/2006/main">
              <a:ext uri="{FF2B5EF4-FFF2-40B4-BE49-F238E27FC236}">
                <a16:creationId xmlns:a16="http://schemas.microsoft.com/office/drawing/2014/main" id="{C21907F8-9B3A-4AB4-8CD1-5B0E1CB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715" y="2645531"/>
            <a:ext cx="45593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19,6</a:t>
            </a:r>
          </a:p>
        </p:txBody>
      </p:sp>
      <p:sp>
        <p:nvSpPr>
          <p:cNvPr id="19" name="hf-1024">
            <a:extLst xmlns:a="http://schemas.openxmlformats.org/drawingml/2006/main">
              <a:ext uri="{FF2B5EF4-FFF2-40B4-BE49-F238E27FC236}">
                <a16:creationId xmlns:a16="http://schemas.microsoft.com/office/drawing/2014/main" id="{949CDB00-50F1-4AD9-9C28-0E7EFAB0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631" y="2645531"/>
            <a:ext cx="46114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18,7</a:t>
            </a:r>
          </a:p>
        </p:txBody>
      </p:sp>
      <p:sp>
        <p:nvSpPr>
          <p:cNvPr id="20" name="hf-1025">
            <a:extLst xmlns:a="http://schemas.openxmlformats.org/drawingml/2006/main">
              <a:ext uri="{FF2B5EF4-FFF2-40B4-BE49-F238E27FC236}">
                <a16:creationId xmlns:a16="http://schemas.microsoft.com/office/drawing/2014/main" id="{B3D6D9EA-01AE-40AD-9E52-EC755477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3007481"/>
            <a:ext cx="33940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1M</a:t>
            </a:r>
          </a:p>
        </p:txBody>
      </p:sp>
      <p:sp>
        <p:nvSpPr>
          <p:cNvPr id="21" name="hf-1026">
            <a:extLst xmlns:a="http://schemas.openxmlformats.org/drawingml/2006/main">
              <a:ext uri="{FF2B5EF4-FFF2-40B4-BE49-F238E27FC236}">
                <a16:creationId xmlns:a16="http://schemas.microsoft.com/office/drawing/2014/main" id="{987AAEFE-D856-45DE-9D69-B8110007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650" y="3007481"/>
            <a:ext cx="45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20,1</a:t>
            </a:r>
          </a:p>
        </p:txBody>
      </p:sp>
      <p:sp>
        <p:nvSpPr>
          <p:cNvPr id="22" name="hf-1027">
            <a:extLst xmlns:a="http://schemas.openxmlformats.org/drawingml/2006/main">
              <a:ext uri="{FF2B5EF4-FFF2-40B4-BE49-F238E27FC236}">
                <a16:creationId xmlns:a16="http://schemas.microsoft.com/office/drawing/2014/main" id="{1FB587B0-1C32-4570-8674-775F551E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243" y="3007481"/>
            <a:ext cx="49753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26,3</a:t>
            </a:r>
          </a:p>
        </p:txBody>
      </p:sp>
      <p:sp>
        <p:nvSpPr>
          <p:cNvPr id="23" name="hf-1028">
            <a:extLst xmlns:a="http://schemas.openxmlformats.org/drawingml/2006/main">
              <a:ext uri="{FF2B5EF4-FFF2-40B4-BE49-F238E27FC236}">
                <a16:creationId xmlns:a16="http://schemas.microsoft.com/office/drawing/2014/main" id="{2EFDBD3A-3474-49BF-BCA8-5038C3B0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3407531"/>
            <a:ext cx="39952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4M</a:t>
            </a:r>
          </a:p>
        </p:txBody>
      </p:sp>
      <p:sp>
        <p:nvSpPr>
          <p:cNvPr id="24" name="hf-1029">
            <a:extLst xmlns:a="http://schemas.openxmlformats.org/drawingml/2006/main">
              <a:ext uri="{FF2B5EF4-FFF2-40B4-BE49-F238E27FC236}">
                <a16:creationId xmlns:a16="http://schemas.microsoft.com/office/drawing/2014/main" id="{87F0D0A2-3603-46D6-8B6A-92D50879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30" y="3407531"/>
            <a:ext cx="4324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21,5</a:t>
            </a:r>
          </a:p>
        </p:txBody>
      </p:sp>
      <p:sp>
        <p:nvSpPr>
          <p:cNvPr id="25" name="hf-1030">
            <a:extLst xmlns:a="http://schemas.openxmlformats.org/drawingml/2006/main">
              <a:ext uri="{FF2B5EF4-FFF2-40B4-BE49-F238E27FC236}">
                <a16:creationId xmlns:a16="http://schemas.microsoft.com/office/drawing/2014/main" id="{B14EDAB2-DE12-4611-9AD1-3D2D260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302" y="3407531"/>
            <a:ext cx="47647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55,7</a:t>
            </a:r>
          </a:p>
        </p:txBody>
      </p:sp>
      <p:sp>
        <p:nvSpPr>
          <p:cNvPr id="26" name="hf-1031">
            <a:extLst xmlns:a="http://schemas.openxmlformats.org/drawingml/2006/main">
              <a:ext uri="{FF2B5EF4-FFF2-40B4-BE49-F238E27FC236}">
                <a16:creationId xmlns:a16="http://schemas.microsoft.com/office/drawing/2014/main" id="{2AF0BDBB-ECA3-4042-BA00-16F77E7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67150"/>
            <a:ext cx="420528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7" name="hf-1032">
            <a:extLst xmlns:a="http://schemas.openxmlformats.org/drawingml/2006/main">
              <a:ext uri="{FF2B5EF4-FFF2-40B4-BE49-F238E27FC236}">
                <a16:creationId xmlns:a16="http://schemas.microsoft.com/office/drawing/2014/main" id="{E330A238-198F-4E0E-B086-89966C58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4087063"/>
            <a:ext cx="78298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512K → 1M</a:t>
            </a:r>
          </a:p>
        </p:txBody>
      </p:sp>
      <p:sp>
        <p:nvSpPr>
          <p:cNvPr id="28" name="hf-1033">
            <a:extLst xmlns:a="http://schemas.openxmlformats.org/drawingml/2006/main">
              <a:ext uri="{FF2B5EF4-FFF2-40B4-BE49-F238E27FC236}">
                <a16:creationId xmlns:a16="http://schemas.microsoft.com/office/drawing/2014/main" id="{C02CC52E-C4AC-45A3-9B7F-D697BD10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446" y="3956342"/>
            <a:ext cx="993204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+3%</a:t>
            </a:r>
          </a:p>
        </p:txBody>
      </p:sp>
      <p:sp>
        <p:nvSpPr>
          <p:cNvPr id="29" name="hf-1034">
            <a:extLst xmlns:a="http://schemas.openxmlformats.org/drawingml/2006/main">
              <a:ext uri="{FF2B5EF4-FFF2-40B4-BE49-F238E27FC236}">
                <a16:creationId xmlns:a16="http://schemas.microsoft.com/office/drawing/2014/main" id="{10ACA0CD-37E0-48F7-9147-076024E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456" y="3956342"/>
            <a:ext cx="953319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×1,4</a:t>
            </a:r>
          </a:p>
        </p:txBody>
      </p:sp>
      <p:sp>
        <p:nvSpPr>
          <p:cNvPr id="30" name="hf-1035">
            <a:extLst xmlns:a="http://schemas.openxmlformats.org/drawingml/2006/main">
              <a:ext uri="{FF2B5EF4-FFF2-40B4-BE49-F238E27FC236}">
                <a16:creationId xmlns:a16="http://schemas.microsoft.com/office/drawing/2014/main" id="{F61D9B5E-3AFE-4C0E-B637-90A821E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8750"/>
            <a:ext cx="3348038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hf-1036">
            <a:extLst xmlns:a="http://schemas.openxmlformats.org/drawingml/2006/main">
              <a:ext uri="{FF2B5EF4-FFF2-40B4-BE49-F238E27FC236}">
                <a16:creationId xmlns:a16="http://schemas.microsoft.com/office/drawing/2014/main" id="{2DE22551-18FF-409A-B9CC-4520320B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29613"/>
            <a:ext cx="17633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рабочий набор хеша</a:t>
            </a:r>
          </a:p>
        </p:txBody>
      </p:sp>
      <p:sp>
        <p:nvSpPr>
          <p:cNvPr id="32" name="hf-1037">
            <a:extLst xmlns:a="http://schemas.openxmlformats.org/drawingml/2006/main">
              <a:ext uri="{FF2B5EF4-FFF2-40B4-BE49-F238E27FC236}">
                <a16:creationId xmlns:a16="http://schemas.microsoft.com/office/drawing/2014/main" id="{8BE9ACB9-2C1A-4D26-BB0C-AEA2616C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0137"/>
            <a:ext cx="156946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32·U + 8·N</a:t>
            </a:r>
          </a:p>
        </p:txBody>
      </p:sp>
      <p:sp>
        <p:nvSpPr>
          <p:cNvPr id="33" name="hf-1038">
            <a:extLst xmlns:a="http://schemas.openxmlformats.org/drawingml/2006/main">
              <a:ext uri="{FF2B5EF4-FFF2-40B4-BE49-F238E27FC236}">
                <a16:creationId xmlns:a16="http://schemas.microsoft.com/office/drawing/2014/main" id="{8DD220DE-E253-4408-8882-1B68828C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10330"/>
            <a:ext cx="21186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512K</a:t>
            </a: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≈12 МиБ </a:t>
            </a:r>
            <a:r>
              <a:rPr sz="1575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✓ в L2</a:t>
            </a:r>
          </a:p>
        </p:txBody>
      </p:sp>
      <p:sp>
        <p:nvSpPr>
          <p:cNvPr id="34" name="hf-1039">
            <a:extLst xmlns:a="http://schemas.openxmlformats.org/drawingml/2006/main">
              <a:ext uri="{FF2B5EF4-FFF2-40B4-BE49-F238E27FC236}">
                <a16:creationId xmlns:a16="http://schemas.microsoft.com/office/drawing/2014/main" id="{BA86A7B1-0675-4B8A-85B3-333200E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91330"/>
            <a:ext cx="2417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1M</a:t>
            </a: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≈24 МиБ </a:t>
            </a:r>
            <a:r>
              <a:rPr sz="1575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✗ мимо L2</a:t>
            </a:r>
          </a:p>
        </p:txBody>
      </p:sp>
      <p:sp>
        <p:nvSpPr>
          <p:cNvPr id="35" name="hf-1040">
            <a:extLst xmlns:a="http://schemas.openxmlformats.org/drawingml/2006/main">
              <a:ext uri="{FF2B5EF4-FFF2-40B4-BE49-F238E27FC236}">
                <a16:creationId xmlns:a16="http://schemas.microsoft.com/office/drawing/2014/main" id="{FC1547F2-8A9B-4356-A713-B5CD93D4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10763"/>
            <a:ext cx="25103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L2 P-кластера M2 Pro = 16 МиБ</a:t>
            </a:r>
          </a:p>
        </p:txBody>
      </p:sp>
      <p:sp>
        <p:nvSpPr>
          <p:cNvPr id="36" name="hf-1041">
            <a:extLst xmlns:a="http://schemas.openxmlformats.org/drawingml/2006/main">
              <a:ext uri="{FF2B5EF4-FFF2-40B4-BE49-F238E27FC236}">
                <a16:creationId xmlns:a16="http://schemas.microsoft.com/office/drawing/2014/main" id="{BD77B0A9-38FB-4D16-8F70-7441FDB2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81400"/>
            <a:ext cx="285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37" name="hf-1042">
            <a:extLst xmlns:a="http://schemas.openxmlformats.org/drawingml/2006/main">
              <a:ext uri="{FF2B5EF4-FFF2-40B4-BE49-F238E27FC236}">
                <a16:creationId xmlns:a16="http://schemas.microsoft.com/office/drawing/2014/main" id="{3395911D-1F49-42AD-B272-5D9290F9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84089"/>
            <a:ext cx="240126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Арифметика, а не счётчики:</a:t>
            </a:r>
          </a:p>
        </p:txBody>
      </p:sp>
      <p:sp>
        <p:nvSpPr>
          <p:cNvPr id="38" name="hf-1043">
            <a:extLst xmlns:a="http://schemas.openxmlformats.org/drawingml/2006/main">
              <a:ext uri="{FF2B5EF4-FFF2-40B4-BE49-F238E27FC236}">
                <a16:creationId xmlns:a16="http://schemas.microsoft.com/office/drawing/2014/main" id="{6597A4CD-74E9-42D6-88F3-CB75292D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93639"/>
            <a:ext cx="179843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причина — гипотеза</a:t>
            </a:r>
          </a:p>
        </p:txBody>
      </p:sp>
      <p:pic>
        <p:nvPicPr>
          <p:cNvPr id="39" name="hf-1044">
            <a:extLst xmlns:a="http://schemas.openxmlformats.org/drawingml/2006/main">
              <a:ext uri="{FF2B5EF4-FFF2-40B4-BE49-F238E27FC236}">
                <a16:creationId xmlns:a16="http://schemas.microsoft.com/office/drawing/2014/main" id="{AA274268-BDBB-4204-97F7-EA1C7714D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fc74a45a84a7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40" name="hf-1045">
            <a:extLst xmlns:a="http://schemas.openxmlformats.org/drawingml/2006/main">
              <a:ext uri="{FF2B5EF4-FFF2-40B4-BE49-F238E27FC236}">
                <a16:creationId xmlns:a16="http://schemas.microsoft.com/office/drawing/2014/main" id="{28F8EDF1-B345-47C4-A301-1AC93CF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231998681"/>
      </p:ext>
    </p:extLst>
  </p:cSld>
</p:sld>
</file>

<file path=ppt/slides/slide45.xml><?xml version="1.0" encoding="utf-8"?>
<p:sld xmlns:p="http://schemas.openxmlformats.org/presentationml/2006/main" show="0">
  <p:cSld name="sortmin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046">
            <a:extLst xmlns:a="http://schemas.openxmlformats.org/drawingml/2006/main">
              <a:ext uri="{FF2B5EF4-FFF2-40B4-BE49-F238E27FC236}">
                <a16:creationId xmlns:a16="http://schemas.microsoft.com/office/drawing/2014/main" id="{A7C66E1E-9CC8-4485-814E-56A9387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047">
            <a:extLst xmlns:a="http://schemas.openxmlformats.org/drawingml/2006/main">
              <a:ext uri="{FF2B5EF4-FFF2-40B4-BE49-F238E27FC236}">
                <a16:creationId xmlns:a16="http://schemas.microsoft.com/office/drawing/2014/main" id="{7A7CA1EB-59DC-442A-A2BC-7436816B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09428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СОРТИРОВКА: ОДИН ПЛОТНЫЙ БУФЕР</a:t>
            </a:r>
          </a:p>
        </p:txBody>
      </p:sp>
      <p:sp>
        <p:nvSpPr>
          <p:cNvPr id="4" name="hf-1048">
            <a:extLst xmlns:a="http://schemas.openxmlformats.org/drawingml/2006/main">
              <a:ext uri="{FF2B5EF4-FFF2-40B4-BE49-F238E27FC236}">
                <a16:creationId xmlns:a16="http://schemas.microsoft.com/office/drawing/2014/main" id="{3374383B-E4DA-4CF6-8EBE-37AEAB82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418355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И НИ ОДНОЙ АЛЛОКАЦИИ</a:t>
            </a:r>
          </a:p>
        </p:txBody>
      </p:sp>
      <p:sp>
        <p:nvSpPr>
          <p:cNvPr id="5" name="hf-1049">
            <a:extLst xmlns:a="http://schemas.openxmlformats.org/drawingml/2006/main">
              <a:ext uri="{FF2B5EF4-FFF2-40B4-BE49-F238E27FC236}">
                <a16:creationId xmlns:a16="http://schemas.microsoft.com/office/drawing/2014/main" id="{B0AAC038-9ED1-4962-9AAA-618B4F39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hf-1050">
            <a:extLst xmlns:a="http://schemas.openxmlformats.org/drawingml/2006/main">
              <a:ext uri="{FF2B5EF4-FFF2-40B4-BE49-F238E27FC236}">
                <a16:creationId xmlns:a16="http://schemas.microsoft.com/office/drawing/2014/main" id="{F0CC6D2B-8607-4FFB-B3E9-96E3E324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hf-1051">
            <a:extLst xmlns:a="http://schemas.openxmlformats.org/drawingml/2006/main">
              <a:ext uri="{FF2B5EF4-FFF2-40B4-BE49-F238E27FC236}">
                <a16:creationId xmlns:a16="http://schemas.microsoft.com/office/drawing/2014/main" id="{69686078-2D10-4ADF-A53F-460108F4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hf-1052">
            <a:extLst xmlns:a="http://schemas.openxmlformats.org/drawingml/2006/main">
              <a:ext uri="{FF2B5EF4-FFF2-40B4-BE49-F238E27FC236}">
                <a16:creationId xmlns:a16="http://schemas.microsoft.com/office/drawing/2014/main" id="{B34EE40C-8663-4F35-9854-619CBFD0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hf-1053">
            <a:extLst xmlns:a="http://schemas.openxmlformats.org/drawingml/2006/main">
              <a:ext uri="{FF2B5EF4-FFF2-40B4-BE49-F238E27FC236}">
                <a16:creationId xmlns:a16="http://schemas.microsoft.com/office/drawing/2014/main" id="{F2D1B09C-8F78-43E2-BE81-DAD0E72B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hf-1054">
            <a:extLst xmlns:a="http://schemas.openxmlformats.org/drawingml/2006/main">
              <a:ext uri="{FF2B5EF4-FFF2-40B4-BE49-F238E27FC236}">
                <a16:creationId xmlns:a16="http://schemas.microsoft.com/office/drawing/2014/main" id="{E8B258B2-0D4E-47DB-88E9-6AAD5E7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hf-1055">
            <a:extLst xmlns:a="http://schemas.openxmlformats.org/drawingml/2006/main">
              <a:ext uri="{FF2B5EF4-FFF2-40B4-BE49-F238E27FC236}">
                <a16:creationId xmlns:a16="http://schemas.microsoft.com/office/drawing/2014/main" id="{B0A12BFD-617E-4A77-BDD2-7A1F5469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hf-1056">
            <a:extLst xmlns:a="http://schemas.openxmlformats.org/drawingml/2006/main">
              <a:ext uri="{FF2B5EF4-FFF2-40B4-BE49-F238E27FC236}">
                <a16:creationId xmlns:a16="http://schemas.microsoft.com/office/drawing/2014/main" id="{FCDF99AC-5006-4B0A-8B5D-580D02BE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hf-1057">
            <a:extLst xmlns:a="http://schemas.openxmlformats.org/drawingml/2006/main">
              <a:ext uri="{FF2B5EF4-FFF2-40B4-BE49-F238E27FC236}">
                <a16:creationId xmlns:a16="http://schemas.microsoft.com/office/drawing/2014/main" id="{D348EF10-CAAB-40F0-8A42-09C07706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4" name="hf-1058">
            <a:extLst xmlns:a="http://schemas.openxmlformats.org/drawingml/2006/main">
              <a:ext uri="{FF2B5EF4-FFF2-40B4-BE49-F238E27FC236}">
                <a16:creationId xmlns:a16="http://schemas.microsoft.com/office/drawing/2014/main" id="{73BC948C-5522-40B4-A0DC-74BFD033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5" name="hf-1059">
            <a:extLst xmlns:a="http://schemas.openxmlformats.org/drawingml/2006/main">
              <a:ext uri="{FF2B5EF4-FFF2-40B4-BE49-F238E27FC236}">
                <a16:creationId xmlns:a16="http://schemas.microsoft.com/office/drawing/2014/main" id="{F28A608F-7F9B-4E13-A195-7424AAD9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6" name="hf-1060">
            <a:extLst xmlns:a="http://schemas.openxmlformats.org/drawingml/2006/main">
              <a:ext uri="{FF2B5EF4-FFF2-40B4-BE49-F238E27FC236}">
                <a16:creationId xmlns:a16="http://schemas.microsoft.com/office/drawing/2014/main" id="{4AD28E68-1C03-4645-B687-33D6B035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7" name="hf-1061">
            <a:extLst xmlns:a="http://schemas.openxmlformats.org/drawingml/2006/main">
              <a:ext uri="{FF2B5EF4-FFF2-40B4-BE49-F238E27FC236}">
                <a16:creationId xmlns:a16="http://schemas.microsoft.com/office/drawing/2014/main" id="{829D0235-2596-465A-B1CB-C41B52BF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8" name="hf-1062">
            <a:extLst xmlns:a="http://schemas.openxmlformats.org/drawingml/2006/main">
              <a:ext uri="{FF2B5EF4-FFF2-40B4-BE49-F238E27FC236}">
                <a16:creationId xmlns:a16="http://schemas.microsoft.com/office/drawing/2014/main" id="{4426E4AC-5BA6-43ED-AFDD-508EB220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9" name="hf-1063">
            <a:extLst xmlns:a="http://schemas.openxmlformats.org/drawingml/2006/main">
              <a:ext uri="{FF2B5EF4-FFF2-40B4-BE49-F238E27FC236}">
                <a16:creationId xmlns:a16="http://schemas.microsoft.com/office/drawing/2014/main" id="{C8AADD2E-7957-4E3F-8116-3C39EEB5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0" name="hf-1064">
            <a:extLst xmlns:a="http://schemas.openxmlformats.org/drawingml/2006/main">
              <a:ext uri="{FF2B5EF4-FFF2-40B4-BE49-F238E27FC236}">
                <a16:creationId xmlns:a16="http://schemas.microsoft.com/office/drawing/2014/main" id="{AC665AFE-03FA-4C84-9EE3-F17AD140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1" name="hf-1065">
            <a:extLst xmlns:a="http://schemas.openxmlformats.org/drawingml/2006/main">
              <a:ext uri="{FF2B5EF4-FFF2-40B4-BE49-F238E27FC236}">
                <a16:creationId xmlns:a16="http://schemas.microsoft.com/office/drawing/2014/main" id="{F7E30F1B-8DFB-48A6-8AD2-4A37D153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2" name="hf-1066">
            <a:extLst xmlns:a="http://schemas.openxmlformats.org/drawingml/2006/main">
              <a:ext uri="{FF2B5EF4-FFF2-40B4-BE49-F238E27FC236}">
                <a16:creationId xmlns:a16="http://schemas.microsoft.com/office/drawing/2014/main" id="{81AF0A05-8C8A-40DC-AB03-EAF1E0F3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3" name="hf-1067">
            <a:extLst xmlns:a="http://schemas.openxmlformats.org/drawingml/2006/main">
              <a:ext uri="{FF2B5EF4-FFF2-40B4-BE49-F238E27FC236}">
                <a16:creationId xmlns:a16="http://schemas.microsoft.com/office/drawing/2014/main" id="{8798DCE4-30BD-4FAC-AACA-1FAF30CB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4" name="hf-1068">
            <a:extLst xmlns:a="http://schemas.openxmlformats.org/drawingml/2006/main">
              <a:ext uri="{FF2B5EF4-FFF2-40B4-BE49-F238E27FC236}">
                <a16:creationId xmlns:a16="http://schemas.microsoft.com/office/drawing/2014/main" id="{5F585FD7-050D-4655-BD93-8CC8D8E9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5" name="hf-1069">
            <a:extLst xmlns:a="http://schemas.openxmlformats.org/drawingml/2006/main">
              <a:ext uri="{FF2B5EF4-FFF2-40B4-BE49-F238E27FC236}">
                <a16:creationId xmlns:a16="http://schemas.microsoft.com/office/drawing/2014/main" id="{634B2C18-17E0-42E3-A61C-AA37B826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5A5A5A"/>
            </a:solidFill>
          </a:ln>
        </p:spPr>
      </p:sp>
      <p:sp>
        <p:nvSpPr>
          <p:cNvPr id="26" name="hf-1070">
            <a:extLst xmlns:a="http://schemas.openxmlformats.org/drawingml/2006/main">
              <a:ext uri="{FF2B5EF4-FFF2-40B4-BE49-F238E27FC236}">
                <a16:creationId xmlns:a16="http://schemas.microsoft.com/office/drawing/2014/main" id="{A25DE7A6-A237-46C1-BAEF-C9047BE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5A5A5A"/>
            </a:solidFill>
          </a:ln>
        </p:spPr>
      </p:sp>
      <p:sp>
        <p:nvSpPr>
          <p:cNvPr id="27" name="hf-1071">
            <a:extLst xmlns:a="http://schemas.openxmlformats.org/drawingml/2006/main">
              <a:ext uri="{FF2B5EF4-FFF2-40B4-BE49-F238E27FC236}">
                <a16:creationId xmlns:a16="http://schemas.microsoft.com/office/drawing/2014/main" id="{ECED219A-54B4-4D08-AD17-C6B2AA37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5A5A5A"/>
            </a:solidFill>
          </a:ln>
        </p:spPr>
      </p:sp>
      <p:sp>
        <p:nvSpPr>
          <p:cNvPr id="28" name="hf-1072">
            <a:extLst xmlns:a="http://schemas.openxmlformats.org/drawingml/2006/main">
              <a:ext uri="{FF2B5EF4-FFF2-40B4-BE49-F238E27FC236}">
                <a16:creationId xmlns:a16="http://schemas.microsoft.com/office/drawing/2014/main" id="{151194F8-52BF-4E28-B948-F471B7F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5A5A5A"/>
            </a:solidFill>
          </a:ln>
        </p:spPr>
      </p:sp>
      <p:sp>
        <p:nvSpPr>
          <p:cNvPr id="29" name="hf-1073">
            <a:extLst xmlns:a="http://schemas.openxmlformats.org/drawingml/2006/main">
              <a:ext uri="{FF2B5EF4-FFF2-40B4-BE49-F238E27FC236}">
                <a16:creationId xmlns:a16="http://schemas.microsoft.com/office/drawing/2014/main" id="{6983DDE4-CABE-41C3-9102-778E9923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7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30" name="hf-1074">
            <a:extLst xmlns:a="http://schemas.openxmlformats.org/drawingml/2006/main">
              <a:ext uri="{FF2B5EF4-FFF2-40B4-BE49-F238E27FC236}">
                <a16:creationId xmlns:a16="http://schemas.microsoft.com/office/drawing/2014/main" id="{C0AF72D4-3029-4B23-A7AA-270AA150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5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1" name="hf-1075">
            <a:extLst xmlns:a="http://schemas.openxmlformats.org/drawingml/2006/main">
              <a:ext uri="{FF2B5EF4-FFF2-40B4-BE49-F238E27FC236}">
                <a16:creationId xmlns:a16="http://schemas.microsoft.com/office/drawing/2014/main" id="{13D98723-010F-4656-9F07-1701DC9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3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32" name="hf-1076">
            <a:extLst xmlns:a="http://schemas.openxmlformats.org/drawingml/2006/main">
              <a:ext uri="{FF2B5EF4-FFF2-40B4-BE49-F238E27FC236}">
                <a16:creationId xmlns:a16="http://schemas.microsoft.com/office/drawing/2014/main" id="{053A29C7-2098-4D91-AF65-6E6CF04F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1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3" name="hf-1077">
            <a:extLst xmlns:a="http://schemas.openxmlformats.org/drawingml/2006/main">
              <a:ext uri="{FF2B5EF4-FFF2-40B4-BE49-F238E27FC236}">
                <a16:creationId xmlns:a16="http://schemas.microsoft.com/office/drawing/2014/main" id="{E58B02A0-FF1E-4AE5-95E1-C4EF066F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9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4" name="hf-1078">
            <a:extLst xmlns:a="http://schemas.openxmlformats.org/drawingml/2006/main">
              <a:ext uri="{FF2B5EF4-FFF2-40B4-BE49-F238E27FC236}">
                <a16:creationId xmlns:a16="http://schemas.microsoft.com/office/drawing/2014/main" id="{E3F717C2-F2A7-4250-872A-F372D08D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7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5" name="hf-1079">
            <a:extLst xmlns:a="http://schemas.openxmlformats.org/drawingml/2006/main">
              <a:ext uri="{FF2B5EF4-FFF2-40B4-BE49-F238E27FC236}">
                <a16:creationId xmlns:a16="http://schemas.microsoft.com/office/drawing/2014/main" id="{8CD380FA-9244-4A83-86DE-A11B791C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5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36" name="hf-1080">
            <a:extLst xmlns:a="http://schemas.openxmlformats.org/drawingml/2006/main">
              <a:ext uri="{FF2B5EF4-FFF2-40B4-BE49-F238E27FC236}">
                <a16:creationId xmlns:a16="http://schemas.microsoft.com/office/drawing/2014/main" id="{882537AC-745D-4CFE-9F48-B349842B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3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7" name="hf-1081">
            <a:extLst xmlns:a="http://schemas.openxmlformats.org/drawingml/2006/main">
              <a:ext uri="{FF2B5EF4-FFF2-40B4-BE49-F238E27FC236}">
                <a16:creationId xmlns:a16="http://schemas.microsoft.com/office/drawing/2014/main" id="{2D2CF74C-C120-4D8D-A149-0877548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7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8" name="hf-1082">
            <a:extLst xmlns:a="http://schemas.openxmlformats.org/drawingml/2006/main">
              <a:ext uri="{FF2B5EF4-FFF2-40B4-BE49-F238E27FC236}">
                <a16:creationId xmlns:a16="http://schemas.microsoft.com/office/drawing/2014/main" id="{D1382005-B6EC-4435-96B9-DBB10D9B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5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9" name="hf-1083">
            <a:extLst xmlns:a="http://schemas.openxmlformats.org/drawingml/2006/main">
              <a:ext uri="{FF2B5EF4-FFF2-40B4-BE49-F238E27FC236}">
                <a16:creationId xmlns:a16="http://schemas.microsoft.com/office/drawing/2014/main" id="{57387FD4-BDCD-485E-ADE0-5CA862C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3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40" name="hf-1084">
            <a:extLst xmlns:a="http://schemas.openxmlformats.org/drawingml/2006/main">
              <a:ext uri="{FF2B5EF4-FFF2-40B4-BE49-F238E27FC236}">
                <a16:creationId xmlns:a16="http://schemas.microsoft.com/office/drawing/2014/main" id="{9930C1C3-A808-4B58-8FCF-233B4E5B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1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41" name="hf-1085">
            <a:extLst xmlns:a="http://schemas.openxmlformats.org/drawingml/2006/main">
              <a:ext uri="{FF2B5EF4-FFF2-40B4-BE49-F238E27FC236}">
                <a16:creationId xmlns:a16="http://schemas.microsoft.com/office/drawing/2014/main" id="{A76AEC85-5F76-4091-A2AB-1EE7EACA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9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42" name="hf-1086">
            <a:extLst xmlns:a="http://schemas.openxmlformats.org/drawingml/2006/main">
              <a:ext uri="{FF2B5EF4-FFF2-40B4-BE49-F238E27FC236}">
                <a16:creationId xmlns:a16="http://schemas.microsoft.com/office/drawing/2014/main" id="{1128B46B-8F3C-401D-8348-4866FDE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7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3" name="hf-1087">
            <a:extLst xmlns:a="http://schemas.openxmlformats.org/drawingml/2006/main">
              <a:ext uri="{FF2B5EF4-FFF2-40B4-BE49-F238E27FC236}">
                <a16:creationId xmlns:a16="http://schemas.microsoft.com/office/drawing/2014/main" id="{D3B0FEDC-12A9-4129-BF15-96D69EAF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5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4" name="hf-1088">
            <a:extLst xmlns:a="http://schemas.openxmlformats.org/drawingml/2006/main">
              <a:ext uri="{FF2B5EF4-FFF2-40B4-BE49-F238E27FC236}">
                <a16:creationId xmlns:a16="http://schemas.microsoft.com/office/drawing/2014/main" id="{1B6E7FBD-9883-4DC6-ACFE-831E6958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3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5" name="hf-1089">
            <a:extLst xmlns:a="http://schemas.openxmlformats.org/drawingml/2006/main">
              <a:ext uri="{FF2B5EF4-FFF2-40B4-BE49-F238E27FC236}">
                <a16:creationId xmlns:a16="http://schemas.microsoft.com/office/drawing/2014/main" id="{69E46CD8-849E-468C-B744-6566E3B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7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46" name="hf-1090">
            <a:extLst xmlns:a="http://schemas.openxmlformats.org/drawingml/2006/main">
              <a:ext uri="{FF2B5EF4-FFF2-40B4-BE49-F238E27FC236}">
                <a16:creationId xmlns:a16="http://schemas.microsoft.com/office/drawing/2014/main" id="{E2FECE7C-B0A0-4C31-A5FA-86FDA0A6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5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47" name="hf-1091">
            <a:extLst xmlns:a="http://schemas.openxmlformats.org/drawingml/2006/main">
              <a:ext uri="{FF2B5EF4-FFF2-40B4-BE49-F238E27FC236}">
                <a16:creationId xmlns:a16="http://schemas.microsoft.com/office/drawing/2014/main" id="{67E4982A-AC7E-4798-B9D5-569399A5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3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48" name="hf-1092">
            <a:extLst xmlns:a="http://schemas.openxmlformats.org/drawingml/2006/main">
              <a:ext uri="{FF2B5EF4-FFF2-40B4-BE49-F238E27FC236}">
                <a16:creationId xmlns:a16="http://schemas.microsoft.com/office/drawing/2014/main" id="{7A0D54E5-1A81-4878-B8AF-C5C7ED32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1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9" name="hf-1093">
            <a:extLst xmlns:a="http://schemas.openxmlformats.org/drawingml/2006/main">
              <a:ext uri="{FF2B5EF4-FFF2-40B4-BE49-F238E27FC236}">
                <a16:creationId xmlns:a16="http://schemas.microsoft.com/office/drawing/2014/main" id="{424180FD-DB7C-4452-8C77-7A255746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9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</a:t>
            </a:r>
          </a:p>
        </p:txBody>
      </p:sp>
      <p:sp>
        <p:nvSpPr>
          <p:cNvPr id="50" name="hf-1094">
            <a:extLst xmlns:a="http://schemas.openxmlformats.org/drawingml/2006/main">
              <a:ext uri="{FF2B5EF4-FFF2-40B4-BE49-F238E27FC236}">
                <a16:creationId xmlns:a16="http://schemas.microsoft.com/office/drawing/2014/main" id="{CB9D46E5-8374-4713-9B3D-7479B33C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7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</a:t>
            </a:r>
          </a:p>
        </p:txBody>
      </p:sp>
      <p:sp>
        <p:nvSpPr>
          <p:cNvPr id="51" name="hf-1095">
            <a:extLst xmlns:a="http://schemas.openxmlformats.org/drawingml/2006/main">
              <a:ext uri="{FF2B5EF4-FFF2-40B4-BE49-F238E27FC236}">
                <a16:creationId xmlns:a16="http://schemas.microsoft.com/office/drawing/2014/main" id="{1A1E3504-7BD6-486B-BBDD-22981519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5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</a:t>
            </a:r>
          </a:p>
        </p:txBody>
      </p:sp>
      <p:sp>
        <p:nvSpPr>
          <p:cNvPr id="52" name="hf-1096">
            <a:extLst xmlns:a="http://schemas.openxmlformats.org/drawingml/2006/main">
              <a:ext uri="{FF2B5EF4-FFF2-40B4-BE49-F238E27FC236}">
                <a16:creationId xmlns:a16="http://schemas.microsoft.com/office/drawing/2014/main" id="{A8A0D423-17E0-4411-BFDC-78556CCB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3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</a:t>
            </a:r>
          </a:p>
        </p:txBody>
      </p:sp>
      <p:sp>
        <p:nvSpPr>
          <p:cNvPr id="53" name="hf-1097">
            <a:extLst xmlns:a="http://schemas.openxmlformats.org/drawingml/2006/main">
              <a:ext uri="{FF2B5EF4-FFF2-40B4-BE49-F238E27FC236}">
                <a16:creationId xmlns:a16="http://schemas.microsoft.com/office/drawing/2014/main" id="{53DF19F3-3164-420D-A857-F5C9215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49057"/>
            <a:ext cx="6264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вход</a:t>
            </a:r>
          </a:p>
        </p:txBody>
      </p:sp>
      <p:sp>
        <p:nvSpPr>
          <p:cNvPr id="54" name="hf-1098">
            <a:extLst xmlns:a="http://schemas.openxmlformats.org/drawingml/2006/main">
              <a:ext uri="{FF2B5EF4-FFF2-40B4-BE49-F238E27FC236}">
                <a16:creationId xmlns:a16="http://schemas.microsoft.com/office/drawing/2014/main" id="{97D21DDE-4A8F-4FA8-8CB7-A9B9F755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15338"/>
            <a:ext cx="150450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8 чисел, 4 разных</a:t>
            </a:r>
          </a:p>
        </p:txBody>
      </p:sp>
      <p:sp>
        <p:nvSpPr>
          <p:cNvPr id="55" name="hf-1099">
            <a:extLst xmlns:a="http://schemas.openxmlformats.org/drawingml/2006/main">
              <a:ext uri="{FF2B5EF4-FFF2-40B4-BE49-F238E27FC236}">
                <a16:creationId xmlns:a16="http://schemas.microsoft.com/office/drawing/2014/main" id="{F527FE61-59FB-4A77-AE7D-CAF30BA2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99145"/>
            <a:ext cx="11926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std::sort</a:t>
            </a:r>
          </a:p>
        </p:txBody>
      </p:sp>
      <p:sp>
        <p:nvSpPr>
          <p:cNvPr id="56" name="hf-1100">
            <a:extLst xmlns:a="http://schemas.openxmlformats.org/drawingml/2006/main">
              <a:ext uri="{FF2B5EF4-FFF2-40B4-BE49-F238E27FC236}">
                <a16:creationId xmlns:a16="http://schemas.microsoft.com/office/drawing/2014/main" id="{A5B2B303-1406-4EA7-B373-36279AC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53538"/>
            <a:ext cx="18290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одинаковые — рядом</a:t>
            </a:r>
          </a:p>
        </p:txBody>
      </p:sp>
      <p:sp>
        <p:nvSpPr>
          <p:cNvPr id="57" name="hf-1101">
            <a:extLst xmlns:a="http://schemas.openxmlformats.org/drawingml/2006/main">
              <a:ext uri="{FF2B5EF4-FFF2-40B4-BE49-F238E27FC236}">
                <a16:creationId xmlns:a16="http://schemas.microsoft.com/office/drawing/2014/main" id="{1475E536-3DBA-45B6-AAB2-2F674AD0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37345"/>
            <a:ext cx="15711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unique+erase</a:t>
            </a:r>
          </a:p>
        </p:txBody>
      </p:sp>
      <p:sp>
        <p:nvSpPr>
          <p:cNvPr id="58" name="hf-1102">
            <a:extLst xmlns:a="http://schemas.openxmlformats.org/drawingml/2006/main">
              <a:ext uri="{FF2B5EF4-FFF2-40B4-BE49-F238E27FC236}">
                <a16:creationId xmlns:a16="http://schemas.microsoft.com/office/drawing/2014/main" id="{2AE79D2B-9744-4E36-8537-FBB041E2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91738"/>
            <a:ext cx="120037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хвост отрезан</a:t>
            </a:r>
          </a:p>
        </p:txBody>
      </p:sp>
      <p:sp>
        <p:nvSpPr>
          <p:cNvPr id="59" name="hf-1103">
            <a:extLst xmlns:a="http://schemas.openxmlformats.org/drawingml/2006/main">
              <a:ext uri="{FF2B5EF4-FFF2-40B4-BE49-F238E27FC236}">
                <a16:creationId xmlns:a16="http://schemas.microsoft.com/office/drawing/2014/main" id="{03804289-C371-41E6-9FC1-296183E7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385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60" name="hf-1104">
            <a:extLst xmlns:a="http://schemas.openxmlformats.org/drawingml/2006/main">
              <a:ext uri="{FF2B5EF4-FFF2-40B4-BE49-F238E27FC236}">
                <a16:creationId xmlns:a16="http://schemas.microsoft.com/office/drawing/2014/main" id="{5ECDEEAC-350B-4F10-BBC0-3F97DE94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94442"/>
            <a:ext cx="3219078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0 аллокаций</a:t>
            </a:r>
          </a:p>
        </p:txBody>
      </p:sp>
      <p:sp>
        <p:nvSpPr>
          <p:cNvPr id="61" name="hf-1105">
            <a:extLst xmlns:a="http://schemas.openxmlformats.org/drawingml/2006/main">
              <a:ext uri="{FF2B5EF4-FFF2-40B4-BE49-F238E27FC236}">
                <a16:creationId xmlns:a16="http://schemas.microsoft.com/office/drawing/2014/main" id="{00DB2233-F4AF-4B3B-B43E-717520C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61067"/>
            <a:ext cx="299501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~log₂N проходов по всем N —</a:t>
            </a:r>
          </a:p>
        </p:txBody>
      </p:sp>
      <p:sp>
        <p:nvSpPr>
          <p:cNvPr id="62" name="hf-1106">
            <a:extLst xmlns:a="http://schemas.openxmlformats.org/drawingml/2006/main">
              <a:ext uri="{FF2B5EF4-FFF2-40B4-BE49-F238E27FC236}">
                <a16:creationId xmlns:a16="http://schemas.microsoft.com/office/drawing/2014/main" id="{4806248F-836B-4BB6-B532-6B8B6D5C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9192"/>
            <a:ext cx="209259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буфер, </a:t>
            </a:r>
            <a:r>
              <a:rPr sz="15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подряд</a:t>
            </a:r>
          </a:p>
        </p:txBody>
      </p:sp>
      <p:pic>
        <p:nvPicPr>
          <p:cNvPr id="63" name="hf-1107">
            <a:extLst xmlns:a="http://schemas.openxmlformats.org/drawingml/2006/main">
              <a:ext uri="{FF2B5EF4-FFF2-40B4-BE49-F238E27FC236}">
                <a16:creationId xmlns:a16="http://schemas.microsoft.com/office/drawing/2014/main" id="{CEBF9992-12DD-47A2-A32B-F9181D9023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96e2c92ac4ce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64" name="hf-1108">
            <a:extLst xmlns:a="http://schemas.openxmlformats.org/drawingml/2006/main">
              <a:ext uri="{FF2B5EF4-FFF2-40B4-BE49-F238E27FC236}">
                <a16:creationId xmlns:a16="http://schemas.microsoft.com/office/drawing/2014/main" id="{E99D093E-2747-4C9C-960C-2C9079B5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975050853"/>
      </p:ext>
    </p:extLst>
  </p:cSld>
</p:sld>
</file>

<file path=ppt/slides/slide46.xml><?xml version="1.0" encoding="utf-8"?>
<p:sld xmlns:p="http://schemas.openxmlformats.org/presentationml/2006/main" show="0">
  <p:cSld name="hashtabl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09">
            <a:extLst xmlns:a="http://schemas.openxmlformats.org/drawingml/2006/main">
              <a:ext uri="{FF2B5EF4-FFF2-40B4-BE49-F238E27FC236}">
                <a16:creationId xmlns:a16="http://schemas.microsoft.com/office/drawing/2014/main" id="{E9893958-5E41-4037-8AC7-15C2E779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110">
            <a:extLst xmlns:a="http://schemas.openxmlformats.org/drawingml/2006/main">
              <a:ext uri="{FF2B5EF4-FFF2-40B4-BE49-F238E27FC236}">
                <a16:creationId xmlns:a16="http://schemas.microsoft.com/office/drawing/2014/main" id="{31904596-158D-4699-A946-D0A05A51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59690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УЗЛОВАЯ ХЕШ-ТАБЛИЦА: КАЖДЫЙ</a:t>
            </a:r>
          </a:p>
        </p:txBody>
      </p:sp>
      <p:sp>
        <p:nvSpPr>
          <p:cNvPr id="4" name="hf-1111">
            <a:extLst xmlns:a="http://schemas.openxmlformats.org/drawingml/2006/main">
              <a:ext uri="{FF2B5EF4-FFF2-40B4-BE49-F238E27FC236}">
                <a16:creationId xmlns:a16="http://schemas.microsoft.com/office/drawing/2014/main" id="{8DE22D43-C9F4-485C-BB67-C9A59961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304948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КЛЮЧ — СВОЙ new</a:t>
            </a:r>
          </a:p>
        </p:txBody>
      </p:sp>
      <p:sp>
        <p:nvSpPr>
          <p:cNvPr id="5" name="hf-1112">
            <a:extLst xmlns:a="http://schemas.openxmlformats.org/drawingml/2006/main">
              <a:ext uri="{FF2B5EF4-FFF2-40B4-BE49-F238E27FC236}">
                <a16:creationId xmlns:a16="http://schemas.microsoft.com/office/drawing/2014/main" id="{726B361A-82A7-4841-A177-34B9C6C0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1485900"/>
            <a:ext cx="933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hf-1113">
            <a:extLst xmlns:a="http://schemas.openxmlformats.org/drawingml/2006/main">
              <a:ext uri="{FF2B5EF4-FFF2-40B4-BE49-F238E27FC236}">
                <a16:creationId xmlns:a16="http://schemas.microsoft.com/office/drawing/2014/main" id="{092A9C12-FBA6-4366-95BD-23C94B6E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85900"/>
            <a:ext cx="2171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7" name="hf-1114">
            <a:extLst xmlns:a="http://schemas.openxmlformats.org/drawingml/2006/main">
              <a:ext uri="{FF2B5EF4-FFF2-40B4-BE49-F238E27FC236}">
                <a16:creationId xmlns:a16="http://schemas.microsoft.com/office/drawing/2014/main" id="{64E7362A-0FE0-4580-BFD5-7DA81534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8" y="1743075"/>
            <a:ext cx="338138" cy="953"/>
          </a:xfrm>
          <a:custGeom xmlns:a="http://schemas.openxmlformats.org/drawingml/2006/main">
            <a:pathLst>
              <a:path w="338138" h="476">
                <a:moveTo>
                  <a:pt x="0" y="0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</a:ln>
        </p:spPr>
      </p:sp>
      <p:sp>
        <p:nvSpPr>
          <p:cNvPr id="8" name="hf-1115">
            <a:extLst xmlns:a="http://schemas.openxmlformats.org/drawingml/2006/main">
              <a:ext uri="{FF2B5EF4-FFF2-40B4-BE49-F238E27FC236}">
                <a16:creationId xmlns:a16="http://schemas.microsoft.com/office/drawing/2014/main" id="{9FDB61A1-093C-4D00-B49B-4678790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43075"/>
            <a:ext cx="323850" cy="953"/>
          </a:xfrm>
          <a:custGeom xmlns:a="http://schemas.openxmlformats.org/drawingml/2006/main">
            <a:pathLst>
              <a:path w="323850" h="476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</a:ln>
        </p:spPr>
      </p:sp>
      <p:sp>
        <p:nvSpPr>
          <p:cNvPr id="9" name="hf-1116">
            <a:extLst xmlns:a="http://schemas.openxmlformats.org/drawingml/2006/main">
              <a:ext uri="{FF2B5EF4-FFF2-40B4-BE49-F238E27FC236}">
                <a16:creationId xmlns:a16="http://schemas.microsoft.com/office/drawing/2014/main" id="{17DFF7C9-6713-489A-B818-81C4BC3A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485900"/>
            <a:ext cx="39814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10" name="hf-1117">
            <a:extLst xmlns:a="http://schemas.openxmlformats.org/drawingml/2006/main">
              <a:ext uri="{FF2B5EF4-FFF2-40B4-BE49-F238E27FC236}">
                <a16:creationId xmlns:a16="http://schemas.microsoft.com/office/drawing/2014/main" id="{CFA4AAEF-EA4E-4E35-85DA-1969DC94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85900"/>
            <a:ext cx="50006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11" name="hf-1118">
            <a:extLst xmlns:a="http://schemas.openxmlformats.org/drawingml/2006/main">
              <a:ext uri="{FF2B5EF4-FFF2-40B4-BE49-F238E27FC236}">
                <a16:creationId xmlns:a16="http://schemas.microsoft.com/office/drawing/2014/main" id="{86841902-CA97-438E-BB3E-06046E3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2" name="hf-1119">
            <a:extLst xmlns:a="http://schemas.openxmlformats.org/drawingml/2006/main">
              <a:ext uri="{FF2B5EF4-FFF2-40B4-BE49-F238E27FC236}">
                <a16:creationId xmlns:a16="http://schemas.microsoft.com/office/drawing/2014/main" id="{2DE779D1-A83A-4E44-A81E-F9C0CB2D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3" name="hf-1120">
            <a:extLst xmlns:a="http://schemas.openxmlformats.org/drawingml/2006/main">
              <a:ext uri="{FF2B5EF4-FFF2-40B4-BE49-F238E27FC236}">
                <a16:creationId xmlns:a16="http://schemas.microsoft.com/office/drawing/2014/main" id="{EEE94FDB-ECFD-4243-8126-D8DC8A3B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4" name="hf-1121">
            <a:extLst xmlns:a="http://schemas.openxmlformats.org/drawingml/2006/main">
              <a:ext uri="{FF2B5EF4-FFF2-40B4-BE49-F238E27FC236}">
                <a16:creationId xmlns:a16="http://schemas.microsoft.com/office/drawing/2014/main" id="{0068A10D-7F7F-48A3-9BCE-66ABF9A3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5" name="hf-1122">
            <a:extLst xmlns:a="http://schemas.openxmlformats.org/drawingml/2006/main">
              <a:ext uri="{FF2B5EF4-FFF2-40B4-BE49-F238E27FC236}">
                <a16:creationId xmlns:a16="http://schemas.microsoft.com/office/drawing/2014/main" id="{CD410281-B3EF-41E0-B5FC-E27C69B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6" name="hf-1123">
            <a:extLst xmlns:a="http://schemas.openxmlformats.org/drawingml/2006/main">
              <a:ext uri="{FF2B5EF4-FFF2-40B4-BE49-F238E27FC236}">
                <a16:creationId xmlns:a16="http://schemas.microsoft.com/office/drawing/2014/main" id="{2E29C446-FB24-44BE-B44A-229D146D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7" name="hf-1124">
            <a:extLst xmlns:a="http://schemas.openxmlformats.org/drawingml/2006/main">
              <a:ext uri="{FF2B5EF4-FFF2-40B4-BE49-F238E27FC236}">
                <a16:creationId xmlns:a16="http://schemas.microsoft.com/office/drawing/2014/main" id="{D2F58647-3192-4392-BF26-0FA38EF1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8" name="hf-1125">
            <a:extLst xmlns:a="http://schemas.openxmlformats.org/drawingml/2006/main">
              <a:ext uri="{FF2B5EF4-FFF2-40B4-BE49-F238E27FC236}">
                <a16:creationId xmlns:a16="http://schemas.microsoft.com/office/drawing/2014/main" id="{E6573FF8-1E04-44D9-9E56-371968E7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156" y="1743075"/>
            <a:ext cx="953" cy="971550"/>
          </a:xfrm>
          <a:custGeom xmlns:a="http://schemas.openxmlformats.org/drawingml/2006/main">
            <a:pathLst>
              <a:path w="476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2489B"/>
            </a:solidFill>
          </a:ln>
        </p:spPr>
      </p:sp>
      <p:sp>
        <p:nvSpPr>
          <p:cNvPr id="19" name="hf-1126">
            <a:extLst xmlns:a="http://schemas.openxmlformats.org/drawingml/2006/main">
              <a:ext uri="{FF2B5EF4-FFF2-40B4-BE49-F238E27FC236}">
                <a16:creationId xmlns:a16="http://schemas.microsoft.com/office/drawing/2014/main" id="{50F52F71-38D8-4F11-A800-764D5B24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294" y="17002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4763">
            <a:noFill/>
          </a:ln>
        </p:spPr>
      </p:sp>
      <p:sp>
        <p:nvSpPr>
          <p:cNvPr id="20" name="hf-1127">
            <a:extLst xmlns:a="http://schemas.openxmlformats.org/drawingml/2006/main">
              <a:ext uri="{FF2B5EF4-FFF2-40B4-BE49-F238E27FC236}">
                <a16:creationId xmlns:a16="http://schemas.microsoft.com/office/drawing/2014/main" id="{34AD5C2F-6B0E-4397-B2BE-C4002782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71775"/>
            <a:ext cx="16954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21" name="hf-1128">
            <a:extLst xmlns:a="http://schemas.openxmlformats.org/drawingml/2006/main">
              <a:ext uri="{FF2B5EF4-FFF2-40B4-BE49-F238E27FC236}">
                <a16:creationId xmlns:a16="http://schemas.microsoft.com/office/drawing/2014/main" id="{A5878A8C-62E3-4783-A726-748339A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24275"/>
            <a:ext cx="16954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22" name="hf-1129">
            <a:extLst xmlns:a="http://schemas.openxmlformats.org/drawingml/2006/main">
              <a:ext uri="{FF2B5EF4-FFF2-40B4-BE49-F238E27FC236}">
                <a16:creationId xmlns:a16="http://schemas.microsoft.com/office/drawing/2014/main" id="{EDDA6BD8-CF7A-47B6-8BC9-A8842286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00375"/>
            <a:ext cx="1019175" cy="666750"/>
          </a:xfrm>
          <a:custGeom xmlns:a="http://schemas.openxmlformats.org/drawingml/2006/main">
            <a:pathLst>
              <a:path w="1019175" h="666750">
                <a:moveTo>
                  <a:pt x="0" y="0"/>
                </a:moveTo>
                <a:lnTo>
                  <a:pt x="1019175" y="0"/>
                </a:lnTo>
                <a:lnTo>
                  <a:pt x="1019175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2489B"/>
            </a:solidFill>
          </a:ln>
        </p:spPr>
      </p:sp>
      <p:sp>
        <p:nvSpPr>
          <p:cNvPr id="23" name="hf-1130">
            <a:extLst xmlns:a="http://schemas.openxmlformats.org/drawingml/2006/main">
              <a:ext uri="{FF2B5EF4-FFF2-40B4-BE49-F238E27FC236}">
                <a16:creationId xmlns:a16="http://schemas.microsoft.com/office/drawing/2014/main" id="{9C5C2430-4B7C-470C-BE5C-E582F2A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37" y="1386269"/>
            <a:ext cx="35540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42</a:t>
            </a:r>
          </a:p>
        </p:txBody>
      </p:sp>
      <p:sp>
        <p:nvSpPr>
          <p:cNvPr id="24" name="hf-1131">
            <a:extLst xmlns:a="http://schemas.openxmlformats.org/drawingml/2006/main">
              <a:ext uri="{FF2B5EF4-FFF2-40B4-BE49-F238E27FC236}">
                <a16:creationId xmlns:a16="http://schemas.microsoft.com/office/drawing/2014/main" id="{71984EED-A477-483D-ADAE-B2605182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819" y="1345883"/>
            <a:ext cx="14334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hash(42) % 8</a:t>
            </a:r>
          </a:p>
        </p:txBody>
      </p:sp>
      <p:sp>
        <p:nvSpPr>
          <p:cNvPr id="25" name="hf-1132">
            <a:extLst xmlns:a="http://schemas.openxmlformats.org/drawingml/2006/main">
              <a:ext uri="{FF2B5EF4-FFF2-40B4-BE49-F238E27FC236}">
                <a16:creationId xmlns:a16="http://schemas.microsoft.com/office/drawing/2014/main" id="{D088F87E-985E-4A74-AF3F-34532D7C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2058238"/>
            <a:ext cx="4809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ключ</a:t>
            </a:r>
          </a:p>
        </p:txBody>
      </p:sp>
      <p:sp>
        <p:nvSpPr>
          <p:cNvPr id="26" name="hf-1133">
            <a:extLst xmlns:a="http://schemas.openxmlformats.org/drawingml/2006/main">
              <a:ext uri="{FF2B5EF4-FFF2-40B4-BE49-F238E27FC236}">
                <a16:creationId xmlns:a16="http://schemas.microsoft.com/office/drawing/2014/main" id="{A6ED4151-6C58-459B-AD5C-17EB852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636" y="2058238"/>
            <a:ext cx="122187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номер ячейки</a:t>
            </a:r>
          </a:p>
        </p:txBody>
      </p:sp>
      <p:sp>
        <p:nvSpPr>
          <p:cNvPr id="27" name="hf-1134">
            <a:extLst xmlns:a="http://schemas.openxmlformats.org/drawingml/2006/main">
              <a:ext uri="{FF2B5EF4-FFF2-40B4-BE49-F238E27FC236}">
                <a16:creationId xmlns:a16="http://schemas.microsoft.com/office/drawing/2014/main" id="{14C77829-AE3F-4DAA-A1BC-F80FAD98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2058238"/>
            <a:ext cx="16517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8 ячеек-указателей</a:t>
            </a:r>
          </a:p>
        </p:txBody>
      </p:sp>
      <p:sp>
        <p:nvSpPr>
          <p:cNvPr id="28" name="hf-1135">
            <a:extLst xmlns:a="http://schemas.openxmlformats.org/drawingml/2006/main">
              <a:ext uri="{FF2B5EF4-FFF2-40B4-BE49-F238E27FC236}">
                <a16:creationId xmlns:a16="http://schemas.microsoft.com/office/drawing/2014/main" id="{BCEE0D56-7300-4857-885B-19A3C7F5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639" y="2660332"/>
            <a:ext cx="108942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42 </a:t>
            </a:r>
            <a:r>
              <a:rPr sz="150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 next</a:t>
            </a:r>
          </a:p>
        </p:txBody>
      </p:sp>
      <p:sp>
        <p:nvSpPr>
          <p:cNvPr id="29" name="hf-1136">
            <a:extLst xmlns:a="http://schemas.openxmlformats.org/drawingml/2006/main">
              <a:ext uri="{FF2B5EF4-FFF2-40B4-BE49-F238E27FC236}">
                <a16:creationId xmlns:a16="http://schemas.microsoft.com/office/drawing/2014/main" id="{78C8AF36-DDB2-4F99-87AD-E560DEE7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114" y="3612832"/>
            <a:ext cx="108942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50 </a:t>
            </a:r>
            <a:r>
              <a:rPr sz="150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 next</a:t>
            </a:r>
          </a:p>
        </p:txBody>
      </p:sp>
      <p:sp>
        <p:nvSpPr>
          <p:cNvPr id="30" name="hf-1137">
            <a:extLst xmlns:a="http://schemas.openxmlformats.org/drawingml/2006/main">
              <a:ext uri="{FF2B5EF4-FFF2-40B4-BE49-F238E27FC236}">
                <a16:creationId xmlns:a16="http://schemas.microsoft.com/office/drawing/2014/main" id="{17B26B69-08AD-4948-BD44-F5BDE642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816" y="3848938"/>
            <a:ext cx="16974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коллизия → цепочка</a:t>
            </a:r>
          </a:p>
        </p:txBody>
      </p:sp>
      <p:sp>
        <p:nvSpPr>
          <p:cNvPr id="31" name="hf-1138">
            <a:extLst xmlns:a="http://schemas.openxmlformats.org/drawingml/2006/main">
              <a:ext uri="{FF2B5EF4-FFF2-40B4-BE49-F238E27FC236}">
                <a16:creationId xmlns:a16="http://schemas.microsoft.com/office/drawing/2014/main" id="{FA2C3955-97D7-4C99-A6A8-A6AD6E67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84767"/>
            <a:ext cx="3551113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1 ключ = 1 new</a:t>
            </a:r>
          </a:p>
        </p:txBody>
      </p:sp>
      <p:sp>
        <p:nvSpPr>
          <p:cNvPr id="32" name="hf-1139">
            <a:extLst xmlns:a="http://schemas.openxmlformats.org/drawingml/2006/main">
              <a:ext uri="{FF2B5EF4-FFF2-40B4-BE49-F238E27FC236}">
                <a16:creationId xmlns:a16="http://schemas.microsoft.com/office/drawing/2014/main" id="{61CD1155-E3D6-4D01-90BD-9E0937EA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84804"/>
            <a:ext cx="407513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каждый узел — отдельный кусок памяти</a:t>
            </a:r>
          </a:p>
        </p:txBody>
      </p:sp>
      <p:sp>
        <p:nvSpPr>
          <p:cNvPr id="33" name="hf-1140">
            <a:extLst xmlns:a="http://schemas.openxmlformats.org/drawingml/2006/main">
              <a:ext uri="{FF2B5EF4-FFF2-40B4-BE49-F238E27FC236}">
                <a16:creationId xmlns:a16="http://schemas.microsoft.com/office/drawing/2014/main" id="{EFE7AFE5-0837-4319-890A-ED548322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51504"/>
            <a:ext cx="41206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шаг по цепочке — переход по указателю</a:t>
            </a:r>
          </a:p>
        </p:txBody>
      </p:sp>
      <p:pic>
        <p:nvPicPr>
          <p:cNvPr id="34" name="hf-1141">
            <a:extLst xmlns:a="http://schemas.openxmlformats.org/drawingml/2006/main">
              <a:ext uri="{FF2B5EF4-FFF2-40B4-BE49-F238E27FC236}">
                <a16:creationId xmlns:a16="http://schemas.microsoft.com/office/drawing/2014/main" id="{4E98E559-9F7B-4B64-AAF2-365FFCD84C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2677f9c4644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5" name="hf-1142">
            <a:extLst xmlns:a="http://schemas.openxmlformats.org/drawingml/2006/main">
              <a:ext uri="{FF2B5EF4-FFF2-40B4-BE49-F238E27FC236}">
                <a16:creationId xmlns:a16="http://schemas.microsoft.com/office/drawing/2014/main" id="{A004B682-6B15-4194-B651-28C0F558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820588056"/>
      </p:ext>
    </p:extLst>
  </p:cSld>
</p:sld>
</file>

<file path=ppt/slides/slide47.xml><?xml version="1.0" encoding="utf-8"?>
<p:sld xmlns:p="http://schemas.openxmlformats.org/presentationml/2006/main" show="0">
  <p:cSld name="reserv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43">
            <a:extLst xmlns:a="http://schemas.openxmlformats.org/drawingml/2006/main">
              <a:ext uri="{FF2B5EF4-FFF2-40B4-BE49-F238E27FC236}">
                <a16:creationId xmlns:a16="http://schemas.microsoft.com/office/drawing/2014/main" id="{136E3747-B452-4FC9-851D-5D539E22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144">
            <a:extLst xmlns:a="http://schemas.openxmlformats.org/drawingml/2006/main">
              <a:ext uri="{FF2B5EF4-FFF2-40B4-BE49-F238E27FC236}">
                <a16:creationId xmlns:a16="http://schemas.microsoft.com/office/drawing/2014/main" id="{ED894502-C201-4306-9627-29766707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834560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reserve(N) — ТОЖЕ РЕШЕНИЕ, И ОНО СТОИТ</a:t>
            </a:r>
          </a:p>
        </p:txBody>
      </p:sp>
      <p:sp>
        <p:nvSpPr>
          <p:cNvPr id="4" name="hf-1145">
            <a:extLst xmlns:a="http://schemas.openxmlformats.org/drawingml/2006/main">
              <a:ext uri="{FF2B5EF4-FFF2-40B4-BE49-F238E27FC236}">
                <a16:creationId xmlns:a16="http://schemas.microsoft.com/office/drawing/2014/main" id="{1F6F6B9D-2620-455E-BF2D-C81CB77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39399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ПАМЯТИ</a:t>
            </a:r>
          </a:p>
        </p:txBody>
      </p:sp>
      <p:sp>
        <p:nvSpPr>
          <p:cNvPr id="5" name="hf-1146">
            <a:extLst xmlns:a="http://schemas.openxmlformats.org/drawingml/2006/main">
              <a:ext uri="{FF2B5EF4-FFF2-40B4-BE49-F238E27FC236}">
                <a16:creationId xmlns:a16="http://schemas.microsoft.com/office/drawing/2014/main" id="{A06A485C-9B4E-4109-B51B-6FB662B3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51962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flat_hash_set · N = 2^20 · 1% уникальных · нс на элемент · M2 Pro</a:t>
            </a:r>
          </a:p>
        </p:txBody>
      </p:sp>
      <p:sp>
        <p:nvSpPr>
          <p:cNvPr id="6" name="hf-1147">
            <a:extLst xmlns:a="http://schemas.openxmlformats.org/drawingml/2006/main">
              <a:ext uri="{FF2B5EF4-FFF2-40B4-BE49-F238E27FC236}">
                <a16:creationId xmlns:a16="http://schemas.microsoft.com/office/drawing/2014/main" id="{3AE406A2-CC11-459B-B687-B4401CCB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33550"/>
            <a:ext cx="2667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hf-1148">
            <a:extLst xmlns:a="http://schemas.openxmlformats.org/drawingml/2006/main">
              <a:ext uri="{FF2B5EF4-FFF2-40B4-BE49-F238E27FC236}">
                <a16:creationId xmlns:a16="http://schemas.microsoft.com/office/drawing/2014/main" id="{2727E75A-6838-4B67-A412-C5528B58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889379"/>
            <a:ext cx="13708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 </a:t>
            </a: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reserve(N)</a:t>
            </a:r>
          </a:p>
        </p:txBody>
      </p:sp>
      <p:sp>
        <p:nvSpPr>
          <p:cNvPr id="8" name="hf-1149">
            <a:extLst xmlns:a="http://schemas.openxmlformats.org/drawingml/2006/main">
              <a:ext uri="{FF2B5EF4-FFF2-40B4-BE49-F238E27FC236}">
                <a16:creationId xmlns:a16="http://schemas.microsoft.com/office/drawing/2014/main" id="{9F1D508F-8206-460D-8E7C-1197C5F6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375916"/>
            <a:ext cx="1380232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3,6 </a:t>
            </a:r>
          </a:p>
        </p:txBody>
      </p:sp>
      <p:sp>
        <p:nvSpPr>
          <p:cNvPr id="9" name="hf-1150">
            <a:extLst xmlns:a="http://schemas.openxmlformats.org/drawingml/2006/main">
              <a:ext uri="{FF2B5EF4-FFF2-40B4-BE49-F238E27FC236}">
                <a16:creationId xmlns:a16="http://schemas.microsoft.com/office/drawing/2014/main" id="{01B95535-C08D-4890-B7E6-0FCAA0DA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95" y="2266036"/>
            <a:ext cx="405631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нс</a:t>
            </a:r>
          </a:p>
        </p:txBody>
      </p:sp>
      <p:sp>
        <p:nvSpPr>
          <p:cNvPr id="10" name="hf-1151">
            <a:extLst xmlns:a="http://schemas.openxmlformats.org/drawingml/2006/main">
              <a:ext uri="{FF2B5EF4-FFF2-40B4-BE49-F238E27FC236}">
                <a16:creationId xmlns:a16="http://schemas.microsoft.com/office/drawing/2014/main" id="{A63A3946-B064-469A-A5E8-9A2C3E8A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225937"/>
            <a:ext cx="1440582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18,9 МБ таблицы</a:t>
            </a:r>
          </a:p>
        </p:txBody>
      </p:sp>
      <p:sp>
        <p:nvSpPr>
          <p:cNvPr id="11" name="hf-1152">
            <a:extLst xmlns:a="http://schemas.openxmlformats.org/drawingml/2006/main">
              <a:ext uri="{FF2B5EF4-FFF2-40B4-BE49-F238E27FC236}">
                <a16:creationId xmlns:a16="http://schemas.microsoft.com/office/drawing/2014/main" id="{9BDB6527-4F7B-4C07-B658-06672D8C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33550"/>
            <a:ext cx="2667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hf-1153">
            <a:extLst xmlns:a="http://schemas.openxmlformats.org/drawingml/2006/main">
              <a:ext uri="{FF2B5EF4-FFF2-40B4-BE49-F238E27FC236}">
                <a16:creationId xmlns:a16="http://schemas.microsoft.com/office/drawing/2014/main" id="{0A4B75A2-5C03-4565-A107-C845D1C9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1889379"/>
            <a:ext cx="127173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без </a:t>
            </a: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reserve</a:t>
            </a:r>
          </a:p>
        </p:txBody>
      </p:sp>
      <p:sp>
        <p:nvSpPr>
          <p:cNvPr id="13" name="hf-1154">
            <a:extLst xmlns:a="http://schemas.openxmlformats.org/drawingml/2006/main">
              <a:ext uri="{FF2B5EF4-FFF2-40B4-BE49-F238E27FC236}">
                <a16:creationId xmlns:a16="http://schemas.microsoft.com/office/drawing/2014/main" id="{AADC0DE2-BABC-46EC-A3E8-4E958B99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375916"/>
            <a:ext cx="1395636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2,9 </a:t>
            </a:r>
          </a:p>
        </p:txBody>
      </p:sp>
      <p:sp>
        <p:nvSpPr>
          <p:cNvPr id="14" name="hf-1155">
            <a:extLst xmlns:a="http://schemas.openxmlformats.org/drawingml/2006/main">
              <a:ext uri="{FF2B5EF4-FFF2-40B4-BE49-F238E27FC236}">
                <a16:creationId xmlns:a16="http://schemas.microsoft.com/office/drawing/2014/main" id="{F9974DCC-D3DB-496E-BC94-1E2F5560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798" y="2266036"/>
            <a:ext cx="405631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21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нс</a:t>
            </a:r>
          </a:p>
        </p:txBody>
      </p:sp>
      <p:sp>
        <p:nvSpPr>
          <p:cNvPr id="15" name="hf-1156">
            <a:extLst xmlns:a="http://schemas.openxmlformats.org/drawingml/2006/main">
              <a:ext uri="{FF2B5EF4-FFF2-40B4-BE49-F238E27FC236}">
                <a16:creationId xmlns:a16="http://schemas.microsoft.com/office/drawing/2014/main" id="{4F2BDA31-8258-4F5F-B1D5-A146D50B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225937"/>
            <a:ext cx="141729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0,3 МБ таблицы</a:t>
            </a:r>
          </a:p>
        </p:txBody>
      </p:sp>
      <p:sp>
        <p:nvSpPr>
          <p:cNvPr id="16" name="hf-1157">
            <a:extLst xmlns:a="http://schemas.openxmlformats.org/drawingml/2006/main">
              <a:ext uri="{FF2B5EF4-FFF2-40B4-BE49-F238E27FC236}">
                <a16:creationId xmlns:a16="http://schemas.microsoft.com/office/drawing/2014/main" id="{D3AD3A63-3AB0-45EA-B734-90421C58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202" y="1966341"/>
            <a:ext cx="1506736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×64</a:t>
            </a:r>
          </a:p>
        </p:txBody>
      </p:sp>
      <p:sp>
        <p:nvSpPr>
          <p:cNvPr id="17" name="hf-1158">
            <a:extLst xmlns:a="http://schemas.openxmlformats.org/drawingml/2006/main">
              <a:ext uri="{FF2B5EF4-FFF2-40B4-BE49-F238E27FC236}">
                <a16:creationId xmlns:a16="http://schemas.microsoft.com/office/drawing/2014/main" id="{2F1523EC-F368-49D5-8971-BAC7FC3E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842" y="2753982"/>
            <a:ext cx="95309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памяти</a:t>
            </a:r>
          </a:p>
        </p:txBody>
      </p:sp>
      <p:sp>
        <p:nvSpPr>
          <p:cNvPr id="18" name="hf-1159">
            <a:extLst xmlns:a="http://schemas.openxmlformats.org/drawingml/2006/main">
              <a:ext uri="{FF2B5EF4-FFF2-40B4-BE49-F238E27FC236}">
                <a16:creationId xmlns:a16="http://schemas.microsoft.com/office/drawing/2014/main" id="{8AC75034-EDD6-4D5E-949C-2098F680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44" y="3086938"/>
            <a:ext cx="15565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 точным байтам</a:t>
            </a:r>
          </a:p>
        </p:txBody>
      </p:sp>
      <p:sp>
        <p:nvSpPr>
          <p:cNvPr id="19" name="hf-1160">
            <a:extLst xmlns:a="http://schemas.openxmlformats.org/drawingml/2006/main">
              <a:ext uri="{FF2B5EF4-FFF2-40B4-BE49-F238E27FC236}">
                <a16:creationId xmlns:a16="http://schemas.microsoft.com/office/drawing/2014/main" id="{D8F03291-7B1B-4157-950B-420395D9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51694"/>
            <a:ext cx="3446711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мы знаем, </a:t>
            </a:r>
            <a:r>
              <a:rPr sz="24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U — нет</a:t>
            </a:r>
          </a:p>
        </p:txBody>
      </p:sp>
      <p:pic>
        <p:nvPicPr>
          <p:cNvPr id="20" name="hf-1161">
            <a:extLst xmlns:a="http://schemas.openxmlformats.org/drawingml/2006/main">
              <a:ext uri="{FF2B5EF4-FFF2-40B4-BE49-F238E27FC236}">
                <a16:creationId xmlns:a16="http://schemas.microsoft.com/office/drawing/2014/main" id="{E0F9C1DE-918C-4F90-A3A1-FFF92B325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a02885fa54c2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1" name="hf-1162">
            <a:extLst xmlns:a="http://schemas.openxmlformats.org/drawingml/2006/main">
              <a:ext uri="{FF2B5EF4-FFF2-40B4-BE49-F238E27FC236}">
                <a16:creationId xmlns:a16="http://schemas.microsoft.com/office/drawing/2014/main" id="{F4FA8196-602F-47C6-8908-5E14821D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133881971"/>
      </p:ext>
    </p:extLst>
  </p:cSld>
</p:sld>
</file>

<file path=ppt/slides/slide48.xml><?xml version="1.0" encoding="utf-8"?>
<p:sld xmlns:p="http://schemas.openxmlformats.org/presentationml/2006/main" show="0">
  <p:cSld name="checklis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63">
            <a:extLst xmlns:a="http://schemas.openxmlformats.org/drawingml/2006/main">
              <a:ext uri="{FF2B5EF4-FFF2-40B4-BE49-F238E27FC236}">
                <a16:creationId xmlns:a16="http://schemas.microsoft.com/office/drawing/2014/main" id="{EB422F5D-6389-4C43-BEFF-F0EAB8B0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164">
            <a:extLst xmlns:a="http://schemas.openxmlformats.org/drawingml/2006/main">
              <a:ext uri="{FF2B5EF4-FFF2-40B4-BE49-F238E27FC236}">
                <a16:creationId xmlns:a16="http://schemas.microsoft.com/office/drawing/2014/main" id="{47F957FC-19F4-49AA-81B5-D91AE6C0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28441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ЧЕСТНЫЙ ЗАМЕР — ВОСЕМЬ ПРОВЕРОК</a:t>
            </a:r>
          </a:p>
        </p:txBody>
      </p:sp>
      <p:sp>
        <p:nvSpPr>
          <p:cNvPr id="4" name="hf-1165">
            <a:extLst xmlns:a="http://schemas.openxmlformats.org/drawingml/2006/main">
              <a:ext uri="{FF2B5EF4-FFF2-40B4-BE49-F238E27FC236}">
                <a16:creationId xmlns:a16="http://schemas.microsoft.com/office/drawing/2014/main" id="{D7AE398A-F6C7-45B6-B902-6C069F15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01587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ДО ВЫВОДА</a:t>
            </a:r>
          </a:p>
        </p:txBody>
      </p:sp>
      <p:sp>
        <p:nvSpPr>
          <p:cNvPr id="5" name="hf-1166">
            <a:extLst xmlns:a="http://schemas.openxmlformats.org/drawingml/2006/main">
              <a:ext uri="{FF2B5EF4-FFF2-40B4-BE49-F238E27FC236}">
                <a16:creationId xmlns:a16="http://schemas.microsoft.com/office/drawing/2014/main" id="{C5841500-329B-4A06-96A4-69FDB56A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0606"/>
            <a:ext cx="2015207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ОДИНАКОВАЯ ЗАДАЧА</a:t>
            </a:r>
          </a:p>
        </p:txBody>
      </p:sp>
      <p:sp>
        <p:nvSpPr>
          <p:cNvPr id="6" name="hf-1167">
            <a:extLst xmlns:a="http://schemas.openxmlformats.org/drawingml/2006/main">
              <a:ext uri="{FF2B5EF4-FFF2-40B4-BE49-F238E27FC236}">
                <a16:creationId xmlns:a16="http://schemas.microsoft.com/office/drawing/2014/main" id="{C2B88604-5A60-4A5E-8E85-57E3EFEC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88687"/>
            <a:ext cx="17278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7" name="hf-1168">
            <a:extLst xmlns:a="http://schemas.openxmlformats.org/drawingml/2006/main">
              <a:ext uri="{FF2B5EF4-FFF2-40B4-BE49-F238E27FC236}">
                <a16:creationId xmlns:a16="http://schemas.microsoft.com/office/drawing/2014/main" id="{F2AEA9EC-9EF6-4FB7-802B-8B54DA42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3" y="1682753"/>
            <a:ext cx="23441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Контракт — до таймера</a:t>
            </a:r>
          </a:p>
        </p:txBody>
      </p:sp>
      <p:sp>
        <p:nvSpPr>
          <p:cNvPr id="8" name="hf-1169">
            <a:extLst xmlns:a="http://schemas.openxmlformats.org/drawingml/2006/main">
              <a:ext uri="{FF2B5EF4-FFF2-40B4-BE49-F238E27FC236}">
                <a16:creationId xmlns:a16="http://schemas.microsoft.com/office/drawing/2014/main" id="{680F78F6-568A-4091-99FE-319832DF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50637"/>
            <a:ext cx="22822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9" name="hf-1170">
            <a:extLst xmlns:a="http://schemas.openxmlformats.org/drawingml/2006/main">
              <a:ext uri="{FF2B5EF4-FFF2-40B4-BE49-F238E27FC236}">
                <a16:creationId xmlns:a16="http://schemas.microsoft.com/office/drawing/2014/main" id="{6B99B2A9-23B0-4C07-9561-D823511E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3" y="2044703"/>
            <a:ext cx="234977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Все проходят проверку</a:t>
            </a:r>
          </a:p>
        </p:txBody>
      </p:sp>
      <p:sp>
        <p:nvSpPr>
          <p:cNvPr id="10" name="hf-1171">
            <a:extLst xmlns:a="http://schemas.openxmlformats.org/drawingml/2006/main">
              <a:ext uri="{FF2B5EF4-FFF2-40B4-BE49-F238E27FC236}">
                <a16:creationId xmlns:a16="http://schemas.microsoft.com/office/drawing/2014/main" id="{4A8D6136-5DA5-494D-B78E-EFCD7D27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96931"/>
            <a:ext cx="2638351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ПРОВЕРЕННЫЕ КОД И ВХОДЫ</a:t>
            </a:r>
          </a:p>
        </p:txBody>
      </p:sp>
      <p:sp>
        <p:nvSpPr>
          <p:cNvPr id="11" name="hf-1172">
            <a:extLst xmlns:a="http://schemas.openxmlformats.org/drawingml/2006/main">
              <a:ext uri="{FF2B5EF4-FFF2-40B4-BE49-F238E27FC236}">
                <a16:creationId xmlns:a16="http://schemas.microsoft.com/office/drawing/2014/main" id="{FA5F2501-DC2E-4D78-BA80-0F3872BC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65012"/>
            <a:ext cx="22934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2" name="hf-1173">
            <a:extLst xmlns:a="http://schemas.openxmlformats.org/drawingml/2006/main">
              <a:ext uri="{FF2B5EF4-FFF2-40B4-BE49-F238E27FC236}">
                <a16:creationId xmlns:a16="http://schemas.microsoft.com/office/drawing/2014/main" id="{6315A12D-FAE3-47BD-9921-47A39D8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3" y="2759078"/>
            <a:ext cx="305998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Разные входы, не один массив</a:t>
            </a:r>
          </a:p>
        </p:txBody>
      </p:sp>
      <p:sp>
        <p:nvSpPr>
          <p:cNvPr id="13" name="hf-1174">
            <a:extLst xmlns:a="http://schemas.openxmlformats.org/drawingml/2006/main">
              <a:ext uri="{FF2B5EF4-FFF2-40B4-BE49-F238E27FC236}">
                <a16:creationId xmlns:a16="http://schemas.microsoft.com/office/drawing/2014/main" id="{75A1F668-55A0-42BA-A0A6-9ADD4852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26962"/>
            <a:ext cx="25724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14" name="hf-1175">
            <a:extLst xmlns:a="http://schemas.openxmlformats.org/drawingml/2006/main">
              <a:ext uri="{FF2B5EF4-FFF2-40B4-BE49-F238E27FC236}">
                <a16:creationId xmlns:a16="http://schemas.microsoft.com/office/drawing/2014/main" id="{D67DBBB9-7F6B-4AF4-BD97-894E41D1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3" y="3121028"/>
            <a:ext cx="266454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Свои N и доля уникальных</a:t>
            </a:r>
          </a:p>
        </p:txBody>
      </p:sp>
      <p:sp>
        <p:nvSpPr>
          <p:cNvPr id="15" name="hf-1176">
            <a:extLst xmlns:a="http://schemas.openxmlformats.org/drawingml/2006/main">
              <a:ext uri="{FF2B5EF4-FFF2-40B4-BE49-F238E27FC236}">
                <a16:creationId xmlns:a16="http://schemas.microsoft.com/office/drawing/2014/main" id="{DBE5525C-2243-4AF6-8BB9-875236BD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0606"/>
            <a:ext cx="2284958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ПОВТОРЕНИЯ И УСЛОВИЯ</a:t>
            </a:r>
          </a:p>
        </p:txBody>
      </p:sp>
      <p:sp>
        <p:nvSpPr>
          <p:cNvPr id="16" name="hf-1177">
            <a:extLst xmlns:a="http://schemas.openxmlformats.org/drawingml/2006/main">
              <a:ext uri="{FF2B5EF4-FFF2-40B4-BE49-F238E27FC236}">
                <a16:creationId xmlns:a16="http://schemas.microsoft.com/office/drawing/2014/main" id="{AF956F61-DA8D-42B1-A4F2-FBD0B76C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88687"/>
            <a:ext cx="2305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17" name="hf-1178">
            <a:extLst xmlns:a="http://schemas.openxmlformats.org/drawingml/2006/main">
              <a:ext uri="{FF2B5EF4-FFF2-40B4-BE49-F238E27FC236}">
                <a16:creationId xmlns:a16="http://schemas.microsoft.com/office/drawing/2014/main" id="{7E203903-AF6B-45D2-A8DB-75A7CB6D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82753"/>
            <a:ext cx="235803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Чередование, медиана,</a:t>
            </a:r>
          </a:p>
        </p:txBody>
      </p:sp>
      <p:sp>
        <p:nvSpPr>
          <p:cNvPr id="18" name="hf-1179">
            <a:extLst xmlns:a="http://schemas.openxmlformats.org/drawingml/2006/main">
              <a:ext uri="{FF2B5EF4-FFF2-40B4-BE49-F238E27FC236}">
                <a16:creationId xmlns:a16="http://schemas.microsoft.com/office/drawing/2014/main" id="{7BEAFF48-F8CC-4A12-9933-3A9A221E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0403"/>
            <a:ext cx="2036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разброс, две сессии</a:t>
            </a:r>
          </a:p>
        </p:txBody>
      </p:sp>
      <p:sp>
        <p:nvSpPr>
          <p:cNvPr id="19" name="hf-1180">
            <a:extLst xmlns:a="http://schemas.openxmlformats.org/drawingml/2006/main">
              <a:ext uri="{FF2B5EF4-FFF2-40B4-BE49-F238E27FC236}">
                <a16:creationId xmlns:a16="http://schemas.microsoft.com/office/drawing/2014/main" id="{DF53A850-F4FC-42FC-91DC-3000415A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7812"/>
            <a:ext cx="2425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6</a:t>
            </a:r>
          </a:p>
        </p:txBody>
      </p:sp>
      <p:sp>
        <p:nvSpPr>
          <p:cNvPr id="20" name="hf-1181">
            <a:extLst xmlns:a="http://schemas.openxmlformats.org/drawingml/2006/main">
              <a:ext uri="{FF2B5EF4-FFF2-40B4-BE49-F238E27FC236}">
                <a16:creationId xmlns:a16="http://schemas.microsoft.com/office/drawing/2014/main" id="{F016267C-201B-43D1-97A9-D15A7EB7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1878"/>
            <a:ext cx="249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Компилятор, библиотека</a:t>
            </a:r>
          </a:p>
        </p:txBody>
      </p:sp>
      <p:sp>
        <p:nvSpPr>
          <p:cNvPr id="21" name="hf-1182">
            <a:extLst xmlns:a="http://schemas.openxmlformats.org/drawingml/2006/main">
              <a:ext uri="{FF2B5EF4-FFF2-40B4-BE49-F238E27FC236}">
                <a16:creationId xmlns:a16="http://schemas.microsoft.com/office/drawing/2014/main" id="{5ED2332C-CC95-4DEE-A2FB-83243F68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9528"/>
            <a:ext cx="13971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и ОС — в логе</a:t>
            </a:r>
          </a:p>
        </p:txBody>
      </p:sp>
      <p:sp>
        <p:nvSpPr>
          <p:cNvPr id="22" name="hf-1183">
            <a:extLst xmlns:a="http://schemas.openxmlformats.org/drawingml/2006/main">
              <a:ext uri="{FF2B5EF4-FFF2-40B4-BE49-F238E27FC236}">
                <a16:creationId xmlns:a16="http://schemas.microsoft.com/office/drawing/2014/main" id="{3A6603AC-7DC7-4B4B-8D2F-31A3613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26937"/>
            <a:ext cx="23775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7</a:t>
            </a:r>
          </a:p>
        </p:txBody>
      </p:sp>
      <p:sp>
        <p:nvSpPr>
          <p:cNvPr id="23" name="hf-1184">
            <a:extLst xmlns:a="http://schemas.openxmlformats.org/drawingml/2006/main">
              <a:ext uri="{FF2B5EF4-FFF2-40B4-BE49-F238E27FC236}">
                <a16:creationId xmlns:a16="http://schemas.microsoft.com/office/drawing/2014/main" id="{0676DCD4-6FA2-49BA-80D3-07E8CAF9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21003"/>
            <a:ext cx="250939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Устройство: модель, QoS,</a:t>
            </a:r>
          </a:p>
        </p:txBody>
      </p:sp>
      <p:sp>
        <p:nvSpPr>
          <p:cNvPr id="24" name="hf-1185">
            <a:extLst xmlns:a="http://schemas.openxmlformats.org/drawingml/2006/main">
              <a:ext uri="{FF2B5EF4-FFF2-40B4-BE49-F238E27FC236}">
                <a16:creationId xmlns:a16="http://schemas.microsoft.com/office/drawing/2014/main" id="{C3A28F74-5C7B-48DF-BF2C-EFE58323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8653"/>
            <a:ext cx="139243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заряд, нагрев</a:t>
            </a:r>
          </a:p>
        </p:txBody>
      </p:sp>
      <p:sp>
        <p:nvSpPr>
          <p:cNvPr id="25" name="hf-1186">
            <a:extLst xmlns:a="http://schemas.openxmlformats.org/drawingml/2006/main">
              <a:ext uri="{FF2B5EF4-FFF2-40B4-BE49-F238E27FC236}">
                <a16:creationId xmlns:a16="http://schemas.microsoft.com/office/drawing/2014/main" id="{D911F0F7-59F9-41CB-8C30-CAE13D10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76650"/>
            <a:ext cx="80295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hf-1187">
            <a:extLst xmlns:a="http://schemas.openxmlformats.org/drawingml/2006/main">
              <a:ext uri="{FF2B5EF4-FFF2-40B4-BE49-F238E27FC236}">
                <a16:creationId xmlns:a16="http://schemas.microsoft.com/office/drawing/2014/main" id="{D5BE5091-8053-431C-A98F-8582AC72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758517"/>
            <a:ext cx="2793057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73"/>
              </a:lnSpc>
              <a:buNone/>
            </a:pPr>
            <a:r>
              <a:rPr sz="112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ВЫВОДЫ В ПРЕДЕЛАХ ДАННЫХ</a:t>
            </a:r>
          </a:p>
        </p:txBody>
      </p:sp>
      <p:sp>
        <p:nvSpPr>
          <p:cNvPr id="27" name="hf-1188">
            <a:extLst xmlns:a="http://schemas.openxmlformats.org/drawingml/2006/main">
              <a:ext uri="{FF2B5EF4-FFF2-40B4-BE49-F238E27FC236}">
                <a16:creationId xmlns:a16="http://schemas.microsoft.com/office/drawing/2014/main" id="{49C9E5F9-EBFE-4AD2-A608-71DCFE24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974687"/>
            <a:ext cx="24824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8</a:t>
            </a:r>
          </a:p>
        </p:txBody>
      </p:sp>
      <p:sp>
        <p:nvSpPr>
          <p:cNvPr id="28" name="hf-1189">
            <a:extLst xmlns:a="http://schemas.openxmlformats.org/drawingml/2006/main">
              <a:ext uri="{FF2B5EF4-FFF2-40B4-BE49-F238E27FC236}">
                <a16:creationId xmlns:a16="http://schemas.microsoft.com/office/drawing/2014/main" id="{CD8DB7DE-C5B3-4B79-A9A1-B3B7F171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3931406"/>
            <a:ext cx="453300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6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Факт отдельно от гипотезы о причине</a:t>
            </a:r>
          </a:p>
        </p:txBody>
      </p:sp>
      <p:pic>
        <p:nvPicPr>
          <p:cNvPr id="29" name="hf-1190">
            <a:extLst xmlns:a="http://schemas.openxmlformats.org/drawingml/2006/main">
              <a:ext uri="{FF2B5EF4-FFF2-40B4-BE49-F238E27FC236}">
                <a16:creationId xmlns:a16="http://schemas.microsoft.com/office/drawing/2014/main" id="{D258B177-406D-41A7-963B-6798A1C42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c3abcd11942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0" name="hf-1191">
            <a:extLst xmlns:a="http://schemas.openxmlformats.org/drawingml/2006/main">
              <a:ext uri="{FF2B5EF4-FFF2-40B4-BE49-F238E27FC236}">
                <a16:creationId xmlns:a16="http://schemas.microsoft.com/office/drawing/2014/main" id="{86D6EFC7-C6C9-43E1-9A0B-05BF4788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1375262"/>
      </p:ext>
    </p:extLst>
  </p:cSld>
</p:sld>
</file>

<file path=ppt/slides/slide49.xml><?xml version="1.0" encoding="utf-8"?>
<p:sld xmlns:p="http://schemas.openxmlformats.org/presentationml/2006/main" show="0">
  <p:cSld name="sum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92">
            <a:extLst xmlns:a="http://schemas.openxmlformats.org/drawingml/2006/main">
              <a:ext uri="{FF2B5EF4-FFF2-40B4-BE49-F238E27FC236}">
                <a16:creationId xmlns:a16="http://schemas.microsoft.com/office/drawing/2014/main" id="{93F6A5AF-073A-47F6-B0DF-BC29013A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193">
            <a:extLst xmlns:a="http://schemas.openxmlformats.org/drawingml/2006/main">
              <a:ext uri="{FF2B5EF4-FFF2-40B4-BE49-F238E27FC236}">
                <a16:creationId xmlns:a16="http://schemas.microsoft.com/office/drawing/2014/main" id="{AD434D6F-0C71-4C00-8369-3975F2F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50951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ШАГОВ У ХЕША МЕНЬШЕ, НО КАЖДЫЙ —</a:t>
            </a:r>
          </a:p>
        </p:txBody>
      </p:sp>
      <p:sp>
        <p:nvSpPr>
          <p:cNvPr id="4" name="hf-1194">
            <a:extLst xmlns:a="http://schemas.openxmlformats.org/drawingml/2006/main">
              <a:ext uri="{FF2B5EF4-FFF2-40B4-BE49-F238E27FC236}">
                <a16:creationId xmlns:a16="http://schemas.microsoft.com/office/drawing/2014/main" id="{AE5CF38A-3A37-4F4B-B8D8-05C28B4B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5810994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АЛЛОКАЦИЯ ИЛИ ПРЫЖОК ПО УЗЛУ</a:t>
            </a:r>
          </a:p>
        </p:txBody>
      </p:sp>
      <p:sp>
        <p:nvSpPr>
          <p:cNvPr id="5" name="hf-1195">
            <a:extLst xmlns:a="http://schemas.openxmlformats.org/drawingml/2006/main">
              <a:ext uri="{FF2B5EF4-FFF2-40B4-BE49-F238E27FC236}">
                <a16:creationId xmlns:a16="http://schemas.microsoft.com/office/drawing/2014/main" id="{2DCE730C-493E-4B06-B1AB-AE4D346A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8750"/>
            <a:ext cx="3810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6" name="hf-1196">
            <a:extLst xmlns:a="http://schemas.openxmlformats.org/drawingml/2006/main">
              <a:ext uri="{FF2B5EF4-FFF2-40B4-BE49-F238E27FC236}">
                <a16:creationId xmlns:a16="http://schemas.microsoft.com/office/drawing/2014/main" id="{F8066520-0BA2-479A-871E-B92A06DC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82407"/>
            <a:ext cx="161329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7" name="hf-1197">
            <a:extLst xmlns:a="http://schemas.openxmlformats.org/drawingml/2006/main">
              <a:ext uri="{FF2B5EF4-FFF2-40B4-BE49-F238E27FC236}">
                <a16:creationId xmlns:a16="http://schemas.microsoft.com/office/drawing/2014/main" id="{DF0E24F6-9DF4-4A58-B061-E79C3B6D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29587"/>
            <a:ext cx="448791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500"/>
              </a:lnSpc>
              <a:buNone/>
            </a:pPr>
            <a:r>
              <a:rPr sz="45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0</a:t>
            </a:r>
          </a:p>
        </p:txBody>
      </p:sp>
      <p:sp>
        <p:nvSpPr>
          <p:cNvPr id="8" name="hf-1198">
            <a:extLst xmlns:a="http://schemas.openxmlformats.org/drawingml/2006/main">
              <a:ext uri="{FF2B5EF4-FFF2-40B4-BE49-F238E27FC236}">
                <a16:creationId xmlns:a16="http://schemas.microsoft.com/office/drawing/2014/main" id="{ED1939D2-1659-45BC-B798-3E538ADC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1656"/>
            <a:ext cx="13038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аллокаций</a:t>
            </a:r>
          </a:p>
        </p:txBody>
      </p:sp>
      <p:sp>
        <p:nvSpPr>
          <p:cNvPr id="9" name="hf-1199">
            <a:extLst xmlns:a="http://schemas.openxmlformats.org/drawingml/2006/main">
              <a:ext uri="{FF2B5EF4-FFF2-40B4-BE49-F238E27FC236}">
                <a16:creationId xmlns:a16="http://schemas.microsoft.com/office/drawing/2014/main" id="{CC453D21-0B34-4DEC-A7DF-2ACB1FE1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89479"/>
            <a:ext cx="36881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~N·log₂N сравнений и перестановок</a:t>
            </a:r>
          </a:p>
        </p:txBody>
      </p:sp>
      <p:sp>
        <p:nvSpPr>
          <p:cNvPr id="10" name="hf-1200">
            <a:extLst xmlns:a="http://schemas.openxmlformats.org/drawingml/2006/main">
              <a:ext uri="{FF2B5EF4-FFF2-40B4-BE49-F238E27FC236}">
                <a16:creationId xmlns:a16="http://schemas.microsoft.com/office/drawing/2014/main" id="{682FD265-3F49-44AB-8125-3C2D8535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56179"/>
            <a:ext cx="215056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плотный буфер</a:t>
            </a:r>
          </a:p>
        </p:txBody>
      </p:sp>
      <p:sp>
        <p:nvSpPr>
          <p:cNvPr id="11" name="hf-1201">
            <a:extLst xmlns:a="http://schemas.openxmlformats.org/drawingml/2006/main">
              <a:ext uri="{FF2B5EF4-FFF2-40B4-BE49-F238E27FC236}">
                <a16:creationId xmlns:a16="http://schemas.microsoft.com/office/drawing/2014/main" id="{DC3D0534-36FF-4595-8BFE-FE845652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428750"/>
            <a:ext cx="3810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2" name="hf-1202">
            <a:extLst xmlns:a="http://schemas.openxmlformats.org/drawingml/2006/main">
              <a:ext uri="{FF2B5EF4-FFF2-40B4-BE49-F238E27FC236}">
                <a16:creationId xmlns:a16="http://schemas.microsoft.com/office/drawing/2014/main" id="{B9BDC6C6-5A72-4528-AC76-539A8CF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582407"/>
            <a:ext cx="177656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3" name="hf-1203">
            <a:extLst xmlns:a="http://schemas.openxmlformats.org/drawingml/2006/main">
              <a:ext uri="{FF2B5EF4-FFF2-40B4-BE49-F238E27FC236}">
                <a16:creationId xmlns:a16="http://schemas.microsoft.com/office/drawing/2014/main" id="{656D9D09-F171-4CBD-B826-03F37C9B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029587"/>
            <a:ext cx="5063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500"/>
              </a:lnSpc>
              <a:buNone/>
            </a:pPr>
            <a:r>
              <a:rPr sz="45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U</a:t>
            </a:r>
          </a:p>
        </p:txBody>
      </p:sp>
      <p:sp>
        <p:nvSpPr>
          <p:cNvPr id="14" name="hf-1204">
            <a:extLst xmlns:a="http://schemas.openxmlformats.org/drawingml/2006/main">
              <a:ext uri="{FF2B5EF4-FFF2-40B4-BE49-F238E27FC236}">
                <a16:creationId xmlns:a16="http://schemas.microsoft.com/office/drawing/2014/main" id="{F53ED221-3A92-4BCB-9BAE-F68DD0F2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88306"/>
            <a:ext cx="13038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аллокаций</a:t>
            </a:r>
          </a:p>
        </p:txBody>
      </p:sp>
      <p:sp>
        <p:nvSpPr>
          <p:cNvPr id="15" name="hf-1205">
            <a:extLst xmlns:a="http://schemas.openxmlformats.org/drawingml/2006/main">
              <a:ext uri="{FF2B5EF4-FFF2-40B4-BE49-F238E27FC236}">
                <a16:creationId xmlns:a16="http://schemas.microsoft.com/office/drawing/2014/main" id="{F22A9AB6-B1FD-422C-B4E4-B489739E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55006"/>
            <a:ext cx="22088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 U освобождений</a:t>
            </a:r>
          </a:p>
        </p:txBody>
      </p:sp>
      <p:sp>
        <p:nvSpPr>
          <p:cNvPr id="16" name="hf-1206">
            <a:extLst xmlns:a="http://schemas.openxmlformats.org/drawingml/2006/main">
              <a:ext uri="{FF2B5EF4-FFF2-40B4-BE49-F238E27FC236}">
                <a16:creationId xmlns:a16="http://schemas.microsoft.com/office/drawing/2014/main" id="{A96FC654-84DC-4AF6-974A-1D3F92B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689479"/>
            <a:ext cx="300312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хеш, ячейки, узлы, сравнения</a:t>
            </a:r>
          </a:p>
        </p:txBody>
      </p:sp>
      <p:sp>
        <p:nvSpPr>
          <p:cNvPr id="17" name="hf-1207">
            <a:extLst xmlns:a="http://schemas.openxmlformats.org/drawingml/2006/main">
              <a:ext uri="{FF2B5EF4-FFF2-40B4-BE49-F238E27FC236}">
                <a16:creationId xmlns:a16="http://schemas.microsoft.com/office/drawing/2014/main" id="{557F956E-E294-4997-9880-D1D3D75B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956179"/>
            <a:ext cx="295609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обход таблицы при выгрузке</a:t>
            </a:r>
          </a:p>
        </p:txBody>
      </p:sp>
      <p:sp>
        <p:nvSpPr>
          <p:cNvPr id="18" name="hf-1208">
            <a:extLst xmlns:a="http://schemas.openxmlformats.org/drawingml/2006/main">
              <a:ext uri="{FF2B5EF4-FFF2-40B4-BE49-F238E27FC236}">
                <a16:creationId xmlns:a16="http://schemas.microsoft.com/office/drawing/2014/main" id="{C4704A58-F337-4E1A-BE0A-D7D3964C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480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9" name="hf-1209">
            <a:extLst xmlns:a="http://schemas.openxmlformats.org/drawingml/2006/main">
              <a:ext uri="{FF2B5EF4-FFF2-40B4-BE49-F238E27FC236}">
                <a16:creationId xmlns:a16="http://schemas.microsoft.com/office/drawing/2014/main" id="{522688DA-B1B4-4201-B3A4-CE0A6573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72713"/>
            <a:ext cx="54504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 — сколько элементов на входе, U — сколько из них уникальных</a:t>
            </a:r>
          </a:p>
        </p:txBody>
      </p:sp>
      <p:sp>
        <p:nvSpPr>
          <p:cNvPr id="20" name="hf-1210">
            <a:extLst xmlns:a="http://schemas.openxmlformats.org/drawingml/2006/main">
              <a:ext uri="{FF2B5EF4-FFF2-40B4-BE49-F238E27FC236}">
                <a16:creationId xmlns:a16="http://schemas.microsoft.com/office/drawing/2014/main" id="{5AD04591-CFC1-4600-9CC6-7F35A8BC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57796"/>
            <a:ext cx="759789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log₂ 10⁶ ≈ 20: </a:t>
            </a:r>
            <a:r>
              <a:rPr sz="19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вопрос не в числе шагов, а </a:t>
            </a:r>
            <a:r>
              <a:rPr sz="19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в цене каждого</a:t>
            </a:r>
          </a:p>
        </p:txBody>
      </p:sp>
      <p:pic>
        <p:nvPicPr>
          <p:cNvPr id="21" name="hf-1211">
            <a:extLst xmlns:a="http://schemas.openxmlformats.org/drawingml/2006/main">
              <a:ext uri="{FF2B5EF4-FFF2-40B4-BE49-F238E27FC236}">
                <a16:creationId xmlns:a16="http://schemas.microsoft.com/office/drawing/2014/main" id="{71C16604-2407-4D7E-8286-18728791CE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12e8ff9f649d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2" name="hf-1212">
            <a:extLst xmlns:a="http://schemas.openxmlformats.org/drawingml/2006/main">
              <a:ext uri="{FF2B5EF4-FFF2-40B4-BE49-F238E27FC236}">
                <a16:creationId xmlns:a16="http://schemas.microsoft.com/office/drawing/2014/main" id="{87232117-69D1-4641-A2AA-5B91E13F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67655136"/>
      </p:ext>
    </p:extLst>
  </p:cSld>
</p:sld>
</file>

<file path=ppt/slides/slide50.xml><?xml version="1.0" encoding="utf-8"?>
<p:sld xmlns:p="http://schemas.openxmlformats.org/presentationml/2006/main" show="0">
  <p:cSld name="twoway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213">
            <a:extLst xmlns:a="http://schemas.openxmlformats.org/drawingml/2006/main">
              <a:ext uri="{FF2B5EF4-FFF2-40B4-BE49-F238E27FC236}">
                <a16:creationId xmlns:a16="http://schemas.microsoft.com/office/drawing/2014/main" id="{64F102D7-6AE8-4EAC-91A9-4A6A4819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63333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АРХИВ</a:t>
            </a:r>
          </a:p>
        </p:txBody>
      </p:sp>
      <p:sp>
        <p:nvSpPr>
          <p:cNvPr id="3" name="hf-1214">
            <a:extLst xmlns:a="http://schemas.openxmlformats.org/drawingml/2006/main">
              <a:ext uri="{FF2B5EF4-FFF2-40B4-BE49-F238E27FC236}">
                <a16:creationId xmlns:a16="http://schemas.microsoft.com/office/drawing/2014/main" id="{348AEC73-C6C4-4CB9-AD35-2C9C0CFE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07278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УДАЛИТЕ ДУБЛИКАТЫ. ДВА СПОСОБА</a:t>
            </a:r>
          </a:p>
        </p:txBody>
      </p:sp>
      <p:sp>
        <p:nvSpPr>
          <p:cNvPr id="4" name="hf-1215">
            <a:extLst xmlns:a="http://schemas.openxmlformats.org/drawingml/2006/main">
              <a:ext uri="{FF2B5EF4-FFF2-40B4-BE49-F238E27FC236}">
                <a16:creationId xmlns:a16="http://schemas.microsoft.com/office/drawing/2014/main" id="{00787685-618F-419C-A5B9-677C5925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85875"/>
            <a:ext cx="3919538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5" name="hf-1216">
            <a:extLst xmlns:a="http://schemas.openxmlformats.org/drawingml/2006/main">
              <a:ext uri="{FF2B5EF4-FFF2-40B4-BE49-F238E27FC236}">
                <a16:creationId xmlns:a16="http://schemas.microsoft.com/office/drawing/2014/main" id="{D70DFF8D-42FE-45EE-80AC-40F4ADE6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30007"/>
            <a:ext cx="151931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Сортировка</a:t>
            </a:r>
          </a:p>
        </p:txBody>
      </p:sp>
      <p:sp>
        <p:nvSpPr>
          <p:cNvPr id="6" name="hf-1217">
            <a:extLst xmlns:a="http://schemas.openxmlformats.org/drawingml/2006/main">
              <a:ext uri="{FF2B5EF4-FFF2-40B4-BE49-F238E27FC236}">
                <a16:creationId xmlns:a16="http://schemas.microsoft.com/office/drawing/2014/main" id="{783B9EB6-17FF-4713-A44B-697ED15E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64983"/>
            <a:ext cx="120409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O(n log n)</a:t>
            </a:r>
          </a:p>
        </p:txBody>
      </p:sp>
      <p:sp>
        <p:nvSpPr>
          <p:cNvPr id="7" name="hf-1218">
            <a:extLst xmlns:a="http://schemas.openxmlformats.org/drawingml/2006/main">
              <a:ext uri="{FF2B5EF4-FFF2-40B4-BE49-F238E27FC236}">
                <a16:creationId xmlns:a16="http://schemas.microsoft.com/office/drawing/2014/main" id="{67FC8617-45E7-4A15-ADEA-5F66C902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33600"/>
            <a:ext cx="3919538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8" name="hf-1219">
            <a:extLst xmlns:a="http://schemas.openxmlformats.org/drawingml/2006/main">
              <a:ext uri="{FF2B5EF4-FFF2-40B4-BE49-F238E27FC236}">
                <a16:creationId xmlns:a16="http://schemas.microsoft.com/office/drawing/2014/main" id="{00738B96-4D32-4104-8B5A-A7B9F284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2287334"/>
            <a:ext cx="280972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std::sort(v.begin(), v.end());</a:t>
            </a:r>
          </a:p>
        </p:txBody>
      </p:sp>
      <p:sp>
        <p:nvSpPr>
          <p:cNvPr id="9" name="hf-1220">
            <a:extLst xmlns:a="http://schemas.openxmlformats.org/drawingml/2006/main">
              <a:ext uri="{FF2B5EF4-FFF2-40B4-BE49-F238E27FC236}">
                <a16:creationId xmlns:a16="http://schemas.microsoft.com/office/drawing/2014/main" id="{731523E9-C4A8-40E6-B82A-E0701286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2534984"/>
            <a:ext cx="3727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v.erase(std::unique(v.begin(), v.end()),</a:t>
            </a:r>
          </a:p>
        </p:txBody>
      </p:sp>
      <p:sp>
        <p:nvSpPr>
          <p:cNvPr id="10" name="hf-1221">
            <a:extLst xmlns:a="http://schemas.openxmlformats.org/drawingml/2006/main">
              <a:ext uri="{FF2B5EF4-FFF2-40B4-BE49-F238E27FC236}">
                <a16:creationId xmlns:a16="http://schemas.microsoft.com/office/drawing/2014/main" id="{2807EA19-05BB-4CE3-A21E-3EF8976A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2782634"/>
            <a:ext cx="161694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v.end());</a:t>
            </a:r>
          </a:p>
        </p:txBody>
      </p:sp>
      <p:sp>
        <p:nvSpPr>
          <p:cNvPr id="11" name="hf-1222">
            <a:extLst xmlns:a="http://schemas.openxmlformats.org/drawingml/2006/main">
              <a:ext uri="{FF2B5EF4-FFF2-40B4-BE49-F238E27FC236}">
                <a16:creationId xmlns:a16="http://schemas.microsoft.com/office/drawing/2014/main" id="{8A0B8B1F-431C-4662-8ED7-F19CA879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3919538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2" name="hf-1223">
            <a:extLst xmlns:a="http://schemas.openxmlformats.org/drawingml/2006/main">
              <a:ext uri="{FF2B5EF4-FFF2-40B4-BE49-F238E27FC236}">
                <a16:creationId xmlns:a16="http://schemas.microsoft.com/office/drawing/2014/main" id="{725E7B71-71A6-4B00-A583-5279883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30007"/>
            <a:ext cx="166739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Хеш-таблица</a:t>
            </a:r>
          </a:p>
        </p:txBody>
      </p:sp>
      <p:sp>
        <p:nvSpPr>
          <p:cNvPr id="13" name="hf-1224">
            <a:extLst xmlns:a="http://schemas.openxmlformats.org/drawingml/2006/main">
              <a:ext uri="{FF2B5EF4-FFF2-40B4-BE49-F238E27FC236}">
                <a16:creationId xmlns:a16="http://schemas.microsoft.com/office/drawing/2014/main" id="{362DE3AB-1FEE-460A-8731-37585D47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46504"/>
            <a:ext cx="15341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O(n) </a:t>
            </a: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ожидаемо</a:t>
            </a:r>
          </a:p>
        </p:txBody>
      </p:sp>
      <p:sp>
        <p:nvSpPr>
          <p:cNvPr id="14" name="hf-1225">
            <a:extLst xmlns:a="http://schemas.openxmlformats.org/drawingml/2006/main">
              <a:ext uri="{FF2B5EF4-FFF2-40B4-BE49-F238E27FC236}">
                <a16:creationId xmlns:a16="http://schemas.microsoft.com/office/drawing/2014/main" id="{DA81E78E-C5E7-4E15-BCBF-9010E37C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919538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5" name="hf-1226">
            <a:extLst xmlns:a="http://schemas.openxmlformats.org/drawingml/2006/main">
              <a:ext uri="{FF2B5EF4-FFF2-40B4-BE49-F238E27FC236}">
                <a16:creationId xmlns:a16="http://schemas.microsoft.com/office/drawing/2014/main" id="{840C79A0-E148-4C30-B9F5-6227D2F2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7334"/>
            <a:ext cx="290147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std::unordered_set&lt;uint64_t&gt; s;</a:t>
            </a:r>
          </a:p>
        </p:txBody>
      </p:sp>
      <p:sp>
        <p:nvSpPr>
          <p:cNvPr id="16" name="hf-1227">
            <a:extLst xmlns:a="http://schemas.openxmlformats.org/drawingml/2006/main">
              <a:ext uri="{FF2B5EF4-FFF2-40B4-BE49-F238E27FC236}">
                <a16:creationId xmlns:a16="http://schemas.microsoft.com/office/drawing/2014/main" id="{4730DABA-49D8-4011-AB5A-8B344EB8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4984"/>
            <a:ext cx="18922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s.reserve(v.size());</a:t>
            </a:r>
          </a:p>
        </p:txBody>
      </p:sp>
      <p:sp>
        <p:nvSpPr>
          <p:cNvPr id="17" name="hf-1228">
            <a:extLst xmlns:a="http://schemas.openxmlformats.org/drawingml/2006/main">
              <a:ext uri="{FF2B5EF4-FFF2-40B4-BE49-F238E27FC236}">
                <a16:creationId xmlns:a16="http://schemas.microsoft.com/office/drawing/2014/main" id="{4D1D0CAE-A47E-4AC5-A2A5-198CD283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2634"/>
            <a:ext cx="271797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(auto x : v) s.insert(x);</a:t>
            </a:r>
          </a:p>
        </p:txBody>
      </p:sp>
      <p:sp>
        <p:nvSpPr>
          <p:cNvPr id="18" name="hf-1229">
            <a:extLst xmlns:a="http://schemas.openxmlformats.org/drawingml/2006/main">
              <a:ext uri="{FF2B5EF4-FFF2-40B4-BE49-F238E27FC236}">
                <a16:creationId xmlns:a16="http://schemas.microsoft.com/office/drawing/2014/main" id="{8ED83480-8842-4E37-9799-B266F69E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0284"/>
            <a:ext cx="271797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v.assign(s.begin(), s.end());</a:t>
            </a:r>
          </a:p>
        </p:txBody>
      </p:sp>
      <p:sp>
        <p:nvSpPr>
          <p:cNvPr id="19" name="hf-1230">
            <a:extLst xmlns:a="http://schemas.openxmlformats.org/drawingml/2006/main">
              <a:ext uri="{FF2B5EF4-FFF2-40B4-BE49-F238E27FC236}">
                <a16:creationId xmlns:a16="http://schemas.microsoft.com/office/drawing/2014/main" id="{03B01B8A-2D3C-47AE-B9EC-0B4F06F2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97389"/>
            <a:ext cx="209713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4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log₂ 10⁶ ≈ 20 </a:t>
            </a:r>
          </a:p>
        </p:txBody>
      </p:sp>
      <p:sp>
        <p:nvSpPr>
          <p:cNvPr id="20" name="hf-1231">
            <a:extLst xmlns:a="http://schemas.openxmlformats.org/drawingml/2006/main">
              <a:ext uri="{FF2B5EF4-FFF2-40B4-BE49-F238E27FC236}">
                <a16:creationId xmlns:a16="http://schemas.microsoft.com/office/drawing/2014/main" id="{D64D2600-3E7D-47B8-95C4-2A64AA84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00" y="3774243"/>
            <a:ext cx="32254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— кажется, выбор очевиден</a:t>
            </a:r>
          </a:p>
        </p:txBody>
      </p:sp>
      <p:pic>
        <p:nvPicPr>
          <p:cNvPr id="21" name="hf-1232">
            <a:extLst xmlns:a="http://schemas.openxmlformats.org/drawingml/2006/main">
              <a:ext uri="{FF2B5EF4-FFF2-40B4-BE49-F238E27FC236}">
                <a16:creationId xmlns:a16="http://schemas.microsoft.com/office/drawing/2014/main" id="{8DE880C1-1EDB-4CE3-BB48-977506F1B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47788ca4244a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2" name="hf-1233">
            <a:extLst xmlns:a="http://schemas.openxmlformats.org/drawingml/2006/main">
              <a:ext uri="{FF2B5EF4-FFF2-40B4-BE49-F238E27FC236}">
                <a16:creationId xmlns:a16="http://schemas.microsoft.com/office/drawing/2014/main" id="{07DD3214-2976-44DC-A1FD-8A572897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537095080"/>
      </p:ext>
    </p:extLst>
  </p:cSld>
</p:sld>
</file>

<file path=ppt/slides/slide51.xml><?xml version="1.0" encoding="utf-8"?>
<p:sld xmlns:p="http://schemas.openxmlformats.org/presentationml/2006/main" show="0">
  <p:cSld name="bigo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234">
            <a:extLst xmlns:a="http://schemas.openxmlformats.org/drawingml/2006/main">
              <a:ext uri="{FF2B5EF4-FFF2-40B4-BE49-F238E27FC236}">
                <a16:creationId xmlns:a16="http://schemas.microsoft.com/office/drawing/2014/main" id="{40C6D8E0-E002-4339-98C1-10B25761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63333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АРХИВ</a:t>
            </a:r>
          </a:p>
        </p:txBody>
      </p:sp>
      <p:sp>
        <p:nvSpPr>
          <p:cNvPr id="3" name="hf-1235">
            <a:extLst xmlns:a="http://schemas.openxmlformats.org/drawingml/2006/main">
              <a:ext uri="{FF2B5EF4-FFF2-40B4-BE49-F238E27FC236}">
                <a16:creationId xmlns:a16="http://schemas.microsoft.com/office/drawing/2014/main" id="{7C15FB5D-5868-423B-9396-54D68494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75443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Big-O СЧИТАЕТ ШАГИ, А НЕ ИХ ЦЕНУ</a:t>
            </a:r>
          </a:p>
        </p:txBody>
      </p:sp>
      <p:sp>
        <p:nvSpPr>
          <p:cNvPr id="4" name="hf-1236">
            <a:extLst xmlns:a="http://schemas.openxmlformats.org/drawingml/2006/main">
              <a:ext uri="{FF2B5EF4-FFF2-40B4-BE49-F238E27FC236}">
                <a16:creationId xmlns:a16="http://schemas.microsoft.com/office/drawing/2014/main" id="{FC13A0BF-1FAE-4556-BB79-86EA740E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2533650"/>
            <a:ext cx="4057650" cy="953"/>
          </a:xfrm>
          <a:custGeom xmlns:a="http://schemas.openxmlformats.org/drawingml/2006/main">
            <a:pathLst>
              <a:path w="4057650" h="476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5" name="hf-1237">
            <a:extLst xmlns:a="http://schemas.openxmlformats.org/drawingml/2006/main">
              <a:ext uri="{FF2B5EF4-FFF2-40B4-BE49-F238E27FC236}">
                <a16:creationId xmlns:a16="http://schemas.microsoft.com/office/drawing/2014/main" id="{88F3AE02-323E-4079-9D76-7FBE715E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1996440"/>
            <a:ext cx="4057650" cy="953"/>
          </a:xfrm>
          <a:custGeom xmlns:a="http://schemas.openxmlformats.org/drawingml/2006/main">
            <a:pathLst>
              <a:path w="4057650" h="476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6" name="hf-1238">
            <a:extLst xmlns:a="http://schemas.openxmlformats.org/drawingml/2006/main">
              <a:ext uri="{FF2B5EF4-FFF2-40B4-BE49-F238E27FC236}">
                <a16:creationId xmlns:a16="http://schemas.microsoft.com/office/drawing/2014/main" id="{F1704E41-5182-432E-B156-7CDAE798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1453515"/>
            <a:ext cx="4057650" cy="953"/>
          </a:xfrm>
          <a:custGeom xmlns:a="http://schemas.openxmlformats.org/drawingml/2006/main">
            <a:pathLst>
              <a:path w="4057650" h="476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7" name="hf-1239">
            <a:extLst xmlns:a="http://schemas.openxmlformats.org/drawingml/2006/main">
              <a:ext uri="{FF2B5EF4-FFF2-40B4-BE49-F238E27FC236}">
                <a16:creationId xmlns:a16="http://schemas.microsoft.com/office/drawing/2014/main" id="{797B1B07-0E4A-4AAA-80EB-60B4815E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3076575"/>
            <a:ext cx="4057650" cy="953"/>
          </a:xfrm>
          <a:custGeom xmlns:a="http://schemas.openxmlformats.org/drawingml/2006/main">
            <a:pathLst>
              <a:path w="4057650" h="476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F8F8F"/>
            </a:solidFill>
          </a:ln>
        </p:spPr>
      </p:sp>
      <p:sp>
        <p:nvSpPr>
          <p:cNvPr id="8" name="hf-1240">
            <a:extLst xmlns:a="http://schemas.openxmlformats.org/drawingml/2006/main">
              <a:ext uri="{FF2B5EF4-FFF2-40B4-BE49-F238E27FC236}">
                <a16:creationId xmlns:a16="http://schemas.microsoft.com/office/drawing/2014/main" id="{9777A63F-0051-45F4-B9C7-B6419E4E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1453515"/>
            <a:ext cx="953" cy="1623060"/>
          </a:xfrm>
          <a:custGeom xmlns:a="http://schemas.openxmlformats.org/drawingml/2006/main">
            <a:pathLst>
              <a:path w="476" h="1623060">
                <a:moveTo>
                  <a:pt x="0" y="16230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F8F8F"/>
            </a:solidFill>
          </a:ln>
        </p:spPr>
      </p:sp>
      <p:sp>
        <p:nvSpPr>
          <p:cNvPr id="9" name="hf-1241">
            <a:extLst xmlns:a="http://schemas.openxmlformats.org/drawingml/2006/main">
              <a:ext uri="{FF2B5EF4-FFF2-40B4-BE49-F238E27FC236}">
                <a16:creationId xmlns:a16="http://schemas.microsoft.com/office/drawing/2014/main" id="{EEFCCA45-85DC-40D6-8B22-39F038F8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8" y="1459230"/>
            <a:ext cx="2800350" cy="1617345"/>
          </a:xfrm>
          <a:custGeom xmlns:a="http://schemas.openxmlformats.org/drawingml/2006/main">
            <a:pathLst>
              <a:path w="2800350" h="1617345">
                <a:moveTo>
                  <a:pt x="0" y="1617345"/>
                </a:moveTo>
                <a:lnTo>
                  <a:pt x="40005" y="1617345"/>
                </a:lnTo>
                <a:lnTo>
                  <a:pt x="80010" y="1617345"/>
                </a:lnTo>
                <a:lnTo>
                  <a:pt x="120015" y="1611630"/>
                </a:lnTo>
                <a:lnTo>
                  <a:pt x="160020" y="1611630"/>
                </a:lnTo>
                <a:lnTo>
                  <a:pt x="200025" y="1605915"/>
                </a:lnTo>
                <a:lnTo>
                  <a:pt x="240030" y="1605915"/>
                </a:lnTo>
                <a:lnTo>
                  <a:pt x="280035" y="1600200"/>
                </a:lnTo>
                <a:lnTo>
                  <a:pt x="325755" y="1594485"/>
                </a:lnTo>
                <a:lnTo>
                  <a:pt x="365760" y="1588770"/>
                </a:lnTo>
                <a:lnTo>
                  <a:pt x="405765" y="1583055"/>
                </a:lnTo>
                <a:lnTo>
                  <a:pt x="445770" y="1577340"/>
                </a:lnTo>
                <a:lnTo>
                  <a:pt x="485775" y="1565910"/>
                </a:lnTo>
                <a:lnTo>
                  <a:pt x="525780" y="1560195"/>
                </a:lnTo>
                <a:lnTo>
                  <a:pt x="565785" y="1548765"/>
                </a:lnTo>
                <a:lnTo>
                  <a:pt x="605790" y="1543050"/>
                </a:lnTo>
                <a:lnTo>
                  <a:pt x="645795" y="1531620"/>
                </a:lnTo>
                <a:lnTo>
                  <a:pt x="685800" y="1520190"/>
                </a:lnTo>
                <a:lnTo>
                  <a:pt x="731520" y="1508760"/>
                </a:lnTo>
                <a:lnTo>
                  <a:pt x="771525" y="1491615"/>
                </a:lnTo>
                <a:lnTo>
                  <a:pt x="811530" y="1480185"/>
                </a:lnTo>
                <a:lnTo>
                  <a:pt x="851535" y="1468755"/>
                </a:lnTo>
                <a:lnTo>
                  <a:pt x="891540" y="1451610"/>
                </a:lnTo>
                <a:lnTo>
                  <a:pt x="931545" y="1434465"/>
                </a:lnTo>
                <a:lnTo>
                  <a:pt x="971550" y="1423035"/>
                </a:lnTo>
                <a:lnTo>
                  <a:pt x="1011555" y="1405890"/>
                </a:lnTo>
                <a:lnTo>
                  <a:pt x="1051560" y="1388745"/>
                </a:lnTo>
                <a:lnTo>
                  <a:pt x="1091565" y="1371600"/>
                </a:lnTo>
                <a:lnTo>
                  <a:pt x="1137285" y="1348740"/>
                </a:lnTo>
                <a:lnTo>
                  <a:pt x="1177290" y="1331595"/>
                </a:lnTo>
                <a:lnTo>
                  <a:pt x="1217295" y="1308735"/>
                </a:lnTo>
                <a:lnTo>
                  <a:pt x="1257300" y="1291590"/>
                </a:lnTo>
                <a:lnTo>
                  <a:pt x="1297305" y="1268730"/>
                </a:lnTo>
                <a:lnTo>
                  <a:pt x="1337310" y="1245870"/>
                </a:lnTo>
                <a:lnTo>
                  <a:pt x="1377315" y="1223010"/>
                </a:lnTo>
                <a:lnTo>
                  <a:pt x="1417320" y="1200150"/>
                </a:lnTo>
                <a:lnTo>
                  <a:pt x="1457325" y="1177290"/>
                </a:lnTo>
                <a:lnTo>
                  <a:pt x="1497330" y="1154430"/>
                </a:lnTo>
                <a:lnTo>
                  <a:pt x="1543050" y="1125855"/>
                </a:lnTo>
                <a:lnTo>
                  <a:pt x="1583055" y="1102995"/>
                </a:lnTo>
                <a:lnTo>
                  <a:pt x="1623060" y="1074420"/>
                </a:lnTo>
                <a:lnTo>
                  <a:pt x="1663065" y="1045845"/>
                </a:lnTo>
                <a:lnTo>
                  <a:pt x="1703070" y="1017270"/>
                </a:lnTo>
                <a:lnTo>
                  <a:pt x="1743075" y="988695"/>
                </a:lnTo>
                <a:lnTo>
                  <a:pt x="1783080" y="960120"/>
                </a:lnTo>
                <a:lnTo>
                  <a:pt x="1823085" y="931545"/>
                </a:lnTo>
                <a:lnTo>
                  <a:pt x="1863090" y="897255"/>
                </a:lnTo>
                <a:lnTo>
                  <a:pt x="1903095" y="868680"/>
                </a:lnTo>
                <a:lnTo>
                  <a:pt x="1948815" y="834390"/>
                </a:lnTo>
                <a:lnTo>
                  <a:pt x="1988820" y="800100"/>
                </a:lnTo>
                <a:lnTo>
                  <a:pt x="2028825" y="765810"/>
                </a:lnTo>
                <a:lnTo>
                  <a:pt x="2068830" y="737235"/>
                </a:lnTo>
                <a:lnTo>
                  <a:pt x="2108835" y="697230"/>
                </a:lnTo>
                <a:lnTo>
                  <a:pt x="2148840" y="662940"/>
                </a:lnTo>
                <a:lnTo>
                  <a:pt x="2188845" y="628650"/>
                </a:lnTo>
                <a:lnTo>
                  <a:pt x="2228850" y="588645"/>
                </a:lnTo>
                <a:lnTo>
                  <a:pt x="2268855" y="554355"/>
                </a:lnTo>
                <a:lnTo>
                  <a:pt x="2308860" y="514350"/>
                </a:lnTo>
                <a:lnTo>
                  <a:pt x="2354580" y="474345"/>
                </a:lnTo>
                <a:lnTo>
                  <a:pt x="2394585" y="434340"/>
                </a:lnTo>
                <a:lnTo>
                  <a:pt x="2434590" y="394335"/>
                </a:lnTo>
                <a:lnTo>
                  <a:pt x="2474595" y="354330"/>
                </a:lnTo>
                <a:lnTo>
                  <a:pt x="2514600" y="314325"/>
                </a:lnTo>
                <a:lnTo>
                  <a:pt x="2554605" y="268605"/>
                </a:lnTo>
                <a:lnTo>
                  <a:pt x="2594610" y="228600"/>
                </a:lnTo>
                <a:lnTo>
                  <a:pt x="2634615" y="182880"/>
                </a:lnTo>
                <a:lnTo>
                  <a:pt x="2674620" y="137160"/>
                </a:lnTo>
                <a:lnTo>
                  <a:pt x="2714625" y="97155"/>
                </a:lnTo>
                <a:lnTo>
                  <a:pt x="2760345" y="51435"/>
                </a:ln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8F8F"/>
            </a:solidFill>
            <a:custDash>
              <a:ds d="200000" sp="150000"/>
            </a:custDash>
          </a:ln>
        </p:spPr>
      </p:sp>
      <p:sp>
        <p:nvSpPr>
          <p:cNvPr id="10" name="hf-1242">
            <a:extLst xmlns:a="http://schemas.openxmlformats.org/drawingml/2006/main">
              <a:ext uri="{FF2B5EF4-FFF2-40B4-BE49-F238E27FC236}">
                <a16:creationId xmlns:a16="http://schemas.microsoft.com/office/drawing/2014/main" id="{239B4F69-C1C2-415C-BD64-55C1BE76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8" y="1744980"/>
            <a:ext cx="4017645" cy="1331595"/>
          </a:xfrm>
          <a:custGeom xmlns:a="http://schemas.openxmlformats.org/drawingml/2006/main">
            <a:pathLst>
              <a:path w="4017645" h="1331595">
                <a:moveTo>
                  <a:pt x="0" y="1331595"/>
                </a:moveTo>
                <a:lnTo>
                  <a:pt x="40005" y="1325880"/>
                </a:lnTo>
                <a:lnTo>
                  <a:pt x="80010" y="1320165"/>
                </a:lnTo>
                <a:lnTo>
                  <a:pt x="120015" y="1308735"/>
                </a:lnTo>
                <a:lnTo>
                  <a:pt x="160020" y="1303020"/>
                </a:lnTo>
                <a:lnTo>
                  <a:pt x="200025" y="1291590"/>
                </a:lnTo>
                <a:lnTo>
                  <a:pt x="240030" y="1280160"/>
                </a:lnTo>
                <a:lnTo>
                  <a:pt x="280035" y="1274445"/>
                </a:lnTo>
                <a:lnTo>
                  <a:pt x="325755" y="1263015"/>
                </a:lnTo>
                <a:lnTo>
                  <a:pt x="365760" y="1251585"/>
                </a:lnTo>
                <a:lnTo>
                  <a:pt x="405765" y="1240155"/>
                </a:lnTo>
                <a:lnTo>
                  <a:pt x="445770" y="1228725"/>
                </a:lnTo>
                <a:lnTo>
                  <a:pt x="485775" y="1217295"/>
                </a:lnTo>
                <a:lnTo>
                  <a:pt x="525780" y="1205865"/>
                </a:lnTo>
                <a:lnTo>
                  <a:pt x="565785" y="1194435"/>
                </a:lnTo>
                <a:lnTo>
                  <a:pt x="605790" y="1183005"/>
                </a:lnTo>
                <a:lnTo>
                  <a:pt x="645795" y="1171575"/>
                </a:lnTo>
                <a:lnTo>
                  <a:pt x="685800" y="1160145"/>
                </a:lnTo>
                <a:lnTo>
                  <a:pt x="731520" y="1148715"/>
                </a:lnTo>
                <a:lnTo>
                  <a:pt x="771525" y="1137285"/>
                </a:lnTo>
                <a:lnTo>
                  <a:pt x="811530" y="1125855"/>
                </a:lnTo>
                <a:lnTo>
                  <a:pt x="851535" y="1108710"/>
                </a:lnTo>
                <a:lnTo>
                  <a:pt x="891540" y="1097280"/>
                </a:lnTo>
                <a:lnTo>
                  <a:pt x="931545" y="1085850"/>
                </a:lnTo>
                <a:lnTo>
                  <a:pt x="971550" y="1074420"/>
                </a:lnTo>
                <a:lnTo>
                  <a:pt x="1011555" y="1062990"/>
                </a:lnTo>
                <a:lnTo>
                  <a:pt x="1051560" y="1045845"/>
                </a:lnTo>
                <a:lnTo>
                  <a:pt x="1091565" y="1034415"/>
                </a:lnTo>
                <a:lnTo>
                  <a:pt x="1137285" y="1022985"/>
                </a:lnTo>
                <a:lnTo>
                  <a:pt x="1177290" y="1011555"/>
                </a:lnTo>
                <a:lnTo>
                  <a:pt x="1217295" y="994410"/>
                </a:lnTo>
                <a:lnTo>
                  <a:pt x="1257300" y="982980"/>
                </a:lnTo>
                <a:lnTo>
                  <a:pt x="1297305" y="971550"/>
                </a:lnTo>
                <a:lnTo>
                  <a:pt x="1337310" y="954405"/>
                </a:lnTo>
                <a:lnTo>
                  <a:pt x="1377315" y="942975"/>
                </a:lnTo>
                <a:lnTo>
                  <a:pt x="1417320" y="931545"/>
                </a:lnTo>
                <a:lnTo>
                  <a:pt x="1457325" y="914400"/>
                </a:lnTo>
                <a:lnTo>
                  <a:pt x="1497330" y="902970"/>
                </a:lnTo>
                <a:lnTo>
                  <a:pt x="1543050" y="891540"/>
                </a:lnTo>
                <a:lnTo>
                  <a:pt x="1583055" y="874395"/>
                </a:lnTo>
                <a:lnTo>
                  <a:pt x="1623060" y="862965"/>
                </a:lnTo>
                <a:lnTo>
                  <a:pt x="1663065" y="851535"/>
                </a:lnTo>
                <a:lnTo>
                  <a:pt x="1703070" y="834390"/>
                </a:lnTo>
                <a:lnTo>
                  <a:pt x="1743075" y="822960"/>
                </a:lnTo>
                <a:lnTo>
                  <a:pt x="1783080" y="805815"/>
                </a:lnTo>
                <a:lnTo>
                  <a:pt x="1823085" y="794385"/>
                </a:lnTo>
                <a:lnTo>
                  <a:pt x="1863090" y="777240"/>
                </a:lnTo>
                <a:lnTo>
                  <a:pt x="1903095" y="765810"/>
                </a:lnTo>
                <a:lnTo>
                  <a:pt x="1948815" y="754380"/>
                </a:lnTo>
                <a:lnTo>
                  <a:pt x="1988820" y="737235"/>
                </a:lnTo>
                <a:lnTo>
                  <a:pt x="2028825" y="725805"/>
                </a:lnTo>
                <a:lnTo>
                  <a:pt x="2068830" y="708660"/>
                </a:lnTo>
                <a:lnTo>
                  <a:pt x="2108835" y="697230"/>
                </a:lnTo>
                <a:lnTo>
                  <a:pt x="2148840" y="680085"/>
                </a:lnTo>
                <a:lnTo>
                  <a:pt x="2188845" y="668655"/>
                </a:lnTo>
                <a:lnTo>
                  <a:pt x="2228850" y="651510"/>
                </a:lnTo>
                <a:lnTo>
                  <a:pt x="2268855" y="640080"/>
                </a:lnTo>
                <a:lnTo>
                  <a:pt x="2308860" y="622935"/>
                </a:lnTo>
                <a:lnTo>
                  <a:pt x="2354580" y="611505"/>
                </a:lnTo>
                <a:lnTo>
                  <a:pt x="2394585" y="594360"/>
                </a:lnTo>
                <a:lnTo>
                  <a:pt x="2434590" y="582930"/>
                </a:lnTo>
                <a:lnTo>
                  <a:pt x="2474595" y="565785"/>
                </a:lnTo>
                <a:lnTo>
                  <a:pt x="2514600" y="554355"/>
                </a:lnTo>
                <a:lnTo>
                  <a:pt x="2554605" y="537210"/>
                </a:lnTo>
                <a:lnTo>
                  <a:pt x="2594610" y="525780"/>
                </a:lnTo>
                <a:lnTo>
                  <a:pt x="2634615" y="508635"/>
                </a:lnTo>
                <a:lnTo>
                  <a:pt x="2674620" y="491490"/>
                </a:lnTo>
                <a:lnTo>
                  <a:pt x="2714625" y="480060"/>
                </a:lnTo>
                <a:lnTo>
                  <a:pt x="2760345" y="462915"/>
                </a:lnTo>
                <a:lnTo>
                  <a:pt x="2800350" y="451485"/>
                </a:lnTo>
                <a:lnTo>
                  <a:pt x="2840355" y="434340"/>
                </a:lnTo>
                <a:lnTo>
                  <a:pt x="2880360" y="422910"/>
                </a:lnTo>
                <a:lnTo>
                  <a:pt x="2920365" y="405765"/>
                </a:lnTo>
                <a:lnTo>
                  <a:pt x="2960370" y="388620"/>
                </a:lnTo>
                <a:lnTo>
                  <a:pt x="3000375" y="377190"/>
                </a:lnTo>
                <a:lnTo>
                  <a:pt x="3040380" y="360045"/>
                </a:lnTo>
                <a:lnTo>
                  <a:pt x="3080385" y="348615"/>
                </a:lnTo>
                <a:lnTo>
                  <a:pt x="3120390" y="331470"/>
                </a:lnTo>
                <a:lnTo>
                  <a:pt x="3166110" y="314325"/>
                </a:lnTo>
                <a:lnTo>
                  <a:pt x="3206115" y="302895"/>
                </a:lnTo>
                <a:lnTo>
                  <a:pt x="3246120" y="285750"/>
                </a:lnTo>
                <a:lnTo>
                  <a:pt x="3286125" y="274320"/>
                </a:lnTo>
                <a:lnTo>
                  <a:pt x="3326130" y="257175"/>
                </a:lnTo>
                <a:lnTo>
                  <a:pt x="3366135" y="240030"/>
                </a:lnTo>
                <a:lnTo>
                  <a:pt x="3406140" y="228600"/>
                </a:lnTo>
                <a:lnTo>
                  <a:pt x="3446145" y="211455"/>
                </a:lnTo>
                <a:lnTo>
                  <a:pt x="3486150" y="194310"/>
                </a:lnTo>
                <a:lnTo>
                  <a:pt x="3526155" y="182880"/>
                </a:lnTo>
                <a:lnTo>
                  <a:pt x="3571875" y="165735"/>
                </a:lnTo>
                <a:lnTo>
                  <a:pt x="3611880" y="148590"/>
                </a:lnTo>
                <a:lnTo>
                  <a:pt x="3651885" y="137160"/>
                </a:lnTo>
                <a:lnTo>
                  <a:pt x="3691890" y="120015"/>
                </a:lnTo>
                <a:lnTo>
                  <a:pt x="3731895" y="102870"/>
                </a:lnTo>
                <a:lnTo>
                  <a:pt x="3771900" y="91440"/>
                </a:lnTo>
                <a:lnTo>
                  <a:pt x="3811905" y="74295"/>
                </a:lnTo>
                <a:lnTo>
                  <a:pt x="3851910" y="57150"/>
                </a:lnTo>
                <a:lnTo>
                  <a:pt x="3891915" y="45720"/>
                </a:lnTo>
                <a:lnTo>
                  <a:pt x="3931920" y="28575"/>
                </a:lnTo>
                <a:lnTo>
                  <a:pt x="3977640" y="11430"/>
                </a:lnTo>
                <a:lnTo>
                  <a:pt x="401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6CDAE"/>
            </a:solidFill>
          </a:ln>
        </p:spPr>
      </p:sp>
      <p:sp>
        <p:nvSpPr>
          <p:cNvPr id="11" name="hf-1243">
            <a:extLst xmlns:a="http://schemas.openxmlformats.org/drawingml/2006/main">
              <a:ext uri="{FF2B5EF4-FFF2-40B4-BE49-F238E27FC236}">
                <a16:creationId xmlns:a16="http://schemas.microsoft.com/office/drawing/2014/main" id="{5DEA6697-4D4E-45B8-AF42-4B0627B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8" y="2945130"/>
            <a:ext cx="4017645" cy="131445"/>
          </a:xfrm>
          <a:custGeom xmlns:a="http://schemas.openxmlformats.org/drawingml/2006/main">
            <a:pathLst>
              <a:path w="4017645" h="131445">
                <a:moveTo>
                  <a:pt x="0" y="131445"/>
                </a:moveTo>
                <a:lnTo>
                  <a:pt x="40005" y="131445"/>
                </a:lnTo>
                <a:lnTo>
                  <a:pt x="80010" y="131445"/>
                </a:lnTo>
                <a:lnTo>
                  <a:pt x="120015" y="125730"/>
                </a:lnTo>
                <a:lnTo>
                  <a:pt x="160020" y="125730"/>
                </a:lnTo>
                <a:lnTo>
                  <a:pt x="200025" y="125730"/>
                </a:lnTo>
                <a:lnTo>
                  <a:pt x="240030" y="125730"/>
                </a:lnTo>
                <a:lnTo>
                  <a:pt x="280035" y="120015"/>
                </a:lnTo>
                <a:lnTo>
                  <a:pt x="325755" y="120015"/>
                </a:lnTo>
                <a:lnTo>
                  <a:pt x="365760" y="120015"/>
                </a:lnTo>
                <a:lnTo>
                  <a:pt x="405765" y="120015"/>
                </a:lnTo>
                <a:lnTo>
                  <a:pt x="445770" y="114300"/>
                </a:lnTo>
                <a:lnTo>
                  <a:pt x="485775" y="114300"/>
                </a:lnTo>
                <a:lnTo>
                  <a:pt x="525780" y="114300"/>
                </a:lnTo>
                <a:lnTo>
                  <a:pt x="565785" y="114300"/>
                </a:lnTo>
                <a:lnTo>
                  <a:pt x="605790" y="108585"/>
                </a:lnTo>
                <a:lnTo>
                  <a:pt x="645795" y="108585"/>
                </a:lnTo>
                <a:lnTo>
                  <a:pt x="685800" y="108585"/>
                </a:lnTo>
                <a:lnTo>
                  <a:pt x="731520" y="108585"/>
                </a:lnTo>
                <a:lnTo>
                  <a:pt x="771525" y="102870"/>
                </a:lnTo>
                <a:lnTo>
                  <a:pt x="811530" y="102870"/>
                </a:lnTo>
                <a:lnTo>
                  <a:pt x="851535" y="102870"/>
                </a:lnTo>
                <a:lnTo>
                  <a:pt x="891540" y="102870"/>
                </a:lnTo>
                <a:lnTo>
                  <a:pt x="931545" y="102870"/>
                </a:lnTo>
                <a:lnTo>
                  <a:pt x="971550" y="97155"/>
                </a:lnTo>
                <a:lnTo>
                  <a:pt x="1011555" y="97155"/>
                </a:lnTo>
                <a:lnTo>
                  <a:pt x="1051560" y="97155"/>
                </a:lnTo>
                <a:lnTo>
                  <a:pt x="1091565" y="97155"/>
                </a:lnTo>
                <a:lnTo>
                  <a:pt x="1137285" y="91440"/>
                </a:lnTo>
                <a:lnTo>
                  <a:pt x="1177290" y="91440"/>
                </a:lnTo>
                <a:lnTo>
                  <a:pt x="1217295" y="91440"/>
                </a:lnTo>
                <a:lnTo>
                  <a:pt x="1257300" y="91440"/>
                </a:lnTo>
                <a:lnTo>
                  <a:pt x="1297305" y="85725"/>
                </a:lnTo>
                <a:lnTo>
                  <a:pt x="1337310" y="85725"/>
                </a:lnTo>
                <a:lnTo>
                  <a:pt x="1377315" y="85725"/>
                </a:lnTo>
                <a:lnTo>
                  <a:pt x="1417320" y="85725"/>
                </a:lnTo>
                <a:lnTo>
                  <a:pt x="1457325" y="80010"/>
                </a:lnTo>
                <a:lnTo>
                  <a:pt x="1497330" y="80010"/>
                </a:lnTo>
                <a:lnTo>
                  <a:pt x="1543050" y="80010"/>
                </a:lnTo>
                <a:lnTo>
                  <a:pt x="1583055" y="80010"/>
                </a:lnTo>
                <a:lnTo>
                  <a:pt x="1623060" y="80010"/>
                </a:lnTo>
                <a:lnTo>
                  <a:pt x="1663065" y="74295"/>
                </a:lnTo>
                <a:lnTo>
                  <a:pt x="1703070" y="74295"/>
                </a:lnTo>
                <a:lnTo>
                  <a:pt x="1743075" y="74295"/>
                </a:lnTo>
                <a:lnTo>
                  <a:pt x="1783080" y="74295"/>
                </a:lnTo>
                <a:lnTo>
                  <a:pt x="1823085" y="68580"/>
                </a:lnTo>
                <a:lnTo>
                  <a:pt x="1863090" y="68580"/>
                </a:lnTo>
                <a:lnTo>
                  <a:pt x="1903095" y="68580"/>
                </a:lnTo>
                <a:lnTo>
                  <a:pt x="1948815" y="68580"/>
                </a:lnTo>
                <a:lnTo>
                  <a:pt x="1988820" y="62865"/>
                </a:lnTo>
                <a:lnTo>
                  <a:pt x="2028825" y="62865"/>
                </a:lnTo>
                <a:lnTo>
                  <a:pt x="2068830" y="62865"/>
                </a:lnTo>
                <a:lnTo>
                  <a:pt x="2108835" y="62865"/>
                </a:lnTo>
                <a:lnTo>
                  <a:pt x="2148840" y="57150"/>
                </a:lnTo>
                <a:lnTo>
                  <a:pt x="2188845" y="57150"/>
                </a:lnTo>
                <a:lnTo>
                  <a:pt x="2228850" y="57150"/>
                </a:lnTo>
                <a:lnTo>
                  <a:pt x="2268855" y="57150"/>
                </a:lnTo>
                <a:lnTo>
                  <a:pt x="2308860" y="51435"/>
                </a:lnTo>
                <a:lnTo>
                  <a:pt x="2354580" y="51435"/>
                </a:lnTo>
                <a:lnTo>
                  <a:pt x="2394585" y="51435"/>
                </a:lnTo>
                <a:lnTo>
                  <a:pt x="2434590" y="51435"/>
                </a:lnTo>
                <a:lnTo>
                  <a:pt x="2474595" y="51435"/>
                </a:lnTo>
                <a:lnTo>
                  <a:pt x="2514600" y="45720"/>
                </a:lnTo>
                <a:lnTo>
                  <a:pt x="2554605" y="45720"/>
                </a:lnTo>
                <a:lnTo>
                  <a:pt x="2594610" y="45720"/>
                </a:lnTo>
                <a:lnTo>
                  <a:pt x="2634615" y="45720"/>
                </a:lnTo>
                <a:lnTo>
                  <a:pt x="2674620" y="40005"/>
                </a:lnTo>
                <a:lnTo>
                  <a:pt x="2714625" y="40005"/>
                </a:lnTo>
                <a:lnTo>
                  <a:pt x="2760345" y="40005"/>
                </a:lnTo>
                <a:lnTo>
                  <a:pt x="2800350" y="40005"/>
                </a:lnTo>
                <a:lnTo>
                  <a:pt x="2840355" y="34290"/>
                </a:lnTo>
                <a:lnTo>
                  <a:pt x="2880360" y="34290"/>
                </a:lnTo>
                <a:lnTo>
                  <a:pt x="2920365" y="34290"/>
                </a:lnTo>
                <a:lnTo>
                  <a:pt x="2960370" y="34290"/>
                </a:lnTo>
                <a:lnTo>
                  <a:pt x="3000375" y="28575"/>
                </a:lnTo>
                <a:lnTo>
                  <a:pt x="3040380" y="28575"/>
                </a:lnTo>
                <a:lnTo>
                  <a:pt x="3080385" y="28575"/>
                </a:lnTo>
                <a:lnTo>
                  <a:pt x="3120390" y="28575"/>
                </a:lnTo>
                <a:lnTo>
                  <a:pt x="3166110" y="28575"/>
                </a:lnTo>
                <a:lnTo>
                  <a:pt x="3206115" y="22860"/>
                </a:lnTo>
                <a:lnTo>
                  <a:pt x="3246120" y="22860"/>
                </a:lnTo>
                <a:lnTo>
                  <a:pt x="3286125" y="22860"/>
                </a:lnTo>
                <a:lnTo>
                  <a:pt x="3326130" y="22860"/>
                </a:lnTo>
                <a:lnTo>
                  <a:pt x="3366135" y="17145"/>
                </a:lnTo>
                <a:lnTo>
                  <a:pt x="3406140" y="17145"/>
                </a:lnTo>
                <a:lnTo>
                  <a:pt x="3446145" y="17145"/>
                </a:lnTo>
                <a:lnTo>
                  <a:pt x="3486150" y="17145"/>
                </a:lnTo>
                <a:lnTo>
                  <a:pt x="3526155" y="11430"/>
                </a:lnTo>
                <a:lnTo>
                  <a:pt x="3571875" y="11430"/>
                </a:lnTo>
                <a:lnTo>
                  <a:pt x="3611880" y="11430"/>
                </a:lnTo>
                <a:lnTo>
                  <a:pt x="3651885" y="11430"/>
                </a:lnTo>
                <a:lnTo>
                  <a:pt x="3691890" y="5715"/>
                </a:lnTo>
                <a:lnTo>
                  <a:pt x="3731895" y="5715"/>
                </a:lnTo>
                <a:lnTo>
                  <a:pt x="3771900" y="5715"/>
                </a:lnTo>
                <a:lnTo>
                  <a:pt x="3811905" y="5715"/>
                </a:lnTo>
                <a:lnTo>
                  <a:pt x="3851910" y="0"/>
                </a:lnTo>
                <a:lnTo>
                  <a:pt x="3891915" y="0"/>
                </a:lnTo>
                <a:lnTo>
                  <a:pt x="3931920" y="0"/>
                </a:lnTo>
                <a:lnTo>
                  <a:pt x="3977640" y="0"/>
                </a:lnTo>
                <a:lnTo>
                  <a:pt x="401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2489B"/>
            </a:solidFill>
          </a:ln>
        </p:spPr>
      </p:sp>
      <p:sp>
        <p:nvSpPr>
          <p:cNvPr id="12" name="hf-1244">
            <a:extLst xmlns:a="http://schemas.openxmlformats.org/drawingml/2006/main">
              <a:ext uri="{FF2B5EF4-FFF2-40B4-BE49-F238E27FC236}">
                <a16:creationId xmlns:a16="http://schemas.microsoft.com/office/drawing/2014/main" id="{9B41D22E-64F6-4D27-96C6-D5AD9B1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68" y="1348626"/>
            <a:ext cx="31499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12K</a:t>
            </a:r>
          </a:p>
        </p:txBody>
      </p:sp>
      <p:sp>
        <p:nvSpPr>
          <p:cNvPr id="13" name="hf-1245">
            <a:extLst xmlns:a="http://schemas.openxmlformats.org/drawingml/2006/main">
              <a:ext uri="{FF2B5EF4-FFF2-40B4-BE49-F238E27FC236}">
                <a16:creationId xmlns:a16="http://schemas.microsoft.com/office/drawing/2014/main" id="{A683751B-B935-4044-AF11-56D8EFCE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95" y="1891551"/>
            <a:ext cx="26766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8K</a:t>
            </a:r>
          </a:p>
        </p:txBody>
      </p:sp>
      <p:sp>
        <p:nvSpPr>
          <p:cNvPr id="14" name="hf-1246">
            <a:extLst xmlns:a="http://schemas.openxmlformats.org/drawingml/2006/main">
              <a:ext uri="{FF2B5EF4-FFF2-40B4-BE49-F238E27FC236}">
                <a16:creationId xmlns:a16="http://schemas.microsoft.com/office/drawing/2014/main" id="{AE4FE380-EA02-4A64-8F9E-520B6BF4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2429713"/>
            <a:ext cx="2718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4K</a:t>
            </a:r>
          </a:p>
        </p:txBody>
      </p:sp>
      <p:sp>
        <p:nvSpPr>
          <p:cNvPr id="15" name="hf-1247">
            <a:extLst xmlns:a="http://schemas.openxmlformats.org/drawingml/2006/main">
              <a:ext uri="{FF2B5EF4-FFF2-40B4-BE49-F238E27FC236}">
                <a16:creationId xmlns:a16="http://schemas.microsoft.com/office/drawing/2014/main" id="{64473CC1-9143-4DFC-BE96-37A42CE1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70" y="2972638"/>
            <a:ext cx="1596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0</a:t>
            </a:r>
          </a:p>
        </p:txBody>
      </p:sp>
      <p:sp>
        <p:nvSpPr>
          <p:cNvPr id="16" name="hf-1248">
            <a:extLst xmlns:a="http://schemas.openxmlformats.org/drawingml/2006/main">
              <a:ext uri="{FF2B5EF4-FFF2-40B4-BE49-F238E27FC236}">
                <a16:creationId xmlns:a16="http://schemas.microsoft.com/office/drawing/2014/main" id="{C62964D4-47DC-46C9-979A-FC4E9E98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971" y="3101226"/>
            <a:ext cx="35130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500</a:t>
            </a:r>
          </a:p>
        </p:txBody>
      </p:sp>
      <p:sp>
        <p:nvSpPr>
          <p:cNvPr id="17" name="hf-1249">
            <a:extLst xmlns:a="http://schemas.openxmlformats.org/drawingml/2006/main">
              <a:ext uri="{FF2B5EF4-FFF2-40B4-BE49-F238E27FC236}">
                <a16:creationId xmlns:a16="http://schemas.microsoft.com/office/drawing/2014/main" id="{555B77A8-7C4E-44B7-B342-B574E5A4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059" y="3101226"/>
            <a:ext cx="7202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 = 1000</a:t>
            </a:r>
          </a:p>
        </p:txBody>
      </p:sp>
      <p:sp>
        <p:nvSpPr>
          <p:cNvPr id="18" name="hf-1250">
            <a:extLst xmlns:a="http://schemas.openxmlformats.org/drawingml/2006/main">
              <a:ext uri="{FF2B5EF4-FFF2-40B4-BE49-F238E27FC236}">
                <a16:creationId xmlns:a16="http://schemas.microsoft.com/office/drawing/2014/main" id="{601F7BE8-80CD-4D67-BED8-09CB6AE6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84" y="2681040"/>
            <a:ext cx="46307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O(N)</a:t>
            </a:r>
          </a:p>
        </p:txBody>
      </p:sp>
      <p:sp>
        <p:nvSpPr>
          <p:cNvPr id="19" name="hf-1251">
            <a:extLst xmlns:a="http://schemas.openxmlformats.org/drawingml/2006/main">
              <a:ext uri="{FF2B5EF4-FFF2-40B4-BE49-F238E27FC236}">
                <a16:creationId xmlns:a16="http://schemas.microsoft.com/office/drawing/2014/main" id="{360667E3-0365-4FB6-B6C8-845C5592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212" y="2233365"/>
            <a:ext cx="982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O(N log N)</a:t>
            </a:r>
          </a:p>
        </p:txBody>
      </p:sp>
      <p:sp>
        <p:nvSpPr>
          <p:cNvPr id="20" name="hf-1252">
            <a:extLst xmlns:a="http://schemas.openxmlformats.org/drawingml/2006/main">
              <a:ext uri="{FF2B5EF4-FFF2-40B4-BE49-F238E27FC236}">
                <a16:creationId xmlns:a16="http://schemas.microsoft.com/office/drawing/2014/main" id="{BB5DBC75-7876-4B66-B033-31DF6F56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486738"/>
            <a:ext cx="133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O(N²) — за край</a:t>
            </a:r>
          </a:p>
        </p:txBody>
      </p:sp>
      <p:sp>
        <p:nvSpPr>
          <p:cNvPr id="21" name="hf-1253">
            <a:extLst xmlns:a="http://schemas.openxmlformats.org/drawingml/2006/main">
              <a:ext uri="{FF2B5EF4-FFF2-40B4-BE49-F238E27FC236}">
                <a16:creationId xmlns:a16="http://schemas.microsoft.com/office/drawing/2014/main" id="{582A99B1-4423-4E8B-A3EC-38D3BD82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401013"/>
            <a:ext cx="18067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</a:t>
            </a:r>
          </a:p>
        </p:txBody>
      </p:sp>
      <p:sp>
        <p:nvSpPr>
          <p:cNvPr id="22" name="hf-1254">
            <a:extLst xmlns:a="http://schemas.openxmlformats.org/drawingml/2006/main">
              <a:ext uri="{FF2B5EF4-FFF2-40B4-BE49-F238E27FC236}">
                <a16:creationId xmlns:a16="http://schemas.microsoft.com/office/drawing/2014/main" id="{ACFE7589-66C1-4EE4-8077-B9EFD56C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792" y="1401013"/>
            <a:ext cx="4148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O(N)</a:t>
            </a:r>
          </a:p>
        </p:txBody>
      </p:sp>
      <p:sp>
        <p:nvSpPr>
          <p:cNvPr id="23" name="hf-1255">
            <a:extLst xmlns:a="http://schemas.openxmlformats.org/drawingml/2006/main">
              <a:ext uri="{FF2B5EF4-FFF2-40B4-BE49-F238E27FC236}">
                <a16:creationId xmlns:a16="http://schemas.microsoft.com/office/drawing/2014/main" id="{330A3E32-093C-4AFD-B9C0-25D629FA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367" y="1401013"/>
            <a:ext cx="8705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O(N log N)</a:t>
            </a:r>
          </a:p>
        </p:txBody>
      </p:sp>
      <p:sp>
        <p:nvSpPr>
          <p:cNvPr id="24" name="hf-1256">
            <a:extLst xmlns:a="http://schemas.openxmlformats.org/drawingml/2006/main">
              <a:ext uri="{FF2B5EF4-FFF2-40B4-BE49-F238E27FC236}">
                <a16:creationId xmlns:a16="http://schemas.microsoft.com/office/drawing/2014/main" id="{9B1B897F-AEC9-4E5D-A831-52E51E7D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47825"/>
            <a:ext cx="320516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5" name="hf-1257">
            <a:extLst xmlns:a="http://schemas.openxmlformats.org/drawingml/2006/main">
              <a:ext uri="{FF2B5EF4-FFF2-40B4-BE49-F238E27FC236}">
                <a16:creationId xmlns:a16="http://schemas.microsoft.com/office/drawing/2014/main" id="{067C5EDE-A5E8-40DA-A8DC-F6464961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96288"/>
            <a:ext cx="47037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1 000</a:t>
            </a:r>
          </a:p>
        </p:txBody>
      </p:sp>
      <p:sp>
        <p:nvSpPr>
          <p:cNvPr id="26" name="hf-1258">
            <a:extLst xmlns:a="http://schemas.openxmlformats.org/drawingml/2006/main">
              <a:ext uri="{FF2B5EF4-FFF2-40B4-BE49-F238E27FC236}">
                <a16:creationId xmlns:a16="http://schemas.microsoft.com/office/drawing/2014/main" id="{3B089145-2A5F-4FD9-B85D-C5D3C942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279" y="1696288"/>
            <a:ext cx="47037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1 000</a:t>
            </a:r>
          </a:p>
        </p:txBody>
      </p:sp>
      <p:sp>
        <p:nvSpPr>
          <p:cNvPr id="27" name="hf-1259">
            <a:extLst xmlns:a="http://schemas.openxmlformats.org/drawingml/2006/main">
              <a:ext uri="{FF2B5EF4-FFF2-40B4-BE49-F238E27FC236}">
                <a16:creationId xmlns:a16="http://schemas.microsoft.com/office/drawing/2014/main" id="{576B59BA-D09C-4A04-83B1-BC6771B6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131" y="1696288"/>
            <a:ext cx="57380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10 000</a:t>
            </a:r>
          </a:p>
        </p:txBody>
      </p:sp>
      <p:sp>
        <p:nvSpPr>
          <p:cNvPr id="28" name="hf-1260">
            <a:extLst xmlns:a="http://schemas.openxmlformats.org/drawingml/2006/main">
              <a:ext uri="{FF2B5EF4-FFF2-40B4-BE49-F238E27FC236}">
                <a16:creationId xmlns:a16="http://schemas.microsoft.com/office/drawing/2014/main" id="{191F6D6C-6817-4B52-BE4C-8682CE28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29663"/>
            <a:ext cx="823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1 000 000</a:t>
            </a:r>
          </a:p>
        </p:txBody>
      </p:sp>
      <p:sp>
        <p:nvSpPr>
          <p:cNvPr id="29" name="hf-1261">
            <a:extLst xmlns:a="http://schemas.openxmlformats.org/drawingml/2006/main">
              <a:ext uri="{FF2B5EF4-FFF2-40B4-BE49-F238E27FC236}">
                <a16:creationId xmlns:a16="http://schemas.microsoft.com/office/drawing/2014/main" id="{E7EF1D7F-D9DF-40F9-906D-C7214D15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812" y="2029663"/>
            <a:ext cx="823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1 000 000</a:t>
            </a:r>
          </a:p>
        </p:txBody>
      </p:sp>
      <p:sp>
        <p:nvSpPr>
          <p:cNvPr id="30" name="hf-1262">
            <a:extLst xmlns:a="http://schemas.openxmlformats.org/drawingml/2006/main">
              <a:ext uri="{FF2B5EF4-FFF2-40B4-BE49-F238E27FC236}">
                <a16:creationId xmlns:a16="http://schemas.microsoft.com/office/drawing/2014/main" id="{B3BA1494-985B-4BDD-AF87-C084ABDD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526" y="2029663"/>
            <a:ext cx="9574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20 000 000</a:t>
            </a:r>
          </a:p>
        </p:txBody>
      </p:sp>
      <p:sp>
        <p:nvSpPr>
          <p:cNvPr id="31" name="hf-1263">
            <a:extLst xmlns:a="http://schemas.openxmlformats.org/drawingml/2006/main">
              <a:ext uri="{FF2B5EF4-FFF2-40B4-BE49-F238E27FC236}">
                <a16:creationId xmlns:a16="http://schemas.microsoft.com/office/drawing/2014/main" id="{BE8AD908-93F6-4835-96F5-3EAD8FA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85466"/>
            <a:ext cx="1457027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×20</a:t>
            </a:r>
          </a:p>
        </p:txBody>
      </p:sp>
      <p:sp>
        <p:nvSpPr>
          <p:cNvPr id="32" name="hf-1264">
            <a:extLst xmlns:a="http://schemas.openxmlformats.org/drawingml/2006/main">
              <a:ext uri="{FF2B5EF4-FFF2-40B4-BE49-F238E27FC236}">
                <a16:creationId xmlns:a16="http://schemas.microsoft.com/office/drawing/2014/main" id="{775DF7BE-A13B-4677-A789-443D1785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15538"/>
            <a:ext cx="31223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между O(N) и O(N log N) на миллионе</a:t>
            </a:r>
          </a:p>
        </p:txBody>
      </p:sp>
      <p:sp>
        <p:nvSpPr>
          <p:cNvPr id="33" name="hf-1265">
            <a:extLst xmlns:a="http://schemas.openxmlformats.org/drawingml/2006/main">
              <a:ext uri="{FF2B5EF4-FFF2-40B4-BE49-F238E27FC236}">
                <a16:creationId xmlns:a16="http://schemas.microsoft.com/office/drawing/2014/main" id="{EC2E247C-08F1-44F9-B58C-C8853BC7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14750"/>
            <a:ext cx="80295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hf-1266">
            <a:extLst xmlns:a="http://schemas.openxmlformats.org/drawingml/2006/main">
              <a:ext uri="{FF2B5EF4-FFF2-40B4-BE49-F238E27FC236}">
                <a16:creationId xmlns:a16="http://schemas.microsoft.com/office/drawing/2014/main" id="{26636B9C-C4CD-4C54-851C-76C44AD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819696"/>
            <a:ext cx="427650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8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Время ≈ N × шагов × </a:t>
            </a:r>
            <a:r>
              <a:rPr sz="19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цена шага</a:t>
            </a:r>
          </a:p>
        </p:txBody>
      </p:sp>
      <p:sp>
        <p:nvSpPr>
          <p:cNvPr id="35" name="hf-1267">
            <a:extLst xmlns:a="http://schemas.openxmlformats.org/drawingml/2006/main">
              <a:ext uri="{FF2B5EF4-FFF2-40B4-BE49-F238E27FC236}">
                <a16:creationId xmlns:a16="http://schemas.microsoft.com/office/drawing/2014/main" id="{E8F24C48-5E9D-4BA1-8B45-16F4BA80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46014"/>
            <a:ext cx="220786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шаг стоит от 1 до 100 нс —</a:t>
            </a:r>
          </a:p>
        </p:txBody>
      </p:sp>
      <p:sp>
        <p:nvSpPr>
          <p:cNvPr id="36" name="hf-1268">
            <a:extLst xmlns:a="http://schemas.openxmlformats.org/drawingml/2006/main">
              <a:ext uri="{FF2B5EF4-FFF2-40B4-BE49-F238E27FC236}">
                <a16:creationId xmlns:a16="http://schemas.microsoft.com/office/drawing/2014/main" id="{6D02E927-516B-4F56-BE9C-6B44783E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36514"/>
            <a:ext cx="110862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два порядка</a:t>
            </a:r>
          </a:p>
        </p:txBody>
      </p:sp>
      <p:pic>
        <p:nvPicPr>
          <p:cNvPr id="37" name="hf-1269">
            <a:extLst xmlns:a="http://schemas.openxmlformats.org/drawingml/2006/main">
              <a:ext uri="{FF2B5EF4-FFF2-40B4-BE49-F238E27FC236}">
                <a16:creationId xmlns:a16="http://schemas.microsoft.com/office/drawing/2014/main" id="{A3321E6C-A5A7-4590-932E-123B1095DD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a7b96f72e4f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8" name="hf-1270">
            <a:extLst xmlns:a="http://schemas.openxmlformats.org/drawingml/2006/main">
              <a:ext uri="{FF2B5EF4-FFF2-40B4-BE49-F238E27FC236}">
                <a16:creationId xmlns:a16="http://schemas.microsoft.com/office/drawing/2014/main" id="{61BE3829-E695-47E2-A7D0-3C504607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840945100"/>
      </p:ext>
    </p:extLst>
  </p:cSld>
</p:sld>
</file>

<file path=ppt/slides/slide52.xml><?xml version="1.0" encoding="utf-8"?>
<p:sld xmlns:p="http://schemas.openxmlformats.org/presentationml/2006/main" show="0">
  <p:cSld name="question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271">
            <a:extLst xmlns:a="http://schemas.openxmlformats.org/drawingml/2006/main">
              <a:ext uri="{FF2B5EF4-FFF2-40B4-BE49-F238E27FC236}">
                <a16:creationId xmlns:a16="http://schemas.microsoft.com/office/drawing/2014/main" id="{2D5E3056-1974-41C3-9C8F-BC54423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63333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АРХИВ</a:t>
            </a:r>
          </a:p>
        </p:txBody>
      </p:sp>
      <p:sp>
        <p:nvSpPr>
          <p:cNvPr id="3" name="hf-1272">
            <a:extLst xmlns:a="http://schemas.openxmlformats.org/drawingml/2006/main">
              <a:ext uri="{FF2B5EF4-FFF2-40B4-BE49-F238E27FC236}">
                <a16:creationId xmlns:a16="http://schemas.microsoft.com/office/drawing/2014/main" id="{80719B92-3293-4F80-BA4E-BBDC9EF9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29528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ПРЕЖДЕ ЧЕМ ВЫБИРАТЬ КОНТЕЙНЕР —</a:t>
            </a:r>
          </a:p>
        </p:txBody>
      </p:sp>
      <p:sp>
        <p:nvSpPr>
          <p:cNvPr id="4" name="hf-1273">
            <a:extLst xmlns:a="http://schemas.openxmlformats.org/drawingml/2006/main">
              <a:ext uri="{FF2B5EF4-FFF2-40B4-BE49-F238E27FC236}">
                <a16:creationId xmlns:a16="http://schemas.microsoft.com/office/drawing/2014/main" id="{DEC48F2D-9ED2-40DE-A627-23FFB80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96718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ШЕСТЬ ВОПРОСОВ</a:t>
            </a:r>
          </a:p>
        </p:txBody>
      </p:sp>
      <p:sp>
        <p:nvSpPr>
          <p:cNvPr id="5" name="hf-1274">
            <a:extLst xmlns:a="http://schemas.openxmlformats.org/drawingml/2006/main">
              <a:ext uri="{FF2B5EF4-FFF2-40B4-BE49-F238E27FC236}">
                <a16:creationId xmlns:a16="http://schemas.microsoft.com/office/drawing/2014/main" id="{EC0DF7B4-5EC3-487A-BFE7-C966CC2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40371"/>
            <a:ext cx="2113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6" name="hf-1275">
            <a:extLst xmlns:a="http://schemas.openxmlformats.org/drawingml/2006/main">
              <a:ext uri="{FF2B5EF4-FFF2-40B4-BE49-F238E27FC236}">
                <a16:creationId xmlns:a16="http://schemas.microsoft.com/office/drawing/2014/main" id="{645CF52B-3533-4FAD-ADD0-482C2221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57830"/>
            <a:ext cx="60884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нужно на выходе: порядок, сортировка, исходник?</a:t>
            </a:r>
          </a:p>
        </p:txBody>
      </p:sp>
      <p:sp>
        <p:nvSpPr>
          <p:cNvPr id="7" name="hf-1276">
            <a:extLst xmlns:a="http://schemas.openxmlformats.org/drawingml/2006/main">
              <a:ext uri="{FF2B5EF4-FFF2-40B4-BE49-F238E27FC236}">
                <a16:creationId xmlns:a16="http://schemas.microsoft.com/office/drawing/2014/main" id="{B1DAFFD2-01E0-4F60-8A55-2F3348FE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64246"/>
            <a:ext cx="28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8" name="hf-1277">
            <a:extLst xmlns:a="http://schemas.openxmlformats.org/drawingml/2006/main">
              <a:ext uri="{FF2B5EF4-FFF2-40B4-BE49-F238E27FC236}">
                <a16:creationId xmlns:a16="http://schemas.microsoft.com/office/drawing/2014/main" id="{B5850456-2AE2-4A05-9A43-1DBF6FC6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705"/>
            <a:ext cx="383463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Какие у вас N и доля уникальных?</a:t>
            </a:r>
          </a:p>
        </p:txBody>
      </p:sp>
      <p:sp>
        <p:nvSpPr>
          <p:cNvPr id="9" name="hf-1278">
            <a:extLst xmlns:a="http://schemas.openxmlformats.org/drawingml/2006/main">
              <a:ext uri="{FF2B5EF4-FFF2-40B4-BE49-F238E27FC236}">
                <a16:creationId xmlns:a16="http://schemas.microsoft.com/office/drawing/2014/main" id="{9DD0CFBA-8AED-4545-B348-FB77AF0A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88121"/>
            <a:ext cx="2867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0" name="hf-1279">
            <a:extLst xmlns:a="http://schemas.openxmlformats.org/drawingml/2006/main">
              <a:ext uri="{FF2B5EF4-FFF2-40B4-BE49-F238E27FC236}">
                <a16:creationId xmlns:a16="http://schemas.microsoft.com/office/drawing/2014/main" id="{470C1C1A-291B-467F-AC19-060D9DDB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580"/>
            <a:ext cx="51339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Какой именно контейнер, а не «хеш вообще»?</a:t>
            </a:r>
          </a:p>
        </p:txBody>
      </p:sp>
      <p:sp>
        <p:nvSpPr>
          <p:cNvPr id="11" name="hf-1280">
            <a:extLst xmlns:a="http://schemas.openxmlformats.org/drawingml/2006/main">
              <a:ext uri="{FF2B5EF4-FFF2-40B4-BE49-F238E27FC236}">
                <a16:creationId xmlns:a16="http://schemas.microsoft.com/office/drawing/2014/main" id="{096181E7-F9F6-4F07-AAE3-ACDCEA1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11996"/>
            <a:ext cx="3239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12" name="hf-1281">
            <a:extLst xmlns:a="http://schemas.openxmlformats.org/drawingml/2006/main">
              <a:ext uri="{FF2B5EF4-FFF2-40B4-BE49-F238E27FC236}">
                <a16:creationId xmlns:a16="http://schemas.microsoft.com/office/drawing/2014/main" id="{7EBB3362-AFEE-487A-8E1E-3ACB512F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9455"/>
            <a:ext cx="59283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Какая система и связка компилятора с библиотекой?</a:t>
            </a:r>
          </a:p>
        </p:txBody>
      </p:sp>
      <p:sp>
        <p:nvSpPr>
          <p:cNvPr id="13" name="hf-1282">
            <a:extLst xmlns:a="http://schemas.openxmlformats.org/drawingml/2006/main">
              <a:ext uri="{FF2B5EF4-FFF2-40B4-BE49-F238E27FC236}">
                <a16:creationId xmlns:a16="http://schemas.microsoft.com/office/drawing/2014/main" id="{A8E4BFCA-3CCC-4792-B361-1F5C17EE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35871"/>
            <a:ext cx="288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14" name="hf-1283">
            <a:extLst xmlns:a="http://schemas.openxmlformats.org/drawingml/2006/main">
              <a:ext uri="{FF2B5EF4-FFF2-40B4-BE49-F238E27FC236}">
                <a16:creationId xmlns:a16="http://schemas.microsoft.com/office/drawing/2014/main" id="{A226BD27-5E5B-4D2C-B8DD-BF838375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3330"/>
            <a:ext cx="668617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Первый запрос или длительная нагрузка, какой приоритет?</a:t>
            </a:r>
          </a:p>
        </p:txBody>
      </p:sp>
      <p:sp>
        <p:nvSpPr>
          <p:cNvPr id="15" name="hf-1284">
            <a:extLst xmlns:a="http://schemas.openxmlformats.org/drawingml/2006/main">
              <a:ext uri="{FF2B5EF4-FFF2-40B4-BE49-F238E27FC236}">
                <a16:creationId xmlns:a16="http://schemas.microsoft.com/office/drawing/2014/main" id="{76A3AAC2-FA56-4A48-8BD1-784EBF5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59746"/>
            <a:ext cx="304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6</a:t>
            </a:r>
          </a:p>
        </p:txBody>
      </p:sp>
      <p:sp>
        <p:nvSpPr>
          <p:cNvPr id="16" name="hf-1285">
            <a:extLst xmlns:a="http://schemas.openxmlformats.org/drawingml/2006/main">
              <a:ext uri="{FF2B5EF4-FFF2-40B4-BE49-F238E27FC236}">
                <a16:creationId xmlns:a16="http://schemas.microsoft.com/office/drawing/2014/main" id="{11E12DE2-8829-4B27-8097-5CFB71DC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7205"/>
            <a:ext cx="542872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Какую долю всего этапа занимает эта операция?</a:t>
            </a:r>
          </a:p>
        </p:txBody>
      </p:sp>
      <p:pic>
        <p:nvPicPr>
          <p:cNvPr id="17" name="hf-1286">
            <a:extLst xmlns:a="http://schemas.openxmlformats.org/drawingml/2006/main">
              <a:ext uri="{FF2B5EF4-FFF2-40B4-BE49-F238E27FC236}">
                <a16:creationId xmlns:a16="http://schemas.microsoft.com/office/drawing/2014/main" id="{7BBF8B0F-5ACB-4F22-AD5B-58906CDBA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fc4b309944cd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8" name="hf-1287">
            <a:extLst xmlns:a="http://schemas.openxmlformats.org/drawingml/2006/main">
              <a:ext uri="{FF2B5EF4-FFF2-40B4-BE49-F238E27FC236}">
                <a16:creationId xmlns:a16="http://schemas.microsoft.com/office/drawing/2014/main" id="{D9E7B2B3-15EB-4743-A99B-DDFE6625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772492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Никита Нагорнов</dc:creator>
  <lastModifiedBy>Walnut Exporter</lastModifiedBy>
  <dc:title>O(n) проиграл O(n log n) — HardFest 2026</dc:title>
  <dcterms:created xsi:type="dcterms:W3CDTF">2026-10-06T03:54:54.2600000Z</dcterms:created>
  <dcterms:modified xsi:type="dcterms:W3CDTF">2026-10-06T03:54:54.2600000Z</dcterms:modified>
  <dc:subject>HardFest 2026</dc:subject>
</coreProperties>
</file>