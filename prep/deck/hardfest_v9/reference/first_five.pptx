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media1.mp4" ContentType="video/unknown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" name="Shape 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Всем привет!</a:t>
            </a:r>
            <a:br/>
          </a:p>
          <a:p>
            <a:pPr/>
            <a:r>
              <a:t>У меня есть ощущение, что про алгоритмы стали вспоминать реже — даже на собеседованиях. Готовые библиотеки и мощное железо часто прощают неудачный выбор.</a:t>
            </a:r>
          </a:p>
          <a:p>
            <a:pPr/>
          </a:p>
          <a:p>
            <a:pPr/>
            <a:r>
              <a:t>Сегодня разберём кейс, где это не сработало. Задача реальная, детали упрощены, замеры на тестовых данных.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" name="Shape 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Давайте знакомиться. </a:t>
            </a:r>
            <a:br/>
            <a:r>
              <a:t>Я Никита Нагорнов, iOS-разработчик в «Исходном коде». Начинал с олимпиадного программирования, занимался разработкой компиляторов,, а сейчас профессионально крашу кнопки на мобильных приложениях.</a:t>
            </a:r>
          </a:p>
          <a:p>
            <a:pPr/>
          </a:p>
          <a:p>
            <a:pPr/>
            <a:r>
              <a:t>Появилась идея рассказать о об одном кейсе, который практически объединил всё это вместе.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Доклад будет полезен разработчикам, которые еще как-то работают с алгоритмами и контейнерами. </a:t>
            </a:r>
            <a:br/>
            <a:r>
              <a:t>Как напоминание тимлидам и ревьюерам, которые оценивают оптимизации; </a:t>
            </a:r>
            <a:br/>
            <a:r>
              <a:t>И совсем редким ребятам, кто пишет перф-тесты.</a:t>
            </a:r>
          </a:p>
          <a:p>
            <a:pPr/>
          </a:p>
          <a:p>
            <a:pPr/>
            <a:r>
              <a:t>Разберём, как сравнивать решения на своих данных и почему замер в CI может дать другой ответ на устройстве пользователя.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Представьте, вам на ревью прилетает маленький диф.</a:t>
            </a:r>
          </a:p>
          <a:p>
            <a:pPr/>
            <a:br/>
            <a:r>
              <a:t>Было: отсортировать массив и убрать повторы. </a:t>
            </a:r>
            <a:br/>
            <a:r>
              <a:t>Стало: сложить в хеш-таблицу и выгрузить обратно.</a:t>
            </a:r>
            <a:br/>
            <a:br/>
            <a:r>
              <a:t>[щелчок] </a:t>
            </a:r>
            <a:br/>
          </a:p>
          <a:p>
            <a:pPr/>
            <a:r>
              <a:t>Подпись: «Линейно вместо n log n». Кто потянулся бы к approve? Я поставил апрув почти не глядя.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Но чтобы погрузиться чуть подробнее, представим нашу упрощенную задачу.</a:t>
            </a:r>
          </a:p>
          <a:p>
            <a:pPr/>
          </a:p>
          <a:p>
            <a:pPr/>
            <a:r>
              <a:t>Представим, что на устройстве есть локальные id записей. Id — просто число, по которому мы узнаём запись. С сервера приходит дельта: новая порция таких чисел. Из-за повторных запросов или пересечения страниц один id может прийти несколько раз.</a:t>
            </a:r>
          </a:p>
          <a:p>
            <a:pPr/>
          </a:p>
          <a:p>
            <a:pPr/>
            <a:r>
              <a:t>На входе есть повторы. На выходе каждое значение должно остаться один раз. Это удаление повторов, или дедупликация; Самих записей мы здесь не касаемся, работаем только с числами.</a:t>
            </a:r>
          </a:p>
          <a:p>
            <a:pPr/>
          </a:p>
          <a:p>
            <a:pPr/>
            <a:r>
              <a:t>Три свойства нашей задачи. </a:t>
            </a:r>
          </a:p>
          <a:p>
            <a:pPr/>
            <a:r>
              <a:t>[щелчок] Локальная часть уже отсортирована и уникальна. </a:t>
            </a:r>
          </a:p>
          <a:p>
            <a:pPr/>
            <a:r>
              <a:t>[щелчок] Ключ — шестидесятичетырёхбитное число. </a:t>
            </a:r>
          </a:p>
          <a:p>
            <a:pPr/>
            <a:r>
              <a:t>[щелчок] Работа несрочная, в режиме utility. (Бэкграунда)</a:t>
            </a:r>
          </a:p>
          <a:p>
            <a:pPr/>
          </a:p>
          <a:p>
            <a:pPr/>
            <a:r>
              <a:t>Сначала сравним два привычных способа убрать повторы.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914400" y="1943100"/>
            <a:ext cx="7315200" cy="74295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2828925"/>
            <a:ext cx="6400800" cy="57150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SzTx/>
              <a:buNone/>
            </a:lvl1pPr>
            <a:lvl2pPr marL="0" indent="0">
              <a:spcBef>
                <a:spcPts val="0"/>
              </a:spcBef>
              <a:buSzTx/>
              <a:buNone/>
            </a:lvl2pPr>
            <a:lvl3pPr marL="0" indent="0">
              <a:spcBef>
                <a:spcPts val="0"/>
              </a:spcBef>
              <a:buSzTx/>
              <a:buNone/>
            </a:lvl3pPr>
            <a:lvl4pPr marL="0" indent="0">
              <a:spcBef>
                <a:spcPts val="0"/>
              </a:spcBef>
              <a:buSzTx/>
              <a:buNone/>
            </a:lvl4pPr>
            <a:lvl5pPr marL="0" indent="0">
              <a:spcBef>
                <a:spcPts val="0"/>
              </a:spcBef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914400" y="2143125"/>
            <a:ext cx="7315200" cy="85725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Right column"/>
          <p:cNvSpPr/>
          <p:nvPr>
            <p:ph type="body" sz="half" idx="21"/>
          </p:nvPr>
        </p:nvSpPr>
        <p:spPr>
          <a:xfrm>
            <a:off x="4857750" y="1428750"/>
            <a:ext cx="3771900" cy="32004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half" idx="1"/>
          </p:nvPr>
        </p:nvSpPr>
        <p:spPr>
          <a:xfrm>
            <a:off x="514350" y="1428750"/>
            <a:ext cx="3771900" cy="32004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514350" y="400050"/>
            <a:ext cx="8115300" cy="628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4350" y="1428750"/>
            <a:ext cx="8115300" cy="320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0" marR="0" indent="0" algn="l" defTabSz="914400" latinLnBrk="0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titleStyle>
    <p:bodyStyle>
      <a:lvl1pPr marL="171450" marR="0" indent="-17145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1pPr>
      <a:lvl2pPr marL="428625" marR="0" indent="-200025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2pPr>
      <a:lvl3pPr marL="697230" marR="0" indent="-24003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3pPr>
      <a:lvl4pPr marL="9525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4pPr>
      <a:lvl5pPr marL="11811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5pPr>
      <a:lvl6pPr marL="14097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6pPr>
      <a:lvl7pPr marL="16383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7pPr>
      <a:lvl8pPr marL="18669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8pPr>
      <a:lvl9pPr marL="2095500" marR="0" indent="-266700" algn="l" defTabSz="914400" rtl="0" latinLnBrk="0">
        <a:lnSpc>
          <a:spcPct val="110000"/>
        </a:lnSpc>
        <a:spcBef>
          <a:spcPts val="9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Aptos"/>
          <a:ea typeface="Aptos"/>
          <a:cs typeface="Apto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video" Target="../media/media1.mp4"/><Relationship Id="rId5" Type="http://schemas.microsoft.com/office/2007/relationships/media" Target="../media/media1.mp4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f-1"/>
          <p:cNvSpPr txBox="1"/>
          <p:nvPr/>
        </p:nvSpPr>
        <p:spPr>
          <a:xfrm>
            <a:off x="557212" y="1074992"/>
            <a:ext cx="2916302" cy="251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b="1" sz="1500">
                <a:solidFill>
                  <a:srgbClr val="46CDAE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Алгоритмы всё ещё нужны?</a:t>
            </a:r>
          </a:p>
        </p:txBody>
      </p:sp>
      <p:sp>
        <p:nvSpPr>
          <p:cNvPr id="66" name="hf-2"/>
          <p:cNvSpPr txBox="1"/>
          <p:nvPr/>
        </p:nvSpPr>
        <p:spPr>
          <a:xfrm>
            <a:off x="557212" y="359564"/>
            <a:ext cx="3021649" cy="204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b="1" sz="13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HardFest 2026 · трек «Разработка»</a:t>
            </a:r>
          </a:p>
        </p:txBody>
      </p:sp>
      <p:sp>
        <p:nvSpPr>
          <p:cNvPr id="67" name="hf-3"/>
          <p:cNvSpPr txBox="1"/>
          <p:nvPr/>
        </p:nvSpPr>
        <p:spPr>
          <a:xfrm>
            <a:off x="557213" y="1520665"/>
            <a:ext cx="4095192" cy="54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200"/>
              </a:lnSpc>
              <a:defRPr b="1" sz="37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O(n) ПРОИГРАЛ</a:t>
            </a:r>
          </a:p>
        </p:txBody>
      </p:sp>
      <p:sp>
        <p:nvSpPr>
          <p:cNvPr id="68" name="hf-4"/>
          <p:cNvSpPr txBox="1"/>
          <p:nvPr/>
        </p:nvSpPr>
        <p:spPr>
          <a:xfrm>
            <a:off x="557212" y="2063591"/>
            <a:ext cx="2475917" cy="544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200"/>
              </a:lnSpc>
              <a:defRPr b="1" sz="370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O(n log n)</a:t>
            </a:r>
          </a:p>
        </p:txBody>
      </p:sp>
      <p:sp>
        <p:nvSpPr>
          <p:cNvPr id="69" name="hf-5"/>
          <p:cNvSpPr txBox="1"/>
          <p:nvPr/>
        </p:nvSpPr>
        <p:spPr>
          <a:xfrm>
            <a:off x="557212" y="2796844"/>
            <a:ext cx="3194128" cy="291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EFEFE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Ваш алгоритм не выбирал</a:t>
            </a:r>
          </a:p>
        </p:txBody>
      </p:sp>
      <p:sp>
        <p:nvSpPr>
          <p:cNvPr id="70" name="hf-6"/>
          <p:cNvSpPr txBox="1"/>
          <p:nvPr/>
        </p:nvSpPr>
        <p:spPr>
          <a:xfrm>
            <a:off x="557212" y="3092119"/>
            <a:ext cx="3901416" cy="291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>
                <a:solidFill>
                  <a:srgbClr val="EFEFE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процессор, на котором работает</a:t>
            </a:r>
          </a:p>
        </p:txBody>
      </p:sp>
      <p:sp>
        <p:nvSpPr>
          <p:cNvPr id="71" name="hf-7"/>
          <p:cNvSpPr txBox="1"/>
          <p:nvPr/>
        </p:nvSpPr>
        <p:spPr>
          <a:xfrm>
            <a:off x="557213" y="3975353"/>
            <a:ext cx="1828547" cy="240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46CDAE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defRPr>
            </a:lvl1pPr>
          </a:lstStyle>
          <a:p>
            <a:pPr/>
            <a:r>
              <a:t>Никита Нагорнов</a:t>
            </a:r>
          </a:p>
        </p:txBody>
      </p:sp>
      <p:sp>
        <p:nvSpPr>
          <p:cNvPr id="72" name="hf-8"/>
          <p:cNvSpPr txBox="1"/>
          <p:nvPr/>
        </p:nvSpPr>
        <p:spPr>
          <a:xfrm>
            <a:off x="557212" y="4223003"/>
            <a:ext cx="3073846" cy="240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iOS, компания «Исходный код»</a:t>
            </a:r>
          </a:p>
        </p:txBody>
      </p:sp>
      <p:pic>
        <p:nvPicPr>
          <p:cNvPr id="73" name="hf-9-poster" descr="hf-9-poster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49370" y="1524000"/>
            <a:ext cx="3541060" cy="3009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hf-9" descr="hf-9"/>
          <p:cNvPicPr>
            <a:picLocks noChangeAspect="0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>
            <a:extLst/>
          </a:blip>
          <a:stretch>
            <a:fillRect/>
          </a:stretch>
        </p:blipFill>
        <p:spPr>
          <a:xfrm>
            <a:off x="5049370" y="1524000"/>
            <a:ext cx="3541060" cy="3009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hf-10" descr="hf-1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838950" y="606892"/>
            <a:ext cx="1809750" cy="6197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0">
                <p:cTn id="7" fill="hold" display="0">
                  <p:stCondLst>
                    <p:cond delay="indefinite"/>
                  </p:stCondLst>
                </p:cTn>
                <p:tgtEl>
                  <p:spTgt spid="74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74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74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hf-11" descr="hf-11"/>
          <p:cNvPicPr>
            <a:picLocks noChangeAspect="1"/>
          </p:cNvPicPr>
          <p:nvPr/>
        </p:nvPicPr>
        <p:blipFill>
          <a:blip r:embed="rId3">
            <a:extLst/>
          </a:blip>
          <a:srcRect l="0" t="4718" r="0" b="4718"/>
          <a:stretch>
            <a:fillRect/>
          </a:stretch>
        </p:blipFill>
        <p:spPr>
          <a:xfrm>
            <a:off x="557213" y="1381125"/>
            <a:ext cx="3095626" cy="30956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80" name="hf-12"/>
          <p:cNvSpPr txBox="1"/>
          <p:nvPr/>
        </p:nvSpPr>
        <p:spPr>
          <a:xfrm>
            <a:off x="4238624" y="1611153"/>
            <a:ext cx="2188338" cy="55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300"/>
              </a:lnSpc>
              <a:defRPr b="1" sz="37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НИКИТА</a:t>
            </a:r>
          </a:p>
        </p:txBody>
      </p:sp>
      <p:sp>
        <p:nvSpPr>
          <p:cNvPr id="81" name="hf-13"/>
          <p:cNvSpPr txBox="1"/>
          <p:nvPr/>
        </p:nvSpPr>
        <p:spPr>
          <a:xfrm>
            <a:off x="4238625" y="2163603"/>
            <a:ext cx="2897417" cy="55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300"/>
              </a:lnSpc>
              <a:defRPr b="1" sz="37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НАГОРНОВ</a:t>
            </a:r>
          </a:p>
        </p:txBody>
      </p:sp>
      <p:sp>
        <p:nvSpPr>
          <p:cNvPr id="82" name="hf-14"/>
          <p:cNvSpPr txBox="1"/>
          <p:nvPr/>
        </p:nvSpPr>
        <p:spPr>
          <a:xfrm>
            <a:off x="4262438" y="3054019"/>
            <a:ext cx="2498268" cy="301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iOS · «Исходный код»</a:t>
            </a:r>
          </a:p>
        </p:txBody>
      </p:sp>
      <p:sp>
        <p:nvSpPr>
          <p:cNvPr id="83" name="hf-15"/>
          <p:cNvSpPr txBox="1"/>
          <p:nvPr/>
        </p:nvSpPr>
        <p:spPr>
          <a:xfrm>
            <a:off x="4262437" y="3765803"/>
            <a:ext cx="3558287" cy="261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46CDAE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Алгоритмы. Компиляторы. Айфоны.</a:t>
            </a:r>
          </a:p>
        </p:txBody>
      </p:sp>
      <p:pic>
        <p:nvPicPr>
          <p:cNvPr id="84" name="hf-16" descr="hf-1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553325" y="686355"/>
            <a:ext cx="1095375" cy="375129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hf-17"/>
          <p:cNvSpPr txBox="1"/>
          <p:nvPr/>
        </p:nvSpPr>
        <p:spPr>
          <a:xfrm>
            <a:off x="8382000" y="4572000"/>
            <a:ext cx="127000" cy="153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EFEFE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hf-18"/>
          <p:cNvSpPr txBox="1"/>
          <p:nvPr/>
        </p:nvSpPr>
        <p:spPr>
          <a:xfrm>
            <a:off x="557213" y="491884"/>
            <a:ext cx="5418811" cy="313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2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КОМУ ПРИГОДИТСЯ ЭТОТ ДОКЛАД</a:t>
            </a:r>
          </a:p>
        </p:txBody>
      </p:sp>
      <p:sp>
        <p:nvSpPr>
          <p:cNvPr id="90" name="hf-19"/>
          <p:cNvSpPr txBox="1"/>
          <p:nvPr/>
        </p:nvSpPr>
        <p:spPr>
          <a:xfrm>
            <a:off x="557213" y="1839581"/>
            <a:ext cx="1904594" cy="301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Разработчикам</a:t>
            </a:r>
          </a:p>
        </p:txBody>
      </p:sp>
      <p:sp>
        <p:nvSpPr>
          <p:cNvPr id="91" name="hf-20"/>
          <p:cNvSpPr txBox="1"/>
          <p:nvPr/>
        </p:nvSpPr>
        <p:spPr>
          <a:xfrm>
            <a:off x="4048124" y="1870328"/>
            <a:ext cx="2259649" cy="261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Выбираете алгоритмы</a:t>
            </a:r>
          </a:p>
        </p:txBody>
      </p:sp>
      <p:sp>
        <p:nvSpPr>
          <p:cNvPr id="92" name="hf-21"/>
          <p:cNvSpPr txBox="1"/>
          <p:nvPr/>
        </p:nvSpPr>
        <p:spPr>
          <a:xfrm>
            <a:off x="4048125" y="2137029"/>
            <a:ext cx="1411733" cy="261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и контейнеры</a:t>
            </a:r>
          </a:p>
        </p:txBody>
      </p:sp>
      <p:sp>
        <p:nvSpPr>
          <p:cNvPr id="93" name="hf-22"/>
          <p:cNvSpPr txBox="1"/>
          <p:nvPr/>
        </p:nvSpPr>
        <p:spPr>
          <a:xfrm>
            <a:off x="557213" y="2649207"/>
            <a:ext cx="2974671" cy="301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Тимлидам и ревьюерам</a:t>
            </a:r>
          </a:p>
        </p:txBody>
      </p:sp>
      <p:sp>
        <p:nvSpPr>
          <p:cNvPr id="94" name="hf-23"/>
          <p:cNvSpPr txBox="1"/>
          <p:nvPr/>
        </p:nvSpPr>
        <p:spPr>
          <a:xfrm>
            <a:off x="4048124" y="2679954"/>
            <a:ext cx="2988121" cy="261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Проверяете перф-изменения</a:t>
            </a:r>
          </a:p>
        </p:txBody>
      </p:sp>
      <p:sp>
        <p:nvSpPr>
          <p:cNvPr id="95" name="hf-24"/>
          <p:cNvSpPr txBox="1"/>
          <p:nvPr/>
        </p:nvSpPr>
        <p:spPr>
          <a:xfrm>
            <a:off x="4048125" y="2946654"/>
            <a:ext cx="938531" cy="261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на ревью</a:t>
            </a:r>
          </a:p>
        </p:txBody>
      </p:sp>
      <p:sp>
        <p:nvSpPr>
          <p:cNvPr id="96" name="hf-25"/>
          <p:cNvSpPr txBox="1"/>
          <p:nvPr/>
        </p:nvSpPr>
        <p:spPr>
          <a:xfrm>
            <a:off x="557212" y="3458832"/>
            <a:ext cx="2658061" cy="301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Авторам перф-тестов</a:t>
            </a:r>
          </a:p>
        </p:txBody>
      </p:sp>
      <p:sp>
        <p:nvSpPr>
          <p:cNvPr id="97" name="hf-26"/>
          <p:cNvSpPr txBox="1"/>
          <p:nvPr/>
        </p:nvSpPr>
        <p:spPr>
          <a:xfrm>
            <a:off x="4048125" y="3489579"/>
            <a:ext cx="1187133" cy="261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Мерите в CI</a:t>
            </a:r>
          </a:p>
        </p:txBody>
      </p:sp>
      <p:sp>
        <p:nvSpPr>
          <p:cNvPr id="98" name="hf-27"/>
          <p:cNvSpPr txBox="1"/>
          <p:nvPr/>
        </p:nvSpPr>
        <p:spPr>
          <a:xfrm>
            <a:off x="4048125" y="3756278"/>
            <a:ext cx="2515490" cy="2611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и на целевом устройстве</a:t>
            </a:r>
          </a:p>
        </p:txBody>
      </p:sp>
      <p:pic>
        <p:nvPicPr>
          <p:cNvPr id="99" name="hf-29" descr="hf-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53325" y="686355"/>
            <a:ext cx="1095375" cy="375129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hf-30"/>
          <p:cNvSpPr txBox="1"/>
          <p:nvPr/>
        </p:nvSpPr>
        <p:spPr>
          <a:xfrm>
            <a:off x="8382000" y="4572000"/>
            <a:ext cx="127000" cy="153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EFEFE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hf-31"/>
          <p:cNvSpPr txBox="1"/>
          <p:nvPr/>
        </p:nvSpPr>
        <p:spPr>
          <a:xfrm>
            <a:off x="557212" y="491884"/>
            <a:ext cx="4449853" cy="313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2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КОД-РЕВЬЮ, ВТОРНИК, 17:40</a:t>
            </a:r>
          </a:p>
        </p:txBody>
      </p:sp>
      <p:sp>
        <p:nvSpPr>
          <p:cNvPr id="105" name="hf-32"/>
          <p:cNvSpPr/>
          <p:nvPr/>
        </p:nvSpPr>
        <p:spPr>
          <a:xfrm>
            <a:off x="557212" y="1190625"/>
            <a:ext cx="8029576" cy="1905000"/>
          </a:xfrm>
          <a:prstGeom prst="roundRect">
            <a:avLst>
              <a:gd name="adj" fmla="val 6000"/>
            </a:avLst>
          </a:prstGeom>
          <a:solidFill>
            <a:srgbClr val="121212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06" name="hf-33"/>
          <p:cNvSpPr txBox="1"/>
          <p:nvPr/>
        </p:nvSpPr>
        <p:spPr>
          <a:xfrm>
            <a:off x="785812" y="1364932"/>
            <a:ext cx="3568112" cy="288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500">
                <a:solidFill>
                  <a:srgbClr val="BDBDBD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// dedup ids after offline sync</a:t>
            </a:r>
          </a:p>
        </p:txBody>
      </p:sp>
      <p:sp>
        <p:nvSpPr>
          <p:cNvPr id="107" name="hf-34"/>
          <p:cNvSpPr txBox="1"/>
          <p:nvPr/>
        </p:nvSpPr>
        <p:spPr>
          <a:xfrm>
            <a:off x="785812" y="1669732"/>
            <a:ext cx="4141566" cy="288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500">
                <a:solidFill>
                  <a:srgbClr val="F08A7A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- std::sort(ids.begin(), ids.end());</a:t>
            </a:r>
          </a:p>
        </p:txBody>
      </p:sp>
      <p:sp>
        <p:nvSpPr>
          <p:cNvPr id="108" name="hf-35"/>
          <p:cNvSpPr txBox="1"/>
          <p:nvPr/>
        </p:nvSpPr>
        <p:spPr>
          <a:xfrm>
            <a:off x="785813" y="1974532"/>
            <a:ext cx="6894141" cy="288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500">
                <a:solidFill>
                  <a:srgbClr val="F08A7A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- ids.erase(std::unique(ids.begin(), ids.end()), ids.end());</a:t>
            </a:r>
          </a:p>
        </p:txBody>
      </p:sp>
      <p:sp>
        <p:nvSpPr>
          <p:cNvPr id="109" name="hf-36"/>
          <p:cNvSpPr txBox="1"/>
          <p:nvPr/>
        </p:nvSpPr>
        <p:spPr>
          <a:xfrm>
            <a:off x="785812" y="2279332"/>
            <a:ext cx="6550070" cy="288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+ std::unordered_set&lt;uint64_t&gt; s(ids.begin(), ids.end());</a:t>
            </a:r>
          </a:p>
        </p:txBody>
      </p:sp>
      <p:sp>
        <p:nvSpPr>
          <p:cNvPr id="110" name="hf-37"/>
          <p:cNvSpPr txBox="1"/>
          <p:nvPr/>
        </p:nvSpPr>
        <p:spPr>
          <a:xfrm>
            <a:off x="785812" y="2584131"/>
            <a:ext cx="3797494" cy="288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1500">
                <a:solidFill>
                  <a:srgbClr val="7BD88F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+ ids.assign(s.begin(), s.end());</a:t>
            </a:r>
          </a:p>
        </p:txBody>
      </p:sp>
      <p:sp>
        <p:nvSpPr>
          <p:cNvPr id="111" name="hf-38"/>
          <p:cNvSpPr txBox="1"/>
          <p:nvPr/>
        </p:nvSpPr>
        <p:spPr>
          <a:xfrm>
            <a:off x="557212" y="3544118"/>
            <a:ext cx="5023194" cy="341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700"/>
              </a:lnSpc>
              <a:defRPr sz="2100">
                <a:solidFill>
                  <a:srgbClr val="BDBDBD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pPr>
            <a:r>
              <a:t>Коллега:</a:t>
            </a:r>
            <a:r>
              <a:rPr>
                <a:solidFill>
                  <a:srgbClr val="FFFFFF"/>
                </a:solidFill>
                <a:latin typeface="Montserrat Thin Bold"/>
                <a:ea typeface="Montserrat Thin Bold"/>
                <a:cs typeface="Montserrat Thin Bold"/>
                <a:sym typeface="Montserrat Thin Bold"/>
              </a:rPr>
              <a:t> «Линейно вместо n log n»</a:t>
            </a:r>
          </a:p>
        </p:txBody>
      </p:sp>
      <p:sp>
        <p:nvSpPr>
          <p:cNvPr id="112" name="hf-39"/>
          <p:cNvSpPr/>
          <p:nvPr/>
        </p:nvSpPr>
        <p:spPr>
          <a:xfrm>
            <a:off x="6396037" y="3438525"/>
            <a:ext cx="2190751" cy="552450"/>
          </a:xfrm>
          <a:prstGeom prst="roundRect">
            <a:avLst>
              <a:gd name="adj" fmla="val 13793"/>
            </a:avLst>
          </a:prstGeom>
          <a:solidFill>
            <a:srgbClr val="46CDAE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13" name="hf-40"/>
          <p:cNvSpPr txBox="1"/>
          <p:nvPr/>
        </p:nvSpPr>
        <p:spPr>
          <a:xfrm>
            <a:off x="6696223" y="3326986"/>
            <a:ext cx="1567607" cy="5070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300"/>
              </a:lnSpc>
              <a:defRPr b="1" sz="22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Approve ✓</a:t>
            </a:r>
          </a:p>
        </p:txBody>
      </p:sp>
      <p:pic>
        <p:nvPicPr>
          <p:cNvPr id="114" name="hf-41" descr="hf-4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86375" y="3867150"/>
            <a:ext cx="1476375" cy="7381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hf-43" descr="hf-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553325" y="686355"/>
            <a:ext cx="1095375" cy="375129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hf-44"/>
          <p:cNvSpPr txBox="1"/>
          <p:nvPr/>
        </p:nvSpPr>
        <p:spPr>
          <a:xfrm>
            <a:off x="8382000" y="4572000"/>
            <a:ext cx="127000" cy="153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EFEFE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4" grpId="4"/>
      <p:bldP build="whole" bldLvl="1" animBg="1" rev="0" advAuto="0" spid="113" grpId="3"/>
      <p:bldP build="whole" bldLvl="1" animBg="1" rev="0" advAuto="0" spid="112" grpId="2"/>
      <p:bldP build="whole" bldLvl="1" animBg="1" rev="0" advAuto="0" spid="1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hf-45"/>
          <p:cNvSpPr txBox="1"/>
          <p:nvPr/>
        </p:nvSpPr>
        <p:spPr>
          <a:xfrm>
            <a:off x="557212" y="337923"/>
            <a:ext cx="1607948" cy="163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300"/>
              </a:lnSpc>
              <a:defRPr b="1" sz="1000">
                <a:solidFill>
                  <a:srgbClr val="8F8F8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С ЧЕГО ВСЁ НАЧАЛОСЬ</a:t>
            </a:r>
          </a:p>
        </p:txBody>
      </p:sp>
      <p:sp>
        <p:nvSpPr>
          <p:cNvPr id="121" name="hf-46"/>
          <p:cNvSpPr txBox="1"/>
          <p:nvPr/>
        </p:nvSpPr>
        <p:spPr>
          <a:xfrm>
            <a:off x="557212" y="549034"/>
            <a:ext cx="5709388" cy="3139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2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ЗАДАЧА: СКЛЕИТЬ ЛОКАЛЬНЫЕ id И</a:t>
            </a:r>
          </a:p>
        </p:txBody>
      </p:sp>
      <p:sp>
        <p:nvSpPr>
          <p:cNvPr id="122" name="hf-47"/>
          <p:cNvSpPr txBox="1"/>
          <p:nvPr/>
        </p:nvSpPr>
        <p:spPr>
          <a:xfrm>
            <a:off x="557213" y="861946"/>
            <a:ext cx="5483632" cy="313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 sz="2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ДЕЛЬТУ С СЕРВЕРА БЕЗ ПОВТОРОВ</a:t>
            </a:r>
          </a:p>
        </p:txBody>
      </p:sp>
      <p:pic>
        <p:nvPicPr>
          <p:cNvPr id="123" name="hf-48" descr="hf-4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7212" y="1524000"/>
            <a:ext cx="4095751" cy="2667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hf-49"/>
          <p:cNvSpPr txBox="1"/>
          <p:nvPr/>
        </p:nvSpPr>
        <p:spPr>
          <a:xfrm>
            <a:off x="5048250" y="1649920"/>
            <a:ext cx="167006" cy="400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300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5" name="hf-50"/>
          <p:cNvSpPr txBox="1"/>
          <p:nvPr/>
        </p:nvSpPr>
        <p:spPr>
          <a:xfrm>
            <a:off x="5524499" y="1603628"/>
            <a:ext cx="2941448" cy="240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Локальные id отсортированы</a:t>
            </a:r>
          </a:p>
        </p:txBody>
      </p:sp>
      <p:sp>
        <p:nvSpPr>
          <p:cNvPr id="126" name="hf-51"/>
          <p:cNvSpPr txBox="1"/>
          <p:nvPr/>
        </p:nvSpPr>
        <p:spPr>
          <a:xfrm>
            <a:off x="5524500" y="1851279"/>
            <a:ext cx="1285241" cy="240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и уникальны</a:t>
            </a:r>
          </a:p>
        </p:txBody>
      </p:sp>
      <p:sp>
        <p:nvSpPr>
          <p:cNvPr id="127" name="hf-52"/>
          <p:cNvSpPr txBox="1"/>
          <p:nvPr/>
        </p:nvSpPr>
        <p:spPr>
          <a:xfrm>
            <a:off x="5048249" y="2602420"/>
            <a:ext cx="240920" cy="400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300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8" name="hf-53"/>
          <p:cNvSpPr txBox="1"/>
          <p:nvPr/>
        </p:nvSpPr>
        <p:spPr>
          <a:xfrm>
            <a:off x="5524499" y="2613279"/>
            <a:ext cx="1750710" cy="240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900"/>
              </a:lnSpc>
              <a:defRPr sz="1500">
                <a:solidFill>
                  <a:srgbClr val="FFFFF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pPr>
            <a:r>
              <a:t>Ключ — </a:t>
            </a:r>
            <a:r>
              <a:rPr>
                <a:latin typeface="Menlo Regular"/>
                <a:ea typeface="Menlo Regular"/>
                <a:cs typeface="Menlo Regular"/>
                <a:sym typeface="Menlo Regular"/>
              </a:rPr>
              <a:t>uint64_t</a:t>
            </a:r>
          </a:p>
        </p:txBody>
      </p:sp>
      <p:sp>
        <p:nvSpPr>
          <p:cNvPr id="129" name="hf-54"/>
          <p:cNvSpPr txBox="1"/>
          <p:nvPr/>
        </p:nvSpPr>
        <p:spPr>
          <a:xfrm>
            <a:off x="5048250" y="3459670"/>
            <a:ext cx="242444" cy="400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3000"/>
              </a:lnSpc>
              <a:defRPr b="1" sz="3000">
                <a:solidFill>
                  <a:srgbClr val="46CDAE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0" name="hf-55"/>
          <p:cNvSpPr txBox="1"/>
          <p:nvPr/>
        </p:nvSpPr>
        <p:spPr>
          <a:xfrm>
            <a:off x="5524499" y="3450907"/>
            <a:ext cx="1274299" cy="237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46CDAE"/>
                </a:solidFill>
                <a:latin typeface="Menlo Regular"/>
                <a:ea typeface="Menlo Regular"/>
                <a:cs typeface="Menlo Regular"/>
                <a:sym typeface="Menlo Regular"/>
              </a:defRPr>
            </a:lvl1pPr>
          </a:lstStyle>
          <a:p>
            <a:pPr/>
            <a:r>
              <a:t>QoS utility</a:t>
            </a:r>
          </a:p>
        </p:txBody>
      </p:sp>
      <p:sp>
        <p:nvSpPr>
          <p:cNvPr id="131" name="hf-56"/>
          <p:cNvSpPr txBox="1"/>
          <p:nvPr/>
        </p:nvSpPr>
        <p:spPr>
          <a:xfrm>
            <a:off x="5656798" y="3793287"/>
            <a:ext cx="1009702" cy="190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500"/>
              </a:lnSpc>
              <a:defRPr b="1" sz="1200">
                <a:solidFill>
                  <a:srgbClr val="BDBDBD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/>
            <a:r>
              <a:t>«не срочно»</a:t>
            </a:r>
          </a:p>
        </p:txBody>
      </p:sp>
      <p:pic>
        <p:nvPicPr>
          <p:cNvPr id="132" name="hf-57" descr="hf-5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553325" y="686355"/>
            <a:ext cx="1095375" cy="375129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hf-58"/>
          <p:cNvSpPr txBox="1"/>
          <p:nvPr/>
        </p:nvSpPr>
        <p:spPr>
          <a:xfrm>
            <a:off x="8382000" y="4572000"/>
            <a:ext cx="127000" cy="153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EFEFEF"/>
                </a:solidFill>
                <a:latin typeface="Montserrat Thin Regular"/>
                <a:ea typeface="Montserrat Thin Regular"/>
                <a:cs typeface="Montserrat Thin Regular"/>
                <a:sym typeface="Montserrat Thin Regular"/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"/>
                            </p:stCondLst>
                            <p:childTnLst>
                              <p:par>
                                <p:cTn id="22" presetClass="entr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4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"/>
                            </p:stCondLst>
                            <p:childTnLst>
                              <p:par>
                                <p:cTn id="31" presetClass="entr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"/>
                            </p:stCondLst>
                            <p:childTnLst>
                              <p:par>
                                <p:cTn id="35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7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7" grpId="4"/>
      <p:bldP build="whole" bldLvl="1" animBg="1" rev="0" advAuto="0" spid="125" grpId="2"/>
      <p:bldP build="whole" bldLvl="1" animBg="1" rev="0" advAuto="0" spid="131" grpId="8"/>
      <p:bldP build="whole" bldLvl="1" animBg="1" rev="0" advAuto="0" spid="126" grpId="3"/>
      <p:bldP build="whole" bldLvl="1" animBg="1" rev="0" advAuto="0" spid="130" grpId="7"/>
      <p:bldP build="whole" bldLvl="1" animBg="1" rev="0" advAuto="0" spid="128" grpId="5"/>
      <p:bldP build="whole" bldLvl="1" animBg="1" rev="0" advAuto="0" spid="129" grpId="6"/>
      <p:bldP build="whole" bldLvl="1" animBg="1" rev="0" advAuto="0" spid="124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