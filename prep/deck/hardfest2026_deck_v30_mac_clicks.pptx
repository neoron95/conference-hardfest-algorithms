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Доклад будет полезен разработчикам, которые еще как-то работают с алгоритмами и контейнерами. 
Как напоминание тимлидам и ревьюерам, которые оценивают оптимизации;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По сути удаление повторов. Самих записей мы здесь касаться сегодня не будем, работаем только с числами.
Три условия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[щелчок]Хранить данные в отсортированном виде нам как бы не нужно, поэтому я соглашаюсь. 
[щелчок] Я поставил апрув почти не глядя. 
Чем это закончилось - расскажу чуть позже. А пока давайте остановимся на этих двух вариантах подробнее.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что этот диф пришёл на ревью вам. 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Начнём с первого способа: Сортировки. Возьмём шесть чисел.
[щелчок] Внутри std::sort — быстрая сортировка, точнее её доработанная версия, introsort. Берём опорное число, например три, и делим на две части: всё, что не больше трёх, — налево, всё, что больше, — направо.
[щелчок] Дальше то же самое внутри каждой части. Части быстро мельчают: на миллионе чисел — около двадцати уровней деления, и на каждом мы проходим по всем числам, отсюда n log n. И смотрите: одинаковые встали рядом.
[щелчок] Остаётся один проход слева направо: берём число, если оно не равно соседу. Получили один, три, семь, девять. Вся работа — сравнения и перестановки в одном массиве, без лишней памяти.
[→ следующий слайд]
──────────
Подсказки
• Части две. Равные опорному могут попасть в любую из них — тут вторая тройка ушла налево. Ровно так эти шесть чисел делит libstdc++: 3 3 1 | 7 7 9. Три группы (меньше / равно / больше) — отдельный приём для данных с кучей повторов.
• Миллион чисел — около 20 уровней деления: log₂ 1 048 576 = 20. На деле std::sort делает 22–25 сравнений на число, нижняя граница — ≈18,6.
• Маленькие куски досортировываются вставками. Если деление слишком глубокое (в libstdc++ предел 2·log₂N), introsort переходит на пирамидальную сортировку и в n² не скатывается.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семёрка. Это коллизия. Сравниваем: три не равно семи — число новое, кладём в ту же ячейку, в цепочку. Так делает unordered_set. Есть второй способ — открытая адресация: занято — идём в соседнюю ячейку. Так устроены плоские таблицы, к ним мы ещё вернёмся.
[щелчок] Снова семь: идём в ячейку три, сравниваем с каждым в цепочке — семёрка нашлась, это дубль, пропускаем.
[щелчок] Единица — в ячейку один, вторая тройка — дубль, девятка — к единице. Те же четыре числа, и сортировать ничего не пришлось.
Каждое число — один заход в таблицу, на бумаге это O(n). 
На бумаге победитель понятен. Посчитаем, насколько.
[→ следующий слайд]
──────────
Подсказки
• unordered_set решает коллизии цепочками. Открытая адресация (занято — пробуем следующую ячейку) — у absl::flat_hash_set, Python set и dict, Go map с 1.24, Rust HashMap.
• Если спросят „таблица ведь тоже сравнивает?“ — да, но только с ключами из своей ячейки: в среднем одно-два сравнения на число, а не ≈20, как у сортировки.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 [пауза 2 с]
[→ следующий слайд]
──────────
Подсказки
• «≈20» — округление для зала: log₂ 1 048 576 = 20; на деле std::sort делает 22–25 сравнений на число, нижняя граница — ≈18,6.
• Если спросят „откуда пара сравнений?“ — unordered_set держит в среднем не больше ключа на ячейку (max_load_factor = 1).
• Если спросят „так O-большое врёт?“ — нет, оно считает, как растёт число шагов, а цену шага отбрасывает. Это раскроем на слайде про цену шага: на M2 20 шагов по ≈1 нс против одного за ≈55 нс (на Xeon ≈4 против ≈260).
• Сколько среди id разных, здесь не вводим — это понадобится позже.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Я решил проверить.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[пауза 2 с]
Свежую копию входа готовим заранее. После замера сверяем результат с эталоном.
Причём хеш-таблицам мы, конечно, сразу даём reserve под размер входа: по ходу вставок они не перестраиваются. Изначально неправильные реализации мы не используем.
[→ следующий слайд]
──────────
Подсказки
• Копию входа готовим вне таймера, внутри — вся операция, проверка с эталоном — после.
• Чек на слайде показывает границы таймера, а не доли времени по стадиям.
• Если спросят „нечестно включать деструктор?“ — в приложении память всё равно освобождается, а без него спрятали бы заметную часть цены: на M2 выгрузка и деструктор — 13,5 + 11,8 из 55 нс на элемент, на Xeon — 60 + 67 из 237.
• Если спросят „зачем reserve?“ — без него таблица перестраивается по ходу вставок; но при малой доле разных резерв под весь вход раздувает таблицу. Берём N: он известен, а число разных —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Посчитаем, сколько стоит каждый шаг.
[→ следующий слайд]
──────────
Подсказки
• Условия: 2^20 id, все разные, вся операция. Mac и iPhone — в режиме userInitiated; CI — Xeon, GCC 13 / libstdc++.
• Точные числа, нс на элемент, sort / хеш: M2 Pro 19,3 / 55,2 (×2,86); iPhone 14 Pro 20,0 / 55,8; CI 83,5 / 260,3 — медиана трёх сессий.
• Если спросят „почему Xeon в разы медленнее?“ — наносекунды между машинами не сравниваем, только отношение внутри одной машины.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O(n) — честно линейно. Просто каждый шаг очень тяжёлый. O-большое считает шаги, а платим мы за цену шага.
Почему шаг хеша такой дорогой? Попробуем разобраться.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По сути из этого и складывается время
[щелчок] Первое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Кто из трёх съедает пятьдесят пять наносекунд хеша? Проверим и начнём с самого простого: посчитаем работу.
[→ следующий слайд]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reserve готовит только ячейки, а на каждое новое число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Куда же уходит остальное время на Маке? Проверим темп.
[→ следующий слайд]
──────────
Подсказки
• M2 Pro, P-ядро, 2^20 id, все разные: 218,9 и 383,3 команды на число.
• Как считали: в процессоре есть аппаратные счётчики, на macOS их читает системная kperf — на ней же работает Instruments. Программа под sudo берёт счётчик команд своего потока до и после вызова и делит разницу на миллион; медиана повторов. Алгоритмы и входы — те же, что в замере времени (bench/mac/counters.cpp).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„а reserve не спасает?“ — он выделяет только массив ячеек, от перестроек. Дай той же таблице один буфер под все узлы (без malloc/free на узел) — 35 нс вместо 55; одно уничтожение таблицы — 11,8 нс из 55.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Команд на вставку столько же — значит, лишнее время ушло на ожидание памяти.
[щелчок] Излом там, где кончается кэш второго уровня, — у M2 он шестнадцать мегабайт.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Если спросят „откуда известно, что команд столько же?“ — счётчики M2, половина разных: 512K — 212,7 команды и 67,8 такта на число, 1M — 213,2 и 85,0. Команд столько же, тактов на четверть больше. На 4M счётчики не снимали.
• Если спросят „почему излом именно там?“ — таблица ≈ 32 Б на узел каждого разного id + 8 Б на ячейку каждого id входа (резерв под весь вход): 512K → 12 МиБ, влезает; 1M → 24 МиБ, уже нет —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одно такое ожидание? Из кэша — меньше наносекунды, из памяти — около ста. Наша таблица — около сорока мегабайт,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данные подгружаются заранее. А вставка в хеш — около трёхсот двадцати команд, две трети из них — malloc. В окно влезает полторы вставки, и следующий промах процессор ещё не видит. Так работа превращается в ожидание.
Второй подозреваемый виновен: промахов у хеша в двенадцать раз больше, и ждёт он их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вчетверо меньше (покажем на слайде про фоновый режим);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Следующий адрес лежит в предыдущем узле. [пауза 2 с]
Такой квест нельзя пройти, открыв все сундуки одновременно, — и никакой быстрый malloc этого не исправит.
Остался третий подозреваемый.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не меньше шестнадцати тактов на каждую ошибку.
[щелчок] Посчитаем ошибки на одно число. Вопросов у хеша много, но ответ почти всегда один и тот же: ключи разные, совпадений нет. Отсюда — половина ошибки на число. У сортировки — полторы.
[щелчок] Хотя ждали около десяти: двадцать делений пополам, и на каждом «меньше опорного?» — монетка, процессор ошибается в половине случаев. На CI так и выходит — почти девять ошибок на число. А на Маке полторы. Почему?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«16 тактов» — оценка снизу, а не прямой замер сброса: разница в тактах двух сортировок со следующего слайда, делённая на разницу в ошибках.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[щелчок] Стандартная std::sort на Маке, в libc++ от Apple, устроена как второй вариант. На CI, в libstdc++, — как первый, поэтому там она и платит за каждую ошибку.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кандидата с одинаковым резюме: оба — хеш-таблицы, оба обещают O(n), один заход на число. 
Но как вы думаете, что на самом деле?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Да и сортировку она догнала - ничья.
[щелчок] А на CI-сервере плоская быстрее сортировки вдвое. Помните почему? Там std::sort с ветвлениями.
Реализацию починили.
Помните про вариант "уточнил бы условия?". Так вот, Размер входа мы уже меняли — на графике с кэшем. Следующий вопрос: а если разных id мало — кто победит?
[→ следующий слайд]
──────────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 M2 Pro, P-ядро; «хеш» — unordered_set. На слайде только победитель и отношение; строки из разных серий, наносекунды между строками не сравнивать.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и выигрыш пропадает.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дайте каждый раз новые данные — и та же сортировка работает вдвое дольше.
[щелчок] Мой бенчмарк каждый раз давал один и тот же билет — и ставил «отлично» за заученный ответ. На Маке он льстил вдвое, на CI — почти впятеро.
Бенчмарк мерил не на тех данных.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 и лидер меняется: сортировка быстрее в два с лишним раза. Ровно то, что увидели тестировщики.
[щелчок] И мой Мак в том же режиме: сортировка тоже впереди, почти на треть. Я тестировал изначально корректно. Просто не в том режиме. 
Но это еще не всё, почему так происходит?
Нужно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«а на миллионе id?» — разрыв больше: Мак в utility — sort ×2,1, айфон — ×3,3.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Гипотеза: на айфоне utility уходит на энергоэффективное ядро, а у него кэш вчетверо меньше. Проверим
[щелчок] Пока данные влезают в кэш — быстро, не влезли — ступенька вверх. Пунктир — размер кэша второго уровня. Background система держит на энергоэффективном ядре — это эталон: ступенька уже у четырёх мегабайт.
[щелчок] Айфон в utility — ступенька там же. Значит, энергоэффективное ядро, и наша таблица в двенадцать мегабайт в его кэш не влезает. А Мак остался на быстром ядре — поэтому у него разрыв поменьше.
[щелчок] Ещё это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айфоне?» — примерно как отправить посылку в Новосибирск и не указать улицу. 
Даже если нам назвали процессор, то какое ядро внутри достанется — никто не обещал.
[→ следующий слайд]
──────────
Подсказки
• Метафора: «айфон» — это город, а ядро — улица; какое ядро достанется, никто не обещал.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четыре с половиной мегабайта — больше L2 энергоэффективного. На миллион — восемнадцать, больше L2 производительного. Сортировка читает подряд — ей размер кэша почти не важен.
Одно устройство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Соберём всё в одну карту: задача одна — машины разные.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подведем итоги.
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Мало разных — выигрывает хеш, все разные — сортировка.
Поэтому на вопрос «что быстрее» без условий ответить нельзя. Отвечать надо там, где код будет работать.
[→ следующий слайд]
──────────
Подсказки
• Почему данные решают: мало разных — в таблице всего 10 тыс. узлов, она целиком в кэше, и почти каждая вставка — «уже есть», без выделения памяти; а сортировке всё равно упорядочить весь миллион. Все разные — миллион узлов: каждая вставка выделяет память и промахивается мимо кэша, процессор ждёт память; сортировка читает подряд, и данные подгружаются заранее.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значит,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живёт этап?
Это те самые вопросы, которые мы задавали весь доклад, и на каждый теперь есть ответ из замеров.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CI честно мерит своё окружение: Xeon, libstdc++, обычный приоритет. Облачные macOS-раннеры — виртуалки с одним типом ядер, utility там не уведёт поток на E-ядро. Нужен хотя бы один перф-тест на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начал с вопроса: нужны ли ещё алгоритмы, если железо прощает?
Мой Мак простил, CI даже похвалил, а вот айфон нет) 
Проверяйте свой код - это полезно!
Слева — оценка доклада: мне правда важна ваша обратная связь. Справа — мои контакты и материалы. 
Спасибо за внимание!
──────────
Подсказки
• QR слева — оценка доклада: https://app.talkmeter.ru/r/HF26/01a0d1e0-235a-7f79-8b90-842b4c3d02be
• QR справа — сайт с контактами и материалами: https://nagornov.tech
• Если спросят, где подробности, — в материалах на сайте (QR справа).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рассказ завершён. Дальше — ответы на частые вопросы: выбираю нужный слайд по номеру.
[после ответа — к финалу с QR]
──────────
Подсказки
Слайды-ответы по порядку (позиции 41–49):
1. prod-v2 — Пользователь это заметит?
2. qos-bg-v2 — А если поднять приоритет?
3. merge-qa — Как сделать правильно?
4. method-qa — Как мерили?
5. nb-kernel — Можно прибить поток к ядру?
6. nb-lang — А в других языках?
7. when-which — Так что брать?
8. alloc-split-v4 — А если арена или pmr?
9. nb-dense — А если id плотные?
Остальные ответы — словами, банк ответов: prep/deck/v11_mac_wip/qa_bank.md.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лаборатории — один массив id: на миллионе пятьдесят миллисекунд у сортировки против ста шестидесяти семи у хеша. В настоящем синке сложнее.
Коллекций несколько — записи, вложения, метки, — и этап идёт на каждую. После хеша порядок потерян, и записи в базу уходят вразнобой. А первый синк после переустановки тащит весь аккаунт разом.
Три коллекции по миллиону — уже полсекунды против ста пятидесяти миллисекунд, и это ещё без базы. Это тестировщики и заметили. А слияние дельты — семь миллисекунд на коллекцию.
[после ответа — к финалу с QR]
──────────
Подсказки
• Лаборатория: iPhone 14 Pro, utility, 1M id, половина разных: 47,9 и 159,4 нс на число → ≈50 и ≈167 мс. На 512K: ≈24 и ≈55 мс (+31 мс), таблица ≈12 МиБ (оценка, не замер памяти).
• «3 коллекции × 1M» — оценка умножением лабораторных чисел, не замер синка. Запись в базу и влияние порядка не мерили.
• Сценарий (коллекции, порядок записи, первый синк) — [сверить с реальным кейсом].
• Слияние 1M + 64K: 6,7 мс; полная сортировка — 47, плоская таблица — 105, хеш из дифа — 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Сортируем только дельту и убираем её повторы: два, три, семь, девять.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В коде это три строки. Unique по дельте обязателен: set_union повторы внутри одного входа не схлопывает.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Плоская — когда ключи маленькие, вставок и поисков много, а множество временное: собрали, выгрузили, забыли. И памяти она ест меньше.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Узлы из готового буфера, std::pmr, без единого malloc и free, — тридцать пять: в полтора раза быстрее. Аллокатор — примерно треть цены.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video" Target="../media/media-20-2.mp4"/><Relationship Id="rId3" Type="http://schemas.microsoft.com/office/2007/relationships/media" Target="../media/media-20-2.mp4"/><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video" Target="../media/media-25-4.mp4"/><Relationship Id="rId5" Type="http://schemas.microsoft.com/office/2007/relationships/media" Target="../media/media-25-4.mp4"/><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2095500"/>
            <a:ext cx="9518650" cy="1314450"/>
          </a:xfrm>
          <a:prstGeom prst="rect">
            <a:avLst/>
          </a:prstGeom>
        </p:spPr>
      </p:pic>
      <p:pic>
        <p:nvPicPr>
          <p:cNvPr id="4" name="Image 2" descr="Слайд 8 · шаг 2">    </p:cNvPr>
          <p:cNvPicPr>
            <a:picLocks noChangeAspect="1"/>
          </p:cNvPicPr>
          <p:nvPr/>
        </p:nvPicPr>
        <p:blipFill>
          <a:blip r:embed="rId3"/>
          <a:stretch>
            <a:fillRect/>
          </a:stretch>
        </p:blipFill>
        <p:spPr>
          <a:xfrm>
            <a:off x="742950" y="2095500"/>
            <a:ext cx="10236200" cy="1092200"/>
          </a:xfrm>
          <a:prstGeom prst="rect">
            <a:avLst/>
          </a:prstGeom>
        </p:spPr>
      </p:pic>
      <p:pic>
        <p:nvPicPr>
          <p:cNvPr id="5" name="Image 3" descr="Слайд 8 · шаг 3">    </p:cNvPr>
          <p:cNvPicPr>
            <a:picLocks noChangeAspect="1"/>
          </p:cNvPicPr>
          <p:nvPr/>
        </p:nvPicPr>
        <p:blipFill>
          <a:blip r:embed="rId4"/>
          <a:stretch>
            <a:fillRect/>
          </a:stretch>
        </p:blipFill>
        <p:spPr>
          <a:xfrm>
            <a:off x="749300" y="2095500"/>
            <a:ext cx="8204200" cy="3886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88500" y="3683000"/>
            <a:ext cx="800100" cy="762000"/>
          </a:xfrm>
          <a:prstGeom prst="rect">
            <a:avLst/>
          </a:prstGeom>
        </p:spPr>
      </p:pic>
      <p:pic>
        <p:nvPicPr>
          <p:cNvPr id="4" name="Image 2" descr="Слайд 9 · шаг 2">    </p:cNvPr>
          <p:cNvPicPr>
            <a:picLocks noChangeAspect="1"/>
          </p:cNvPicPr>
          <p:nvPr/>
        </p:nvPicPr>
        <p:blipFill>
          <a:blip r:embed="rId3"/>
          <a:stretch>
            <a:fillRect/>
          </a:stretch>
        </p:blipFill>
        <p:spPr>
          <a:xfrm>
            <a:off x="3187700" y="3683000"/>
            <a:ext cx="8089900" cy="1320800"/>
          </a:xfrm>
          <a:prstGeom prst="rect">
            <a:avLst/>
          </a:prstGeom>
        </p:spPr>
      </p:pic>
      <p:pic>
        <p:nvPicPr>
          <p:cNvPr id="5" name="Image 3" descr="Слайд 9 · шаг 3">    </p:cNvPr>
          <p:cNvPicPr>
            <a:picLocks noChangeAspect="1"/>
          </p:cNvPicPr>
          <p:nvPr/>
        </p:nvPicPr>
        <p:blipFill>
          <a:blip r:embed="rId4"/>
          <a:stretch>
            <a:fillRect/>
          </a:stretch>
        </p:blipFill>
        <p:spPr>
          <a:xfrm>
            <a:off x="749300" y="1809750"/>
            <a:ext cx="7251700" cy="3727450"/>
          </a:xfrm>
          <a:prstGeom prst="rect">
            <a:avLst/>
          </a:prstGeom>
        </p:spPr>
      </p:pic>
      <p:pic>
        <p:nvPicPr>
          <p:cNvPr id="6" name="Image 4" descr="Слайд 9 · шаг 4">    </p:cNvPr>
          <p:cNvPicPr>
            <a:picLocks noChangeAspect="1"/>
          </p:cNvPicPr>
          <p:nvPr/>
        </p:nvPicPr>
        <p:blipFill>
          <a:blip r:embed="rId5"/>
          <a:stretch>
            <a:fillRect/>
          </a:stretch>
        </p:blipFill>
        <p:spPr>
          <a:xfrm>
            <a:off x="5397500" y="3683000"/>
            <a:ext cx="800100" cy="762000"/>
          </a:xfrm>
          <a:prstGeom prst="rect">
            <a:avLst/>
          </a:prstGeom>
        </p:spPr>
      </p:pic>
      <p:pic>
        <p:nvPicPr>
          <p:cNvPr id="7" name="Image 5" descr="Слайд 9 · шаг 5">    </p:cNvPr>
          <p:cNvPicPr>
            <a:picLocks noChangeAspect="1"/>
          </p:cNvPicPr>
          <p:nvPr/>
        </p:nvPicPr>
        <p:blipFill>
          <a:blip r:embed="rId6"/>
          <a:stretch>
            <a:fillRect/>
          </a:stretch>
        </p:blipFill>
        <p:spPr>
          <a:xfrm>
            <a:off x="7086600" y="1809750"/>
            <a:ext cx="863600" cy="273050"/>
          </a:xfrm>
          <a:prstGeom prst="rect">
            <a:avLst/>
          </a:prstGeom>
        </p:spPr>
      </p:pic>
      <p:pic>
        <p:nvPicPr>
          <p:cNvPr id="8" name="Image 6" descr="Слайд 9 · шаг 6">    </p:cNvPr>
          <p:cNvPicPr>
            <a:picLocks noChangeAspect="1"/>
          </p:cNvPicPr>
          <p:nvPr/>
        </p:nvPicPr>
        <p:blipFill>
          <a:blip r:embed="rId7"/>
          <a:stretch>
            <a:fillRect/>
          </a:stretch>
        </p:blipFill>
        <p:spPr>
          <a:xfrm>
            <a:off x="6286500" y="3683000"/>
            <a:ext cx="800100" cy="762000"/>
          </a:xfrm>
          <a:prstGeom prst="rect">
            <a:avLst/>
          </a:prstGeom>
        </p:spPr>
      </p:pic>
      <p:pic>
        <p:nvPicPr>
          <p:cNvPr id="9" name="Image 7" descr="Слайд 9 · шаг 7">    </p:cNvPr>
          <p:cNvPicPr>
            <a:picLocks noChangeAspect="1"/>
          </p:cNvPicPr>
          <p:nvPr/>
        </p:nvPicPr>
        <p:blipFill>
          <a:blip r:embed="rId8"/>
          <a:stretch>
            <a:fillRect/>
          </a:stretch>
        </p:blipFill>
        <p:spPr>
          <a:xfrm>
            <a:off x="762000" y="5283200"/>
            <a:ext cx="75565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092450" cy="250825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49911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2203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2095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968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715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9276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606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1">    </p:cNvPr>
          <p:cNvPicPr>
            <a:picLocks noChangeAspect="1"/>
          </p:cNvPicPr>
          <p:nvPr/>
        </p:nvPicPr>
        <p:blipFill>
          <a:blip r:embed="rId2"/>
          <a:stretch>
            <a:fillRect/>
          </a:stretch>
        </p:blipFill>
        <p:spPr>
          <a:xfrm>
            <a:off x="742950" y="2457450"/>
            <a:ext cx="10699750" cy="946150"/>
          </a:xfrm>
          <a:prstGeom prst="rect">
            <a:avLst/>
          </a:prstGeom>
        </p:spPr>
      </p:pic>
      <p:pic>
        <p:nvPicPr>
          <p:cNvPr id="4" name="Image 2" descr="Слайд 14 · шаг 2">    </p:cNvPr>
          <p:cNvPicPr>
            <a:picLocks noChangeAspect="1"/>
          </p:cNvPicPr>
          <p:nvPr/>
        </p:nvPicPr>
        <p:blipFill>
          <a:blip r:embed="rId3"/>
          <a:stretch>
            <a:fillRect/>
          </a:stretch>
        </p:blipFill>
        <p:spPr>
          <a:xfrm>
            <a:off x="3829050" y="3733800"/>
            <a:ext cx="7613650" cy="736600"/>
          </a:xfrm>
          <a:prstGeom prst="rect">
            <a:avLst/>
          </a:prstGeom>
        </p:spPr>
      </p:pic>
      <p:pic>
        <p:nvPicPr>
          <p:cNvPr id="5" name="Image 3" descr="Слайд 14 · шаг 3">    </p:cNvPr>
          <p:cNvPicPr>
            <a:picLocks noChangeAspect="1"/>
          </p:cNvPicPr>
          <p:nvPr/>
        </p:nvPicPr>
        <p:blipFill>
          <a:blip r:embed="rId4"/>
          <a:stretch>
            <a:fillRect/>
          </a:stretch>
        </p:blipFill>
        <p:spPr>
          <a:xfrm>
            <a:off x="755650" y="5118100"/>
            <a:ext cx="5416550" cy="952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213100" cy="3257550"/>
          </a:xfrm>
          <a:prstGeom prst="rect">
            <a:avLst/>
          </a:prstGeom>
        </p:spPr>
      </p:pic>
      <p:pic>
        <p:nvPicPr>
          <p:cNvPr id="4" name="Image 2" descr="Слайд 15 · шаг 2">    </p:cNvPr>
          <p:cNvPicPr>
            <a:picLocks noChangeAspect="1"/>
          </p:cNvPicPr>
          <p:nvPr/>
        </p:nvPicPr>
        <p:blipFill>
          <a:blip r:embed="rId3"/>
          <a:stretch>
            <a:fillRect/>
          </a:stretch>
        </p:blipFill>
        <p:spPr>
          <a:xfrm>
            <a:off x="4267200" y="2432050"/>
            <a:ext cx="7181850" cy="32702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299200" cy="2438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215900"/>
            <a:ext cx="3562350" cy="34290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466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60650" cy="946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6096000" cy="1384300"/>
          </a:xfrm>
          <a:prstGeom prst="rect">
            <a:avLst/>
          </a:prstGeom>
        </p:spPr>
      </p:pic>
      <p:pic>
        <p:nvPicPr>
          <p:cNvPr id="4" name="Image 2" descr="Слайд 17 · шаг 2">    </p:cNvPr>
          <p:cNvPicPr>
            <a:picLocks noChangeAspect="1"/>
          </p:cNvPicPr>
          <p:nvPr/>
        </p:nvPicPr>
        <p:blipFill>
          <a:blip r:embed="rId3"/>
          <a:stretch>
            <a:fillRect/>
          </a:stretch>
        </p:blipFill>
        <p:spPr>
          <a:xfrm>
            <a:off x="7385050" y="4375150"/>
            <a:ext cx="3505200" cy="215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44700"/>
            <a:ext cx="4445000" cy="2705100"/>
          </a:xfrm>
          <a:prstGeom prst="rect">
            <a:avLst/>
          </a:prstGeom>
        </p:spPr>
      </p:pic>
      <p:pic>
        <p:nvPicPr>
          <p:cNvPr id="4" name="Image 2" descr="Слайд 18 · шаг 2">    </p:cNvPr>
          <p:cNvPicPr>
            <a:picLocks noChangeAspect="1"/>
          </p:cNvPicPr>
          <p:nvPr/>
        </p:nvPicPr>
        <p:blipFill>
          <a:blip r:embed="rId3"/>
          <a:stretch>
            <a:fillRect/>
          </a:stretch>
        </p:blipFill>
        <p:spPr>
          <a:xfrm>
            <a:off x="3924300" y="2362200"/>
            <a:ext cx="94615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51050"/>
            <a:ext cx="4445000" cy="2597150"/>
          </a:xfrm>
          <a:prstGeom prst="rect">
            <a:avLst/>
          </a:prstGeom>
        </p:spPr>
      </p:pic>
      <p:pic>
        <p:nvPicPr>
          <p:cNvPr id="6" name="Image 4" descr="Слайд 18 · шаг 4">    </p:cNvPr>
          <p:cNvPicPr>
            <a:picLocks noChangeAspect="1"/>
          </p:cNvPicPr>
          <p:nvPr/>
        </p:nvPicPr>
        <p:blipFill>
          <a:blip r:embed="rId5"/>
          <a:stretch>
            <a:fillRect/>
          </a:stretch>
        </p:blipFill>
        <p:spPr>
          <a:xfrm>
            <a:off x="8432800" y="2362200"/>
            <a:ext cx="25273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2387600"/>
            <a:ext cx="8172450" cy="231775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111750"/>
            <a:ext cx="9347200" cy="4318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150833" y="2660650"/>
            <a:ext cx="4132385" cy="228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 presetClass="mediacall" presetSubtype="0" fill="hold" nodeType="withEffect">
                                  <p:stCondLst>
                                    <p:cond delay="0"/>
                                  </p:stCondLst>
                                  <p:childTnLst>
                                    <p:cmd type="call" cmd="playFrom(0.0)">
                                      <p:cBhvr>
                                        <p:cTn id="12" dur="7000" fill="hold"/>
                                        <p:tgtEl>
                                          <p:spTgt spid="6"/>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1 · шаг 1">    </p:cNvPr>
          <p:cNvPicPr>
            <a:picLocks noChangeAspect="1"/>
          </p:cNvPicPr>
          <p:nvPr/>
        </p:nvPicPr>
        <p:blipFill>
          <a:blip r:embed="rId2"/>
          <a:stretch>
            <a:fillRect/>
          </a:stretch>
        </p:blipFill>
        <p:spPr>
          <a:xfrm>
            <a:off x="742950" y="215900"/>
            <a:ext cx="10528300" cy="5403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298700"/>
            <a:ext cx="5378450" cy="2197100"/>
          </a:xfrm>
          <a:prstGeom prst="rect">
            <a:avLst/>
          </a:prstGeom>
        </p:spPr>
      </p:pic>
      <p:pic>
        <p:nvPicPr>
          <p:cNvPr id="4" name="Image 2" descr="Слайд 23 · шаг 2">    </p:cNvPr>
          <p:cNvPicPr>
            <a:picLocks noChangeAspect="1"/>
          </p:cNvPicPr>
          <p:nvPr/>
        </p:nvPicPr>
        <p:blipFill>
          <a:blip r:embed="rId3"/>
          <a:stretch>
            <a:fillRect/>
          </a:stretch>
        </p:blipFill>
        <p:spPr>
          <a:xfrm>
            <a:off x="6604000" y="2298700"/>
            <a:ext cx="4845050" cy="19240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215900"/>
            <a:ext cx="10744200" cy="5003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399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0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334000" y="2096558"/>
            <a:ext cx="6096000" cy="3115733"/>
          </a:xfrm>
          <a:prstGeom prst="rect">
            <a:avLst/>
          </a:prstGeom>
        </p:spPr>
      </p:pic>
      <p:pic>
        <p:nvPicPr>
          <p:cNvPr id="6" name="Image 3" descr="Слайд 25 · подписи поверх видео">    </p:cNvPr>
          <p:cNvPicPr>
            <a:picLocks noChangeAspect="1"/>
          </p:cNvPicPr>
          <p:nvPr/>
        </p:nvPicPr>
        <p:blipFill>
          <a:blip r:embed="rId7"/>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 presetClass="mediacall" presetSubtype="0" fill="hold" nodeType="withEffect">
                                  <p:stCondLst>
                                    <p:cond delay="0"/>
                                  </p:stCondLst>
                                  <p:childTnLst>
                                    <p:cmd type="call" cmd="playFrom(0.0)">
                                      <p:cBhvr>
                                        <p:cTn id="17" dur="6000" fill="hold"/>
                                        <p:tgtEl>
                                          <p:spTgt spid="6"/>
                                        </p:tgtEl>
                                      </p:cBhvr>
                                    </p:cmd>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1" repeatCount="indefinite" fill="hold" display="0">
                  <p:stCondLst>
                    <p:cond delay="indefinite"/>
                  </p:stCondLst>
                </p:cTn>
                <p:tgtEl>
                  <p:spTgt spid="6"/>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7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7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7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7 · шаг 4">    </p:cNvPr>
          <p:cNvPicPr>
            <a:picLocks noChangeAspect="1"/>
          </p:cNvPicPr>
          <p:nvPr/>
        </p:nvPicPr>
        <p:blipFill>
          <a:blip r:embed="rId5"/>
          <a:stretch>
            <a:fillRect/>
          </a:stretch>
        </p:blipFill>
        <p:spPr>
          <a:xfrm>
            <a:off x="749300" y="5264150"/>
            <a:ext cx="7810500" cy="20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8394700" cy="2159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 presetClass="mediacall" presetSubtype="0" fill="hold" nodeType="withEffect">
                                  <p:stCondLst>
                                    <p:cond delay="0"/>
                                  </p:stCondLst>
                                  <p:childTnLst>
                                    <p:cmd type="call" cmd="playFrom(0.0)">
                                      <p:cBhvr>
                                        <p:cTn id="16" dur="5000" fill="hold"/>
                                        <p:tgtEl>
                                          <p:spTgt spid="9"/>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6"/>
                </p:tgtEl>
              </p:cMediaNode>
            </p:video>
            <p:video>
              <p:cMediaNode vol="80000" mute="1">
                <p:cTn id="23" repeatCount="indefinite" fill="hold" display="0">
                  <p:stCondLst>
                    <p:cond delay="indefinite"/>
                  </p:stCondLst>
                </p:cTn>
                <p:tgtEl>
                  <p:spTgt spid="9"/>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0665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32000"/>
          </a:xfrm>
          <a:prstGeom prst="rect">
            <a:avLst/>
          </a:prstGeom>
        </p:spPr>
      </p:pic>
      <p:pic>
        <p:nvPicPr>
          <p:cNvPr id="5" name="Image 3" descr="Слайд 32 · шаг 3">    </p:cNvPr>
          <p:cNvPicPr>
            <a:picLocks noChangeAspect="1"/>
          </p:cNvPicPr>
          <p:nvPr/>
        </p:nvPicPr>
        <p:blipFill>
          <a:blip r:embed="rId4"/>
          <a:stretch>
            <a:fillRect/>
          </a:stretch>
        </p:blipFill>
        <p:spPr>
          <a:xfrm>
            <a:off x="755650" y="5518150"/>
            <a:ext cx="7131050" cy="184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4 · шаг 1">    </p:cNvPr>
          <p:cNvPicPr>
            <a:picLocks noChangeAspect="1"/>
          </p:cNvPicPr>
          <p:nvPr/>
        </p:nvPicPr>
        <p:blipFill>
          <a:blip r:embed="rId2"/>
          <a:stretch>
            <a:fillRect/>
          </a:stretch>
        </p:blipFill>
        <p:spPr>
          <a:xfrm>
            <a:off x="1644650" y="3073400"/>
            <a:ext cx="8597900" cy="654050"/>
          </a:xfrm>
          <a:prstGeom prst="rect">
            <a:avLst/>
          </a:prstGeom>
        </p:spPr>
      </p:pic>
      <p:pic>
        <p:nvPicPr>
          <p:cNvPr id="4" name="Image 2" descr="Слайд 34 · шаг 2">    </p:cNvPr>
          <p:cNvPicPr>
            <a:picLocks noChangeAspect="1"/>
          </p:cNvPicPr>
          <p:nvPr/>
        </p:nvPicPr>
        <p:blipFill>
          <a:blip r:embed="rId3"/>
          <a:stretch>
            <a:fillRect/>
          </a:stretch>
        </p:blipFill>
        <p:spPr>
          <a:xfrm>
            <a:off x="1631950" y="2286000"/>
            <a:ext cx="8636000" cy="1352550"/>
          </a:xfrm>
          <a:prstGeom prst="rect">
            <a:avLst/>
          </a:prstGeom>
        </p:spPr>
      </p:pic>
      <p:pic>
        <p:nvPicPr>
          <p:cNvPr id="5" name="Image 3" descr="Слайд 34 · шаг 3">    </p:cNvPr>
          <p:cNvPicPr>
            <a:picLocks noChangeAspect="1"/>
          </p:cNvPicPr>
          <p:nvPr/>
        </p:nvPicPr>
        <p:blipFill>
          <a:blip r:embed="rId4"/>
          <a:stretch>
            <a:fillRect/>
          </a:stretch>
        </p:blipFill>
        <p:spPr>
          <a:xfrm>
            <a:off x="755650" y="2165350"/>
            <a:ext cx="7874000" cy="3587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442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442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442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442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7747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2971800" cy="11112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2026-10-13T19:38:22Z</dcterms:created>
  <dcterms:modified xsi:type="dcterms:W3CDTF">2026-10-13T19:38:22Z</dcterms:modified>
</cp:coreProperties>
</file>